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4F992E89-3F3D-478B-89D3-5DB3B234A4F2}" type="slidenum">
              <a:rPr lang="zh-CN" altLang="en-US" smtClean="0">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1319469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ECFF4AD3-8069-4771-86FC-1B989B35F7F7}" type="slidenum">
              <a:rPr lang="zh-CN" altLang="en-US" smtClean="0">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2255199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229240AA-0B49-454E-BE00-4397093FB63C}" type="slidenum">
              <a:rPr lang="zh-CN" altLang="en-US" smtClean="0">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1822378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897971FA-3868-4DE6-B914-07791EF2F6F1}" type="slidenum">
              <a:rPr lang="zh-CN" altLang="en-US" smtClean="0">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616710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783F84DD-A9F3-4CE1-9157-211E986C0AEF}" type="slidenum">
              <a:rPr lang="zh-CN" altLang="en-US" smtClean="0">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350404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AC7A7BDD-164C-4F47-806B-4FD35C01A77C}" type="slidenum">
              <a:rPr lang="zh-CN" altLang="en-US" smtClean="0">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2404459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9ACA64B0-56C9-4A25-A181-FDACDB304F1C}" type="slidenum">
              <a:rPr lang="zh-CN" altLang="en-US" smtClean="0">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896887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8448A67C-3C69-4095-9389-EF5073745506}" type="slidenum">
              <a:rPr lang="zh-CN" altLang="en-US" smtClean="0">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1464589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16402083-F2A7-4BE1-A393-766C0585509E}" type="slidenum">
              <a:rPr lang="zh-CN" altLang="en-US" smtClean="0">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2521595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98C71F2D-79E4-4441-B474-AD33C143E51E}" type="slidenum">
              <a:rPr lang="zh-CN" altLang="en-US" smtClean="0">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3317193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806E7A89-61C7-48DF-980D-D05F61C16330}" type="slidenum">
              <a:rPr lang="zh-CN" altLang="en-US" smtClean="0">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192134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76132"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400">
                <a:solidFill>
                  <a:schemeClr val="tx1"/>
                </a:solidFill>
                <a:latin typeface="+mn-lt"/>
                <a:ea typeface="+mn-ea"/>
              </a:defRPr>
            </a:lvl1pPr>
          </a:lstStyle>
          <a:p>
            <a:pPr fontAlgn="base">
              <a:spcBef>
                <a:spcPct val="0"/>
              </a:spcBef>
              <a:spcAft>
                <a:spcPct val="0"/>
              </a:spcAft>
              <a:defRPr/>
            </a:pPr>
            <a:endParaRPr lang="en-US" altLang="zh-CN">
              <a:solidFill>
                <a:srgbClr val="000000"/>
              </a:solidFill>
            </a:endParaRPr>
          </a:p>
        </p:txBody>
      </p:sp>
      <p:sp>
        <p:nvSpPr>
          <p:cNvPr id="176133"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kumimoji="1" sz="1400">
                <a:solidFill>
                  <a:schemeClr val="tx1"/>
                </a:solidFill>
                <a:latin typeface="+mn-lt"/>
                <a:ea typeface="+mn-ea"/>
              </a:defRPr>
            </a:lvl1pPr>
          </a:lstStyle>
          <a:p>
            <a:pPr fontAlgn="base">
              <a:spcBef>
                <a:spcPct val="0"/>
              </a:spcBef>
              <a:spcAft>
                <a:spcPct val="0"/>
              </a:spcAft>
              <a:defRPr/>
            </a:pPr>
            <a:endParaRPr lang="en-US" altLang="zh-CN">
              <a:solidFill>
                <a:srgbClr val="000000"/>
              </a:solidFill>
            </a:endParaRPr>
          </a:p>
        </p:txBody>
      </p:sp>
      <p:sp>
        <p:nvSpPr>
          <p:cNvPr id="176134"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400">
                <a:solidFill>
                  <a:schemeClr val="tx1"/>
                </a:solidFill>
                <a:latin typeface="Times New Roman" panose="02020603050405020304" pitchFamily="18" charset="0"/>
                <a:ea typeface="宋体" panose="02010600030101010101" pitchFamily="2" charset="-122"/>
              </a:defRPr>
            </a:lvl1pPr>
          </a:lstStyle>
          <a:p>
            <a:pPr fontAlgn="base">
              <a:spcBef>
                <a:spcPct val="0"/>
              </a:spcBef>
              <a:spcAft>
                <a:spcPct val="0"/>
              </a:spcAft>
              <a:defRPr/>
            </a:pPr>
            <a:fld id="{97551A7A-F4D4-4611-9995-E4E7417B60FD}" type="slidenum">
              <a:rPr lang="zh-CN" altLang="en-US" smtClean="0">
                <a:solidFill>
                  <a:srgbClr val="000000"/>
                </a:solidFill>
              </a:rPr>
              <a:pPr fontAlgn="base">
                <a:spcBef>
                  <a:spcPct val="0"/>
                </a:spcBef>
                <a:spcAft>
                  <a:spcPct val="0"/>
                </a:spcAft>
                <a:defRPr/>
              </a:pPr>
              <a:t>‹#›</a:t>
            </a:fld>
            <a:endParaRPr lang="en-US" altLang="zh-CN">
              <a:solidFill>
                <a:srgbClr val="000000"/>
              </a:solidFill>
            </a:endParaRPr>
          </a:p>
        </p:txBody>
      </p:sp>
      <p:sp>
        <p:nvSpPr>
          <p:cNvPr id="1031" name="Rectangle 1028"/>
          <p:cNvSpPr>
            <a:spLocks noChangeArrowheads="1"/>
          </p:cNvSpPr>
          <p:nvPr/>
        </p:nvSpPr>
        <p:spPr bwMode="auto">
          <a:xfrm>
            <a:off x="304800" y="6400800"/>
            <a:ext cx="7112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accent2"/>
                </a:solidFill>
                <a:latin typeface="Arial" charset="0"/>
                <a:ea typeface="华文行楷" pitchFamily="2" charset="-122"/>
              </a:defRPr>
            </a:lvl1pPr>
            <a:lvl2pPr marL="742950" indent="-285750" eaLnBrk="0" hangingPunct="0">
              <a:defRPr>
                <a:solidFill>
                  <a:schemeClr val="accent2"/>
                </a:solidFill>
                <a:latin typeface="Arial" charset="0"/>
                <a:ea typeface="华文行楷" pitchFamily="2" charset="-122"/>
              </a:defRPr>
            </a:lvl2pPr>
            <a:lvl3pPr marL="1143000" indent="-228600" eaLnBrk="0" hangingPunct="0">
              <a:defRPr>
                <a:solidFill>
                  <a:schemeClr val="accent2"/>
                </a:solidFill>
                <a:latin typeface="Arial" charset="0"/>
                <a:ea typeface="华文行楷" pitchFamily="2" charset="-122"/>
              </a:defRPr>
            </a:lvl3pPr>
            <a:lvl4pPr marL="1600200" indent="-228600" eaLnBrk="0" hangingPunct="0">
              <a:defRPr>
                <a:solidFill>
                  <a:schemeClr val="accent2"/>
                </a:solidFill>
                <a:latin typeface="Arial" charset="0"/>
                <a:ea typeface="华文行楷" pitchFamily="2" charset="-122"/>
              </a:defRPr>
            </a:lvl4pPr>
            <a:lvl5pPr marL="2057400" indent="-228600" eaLnBrk="0" hangingPunct="0">
              <a:defRPr>
                <a:solidFill>
                  <a:schemeClr val="accent2"/>
                </a:solidFill>
                <a:latin typeface="Arial" charset="0"/>
                <a:ea typeface="华文行楷" pitchFamily="2" charset="-122"/>
              </a:defRPr>
            </a:lvl5pPr>
            <a:lvl6pPr marL="2514600" indent="-228600" algn="ctr" eaLnBrk="0" fontAlgn="base" hangingPunct="0">
              <a:spcBef>
                <a:spcPct val="0"/>
              </a:spcBef>
              <a:spcAft>
                <a:spcPct val="0"/>
              </a:spcAft>
              <a:defRPr>
                <a:solidFill>
                  <a:schemeClr val="accent2"/>
                </a:solidFill>
                <a:latin typeface="Arial" charset="0"/>
                <a:ea typeface="华文行楷" pitchFamily="2" charset="-122"/>
              </a:defRPr>
            </a:lvl6pPr>
            <a:lvl7pPr marL="2971800" indent="-228600" algn="ctr" eaLnBrk="0" fontAlgn="base" hangingPunct="0">
              <a:spcBef>
                <a:spcPct val="0"/>
              </a:spcBef>
              <a:spcAft>
                <a:spcPct val="0"/>
              </a:spcAft>
              <a:defRPr>
                <a:solidFill>
                  <a:schemeClr val="accent2"/>
                </a:solidFill>
                <a:latin typeface="Arial" charset="0"/>
                <a:ea typeface="华文行楷" pitchFamily="2" charset="-122"/>
              </a:defRPr>
            </a:lvl7pPr>
            <a:lvl8pPr marL="3429000" indent="-228600" algn="ctr" eaLnBrk="0" fontAlgn="base" hangingPunct="0">
              <a:spcBef>
                <a:spcPct val="0"/>
              </a:spcBef>
              <a:spcAft>
                <a:spcPct val="0"/>
              </a:spcAft>
              <a:defRPr>
                <a:solidFill>
                  <a:schemeClr val="accent2"/>
                </a:solidFill>
                <a:latin typeface="Arial" charset="0"/>
                <a:ea typeface="华文行楷" pitchFamily="2" charset="-122"/>
              </a:defRPr>
            </a:lvl8pPr>
            <a:lvl9pPr marL="3886200" indent="-228600" algn="ctr" eaLnBrk="0" fontAlgn="base" hangingPunct="0">
              <a:spcBef>
                <a:spcPct val="0"/>
              </a:spcBef>
              <a:spcAft>
                <a:spcPct val="0"/>
              </a:spcAft>
              <a:defRPr>
                <a:solidFill>
                  <a:schemeClr val="accent2"/>
                </a:solidFill>
                <a:latin typeface="Arial" charset="0"/>
                <a:ea typeface="华文行楷"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800" b="1" i="0" u="none" strike="noStrike" kern="1200" cap="none" spc="0" normalizeH="0" baseline="0" noProof="0" smtClean="0">
                <a:ln>
                  <a:noFill/>
                </a:ln>
                <a:solidFill>
                  <a:srgbClr val="3333CC"/>
                </a:solidFill>
                <a:effectLst/>
                <a:uLnTx/>
                <a:uFillTx/>
                <a:latin typeface="Times New Roman" pitchFamily="18" charset="0"/>
                <a:ea typeface="华文新魏" pitchFamily="2" charset="-122"/>
                <a:cs typeface="+mn-cs"/>
              </a:rPr>
              <a:t>第4章 数值的机器运算</a:t>
            </a:r>
          </a:p>
        </p:txBody>
      </p:sp>
    </p:spTree>
    <p:extLst>
      <p:ext uri="{BB962C8B-B14F-4D97-AF65-F5344CB8AC3E}">
        <p14:creationId xmlns:p14="http://schemas.microsoft.com/office/powerpoint/2010/main" val="37059256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0" fontAlgn="base" hangingPunct="0">
        <a:spcBef>
          <a:spcPct val="0"/>
        </a:spcBef>
        <a:spcAft>
          <a:spcPct val="0"/>
        </a:spcAft>
        <a:defRPr kumimoji="1" sz="4400" b="1">
          <a:solidFill>
            <a:srgbClr val="663300"/>
          </a:solidFill>
          <a:latin typeface="+mj-lt"/>
          <a:ea typeface="+mj-ea"/>
          <a:cs typeface="+mj-cs"/>
        </a:defRPr>
      </a:lvl1pPr>
      <a:lvl2pPr algn="ctr" rtl="0" eaLnBrk="0" fontAlgn="base" hangingPunct="0">
        <a:spcBef>
          <a:spcPct val="0"/>
        </a:spcBef>
        <a:spcAft>
          <a:spcPct val="0"/>
        </a:spcAft>
        <a:defRPr kumimoji="1" sz="4400" b="1">
          <a:solidFill>
            <a:srgbClr val="663300"/>
          </a:solidFill>
          <a:latin typeface="Times New Roman" pitchFamily="18" charset="0"/>
          <a:ea typeface="宋体" pitchFamily="2" charset="-122"/>
        </a:defRPr>
      </a:lvl2pPr>
      <a:lvl3pPr algn="ctr" rtl="0" eaLnBrk="0" fontAlgn="base" hangingPunct="0">
        <a:spcBef>
          <a:spcPct val="0"/>
        </a:spcBef>
        <a:spcAft>
          <a:spcPct val="0"/>
        </a:spcAft>
        <a:defRPr kumimoji="1" sz="4400" b="1">
          <a:solidFill>
            <a:srgbClr val="663300"/>
          </a:solidFill>
          <a:latin typeface="Times New Roman" pitchFamily="18" charset="0"/>
          <a:ea typeface="宋体" pitchFamily="2" charset="-122"/>
        </a:defRPr>
      </a:lvl3pPr>
      <a:lvl4pPr algn="ctr" rtl="0" eaLnBrk="0" fontAlgn="base" hangingPunct="0">
        <a:spcBef>
          <a:spcPct val="0"/>
        </a:spcBef>
        <a:spcAft>
          <a:spcPct val="0"/>
        </a:spcAft>
        <a:defRPr kumimoji="1" sz="4400" b="1">
          <a:solidFill>
            <a:srgbClr val="663300"/>
          </a:solidFill>
          <a:latin typeface="Times New Roman" pitchFamily="18" charset="0"/>
          <a:ea typeface="宋体" pitchFamily="2" charset="-122"/>
        </a:defRPr>
      </a:lvl4pPr>
      <a:lvl5pPr algn="ctr" rtl="0" eaLnBrk="0" fontAlgn="base" hangingPunct="0">
        <a:spcBef>
          <a:spcPct val="0"/>
        </a:spcBef>
        <a:spcAft>
          <a:spcPct val="0"/>
        </a:spcAft>
        <a:defRPr kumimoji="1" sz="4400" b="1">
          <a:solidFill>
            <a:srgbClr val="663300"/>
          </a:solidFill>
          <a:latin typeface="Times New Roman" pitchFamily="18" charset="0"/>
          <a:ea typeface="宋体" pitchFamily="2" charset="-122"/>
        </a:defRPr>
      </a:lvl5pPr>
      <a:lvl6pPr marL="457200" algn="ctr" rtl="0" fontAlgn="base">
        <a:spcBef>
          <a:spcPct val="0"/>
        </a:spcBef>
        <a:spcAft>
          <a:spcPct val="0"/>
        </a:spcAft>
        <a:defRPr kumimoji="1" sz="4400" b="1">
          <a:solidFill>
            <a:srgbClr val="663300"/>
          </a:solidFill>
          <a:latin typeface="Times New Roman" pitchFamily="18" charset="0"/>
          <a:ea typeface="宋体" pitchFamily="2" charset="-122"/>
        </a:defRPr>
      </a:lvl6pPr>
      <a:lvl7pPr marL="914400" algn="ctr" rtl="0" fontAlgn="base">
        <a:spcBef>
          <a:spcPct val="0"/>
        </a:spcBef>
        <a:spcAft>
          <a:spcPct val="0"/>
        </a:spcAft>
        <a:defRPr kumimoji="1" sz="4400" b="1">
          <a:solidFill>
            <a:srgbClr val="663300"/>
          </a:solidFill>
          <a:latin typeface="Times New Roman" pitchFamily="18" charset="0"/>
          <a:ea typeface="宋体" pitchFamily="2" charset="-122"/>
        </a:defRPr>
      </a:lvl7pPr>
      <a:lvl8pPr marL="1371600" algn="ctr" rtl="0" fontAlgn="base">
        <a:spcBef>
          <a:spcPct val="0"/>
        </a:spcBef>
        <a:spcAft>
          <a:spcPct val="0"/>
        </a:spcAft>
        <a:defRPr kumimoji="1" sz="4400" b="1">
          <a:solidFill>
            <a:srgbClr val="663300"/>
          </a:solidFill>
          <a:latin typeface="Times New Roman" pitchFamily="18" charset="0"/>
          <a:ea typeface="宋体" pitchFamily="2" charset="-122"/>
        </a:defRPr>
      </a:lvl8pPr>
      <a:lvl9pPr marL="1828800" algn="ctr" rtl="0" fontAlgn="base">
        <a:spcBef>
          <a:spcPct val="0"/>
        </a:spcBef>
        <a:spcAft>
          <a:spcPct val="0"/>
        </a:spcAft>
        <a:defRPr kumimoji="1" sz="4400" b="1">
          <a:solidFill>
            <a:srgbClr val="663300"/>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4.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fld id="{A01834C2-A26E-4CD7-9C77-C9F625DF5D30}" type="slidenum">
              <a:rPr lang="zh-CN" altLang="en-US" sz="1400">
                <a:solidFill>
                  <a:srgbClr val="000000"/>
                </a:solidFill>
              </a:rPr>
              <a:pPr fontAlgn="base">
                <a:spcBef>
                  <a:spcPct val="0"/>
                </a:spcBef>
                <a:spcAft>
                  <a:spcPct val="0"/>
                </a:spcAft>
                <a:buNone/>
              </a:pPr>
              <a:t>1</a:t>
            </a:fld>
            <a:endParaRPr lang="en-US" altLang="zh-CN" sz="1400">
              <a:solidFill>
                <a:srgbClr val="000000"/>
              </a:solidFill>
            </a:endParaRPr>
          </a:p>
        </p:txBody>
      </p:sp>
      <p:sp>
        <p:nvSpPr>
          <p:cNvPr id="10243" name="Rectangle 2"/>
          <p:cNvSpPr>
            <a:spLocks noGrp="1" noChangeArrowheads="1"/>
          </p:cNvSpPr>
          <p:nvPr>
            <p:ph type="title"/>
          </p:nvPr>
        </p:nvSpPr>
        <p:spPr>
          <a:xfrm>
            <a:off x="1056640" y="826569"/>
            <a:ext cx="7772400" cy="1143000"/>
          </a:xfrm>
        </p:spPr>
        <p:txBody>
          <a:bodyPr/>
          <a:lstStyle/>
          <a:p>
            <a:pPr algn="l" eaLnBrk="1" hangingPunct="1"/>
            <a:r>
              <a:rPr lang="zh-CN" altLang="en-US" sz="4000" dirty="0" smtClean="0">
                <a:solidFill>
                  <a:srgbClr val="0000FF"/>
                </a:solidFill>
                <a:latin typeface="华文新魏" panose="02010800040101010101" pitchFamily="2" charset="-122"/>
                <a:ea typeface="华文新魏" panose="02010800040101010101" pitchFamily="2" charset="-122"/>
              </a:rPr>
              <a:t>基本</a:t>
            </a:r>
            <a:r>
              <a:rPr lang="zh-CN" altLang="en-US" sz="4000" dirty="0">
                <a:solidFill>
                  <a:srgbClr val="0000FF"/>
                </a:solidFill>
                <a:latin typeface="华文新魏" panose="02010800040101010101" pitchFamily="2" charset="-122"/>
                <a:ea typeface="华文新魏" panose="02010800040101010101" pitchFamily="2" charset="-122"/>
              </a:rPr>
              <a:t>算术运算的实现</a:t>
            </a:r>
          </a:p>
        </p:txBody>
      </p:sp>
      <p:sp>
        <p:nvSpPr>
          <p:cNvPr id="10244" name="Rectangle 3"/>
          <p:cNvSpPr>
            <a:spLocks noGrp="1" noChangeArrowheads="1"/>
          </p:cNvSpPr>
          <p:nvPr>
            <p:ph type="body" idx="1"/>
          </p:nvPr>
        </p:nvSpPr>
        <p:spPr>
          <a:xfrm>
            <a:off x="2133600" y="1600201"/>
            <a:ext cx="7848600" cy="2620963"/>
          </a:xfrm>
        </p:spPr>
        <p:txBody>
          <a:bodyPr/>
          <a:lstStyle/>
          <a:p>
            <a:pPr algn="just">
              <a:spcBef>
                <a:spcPct val="0"/>
              </a:spcBef>
              <a:buFontTx/>
              <a:buNone/>
            </a:pPr>
            <a:r>
              <a:rPr lang="zh-CN" altLang="en-US" b="1" dirty="0" smtClean="0">
                <a:cs typeface="Times New Roman" panose="02020603050405020304" pitchFamily="18" charset="0"/>
              </a:rPr>
              <a:t>            </a:t>
            </a:r>
            <a:r>
              <a:rPr lang="zh-CN" altLang="en-US" b="1" dirty="0" smtClean="0">
                <a:solidFill>
                  <a:srgbClr val="FF0000"/>
                </a:solidFill>
                <a:ea typeface="楷体_GB2312" pitchFamily="49" charset="-122"/>
              </a:rPr>
              <a:t>计算机中最基本的算术运算是加法运算，不论加、减、乘、除运算最终都可以归结为加法运算</a:t>
            </a:r>
            <a:r>
              <a:rPr lang="zh-CN" altLang="en-US" b="1" dirty="0" smtClean="0">
                <a:ea typeface="楷体_GB2312" pitchFamily="49" charset="-122"/>
              </a:rPr>
              <a:t>。所以在此讨论最基本的运算部件</a:t>
            </a:r>
            <a:r>
              <a:rPr lang="zh-CN" altLang="en-US" b="1" dirty="0" smtClean="0">
                <a:ea typeface="楷体_GB2312" pitchFamily="49" charset="-122"/>
              </a:rPr>
              <a:t>——，</a:t>
            </a:r>
            <a:r>
              <a:rPr lang="zh-CN" altLang="en-US" b="1" dirty="0" smtClean="0">
                <a:ea typeface="楷体_GB2312" pitchFamily="49" charset="-122"/>
              </a:rPr>
              <a:t>以及并行加法器的进位问题。</a:t>
            </a:r>
          </a:p>
        </p:txBody>
      </p:sp>
      <p:pic>
        <p:nvPicPr>
          <p:cNvPr id="10245"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3667126"/>
            <a:ext cx="4217988"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文本框 2"/>
          <p:cNvSpPr txBox="1">
            <a:spLocks noChangeArrowheads="1"/>
          </p:cNvSpPr>
          <p:nvPr/>
        </p:nvSpPr>
        <p:spPr bwMode="auto">
          <a:xfrm>
            <a:off x="9007476" y="5649914"/>
            <a:ext cx="7397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0" fontAlgn="base" hangingPunct="0">
              <a:spcBef>
                <a:spcPct val="0"/>
              </a:spcBef>
              <a:spcAft>
                <a:spcPct val="0"/>
              </a:spcAft>
            </a:pPr>
            <a:r>
              <a:rPr lang="en-US" altLang="zh-CN">
                <a:solidFill>
                  <a:srgbClr val="3333CC"/>
                </a:solidFill>
              </a:rPr>
              <a:t>ACC </a:t>
            </a:r>
            <a:endParaRPr lang="zh-CN" altLang="en-US">
              <a:solidFill>
                <a:srgbClr val="3333CC"/>
              </a:solidFill>
            </a:endParaRPr>
          </a:p>
        </p:txBody>
      </p:sp>
      <p:sp>
        <p:nvSpPr>
          <p:cNvPr id="2" name="矩形 1"/>
          <p:cNvSpPr/>
          <p:nvPr/>
        </p:nvSpPr>
        <p:spPr>
          <a:xfrm>
            <a:off x="298240" y="472626"/>
            <a:ext cx="3109978" cy="707886"/>
          </a:xfrm>
          <a:prstGeom prst="rect">
            <a:avLst/>
          </a:prstGeom>
        </p:spPr>
        <p:txBody>
          <a:bodyPr wrap="square">
            <a:spAutoFit/>
          </a:bodyPr>
          <a:lstStyle/>
          <a:p>
            <a:r>
              <a:rPr lang="zh-CN" altLang="en-US" sz="4000" b="1" dirty="0">
                <a:ea typeface="楷体_GB2312" pitchFamily="49" charset="-122"/>
              </a:rPr>
              <a:t>加法器</a:t>
            </a:r>
            <a:endParaRPr lang="zh-CN" altLang="en-US" sz="4000" dirty="0"/>
          </a:p>
        </p:txBody>
      </p:sp>
      <p:sp>
        <p:nvSpPr>
          <p:cNvPr id="3" name="椭圆 2"/>
          <p:cNvSpPr/>
          <p:nvPr/>
        </p:nvSpPr>
        <p:spPr bwMode="auto">
          <a:xfrm>
            <a:off x="133004" y="748145"/>
            <a:ext cx="257694" cy="257695"/>
          </a:xfrm>
          <a:prstGeom prst="ellipse">
            <a:avLst/>
          </a:prstGeom>
          <a:solidFill>
            <a:schemeClr val="accent1"/>
          </a:solidFill>
          <a:ln w="6350" cap="flat" cmpd="sng" algn="ctr">
            <a:solidFill>
              <a:srgbClr val="00FFFF"/>
            </a:solidFill>
            <a:prstDash val="solid"/>
            <a:round/>
            <a:headEnd type="none" w="med" len="med"/>
            <a:tailEnd type="none" w="med" len="me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accent2"/>
              </a:solidFill>
              <a:effectLst/>
              <a:latin typeface="Arial" charset="0"/>
              <a:ea typeface="华文行楷" pitchFamily="2" charset="-122"/>
            </a:endParaRPr>
          </a:p>
        </p:txBody>
      </p:sp>
    </p:spTree>
    <p:extLst>
      <p:ext uri="{BB962C8B-B14F-4D97-AF65-F5344CB8AC3E}">
        <p14:creationId xmlns:p14="http://schemas.microsoft.com/office/powerpoint/2010/main" val="2533583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fld id="{DD23444A-BA43-47E5-8999-6B920C736EB4}" type="slidenum">
              <a:rPr lang="zh-CN" altLang="en-US" sz="1400">
                <a:solidFill>
                  <a:srgbClr val="000000"/>
                </a:solidFill>
              </a:rPr>
              <a:pPr fontAlgn="base">
                <a:spcBef>
                  <a:spcPct val="0"/>
                </a:spcBef>
                <a:spcAft>
                  <a:spcPct val="0"/>
                </a:spcAft>
                <a:buNone/>
              </a:pPr>
              <a:t>2</a:t>
            </a:fld>
            <a:endParaRPr lang="en-US" altLang="zh-CN" sz="1400">
              <a:solidFill>
                <a:srgbClr val="000000"/>
              </a:solidFill>
            </a:endParaRPr>
          </a:p>
        </p:txBody>
      </p:sp>
      <p:sp>
        <p:nvSpPr>
          <p:cNvPr id="11267" name="Rectangle 2"/>
          <p:cNvSpPr>
            <a:spLocks noGrp="1" noChangeArrowheads="1"/>
          </p:cNvSpPr>
          <p:nvPr>
            <p:ph type="title"/>
          </p:nvPr>
        </p:nvSpPr>
        <p:spPr>
          <a:xfrm>
            <a:off x="457200" y="440574"/>
            <a:ext cx="7772400" cy="1143000"/>
          </a:xfrm>
        </p:spPr>
        <p:txBody>
          <a:bodyPr/>
          <a:lstStyle/>
          <a:p>
            <a:pPr algn="l" eaLnBrk="1" hangingPunct="1"/>
            <a:r>
              <a:rPr lang="zh-CN" altLang="en-US" sz="3600" dirty="0" smtClean="0">
                <a:solidFill>
                  <a:srgbClr val="0000FF"/>
                </a:solidFill>
                <a:latin typeface="华文新魏" panose="02010800040101010101" pitchFamily="2" charset="-122"/>
                <a:ea typeface="华文新魏" panose="02010800040101010101" pitchFamily="2" charset="-122"/>
              </a:rPr>
              <a:t>加法器 </a:t>
            </a:r>
            <a:endParaRPr lang="zh-CN" altLang="en-US" sz="3600" dirty="0">
              <a:solidFill>
                <a:srgbClr val="0000FF"/>
              </a:solidFill>
              <a:latin typeface="华文新魏" panose="02010800040101010101" pitchFamily="2" charset="-122"/>
              <a:ea typeface="华文新魏" panose="02010800040101010101" pitchFamily="2" charset="-122"/>
            </a:endParaRPr>
          </a:p>
        </p:txBody>
      </p:sp>
      <p:sp>
        <p:nvSpPr>
          <p:cNvPr id="11268" name="Rectangle 3"/>
          <p:cNvSpPr>
            <a:spLocks noGrp="1" noChangeArrowheads="1"/>
          </p:cNvSpPr>
          <p:nvPr>
            <p:ph type="body" idx="1"/>
          </p:nvPr>
        </p:nvSpPr>
        <p:spPr>
          <a:xfrm>
            <a:off x="2133600" y="1295400"/>
            <a:ext cx="8001000" cy="4953000"/>
          </a:xfrm>
        </p:spPr>
        <p:txBody>
          <a:bodyPr/>
          <a:lstStyle/>
          <a:p>
            <a:pPr algn="just">
              <a:spcBef>
                <a:spcPct val="0"/>
              </a:spcBef>
              <a:buFontTx/>
              <a:buNone/>
            </a:pPr>
            <a:r>
              <a:rPr lang="zh-CN" altLang="en-US" b="1" smtClean="0">
                <a:solidFill>
                  <a:schemeClr val="accent2"/>
                </a:solidFill>
                <a:ea typeface="楷体_GB2312" pitchFamily="49" charset="-122"/>
              </a:rPr>
              <a:t>1.全加器</a:t>
            </a:r>
            <a:endParaRPr lang="zh-CN" altLang="en-US" b="1" smtClean="0">
              <a:solidFill>
                <a:schemeClr val="accent2"/>
              </a:solidFill>
            </a:endParaRPr>
          </a:p>
          <a:p>
            <a:pPr>
              <a:spcBef>
                <a:spcPct val="0"/>
              </a:spcBef>
              <a:buFontTx/>
              <a:buNone/>
            </a:pPr>
            <a:r>
              <a:rPr lang="zh-CN" altLang="en-US" b="1" smtClean="0">
                <a:ea typeface="楷体_GB2312" pitchFamily="49" charset="-122"/>
              </a:rPr>
              <a:t>           </a:t>
            </a:r>
            <a:r>
              <a:rPr lang="zh-CN" altLang="en-US" b="1" smtClean="0">
                <a:solidFill>
                  <a:srgbClr val="FF0000"/>
                </a:solidFill>
                <a:ea typeface="楷体_GB2312" pitchFamily="49" charset="-122"/>
              </a:rPr>
              <a:t>全加器（</a:t>
            </a:r>
            <a:r>
              <a:rPr lang="en-US" altLang="zh-CN" b="1" smtClean="0">
                <a:solidFill>
                  <a:srgbClr val="FF0000"/>
                </a:solidFill>
                <a:ea typeface="楷体_GB2312" pitchFamily="49" charset="-122"/>
              </a:rPr>
              <a:t>FA）</a:t>
            </a:r>
            <a:r>
              <a:rPr lang="zh-CN" altLang="en-US" b="1" smtClean="0">
                <a:solidFill>
                  <a:srgbClr val="FF0000"/>
                </a:solidFill>
                <a:ea typeface="楷体_GB2312" pitchFamily="49" charset="-122"/>
              </a:rPr>
              <a:t>是最基本的加法单元，它有三个输入量：操作数</a:t>
            </a:r>
            <a:r>
              <a:rPr lang="en-US" altLang="zh-CN" b="1" smtClean="0">
                <a:solidFill>
                  <a:srgbClr val="FF0000"/>
                </a:solidFill>
                <a:ea typeface="楷体_GB2312" pitchFamily="49" charset="-122"/>
              </a:rPr>
              <a:t>A</a:t>
            </a:r>
            <a:r>
              <a:rPr lang="en-US" altLang="zh-CN" b="1" baseline="-30000" smtClean="0">
                <a:solidFill>
                  <a:srgbClr val="FF0000"/>
                </a:solidFill>
                <a:ea typeface="楷体_GB2312" pitchFamily="49" charset="-122"/>
              </a:rPr>
              <a:t>i</a:t>
            </a:r>
            <a:r>
              <a:rPr lang="zh-CN" altLang="en-US" b="1" smtClean="0">
                <a:solidFill>
                  <a:srgbClr val="FF0000"/>
                </a:solidFill>
                <a:ea typeface="楷体_GB2312" pitchFamily="49" charset="-122"/>
              </a:rPr>
              <a:t>和</a:t>
            </a:r>
            <a:r>
              <a:rPr lang="en-US" altLang="zh-CN" b="1" smtClean="0">
                <a:solidFill>
                  <a:srgbClr val="FF0000"/>
                </a:solidFill>
                <a:ea typeface="楷体_GB2312" pitchFamily="49" charset="-122"/>
              </a:rPr>
              <a:t>B</a:t>
            </a:r>
            <a:r>
              <a:rPr lang="en-US" altLang="zh-CN" b="1" baseline="-30000" smtClean="0">
                <a:solidFill>
                  <a:srgbClr val="FF0000"/>
                </a:solidFill>
                <a:ea typeface="楷体_GB2312" pitchFamily="49" charset="-122"/>
              </a:rPr>
              <a:t>i</a:t>
            </a:r>
            <a:r>
              <a:rPr lang="en-US" altLang="zh-CN" b="1" smtClean="0">
                <a:solidFill>
                  <a:srgbClr val="FF0000"/>
                </a:solidFill>
                <a:ea typeface="楷体_GB2312" pitchFamily="49" charset="-122"/>
              </a:rPr>
              <a:t>、</a:t>
            </a:r>
            <a:r>
              <a:rPr lang="zh-CN" altLang="en-US" b="1" smtClean="0">
                <a:solidFill>
                  <a:srgbClr val="FF0000"/>
                </a:solidFill>
                <a:ea typeface="楷体_GB2312" pitchFamily="49" charset="-122"/>
              </a:rPr>
              <a:t>低位传来的进位</a:t>
            </a:r>
            <a:r>
              <a:rPr lang="en-US" altLang="zh-CN" b="1" smtClean="0">
                <a:solidFill>
                  <a:srgbClr val="FF0000"/>
                </a:solidFill>
                <a:ea typeface="楷体_GB2312" pitchFamily="49" charset="-122"/>
              </a:rPr>
              <a:t>C</a:t>
            </a:r>
            <a:r>
              <a:rPr lang="en-US" altLang="zh-CN" b="1" baseline="-30000" smtClean="0">
                <a:solidFill>
                  <a:srgbClr val="FF0000"/>
                </a:solidFill>
                <a:ea typeface="楷体_GB2312" pitchFamily="49" charset="-122"/>
              </a:rPr>
              <a:t>i-1</a:t>
            </a:r>
            <a:r>
              <a:rPr lang="en-US" altLang="zh-CN" b="1" smtClean="0">
                <a:ea typeface="楷体_GB2312" pitchFamily="49" charset="-122"/>
              </a:rPr>
              <a:t>，</a:t>
            </a:r>
            <a:r>
              <a:rPr lang="zh-CN" altLang="en-US" b="1" smtClean="0">
                <a:ea typeface="楷体_GB2312" pitchFamily="49" charset="-122"/>
              </a:rPr>
              <a:t>两个输出量：本位和</a:t>
            </a:r>
            <a:r>
              <a:rPr lang="en-US" altLang="zh-CN" b="1" smtClean="0">
                <a:ea typeface="楷体_GB2312" pitchFamily="49" charset="-122"/>
              </a:rPr>
              <a:t>S</a:t>
            </a:r>
            <a:r>
              <a:rPr lang="en-US" altLang="zh-CN" b="1" baseline="-30000" smtClean="0">
                <a:ea typeface="楷体_GB2312" pitchFamily="49" charset="-122"/>
              </a:rPr>
              <a:t>i</a:t>
            </a:r>
            <a:r>
              <a:rPr lang="en-US" altLang="zh-CN" b="1" smtClean="0">
                <a:ea typeface="楷体_GB2312" pitchFamily="49" charset="-122"/>
              </a:rPr>
              <a:t>、</a:t>
            </a:r>
            <a:r>
              <a:rPr lang="zh-CN" altLang="en-US" b="1" smtClean="0">
                <a:ea typeface="楷体_GB2312" pitchFamily="49" charset="-122"/>
              </a:rPr>
              <a:t>向高位的进位</a:t>
            </a:r>
            <a:r>
              <a:rPr lang="en-US" altLang="zh-CN" b="1" smtClean="0">
                <a:ea typeface="楷体_GB2312" pitchFamily="49" charset="-122"/>
              </a:rPr>
              <a:t>C</a:t>
            </a:r>
            <a:r>
              <a:rPr lang="en-US" altLang="zh-CN" b="1" baseline="-30000" smtClean="0">
                <a:ea typeface="楷体_GB2312" pitchFamily="49" charset="-122"/>
              </a:rPr>
              <a:t>i</a:t>
            </a:r>
            <a:r>
              <a:rPr lang="en-US" altLang="zh-CN" b="1" smtClean="0">
                <a:ea typeface="楷体_GB2312" pitchFamily="49" charset="-122"/>
              </a:rPr>
              <a:t>。</a:t>
            </a:r>
          </a:p>
          <a:p>
            <a:pPr>
              <a:spcBef>
                <a:spcPct val="0"/>
              </a:spcBef>
              <a:buFontTx/>
              <a:buNone/>
            </a:pPr>
            <a:endParaRPr lang="en-US" altLang="zh-CN" b="1" smtClean="0">
              <a:ea typeface="楷体_GB2312" pitchFamily="49" charset="-122"/>
            </a:endParaRPr>
          </a:p>
          <a:p>
            <a:pPr>
              <a:spcBef>
                <a:spcPct val="0"/>
              </a:spcBef>
              <a:buFontTx/>
              <a:buNone/>
            </a:pPr>
            <a:endParaRPr lang="en-US" altLang="zh-CN" b="1" smtClean="0">
              <a:ea typeface="楷体_GB2312" pitchFamily="49" charset="-122"/>
            </a:endParaRPr>
          </a:p>
          <a:p>
            <a:pPr>
              <a:spcBef>
                <a:spcPct val="0"/>
              </a:spcBef>
              <a:buFontTx/>
              <a:buNone/>
            </a:pPr>
            <a:endParaRPr lang="en-US" altLang="zh-CN" b="1" smtClean="0">
              <a:ea typeface="楷体_GB2312" pitchFamily="49" charset="-122"/>
            </a:endParaRPr>
          </a:p>
          <a:p>
            <a:pPr>
              <a:spcBef>
                <a:spcPct val="0"/>
              </a:spcBef>
              <a:buFontTx/>
              <a:buNone/>
            </a:pPr>
            <a:r>
              <a:rPr lang="zh-CN" altLang="en-US" sz="2400" b="1">
                <a:latin typeface="宋体" panose="02010600030101010101" pitchFamily="2" charset="-122"/>
              </a:rPr>
              <a:t>   </a:t>
            </a:r>
          </a:p>
          <a:p>
            <a:pPr>
              <a:spcBef>
                <a:spcPct val="0"/>
              </a:spcBef>
              <a:buFontTx/>
              <a:buNone/>
            </a:pPr>
            <a:r>
              <a:rPr lang="zh-CN" altLang="en-US" sz="2400" b="1">
                <a:latin typeface="宋体" panose="02010600030101010101" pitchFamily="2" charset="-122"/>
              </a:rPr>
              <a:t>    </a:t>
            </a:r>
            <a:r>
              <a:rPr lang="zh-CN" altLang="en-US" sz="2400" b="1"/>
              <a:t>图4-1 全加器的逻辑框图</a:t>
            </a:r>
            <a:r>
              <a:rPr lang="zh-CN" altLang="en-US" b="1" smtClean="0">
                <a:ea typeface="楷体_GB2312" pitchFamily="49" charset="-122"/>
              </a:rPr>
              <a:t> </a:t>
            </a:r>
          </a:p>
        </p:txBody>
      </p:sp>
      <p:graphicFrame>
        <p:nvGraphicFramePr>
          <p:cNvPr id="11269" name="Object 4"/>
          <p:cNvGraphicFramePr>
            <a:graphicFrameLocks noChangeAspect="1"/>
          </p:cNvGraphicFramePr>
          <p:nvPr/>
        </p:nvGraphicFramePr>
        <p:xfrm>
          <a:off x="5943600" y="3505200"/>
          <a:ext cx="4114800" cy="3175000"/>
        </p:xfrm>
        <a:graphic>
          <a:graphicData uri="http://schemas.openxmlformats.org/presentationml/2006/ole">
            <mc:AlternateContent xmlns:mc="http://schemas.openxmlformats.org/markup-compatibility/2006">
              <mc:Choice xmlns:v="urn:schemas-microsoft-com:vml" Requires="v">
                <p:oleObj spid="_x0000_s1028" r:id="rId3" imgW="1912620" imgH="1480820" progId="Visio.Drawing.6">
                  <p:embed/>
                </p:oleObj>
              </mc:Choice>
              <mc:Fallback>
                <p:oleObj r:id="rId3" imgW="1912620" imgH="1480820" progId="Visio.Drawing.6">
                  <p:embed/>
                  <p:pic>
                    <p:nvPicPr>
                      <p:cNvPr id="1126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3505200"/>
                        <a:ext cx="4114800" cy="317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92847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bwMode="auto">
          <a:xfrm>
            <a:off x="6541482" y="1072342"/>
            <a:ext cx="2635267" cy="5245331"/>
          </a:xfrm>
          <a:prstGeom prst="rect">
            <a:avLst/>
          </a:prstGeom>
          <a:solidFill>
            <a:schemeClr val="accent6">
              <a:lumMod val="60000"/>
              <a:lumOff val="40000"/>
            </a:schemeClr>
          </a:solidFill>
          <a:ln w="6350" cap="flat" cmpd="sng" algn="ctr">
            <a:solidFill>
              <a:schemeClr val="accent2"/>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accent2"/>
              </a:solidFill>
              <a:effectLst/>
              <a:latin typeface="Arial" charset="0"/>
              <a:ea typeface="华文行楷" pitchFamily="2" charset="-122"/>
            </a:endParaRPr>
          </a:p>
        </p:txBody>
      </p:sp>
      <p:sp>
        <p:nvSpPr>
          <p:cNvPr id="3" name="矩形 2"/>
          <p:cNvSpPr/>
          <p:nvPr/>
        </p:nvSpPr>
        <p:spPr bwMode="auto">
          <a:xfrm>
            <a:off x="2352502" y="1072342"/>
            <a:ext cx="4064791" cy="5245331"/>
          </a:xfrm>
          <a:prstGeom prst="rect">
            <a:avLst/>
          </a:prstGeom>
          <a:solidFill>
            <a:schemeClr val="accent1"/>
          </a:solidFill>
          <a:ln w="6350" cap="flat" cmpd="sng" algn="ctr">
            <a:solidFill>
              <a:srgbClr val="00FFFF"/>
            </a:solidFill>
            <a:prstDash val="solid"/>
            <a:round/>
            <a:headEnd type="none" w="med" len="med"/>
            <a:tailEnd type="none" w="med" len="me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accent2"/>
              </a:solidFill>
              <a:effectLst/>
              <a:latin typeface="Arial" charset="0"/>
              <a:ea typeface="华文行楷" pitchFamily="2" charset="-122"/>
            </a:endParaRPr>
          </a:p>
        </p:txBody>
      </p:sp>
      <p:sp>
        <p:nvSpPr>
          <p:cNvPr id="12290" name="灯片编号占位符 5"/>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fld id="{FBC1708C-7D98-4C04-A1EB-616FE2366F1C}" type="slidenum">
              <a:rPr lang="zh-CN" altLang="en-US" sz="1400">
                <a:solidFill>
                  <a:srgbClr val="000000"/>
                </a:solidFill>
              </a:rPr>
              <a:pPr fontAlgn="base">
                <a:spcBef>
                  <a:spcPct val="0"/>
                </a:spcBef>
                <a:spcAft>
                  <a:spcPct val="0"/>
                </a:spcAft>
                <a:buNone/>
              </a:pPr>
              <a:t>3</a:t>
            </a:fld>
            <a:endParaRPr lang="en-US" altLang="zh-CN" sz="1400">
              <a:solidFill>
                <a:srgbClr val="000000"/>
              </a:solidFill>
            </a:endParaRPr>
          </a:p>
        </p:txBody>
      </p:sp>
      <p:sp>
        <p:nvSpPr>
          <p:cNvPr id="12291" name="Rectangle 2"/>
          <p:cNvSpPr>
            <a:spLocks noGrp="1" noChangeArrowheads="1"/>
          </p:cNvSpPr>
          <p:nvPr>
            <p:ph type="title"/>
          </p:nvPr>
        </p:nvSpPr>
        <p:spPr>
          <a:xfrm>
            <a:off x="2209800" y="304800"/>
            <a:ext cx="7772400" cy="1143000"/>
          </a:xfrm>
        </p:spPr>
        <p:txBody>
          <a:bodyPr/>
          <a:lstStyle/>
          <a:p>
            <a:pPr algn="l" eaLnBrk="1" hangingPunct="1"/>
            <a:r>
              <a:rPr lang="zh-CN" altLang="en-US" sz="3200">
                <a:solidFill>
                  <a:schemeClr val="tx1"/>
                </a:solidFill>
                <a:ea typeface="楷体_GB2312" pitchFamily="49" charset="-122"/>
              </a:rPr>
              <a:t>全加器真值表</a:t>
            </a:r>
            <a:endParaRPr lang="zh-CN" altLang="en-US" sz="3200">
              <a:solidFill>
                <a:schemeClr val="tx1"/>
              </a:solidFill>
              <a:latin typeface="华文新魏" panose="02010800040101010101" pitchFamily="2" charset="-122"/>
              <a:ea typeface="华文新魏" panose="02010800040101010101" pitchFamily="2" charset="-122"/>
            </a:endParaRPr>
          </a:p>
        </p:txBody>
      </p:sp>
      <p:grpSp>
        <p:nvGrpSpPr>
          <p:cNvPr id="12295" name="Group 35"/>
          <p:cNvGrpSpPr>
            <a:grpSpLocks/>
          </p:cNvGrpSpPr>
          <p:nvPr/>
        </p:nvGrpSpPr>
        <p:grpSpPr bwMode="auto">
          <a:xfrm>
            <a:off x="2535396" y="1238769"/>
            <a:ext cx="6641353" cy="5009631"/>
            <a:chOff x="43" y="384"/>
            <a:chExt cx="1472" cy="1536"/>
          </a:xfrm>
        </p:grpSpPr>
        <p:sp>
          <p:nvSpPr>
            <p:cNvPr id="12325" name="Rectangle 5"/>
            <p:cNvSpPr>
              <a:spLocks noChangeArrowheads="1"/>
            </p:cNvSpPr>
            <p:nvPr/>
          </p:nvSpPr>
          <p:spPr bwMode="auto">
            <a:xfrm>
              <a:off x="43" y="384"/>
              <a:ext cx="216" cy="480"/>
            </a:xfrm>
            <a:prstGeom prst="rect">
              <a:avLst/>
            </a:prstGeom>
            <a:ln/>
            <a:extLst/>
          </p:spPr>
          <p:style>
            <a:lnRef idx="2">
              <a:schemeClr val="accent4"/>
            </a:lnRef>
            <a:fillRef idx="1">
              <a:schemeClr val="lt1"/>
            </a:fillRef>
            <a:effectRef idx="0">
              <a:schemeClr val="accent4"/>
            </a:effectRef>
            <a:fontRef idx="minor">
              <a:schemeClr val="dk1"/>
            </a:fontRef>
          </p:style>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spcBef>
                  <a:spcPct val="0"/>
                </a:spcBef>
                <a:spcAft>
                  <a:spcPct val="0"/>
                </a:spcAft>
                <a:buNone/>
              </a:pPr>
              <a:r>
                <a:rPr lang="en-US" altLang="zh-CN" sz="2800" b="1">
                  <a:solidFill>
                    <a:srgbClr val="000000"/>
                  </a:solidFill>
                  <a:cs typeface="Times New Roman" panose="02020603050405020304" pitchFamily="18" charset="0"/>
                </a:rPr>
                <a:t>A</a:t>
              </a:r>
              <a:r>
                <a:rPr lang="en-US" altLang="zh-CN" sz="2800" b="1" baseline="-30000">
                  <a:solidFill>
                    <a:srgbClr val="000000"/>
                  </a:solidFill>
                  <a:cs typeface="Times New Roman" panose="02020603050405020304" pitchFamily="18" charset="0"/>
                </a:rPr>
                <a:t>i</a:t>
              </a:r>
              <a:endParaRPr lang="en-US" altLang="zh-CN" sz="2800">
                <a:solidFill>
                  <a:srgbClr val="000000"/>
                </a:solidFill>
                <a:latin typeface="宋体" panose="02010600030101010101" pitchFamily="2" charset="-122"/>
                <a:cs typeface="Times New Roman" panose="02020603050405020304" pitchFamily="18" charset="0"/>
              </a:endParaRPr>
            </a:p>
          </p:txBody>
        </p:sp>
        <p:sp>
          <p:nvSpPr>
            <p:cNvPr id="12323" name="Rectangle 6"/>
            <p:cNvSpPr>
              <a:spLocks noChangeArrowheads="1"/>
            </p:cNvSpPr>
            <p:nvPr/>
          </p:nvSpPr>
          <p:spPr bwMode="auto">
            <a:xfrm>
              <a:off x="345" y="384"/>
              <a:ext cx="216" cy="480"/>
            </a:xfrm>
            <a:prstGeom prst="rect">
              <a:avLst/>
            </a:prstGeom>
            <a:ln/>
            <a:extLst/>
          </p:spPr>
          <p:style>
            <a:lnRef idx="2">
              <a:schemeClr val="accent4"/>
            </a:lnRef>
            <a:fillRef idx="1">
              <a:schemeClr val="lt1"/>
            </a:fillRef>
            <a:effectRef idx="0">
              <a:schemeClr val="accent4"/>
            </a:effectRef>
            <a:fontRef idx="minor">
              <a:schemeClr val="dk1"/>
            </a:fontRef>
          </p:style>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spcBef>
                  <a:spcPct val="0"/>
                </a:spcBef>
                <a:spcAft>
                  <a:spcPct val="0"/>
                </a:spcAft>
                <a:buNone/>
              </a:pPr>
              <a:r>
                <a:rPr lang="en-US" altLang="zh-CN" sz="2800" b="1">
                  <a:solidFill>
                    <a:srgbClr val="000000"/>
                  </a:solidFill>
                  <a:cs typeface="Times New Roman" panose="02020603050405020304" pitchFamily="18" charset="0"/>
                </a:rPr>
                <a:t>B</a:t>
              </a:r>
              <a:r>
                <a:rPr lang="en-US" altLang="zh-CN" sz="2800" b="1" baseline="-30000">
                  <a:solidFill>
                    <a:srgbClr val="000000"/>
                  </a:solidFill>
                  <a:cs typeface="Times New Roman" panose="02020603050405020304" pitchFamily="18" charset="0"/>
                </a:rPr>
                <a:t>i</a:t>
              </a:r>
              <a:endParaRPr lang="en-US" altLang="zh-CN" sz="2800">
                <a:solidFill>
                  <a:srgbClr val="000000"/>
                </a:solidFill>
                <a:cs typeface="Times New Roman" panose="02020603050405020304" pitchFamily="18" charset="0"/>
              </a:endParaRPr>
            </a:p>
          </p:txBody>
        </p:sp>
        <p:sp>
          <p:nvSpPr>
            <p:cNvPr id="12321" name="Rectangle 7"/>
            <p:cNvSpPr>
              <a:spLocks noChangeArrowheads="1"/>
            </p:cNvSpPr>
            <p:nvPr/>
          </p:nvSpPr>
          <p:spPr bwMode="auto">
            <a:xfrm>
              <a:off x="647" y="384"/>
              <a:ext cx="232" cy="480"/>
            </a:xfrm>
            <a:prstGeom prst="rect">
              <a:avLst/>
            </a:prstGeom>
            <a:ln/>
            <a:extLst/>
          </p:spPr>
          <p:style>
            <a:lnRef idx="2">
              <a:schemeClr val="accent4"/>
            </a:lnRef>
            <a:fillRef idx="1">
              <a:schemeClr val="lt1"/>
            </a:fillRef>
            <a:effectRef idx="0">
              <a:schemeClr val="accent4"/>
            </a:effectRef>
            <a:fontRef idx="minor">
              <a:schemeClr val="dk1"/>
            </a:fontRef>
          </p:style>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spcBef>
                  <a:spcPct val="0"/>
                </a:spcBef>
                <a:spcAft>
                  <a:spcPct val="0"/>
                </a:spcAft>
                <a:buNone/>
              </a:pPr>
              <a:r>
                <a:rPr lang="en-US" altLang="zh-CN" sz="2800" b="1">
                  <a:solidFill>
                    <a:srgbClr val="000000"/>
                  </a:solidFill>
                  <a:cs typeface="Times New Roman" panose="02020603050405020304" pitchFamily="18" charset="0"/>
                </a:rPr>
                <a:t>C</a:t>
              </a:r>
              <a:r>
                <a:rPr lang="en-US" altLang="zh-CN" sz="2800" b="1" baseline="-30000">
                  <a:solidFill>
                    <a:srgbClr val="000000"/>
                  </a:solidFill>
                  <a:cs typeface="Times New Roman" panose="02020603050405020304" pitchFamily="18" charset="0"/>
                </a:rPr>
                <a:t>i-1</a:t>
              </a:r>
              <a:endParaRPr lang="en-US" altLang="zh-CN" sz="2800">
                <a:solidFill>
                  <a:srgbClr val="000000"/>
                </a:solidFill>
                <a:cs typeface="Times New Roman" panose="02020603050405020304" pitchFamily="18" charset="0"/>
              </a:endParaRPr>
            </a:p>
          </p:txBody>
        </p:sp>
        <p:sp>
          <p:nvSpPr>
            <p:cNvPr id="12319" name="Rectangle 8"/>
            <p:cNvSpPr>
              <a:spLocks noChangeArrowheads="1"/>
            </p:cNvSpPr>
            <p:nvPr/>
          </p:nvSpPr>
          <p:spPr bwMode="auto">
            <a:xfrm>
              <a:off x="965" y="384"/>
              <a:ext cx="256" cy="480"/>
            </a:xfrm>
            <a:prstGeom prst="rect">
              <a:avLst/>
            </a:prstGeom>
            <a:ln/>
            <a:extLst/>
          </p:spPr>
          <p:style>
            <a:lnRef idx="2">
              <a:schemeClr val="accent4"/>
            </a:lnRef>
            <a:fillRef idx="1">
              <a:schemeClr val="lt1"/>
            </a:fillRef>
            <a:effectRef idx="0">
              <a:schemeClr val="accent4"/>
            </a:effectRef>
            <a:fontRef idx="minor">
              <a:schemeClr val="dk1"/>
            </a:fontRef>
          </p:style>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spcBef>
                  <a:spcPct val="0"/>
                </a:spcBef>
                <a:spcAft>
                  <a:spcPct val="0"/>
                </a:spcAft>
                <a:buNone/>
              </a:pPr>
              <a:r>
                <a:rPr lang="en-US" altLang="zh-CN" sz="2800" b="1">
                  <a:solidFill>
                    <a:srgbClr val="000000"/>
                  </a:solidFill>
                  <a:cs typeface="Times New Roman" panose="02020603050405020304" pitchFamily="18" charset="0"/>
                </a:rPr>
                <a:t>S</a:t>
              </a:r>
              <a:r>
                <a:rPr lang="en-US" altLang="zh-CN" sz="2800" b="1" baseline="-30000">
                  <a:solidFill>
                    <a:srgbClr val="000000"/>
                  </a:solidFill>
                  <a:cs typeface="Times New Roman" panose="02020603050405020304" pitchFamily="18" charset="0"/>
                </a:rPr>
                <a:t>i</a:t>
              </a:r>
              <a:endParaRPr lang="en-US" altLang="zh-CN" sz="2800">
                <a:solidFill>
                  <a:srgbClr val="000000"/>
                </a:solidFill>
                <a:cs typeface="Times New Roman" panose="02020603050405020304" pitchFamily="18" charset="0"/>
              </a:endParaRPr>
            </a:p>
          </p:txBody>
        </p:sp>
        <p:sp>
          <p:nvSpPr>
            <p:cNvPr id="12317" name="Rectangle 9"/>
            <p:cNvSpPr>
              <a:spLocks noChangeArrowheads="1"/>
            </p:cNvSpPr>
            <p:nvPr/>
          </p:nvSpPr>
          <p:spPr bwMode="auto">
            <a:xfrm>
              <a:off x="1307" y="384"/>
              <a:ext cx="208" cy="480"/>
            </a:xfrm>
            <a:prstGeom prst="rect">
              <a:avLst/>
            </a:prstGeom>
            <a:ln/>
            <a:extLst/>
          </p:spPr>
          <p:style>
            <a:lnRef idx="2">
              <a:schemeClr val="accent4"/>
            </a:lnRef>
            <a:fillRef idx="1">
              <a:schemeClr val="lt1"/>
            </a:fillRef>
            <a:effectRef idx="0">
              <a:schemeClr val="accent4"/>
            </a:effectRef>
            <a:fontRef idx="minor">
              <a:schemeClr val="dk1"/>
            </a:fontRef>
          </p:style>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spcBef>
                  <a:spcPct val="0"/>
                </a:spcBef>
                <a:spcAft>
                  <a:spcPct val="0"/>
                </a:spcAft>
                <a:buNone/>
              </a:pPr>
              <a:r>
                <a:rPr lang="en-US" altLang="zh-CN" sz="2800" b="1">
                  <a:solidFill>
                    <a:srgbClr val="000000"/>
                  </a:solidFill>
                  <a:cs typeface="Times New Roman" panose="02020603050405020304" pitchFamily="18" charset="0"/>
                </a:rPr>
                <a:t>C</a:t>
              </a:r>
              <a:r>
                <a:rPr lang="en-US" altLang="zh-CN" sz="2800" b="1" baseline="-30000">
                  <a:solidFill>
                    <a:srgbClr val="000000"/>
                  </a:solidFill>
                  <a:cs typeface="Times New Roman" panose="02020603050405020304" pitchFamily="18" charset="0"/>
                </a:rPr>
                <a:t>i</a:t>
              </a:r>
              <a:endParaRPr lang="en-US" altLang="zh-CN" sz="2800">
                <a:solidFill>
                  <a:srgbClr val="000000"/>
                </a:solidFill>
                <a:cs typeface="Times New Roman" panose="02020603050405020304" pitchFamily="18" charset="0"/>
              </a:endParaRPr>
            </a:p>
          </p:txBody>
        </p:sp>
        <p:sp>
          <p:nvSpPr>
            <p:cNvPr id="12315" name="Rectangle 10"/>
            <p:cNvSpPr>
              <a:spLocks noChangeArrowheads="1"/>
            </p:cNvSpPr>
            <p:nvPr/>
          </p:nvSpPr>
          <p:spPr bwMode="auto">
            <a:xfrm>
              <a:off x="43" y="864"/>
              <a:ext cx="216" cy="1056"/>
            </a:xfrm>
            <a:prstGeom prst="rect">
              <a:avLst/>
            </a:prstGeom>
            <a:ln/>
            <a:extLst/>
          </p:spPr>
          <p:style>
            <a:lnRef idx="2">
              <a:schemeClr val="accent4"/>
            </a:lnRef>
            <a:fillRef idx="1">
              <a:schemeClr val="lt1"/>
            </a:fillRef>
            <a:effectRef idx="0">
              <a:schemeClr val="accent4"/>
            </a:effectRef>
            <a:fontRef idx="minor">
              <a:schemeClr val="dk1"/>
            </a:fontRef>
          </p:style>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spcBef>
                  <a:spcPct val="0"/>
                </a:spcBef>
                <a:spcAft>
                  <a:spcPct val="0"/>
                </a:spcAft>
                <a:buNone/>
              </a:pPr>
              <a:r>
                <a:rPr lang="zh-CN" altLang="en-US" sz="2800" b="1">
                  <a:solidFill>
                    <a:srgbClr val="000000"/>
                  </a:solidFill>
                  <a:cs typeface="Times New Roman" panose="02020603050405020304" pitchFamily="18" charset="0"/>
                </a:rPr>
                <a:t>0</a:t>
              </a:r>
              <a:endParaRPr lang="zh-CN" altLang="en-US" sz="2800">
                <a:solidFill>
                  <a:srgbClr val="000000"/>
                </a:solidFill>
                <a:latin typeface="宋体" panose="02010600030101010101" pitchFamily="2" charset="-122"/>
                <a:cs typeface="Times New Roman" panose="02020603050405020304" pitchFamily="18" charset="0"/>
              </a:endParaRPr>
            </a:p>
            <a:p>
              <a:pPr algn="ctr" eaLnBrk="0" fontAlgn="base" hangingPunct="0">
                <a:spcBef>
                  <a:spcPct val="0"/>
                </a:spcBef>
                <a:spcAft>
                  <a:spcPct val="0"/>
                </a:spcAft>
                <a:buNone/>
              </a:pPr>
              <a:r>
                <a:rPr lang="zh-CN" altLang="en-US" sz="2800" b="1">
                  <a:solidFill>
                    <a:srgbClr val="000000"/>
                  </a:solidFill>
                  <a:cs typeface="Times New Roman" panose="02020603050405020304" pitchFamily="18" charset="0"/>
                </a:rPr>
                <a:t>0</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0</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0</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1</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1</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1</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1</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endParaRPr lang="zh-CN" altLang="en-US" sz="2800">
                <a:solidFill>
                  <a:srgbClr val="000000"/>
                </a:solidFill>
              </a:endParaRPr>
            </a:p>
          </p:txBody>
        </p:sp>
        <p:sp>
          <p:nvSpPr>
            <p:cNvPr id="12313" name="Rectangle 11"/>
            <p:cNvSpPr>
              <a:spLocks noChangeArrowheads="1"/>
            </p:cNvSpPr>
            <p:nvPr/>
          </p:nvSpPr>
          <p:spPr bwMode="auto">
            <a:xfrm>
              <a:off x="345" y="864"/>
              <a:ext cx="216" cy="1056"/>
            </a:xfrm>
            <a:prstGeom prst="rect">
              <a:avLst/>
            </a:prstGeom>
            <a:ln/>
            <a:extLst/>
          </p:spPr>
          <p:style>
            <a:lnRef idx="2">
              <a:schemeClr val="accent4"/>
            </a:lnRef>
            <a:fillRef idx="1">
              <a:schemeClr val="lt1"/>
            </a:fillRef>
            <a:effectRef idx="0">
              <a:schemeClr val="accent4"/>
            </a:effectRef>
            <a:fontRef idx="minor">
              <a:schemeClr val="dk1"/>
            </a:fontRef>
          </p:style>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spcBef>
                  <a:spcPct val="0"/>
                </a:spcBef>
                <a:spcAft>
                  <a:spcPct val="0"/>
                </a:spcAft>
                <a:buNone/>
              </a:pPr>
              <a:r>
                <a:rPr lang="zh-CN" altLang="en-US" sz="2800" b="1">
                  <a:solidFill>
                    <a:srgbClr val="000000"/>
                  </a:solidFill>
                  <a:cs typeface="Times New Roman" panose="02020603050405020304" pitchFamily="18" charset="0"/>
                </a:rPr>
                <a:t>0</a:t>
              </a:r>
              <a:endParaRPr lang="zh-CN" altLang="en-US" sz="2800">
                <a:solidFill>
                  <a:srgbClr val="000000"/>
                </a:solidFill>
                <a:latin typeface="宋体" panose="02010600030101010101" pitchFamily="2" charset="-122"/>
                <a:cs typeface="Times New Roman" panose="02020603050405020304" pitchFamily="18" charset="0"/>
              </a:endParaRPr>
            </a:p>
            <a:p>
              <a:pPr algn="ctr" eaLnBrk="0" fontAlgn="base" hangingPunct="0">
                <a:spcBef>
                  <a:spcPct val="0"/>
                </a:spcBef>
                <a:spcAft>
                  <a:spcPct val="0"/>
                </a:spcAft>
                <a:buNone/>
              </a:pPr>
              <a:r>
                <a:rPr lang="zh-CN" altLang="en-US" sz="2800" b="1">
                  <a:solidFill>
                    <a:srgbClr val="000000"/>
                  </a:solidFill>
                  <a:cs typeface="Times New Roman" panose="02020603050405020304" pitchFamily="18" charset="0"/>
                </a:rPr>
                <a:t>0</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1</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1</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0</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0</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1</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1</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endParaRPr lang="zh-CN" altLang="en-US" sz="2800">
                <a:solidFill>
                  <a:srgbClr val="000000"/>
                </a:solidFill>
              </a:endParaRPr>
            </a:p>
          </p:txBody>
        </p:sp>
        <p:sp>
          <p:nvSpPr>
            <p:cNvPr id="12311" name="Rectangle 12"/>
            <p:cNvSpPr>
              <a:spLocks noChangeArrowheads="1"/>
            </p:cNvSpPr>
            <p:nvPr/>
          </p:nvSpPr>
          <p:spPr bwMode="auto">
            <a:xfrm>
              <a:off x="647" y="864"/>
              <a:ext cx="232" cy="1056"/>
            </a:xfrm>
            <a:prstGeom prst="rect">
              <a:avLst/>
            </a:prstGeom>
            <a:ln/>
            <a:extLst/>
          </p:spPr>
          <p:style>
            <a:lnRef idx="2">
              <a:schemeClr val="accent4"/>
            </a:lnRef>
            <a:fillRef idx="1">
              <a:schemeClr val="lt1"/>
            </a:fillRef>
            <a:effectRef idx="0">
              <a:schemeClr val="accent4"/>
            </a:effectRef>
            <a:fontRef idx="minor">
              <a:schemeClr val="dk1"/>
            </a:fontRef>
          </p:style>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spcBef>
                  <a:spcPct val="0"/>
                </a:spcBef>
                <a:spcAft>
                  <a:spcPct val="0"/>
                </a:spcAft>
                <a:buNone/>
              </a:pPr>
              <a:r>
                <a:rPr lang="zh-CN" altLang="en-US" sz="2800" b="1" dirty="0">
                  <a:solidFill>
                    <a:srgbClr val="000000"/>
                  </a:solidFill>
                  <a:cs typeface="Times New Roman" panose="02020603050405020304" pitchFamily="18" charset="0"/>
                </a:rPr>
                <a:t>0</a:t>
              </a:r>
              <a:endParaRPr lang="zh-CN" altLang="en-US" sz="2800" dirty="0">
                <a:solidFill>
                  <a:srgbClr val="000000"/>
                </a:solidFill>
                <a:latin typeface="宋体" panose="02010600030101010101" pitchFamily="2" charset="-122"/>
                <a:cs typeface="Times New Roman" panose="02020603050405020304" pitchFamily="18" charset="0"/>
              </a:endParaRPr>
            </a:p>
            <a:p>
              <a:pPr algn="ctr" eaLnBrk="0" fontAlgn="base" hangingPunct="0">
                <a:spcBef>
                  <a:spcPct val="0"/>
                </a:spcBef>
                <a:spcAft>
                  <a:spcPct val="0"/>
                </a:spcAft>
                <a:buNone/>
              </a:pPr>
              <a:r>
                <a:rPr lang="zh-CN" altLang="en-US" sz="2800" b="1" dirty="0">
                  <a:solidFill>
                    <a:srgbClr val="000000"/>
                  </a:solidFill>
                  <a:cs typeface="Times New Roman" panose="02020603050405020304" pitchFamily="18" charset="0"/>
                </a:rPr>
                <a:t>1</a:t>
              </a:r>
              <a:endParaRPr lang="zh-CN" altLang="en-US" sz="2800" dirty="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dirty="0">
                  <a:solidFill>
                    <a:srgbClr val="000000"/>
                  </a:solidFill>
                </a:rPr>
                <a:t>0</a:t>
              </a:r>
              <a:endParaRPr lang="zh-CN" altLang="en-US" sz="2800" dirty="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dirty="0">
                  <a:solidFill>
                    <a:srgbClr val="000000"/>
                  </a:solidFill>
                </a:rPr>
                <a:t>1</a:t>
              </a:r>
              <a:endParaRPr lang="zh-CN" altLang="en-US" sz="2800" dirty="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dirty="0">
                  <a:solidFill>
                    <a:srgbClr val="000000"/>
                  </a:solidFill>
                </a:rPr>
                <a:t>0</a:t>
              </a:r>
              <a:endParaRPr lang="zh-CN" altLang="en-US" sz="2800" dirty="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dirty="0">
                  <a:solidFill>
                    <a:srgbClr val="000000"/>
                  </a:solidFill>
                </a:rPr>
                <a:t>1</a:t>
              </a:r>
              <a:endParaRPr lang="zh-CN" altLang="en-US" sz="2800" dirty="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dirty="0">
                  <a:solidFill>
                    <a:srgbClr val="000000"/>
                  </a:solidFill>
                </a:rPr>
                <a:t>0</a:t>
              </a:r>
              <a:endParaRPr lang="zh-CN" altLang="en-US" sz="2800" dirty="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dirty="0">
                  <a:solidFill>
                    <a:srgbClr val="000000"/>
                  </a:solidFill>
                </a:rPr>
                <a:t>1</a:t>
              </a:r>
              <a:endParaRPr lang="zh-CN" altLang="en-US" sz="2800" dirty="0">
                <a:solidFill>
                  <a:srgbClr val="000000"/>
                </a:solidFill>
                <a:latin typeface="宋体" panose="02010600030101010101" pitchFamily="2" charset="-122"/>
              </a:endParaRPr>
            </a:p>
            <a:p>
              <a:pPr algn="ctr" eaLnBrk="0" fontAlgn="base" hangingPunct="0">
                <a:spcBef>
                  <a:spcPct val="0"/>
                </a:spcBef>
                <a:spcAft>
                  <a:spcPct val="0"/>
                </a:spcAft>
                <a:buNone/>
              </a:pPr>
              <a:endParaRPr lang="zh-CN" altLang="en-US" sz="2800" dirty="0">
                <a:solidFill>
                  <a:srgbClr val="000000"/>
                </a:solidFill>
              </a:endParaRPr>
            </a:p>
          </p:txBody>
        </p:sp>
        <p:sp>
          <p:nvSpPr>
            <p:cNvPr id="12309" name="Rectangle 13"/>
            <p:cNvSpPr>
              <a:spLocks noChangeArrowheads="1"/>
            </p:cNvSpPr>
            <p:nvPr/>
          </p:nvSpPr>
          <p:spPr bwMode="auto">
            <a:xfrm>
              <a:off x="965" y="864"/>
              <a:ext cx="256" cy="1056"/>
            </a:xfrm>
            <a:prstGeom prst="rect">
              <a:avLst/>
            </a:prstGeom>
            <a:ln/>
            <a:extLst/>
          </p:spPr>
          <p:style>
            <a:lnRef idx="2">
              <a:schemeClr val="accent4"/>
            </a:lnRef>
            <a:fillRef idx="1">
              <a:schemeClr val="lt1"/>
            </a:fillRef>
            <a:effectRef idx="0">
              <a:schemeClr val="accent4"/>
            </a:effectRef>
            <a:fontRef idx="minor">
              <a:schemeClr val="dk1"/>
            </a:fontRef>
          </p:style>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spcBef>
                  <a:spcPct val="0"/>
                </a:spcBef>
                <a:spcAft>
                  <a:spcPct val="0"/>
                </a:spcAft>
                <a:buNone/>
              </a:pPr>
              <a:r>
                <a:rPr lang="zh-CN" altLang="en-US" sz="2800" b="1">
                  <a:solidFill>
                    <a:srgbClr val="000000"/>
                  </a:solidFill>
                  <a:cs typeface="Times New Roman" panose="02020603050405020304" pitchFamily="18" charset="0"/>
                </a:rPr>
                <a:t>0</a:t>
              </a:r>
              <a:endParaRPr lang="zh-CN" altLang="en-US" sz="2800">
                <a:solidFill>
                  <a:srgbClr val="000000"/>
                </a:solidFill>
                <a:latin typeface="宋体" panose="02010600030101010101" pitchFamily="2" charset="-122"/>
                <a:cs typeface="Times New Roman" panose="02020603050405020304" pitchFamily="18" charset="0"/>
              </a:endParaRPr>
            </a:p>
            <a:p>
              <a:pPr algn="ctr" eaLnBrk="0" fontAlgn="base" hangingPunct="0">
                <a:spcBef>
                  <a:spcPct val="0"/>
                </a:spcBef>
                <a:spcAft>
                  <a:spcPct val="0"/>
                </a:spcAft>
                <a:buNone/>
              </a:pPr>
              <a:r>
                <a:rPr lang="zh-CN" altLang="en-US" sz="2800" b="1">
                  <a:solidFill>
                    <a:srgbClr val="000000"/>
                  </a:solidFill>
                  <a:cs typeface="Times New Roman" panose="02020603050405020304" pitchFamily="18" charset="0"/>
                </a:rPr>
                <a:t>1</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1</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0</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1</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0</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0</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1</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endParaRPr lang="zh-CN" altLang="en-US" sz="2800">
                <a:solidFill>
                  <a:srgbClr val="000000"/>
                </a:solidFill>
              </a:endParaRPr>
            </a:p>
          </p:txBody>
        </p:sp>
        <p:sp>
          <p:nvSpPr>
            <p:cNvPr id="12307" name="Rectangle 14"/>
            <p:cNvSpPr>
              <a:spLocks noChangeArrowheads="1"/>
            </p:cNvSpPr>
            <p:nvPr/>
          </p:nvSpPr>
          <p:spPr bwMode="auto">
            <a:xfrm>
              <a:off x="1307" y="864"/>
              <a:ext cx="208" cy="1056"/>
            </a:xfrm>
            <a:prstGeom prst="rect">
              <a:avLst/>
            </a:prstGeom>
            <a:ln/>
            <a:extLst/>
          </p:spPr>
          <p:style>
            <a:lnRef idx="2">
              <a:schemeClr val="accent4"/>
            </a:lnRef>
            <a:fillRef idx="1">
              <a:schemeClr val="lt1"/>
            </a:fillRef>
            <a:effectRef idx="0">
              <a:schemeClr val="accent4"/>
            </a:effectRef>
            <a:fontRef idx="minor">
              <a:schemeClr val="dk1"/>
            </a:fontRef>
          </p:style>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spcBef>
                  <a:spcPct val="0"/>
                </a:spcBef>
                <a:spcAft>
                  <a:spcPct val="0"/>
                </a:spcAft>
                <a:buNone/>
              </a:pPr>
              <a:r>
                <a:rPr lang="zh-CN" altLang="en-US" sz="2800" b="1">
                  <a:solidFill>
                    <a:srgbClr val="000000"/>
                  </a:solidFill>
                  <a:cs typeface="Times New Roman" panose="02020603050405020304" pitchFamily="18" charset="0"/>
                </a:rPr>
                <a:t>0</a:t>
              </a:r>
              <a:endParaRPr lang="zh-CN" altLang="en-US" sz="2800">
                <a:solidFill>
                  <a:srgbClr val="000000"/>
                </a:solidFill>
                <a:latin typeface="宋体" panose="02010600030101010101" pitchFamily="2" charset="-122"/>
                <a:cs typeface="Times New Roman" panose="02020603050405020304" pitchFamily="18" charset="0"/>
              </a:endParaRPr>
            </a:p>
            <a:p>
              <a:pPr algn="ctr" eaLnBrk="0" fontAlgn="base" hangingPunct="0">
                <a:spcBef>
                  <a:spcPct val="0"/>
                </a:spcBef>
                <a:spcAft>
                  <a:spcPct val="0"/>
                </a:spcAft>
                <a:buNone/>
              </a:pPr>
              <a:r>
                <a:rPr lang="zh-CN" altLang="en-US" sz="2800" b="1">
                  <a:solidFill>
                    <a:srgbClr val="000000"/>
                  </a:solidFill>
                  <a:cs typeface="Times New Roman" panose="02020603050405020304" pitchFamily="18" charset="0"/>
                </a:rPr>
                <a:t>0</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0</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1</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0</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1</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1</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r>
                <a:rPr lang="zh-CN" altLang="en-US" sz="2800" b="1">
                  <a:solidFill>
                    <a:srgbClr val="000000"/>
                  </a:solidFill>
                </a:rPr>
                <a:t>1</a:t>
              </a:r>
              <a:endParaRPr lang="zh-CN" altLang="en-US" sz="2800">
                <a:solidFill>
                  <a:srgbClr val="000000"/>
                </a:solidFill>
                <a:latin typeface="宋体" panose="02010600030101010101" pitchFamily="2" charset="-122"/>
              </a:endParaRPr>
            </a:p>
            <a:p>
              <a:pPr algn="ctr" eaLnBrk="0" fontAlgn="base" hangingPunct="0">
                <a:spcBef>
                  <a:spcPct val="0"/>
                </a:spcBef>
                <a:spcAft>
                  <a:spcPct val="0"/>
                </a:spcAft>
                <a:buNone/>
              </a:pPr>
              <a:endParaRPr lang="zh-CN" altLang="en-US" sz="2800">
                <a:solidFill>
                  <a:srgbClr val="000000"/>
                </a:solidFill>
              </a:endParaRPr>
            </a:p>
          </p:txBody>
        </p:sp>
      </p:grpSp>
      <p:sp>
        <p:nvSpPr>
          <p:cNvPr id="2" name="文本框 1"/>
          <p:cNvSpPr txBox="1"/>
          <p:nvPr/>
        </p:nvSpPr>
        <p:spPr>
          <a:xfrm>
            <a:off x="9492956" y="936367"/>
            <a:ext cx="1468437" cy="120015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eaLnBrk="0" fontAlgn="base" hangingPunct="0">
              <a:spcBef>
                <a:spcPct val="0"/>
              </a:spcBef>
              <a:spcAft>
                <a:spcPct val="0"/>
              </a:spcAft>
              <a:defRPr/>
            </a:pPr>
            <a:r>
              <a:rPr lang="en-US" altLang="zh-CN" dirty="0">
                <a:solidFill>
                  <a:srgbClr val="000000"/>
                </a:solidFill>
                <a:latin typeface="Times New Roman"/>
                <a:ea typeface="宋体"/>
              </a:rPr>
              <a:t>0+0=0</a:t>
            </a:r>
          </a:p>
          <a:p>
            <a:pPr eaLnBrk="0" fontAlgn="base" hangingPunct="0">
              <a:spcBef>
                <a:spcPct val="0"/>
              </a:spcBef>
              <a:spcAft>
                <a:spcPct val="0"/>
              </a:spcAft>
              <a:defRPr/>
            </a:pPr>
            <a:r>
              <a:rPr lang="en-US" altLang="zh-CN" dirty="0">
                <a:solidFill>
                  <a:srgbClr val="000000"/>
                </a:solidFill>
                <a:latin typeface="Times New Roman"/>
                <a:ea typeface="宋体"/>
              </a:rPr>
              <a:t>0+1=1</a:t>
            </a:r>
          </a:p>
          <a:p>
            <a:pPr eaLnBrk="0" fontAlgn="base" hangingPunct="0">
              <a:spcBef>
                <a:spcPct val="0"/>
              </a:spcBef>
              <a:spcAft>
                <a:spcPct val="0"/>
              </a:spcAft>
              <a:defRPr/>
            </a:pPr>
            <a:r>
              <a:rPr lang="en-US" altLang="zh-CN" dirty="0">
                <a:solidFill>
                  <a:srgbClr val="000000"/>
                </a:solidFill>
                <a:latin typeface="Times New Roman"/>
                <a:ea typeface="宋体"/>
              </a:rPr>
              <a:t>1+0=1</a:t>
            </a:r>
          </a:p>
          <a:p>
            <a:pPr eaLnBrk="0" fontAlgn="base" hangingPunct="0">
              <a:spcBef>
                <a:spcPct val="0"/>
              </a:spcBef>
              <a:spcAft>
                <a:spcPct val="0"/>
              </a:spcAft>
              <a:defRPr/>
            </a:pPr>
            <a:r>
              <a:rPr lang="en-US" altLang="zh-CN" dirty="0">
                <a:solidFill>
                  <a:srgbClr val="000000"/>
                </a:solidFill>
                <a:latin typeface="Times New Roman"/>
                <a:ea typeface="宋体"/>
              </a:rPr>
              <a:t>1+1=0 </a:t>
            </a:r>
            <a:r>
              <a:rPr lang="zh-CN" altLang="en-US" dirty="0">
                <a:solidFill>
                  <a:srgbClr val="000000"/>
                </a:solidFill>
                <a:latin typeface="Times New Roman"/>
                <a:ea typeface="宋体"/>
              </a:rPr>
              <a:t>进位</a:t>
            </a:r>
          </a:p>
        </p:txBody>
      </p:sp>
      <p:sp>
        <p:nvSpPr>
          <p:cNvPr id="4" name="矩形 3"/>
          <p:cNvSpPr/>
          <p:nvPr/>
        </p:nvSpPr>
        <p:spPr bwMode="auto">
          <a:xfrm>
            <a:off x="1376680" y="3069767"/>
            <a:ext cx="646331" cy="369332"/>
          </a:xfrm>
          <a:prstGeom prst="rect">
            <a:avLst/>
          </a:prstGeom>
          <a:solidFill>
            <a:schemeClr val="accent1"/>
          </a:solidFill>
          <a:ln w="6350" cap="flat" cmpd="sng" algn="ctr">
            <a:solidFill>
              <a:srgbClr val="00FFFF"/>
            </a:solidFill>
            <a:prstDash val="solid"/>
            <a:round/>
            <a:headEnd type="none" w="med" len="med"/>
            <a:tailEnd type="none" w="med" len="me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accent2"/>
                </a:solidFill>
                <a:effectLst/>
                <a:latin typeface="Arial" charset="0"/>
                <a:ea typeface="华文行楷" pitchFamily="2" charset="-122"/>
              </a:rPr>
              <a:t>输入</a:t>
            </a:r>
          </a:p>
        </p:txBody>
      </p:sp>
      <p:sp>
        <p:nvSpPr>
          <p:cNvPr id="42" name="矩形 41"/>
          <p:cNvSpPr/>
          <p:nvPr/>
        </p:nvSpPr>
        <p:spPr bwMode="auto">
          <a:xfrm>
            <a:off x="9780847" y="3069767"/>
            <a:ext cx="646331" cy="369332"/>
          </a:xfrm>
          <a:prstGeom prst="rect">
            <a:avLst/>
          </a:prstGeom>
          <a:solidFill>
            <a:schemeClr val="accent6">
              <a:lumMod val="60000"/>
              <a:lumOff val="40000"/>
            </a:schemeClr>
          </a:solidFill>
          <a:ln w="6350" cap="flat" cmpd="sng" algn="ctr">
            <a:solidFill>
              <a:srgbClr val="00FFFF"/>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rgbClr val="FF0000"/>
                </a:solidFill>
                <a:effectLst/>
                <a:latin typeface="Arial" charset="0"/>
                <a:ea typeface="华文行楷" pitchFamily="2" charset="-122"/>
              </a:rPr>
              <a:t>输出</a:t>
            </a:r>
          </a:p>
        </p:txBody>
      </p:sp>
    </p:spTree>
    <p:extLst>
      <p:ext uri="{BB962C8B-B14F-4D97-AF65-F5344CB8AC3E}">
        <p14:creationId xmlns:p14="http://schemas.microsoft.com/office/powerpoint/2010/main" val="1625630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fld id="{9369D523-4AB2-4961-B45F-FD71D49C21A2}" type="slidenum">
              <a:rPr lang="zh-CN" altLang="en-US" sz="1400">
                <a:solidFill>
                  <a:srgbClr val="000000"/>
                </a:solidFill>
              </a:rPr>
              <a:pPr fontAlgn="base">
                <a:spcBef>
                  <a:spcPct val="0"/>
                </a:spcBef>
                <a:spcAft>
                  <a:spcPct val="0"/>
                </a:spcAft>
                <a:buNone/>
              </a:pPr>
              <a:t>4</a:t>
            </a:fld>
            <a:endParaRPr lang="en-US" altLang="zh-CN" sz="1400">
              <a:solidFill>
                <a:srgbClr val="000000"/>
              </a:solidFill>
            </a:endParaRPr>
          </a:p>
        </p:txBody>
      </p:sp>
      <p:sp>
        <p:nvSpPr>
          <p:cNvPr id="13315" name="Rectangle 2"/>
          <p:cNvSpPr>
            <a:spLocks noGrp="1" noChangeArrowheads="1"/>
          </p:cNvSpPr>
          <p:nvPr>
            <p:ph type="body" idx="4294967295"/>
          </p:nvPr>
        </p:nvSpPr>
        <p:spPr>
          <a:xfrm>
            <a:off x="2057400" y="1219200"/>
            <a:ext cx="8077200" cy="5257800"/>
          </a:xfrm>
        </p:spPr>
        <p:txBody>
          <a:bodyPr/>
          <a:lstStyle/>
          <a:p>
            <a:pPr eaLnBrk="1" hangingPunct="1">
              <a:buFontTx/>
              <a:buNone/>
            </a:pPr>
            <a:r>
              <a:rPr lang="zh-CN" altLang="en-US" b="1" smtClean="0">
                <a:ea typeface="楷体_GB2312" pitchFamily="49" charset="-122"/>
              </a:rPr>
              <a:t>            根据真值表，可得到全加器的逻辑表达式为：</a:t>
            </a:r>
            <a:endParaRPr lang="zh-CN" altLang="en-US" b="1" smtClean="0">
              <a:latin typeface="宋体" panose="02010600030101010101" pitchFamily="2" charset="-122"/>
            </a:endParaRPr>
          </a:p>
          <a:p>
            <a:pPr algn="just" eaLnBrk="1" hangingPunct="1">
              <a:buFontTx/>
              <a:buNone/>
            </a:pPr>
            <a:r>
              <a:rPr lang="zh-CN" altLang="en-US" b="1" smtClean="0">
                <a:cs typeface="Times New Roman" panose="02020603050405020304" pitchFamily="18" charset="0"/>
              </a:rPr>
              <a:t>            </a:t>
            </a:r>
            <a:r>
              <a:rPr lang="en-US" altLang="zh-CN" b="1" smtClean="0">
                <a:solidFill>
                  <a:srgbClr val="FF3300"/>
                </a:solidFill>
                <a:cs typeface="Times New Roman" panose="02020603050405020304" pitchFamily="18" charset="0"/>
              </a:rPr>
              <a:t>S</a:t>
            </a:r>
            <a:r>
              <a:rPr lang="en-US" altLang="zh-CN" b="1" baseline="-30000" smtClean="0">
                <a:solidFill>
                  <a:srgbClr val="FF3300"/>
                </a:solidFill>
                <a:cs typeface="Times New Roman" panose="02020603050405020304" pitchFamily="18" charset="0"/>
              </a:rPr>
              <a:t>i</a:t>
            </a:r>
            <a:r>
              <a:rPr lang="en-US" altLang="zh-CN" b="1" smtClean="0">
                <a:solidFill>
                  <a:srgbClr val="FF3300"/>
                </a:solidFill>
                <a:cs typeface="Times New Roman" panose="02020603050405020304" pitchFamily="18" charset="0"/>
              </a:rPr>
              <a:t>=A</a:t>
            </a:r>
            <a:r>
              <a:rPr lang="en-US" altLang="zh-CN" b="1" baseline="-30000" smtClean="0">
                <a:solidFill>
                  <a:srgbClr val="FF3300"/>
                </a:solidFill>
                <a:cs typeface="Times New Roman" panose="02020603050405020304" pitchFamily="18" charset="0"/>
              </a:rPr>
              <a:t>i</a:t>
            </a:r>
            <a:r>
              <a:rPr lang="en-US" altLang="zh-CN" b="1" smtClean="0">
                <a:solidFill>
                  <a:srgbClr val="FF3300"/>
                </a:solidFill>
              </a:rPr>
              <a:t>⊕</a:t>
            </a:r>
            <a:r>
              <a:rPr lang="en-US" altLang="zh-CN" b="1" smtClean="0">
                <a:solidFill>
                  <a:srgbClr val="FF3300"/>
                </a:solidFill>
                <a:cs typeface="Times New Roman" panose="02020603050405020304" pitchFamily="18" charset="0"/>
              </a:rPr>
              <a:t>B</a:t>
            </a:r>
            <a:r>
              <a:rPr lang="en-US" altLang="zh-CN" b="1" baseline="-30000" smtClean="0">
                <a:solidFill>
                  <a:srgbClr val="FF3300"/>
                </a:solidFill>
                <a:cs typeface="Times New Roman" panose="02020603050405020304" pitchFamily="18" charset="0"/>
              </a:rPr>
              <a:t>i</a:t>
            </a:r>
            <a:r>
              <a:rPr lang="en-US" altLang="zh-CN" b="1" smtClean="0">
                <a:solidFill>
                  <a:srgbClr val="FF3300"/>
                </a:solidFill>
              </a:rPr>
              <a:t>⊕</a:t>
            </a:r>
            <a:r>
              <a:rPr lang="en-US" altLang="zh-CN" b="1" smtClean="0">
                <a:solidFill>
                  <a:srgbClr val="FF3300"/>
                </a:solidFill>
                <a:cs typeface="Times New Roman" panose="02020603050405020304" pitchFamily="18" charset="0"/>
              </a:rPr>
              <a:t>C</a:t>
            </a:r>
            <a:r>
              <a:rPr lang="en-US" altLang="zh-CN" b="1" baseline="-30000" smtClean="0">
                <a:solidFill>
                  <a:srgbClr val="FF3300"/>
                </a:solidFill>
                <a:cs typeface="Times New Roman" panose="02020603050405020304" pitchFamily="18" charset="0"/>
              </a:rPr>
              <a:t>i-1</a:t>
            </a:r>
            <a:endParaRPr lang="en-US" altLang="zh-CN" b="1" smtClean="0">
              <a:solidFill>
                <a:srgbClr val="FF3300"/>
              </a:solidFill>
              <a:latin typeface="宋体" panose="02010600030101010101" pitchFamily="2" charset="-122"/>
            </a:endParaRPr>
          </a:p>
          <a:p>
            <a:pPr algn="just" eaLnBrk="1" hangingPunct="1">
              <a:buFontTx/>
              <a:buNone/>
            </a:pPr>
            <a:r>
              <a:rPr lang="en-US" altLang="zh-CN" b="1" smtClean="0">
                <a:solidFill>
                  <a:srgbClr val="FF3300"/>
                </a:solidFill>
                <a:cs typeface="Times New Roman" panose="02020603050405020304" pitchFamily="18" charset="0"/>
              </a:rPr>
              <a:t>            C</a:t>
            </a:r>
            <a:r>
              <a:rPr lang="en-US" altLang="zh-CN" b="1" baseline="-30000" smtClean="0">
                <a:solidFill>
                  <a:srgbClr val="FF3300"/>
                </a:solidFill>
                <a:cs typeface="Times New Roman" panose="02020603050405020304" pitchFamily="18" charset="0"/>
              </a:rPr>
              <a:t>i</a:t>
            </a:r>
            <a:r>
              <a:rPr lang="en-US" altLang="zh-CN" b="1" smtClean="0">
                <a:solidFill>
                  <a:srgbClr val="FF3300"/>
                </a:solidFill>
                <a:cs typeface="Times New Roman" panose="02020603050405020304" pitchFamily="18" charset="0"/>
              </a:rPr>
              <a:t>=A</a:t>
            </a:r>
            <a:r>
              <a:rPr lang="en-US" altLang="zh-CN" b="1" baseline="-30000" smtClean="0">
                <a:solidFill>
                  <a:srgbClr val="FF3300"/>
                </a:solidFill>
                <a:cs typeface="Times New Roman" panose="02020603050405020304" pitchFamily="18" charset="0"/>
              </a:rPr>
              <a:t>i</a:t>
            </a:r>
            <a:r>
              <a:rPr lang="en-US" altLang="zh-CN" b="1" smtClean="0">
                <a:solidFill>
                  <a:srgbClr val="FF3300"/>
                </a:solidFill>
                <a:cs typeface="Times New Roman" panose="02020603050405020304" pitchFamily="18" charset="0"/>
              </a:rPr>
              <a:t>B</a:t>
            </a:r>
            <a:r>
              <a:rPr lang="en-US" altLang="zh-CN" b="1" baseline="-30000" smtClean="0">
                <a:solidFill>
                  <a:srgbClr val="FF3300"/>
                </a:solidFill>
                <a:cs typeface="Times New Roman" panose="02020603050405020304" pitchFamily="18" charset="0"/>
              </a:rPr>
              <a:t>i</a:t>
            </a:r>
            <a:r>
              <a:rPr lang="en-US" altLang="zh-CN" b="1" smtClean="0">
                <a:solidFill>
                  <a:srgbClr val="FF3300"/>
                </a:solidFill>
                <a:cs typeface="Times New Roman" panose="02020603050405020304" pitchFamily="18" charset="0"/>
              </a:rPr>
              <a:t>+(A</a:t>
            </a:r>
            <a:r>
              <a:rPr lang="en-US" altLang="zh-CN" b="1" baseline="-30000" smtClean="0">
                <a:solidFill>
                  <a:srgbClr val="FF3300"/>
                </a:solidFill>
                <a:cs typeface="Times New Roman" panose="02020603050405020304" pitchFamily="18" charset="0"/>
              </a:rPr>
              <a:t>i</a:t>
            </a:r>
            <a:r>
              <a:rPr lang="en-US" altLang="zh-CN" b="1" smtClean="0">
                <a:solidFill>
                  <a:srgbClr val="FF3300"/>
                </a:solidFill>
              </a:rPr>
              <a:t>⊕</a:t>
            </a:r>
            <a:r>
              <a:rPr lang="en-US" altLang="zh-CN" b="1" smtClean="0">
                <a:solidFill>
                  <a:srgbClr val="FF3300"/>
                </a:solidFill>
                <a:cs typeface="Times New Roman" panose="02020603050405020304" pitchFamily="18" charset="0"/>
              </a:rPr>
              <a:t>B</a:t>
            </a:r>
            <a:r>
              <a:rPr lang="en-US" altLang="zh-CN" b="1" baseline="-30000" smtClean="0">
                <a:solidFill>
                  <a:srgbClr val="FF3300"/>
                </a:solidFill>
                <a:cs typeface="Times New Roman" panose="02020603050405020304" pitchFamily="18" charset="0"/>
              </a:rPr>
              <a:t>i</a:t>
            </a:r>
            <a:r>
              <a:rPr lang="en-US" altLang="zh-CN" b="1" smtClean="0">
                <a:solidFill>
                  <a:srgbClr val="FF3300"/>
                </a:solidFill>
                <a:cs typeface="Times New Roman" panose="02020603050405020304" pitchFamily="18" charset="0"/>
              </a:rPr>
              <a:t>)C</a:t>
            </a:r>
            <a:r>
              <a:rPr lang="en-US" altLang="zh-CN" b="1" baseline="-30000" smtClean="0">
                <a:solidFill>
                  <a:srgbClr val="FF3300"/>
                </a:solidFill>
                <a:cs typeface="Times New Roman" panose="02020603050405020304" pitchFamily="18" charset="0"/>
              </a:rPr>
              <a:t>i-1</a:t>
            </a:r>
          </a:p>
        </p:txBody>
      </p:sp>
      <p:sp>
        <p:nvSpPr>
          <p:cNvPr id="13316" name="Rectangle 6"/>
          <p:cNvSpPr>
            <a:spLocks noGrp="1" noChangeArrowheads="1"/>
          </p:cNvSpPr>
          <p:nvPr>
            <p:ph type="title" idx="4294967295"/>
          </p:nvPr>
        </p:nvSpPr>
        <p:spPr>
          <a:xfrm>
            <a:off x="2209800" y="381000"/>
            <a:ext cx="7772400" cy="1143000"/>
          </a:xfrm>
        </p:spPr>
        <p:txBody>
          <a:bodyPr/>
          <a:lstStyle/>
          <a:p>
            <a:pPr algn="l" eaLnBrk="1" hangingPunct="1"/>
            <a:r>
              <a:rPr lang="zh-CN" altLang="en-US" sz="3200">
                <a:solidFill>
                  <a:schemeClr val="tx1"/>
                </a:solidFill>
                <a:ea typeface="楷体_GB2312" pitchFamily="49" charset="-122"/>
              </a:rPr>
              <a:t>全加器的逻辑表达式</a:t>
            </a:r>
            <a:endParaRPr lang="zh-CN" altLang="en-US" sz="3200">
              <a:solidFill>
                <a:schemeClr val="tx1"/>
              </a:solidFill>
            </a:endParaRPr>
          </a:p>
        </p:txBody>
      </p:sp>
    </p:spTree>
    <p:extLst>
      <p:ext uri="{BB962C8B-B14F-4D97-AF65-F5344CB8AC3E}">
        <p14:creationId xmlns:p14="http://schemas.microsoft.com/office/powerpoint/2010/main" val="290182265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fld id="{57C9C97E-E8C6-4E1D-A624-A06698420571}" type="slidenum">
              <a:rPr lang="zh-CN" altLang="en-US" sz="1400">
                <a:solidFill>
                  <a:srgbClr val="000000"/>
                </a:solidFill>
              </a:rPr>
              <a:pPr fontAlgn="base">
                <a:spcBef>
                  <a:spcPct val="0"/>
                </a:spcBef>
                <a:spcAft>
                  <a:spcPct val="0"/>
                </a:spcAft>
                <a:buNone/>
              </a:pPr>
              <a:t>5</a:t>
            </a:fld>
            <a:endParaRPr lang="en-US" altLang="zh-CN" sz="1400">
              <a:solidFill>
                <a:srgbClr val="000000"/>
              </a:solidFill>
            </a:endParaRPr>
          </a:p>
        </p:txBody>
      </p:sp>
      <p:sp>
        <p:nvSpPr>
          <p:cNvPr id="14339" name="Rectangle 2"/>
          <p:cNvSpPr>
            <a:spLocks noGrp="1" noChangeArrowheads="1"/>
          </p:cNvSpPr>
          <p:nvPr>
            <p:ph type="title"/>
          </p:nvPr>
        </p:nvSpPr>
        <p:spPr>
          <a:xfrm>
            <a:off x="2286000" y="381000"/>
            <a:ext cx="7772400" cy="1143000"/>
          </a:xfrm>
        </p:spPr>
        <p:txBody>
          <a:bodyPr/>
          <a:lstStyle/>
          <a:p>
            <a:pPr algn="l" eaLnBrk="1" hangingPunct="1"/>
            <a:r>
              <a:rPr lang="zh-CN" altLang="en-US" sz="3200">
                <a:solidFill>
                  <a:schemeClr val="accent2"/>
                </a:solidFill>
                <a:ea typeface="楷体_GB2312" pitchFamily="49" charset="-122"/>
              </a:rPr>
              <a:t>2.串行加法器与并行加法器</a:t>
            </a:r>
          </a:p>
        </p:txBody>
      </p:sp>
      <p:sp>
        <p:nvSpPr>
          <p:cNvPr id="14340" name="Rectangle 3"/>
          <p:cNvSpPr>
            <a:spLocks noGrp="1" noChangeArrowheads="1"/>
          </p:cNvSpPr>
          <p:nvPr>
            <p:ph type="body" idx="1"/>
          </p:nvPr>
        </p:nvSpPr>
        <p:spPr>
          <a:xfrm>
            <a:off x="2133600" y="1600200"/>
            <a:ext cx="7848600" cy="4267200"/>
          </a:xfrm>
        </p:spPr>
        <p:txBody>
          <a:bodyPr/>
          <a:lstStyle/>
          <a:p>
            <a:pPr algn="just" eaLnBrk="1" hangingPunct="1">
              <a:buFontTx/>
              <a:buNone/>
            </a:pPr>
            <a:r>
              <a:rPr lang="zh-CN" altLang="en-US" b="1" smtClean="0">
                <a:ea typeface="楷体_GB2312" pitchFamily="49" charset="-122"/>
              </a:rPr>
              <a:t>            加法器有</a:t>
            </a:r>
            <a:r>
              <a:rPr lang="zh-CN" altLang="en-US" b="1" smtClean="0">
                <a:solidFill>
                  <a:srgbClr val="FF0000"/>
                </a:solidFill>
                <a:ea typeface="楷体_GB2312" pitchFamily="49" charset="-122"/>
              </a:rPr>
              <a:t>串行和并行</a:t>
            </a:r>
            <a:r>
              <a:rPr lang="zh-CN" altLang="en-US" b="1" smtClean="0">
                <a:ea typeface="楷体_GB2312" pitchFamily="49" charset="-122"/>
              </a:rPr>
              <a:t>之分。在串行加法器中，只有一个全加器，数据逐位串行送入加法器进行运算；并行加法器则由多个全加器组成，其位数的多少取决于机器的字长，数据的各位同时运算。</a:t>
            </a:r>
          </a:p>
        </p:txBody>
      </p:sp>
    </p:spTree>
    <p:extLst>
      <p:ext uri="{BB962C8B-B14F-4D97-AF65-F5344CB8AC3E}">
        <p14:creationId xmlns:p14="http://schemas.microsoft.com/office/powerpoint/2010/main" val="314504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fld id="{2579DB9C-CF9C-4B6C-90F0-AC27DE05D2A5}" type="slidenum">
              <a:rPr lang="zh-CN" altLang="en-US" sz="1400">
                <a:solidFill>
                  <a:srgbClr val="000000"/>
                </a:solidFill>
              </a:rPr>
              <a:pPr fontAlgn="base">
                <a:spcBef>
                  <a:spcPct val="0"/>
                </a:spcBef>
                <a:spcAft>
                  <a:spcPct val="0"/>
                </a:spcAft>
                <a:buNone/>
              </a:pPr>
              <a:t>6</a:t>
            </a:fld>
            <a:endParaRPr lang="en-US" altLang="zh-CN" sz="1400">
              <a:solidFill>
                <a:srgbClr val="000000"/>
              </a:solidFill>
            </a:endParaRPr>
          </a:p>
        </p:txBody>
      </p:sp>
      <p:sp>
        <p:nvSpPr>
          <p:cNvPr id="15363" name="Rectangle 3"/>
          <p:cNvSpPr>
            <a:spLocks noGrp="1" noChangeArrowheads="1"/>
          </p:cNvSpPr>
          <p:nvPr>
            <p:ph type="body" idx="4294967295"/>
          </p:nvPr>
        </p:nvSpPr>
        <p:spPr>
          <a:xfrm>
            <a:off x="2057400" y="1295400"/>
            <a:ext cx="7924800" cy="5105400"/>
          </a:xfrm>
        </p:spPr>
        <p:txBody>
          <a:bodyPr/>
          <a:lstStyle/>
          <a:p>
            <a:pPr algn="just" eaLnBrk="1" hangingPunct="1">
              <a:lnSpc>
                <a:spcPct val="90000"/>
              </a:lnSpc>
              <a:buFontTx/>
              <a:buNone/>
            </a:pPr>
            <a:r>
              <a:rPr lang="zh-CN" altLang="en-US" sz="2800" b="1">
                <a:cs typeface="Times New Roman" panose="02020603050405020304" pitchFamily="18" charset="0"/>
              </a:rPr>
              <a:t>            </a:t>
            </a:r>
            <a:r>
              <a:rPr lang="zh-CN" altLang="en-US" sz="2800" b="1">
                <a:ea typeface="楷体_GB2312" pitchFamily="49" charset="-122"/>
              </a:rPr>
              <a:t>串行加法器具有器件少、成本低的优点，但运算速度太慢，所以除去某些低速的专用运算器外很少采用。</a:t>
            </a:r>
            <a:endParaRPr lang="zh-CN" altLang="en-US" sz="2800" b="1">
              <a:latin typeface="宋体" panose="02010600030101010101" pitchFamily="2" charset="-122"/>
            </a:endParaRPr>
          </a:p>
          <a:p>
            <a:pPr algn="just" eaLnBrk="1" hangingPunct="1">
              <a:lnSpc>
                <a:spcPct val="90000"/>
              </a:lnSpc>
              <a:buFontTx/>
              <a:buNone/>
            </a:pPr>
            <a:r>
              <a:rPr lang="zh-CN" altLang="en-US" sz="2800" b="1">
                <a:cs typeface="Times New Roman" panose="02020603050405020304" pitchFamily="18" charset="0"/>
              </a:rPr>
              <a:t>            </a:t>
            </a:r>
            <a:r>
              <a:rPr lang="zh-CN" altLang="en-US" sz="2800" b="1">
                <a:ea typeface="楷体_GB2312" pitchFamily="49" charset="-122"/>
              </a:rPr>
              <a:t>并行加法器可同时对数据的各位相加，但存在着一个加法的最长运算时间问题。这是因为虽然操作数的各位是同时提供的，但低位运算所产生的进位会影响高位的运算结果。例如：</a:t>
            </a:r>
            <a:r>
              <a:rPr lang="zh-CN" altLang="en-US" sz="2800" b="1">
                <a:cs typeface="Times New Roman" panose="02020603050405020304" pitchFamily="18" charset="0"/>
              </a:rPr>
              <a:t>11</a:t>
            </a:r>
            <a:r>
              <a:rPr lang="zh-CN" altLang="en-US" sz="2800" b="1">
                <a:ea typeface="楷体_GB2312" pitchFamily="49" charset="-122"/>
              </a:rPr>
              <a:t>…</a:t>
            </a:r>
            <a:r>
              <a:rPr lang="zh-CN" altLang="en-US" sz="2800" b="1">
                <a:cs typeface="Times New Roman" panose="02020603050405020304" pitchFamily="18" charset="0"/>
              </a:rPr>
              <a:t>11</a:t>
            </a:r>
            <a:r>
              <a:rPr lang="zh-CN" altLang="en-US" sz="2800" b="1">
                <a:ea typeface="楷体_GB2312" pitchFamily="49" charset="-122"/>
              </a:rPr>
              <a:t>和</a:t>
            </a:r>
            <a:r>
              <a:rPr lang="zh-CN" altLang="en-US" sz="2800" b="1">
                <a:cs typeface="Times New Roman" panose="02020603050405020304" pitchFamily="18" charset="0"/>
              </a:rPr>
              <a:t>00</a:t>
            </a:r>
            <a:r>
              <a:rPr lang="zh-CN" altLang="en-US" sz="2800" b="1">
                <a:ea typeface="楷体_GB2312" pitchFamily="49" charset="-122"/>
              </a:rPr>
              <a:t>…</a:t>
            </a:r>
            <a:r>
              <a:rPr lang="zh-CN" altLang="en-US" sz="2800" b="1">
                <a:cs typeface="Times New Roman" panose="02020603050405020304" pitchFamily="18" charset="0"/>
              </a:rPr>
              <a:t>01</a:t>
            </a:r>
            <a:r>
              <a:rPr lang="zh-CN" altLang="en-US" sz="2800" b="1">
                <a:ea typeface="楷体_GB2312" pitchFamily="49" charset="-122"/>
              </a:rPr>
              <a:t>相加，最低位产生的进位将逐位影响至最高位，因此，并行加法器的最长运算时间主要是由进位信号的传递时间决定的，而每个全加器本身的求和延迟只是次要因素。很明显，</a:t>
            </a:r>
            <a:r>
              <a:rPr lang="zh-CN" altLang="en-US" sz="2800" b="1">
                <a:solidFill>
                  <a:srgbClr val="FF3300"/>
                </a:solidFill>
                <a:ea typeface="楷体_GB2312" pitchFamily="49" charset="-122"/>
              </a:rPr>
              <a:t>提高并行加法器速度的关键是尽量加快进位产生和传递的速度。</a:t>
            </a:r>
          </a:p>
        </p:txBody>
      </p:sp>
      <p:sp>
        <p:nvSpPr>
          <p:cNvPr id="15364" name="Rectangle 5"/>
          <p:cNvSpPr>
            <a:spLocks noGrp="1" noChangeArrowheads="1"/>
          </p:cNvSpPr>
          <p:nvPr>
            <p:ph type="title" idx="4294967295"/>
          </p:nvPr>
        </p:nvSpPr>
        <p:spPr>
          <a:xfrm>
            <a:off x="2209800" y="381000"/>
            <a:ext cx="7772400" cy="1143000"/>
          </a:xfrm>
        </p:spPr>
        <p:txBody>
          <a:bodyPr/>
          <a:lstStyle/>
          <a:p>
            <a:pPr algn="l" eaLnBrk="1" hangingPunct="1"/>
            <a:r>
              <a:rPr lang="zh-CN" altLang="en-US" sz="3200">
                <a:solidFill>
                  <a:schemeClr val="accent2"/>
                </a:solidFill>
                <a:ea typeface="楷体_GB2312" pitchFamily="49" charset="-122"/>
              </a:rPr>
              <a:t>2.串行加法器与并行加法器（续）</a:t>
            </a:r>
            <a:endParaRPr lang="zh-CN" altLang="en-US" smtClean="0">
              <a:solidFill>
                <a:schemeClr val="accent2"/>
              </a:solidFill>
            </a:endParaRPr>
          </a:p>
        </p:txBody>
      </p:sp>
    </p:spTree>
    <p:extLst>
      <p:ext uri="{BB962C8B-B14F-4D97-AF65-F5344CB8AC3E}">
        <p14:creationId xmlns:p14="http://schemas.microsoft.com/office/powerpoint/2010/main" val="83020530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fld id="{62EDE5B3-F787-4A8B-AAFF-7EDF108B1C0A}" type="slidenum">
              <a:rPr lang="zh-CN" altLang="en-US" sz="1400">
                <a:solidFill>
                  <a:srgbClr val="000000"/>
                </a:solidFill>
              </a:rPr>
              <a:pPr fontAlgn="base">
                <a:spcBef>
                  <a:spcPct val="0"/>
                </a:spcBef>
                <a:spcAft>
                  <a:spcPct val="0"/>
                </a:spcAft>
                <a:buNone/>
              </a:pPr>
              <a:t>7</a:t>
            </a:fld>
            <a:endParaRPr lang="en-US" altLang="zh-CN" sz="1400">
              <a:solidFill>
                <a:srgbClr val="000000"/>
              </a:solidFill>
            </a:endParaRPr>
          </a:p>
        </p:txBody>
      </p:sp>
      <p:sp>
        <p:nvSpPr>
          <p:cNvPr id="16387" name="Rectangle 3"/>
          <p:cNvSpPr>
            <a:spLocks noGrp="1" noChangeArrowheads="1"/>
          </p:cNvSpPr>
          <p:nvPr>
            <p:ph type="body" idx="4294967295"/>
          </p:nvPr>
        </p:nvSpPr>
        <p:spPr>
          <a:xfrm>
            <a:off x="2133600" y="1219200"/>
            <a:ext cx="7924800" cy="5029200"/>
          </a:xfrm>
        </p:spPr>
        <p:txBody>
          <a:bodyPr/>
          <a:lstStyle/>
          <a:p>
            <a:pPr algn="just" eaLnBrk="1" hangingPunct="1">
              <a:buFontTx/>
              <a:buNone/>
            </a:pPr>
            <a:r>
              <a:rPr lang="zh-CN" altLang="en-US" b="1" smtClean="0">
                <a:cs typeface="Times New Roman" panose="02020603050405020304" pitchFamily="18" charset="0"/>
              </a:rPr>
              <a:t>            </a:t>
            </a:r>
            <a:r>
              <a:rPr lang="zh-CN" altLang="en-US" b="1" smtClean="0">
                <a:ea typeface="楷体_GB2312" pitchFamily="49" charset="-122"/>
              </a:rPr>
              <a:t>并行加法器中的每一个全加器都有一个从低位送来的进位输入和一个传送给高位的进位输出。我们将传递进位信号的逻辑线路连接起来构成的进位网络称为进位链。每一位的进位表达式为：</a:t>
            </a:r>
            <a:endParaRPr lang="zh-CN" altLang="en-US" b="1" smtClean="0">
              <a:latin typeface="宋体" panose="02010600030101010101" pitchFamily="2" charset="-122"/>
            </a:endParaRPr>
          </a:p>
          <a:p>
            <a:pPr algn="just" eaLnBrk="1" hangingPunct="1">
              <a:buFontTx/>
              <a:buNone/>
            </a:pPr>
            <a:r>
              <a:rPr lang="zh-CN" altLang="en-US" b="1" smtClean="0">
                <a:cs typeface="Times New Roman" panose="02020603050405020304" pitchFamily="18" charset="0"/>
              </a:rPr>
              <a:t>            </a:t>
            </a:r>
            <a:r>
              <a:rPr lang="en-US" altLang="zh-CN" b="1" smtClean="0">
                <a:solidFill>
                  <a:srgbClr val="FF3300"/>
                </a:solidFill>
                <a:cs typeface="Times New Roman" panose="02020603050405020304" pitchFamily="18" charset="0"/>
              </a:rPr>
              <a:t>C</a:t>
            </a:r>
            <a:r>
              <a:rPr lang="en-US" altLang="zh-CN" b="1" baseline="-30000" smtClean="0">
                <a:solidFill>
                  <a:srgbClr val="FF3300"/>
                </a:solidFill>
                <a:cs typeface="Times New Roman" panose="02020603050405020304" pitchFamily="18" charset="0"/>
              </a:rPr>
              <a:t>i</a:t>
            </a:r>
            <a:r>
              <a:rPr lang="en-US" altLang="zh-CN" b="1" smtClean="0">
                <a:solidFill>
                  <a:srgbClr val="FF3300"/>
                </a:solidFill>
                <a:cs typeface="Times New Roman" panose="02020603050405020304" pitchFamily="18" charset="0"/>
              </a:rPr>
              <a:t>=A</a:t>
            </a:r>
            <a:r>
              <a:rPr lang="en-US" altLang="zh-CN" b="1" baseline="-30000" smtClean="0">
                <a:solidFill>
                  <a:srgbClr val="FF3300"/>
                </a:solidFill>
                <a:cs typeface="Times New Roman" panose="02020603050405020304" pitchFamily="18" charset="0"/>
              </a:rPr>
              <a:t>i</a:t>
            </a:r>
            <a:r>
              <a:rPr lang="en-US" altLang="zh-CN" b="1" smtClean="0">
                <a:solidFill>
                  <a:srgbClr val="FF3300"/>
                </a:solidFill>
                <a:cs typeface="Times New Roman" panose="02020603050405020304" pitchFamily="18" charset="0"/>
              </a:rPr>
              <a:t>B</a:t>
            </a:r>
            <a:r>
              <a:rPr lang="en-US" altLang="zh-CN" b="1" baseline="-30000" smtClean="0">
                <a:solidFill>
                  <a:srgbClr val="FF3300"/>
                </a:solidFill>
                <a:cs typeface="Times New Roman" panose="02020603050405020304" pitchFamily="18" charset="0"/>
              </a:rPr>
              <a:t>i</a:t>
            </a:r>
            <a:r>
              <a:rPr lang="en-US" altLang="zh-CN" b="1" smtClean="0">
                <a:solidFill>
                  <a:srgbClr val="FF3300"/>
                </a:solidFill>
                <a:cs typeface="Times New Roman" panose="02020603050405020304" pitchFamily="18" charset="0"/>
              </a:rPr>
              <a:t>+(A</a:t>
            </a:r>
            <a:r>
              <a:rPr lang="en-US" altLang="zh-CN" b="1" baseline="-30000" smtClean="0">
                <a:solidFill>
                  <a:srgbClr val="FF3300"/>
                </a:solidFill>
                <a:cs typeface="Times New Roman" panose="02020603050405020304" pitchFamily="18" charset="0"/>
              </a:rPr>
              <a:t>i</a:t>
            </a:r>
            <a:r>
              <a:rPr lang="en-US" altLang="zh-CN" b="1" smtClean="0">
                <a:solidFill>
                  <a:srgbClr val="FF3300"/>
                </a:solidFill>
              </a:rPr>
              <a:t>⊕</a:t>
            </a:r>
            <a:r>
              <a:rPr lang="en-US" altLang="zh-CN" b="1" smtClean="0">
                <a:solidFill>
                  <a:srgbClr val="FF3300"/>
                </a:solidFill>
                <a:cs typeface="Times New Roman" panose="02020603050405020304" pitchFamily="18" charset="0"/>
              </a:rPr>
              <a:t>B</a:t>
            </a:r>
            <a:r>
              <a:rPr lang="en-US" altLang="zh-CN" b="1" baseline="-30000" smtClean="0">
                <a:solidFill>
                  <a:srgbClr val="FF3300"/>
                </a:solidFill>
                <a:cs typeface="Times New Roman" panose="02020603050405020304" pitchFamily="18" charset="0"/>
              </a:rPr>
              <a:t>i</a:t>
            </a:r>
            <a:r>
              <a:rPr lang="en-US" altLang="zh-CN" b="1" smtClean="0">
                <a:solidFill>
                  <a:srgbClr val="FF3300"/>
                </a:solidFill>
                <a:cs typeface="Times New Roman" panose="02020603050405020304" pitchFamily="18" charset="0"/>
              </a:rPr>
              <a:t>)C</a:t>
            </a:r>
            <a:r>
              <a:rPr lang="en-US" altLang="zh-CN" b="1" baseline="-30000" smtClean="0">
                <a:solidFill>
                  <a:srgbClr val="FF3300"/>
                </a:solidFill>
                <a:cs typeface="Times New Roman" panose="02020603050405020304" pitchFamily="18" charset="0"/>
              </a:rPr>
              <a:t>i-1</a:t>
            </a:r>
            <a:endParaRPr lang="en-US" altLang="zh-CN" b="1" smtClean="0">
              <a:solidFill>
                <a:srgbClr val="FF3300"/>
              </a:solidFill>
              <a:latin typeface="宋体" panose="02010600030101010101" pitchFamily="2" charset="-122"/>
            </a:endParaRPr>
          </a:p>
          <a:p>
            <a:pPr algn="just" eaLnBrk="1" hangingPunct="1">
              <a:buFontTx/>
              <a:buNone/>
            </a:pPr>
            <a:r>
              <a:rPr lang="zh-CN" altLang="en-US" b="1" smtClean="0">
                <a:ea typeface="楷体_GB2312" pitchFamily="49" charset="-122"/>
              </a:rPr>
              <a:t>    其中：</a:t>
            </a:r>
            <a:r>
              <a:rPr lang="en-US" altLang="zh-CN" b="1" smtClean="0">
                <a:solidFill>
                  <a:srgbClr val="FF3300"/>
                </a:solidFill>
                <a:cs typeface="Times New Roman" panose="02020603050405020304" pitchFamily="18" charset="0"/>
              </a:rPr>
              <a:t>G</a:t>
            </a:r>
            <a:r>
              <a:rPr lang="en-US" altLang="zh-CN" b="1" baseline="-30000" smtClean="0">
                <a:solidFill>
                  <a:srgbClr val="FF3300"/>
                </a:solidFill>
                <a:cs typeface="Times New Roman" panose="02020603050405020304" pitchFamily="18" charset="0"/>
              </a:rPr>
              <a:t>i</a:t>
            </a:r>
            <a:r>
              <a:rPr lang="en-US" altLang="zh-CN" b="1" smtClean="0">
                <a:solidFill>
                  <a:srgbClr val="FF3300"/>
                </a:solidFill>
                <a:cs typeface="Times New Roman" panose="02020603050405020304" pitchFamily="18" charset="0"/>
              </a:rPr>
              <a:t>=A</a:t>
            </a:r>
            <a:r>
              <a:rPr lang="en-US" altLang="zh-CN" b="1" baseline="-30000" smtClean="0">
                <a:solidFill>
                  <a:srgbClr val="FF3300"/>
                </a:solidFill>
                <a:cs typeface="Times New Roman" panose="02020603050405020304" pitchFamily="18" charset="0"/>
              </a:rPr>
              <a:t>i</a:t>
            </a:r>
            <a:r>
              <a:rPr lang="en-US" altLang="zh-CN" b="1" smtClean="0">
                <a:solidFill>
                  <a:srgbClr val="FF3300"/>
                </a:solidFill>
                <a:cs typeface="Times New Roman" panose="02020603050405020304" pitchFamily="18" charset="0"/>
              </a:rPr>
              <a:t>B</a:t>
            </a:r>
            <a:r>
              <a:rPr lang="en-US" altLang="zh-CN" b="1" baseline="-30000" smtClean="0">
                <a:solidFill>
                  <a:srgbClr val="FF3300"/>
                </a:solidFill>
                <a:cs typeface="Times New Roman" panose="02020603050405020304" pitchFamily="18" charset="0"/>
              </a:rPr>
              <a:t>i</a:t>
            </a:r>
            <a:r>
              <a:rPr lang="zh-CN" altLang="en-US" b="1" smtClean="0">
                <a:solidFill>
                  <a:srgbClr val="FF3300"/>
                </a:solidFill>
                <a:ea typeface="楷体_GB2312" pitchFamily="49" charset="-122"/>
              </a:rPr>
              <a:t>为进位产生函数</a:t>
            </a:r>
            <a:endParaRPr lang="zh-CN" altLang="en-US" b="1" smtClean="0">
              <a:solidFill>
                <a:srgbClr val="FF3300"/>
              </a:solidFill>
              <a:latin typeface="宋体" panose="02010600030101010101" pitchFamily="2" charset="-122"/>
            </a:endParaRPr>
          </a:p>
          <a:p>
            <a:pPr algn="just" eaLnBrk="1" hangingPunct="1">
              <a:buFontTx/>
              <a:buNone/>
            </a:pPr>
            <a:r>
              <a:rPr lang="en-US" altLang="zh-CN" b="1" smtClean="0">
                <a:cs typeface="Times New Roman" panose="02020603050405020304" pitchFamily="18" charset="0"/>
              </a:rPr>
              <a:t>                </a:t>
            </a:r>
            <a:r>
              <a:rPr lang="en-US" altLang="zh-CN" b="1" smtClean="0">
                <a:solidFill>
                  <a:srgbClr val="FF3300"/>
                </a:solidFill>
                <a:cs typeface="Times New Roman" panose="02020603050405020304" pitchFamily="18" charset="0"/>
              </a:rPr>
              <a:t>P</a:t>
            </a:r>
            <a:r>
              <a:rPr lang="en-US" altLang="zh-CN" b="1" baseline="-30000" smtClean="0">
                <a:solidFill>
                  <a:srgbClr val="FF3300"/>
                </a:solidFill>
                <a:cs typeface="Times New Roman" panose="02020603050405020304" pitchFamily="18" charset="0"/>
              </a:rPr>
              <a:t>i</a:t>
            </a:r>
            <a:r>
              <a:rPr lang="en-US" altLang="zh-CN" b="1" smtClean="0">
                <a:solidFill>
                  <a:srgbClr val="FF3300"/>
                </a:solidFill>
                <a:cs typeface="Times New Roman" panose="02020603050405020304" pitchFamily="18" charset="0"/>
              </a:rPr>
              <a:t>=A</a:t>
            </a:r>
            <a:r>
              <a:rPr lang="en-US" altLang="zh-CN" b="1" baseline="-30000" smtClean="0">
                <a:solidFill>
                  <a:srgbClr val="FF3300"/>
                </a:solidFill>
                <a:cs typeface="Times New Roman" panose="02020603050405020304" pitchFamily="18" charset="0"/>
              </a:rPr>
              <a:t>i</a:t>
            </a:r>
            <a:r>
              <a:rPr lang="en-US" altLang="zh-CN" b="1" smtClean="0">
                <a:solidFill>
                  <a:srgbClr val="FF3300"/>
                </a:solidFill>
              </a:rPr>
              <a:t>⊕</a:t>
            </a:r>
            <a:r>
              <a:rPr lang="en-US" altLang="zh-CN" b="1" smtClean="0">
                <a:solidFill>
                  <a:srgbClr val="FF3300"/>
                </a:solidFill>
                <a:cs typeface="Times New Roman" panose="02020603050405020304" pitchFamily="18" charset="0"/>
              </a:rPr>
              <a:t>B</a:t>
            </a:r>
            <a:r>
              <a:rPr lang="en-US" altLang="zh-CN" b="1" baseline="-30000" smtClean="0">
                <a:solidFill>
                  <a:srgbClr val="FF3300"/>
                </a:solidFill>
                <a:cs typeface="Times New Roman" panose="02020603050405020304" pitchFamily="18" charset="0"/>
              </a:rPr>
              <a:t>i</a:t>
            </a:r>
            <a:r>
              <a:rPr lang="zh-CN" altLang="en-US" b="1" smtClean="0">
                <a:solidFill>
                  <a:srgbClr val="FF3300"/>
                </a:solidFill>
                <a:ea typeface="楷体_GB2312" pitchFamily="49" charset="-122"/>
              </a:rPr>
              <a:t>为进位传递函数</a:t>
            </a:r>
            <a:endParaRPr lang="zh-CN" altLang="en-US" b="1" smtClean="0">
              <a:solidFill>
                <a:srgbClr val="FF3300"/>
              </a:solidFill>
              <a:latin typeface="宋体" panose="02010600030101010101" pitchFamily="2" charset="-122"/>
            </a:endParaRPr>
          </a:p>
          <a:p>
            <a:pPr algn="just" eaLnBrk="1" hangingPunct="1">
              <a:buFontTx/>
              <a:buNone/>
            </a:pPr>
            <a:r>
              <a:rPr lang="zh-CN" altLang="en-US" b="1" smtClean="0">
                <a:ea typeface="楷体_GB2312" pitchFamily="49" charset="-122"/>
              </a:rPr>
              <a:t>    </a:t>
            </a:r>
            <a:r>
              <a:rPr lang="zh-CN" altLang="en-US" b="1" smtClean="0">
                <a:cs typeface="Times New Roman" panose="02020603050405020304" pitchFamily="18" charset="0"/>
              </a:rPr>
              <a:t>∴</a:t>
            </a:r>
            <a:r>
              <a:rPr lang="zh-CN" altLang="en-US" b="1" smtClean="0">
                <a:ea typeface="楷体_GB2312" pitchFamily="49" charset="-122"/>
              </a:rPr>
              <a:t>进位表达式</a:t>
            </a:r>
            <a:r>
              <a:rPr lang="en-US" altLang="zh-CN" b="1" smtClean="0">
                <a:solidFill>
                  <a:srgbClr val="FF3300"/>
                </a:solidFill>
                <a:cs typeface="Times New Roman" panose="02020603050405020304" pitchFamily="18" charset="0"/>
              </a:rPr>
              <a:t>C</a:t>
            </a:r>
            <a:r>
              <a:rPr lang="en-US" altLang="zh-CN" b="1" baseline="-30000" smtClean="0">
                <a:solidFill>
                  <a:srgbClr val="FF3300"/>
                </a:solidFill>
                <a:cs typeface="Times New Roman" panose="02020603050405020304" pitchFamily="18" charset="0"/>
              </a:rPr>
              <a:t>i</a:t>
            </a:r>
            <a:r>
              <a:rPr lang="en-US" altLang="zh-CN" b="1" smtClean="0">
                <a:solidFill>
                  <a:srgbClr val="FF3300"/>
                </a:solidFill>
                <a:cs typeface="Times New Roman" panose="02020603050405020304" pitchFamily="18" charset="0"/>
              </a:rPr>
              <a:t>=G</a:t>
            </a:r>
            <a:r>
              <a:rPr lang="en-US" altLang="zh-CN" b="1" baseline="-30000" smtClean="0">
                <a:solidFill>
                  <a:srgbClr val="FF3300"/>
                </a:solidFill>
                <a:cs typeface="Times New Roman" panose="02020603050405020304" pitchFamily="18" charset="0"/>
              </a:rPr>
              <a:t>i</a:t>
            </a:r>
            <a:r>
              <a:rPr lang="en-US" altLang="zh-CN" b="1" smtClean="0">
                <a:solidFill>
                  <a:srgbClr val="FF3300"/>
                </a:solidFill>
                <a:cs typeface="Times New Roman" panose="02020603050405020304" pitchFamily="18" charset="0"/>
              </a:rPr>
              <a:t>+P</a:t>
            </a:r>
            <a:r>
              <a:rPr lang="en-US" altLang="zh-CN" b="1" baseline="-30000" smtClean="0">
                <a:solidFill>
                  <a:srgbClr val="FF3300"/>
                </a:solidFill>
                <a:cs typeface="Times New Roman" panose="02020603050405020304" pitchFamily="18" charset="0"/>
              </a:rPr>
              <a:t>i</a:t>
            </a:r>
            <a:r>
              <a:rPr lang="en-US" altLang="zh-CN" b="1" smtClean="0">
                <a:solidFill>
                  <a:srgbClr val="FF3300"/>
                </a:solidFill>
                <a:cs typeface="Times New Roman" panose="02020603050405020304" pitchFamily="18" charset="0"/>
              </a:rPr>
              <a:t>C</a:t>
            </a:r>
            <a:r>
              <a:rPr lang="en-US" altLang="zh-CN" b="1" baseline="-30000" smtClean="0">
                <a:solidFill>
                  <a:srgbClr val="FF3300"/>
                </a:solidFill>
                <a:cs typeface="Times New Roman" panose="02020603050405020304" pitchFamily="18" charset="0"/>
              </a:rPr>
              <a:t>i-1</a:t>
            </a:r>
          </a:p>
        </p:txBody>
      </p:sp>
      <p:sp>
        <p:nvSpPr>
          <p:cNvPr id="16388" name="Rectangle 5"/>
          <p:cNvSpPr>
            <a:spLocks noGrp="1" noChangeArrowheads="1"/>
          </p:cNvSpPr>
          <p:nvPr>
            <p:ph type="title" idx="4294967295"/>
          </p:nvPr>
        </p:nvSpPr>
        <p:spPr>
          <a:xfrm>
            <a:off x="505691" y="263237"/>
            <a:ext cx="7772400" cy="1143000"/>
          </a:xfrm>
        </p:spPr>
        <p:txBody>
          <a:bodyPr/>
          <a:lstStyle/>
          <a:p>
            <a:pPr algn="l" eaLnBrk="1" hangingPunct="1"/>
            <a:r>
              <a:rPr lang="zh-CN" altLang="en-US" sz="3600" dirty="0" smtClean="0">
                <a:solidFill>
                  <a:srgbClr val="0000FF"/>
                </a:solidFill>
                <a:latin typeface="华文新魏" panose="02010800040101010101" pitchFamily="2" charset="-122"/>
                <a:ea typeface="华文新魏" panose="02010800040101010101" pitchFamily="2" charset="-122"/>
              </a:rPr>
              <a:t>进位</a:t>
            </a:r>
            <a:r>
              <a:rPr lang="zh-CN" altLang="en-US" sz="3600" dirty="0">
                <a:solidFill>
                  <a:srgbClr val="0000FF"/>
                </a:solidFill>
                <a:latin typeface="华文新魏" panose="02010800040101010101" pitchFamily="2" charset="-122"/>
                <a:ea typeface="华文新魏" panose="02010800040101010101" pitchFamily="2" charset="-122"/>
              </a:rPr>
              <a:t>的产生和传递</a:t>
            </a:r>
          </a:p>
        </p:txBody>
      </p:sp>
    </p:spTree>
    <p:extLst>
      <p:ext uri="{BB962C8B-B14F-4D97-AF65-F5344CB8AC3E}">
        <p14:creationId xmlns:p14="http://schemas.microsoft.com/office/powerpoint/2010/main" val="232277645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fld id="{4D00597D-5480-45BA-9B94-B7409E2B4AC2}" type="slidenum">
              <a:rPr lang="zh-CN" altLang="en-US" sz="1400">
                <a:solidFill>
                  <a:srgbClr val="000000"/>
                </a:solidFill>
              </a:rPr>
              <a:pPr fontAlgn="base">
                <a:spcBef>
                  <a:spcPct val="0"/>
                </a:spcBef>
                <a:spcAft>
                  <a:spcPct val="0"/>
                </a:spcAft>
                <a:buNone/>
              </a:pPr>
              <a:t>8</a:t>
            </a:fld>
            <a:endParaRPr lang="en-US" altLang="zh-CN" sz="1400">
              <a:solidFill>
                <a:srgbClr val="000000"/>
              </a:solidFill>
            </a:endParaRPr>
          </a:p>
        </p:txBody>
      </p:sp>
      <p:sp>
        <p:nvSpPr>
          <p:cNvPr id="17411" name="Rectangle 2"/>
          <p:cNvSpPr>
            <a:spLocks noGrp="1" noChangeArrowheads="1"/>
          </p:cNvSpPr>
          <p:nvPr>
            <p:ph type="body" idx="4294967295"/>
          </p:nvPr>
        </p:nvSpPr>
        <p:spPr>
          <a:xfrm>
            <a:off x="2133600" y="3962400"/>
            <a:ext cx="7924800" cy="2667000"/>
          </a:xfrm>
        </p:spPr>
        <p:txBody>
          <a:bodyPr/>
          <a:lstStyle/>
          <a:p>
            <a:pPr algn="ctr">
              <a:spcBef>
                <a:spcPct val="0"/>
              </a:spcBef>
              <a:buFontTx/>
              <a:buNone/>
            </a:pPr>
            <a:r>
              <a:rPr lang="zh-CN" altLang="en-US" sz="2400" b="1"/>
              <a:t>图4-3 串行进位的并行加法器</a:t>
            </a:r>
          </a:p>
          <a:p>
            <a:pPr algn="just">
              <a:lnSpc>
                <a:spcPct val="110000"/>
              </a:lnSpc>
              <a:spcBef>
                <a:spcPct val="0"/>
              </a:spcBef>
              <a:buFontTx/>
              <a:buNone/>
            </a:pPr>
            <a:r>
              <a:rPr lang="zh-CN" altLang="en-US" b="1" smtClean="0">
                <a:ea typeface="楷体_GB2312" pitchFamily="49" charset="-122"/>
              </a:rPr>
              <a:t>其中：</a:t>
            </a:r>
            <a:r>
              <a:rPr lang="en-US" altLang="zh-CN" b="1" smtClean="0">
                <a:cs typeface="Times New Roman" panose="02020603050405020304" pitchFamily="18" charset="0"/>
              </a:rPr>
              <a:t>C</a:t>
            </a:r>
            <a:r>
              <a:rPr lang="en-US" altLang="zh-CN" b="1" baseline="-30000" smtClean="0">
                <a:cs typeface="Times New Roman" panose="02020603050405020304" pitchFamily="18" charset="0"/>
              </a:rPr>
              <a:t>1</a:t>
            </a:r>
            <a:r>
              <a:rPr lang="en-US" altLang="zh-CN" b="1" smtClean="0">
                <a:cs typeface="Times New Roman" panose="02020603050405020304" pitchFamily="18" charset="0"/>
              </a:rPr>
              <a:t>=G</a:t>
            </a:r>
            <a:r>
              <a:rPr lang="en-US" altLang="zh-CN" b="1" baseline="-30000" smtClean="0">
                <a:cs typeface="Times New Roman" panose="02020603050405020304" pitchFamily="18" charset="0"/>
              </a:rPr>
              <a:t>1</a:t>
            </a:r>
            <a:r>
              <a:rPr lang="en-US" altLang="zh-CN" b="1" smtClean="0">
                <a:cs typeface="Times New Roman" panose="02020603050405020304" pitchFamily="18" charset="0"/>
              </a:rPr>
              <a:t>+P</a:t>
            </a:r>
            <a:r>
              <a:rPr lang="en-US" altLang="zh-CN" b="1" baseline="-30000" smtClean="0">
                <a:cs typeface="Times New Roman" panose="02020603050405020304" pitchFamily="18" charset="0"/>
              </a:rPr>
              <a:t>1</a:t>
            </a:r>
            <a:r>
              <a:rPr lang="en-US" altLang="zh-CN" b="1" smtClean="0">
                <a:cs typeface="Times New Roman" panose="02020603050405020304" pitchFamily="18" charset="0"/>
              </a:rPr>
              <a:t>C</a:t>
            </a:r>
            <a:r>
              <a:rPr lang="en-US" altLang="zh-CN" b="1" baseline="-30000" smtClean="0">
                <a:cs typeface="Times New Roman" panose="02020603050405020304" pitchFamily="18" charset="0"/>
              </a:rPr>
              <a:t>0</a:t>
            </a:r>
            <a:endParaRPr lang="en-US" altLang="zh-CN" b="1" smtClean="0">
              <a:latin typeface="宋体" panose="02010600030101010101" pitchFamily="2" charset="-122"/>
            </a:endParaRPr>
          </a:p>
          <a:p>
            <a:pPr algn="just">
              <a:spcBef>
                <a:spcPct val="0"/>
              </a:spcBef>
              <a:buFontTx/>
              <a:buNone/>
            </a:pPr>
            <a:r>
              <a:rPr lang="en-US" altLang="zh-CN" b="1" smtClean="0">
                <a:cs typeface="Times New Roman" panose="02020603050405020304" pitchFamily="18" charset="0"/>
              </a:rPr>
              <a:t>            C</a:t>
            </a:r>
            <a:r>
              <a:rPr lang="en-US" altLang="zh-CN" b="1" baseline="-30000" smtClean="0">
                <a:cs typeface="Times New Roman" panose="02020603050405020304" pitchFamily="18" charset="0"/>
              </a:rPr>
              <a:t>2</a:t>
            </a:r>
            <a:r>
              <a:rPr lang="en-US" altLang="zh-CN" b="1" smtClean="0">
                <a:cs typeface="Times New Roman" panose="02020603050405020304" pitchFamily="18" charset="0"/>
              </a:rPr>
              <a:t>=G</a:t>
            </a:r>
            <a:r>
              <a:rPr lang="en-US" altLang="zh-CN" b="1" baseline="-30000" smtClean="0">
                <a:cs typeface="Times New Roman" panose="02020603050405020304" pitchFamily="18" charset="0"/>
              </a:rPr>
              <a:t>2</a:t>
            </a:r>
            <a:r>
              <a:rPr lang="en-US" altLang="zh-CN" b="1" smtClean="0">
                <a:cs typeface="Times New Roman" panose="02020603050405020304" pitchFamily="18" charset="0"/>
              </a:rPr>
              <a:t>+P</a:t>
            </a:r>
            <a:r>
              <a:rPr lang="en-US" altLang="zh-CN" b="1" baseline="-30000" smtClean="0">
                <a:cs typeface="Times New Roman" panose="02020603050405020304" pitchFamily="18" charset="0"/>
              </a:rPr>
              <a:t>2</a:t>
            </a:r>
            <a:r>
              <a:rPr lang="en-US" altLang="zh-CN" b="1" smtClean="0">
                <a:cs typeface="Times New Roman" panose="02020603050405020304" pitchFamily="18" charset="0"/>
              </a:rPr>
              <a:t>C</a:t>
            </a:r>
            <a:r>
              <a:rPr lang="en-US" altLang="zh-CN" b="1" baseline="-30000" smtClean="0">
                <a:cs typeface="Times New Roman" panose="02020603050405020304" pitchFamily="18" charset="0"/>
              </a:rPr>
              <a:t>1</a:t>
            </a:r>
            <a:endParaRPr lang="en-US" altLang="zh-CN" b="1" smtClean="0">
              <a:latin typeface="宋体" panose="02010600030101010101" pitchFamily="2" charset="-122"/>
            </a:endParaRPr>
          </a:p>
          <a:p>
            <a:pPr algn="just">
              <a:spcBef>
                <a:spcPct val="0"/>
              </a:spcBef>
              <a:buFontTx/>
              <a:buNone/>
            </a:pPr>
            <a:r>
              <a:rPr lang="en-US" altLang="zh-CN" b="1" smtClean="0">
                <a:cs typeface="Times New Roman" panose="02020603050405020304" pitchFamily="18" charset="0"/>
              </a:rPr>
              <a:t>                      </a:t>
            </a:r>
            <a:r>
              <a:rPr lang="en-US" altLang="zh-CN" b="1" smtClean="0">
                <a:ea typeface="楷体_GB2312" pitchFamily="49" charset="-122"/>
              </a:rPr>
              <a:t>┇</a:t>
            </a:r>
            <a:endParaRPr lang="en-US" altLang="zh-CN" b="1" smtClean="0">
              <a:latin typeface="宋体" panose="02010600030101010101" pitchFamily="2" charset="-122"/>
            </a:endParaRPr>
          </a:p>
          <a:p>
            <a:pPr>
              <a:spcBef>
                <a:spcPct val="0"/>
              </a:spcBef>
              <a:buFontTx/>
              <a:buNone/>
            </a:pPr>
            <a:r>
              <a:rPr lang="en-US" altLang="zh-CN" b="1" smtClean="0">
                <a:latin typeface="楷体_GB2312" pitchFamily="49" charset="-122"/>
                <a:ea typeface="楷体_GB2312" pitchFamily="49" charset="-122"/>
              </a:rPr>
              <a:t>      </a:t>
            </a:r>
            <a:r>
              <a:rPr lang="en-US" altLang="zh-CN" b="1" smtClean="0">
                <a:ea typeface="楷体_GB2312" pitchFamily="49" charset="-122"/>
              </a:rPr>
              <a:t>C</a:t>
            </a:r>
            <a:r>
              <a:rPr lang="en-US" altLang="zh-CN" b="1" baseline="-30000" smtClean="0">
                <a:ea typeface="楷体_GB2312" pitchFamily="49" charset="-122"/>
              </a:rPr>
              <a:t>n</a:t>
            </a:r>
            <a:r>
              <a:rPr lang="en-US" altLang="zh-CN" b="1" smtClean="0">
                <a:ea typeface="楷体_GB2312" pitchFamily="49" charset="-122"/>
              </a:rPr>
              <a:t>=G</a:t>
            </a:r>
            <a:r>
              <a:rPr lang="en-US" altLang="zh-CN" b="1" baseline="-30000" smtClean="0">
                <a:ea typeface="楷体_GB2312" pitchFamily="49" charset="-122"/>
              </a:rPr>
              <a:t>n</a:t>
            </a:r>
            <a:r>
              <a:rPr lang="en-US" altLang="zh-CN" b="1" smtClean="0">
                <a:ea typeface="楷体_GB2312" pitchFamily="49" charset="-122"/>
              </a:rPr>
              <a:t>+P</a:t>
            </a:r>
            <a:r>
              <a:rPr lang="en-US" altLang="zh-CN" b="1" baseline="-30000" smtClean="0">
                <a:ea typeface="楷体_GB2312" pitchFamily="49" charset="-122"/>
              </a:rPr>
              <a:t>n</a:t>
            </a:r>
            <a:r>
              <a:rPr lang="en-US" altLang="zh-CN" b="1" smtClean="0">
                <a:ea typeface="楷体_GB2312" pitchFamily="49" charset="-122"/>
              </a:rPr>
              <a:t>C</a:t>
            </a:r>
            <a:r>
              <a:rPr lang="en-US" altLang="zh-CN" b="1" baseline="-30000" smtClean="0">
                <a:ea typeface="楷体_GB2312" pitchFamily="49" charset="-122"/>
              </a:rPr>
              <a:t>n-1</a:t>
            </a:r>
            <a:r>
              <a:rPr lang="en-US" altLang="zh-CN" b="1" smtClean="0">
                <a:latin typeface="楷体_GB2312" pitchFamily="49" charset="-122"/>
                <a:ea typeface="楷体_GB2312" pitchFamily="49" charset="-122"/>
              </a:rPr>
              <a:t> </a:t>
            </a:r>
            <a:endParaRPr lang="zh-CN" altLang="en-US" b="1" smtClean="0">
              <a:latin typeface="楷体_GB2312" pitchFamily="49" charset="-122"/>
              <a:ea typeface="楷体_GB2312" pitchFamily="49" charset="-122"/>
            </a:endParaRPr>
          </a:p>
        </p:txBody>
      </p:sp>
      <p:sp>
        <p:nvSpPr>
          <p:cNvPr id="17412" name="Rectangle 4"/>
          <p:cNvSpPr>
            <a:spLocks noGrp="1" noChangeArrowheads="1"/>
          </p:cNvSpPr>
          <p:nvPr>
            <p:ph type="title" idx="4294967295"/>
          </p:nvPr>
        </p:nvSpPr>
        <p:spPr>
          <a:xfrm>
            <a:off x="2209800" y="304800"/>
            <a:ext cx="7772400" cy="1143000"/>
          </a:xfrm>
        </p:spPr>
        <p:txBody>
          <a:bodyPr/>
          <a:lstStyle/>
          <a:p>
            <a:pPr algn="l" eaLnBrk="1" hangingPunct="1"/>
            <a:r>
              <a:rPr lang="zh-CN" altLang="en-US" sz="3200" u="sng">
                <a:solidFill>
                  <a:srgbClr val="0000FF"/>
                </a:solidFill>
                <a:ea typeface="楷体_GB2312" pitchFamily="49" charset="-122"/>
              </a:rPr>
              <a:t>串行进位的并行加法器</a:t>
            </a:r>
            <a:r>
              <a:rPr lang="zh-CN" altLang="en-US" sz="3200" u="sng">
                <a:solidFill>
                  <a:srgbClr val="0000FF"/>
                </a:solidFill>
                <a:latin typeface="华文新魏" panose="02010800040101010101" pitchFamily="2" charset="-122"/>
                <a:ea typeface="华文新魏" panose="02010800040101010101" pitchFamily="2" charset="-122"/>
              </a:rPr>
              <a:t> </a:t>
            </a:r>
          </a:p>
        </p:txBody>
      </p:sp>
      <p:graphicFrame>
        <p:nvGraphicFramePr>
          <p:cNvPr id="17413" name="Object 5"/>
          <p:cNvGraphicFramePr>
            <a:graphicFrameLocks noChangeAspect="1"/>
          </p:cNvGraphicFramePr>
          <p:nvPr/>
        </p:nvGraphicFramePr>
        <p:xfrm>
          <a:off x="1981200" y="1066801"/>
          <a:ext cx="8382000" cy="2913063"/>
        </p:xfrm>
        <a:graphic>
          <a:graphicData uri="http://schemas.openxmlformats.org/presentationml/2006/ole">
            <mc:AlternateContent xmlns:mc="http://schemas.openxmlformats.org/markup-compatibility/2006">
              <mc:Choice xmlns:v="urn:schemas-microsoft-com:vml" Requires="v">
                <p:oleObj spid="_x0000_s2052" r:id="rId3" imgW="3441700" imgH="1193800" progId="Visio.Drawing.6">
                  <p:embed/>
                </p:oleObj>
              </mc:Choice>
              <mc:Fallback>
                <p:oleObj r:id="rId3" imgW="3441700" imgH="1193800" progId="Visio.Drawing.6">
                  <p:embed/>
                  <p:pic>
                    <p:nvPicPr>
                      <p:cNvPr id="1741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066801"/>
                        <a:ext cx="8382000" cy="291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90510064"/>
      </p:ext>
    </p:extLst>
  </p:cSld>
  <p:clrMapOvr>
    <a:masterClrMapping/>
  </p:clrMapOvr>
  <p:transition/>
</p:sld>
</file>

<file path=ppt/theme/theme1.xml><?xml version="1.0" encoding="utf-8"?>
<a:theme xmlns:a="http://schemas.openxmlformats.org/drawingml/2006/main" name="清华版教材展示">
  <a:themeElements>
    <a:clrScheme name="清华版教材展示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清华版教材展示">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6350" cap="flat" cmpd="sng" algn="ctr">
          <a:solidFill>
            <a:srgbClr val="00FFFF"/>
          </a:solidFill>
          <a:prstDash val="solid"/>
          <a:round/>
          <a:headEnd type="none" w="med" len="med"/>
          <a:tailEnd type="none" w="med" len="med"/>
        </a:ln>
        <a:effectLst/>
        <a:extLst>
          <a:ext uri="{AF507438-7753-43E0-B8FC-AC1667EBCBE1}">
            <a14:hiddenEffects xmlns:a14="http://schemas.microsoft.com/office/drawing/2010/main">
              <a:effectLst>
                <a:outerShdw dist="107763" dir="189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accent2"/>
            </a:solidFill>
            <a:effectLst/>
            <a:latin typeface="Arial" charset="0"/>
            <a:ea typeface="华文行楷" pitchFamily="2" charset="-122"/>
          </a:defRPr>
        </a:defPPr>
      </a:lstStyle>
    </a:spDef>
    <a:lnDef>
      <a:spPr bwMode="auto">
        <a:xfrm>
          <a:off x="0" y="0"/>
          <a:ext cx="1" cy="1"/>
        </a:xfrm>
        <a:custGeom>
          <a:avLst/>
          <a:gdLst/>
          <a:ahLst/>
          <a:cxnLst/>
          <a:rect l="0" t="0" r="0" b="0"/>
          <a:pathLst/>
        </a:custGeom>
        <a:solidFill>
          <a:schemeClr val="accent1"/>
        </a:solidFill>
        <a:ln w="6350" cap="flat" cmpd="sng" algn="ctr">
          <a:solidFill>
            <a:srgbClr val="00FFFF"/>
          </a:solidFill>
          <a:prstDash val="solid"/>
          <a:round/>
          <a:headEnd type="none" w="med" len="med"/>
          <a:tailEnd type="none" w="med" len="med"/>
        </a:ln>
        <a:effectLst/>
        <a:extLst>
          <a:ext uri="{AF507438-7753-43E0-B8FC-AC1667EBCBE1}">
            <a14:hiddenEffects xmlns:a14="http://schemas.microsoft.com/office/drawing/2010/main">
              <a:effectLst>
                <a:outerShdw dist="107763" dir="189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accent2"/>
            </a:solidFill>
            <a:effectLst/>
            <a:latin typeface="Arial" charset="0"/>
            <a:ea typeface="华文行楷" pitchFamily="2" charset="-122"/>
          </a:defRPr>
        </a:defPPr>
      </a:lstStyle>
    </a:lnDef>
  </a:objectDefaults>
  <a:extraClrSchemeLst>
    <a:extraClrScheme>
      <a:clrScheme name="清华版教材展示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清华版教材展示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清华版教材展示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清华版教材展示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清华版教材展示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清华版教材展示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清华版教材展示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3</TotalTime>
  <Words>511</Words>
  <Application>Microsoft Office PowerPoint</Application>
  <PresentationFormat>宽屏</PresentationFormat>
  <Paragraphs>93</Paragraphs>
  <Slides>8</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8</vt:i4>
      </vt:variant>
    </vt:vector>
  </HeadingPairs>
  <TitlesOfParts>
    <vt:vector size="16" baseType="lpstr">
      <vt:lpstr>华文新魏</vt:lpstr>
      <vt:lpstr>华文行楷</vt:lpstr>
      <vt:lpstr>楷体_GB2312</vt:lpstr>
      <vt:lpstr>宋体</vt:lpstr>
      <vt:lpstr>Arial</vt:lpstr>
      <vt:lpstr>Times New Roman</vt:lpstr>
      <vt:lpstr>清华版教材展示</vt:lpstr>
      <vt:lpstr>Microsoft Visio 2000/2002 Drawing</vt:lpstr>
      <vt:lpstr>基本算术运算的实现</vt:lpstr>
      <vt:lpstr>加法器 </vt:lpstr>
      <vt:lpstr>全加器真值表</vt:lpstr>
      <vt:lpstr>全加器的逻辑表达式</vt:lpstr>
      <vt:lpstr>2.串行加法器与并行加法器</vt:lpstr>
      <vt:lpstr>2.串行加法器与并行加法器（续）</vt:lpstr>
      <vt:lpstr>进位的产生和传递</vt:lpstr>
      <vt:lpstr>串行进位的并行加法器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基本算术运算的实现</dc:title>
  <dc:creator>Win10</dc:creator>
  <cp:lastModifiedBy>Win10</cp:lastModifiedBy>
  <cp:revision>3</cp:revision>
  <dcterms:created xsi:type="dcterms:W3CDTF">2024-10-23T08:17:06Z</dcterms:created>
  <dcterms:modified xsi:type="dcterms:W3CDTF">2025-04-09T07:38:59Z</dcterms:modified>
</cp:coreProperties>
</file>