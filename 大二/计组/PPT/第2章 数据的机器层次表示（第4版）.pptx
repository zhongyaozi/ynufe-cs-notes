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128"/>
  </p:notesMasterIdLst>
  <p:handoutMasterIdLst>
    <p:handoutMasterId r:id="rId129"/>
  </p:handoutMasterIdLst>
  <p:sldIdLst>
    <p:sldId id="258" r:id="rId6"/>
    <p:sldId id="259" r:id="rId7"/>
    <p:sldId id="260" r:id="rId8"/>
    <p:sldId id="261" r:id="rId9"/>
    <p:sldId id="445" r:id="rId10"/>
    <p:sldId id="262" r:id="rId11"/>
    <p:sldId id="446" r:id="rId12"/>
    <p:sldId id="354" r:id="rId13"/>
    <p:sldId id="447" r:id="rId14"/>
    <p:sldId id="263" r:id="rId15"/>
    <p:sldId id="290" r:id="rId16"/>
    <p:sldId id="291" r:id="rId17"/>
    <p:sldId id="448" r:id="rId18"/>
    <p:sldId id="640" r:id="rId19"/>
    <p:sldId id="544" r:id="rId20"/>
    <p:sldId id="545" r:id="rId21"/>
    <p:sldId id="546" r:id="rId22"/>
    <p:sldId id="641" r:id="rId23"/>
    <p:sldId id="642" r:id="rId24"/>
    <p:sldId id="547" r:id="rId25"/>
    <p:sldId id="548" r:id="rId26"/>
    <p:sldId id="549" r:id="rId27"/>
    <p:sldId id="643" r:id="rId28"/>
    <p:sldId id="292" r:id="rId29"/>
    <p:sldId id="296" r:id="rId30"/>
    <p:sldId id="740" r:id="rId31"/>
    <p:sldId id="297" r:id="rId32"/>
    <p:sldId id="298" r:id="rId33"/>
    <p:sldId id="265" r:id="rId34"/>
    <p:sldId id="836" r:id="rId35"/>
    <p:sldId id="268" r:id="rId36"/>
    <p:sldId id="299" r:id="rId37"/>
    <p:sldId id="300" r:id="rId38"/>
    <p:sldId id="743" r:id="rId39"/>
    <p:sldId id="301" r:id="rId40"/>
    <p:sldId id="741" r:id="rId41"/>
    <p:sldId id="744" r:id="rId42"/>
    <p:sldId id="270" r:id="rId43"/>
    <p:sldId id="302" r:id="rId44"/>
    <p:sldId id="303" r:id="rId45"/>
    <p:sldId id="304" r:id="rId46"/>
    <p:sldId id="355" r:id="rId47"/>
    <p:sldId id="305" r:id="rId48"/>
    <p:sldId id="306" r:id="rId49"/>
    <p:sldId id="307" r:id="rId50"/>
    <p:sldId id="309" r:id="rId51"/>
    <p:sldId id="308" r:id="rId52"/>
    <p:sldId id="272" r:id="rId53"/>
    <p:sldId id="745" r:id="rId54"/>
    <p:sldId id="273" r:id="rId55"/>
    <p:sldId id="278" r:id="rId56"/>
    <p:sldId id="334" r:id="rId57"/>
    <p:sldId id="279" r:id="rId58"/>
    <p:sldId id="310" r:id="rId59"/>
    <p:sldId id="335" r:id="rId60"/>
    <p:sldId id="311" r:id="rId61"/>
    <p:sldId id="312" r:id="rId62"/>
    <p:sldId id="314" r:id="rId63"/>
    <p:sldId id="315" r:id="rId64"/>
    <p:sldId id="324" r:id="rId65"/>
    <p:sldId id="374" r:id="rId66"/>
    <p:sldId id="283" r:id="rId67"/>
    <p:sldId id="320" r:id="rId68"/>
    <p:sldId id="321" r:id="rId69"/>
    <p:sldId id="322" r:id="rId70"/>
    <p:sldId id="323" r:id="rId71"/>
    <p:sldId id="281" r:id="rId72"/>
    <p:sldId id="747" r:id="rId73"/>
    <p:sldId id="746" r:id="rId74"/>
    <p:sldId id="748" r:id="rId75"/>
    <p:sldId id="317" r:id="rId76"/>
    <p:sldId id="318" r:id="rId77"/>
    <p:sldId id="356" r:id="rId78"/>
    <p:sldId id="284" r:id="rId79"/>
    <p:sldId id="325" r:id="rId80"/>
    <p:sldId id="326" r:id="rId81"/>
    <p:sldId id="327" r:id="rId82"/>
    <p:sldId id="286" r:id="rId83"/>
    <p:sldId id="287" r:id="rId84"/>
    <p:sldId id="328" r:id="rId85"/>
    <p:sldId id="288" r:id="rId86"/>
    <p:sldId id="369" r:id="rId87"/>
    <p:sldId id="289" r:id="rId88"/>
    <p:sldId id="368" r:id="rId89"/>
    <p:sldId id="367" r:id="rId90"/>
    <p:sldId id="357" r:id="rId91"/>
    <p:sldId id="329" r:id="rId92"/>
    <p:sldId id="330" r:id="rId93"/>
    <p:sldId id="331" r:id="rId94"/>
    <p:sldId id="332" r:id="rId95"/>
    <p:sldId id="333" r:id="rId96"/>
    <p:sldId id="370" r:id="rId97"/>
    <p:sldId id="336" r:id="rId98"/>
    <p:sldId id="337" r:id="rId99"/>
    <p:sldId id="372" r:id="rId100"/>
    <p:sldId id="373" r:id="rId101"/>
    <p:sldId id="371" r:id="rId102"/>
    <p:sldId id="340" r:id="rId103"/>
    <p:sldId id="341" r:id="rId104"/>
    <p:sldId id="343" r:id="rId105"/>
    <p:sldId id="344" r:id="rId106"/>
    <p:sldId id="937" r:id="rId107"/>
    <p:sldId id="345" r:id="rId108"/>
    <p:sldId id="346" r:id="rId109"/>
    <p:sldId id="347" r:id="rId110"/>
    <p:sldId id="348" r:id="rId111"/>
    <p:sldId id="353" r:id="rId112"/>
    <p:sldId id="349" r:id="rId113"/>
    <p:sldId id="350" r:id="rId114"/>
    <p:sldId id="351" r:id="rId115"/>
    <p:sldId id="352" r:id="rId116"/>
    <p:sldId id="358" r:id="rId117"/>
    <p:sldId id="360" r:id="rId118"/>
    <p:sldId id="957" r:id="rId119"/>
    <p:sldId id="958" r:id="rId120"/>
    <p:sldId id="362" r:id="rId121"/>
    <p:sldId id="361" r:id="rId122"/>
    <p:sldId id="359" r:id="rId123"/>
    <p:sldId id="363" r:id="rId124"/>
    <p:sldId id="365" r:id="rId125"/>
    <p:sldId id="364" r:id="rId126"/>
    <p:sldId id="366" r:id="rId127"/>
  </p:sldIdLst>
  <p:sldSz cx="9144000" cy="6858000" type="screen4x3"/>
  <p:notesSz cx="6858000" cy="9144000"/>
  <p:custDataLst>
    <p:tags r:id="rId133"/>
  </p:custDataLst>
  <p:defaultTextStyle>
    <a:defPPr>
      <a:defRPr lang="en-US"/>
    </a:defPPr>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2FDB2607-1784-4EEB-B798-7EB5836EED8A}">
        <p14:showMediaCtrls xmlns:p14="http://schemas.microsoft.com/office/powerpoint/2010/main" val="1"/>
      </p:ext>
    </p:extLst>
  </p:showPr>
  <p:clrMru>
    <a:srgbClr val="9900FF"/>
    <a:srgbClr val="DDDDDD"/>
    <a:srgbClr val="663300"/>
    <a:srgbClr val="000066"/>
    <a:srgbClr val="CC0000"/>
    <a:srgbClr val="800000"/>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9646"/>
    <p:restoredTop sz="93010"/>
  </p:normalViewPr>
  <p:slideViewPr>
    <p:cSldViewPr showGuides="1">
      <p:cViewPr varScale="1">
        <p:scale>
          <a:sx n="82" d="100"/>
          <a:sy n="82" d="100"/>
        </p:scale>
        <p:origin x="-1038" y="-96"/>
      </p:cViewPr>
      <p:guideLst>
        <p:guide orient="horz" pos="2204"/>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29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Master" Target="slideMasters/slideMaster4.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3" Type="http://schemas.openxmlformats.org/officeDocument/2006/relationships/tags" Target="tags/tag3.xml"/><Relationship Id="rId132" Type="http://schemas.openxmlformats.org/officeDocument/2006/relationships/tableStyles" Target="tableStyles.xml"/><Relationship Id="rId131" Type="http://schemas.openxmlformats.org/officeDocument/2006/relationships/viewProps" Target="viewProps.xml"/><Relationship Id="rId130" Type="http://schemas.openxmlformats.org/officeDocument/2006/relationships/presProps" Target="presProps.xml"/><Relationship Id="rId13" Type="http://schemas.openxmlformats.org/officeDocument/2006/relationships/slide" Target="slides/slide8.xml"/><Relationship Id="rId129" Type="http://schemas.openxmlformats.org/officeDocument/2006/relationships/handoutMaster" Target="handoutMasters/handoutMaster1.xml"/><Relationship Id="rId128" Type="http://schemas.openxmlformats.org/officeDocument/2006/relationships/notesMaster" Target="notesMasters/notesMaster1.xml"/><Relationship Id="rId127" Type="http://schemas.openxmlformats.org/officeDocument/2006/relationships/slide" Target="slides/slide122.xml"/><Relationship Id="rId126" Type="http://schemas.openxmlformats.org/officeDocument/2006/relationships/slide" Target="slides/slide121.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slide" Target="slides/slide7.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6.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854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7" name="Rectangle 3"/>
          <p:cNvSpPr>
            <a:spLocks noGrp="1" noChangeArrowheads="1"/>
          </p:cNvSpPr>
          <p:nvPr>
            <p:ph type="dt" sz="quarter"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8" name="Rectangle 4"/>
          <p:cNvSpPr>
            <a:spLocks noGrp="1" noChangeArrowheads="1"/>
          </p:cNvSpPr>
          <p:nvPr>
            <p:ph type="ftr" sz="quarter" idx="2"/>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9" name="Rectangle 5"/>
          <p:cNvSpPr>
            <a:spLocks noGrp="1" noChangeArrowheads="1"/>
          </p:cNvSpPr>
          <p:nvPr>
            <p:ph type="sldNum" sz="quarter" idx="3"/>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
            <a:pPr lvl="0" algn="r" eaLnBrk="1" fontAlgn="base" hangingPunct="1"/>
            <a:fld id="{9A0DB2DC-4C9A-4742-B13C-FB6460FD3503}" type="slidenum">
              <a:rPr lang="zh-CN" altLang="en-US" sz="1200" strike="noStrike" noProof="1" dirty="0">
                <a:solidFill>
                  <a:schemeClr val="tx1"/>
                </a:solidFill>
                <a:latin typeface="Times New Roman" panose="02020603050405020304" pitchFamily="18" charset="0"/>
                <a:ea typeface="宋体" panose="02010600030101010101" pitchFamily="2" charset="-122"/>
                <a:cs typeface="+mn-cs"/>
              </a:rPr>
            </a:fld>
            <a:endParaRPr lang="zh-CN" altLang="en-US" sz="1200" strike="noStrike" noProof="1" dirty="0">
              <a:solidFill>
                <a:schemeClr val="tx1"/>
              </a:solidFill>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62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27"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48" name="Rectangle 4"/>
          <p:cNvSpPr>
            <a:spLocks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629"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0"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1"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
            <a:pPr lvl="0" algn="r" eaLnBrk="1" fontAlgn="base" hangingPunct="1"/>
            <a:fld id="{9A0DB2DC-4C9A-4742-B13C-FB6460FD3503}" type="slidenum">
              <a:rPr lang="zh-CN" altLang="en-US" sz="1200" strike="noStrike" noProof="1" dirty="0">
                <a:solidFill>
                  <a:schemeClr val="tx1"/>
                </a:solidFill>
                <a:latin typeface="Times New Roman" panose="02020603050405020304" pitchFamily="18" charset="0"/>
                <a:ea typeface="宋体" panose="02010600030101010101" pitchFamily="2" charset="-122"/>
                <a:cs typeface="+mn-cs"/>
              </a:rPr>
            </a:fld>
            <a:endParaRPr lang="zh-CN" altLang="en-US" sz="1200" strike="noStrike" noProof="1" dirty="0">
              <a:solidFill>
                <a:schemeClr val="tx1"/>
              </a:solidFill>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8"/>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灯片编号占位符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8"/>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灯片编号占位符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8"/>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灯片编号占位符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8"/>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灯片编号占位符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1.jpe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1.jpe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Rectangle 2"/>
          <p:cNvSpPr>
            <a:spLocks noGrp="1"/>
          </p:cNvSpPr>
          <p:nvPr>
            <p:ph type="title"/>
          </p:nvPr>
        </p:nvSpPr>
        <p:spPr>
          <a:xfrm>
            <a:off x="685800" y="609600"/>
            <a:ext cx="77724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3"/>
          <p:cNvSpPr>
            <a:spLocks noGrp="1"/>
          </p:cNvSpPr>
          <p:nvPr>
            <p:ph type="body"/>
          </p:nvPr>
        </p:nvSpPr>
        <p:spPr>
          <a:xfrm>
            <a:off x="685800" y="1981200"/>
            <a:ext cx="7772400" cy="4114800"/>
          </a:xfrm>
          <a:prstGeom prst="rect">
            <a:avLst/>
          </a:prstGeom>
          <a:noFill/>
          <a:ln w="9525">
            <a:noFill/>
          </a:ln>
        </p:spPr>
        <p:txBody>
          <a:bodyPr anchor="t" anchorCtr="0"/>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76132" name="Rectangle 4"/>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lstStyle>
            <a:lvl1pPr eaLnBrk="1" hangingPunct="1">
              <a:defRPr kumimoji="1" sz="1400">
                <a:solidFill>
                  <a:schemeClr val="tx1"/>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176133" name="Rectangle 5"/>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lgn="ctr" eaLnBrk="1" hangingPunct="1">
              <a:defRPr kumimoji="1" sz="1400">
                <a:solidFill>
                  <a:schemeClr val="tx1"/>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176134" name="Rectangle 6"/>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lstStyle>
            <a:lvl1pPr algn="r">
              <a:defRPr sz="1400">
                <a:solidFill>
                  <a:schemeClr val="tx1"/>
                </a:solidFill>
                <a:latin typeface="Times New Roman" panose="02020603050405020304" pitchFamily="18" charset="0"/>
                <a:ea typeface="宋体" panose="02010600030101010101" pitchFamily="2" charset="-122"/>
              </a:defRPr>
            </a:lvl1pPr>
          </a:lstStyle>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
        <p:nvSpPr>
          <p:cNvPr id="1031" name="Rectangle 1028"/>
          <p:cNvSpPr>
            <a:spLocks noChangeArrowheads="1"/>
          </p:cNvSpPr>
          <p:nvPr/>
        </p:nvSpPr>
        <p:spPr bwMode="auto">
          <a:xfrm>
            <a:off x="228600" y="6400800"/>
            <a:ext cx="5334000" cy="228600"/>
          </a:xfrm>
          <a:prstGeom prst="rect">
            <a:avLst/>
          </a:prstGeom>
          <a:noFill/>
          <a:ln>
            <a:noFill/>
          </a:ln>
          <a:effectLst/>
        </p:spPr>
        <p:txBody>
          <a:bodyPr/>
          <a:lstStyle>
            <a:lvl1pPr eaLnBrk="0" hangingPunct="0">
              <a:defRPr sz="3200">
                <a:solidFill>
                  <a:schemeClr val="accent2"/>
                </a:solidFill>
                <a:latin typeface="Arial" panose="020B0604020202020204" pitchFamily="34" charset="0"/>
                <a:ea typeface="华文行楷" panose="02010800040101010101" pitchFamily="2" charset="-122"/>
              </a:defRPr>
            </a:lvl1pPr>
            <a:lvl2pPr marL="742950" indent="-285750" eaLnBrk="0" hangingPunct="0">
              <a:defRPr sz="3200">
                <a:solidFill>
                  <a:schemeClr val="accent2"/>
                </a:solidFill>
                <a:latin typeface="Arial" panose="020B0604020202020204" pitchFamily="34" charset="0"/>
                <a:ea typeface="华文行楷" panose="02010800040101010101" pitchFamily="2" charset="-122"/>
              </a:defRPr>
            </a:lvl2pPr>
            <a:lvl3pPr marL="1143000" indent="-228600" eaLnBrk="0" hangingPunct="0">
              <a:defRPr sz="3200">
                <a:solidFill>
                  <a:schemeClr val="accent2"/>
                </a:solidFill>
                <a:latin typeface="Arial" panose="020B0604020202020204" pitchFamily="34" charset="0"/>
                <a:ea typeface="华文行楷" panose="02010800040101010101" pitchFamily="2" charset="-122"/>
              </a:defRPr>
            </a:lvl3pPr>
            <a:lvl4pPr marL="1600200" indent="-228600" eaLnBrk="0" hangingPunct="0">
              <a:defRPr sz="3200">
                <a:solidFill>
                  <a:schemeClr val="accent2"/>
                </a:solidFill>
                <a:latin typeface="Arial" panose="020B0604020202020204" pitchFamily="34" charset="0"/>
                <a:ea typeface="华文行楷" panose="02010800040101010101" pitchFamily="2" charset="-122"/>
              </a:defRPr>
            </a:lvl4pPr>
            <a:lvl5pPr marL="2057400" indent="-228600" eaLnBrk="0" hangingPunct="0">
              <a:defRPr sz="3200">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smtClean="0">
                <a:ln>
                  <a:noFill/>
                </a:ln>
                <a:solidFill>
                  <a:schemeClr val="accent2"/>
                </a:solidFill>
                <a:effectLst/>
                <a:uLnTx/>
                <a:uFillTx/>
                <a:latin typeface="Times New Roman" panose="02020603050405020304" pitchFamily="18" charset="0"/>
                <a:ea typeface="华文新魏" panose="02010800040101010101" pitchFamily="2" charset="-122"/>
                <a:cs typeface="+mn-cs"/>
              </a:rPr>
              <a:t>第2章 数据的机器层次表示</a:t>
            </a:r>
            <a:endParaRPr kumimoji="1" lang="zh-CN" altLang="en-US" sz="1800" b="1" i="0" u="none" strike="noStrike" kern="1200" cap="none" spc="0" normalizeH="0" baseline="0" noProof="0" smtClean="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kumimoji="1" sz="4400" b="1">
          <a:solidFill>
            <a:srgbClr val="663300"/>
          </a:solidFill>
          <a:latin typeface="+mj-lt"/>
          <a:ea typeface="+mj-ea"/>
          <a:cs typeface="+mj-cs"/>
        </a:defRPr>
      </a:lvl1pPr>
      <a:lvl2pPr algn="ctr" rtl="0" eaLnBrk="0" fontAlgn="base" hangingPunct="0">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2050" name="Rectangle 2"/>
          <p:cNvSpPr>
            <a:spLocks noGrp="1"/>
          </p:cNvSpPr>
          <p:nvPr>
            <p:ph type="title"/>
          </p:nvPr>
        </p:nvSpPr>
        <p:spPr>
          <a:xfrm>
            <a:off x="685800" y="609600"/>
            <a:ext cx="77724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1" name="Rectangle 3"/>
          <p:cNvSpPr>
            <a:spLocks noGrp="1"/>
          </p:cNvSpPr>
          <p:nvPr>
            <p:ph type="body"/>
          </p:nvPr>
        </p:nvSpPr>
        <p:spPr>
          <a:xfrm>
            <a:off x="685800" y="1981200"/>
            <a:ext cx="7772400" cy="4114800"/>
          </a:xfrm>
          <a:prstGeom prst="rect">
            <a:avLst/>
          </a:prstGeom>
          <a:noFill/>
          <a:ln w="9525">
            <a:noFill/>
          </a:ln>
        </p:spPr>
        <p:txBody>
          <a:bodyPr anchor="t" anchorCtr="0"/>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76132" name="Rectangle 4"/>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lstStyle>
            <a:lvl1pPr eaLnBrk="1" hangingPunct="1">
              <a:defRPr kumimoji="1" sz="1400">
                <a:solidFill>
                  <a:schemeClr val="tx1"/>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176133" name="Rectangle 5"/>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lgn="ctr" eaLnBrk="1" hangingPunct="1">
              <a:defRPr kumimoji="1" sz="1400">
                <a:solidFill>
                  <a:schemeClr val="tx1"/>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176134" name="Rectangle 6"/>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lstStyle>
            <a:lvl1pPr algn="r">
              <a:defRPr sz="1400">
                <a:solidFill>
                  <a:schemeClr val="tx1"/>
                </a:solidFill>
                <a:latin typeface="Times New Roman" panose="02020603050405020304" pitchFamily="18" charset="0"/>
                <a:ea typeface="宋体" panose="02010600030101010101" pitchFamily="2" charset="-122"/>
              </a:defRPr>
            </a:lvl1pPr>
          </a:lstStyle>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
        <p:nvSpPr>
          <p:cNvPr id="1031" name="Rectangle 1028"/>
          <p:cNvSpPr>
            <a:spLocks noChangeArrowheads="1"/>
          </p:cNvSpPr>
          <p:nvPr/>
        </p:nvSpPr>
        <p:spPr bwMode="auto">
          <a:xfrm>
            <a:off x="228600" y="6400800"/>
            <a:ext cx="5334000" cy="228600"/>
          </a:xfrm>
          <a:prstGeom prst="rect">
            <a:avLst/>
          </a:prstGeom>
          <a:noFill/>
          <a:ln>
            <a:noFill/>
          </a:ln>
          <a:effectLst/>
        </p:spPr>
        <p:txBody>
          <a:bodyPr/>
          <a:lstStyle>
            <a:lvl1pPr eaLnBrk="0" hangingPunct="0">
              <a:defRPr sz="3200">
                <a:solidFill>
                  <a:schemeClr val="accent2"/>
                </a:solidFill>
                <a:latin typeface="Arial" panose="020B0604020202020204" pitchFamily="34" charset="0"/>
                <a:ea typeface="华文行楷" panose="02010800040101010101" pitchFamily="2" charset="-122"/>
              </a:defRPr>
            </a:lvl1pPr>
            <a:lvl2pPr marL="742950" indent="-285750" eaLnBrk="0" hangingPunct="0">
              <a:defRPr sz="3200">
                <a:solidFill>
                  <a:schemeClr val="accent2"/>
                </a:solidFill>
                <a:latin typeface="Arial" panose="020B0604020202020204" pitchFamily="34" charset="0"/>
                <a:ea typeface="华文行楷" panose="02010800040101010101" pitchFamily="2" charset="-122"/>
              </a:defRPr>
            </a:lvl2pPr>
            <a:lvl3pPr marL="1143000" indent="-228600" eaLnBrk="0" hangingPunct="0">
              <a:defRPr sz="3200">
                <a:solidFill>
                  <a:schemeClr val="accent2"/>
                </a:solidFill>
                <a:latin typeface="Arial" panose="020B0604020202020204" pitchFamily="34" charset="0"/>
                <a:ea typeface="华文行楷" panose="02010800040101010101" pitchFamily="2" charset="-122"/>
              </a:defRPr>
            </a:lvl3pPr>
            <a:lvl4pPr marL="1600200" indent="-228600" eaLnBrk="0" hangingPunct="0">
              <a:defRPr sz="3200">
                <a:solidFill>
                  <a:schemeClr val="accent2"/>
                </a:solidFill>
                <a:latin typeface="Arial" panose="020B0604020202020204" pitchFamily="34" charset="0"/>
                <a:ea typeface="华文行楷" panose="02010800040101010101" pitchFamily="2" charset="-122"/>
              </a:defRPr>
            </a:lvl4pPr>
            <a:lvl5pPr marL="2057400" indent="-228600" eaLnBrk="0" hangingPunct="0">
              <a:defRPr sz="3200">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smtClean="0">
                <a:ln>
                  <a:noFill/>
                </a:ln>
                <a:solidFill>
                  <a:schemeClr val="accent2"/>
                </a:solidFill>
                <a:effectLst/>
                <a:uLnTx/>
                <a:uFillTx/>
                <a:latin typeface="Times New Roman" panose="02020603050405020304" pitchFamily="18" charset="0"/>
                <a:ea typeface="华文新魏" panose="02010800040101010101" pitchFamily="2" charset="-122"/>
                <a:cs typeface="+mn-cs"/>
              </a:rPr>
              <a:t>第2章 数据的机器层次表示</a:t>
            </a:r>
            <a:endParaRPr kumimoji="1" lang="zh-CN" altLang="en-US" sz="1800" b="1" i="0" u="none" strike="noStrike" kern="1200" cap="none" spc="0" normalizeH="0" baseline="0" noProof="0" smtClean="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kumimoji="1" sz="4400" b="1">
          <a:solidFill>
            <a:srgbClr val="663300"/>
          </a:solidFill>
          <a:latin typeface="+mj-lt"/>
          <a:ea typeface="+mj-ea"/>
          <a:cs typeface="+mj-cs"/>
        </a:defRPr>
      </a:lvl1pPr>
      <a:lvl2pPr algn="ctr" rtl="0" eaLnBrk="0" fontAlgn="base" hangingPunct="0">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3074" name="Rectangle 2"/>
          <p:cNvSpPr>
            <a:spLocks noGrp="1"/>
          </p:cNvSpPr>
          <p:nvPr>
            <p:ph type="title"/>
          </p:nvPr>
        </p:nvSpPr>
        <p:spPr>
          <a:xfrm>
            <a:off x="685800" y="609600"/>
            <a:ext cx="77724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3075" name="Rectangle 3"/>
          <p:cNvSpPr>
            <a:spLocks noGrp="1"/>
          </p:cNvSpPr>
          <p:nvPr>
            <p:ph type="body"/>
          </p:nvPr>
        </p:nvSpPr>
        <p:spPr>
          <a:xfrm>
            <a:off x="685800" y="1981200"/>
            <a:ext cx="7772400" cy="4114800"/>
          </a:xfrm>
          <a:prstGeom prst="rect">
            <a:avLst/>
          </a:prstGeom>
          <a:noFill/>
          <a:ln w="9525">
            <a:noFill/>
          </a:ln>
        </p:spPr>
        <p:txBody>
          <a:bodyPr anchor="t" anchorCtr="0"/>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76132" name="Rectangle 4"/>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lstStyle>
            <a:lvl1pPr eaLnBrk="1" hangingPunct="1">
              <a:defRPr kumimoji="1" sz="1400">
                <a:solidFill>
                  <a:schemeClr val="tx1"/>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176133" name="Rectangle 5"/>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lgn="ctr" eaLnBrk="1" hangingPunct="1">
              <a:defRPr kumimoji="1" sz="1400">
                <a:solidFill>
                  <a:schemeClr val="tx1"/>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176134" name="Rectangle 6"/>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lstStyle>
            <a:lvl1pPr algn="r">
              <a:defRPr sz="1400">
                <a:solidFill>
                  <a:schemeClr val="tx1"/>
                </a:solidFill>
                <a:latin typeface="Times New Roman" panose="02020603050405020304" pitchFamily="18" charset="0"/>
                <a:ea typeface="宋体" panose="02010600030101010101" pitchFamily="2" charset="-122"/>
              </a:defRPr>
            </a:lvl1pPr>
          </a:lstStyle>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
        <p:nvSpPr>
          <p:cNvPr id="1031" name="Rectangle 1028"/>
          <p:cNvSpPr>
            <a:spLocks noChangeArrowheads="1"/>
          </p:cNvSpPr>
          <p:nvPr/>
        </p:nvSpPr>
        <p:spPr bwMode="auto">
          <a:xfrm>
            <a:off x="228600" y="6400800"/>
            <a:ext cx="5334000" cy="228600"/>
          </a:xfrm>
          <a:prstGeom prst="rect">
            <a:avLst/>
          </a:prstGeom>
          <a:noFill/>
          <a:ln>
            <a:noFill/>
          </a:ln>
          <a:effectLst/>
        </p:spPr>
        <p:txBody>
          <a:bodyPr/>
          <a:lstStyle>
            <a:lvl1pPr eaLnBrk="0" hangingPunct="0">
              <a:defRPr sz="3200">
                <a:solidFill>
                  <a:schemeClr val="accent2"/>
                </a:solidFill>
                <a:latin typeface="Arial" panose="020B0604020202020204" pitchFamily="34" charset="0"/>
                <a:ea typeface="华文行楷" panose="02010800040101010101" pitchFamily="2" charset="-122"/>
              </a:defRPr>
            </a:lvl1pPr>
            <a:lvl2pPr marL="742950" indent="-285750" eaLnBrk="0" hangingPunct="0">
              <a:defRPr sz="3200">
                <a:solidFill>
                  <a:schemeClr val="accent2"/>
                </a:solidFill>
                <a:latin typeface="Arial" panose="020B0604020202020204" pitchFamily="34" charset="0"/>
                <a:ea typeface="华文行楷" panose="02010800040101010101" pitchFamily="2" charset="-122"/>
              </a:defRPr>
            </a:lvl2pPr>
            <a:lvl3pPr marL="1143000" indent="-228600" eaLnBrk="0" hangingPunct="0">
              <a:defRPr sz="3200">
                <a:solidFill>
                  <a:schemeClr val="accent2"/>
                </a:solidFill>
                <a:latin typeface="Arial" panose="020B0604020202020204" pitchFamily="34" charset="0"/>
                <a:ea typeface="华文行楷" panose="02010800040101010101" pitchFamily="2" charset="-122"/>
              </a:defRPr>
            </a:lvl3pPr>
            <a:lvl4pPr marL="1600200" indent="-228600" eaLnBrk="0" hangingPunct="0">
              <a:defRPr sz="3200">
                <a:solidFill>
                  <a:schemeClr val="accent2"/>
                </a:solidFill>
                <a:latin typeface="Arial" panose="020B0604020202020204" pitchFamily="34" charset="0"/>
                <a:ea typeface="华文行楷" panose="02010800040101010101" pitchFamily="2" charset="-122"/>
              </a:defRPr>
            </a:lvl4pPr>
            <a:lvl5pPr marL="2057400" indent="-228600" eaLnBrk="0" hangingPunct="0">
              <a:defRPr sz="3200">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smtClean="0">
                <a:ln>
                  <a:noFill/>
                </a:ln>
                <a:solidFill>
                  <a:schemeClr val="accent2"/>
                </a:solidFill>
                <a:effectLst/>
                <a:uLnTx/>
                <a:uFillTx/>
                <a:latin typeface="Times New Roman" panose="02020603050405020304" pitchFamily="18" charset="0"/>
                <a:ea typeface="华文新魏" panose="02010800040101010101" pitchFamily="2" charset="-122"/>
                <a:cs typeface="+mn-cs"/>
              </a:rPr>
              <a:t>第2章 数据的机器层次表示</a:t>
            </a:r>
            <a:endParaRPr kumimoji="1" lang="zh-CN" altLang="en-US" sz="1800" b="1" i="0" u="none" strike="noStrike" kern="1200" cap="none" spc="0" normalizeH="0" baseline="0" noProof="0" smtClean="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ctr" rtl="0" eaLnBrk="0" fontAlgn="base" hangingPunct="0">
        <a:spcBef>
          <a:spcPct val="0"/>
        </a:spcBef>
        <a:spcAft>
          <a:spcPct val="0"/>
        </a:spcAft>
        <a:defRPr kumimoji="1" sz="4400" b="1">
          <a:solidFill>
            <a:srgbClr val="663300"/>
          </a:solidFill>
          <a:latin typeface="+mj-lt"/>
          <a:ea typeface="+mj-ea"/>
          <a:cs typeface="+mj-cs"/>
        </a:defRPr>
      </a:lvl1pPr>
      <a:lvl2pPr algn="ctr" rtl="0" eaLnBrk="0" fontAlgn="base" hangingPunct="0">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4098" name="Rectangle 2"/>
          <p:cNvSpPr>
            <a:spLocks noGrp="1"/>
          </p:cNvSpPr>
          <p:nvPr>
            <p:ph type="title"/>
          </p:nvPr>
        </p:nvSpPr>
        <p:spPr>
          <a:xfrm>
            <a:off x="685800" y="609600"/>
            <a:ext cx="77724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4099" name="Rectangle 3"/>
          <p:cNvSpPr>
            <a:spLocks noGrp="1"/>
          </p:cNvSpPr>
          <p:nvPr>
            <p:ph type="body"/>
          </p:nvPr>
        </p:nvSpPr>
        <p:spPr>
          <a:xfrm>
            <a:off x="685800" y="1981200"/>
            <a:ext cx="7772400" cy="4114800"/>
          </a:xfrm>
          <a:prstGeom prst="rect">
            <a:avLst/>
          </a:prstGeom>
          <a:noFill/>
          <a:ln w="9525">
            <a:noFill/>
          </a:ln>
        </p:spPr>
        <p:txBody>
          <a:bodyPr anchor="t" anchorCtr="0"/>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76132" name="Rectangle 4"/>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lstStyle>
            <a:lvl1pPr eaLnBrk="1" hangingPunct="1">
              <a:defRPr kumimoji="1" sz="1400">
                <a:solidFill>
                  <a:schemeClr val="tx1"/>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176133" name="Rectangle 5"/>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lgn="ctr" eaLnBrk="1" hangingPunct="1">
              <a:defRPr kumimoji="1" sz="1400">
                <a:solidFill>
                  <a:schemeClr val="tx1"/>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176134" name="Rectangle 6"/>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lstStyle>
            <a:lvl1pPr algn="r">
              <a:defRPr sz="1400">
                <a:solidFill>
                  <a:schemeClr val="tx1"/>
                </a:solidFill>
                <a:latin typeface="Times New Roman" panose="02020603050405020304" pitchFamily="18" charset="0"/>
                <a:ea typeface="宋体" panose="02010600030101010101" pitchFamily="2" charset="-122"/>
              </a:defRPr>
            </a:lvl1pPr>
          </a:lstStyle>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p>
        </p:txBody>
      </p:sp>
      <p:sp>
        <p:nvSpPr>
          <p:cNvPr id="1031" name="Rectangle 1028"/>
          <p:cNvSpPr>
            <a:spLocks noChangeArrowheads="1"/>
          </p:cNvSpPr>
          <p:nvPr/>
        </p:nvSpPr>
        <p:spPr bwMode="auto">
          <a:xfrm>
            <a:off x="228600" y="6400800"/>
            <a:ext cx="5334000" cy="228600"/>
          </a:xfrm>
          <a:prstGeom prst="rect">
            <a:avLst/>
          </a:prstGeom>
          <a:noFill/>
          <a:ln>
            <a:noFill/>
          </a:ln>
          <a:effectLst/>
        </p:spPr>
        <p:txBody>
          <a:bodyPr/>
          <a:lstStyle>
            <a:lvl1pPr eaLnBrk="0" hangingPunct="0">
              <a:defRPr sz="3200">
                <a:solidFill>
                  <a:schemeClr val="accent2"/>
                </a:solidFill>
                <a:latin typeface="Arial" panose="020B0604020202020204" pitchFamily="34" charset="0"/>
                <a:ea typeface="华文行楷" panose="02010800040101010101" pitchFamily="2" charset="-122"/>
              </a:defRPr>
            </a:lvl1pPr>
            <a:lvl2pPr marL="742950" indent="-285750" eaLnBrk="0" hangingPunct="0">
              <a:defRPr sz="3200">
                <a:solidFill>
                  <a:schemeClr val="accent2"/>
                </a:solidFill>
                <a:latin typeface="Arial" panose="020B0604020202020204" pitchFamily="34" charset="0"/>
                <a:ea typeface="华文行楷" panose="02010800040101010101" pitchFamily="2" charset="-122"/>
              </a:defRPr>
            </a:lvl2pPr>
            <a:lvl3pPr marL="1143000" indent="-228600" eaLnBrk="0" hangingPunct="0">
              <a:defRPr sz="3200">
                <a:solidFill>
                  <a:schemeClr val="accent2"/>
                </a:solidFill>
                <a:latin typeface="Arial" panose="020B0604020202020204" pitchFamily="34" charset="0"/>
                <a:ea typeface="华文行楷" panose="02010800040101010101" pitchFamily="2" charset="-122"/>
              </a:defRPr>
            </a:lvl3pPr>
            <a:lvl4pPr marL="1600200" indent="-228600" eaLnBrk="0" hangingPunct="0">
              <a:defRPr sz="3200">
                <a:solidFill>
                  <a:schemeClr val="accent2"/>
                </a:solidFill>
                <a:latin typeface="Arial" panose="020B0604020202020204" pitchFamily="34" charset="0"/>
                <a:ea typeface="华文行楷" panose="02010800040101010101" pitchFamily="2" charset="-122"/>
              </a:defRPr>
            </a:lvl4pPr>
            <a:lvl5pPr marL="2057400" indent="-228600" eaLnBrk="0" hangingPunct="0">
              <a:defRPr sz="3200">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smtClean="0">
                <a:ln>
                  <a:noFill/>
                </a:ln>
                <a:solidFill>
                  <a:schemeClr val="accent2"/>
                </a:solidFill>
                <a:effectLst/>
                <a:uLnTx/>
                <a:uFillTx/>
                <a:latin typeface="Times New Roman" panose="02020603050405020304" pitchFamily="18" charset="0"/>
                <a:ea typeface="华文新魏" panose="02010800040101010101" pitchFamily="2" charset="-122"/>
                <a:cs typeface="+mn-cs"/>
              </a:rPr>
              <a:t>第2章 数据的机器层次表示</a:t>
            </a:r>
            <a:endParaRPr kumimoji="1" lang="zh-CN" altLang="en-US" sz="1800" b="1" i="0" u="none" strike="noStrike" kern="1200" cap="none" spc="0" normalizeH="0" baseline="0" noProof="0" smtClean="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ctr" rtl="0" eaLnBrk="0" fontAlgn="base" hangingPunct="0">
        <a:spcBef>
          <a:spcPct val="0"/>
        </a:spcBef>
        <a:spcAft>
          <a:spcPct val="0"/>
        </a:spcAft>
        <a:defRPr kumimoji="1" sz="4400" b="1">
          <a:solidFill>
            <a:srgbClr val="663300"/>
          </a:solidFill>
          <a:latin typeface="+mj-lt"/>
          <a:ea typeface="+mj-ea"/>
          <a:cs typeface="+mj-cs"/>
        </a:defRPr>
      </a:lvl1pPr>
      <a:lvl2pPr algn="ctr" rtl="0" eaLnBrk="0" fontAlgn="base" hangingPunct="0">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6.wmf"/><Relationship Id="rId1" Type="http://schemas.openxmlformats.org/officeDocument/2006/relationships/oleObject" Target="../embeddings/oleObject1.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oleObject" Target="../embeddings/oleObject2.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7.xml"/><Relationship Id="rId5" Type="http://schemas.openxmlformats.org/officeDocument/2006/relationships/image" Target="../media/image9.wmf"/><Relationship Id="rId4" Type="http://schemas.openxmlformats.org/officeDocument/2006/relationships/oleObject" Target="../embeddings/oleObject5.bin"/><Relationship Id="rId3" Type="http://schemas.openxmlformats.org/officeDocument/2006/relationships/oleObject" Target="../embeddings/oleObject4.bin"/><Relationship Id="rId2" Type="http://schemas.openxmlformats.org/officeDocument/2006/relationships/image" Target="../media/image8.wmf"/><Relationship Id="rId1" Type="http://schemas.openxmlformats.org/officeDocument/2006/relationships/oleObject" Target="../embeddings/oleObject3.bin"/></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0.wmf"/><Relationship Id="rId1" Type="http://schemas.openxmlformats.org/officeDocument/2006/relationships/oleObject" Target="../embeddings/oleObject6.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1.wmf"/><Relationship Id="rId1" Type="http://schemas.openxmlformats.org/officeDocument/2006/relationships/oleObject" Target="../embeddings/oleObject7.bin"/></Relationships>
</file>

<file path=ppt/slides/_rels/slide51.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13.wmf"/><Relationship Id="rId3" Type="http://schemas.openxmlformats.org/officeDocument/2006/relationships/oleObject" Target="../embeddings/oleObject9.bin"/><Relationship Id="rId2" Type="http://schemas.openxmlformats.org/officeDocument/2006/relationships/image" Target="../media/image12.wmf"/><Relationship Id="rId1" Type="http://schemas.openxmlformats.org/officeDocument/2006/relationships/oleObject" Target="../embeddings/oleObject8.bin"/></Relationships>
</file>

<file path=ppt/slides/_rels/slide52.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4.wmf"/><Relationship Id="rId1" Type="http://schemas.openxmlformats.org/officeDocument/2006/relationships/oleObject" Target="../embeddings/oleObject10.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3.wmf"/><Relationship Id="rId1" Type="http://schemas.openxmlformats.org/officeDocument/2006/relationships/oleObject" Target="../embeddings/oleObject11.bin"/></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7.xml"/><Relationship Id="rId4" Type="http://schemas.openxmlformats.org/officeDocument/2006/relationships/image" Target="../media/image18.wmf"/><Relationship Id="rId3" Type="http://schemas.openxmlformats.org/officeDocument/2006/relationships/oleObject" Target="../embeddings/oleObject13.bin"/><Relationship Id="rId2" Type="http://schemas.openxmlformats.org/officeDocument/2006/relationships/image" Target="../media/image17.wmf"/><Relationship Id="rId1" Type="http://schemas.openxmlformats.org/officeDocument/2006/relationships/oleObject" Target="../embeddings/oleObject12.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20.wmf"/><Relationship Id="rId1" Type="http://schemas.openxmlformats.org/officeDocument/2006/relationships/oleObject" Target="../embeddings/oleObject14.bin"/></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21.wmf"/><Relationship Id="rId1" Type="http://schemas.openxmlformats.org/officeDocument/2006/relationships/oleObject" Target="../embeddings/oleObject15.bin"/></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22.wmf"/><Relationship Id="rId1" Type="http://schemas.openxmlformats.org/officeDocument/2006/relationships/oleObject" Target="../embeddings/oleObject16.bin"/></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23.wmf"/><Relationship Id="rId1" Type="http://schemas.openxmlformats.org/officeDocument/2006/relationships/oleObject" Target="../embeddings/oleObject17.bin"/></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24.wmf"/><Relationship Id="rId1" Type="http://schemas.openxmlformats.org/officeDocument/2006/relationships/oleObject" Target="../embeddings/oleObject18.bin"/></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tags" Target="../tags/tag2.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27.wmf"/><Relationship Id="rId1" Type="http://schemas.openxmlformats.org/officeDocument/2006/relationships/oleObject" Target="../embeddings/oleObject19.bin"/></Relationships>
</file>

<file path=ppt/slides/_rels/slide120.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2.xml"/><Relationship Id="rId4" Type="http://schemas.openxmlformats.org/officeDocument/2006/relationships/image" Target="../media/image29.wmf"/><Relationship Id="rId3" Type="http://schemas.openxmlformats.org/officeDocument/2006/relationships/oleObject" Target="../embeddings/oleObject21.bin"/><Relationship Id="rId2" Type="http://schemas.openxmlformats.org/officeDocument/2006/relationships/image" Target="../media/image28.wmf"/><Relationship Id="rId1" Type="http://schemas.openxmlformats.org/officeDocument/2006/relationships/oleObject" Target="../embeddings/oleObject20.bin"/></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285698" name="Rectangle 2"/>
          <p:cNvSpPr>
            <a:spLocks noGrp="1" noChangeArrowheads="1"/>
          </p:cNvSpPr>
          <p:nvPr>
            <p:ph type="ctrTitle"/>
          </p:nvPr>
        </p:nvSpPr>
        <p:spPr>
          <a:xfrm>
            <a:off x="381000" y="1219200"/>
            <a:ext cx="8458200" cy="3200400"/>
          </a:xfrm>
        </p:spPr>
        <p:txBody>
          <a:bodyPr vert="horz" wrap="square" lIns="91440" tIns="45720" rIns="91440" bIns="45720" numCol="1" anchor="ctr" anchorCtr="0" compatLnSpc="1"/>
          <a:lstStyle/>
          <a:p>
            <a:pPr marL="0" marR="0" lvl="0" indent="0" algn="ctr" defTabSz="914400" rtl="0" eaLnBrk="1" fontAlgn="base" latinLnBrk="0" hangingPunct="1">
              <a:lnSpc>
                <a:spcPct val="140000"/>
              </a:lnSpc>
              <a:spcBef>
                <a:spcPct val="0"/>
              </a:spcBef>
              <a:spcAft>
                <a:spcPct val="0"/>
              </a:spcAft>
              <a:buClrTx/>
              <a:buSzTx/>
              <a:buFontTx/>
              <a:buNone/>
              <a:defRPr/>
            </a:pPr>
            <a:r>
              <a:rPr kumimoji="1" lang="zh-CN" altLang="en-US" sz="7200" b="1" i="0" u="none" strike="noStrike" kern="0" cap="none" spc="0" normalizeH="0" baseline="0" noProof="0" smtClean="0">
                <a:ln>
                  <a:noFill/>
                </a:ln>
                <a:solidFill>
                  <a:srgbClr val="66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j-cs"/>
              </a:rPr>
              <a:t>第</a:t>
            </a:r>
            <a:r>
              <a:rPr kumimoji="1" lang="zh-CN" altLang="en-US" sz="7200" b="1" i="0" u="none" strike="noStrike" kern="0" cap="none" spc="0" normalizeH="0" baseline="0" noProof="0" smtClean="0">
                <a:ln>
                  <a:noFill/>
                </a:ln>
                <a:solidFill>
                  <a:srgbClr val="663300"/>
                </a:solidFill>
                <a:effectLst>
                  <a:outerShdw blurRad="38100" dist="38100" dir="2700000" algn="tl">
                    <a:srgbClr val="C0C0C0"/>
                  </a:outerShdw>
                </a:effectLst>
                <a:uLnTx/>
                <a:uFillTx/>
                <a:latin typeface="+mj-lt"/>
                <a:ea typeface="华文新魏" panose="02010800040101010101" pitchFamily="2" charset="-122"/>
                <a:cs typeface="+mj-cs"/>
              </a:rPr>
              <a:t>2</a:t>
            </a:r>
            <a:r>
              <a:rPr kumimoji="1" lang="zh-CN" altLang="en-US" sz="7200" b="1" i="0" u="none" strike="noStrike" kern="0" cap="none" spc="0" normalizeH="0" baseline="0" noProof="0" smtClean="0">
                <a:ln>
                  <a:noFill/>
                </a:ln>
                <a:solidFill>
                  <a:srgbClr val="66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j-cs"/>
              </a:rPr>
              <a:t>章</a:t>
            </a:r>
            <a:br>
              <a:rPr kumimoji="1" lang="zh-CN" altLang="en-US" sz="7200" b="1" i="0" u="none" strike="noStrike" kern="0" cap="none" spc="0" normalizeH="0" baseline="0" noProof="0" smtClean="0">
                <a:ln>
                  <a:noFill/>
                </a:ln>
                <a:solidFill>
                  <a:srgbClr val="66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j-cs"/>
              </a:rPr>
            </a:br>
            <a:r>
              <a:rPr kumimoji="1" lang="zh-CN" altLang="en-US" sz="7200" b="1" i="0" u="none" strike="noStrike" kern="0" cap="none" spc="0" normalizeH="0" baseline="0" noProof="0" smtClean="0">
                <a:ln>
                  <a:noFill/>
                </a:ln>
                <a:solidFill>
                  <a:srgbClr val="66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j-cs"/>
              </a:rPr>
              <a:t>数据的机器层次表示</a:t>
            </a:r>
            <a:endParaRPr kumimoji="1" lang="zh-CN" altLang="en-US" sz="7200" b="1" i="0" u="none" strike="noStrike" kern="0" cap="none" spc="0" normalizeH="0" baseline="0" noProof="0" smtClean="0">
              <a:ln>
                <a:noFill/>
              </a:ln>
              <a:solidFill>
                <a:srgbClr val="66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8194" name="Rectangle 3"/>
          <p:cNvSpPr>
            <a:spLocks noGrp="1"/>
          </p:cNvSpPr>
          <p:nvPr>
            <p:ph type="body" idx="4294967295"/>
          </p:nvPr>
        </p:nvSpPr>
        <p:spPr>
          <a:xfrm>
            <a:off x="685800" y="1371600"/>
            <a:ext cx="7772400" cy="4114800"/>
          </a:xfrm>
        </p:spPr>
        <p:txBody>
          <a:bodyPr vert="horz" wrap="square" lIns="91440" tIns="45720" rIns="91440" bIns="45720" anchor="t" anchorCtr="0"/>
          <a:p>
            <a:pPr marL="0" algn="just" eaLnBrk="1" hangingPunct="1">
              <a:buNone/>
            </a:pPr>
            <a:r>
              <a:rPr lang="zh-CN" altLang="en-US" b="1" dirty="0">
                <a:latin typeface="楷体_GB2312" pitchFamily="49" charset="-122"/>
                <a:ea typeface="楷体_GB2312" pitchFamily="49" charset="-122"/>
              </a:rPr>
              <a:t>    数据是计算机加工和处理的对象，数据的机器层次表示将直接影响到计算机的结构和性能。本章主要介绍无符号数和带符号数的表示方法、数的定点与浮点表示方法、字符和汉字的编码方法、数据校验码等。熟悉和掌握本章的内容，是学习计算机原理的最基本要求。 </a:t>
            </a:r>
            <a:endParaRPr lang="zh-CN" altLang="en-US" b="1" dirty="0">
              <a:latin typeface="楷体_GB2312" pitchFamily="49" charset="-122"/>
              <a:ea typeface="楷体_GB2312" pitchFamily="49"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9218" name="Rectangle 2"/>
          <p:cNvSpPr>
            <a:spLocks noGrp="1"/>
          </p:cNvSpPr>
          <p:nvPr>
            <p:ph type="title"/>
          </p:nvPr>
        </p:nvSpPr>
        <p:spPr>
          <a:xfrm>
            <a:off x="685800" y="838200"/>
            <a:ext cx="7772400" cy="1143000"/>
          </a:xfrm>
        </p:spPr>
        <p:txBody>
          <a:bodyPr vert="horz" wrap="square" lIns="91440" tIns="45720" rIns="91440" bIns="45720" anchor="ctr" anchorCtr="0"/>
          <a:p>
            <a:pPr algn="l" eaLnBrk="1" hangingPunct="1"/>
            <a:r>
              <a:rPr lang="zh-CN" altLang="en-US" sz="3200" u="sng" dirty="0">
                <a:solidFill>
                  <a:srgbClr val="0000FF"/>
                </a:solidFill>
                <a:latin typeface="楷体_GB2312" pitchFamily="49" charset="-122"/>
                <a:ea typeface="楷体_GB2312" pitchFamily="49" charset="-122"/>
              </a:rPr>
              <a:t>本章学习内容</a:t>
            </a:r>
            <a:endParaRPr lang="zh-CN" altLang="en-US" sz="4000" b="0" dirty="0">
              <a:solidFill>
                <a:srgbClr val="0000FF"/>
              </a:solidFill>
              <a:latin typeface="楷体_GB2312" pitchFamily="49" charset="-122"/>
              <a:ea typeface="楷体_GB2312" pitchFamily="49" charset="-122"/>
            </a:endParaRPr>
          </a:p>
        </p:txBody>
      </p:sp>
      <p:sp>
        <p:nvSpPr>
          <p:cNvPr id="9219" name="Rectangle 3"/>
          <p:cNvSpPr>
            <a:spLocks noGrp="1"/>
          </p:cNvSpPr>
          <p:nvPr>
            <p:ph idx="1"/>
          </p:nvPr>
        </p:nvSpPr>
        <p:spPr>
          <a:xfrm>
            <a:off x="685800" y="1905000"/>
            <a:ext cx="7848600" cy="3886200"/>
          </a:xfrm>
        </p:spPr>
        <p:txBody>
          <a:bodyPr vert="horz" wrap="square" lIns="91440" tIns="45720" rIns="91440" bIns="45720" anchor="t" anchorCtr="0"/>
          <a:p>
            <a:pPr algn="just" eaLnBrk="1" hangingPunct="1"/>
            <a:r>
              <a:rPr lang="zh-CN" altLang="en-US" b="1" dirty="0">
                <a:ea typeface="楷体_GB2312" pitchFamily="49" charset="-122"/>
              </a:rPr>
              <a:t>2.1 </a:t>
            </a:r>
            <a:r>
              <a:rPr lang="zh-CN" altLang="en-GB" b="1" dirty="0">
                <a:ea typeface="楷体_GB2312" pitchFamily="49" charset="-122"/>
              </a:rPr>
              <a:t>数值数据的表示</a:t>
            </a:r>
            <a:endParaRPr lang="en-US" altLang="zh-CN" b="1" dirty="0">
              <a:ea typeface="楷体_GB2312" pitchFamily="49" charset="-122"/>
            </a:endParaRPr>
          </a:p>
          <a:p>
            <a:pPr algn="just" eaLnBrk="1" hangingPunct="1"/>
            <a:r>
              <a:rPr lang="zh-CN" altLang="en-US" b="1" dirty="0">
                <a:ea typeface="楷体_GB2312" pitchFamily="49" charset="-122"/>
              </a:rPr>
              <a:t>2.2 机器数的定点表示和浮点表示</a:t>
            </a:r>
            <a:endParaRPr lang="zh-CN" altLang="en-US" b="1" dirty="0">
              <a:ea typeface="楷体_GB2312" pitchFamily="49" charset="-122"/>
            </a:endParaRPr>
          </a:p>
          <a:p>
            <a:pPr algn="just" eaLnBrk="1" hangingPunct="1"/>
            <a:r>
              <a:rPr lang="zh-CN" altLang="en-US" b="1" dirty="0">
                <a:ea typeface="楷体_GB2312" pitchFamily="49" charset="-122"/>
              </a:rPr>
              <a:t>2.3 非数值数据的表示</a:t>
            </a:r>
            <a:endParaRPr lang="zh-CN" altLang="en-US" b="1" dirty="0">
              <a:ea typeface="楷体_GB2312" pitchFamily="49" charset="-122"/>
            </a:endParaRPr>
          </a:p>
          <a:p>
            <a:pPr algn="just" eaLnBrk="1" hangingPunct="1"/>
            <a:r>
              <a:rPr lang="zh-CN" altLang="en-US" b="1" dirty="0">
                <a:ea typeface="楷体_GB2312" pitchFamily="49" charset="-122"/>
              </a:rPr>
              <a:t>2.4 十进制数和数串的表示</a:t>
            </a:r>
            <a:endParaRPr lang="zh-CN" altLang="en-US" b="1" dirty="0">
              <a:ea typeface="楷体_GB2312" pitchFamily="49" charset="-122"/>
            </a:endParaRPr>
          </a:p>
          <a:p>
            <a:pPr algn="just" eaLnBrk="1" hangingPunct="1"/>
            <a:r>
              <a:rPr lang="zh-CN" altLang="en-US" b="1" dirty="0">
                <a:ea typeface="楷体_GB2312" pitchFamily="49" charset="-122"/>
              </a:rPr>
              <a:t>2.5 现代微型计算机中的数据表示举例</a:t>
            </a:r>
            <a:endParaRPr lang="zh-CN" altLang="en-US" b="1" dirty="0">
              <a:ea typeface="楷体_GB2312" pitchFamily="49" charset="-122"/>
            </a:endParaRPr>
          </a:p>
          <a:p>
            <a:pPr algn="just" eaLnBrk="1" hangingPunct="1"/>
            <a:r>
              <a:rPr lang="zh-CN" altLang="en-US" b="1" dirty="0">
                <a:ea typeface="楷体_GB2312" pitchFamily="49" charset="-122"/>
              </a:rPr>
              <a:t>2.6 数据校验码</a:t>
            </a:r>
            <a:endParaRPr lang="zh-CN" altLang="en-US" b="1" dirty="0">
              <a:ea typeface="楷体_GB2312"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0242" name="Rectangle 2"/>
          <p:cNvSpPr>
            <a:spLocks noGrp="1"/>
          </p:cNvSpPr>
          <p:nvPr>
            <p:ph type="title"/>
          </p:nvPr>
        </p:nvSpPr>
        <p:spPr>
          <a:xfrm>
            <a:off x="685800" y="304800"/>
            <a:ext cx="7772400" cy="1143000"/>
          </a:xfrm>
        </p:spPr>
        <p:txBody>
          <a:bodyPr vert="horz" wrap="square" lIns="91440" tIns="45720" rIns="91440" bIns="45720" anchor="ctr" anchorCtr="0"/>
          <a:p>
            <a:pPr algn="l" eaLnBrk="1" hangingPunct="1"/>
            <a:r>
              <a:rPr lang="zh-CN" altLang="en-US" sz="3200" u="sng" dirty="0">
                <a:solidFill>
                  <a:srgbClr val="0000FF"/>
                </a:solidFill>
                <a:latin typeface="楷体_GB2312" pitchFamily="49" charset="-122"/>
                <a:ea typeface="楷体_GB2312" pitchFamily="49" charset="-122"/>
              </a:rPr>
              <a:t>本章学习要求</a:t>
            </a:r>
            <a:endParaRPr lang="zh-CN" altLang="en-US" sz="4000" b="0" dirty="0">
              <a:solidFill>
                <a:srgbClr val="0000FF"/>
              </a:solidFill>
              <a:latin typeface="楷体_GB2312" pitchFamily="49" charset="-122"/>
              <a:ea typeface="楷体_GB2312" pitchFamily="49" charset="-122"/>
            </a:endParaRPr>
          </a:p>
        </p:txBody>
      </p:sp>
      <p:sp>
        <p:nvSpPr>
          <p:cNvPr id="10243" name="Rectangle 3"/>
          <p:cNvSpPr>
            <a:spLocks noGrp="1"/>
          </p:cNvSpPr>
          <p:nvPr>
            <p:ph idx="1"/>
          </p:nvPr>
        </p:nvSpPr>
        <p:spPr>
          <a:xfrm>
            <a:off x="685800" y="1143000"/>
            <a:ext cx="7924800" cy="5486400"/>
          </a:xfrm>
        </p:spPr>
        <p:txBody>
          <a:bodyPr vert="horz" wrap="square" lIns="91440" tIns="45720" rIns="91440" bIns="45720" anchor="t" anchorCtr="0"/>
          <a:p>
            <a:pPr algn="just" eaLnBrk="1" hangingPunct="1">
              <a:lnSpc>
                <a:spcPct val="90000"/>
              </a:lnSpc>
            </a:pPr>
            <a:r>
              <a:rPr lang="zh-CN" altLang="en-GB" sz="2800" b="1" dirty="0">
                <a:ea typeface="楷体_GB2312" pitchFamily="49" charset="-122"/>
              </a:rPr>
              <a:t>了解：</a:t>
            </a:r>
            <a:r>
              <a:rPr lang="zh-CN" altLang="en-US" sz="2800" b="1" dirty="0">
                <a:solidFill>
                  <a:srgbClr val="08080C"/>
                </a:solidFill>
                <a:ea typeface="楷体_GB2312" pitchFamily="49" charset="-122"/>
              </a:rPr>
              <a:t>无符号数与带符号数，真值和机器数等概念 </a:t>
            </a:r>
            <a:endParaRPr lang="zh-CN" altLang="en-US" sz="2800" b="1" dirty="0">
              <a:solidFill>
                <a:srgbClr val="08080C"/>
              </a:solidFill>
              <a:ea typeface="楷体_GB2312" pitchFamily="49" charset="-122"/>
            </a:endParaRPr>
          </a:p>
          <a:p>
            <a:pPr algn="just" eaLnBrk="1" hangingPunct="1">
              <a:lnSpc>
                <a:spcPct val="90000"/>
              </a:lnSpc>
            </a:pPr>
            <a:r>
              <a:rPr lang="zh-CN" altLang="en-US" sz="2800" b="1" dirty="0">
                <a:solidFill>
                  <a:srgbClr val="08080C"/>
                </a:solidFill>
                <a:ea typeface="楷体_GB2312" pitchFamily="49" charset="-122"/>
              </a:rPr>
              <a:t>掌握：原码、补码、反码表示法以及三种码制与真值之间的转换方法</a:t>
            </a:r>
            <a:r>
              <a:rPr lang="zh-CN" altLang="en-US" sz="2800" b="1" dirty="0">
                <a:ea typeface="楷体_GB2312" pitchFamily="49" charset="-122"/>
              </a:rPr>
              <a:t> </a:t>
            </a:r>
            <a:endParaRPr lang="zh-CN" altLang="en-US" sz="2800" b="1" dirty="0">
              <a:ea typeface="楷体_GB2312" pitchFamily="49" charset="-122"/>
            </a:endParaRPr>
          </a:p>
          <a:p>
            <a:pPr algn="just" eaLnBrk="1" hangingPunct="1">
              <a:lnSpc>
                <a:spcPct val="90000"/>
              </a:lnSpc>
            </a:pPr>
            <a:r>
              <a:rPr lang="zh-CN" altLang="en-US" sz="2800" b="1" dirty="0">
                <a:solidFill>
                  <a:srgbClr val="08080C"/>
                </a:solidFill>
                <a:ea typeface="楷体_GB2312" pitchFamily="49" charset="-122"/>
              </a:rPr>
              <a:t>掌握：定点数和浮点数的表示范围</a:t>
            </a:r>
            <a:endParaRPr lang="zh-CN" altLang="en-US" sz="2800" b="1" dirty="0">
              <a:solidFill>
                <a:srgbClr val="08080C"/>
              </a:solidFill>
              <a:ea typeface="楷体_GB2312" pitchFamily="49" charset="-122"/>
            </a:endParaRPr>
          </a:p>
          <a:p>
            <a:pPr algn="just" eaLnBrk="1" hangingPunct="1">
              <a:lnSpc>
                <a:spcPct val="90000"/>
              </a:lnSpc>
            </a:pPr>
            <a:r>
              <a:rPr lang="zh-CN" altLang="en-US" sz="2800" b="1" dirty="0">
                <a:solidFill>
                  <a:srgbClr val="08080C"/>
                </a:solidFill>
                <a:ea typeface="楷体_GB2312" pitchFamily="49" charset="-122"/>
              </a:rPr>
              <a:t>理解：浮点数阶码的移码</a:t>
            </a:r>
            <a:endParaRPr lang="zh-CN" altLang="en-US" sz="2800" b="1" dirty="0">
              <a:solidFill>
                <a:srgbClr val="08080C"/>
              </a:solidFill>
              <a:ea typeface="楷体_GB2312" pitchFamily="49" charset="-122"/>
            </a:endParaRPr>
          </a:p>
          <a:p>
            <a:pPr algn="just" eaLnBrk="1" hangingPunct="1">
              <a:lnSpc>
                <a:spcPct val="90000"/>
              </a:lnSpc>
            </a:pPr>
            <a:r>
              <a:rPr lang="zh-CN" altLang="en-US" sz="2800" b="1" dirty="0">
                <a:ea typeface="楷体_GB2312" pitchFamily="49" charset="-122"/>
              </a:rPr>
              <a:t>掌握：</a:t>
            </a:r>
            <a:r>
              <a:rPr lang="en-US" altLang="zh-CN" sz="2800" b="1" dirty="0">
                <a:solidFill>
                  <a:srgbClr val="08080C"/>
                </a:solidFill>
                <a:ea typeface="楷体_GB2312" pitchFamily="49" charset="-122"/>
              </a:rPr>
              <a:t>IEEE754</a:t>
            </a:r>
            <a:r>
              <a:rPr lang="zh-CN" altLang="en-US" sz="2800" b="1" dirty="0">
                <a:solidFill>
                  <a:srgbClr val="08080C"/>
                </a:solidFill>
                <a:ea typeface="楷体_GB2312" pitchFamily="49" charset="-122"/>
              </a:rPr>
              <a:t>浮点数标准和特点</a:t>
            </a:r>
            <a:endParaRPr lang="zh-CN" altLang="en-US" sz="2800" b="1" dirty="0">
              <a:solidFill>
                <a:srgbClr val="08080C"/>
              </a:solidFill>
              <a:ea typeface="楷体_GB2312" pitchFamily="49" charset="-122"/>
            </a:endParaRPr>
          </a:p>
          <a:p>
            <a:pPr algn="just" eaLnBrk="1" hangingPunct="1">
              <a:lnSpc>
                <a:spcPct val="90000"/>
              </a:lnSpc>
            </a:pPr>
            <a:r>
              <a:rPr lang="zh-CN" altLang="en-US" sz="2800" b="1" dirty="0">
                <a:solidFill>
                  <a:srgbClr val="08080C"/>
                </a:solidFill>
                <a:ea typeface="楷体_GB2312" pitchFamily="49" charset="-122"/>
              </a:rPr>
              <a:t>掌握：常见的字符编码方法（</a:t>
            </a:r>
            <a:r>
              <a:rPr lang="en-US" altLang="zh-CN" sz="2800" b="1" dirty="0">
                <a:solidFill>
                  <a:srgbClr val="08080C"/>
                </a:solidFill>
                <a:ea typeface="楷体_GB2312" pitchFamily="49" charset="-122"/>
              </a:rPr>
              <a:t>ASCII</a:t>
            </a:r>
            <a:r>
              <a:rPr lang="zh-CN" altLang="en-US" sz="2800" b="1" dirty="0">
                <a:solidFill>
                  <a:srgbClr val="08080C"/>
                </a:solidFill>
                <a:ea typeface="楷体_GB2312" pitchFamily="49" charset="-122"/>
              </a:rPr>
              <a:t>码）、汉字国标码、区位码、机内码、字型码</a:t>
            </a:r>
            <a:endParaRPr lang="zh-CN" altLang="en-US" sz="2800" b="1" dirty="0">
              <a:solidFill>
                <a:srgbClr val="08080C"/>
              </a:solidFill>
              <a:ea typeface="楷体_GB2312" pitchFamily="49" charset="-122"/>
            </a:endParaRPr>
          </a:p>
          <a:p>
            <a:pPr algn="just" eaLnBrk="1" hangingPunct="1">
              <a:lnSpc>
                <a:spcPct val="90000"/>
              </a:lnSpc>
            </a:pPr>
            <a:r>
              <a:rPr lang="zh-CN" altLang="en-US" sz="2800" b="1" dirty="0">
                <a:solidFill>
                  <a:srgbClr val="08080C"/>
                </a:solidFill>
                <a:ea typeface="楷体_GB2312" pitchFamily="49" charset="-122"/>
              </a:rPr>
              <a:t>掌握：8241码、2421码和余3码</a:t>
            </a:r>
            <a:endParaRPr lang="zh-CN" altLang="en-US" sz="2800" b="1" dirty="0">
              <a:solidFill>
                <a:srgbClr val="08080C"/>
              </a:solidFill>
              <a:ea typeface="楷体_GB2312" pitchFamily="49" charset="-122"/>
            </a:endParaRPr>
          </a:p>
          <a:p>
            <a:pPr algn="just" eaLnBrk="1" hangingPunct="1">
              <a:lnSpc>
                <a:spcPct val="90000"/>
              </a:lnSpc>
            </a:pPr>
            <a:r>
              <a:rPr lang="zh-CN" altLang="en-US" sz="2800" b="1" dirty="0">
                <a:solidFill>
                  <a:srgbClr val="08080C"/>
                </a:solidFill>
                <a:ea typeface="楷体_GB2312" pitchFamily="49" charset="-122"/>
              </a:rPr>
              <a:t>掌握：奇偶校验位及其形成方法</a:t>
            </a:r>
            <a:endParaRPr lang="zh-CN" altLang="en-US" sz="2800" b="1" dirty="0">
              <a:solidFill>
                <a:srgbClr val="08080C"/>
              </a:solidFill>
              <a:ea typeface="楷体_GB2312" pitchFamily="49" charset="-122"/>
            </a:endParaRPr>
          </a:p>
          <a:p>
            <a:pPr algn="just" eaLnBrk="1" hangingPunct="1">
              <a:lnSpc>
                <a:spcPct val="90000"/>
              </a:lnSpc>
            </a:pPr>
            <a:r>
              <a:rPr lang="zh-CN" altLang="en-US" sz="2800" b="1" dirty="0">
                <a:solidFill>
                  <a:srgbClr val="08080C"/>
                </a:solidFill>
                <a:ea typeface="楷体_GB2312" pitchFamily="49" charset="-122"/>
              </a:rPr>
              <a:t>了解：海明校验码和循环冗余校验码 </a:t>
            </a:r>
            <a:endParaRPr lang="zh-CN" altLang="en-US" sz="2800" b="1" dirty="0">
              <a:solidFill>
                <a:srgbClr val="08080C"/>
              </a:solidFill>
              <a:ea typeface="楷体_GB2312"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标题 1"/>
          <p:cNvSpPr>
            <a:spLocks noGrp="1"/>
          </p:cNvSpPr>
          <p:nvPr>
            <p:ph type="title"/>
          </p:nvPr>
        </p:nvSpPr>
        <p:spPr/>
        <p:txBody>
          <a:bodyPr anchor="ctr" anchorCtr="0"/>
          <a:p>
            <a:r>
              <a:rPr lang="zh-CN" altLang="en-US"/>
              <a:t>数据表示</a:t>
            </a:r>
            <a:endParaRPr lang="zh-CN" altLang="en-US"/>
          </a:p>
        </p:txBody>
      </p:sp>
      <p:sp>
        <p:nvSpPr>
          <p:cNvPr id="3" name="内容占位符 2"/>
          <p:cNvSpPr>
            <a:spLocks noGrp="1"/>
          </p:cNvSpPr>
          <p:nvPr>
            <p:ph idx="1"/>
          </p:nvPr>
        </p:nvSpPr>
        <p:spPr/>
        <p:txBody>
          <a:bodyPr/>
          <a:p>
            <a:pPr marL="342900" marR="0" indent="-342900" algn="l" defTabSz="914400" rtl="0" eaLnBrk="0" fontAlgn="base" latinLnBrk="0" hangingPunct="0">
              <a:lnSpc>
                <a:spcPct val="100000"/>
              </a:lnSpc>
              <a:spcBef>
                <a:spcPct val="20000"/>
              </a:spcBef>
              <a:spcAft>
                <a:spcPct val="0"/>
              </a:spcAft>
              <a:buClrTx/>
              <a:buSzTx/>
              <a:buFontTx/>
              <a:buChar char="•"/>
            </a:pPr>
            <a:r>
              <a:rPr kumimoji="1" lang="zh-CN" altLang="en-US" sz="3200" b="0" i="0" u="none" strike="noStrike" kern="0" cap="none" spc="0" normalizeH="0" baseline="0" noProof="1">
                <a:solidFill>
                  <a:schemeClr val="tx1"/>
                </a:solidFill>
                <a:latin typeface="+mn-lt"/>
                <a:ea typeface="+mn-ea"/>
                <a:cs typeface="+mn-cs"/>
              </a:rPr>
              <a:t>数据：</a:t>
            </a:r>
            <a:r>
              <a:rPr kumimoji="1" lang="zh-CN" altLang="en-US" sz="3200" b="0" i="0" u="none" strike="noStrike" kern="0" cap="none" spc="0" normalizeH="0" baseline="0" noProof="1">
                <a:solidFill>
                  <a:srgbClr val="FF0000"/>
                </a:solidFill>
                <a:latin typeface="+mn-lt"/>
                <a:ea typeface="+mn-ea"/>
                <a:cs typeface="+mn-cs"/>
              </a:rPr>
              <a:t>是对客观事物的抽象的表示与描述，包括文字、图像、音响、字符、数值、音频、视频等</a:t>
            </a:r>
            <a:r>
              <a:rPr kumimoji="1" lang="zh-CN" altLang="en-US" sz="3200" b="0" i="0" u="none" strike="noStrike" kern="0" cap="none" spc="0" normalizeH="0" baseline="0" noProof="1">
                <a:solidFill>
                  <a:schemeClr val="tx1"/>
                </a:solidFill>
                <a:latin typeface="+mn-lt"/>
                <a:ea typeface="+mn-ea"/>
                <a:cs typeface="+mn-cs"/>
              </a:rPr>
              <a:t>。</a:t>
            </a:r>
            <a:endParaRPr kumimoji="1" lang="zh-CN" altLang="en-US" sz="3200" b="0" i="0" u="none" strike="noStrike" kern="0" cap="none" spc="0" normalizeH="0" baseline="0" noProof="1">
              <a:solidFill>
                <a:schemeClr val="tx1"/>
              </a:solidFill>
              <a:latin typeface="+mn-lt"/>
              <a:ea typeface="+mn-ea"/>
              <a:cs typeface="+mn-cs"/>
            </a:endParaRPr>
          </a:p>
          <a:p>
            <a:pPr marL="342900" marR="0" indent="-342900" algn="l" defTabSz="914400" rtl="0" eaLnBrk="0" fontAlgn="base" latinLnBrk="0" hangingPunct="0">
              <a:lnSpc>
                <a:spcPct val="100000"/>
              </a:lnSpc>
              <a:spcBef>
                <a:spcPct val="20000"/>
              </a:spcBef>
              <a:spcAft>
                <a:spcPct val="0"/>
              </a:spcAft>
              <a:buClrTx/>
              <a:buSzTx/>
              <a:buFontTx/>
              <a:buChar char="•"/>
            </a:pPr>
            <a:r>
              <a:rPr kumimoji="1" lang="zh-CN" altLang="en-US" sz="3200" b="0" i="0" u="none" strike="noStrike" kern="0" cap="none" spc="0" normalizeH="0" baseline="0" noProof="1">
                <a:solidFill>
                  <a:schemeClr val="tx1"/>
                </a:solidFill>
                <a:latin typeface="+mn-lt"/>
                <a:ea typeface="+mn-ea"/>
                <a:cs typeface="+mn-cs"/>
              </a:rPr>
              <a:t>从应用而言</a:t>
            </a:r>
            <a:r>
              <a:rPr kumimoji="1" lang="en-US" altLang="zh-CN" sz="3200" b="0" i="0" u="none" strike="noStrike" kern="0" cap="none" spc="0" normalizeH="0" baseline="0" noProof="1">
                <a:solidFill>
                  <a:schemeClr val="tx1"/>
                </a:solidFill>
                <a:latin typeface="+mn-lt"/>
                <a:ea typeface="+mn-ea"/>
                <a:cs typeface="+mn-cs"/>
              </a:rPr>
              <a:t>——</a:t>
            </a:r>
            <a:r>
              <a:rPr kumimoji="1" lang="zh-CN" altLang="en-US" sz="3200" b="0" i="0" u="none" strike="noStrike" kern="0" cap="none" spc="0" normalizeH="0" baseline="0" noProof="1">
                <a:solidFill>
                  <a:schemeClr val="tx1"/>
                </a:solidFill>
                <a:latin typeface="+mn-lt"/>
                <a:ea typeface="+mn-ea"/>
                <a:cs typeface="+mn-cs"/>
              </a:rPr>
              <a:t>数值数据与非</a:t>
            </a:r>
            <a:r>
              <a:rPr kumimoji="1" lang="zh-CN" altLang="en-US" sz="3200" b="0" i="0" u="none" strike="noStrike" kern="0" cap="none" spc="0" normalizeH="0" baseline="0" noProof="1">
                <a:solidFill>
                  <a:schemeClr val="tx1"/>
                </a:solidFill>
                <a:latin typeface="+mn-lt"/>
                <a:ea typeface="+mn-ea"/>
                <a:cs typeface="+mn-cs"/>
                <a:sym typeface="+mn-ea"/>
              </a:rPr>
              <a:t>数</a:t>
            </a:r>
            <a:r>
              <a:rPr kumimoji="1" lang="zh-CN" altLang="en-US" sz="3200" b="0" i="0" u="none" strike="noStrike" kern="0" cap="none" spc="0" normalizeH="0" baseline="0" noProof="1">
                <a:solidFill>
                  <a:schemeClr val="tx1"/>
                </a:solidFill>
                <a:latin typeface="+mn-lt"/>
                <a:ea typeface="+mn-ea"/>
                <a:cs typeface="+mn-cs"/>
                <a:sym typeface="+mn-ea"/>
              </a:rPr>
              <a:t>值数据</a:t>
            </a:r>
            <a:endParaRPr kumimoji="1" lang="zh-CN" altLang="en-US" sz="3200" b="0" i="0" u="none" strike="noStrike" kern="0" cap="none" spc="0" normalizeH="0" baseline="0" noProof="1">
              <a:solidFill>
                <a:schemeClr val="tx1"/>
              </a:solidFill>
              <a:latin typeface="+mn-lt"/>
              <a:ea typeface="+mn-ea"/>
              <a:cs typeface="+mn-cs"/>
              <a:sym typeface="+mn-ea"/>
            </a:endParaRPr>
          </a:p>
          <a:p>
            <a:pPr marL="0" marR="0" indent="0" algn="l" defTabSz="914400" rtl="0" eaLnBrk="0" fontAlgn="base" latinLnBrk="0" hangingPunct="0">
              <a:lnSpc>
                <a:spcPct val="100000"/>
              </a:lnSpc>
              <a:spcBef>
                <a:spcPct val="20000"/>
              </a:spcBef>
              <a:spcAft>
                <a:spcPct val="0"/>
              </a:spcAft>
              <a:buClrTx/>
              <a:buSzTx/>
              <a:buFontTx/>
              <a:buNone/>
            </a:pPr>
            <a:r>
              <a:rPr kumimoji="1" lang="zh-CN" altLang="en-US" sz="3200" b="0" i="0" u="none" strike="noStrike" kern="0" cap="none" spc="0" normalizeH="0" baseline="0" noProof="1">
                <a:solidFill>
                  <a:schemeClr val="tx1"/>
                </a:solidFill>
                <a:latin typeface="+mn-lt"/>
                <a:ea typeface="+mn-ea"/>
                <a:cs typeface="+mn-cs"/>
                <a:sym typeface="+mn-ea"/>
              </a:rPr>
              <a:t>数值数据</a:t>
            </a:r>
            <a:r>
              <a:rPr kumimoji="1" lang="en-US" altLang="zh-CN" sz="3200" b="0" i="0" u="none" strike="noStrike" kern="0" cap="none" spc="0" normalizeH="0" baseline="0" noProof="1">
                <a:solidFill>
                  <a:schemeClr val="tx1"/>
                </a:solidFill>
                <a:latin typeface="+mn-lt"/>
                <a:ea typeface="+mn-ea"/>
                <a:cs typeface="+mn-cs"/>
                <a:sym typeface="+mn-ea"/>
              </a:rPr>
              <a:t>——</a:t>
            </a:r>
            <a:r>
              <a:rPr kumimoji="1" lang="en-US" altLang="zh-CN" sz="3200" b="0" i="0" u="none" strike="noStrike" kern="0" cap="none" spc="0" normalizeH="0" baseline="0" noProof="1">
                <a:solidFill>
                  <a:srgbClr val="FF0000"/>
                </a:solidFill>
                <a:latin typeface="+mn-lt"/>
                <a:ea typeface="+mn-ea"/>
                <a:cs typeface="+mn-cs"/>
                <a:sym typeface="+mn-ea"/>
              </a:rPr>
              <a:t>0~9</a:t>
            </a:r>
            <a:r>
              <a:rPr kumimoji="1" lang="zh-CN" altLang="en-US" sz="3200" b="0" i="0" u="none" strike="noStrike" kern="0" cap="none" spc="0" normalizeH="0" baseline="0" noProof="1">
                <a:solidFill>
                  <a:srgbClr val="FF0000"/>
                </a:solidFill>
                <a:latin typeface="+mn-lt"/>
                <a:ea typeface="+mn-ea"/>
                <a:cs typeface="+mn-cs"/>
                <a:sym typeface="+mn-ea"/>
              </a:rPr>
              <a:t>、正负号、小数点</a:t>
            </a:r>
            <a:endParaRPr kumimoji="1" lang="zh-CN" altLang="en-US" sz="3200" b="0" i="0" u="none" strike="noStrike" kern="0" cap="none" spc="0" normalizeH="0" baseline="0" noProof="1">
              <a:solidFill>
                <a:srgbClr val="FF0000"/>
              </a:solidFill>
              <a:latin typeface="+mn-lt"/>
              <a:ea typeface="+mn-ea"/>
              <a:cs typeface="+mn-cs"/>
              <a:sym typeface="+mn-ea"/>
            </a:endParaRPr>
          </a:p>
          <a:p>
            <a:pPr marL="0" marR="0" indent="0" algn="l" defTabSz="914400" rtl="0" eaLnBrk="0" fontAlgn="base" latinLnBrk="0" hangingPunct="0">
              <a:lnSpc>
                <a:spcPct val="100000"/>
              </a:lnSpc>
              <a:spcBef>
                <a:spcPct val="20000"/>
              </a:spcBef>
              <a:spcAft>
                <a:spcPct val="0"/>
              </a:spcAft>
              <a:buClrTx/>
              <a:buSzTx/>
              <a:buFontTx/>
              <a:buNone/>
            </a:pPr>
            <a:r>
              <a:rPr kumimoji="1" lang="zh-CN" altLang="en-US" sz="3200" b="0" i="0" u="none" strike="noStrike" kern="0" cap="none" spc="0" normalizeH="0" baseline="0" noProof="1">
                <a:solidFill>
                  <a:schemeClr val="tx1"/>
                </a:solidFill>
                <a:latin typeface="+mn-lt"/>
                <a:ea typeface="+mn-ea"/>
                <a:cs typeface="+mn-cs"/>
                <a:sym typeface="+mn-ea"/>
              </a:rPr>
              <a:t>非</a:t>
            </a:r>
            <a:r>
              <a:rPr kumimoji="1" lang="zh-CN" altLang="en-US" sz="3200" b="0" i="0" u="none" strike="noStrike" kern="0" cap="none" spc="0" normalizeH="0" baseline="0" noProof="1">
                <a:solidFill>
                  <a:schemeClr val="tx1"/>
                </a:solidFill>
                <a:latin typeface="+mn-lt"/>
                <a:ea typeface="+mn-ea"/>
                <a:cs typeface="+mn-cs"/>
                <a:sym typeface="+mn-ea"/>
              </a:rPr>
              <a:t>数值数据</a:t>
            </a:r>
            <a:r>
              <a:rPr kumimoji="1" lang="en-US" altLang="zh-CN" sz="3200" b="0" i="0" u="none" strike="noStrike" kern="0" cap="none" spc="0" normalizeH="0" baseline="0" noProof="1">
                <a:solidFill>
                  <a:schemeClr val="tx1"/>
                </a:solidFill>
                <a:latin typeface="+mn-lt"/>
                <a:ea typeface="+mn-ea"/>
                <a:cs typeface="+mn-cs"/>
                <a:sym typeface="+mn-ea"/>
              </a:rPr>
              <a:t>——</a:t>
            </a:r>
            <a:r>
              <a:rPr kumimoji="1" lang="zh-CN" altLang="en-US" sz="3200" b="0" i="0" u="none" strike="noStrike" kern="0" cap="none" spc="0" normalizeH="0" baseline="0" noProof="1">
                <a:solidFill>
                  <a:schemeClr val="tx1"/>
                </a:solidFill>
                <a:latin typeface="+mn-lt"/>
                <a:ea typeface="+mn-ea"/>
                <a:cs typeface="+mn-cs"/>
                <a:sym typeface="+mn-ea"/>
              </a:rPr>
              <a:t>描述特定意义数据：</a:t>
            </a:r>
            <a:r>
              <a:rPr kumimoji="1" lang="zh-CN" altLang="en-US" sz="3200" b="0" i="0" u="none" strike="noStrike" kern="0" cap="none" spc="0" normalizeH="0" baseline="0" noProof="1">
                <a:solidFill>
                  <a:srgbClr val="FF0000"/>
                </a:solidFill>
                <a:latin typeface="+mn-lt"/>
                <a:ea typeface="+mn-ea"/>
                <a:cs typeface="+mn-cs"/>
                <a:sym typeface="+mn-ea"/>
              </a:rPr>
              <a:t>文字、图像、音响、字符、音频、视频等</a:t>
            </a:r>
            <a:endParaRPr kumimoji="1" lang="zh-CN" altLang="en-US" sz="3200" b="0" i="0" u="none" strike="noStrike" kern="0" cap="none" spc="0" normalizeH="0" baseline="0" noProof="1">
              <a:solidFill>
                <a:schemeClr val="tx1"/>
              </a:solidFill>
              <a:latin typeface="+mn-lt"/>
              <a:ea typeface="+mn-ea"/>
              <a:cs typeface="+mn-cs"/>
              <a:sym typeface="+mn-ea"/>
            </a:endParaRPr>
          </a:p>
          <a:p>
            <a:pPr marL="342900" marR="0" indent="-342900" algn="l" defTabSz="914400" rtl="0" eaLnBrk="0" fontAlgn="base" latinLnBrk="0" hangingPunct="0">
              <a:lnSpc>
                <a:spcPct val="100000"/>
              </a:lnSpc>
              <a:spcBef>
                <a:spcPct val="20000"/>
              </a:spcBef>
              <a:spcAft>
                <a:spcPct val="0"/>
              </a:spcAft>
              <a:buClrTx/>
              <a:buSzTx/>
              <a:buFontTx/>
              <a:buChar char="•"/>
            </a:pPr>
            <a:endParaRPr kumimoji="1" lang="zh-CN" altLang="en-US" sz="3200" b="0" i="0" u="none" strike="noStrike" kern="0" cap="none" spc="0" normalizeH="0" baseline="0" noProof="1">
              <a:solidFill>
                <a:schemeClr val="tx1"/>
              </a:solidFill>
              <a:latin typeface="+mn-lt"/>
              <a:ea typeface="+mn-ea"/>
              <a:cs typeface="+mn-cs"/>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2290" name="Rectangle 2"/>
          <p:cNvSpPr>
            <a:spLocks noGrp="1"/>
          </p:cNvSpPr>
          <p:nvPr>
            <p:ph type="title"/>
          </p:nvPr>
        </p:nvSpPr>
        <p:spPr>
          <a:xfrm>
            <a:off x="755650" y="476250"/>
            <a:ext cx="7772400" cy="1143000"/>
          </a:xfrm>
        </p:spPr>
        <p:txBody>
          <a:bodyPr vert="horz" wrap="square" lIns="91440" tIns="45720" rIns="91440" bIns="45720" anchor="ctr" anchorCtr="0"/>
          <a:p>
            <a:pPr algn="l" eaLnBrk="1" hangingPunct="1"/>
            <a:r>
              <a:rPr lang="zh-CN" altLang="en-US" sz="4000" dirty="0">
                <a:solidFill>
                  <a:srgbClr val="0000FF"/>
                </a:solidFill>
                <a:latin typeface="华文新魏" panose="02010800040101010101" pitchFamily="2" charset="-122"/>
                <a:ea typeface="华文新魏" panose="02010800040101010101" pitchFamily="2" charset="-122"/>
              </a:rPr>
              <a:t>2.1  数值数据的表示</a:t>
            </a:r>
            <a:endParaRPr lang="en-US" altLang="zh-CN" sz="4000" dirty="0">
              <a:solidFill>
                <a:srgbClr val="0000FF"/>
              </a:solidFill>
              <a:latin typeface="华文新魏" panose="02010800040101010101" pitchFamily="2" charset="-122"/>
              <a:ea typeface="华文新魏" panose="02010800040101010101" pitchFamily="2" charset="-122"/>
            </a:endParaRPr>
          </a:p>
        </p:txBody>
      </p:sp>
      <p:sp>
        <p:nvSpPr>
          <p:cNvPr id="12291" name="Rectangle 3"/>
          <p:cNvSpPr>
            <a:spLocks noGrp="1"/>
          </p:cNvSpPr>
          <p:nvPr>
            <p:ph idx="1"/>
          </p:nvPr>
        </p:nvSpPr>
        <p:spPr>
          <a:xfrm>
            <a:off x="762000" y="1905000"/>
            <a:ext cx="7772400" cy="3962400"/>
          </a:xfrm>
        </p:spPr>
        <p:txBody>
          <a:bodyPr vert="horz" wrap="square" lIns="91440" tIns="45720" rIns="91440" bIns="45720" anchor="t" anchorCtr="0"/>
          <a:p>
            <a:pPr marL="0" algn="just">
              <a:spcBef>
                <a:spcPct val="0"/>
              </a:spcBef>
              <a:buNone/>
            </a:pPr>
            <a:r>
              <a:rPr lang="en-US" altLang="zh-CN" b="1" dirty="0">
                <a:ea typeface="楷体_GB2312" pitchFamily="49" charset="-122"/>
              </a:rPr>
              <a:t>        </a:t>
            </a:r>
            <a:r>
              <a:rPr lang="zh-CN" altLang="en-US" b="1" dirty="0">
                <a:ea typeface="楷体_GB2312" pitchFamily="49" charset="-122"/>
              </a:rPr>
              <a:t>在计算机中，采用数字化方式来表示数据，数据有无符号数和带符号数之分，其中带符号数根据其编码的不同又有原码、补码和反码3种形式。</a:t>
            </a:r>
            <a:endParaRPr lang="zh-CN" altLang="en-US" b="1" dirty="0">
              <a:ea typeface="楷体_GB2312"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标题 1"/>
          <p:cNvSpPr>
            <a:spLocks noGrp="1"/>
          </p:cNvSpPr>
          <p:nvPr>
            <p:ph type="title"/>
          </p:nvPr>
        </p:nvSpPr>
        <p:spPr/>
        <p:txBody>
          <a:bodyPr anchor="ctr" anchorCtr="0"/>
          <a:p>
            <a:r>
              <a:rPr lang="zh-CN" altLang="en-US"/>
              <a:t>数制</a:t>
            </a:r>
            <a:endParaRPr lang="zh-CN" altLang="en-US"/>
          </a:p>
        </p:txBody>
      </p:sp>
      <p:sp>
        <p:nvSpPr>
          <p:cNvPr id="13314" name="内容占位符 2"/>
          <p:cNvSpPr>
            <a:spLocks noGrp="1"/>
          </p:cNvSpPr>
          <p:nvPr>
            <p:ph idx="1"/>
          </p:nvPr>
        </p:nvSpPr>
        <p:spPr/>
        <p:txBody>
          <a:bodyPr anchor="t" anchorCtr="0"/>
          <a:p>
            <a:r>
              <a:rPr lang="zh-CN" altLang="en-US"/>
              <a:t>数制：是应用</a:t>
            </a:r>
            <a:r>
              <a:rPr lang="zh-CN" altLang="en-US">
                <a:solidFill>
                  <a:srgbClr val="FF0000"/>
                </a:solidFill>
              </a:rPr>
              <a:t>规定的数字符号</a:t>
            </a:r>
            <a:r>
              <a:rPr lang="zh-CN" altLang="en-US"/>
              <a:t>表示数据的方式。</a:t>
            </a:r>
            <a:endParaRPr lang="zh-CN" altLang="en-US"/>
          </a:p>
          <a:p>
            <a:r>
              <a:rPr lang="zh-CN" altLang="en-US"/>
              <a:t>计算机中应用：</a:t>
            </a:r>
            <a:r>
              <a:rPr lang="zh-CN" altLang="en-US">
                <a:solidFill>
                  <a:srgbClr val="FF0000"/>
                </a:solidFill>
              </a:rPr>
              <a:t>二、八、十、十六进制</a:t>
            </a:r>
            <a:r>
              <a:rPr lang="zh-CN" altLang="en-US"/>
              <a:t>描述数据。</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4338" name="Rectangle 2"/>
          <p:cNvSpPr>
            <a:spLocks noGrp="1"/>
          </p:cNvSpPr>
          <p:nvPr>
            <p:ph type="title"/>
          </p:nvPr>
        </p:nvSpPr>
        <p:spPr>
          <a:xfrm>
            <a:off x="762000" y="174625"/>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2.1.1 计算机中的数值数据</a:t>
            </a:r>
            <a:endParaRPr lang="en-US" altLang="zh-CN" sz="3600" dirty="0">
              <a:solidFill>
                <a:srgbClr val="0000FF"/>
              </a:solidFill>
              <a:latin typeface="楷体_GB2312" pitchFamily="49" charset="-122"/>
              <a:ea typeface="楷体_GB2312" pitchFamily="49" charset="-122"/>
            </a:endParaRPr>
          </a:p>
        </p:txBody>
      </p:sp>
      <p:sp>
        <p:nvSpPr>
          <p:cNvPr id="386051" name="Rectangle 3"/>
          <p:cNvSpPr>
            <a:spLocks noGrp="1" noChangeArrowheads="1"/>
          </p:cNvSpPr>
          <p:nvPr>
            <p:ph idx="1"/>
          </p:nvPr>
        </p:nvSpPr>
        <p:spPr>
          <a:xfrm>
            <a:off x="755650" y="1414463"/>
            <a:ext cx="7772400" cy="3962400"/>
          </a:xfrm>
        </p:spPr>
        <p:txBody>
          <a:bodyPr vert="horz" wrap="square" lIns="91440" tIns="45720" rIns="91440" bIns="45720" numCol="1" anchor="t" anchorCtr="0" compatLnSpc="1"/>
          <a:lstStyle/>
          <a:p>
            <a:pPr marL="0" marR="0" lvl="0" indent="-342900" algn="just" defTabSz="914400" rtl="0" eaLnBrk="0" fontAlgn="base" latinLnBrk="0" hangingPunct="0">
              <a:lnSpc>
                <a:spcPct val="100000"/>
              </a:lnSpc>
              <a:spcBef>
                <a:spcPct val="0"/>
              </a:spcBef>
              <a:spcAft>
                <a:spcPct val="0"/>
              </a:spcAft>
              <a:buClrTx/>
              <a:buSzTx/>
              <a:buFontTx/>
              <a:buChar char="•"/>
              <a:defRPr/>
            </a:pP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rPr>
              <a:t>二进制数：由</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rPr>
              <a:t>0</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rPr>
              <a:t>和</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rPr>
              <a:t>1</a:t>
            </a: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rPr>
              <a:t>表示，后缀</a:t>
            </a:r>
            <a:r>
              <a:rPr kumimoji="1" lang="en-US" altLang="zh-CN" sz="2800" b="1" i="0" u="none" strike="noStrike" kern="0" cap="none" spc="0" normalizeH="0" baseline="0" noProof="0" dirty="0" smtClean="0">
                <a:ln>
                  <a:noFill/>
                </a:ln>
                <a:solidFill>
                  <a:schemeClr val="tx1"/>
                </a:solidFill>
                <a:effectLst/>
                <a:uLnTx/>
                <a:uFillTx/>
                <a:latin typeface="+mn-lt"/>
                <a:ea typeface="楷体_GB2312" pitchFamily="49" charset="-122"/>
                <a:cs typeface="+mn-cs"/>
              </a:rPr>
              <a:t>B</a:t>
            </a: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rPr>
              <a:t>或（ ）</a:t>
            </a:r>
            <a:r>
              <a:rPr kumimoji="1" lang="en-US" altLang="zh-CN" sz="2800" b="1" i="0" u="none" strike="noStrike" kern="0" cap="none" spc="0" normalizeH="0" baseline="-25000" noProof="0" dirty="0" smtClean="0">
                <a:ln>
                  <a:noFill/>
                </a:ln>
                <a:solidFill>
                  <a:schemeClr val="tx1"/>
                </a:solidFill>
                <a:effectLst/>
                <a:uLnTx/>
                <a:uFillTx/>
                <a:latin typeface="+mn-lt"/>
                <a:ea typeface="楷体_GB2312" pitchFamily="49" charset="-122"/>
                <a:cs typeface="+mn-cs"/>
              </a:rPr>
              <a:t>2</a:t>
            </a:r>
            <a:endParaRPr kumimoji="1" lang="en-US" altLang="zh-CN" sz="2800" b="1" i="0" u="none" strike="noStrike" kern="0" cap="none" spc="0" normalizeH="0" baseline="0" noProof="0" dirty="0" smtClean="0">
              <a:ln>
                <a:noFill/>
              </a:ln>
              <a:solidFill>
                <a:schemeClr val="tx1"/>
              </a:solidFill>
              <a:effectLst/>
              <a:uLnTx/>
              <a:uFillTx/>
              <a:latin typeface="+mn-lt"/>
              <a:ea typeface="楷体_GB2312" pitchFamily="49" charset="-122"/>
              <a:cs typeface="+mn-cs"/>
            </a:endParaRPr>
          </a:p>
          <a:p>
            <a:pPr marL="0" marR="0" lvl="0" indent="-342900" algn="just" defTabSz="914400" rtl="0" eaLnBrk="0" fontAlgn="base" latinLnBrk="0" hangingPunct="0">
              <a:lnSpc>
                <a:spcPct val="100000"/>
              </a:lnSpc>
              <a:spcBef>
                <a:spcPct val="0"/>
              </a:spcBef>
              <a:spcAft>
                <a:spcPct val="0"/>
              </a:spcAft>
              <a:buClrTx/>
              <a:buSzTx/>
              <a:buFontTx/>
              <a:buChar char="•"/>
              <a:defRPr/>
            </a:pP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rPr>
              <a:t>八进制数：</a:t>
            </a: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sym typeface="+mn-ea"/>
              </a:rPr>
              <a:t>由</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0</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1</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2</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3</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4</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5</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6</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7</a:t>
            </a: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sym typeface="+mn-ea"/>
              </a:rPr>
              <a:t>表示，</a:t>
            </a: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rPr>
              <a:t>后缀</a:t>
            </a:r>
            <a:r>
              <a:rPr kumimoji="1" lang="en-US" altLang="zh-CN" sz="2800" b="1" i="0" u="none" strike="noStrike" kern="0" cap="none" spc="0" normalizeH="0" baseline="0" noProof="0" dirty="0" smtClean="0">
                <a:ln>
                  <a:noFill/>
                </a:ln>
                <a:solidFill>
                  <a:schemeClr val="tx1"/>
                </a:solidFill>
                <a:effectLst/>
                <a:uLnTx/>
                <a:uFillTx/>
                <a:latin typeface="+mn-lt"/>
                <a:ea typeface="楷体_GB2312" pitchFamily="49" charset="-122"/>
                <a:cs typeface="+mn-cs"/>
              </a:rPr>
              <a:t>Q</a:t>
            </a: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sym typeface="+mn-ea"/>
              </a:rPr>
              <a:t>或（ ）</a:t>
            </a:r>
            <a:r>
              <a:rPr kumimoji="1" lang="en-US" altLang="zh-CN" sz="2800" b="1" i="0" u="none" strike="noStrike" kern="0" cap="none" spc="0" normalizeH="0" baseline="-25000" noProof="0" dirty="0" smtClean="0">
                <a:ln>
                  <a:noFill/>
                </a:ln>
                <a:solidFill>
                  <a:schemeClr val="tx1"/>
                </a:solidFill>
                <a:effectLst/>
                <a:uLnTx/>
                <a:uFillTx/>
                <a:latin typeface="+mn-lt"/>
                <a:ea typeface="楷体_GB2312" pitchFamily="49" charset="-122"/>
                <a:cs typeface="+mn-cs"/>
                <a:sym typeface="+mn-ea"/>
              </a:rPr>
              <a:t>8</a:t>
            </a:r>
            <a:endParaRPr kumimoji="1" lang="en-US" altLang="zh-CN" sz="2800" b="1" i="0" u="none" strike="noStrike" kern="0" cap="none" spc="0" normalizeH="0" baseline="0" noProof="0" dirty="0" smtClean="0">
              <a:ln>
                <a:noFill/>
              </a:ln>
              <a:solidFill>
                <a:schemeClr val="tx1"/>
              </a:solidFill>
              <a:effectLst/>
              <a:uLnTx/>
              <a:uFillTx/>
              <a:latin typeface="+mn-lt"/>
              <a:ea typeface="楷体_GB2312" pitchFamily="49" charset="-122"/>
              <a:cs typeface="+mn-cs"/>
            </a:endParaRPr>
          </a:p>
          <a:p>
            <a:pPr marL="0" marR="0" lvl="0" indent="-342900" algn="just" defTabSz="914400" rtl="0" eaLnBrk="0" fontAlgn="base" latinLnBrk="0" hangingPunct="0">
              <a:lnSpc>
                <a:spcPct val="100000"/>
              </a:lnSpc>
              <a:spcBef>
                <a:spcPct val="0"/>
              </a:spcBef>
              <a:spcAft>
                <a:spcPct val="0"/>
              </a:spcAft>
              <a:buClrTx/>
              <a:buSzTx/>
              <a:buFontTx/>
              <a:buChar char="•"/>
              <a:defRPr/>
            </a:pP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rPr>
              <a:t>十进制数：</a:t>
            </a: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sym typeface="+mn-ea"/>
              </a:rPr>
              <a:t>由</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0</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1</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2</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3</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4</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5</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6</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7</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8</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9</a:t>
            </a: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sym typeface="+mn-ea"/>
              </a:rPr>
              <a:t>表示，</a:t>
            </a: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rPr>
              <a:t>后缀</a:t>
            </a:r>
            <a:r>
              <a:rPr kumimoji="1" lang="en-US" altLang="zh-CN" sz="2800" b="1" i="0" u="none" strike="noStrike" kern="0" cap="none" spc="0" normalizeH="0" baseline="0" noProof="0" dirty="0" smtClean="0">
                <a:ln>
                  <a:noFill/>
                </a:ln>
                <a:solidFill>
                  <a:schemeClr val="tx1"/>
                </a:solidFill>
                <a:effectLst/>
                <a:uLnTx/>
                <a:uFillTx/>
                <a:latin typeface="+mn-lt"/>
                <a:ea typeface="楷体_GB2312" pitchFamily="49" charset="-122"/>
                <a:cs typeface="+mn-cs"/>
              </a:rPr>
              <a:t>D</a:t>
            </a: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rPr>
              <a:t>或省略后缀</a:t>
            </a: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sym typeface="+mn-ea"/>
              </a:rPr>
              <a:t>或（ ）</a:t>
            </a:r>
            <a:r>
              <a:rPr kumimoji="1" lang="en-US" altLang="zh-CN" sz="2800" b="1" i="0" u="none" strike="noStrike" kern="0" cap="none" spc="0" normalizeH="0" baseline="-25000" noProof="0" dirty="0" smtClean="0">
                <a:ln>
                  <a:noFill/>
                </a:ln>
                <a:solidFill>
                  <a:schemeClr val="tx1"/>
                </a:solidFill>
                <a:effectLst/>
                <a:uLnTx/>
                <a:uFillTx/>
                <a:latin typeface="+mn-lt"/>
                <a:ea typeface="楷体_GB2312" pitchFamily="49" charset="-122"/>
                <a:cs typeface="+mn-cs"/>
                <a:sym typeface="+mn-ea"/>
              </a:rPr>
              <a:t>10</a:t>
            </a:r>
            <a:endParaRPr kumimoji="1" lang="en-US" altLang="zh-CN" sz="2800" b="1" i="0" u="none" strike="noStrike" kern="0" cap="none" spc="0" normalizeH="0" baseline="0" noProof="0" dirty="0" smtClean="0">
              <a:ln>
                <a:noFill/>
              </a:ln>
              <a:solidFill>
                <a:schemeClr val="tx1"/>
              </a:solidFill>
              <a:effectLst/>
              <a:uLnTx/>
              <a:uFillTx/>
              <a:latin typeface="+mn-lt"/>
              <a:ea typeface="楷体_GB2312" pitchFamily="49"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rPr>
              <a:t>十六进制数：</a:t>
            </a: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sym typeface="+mn-ea"/>
              </a:rPr>
              <a:t>由</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0</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1</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2</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3</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4</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5</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6</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7</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8</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9</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B</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C</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D</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E</a:t>
            </a:r>
            <a:r>
              <a:rPr kumimoji="1" lang="zh-CN" altLang="en-US"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a:t>
            </a:r>
            <a:r>
              <a:rPr kumimoji="1" lang="en-US" altLang="zh-CN" sz="2800" b="1" i="0" u="none" strike="noStrike" kern="0" cap="none" spc="0" normalizeH="0" baseline="0" noProof="0" dirty="0" smtClean="0">
                <a:ln>
                  <a:noFill/>
                </a:ln>
                <a:solidFill>
                  <a:srgbClr val="FF0000"/>
                </a:solidFill>
                <a:effectLst/>
                <a:uLnTx/>
                <a:uFillTx/>
                <a:latin typeface="+mn-lt"/>
                <a:ea typeface="楷体_GB2312" pitchFamily="49" charset="-122"/>
                <a:cs typeface="+mn-cs"/>
                <a:sym typeface="+mn-ea"/>
              </a:rPr>
              <a:t>F</a:t>
            </a: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sym typeface="+mn-ea"/>
              </a:rPr>
              <a:t>表示，</a:t>
            </a: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rPr>
              <a:t>后缀</a:t>
            </a:r>
            <a:r>
              <a:rPr kumimoji="1" lang="en-US" altLang="zh-CN" sz="2800" b="1" i="0" u="none" strike="noStrike" kern="0" cap="none" spc="0" normalizeH="0" baseline="0" noProof="0" dirty="0" smtClean="0">
                <a:ln>
                  <a:noFill/>
                </a:ln>
                <a:solidFill>
                  <a:schemeClr val="tx1"/>
                </a:solidFill>
                <a:effectLst/>
                <a:uLnTx/>
                <a:uFillTx/>
                <a:latin typeface="+mn-lt"/>
                <a:ea typeface="楷体_GB2312" pitchFamily="49" charset="-122"/>
                <a:cs typeface="+mn-cs"/>
              </a:rPr>
              <a:t>H</a:t>
            </a: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sym typeface="+mn-ea"/>
              </a:rPr>
              <a:t>或</a:t>
            </a:r>
            <a:r>
              <a:rPr kumimoji="1" lang="zh-CN" altLang="en-US" sz="2800" b="1" i="0" u="none" strike="noStrike" kern="0" cap="none" spc="0" normalizeH="0" baseline="0" noProof="0" dirty="0" smtClean="0">
                <a:ln>
                  <a:noFill/>
                </a:ln>
                <a:solidFill>
                  <a:schemeClr val="tx1"/>
                </a:solidFill>
                <a:effectLst/>
                <a:uLnTx/>
                <a:uFillTx/>
                <a:latin typeface="+mn-lt"/>
                <a:ea typeface="楷体_GB2312" pitchFamily="49" charset="-122"/>
                <a:cs typeface="+mn-cs"/>
                <a:sym typeface="+mn-ea"/>
              </a:rPr>
              <a:t>（ ）</a:t>
            </a:r>
            <a:r>
              <a:rPr kumimoji="1" lang="en-US" altLang="zh-CN" sz="2800" b="1" i="0" u="none" strike="noStrike" kern="0" cap="none" spc="0" normalizeH="0" baseline="-25000" noProof="0" dirty="0" smtClean="0">
                <a:ln>
                  <a:noFill/>
                </a:ln>
                <a:solidFill>
                  <a:schemeClr val="tx1"/>
                </a:solidFill>
                <a:effectLst/>
                <a:uLnTx/>
                <a:uFillTx/>
                <a:latin typeface="+mn-lt"/>
                <a:ea typeface="楷体_GB2312" pitchFamily="49" charset="-122"/>
                <a:cs typeface="+mn-cs"/>
                <a:sym typeface="+mn-ea"/>
              </a:rPr>
              <a:t>16</a:t>
            </a:r>
            <a:endParaRPr kumimoji="1" lang="en-US" altLang="zh-CN" sz="2800" b="1" i="0" u="none" strike="noStrike" kern="0" cap="none" spc="0" normalizeH="0" baseline="0" noProof="0" dirty="0" smtClean="0">
              <a:ln>
                <a:noFill/>
              </a:ln>
              <a:solidFill>
                <a:schemeClr val="tx1"/>
              </a:solidFill>
              <a:effectLst/>
              <a:uLnTx/>
              <a:uFillTx/>
              <a:latin typeface="+mn-lt"/>
              <a:ea typeface="楷体_GB2312" pitchFamily="49"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smtClean="0">
                <a:ln>
                  <a:noFill/>
                </a:ln>
                <a:solidFill>
                  <a:schemeClr val="tx1"/>
                </a:solidFill>
                <a:effectLst/>
                <a:uLnTx/>
                <a:uFillTx/>
                <a:latin typeface="+mn-lt"/>
                <a:ea typeface="+mn-ea"/>
                <a:cs typeface="+mn-cs"/>
              </a:rPr>
              <a:t>       </a:t>
            </a:r>
            <a:endParaRPr kumimoji="1"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smtClean="0">
                <a:ln>
                  <a:noFill/>
                </a:ln>
                <a:solidFill>
                  <a:schemeClr val="tx1"/>
                </a:solidFill>
                <a:effectLst/>
                <a:uLnTx/>
                <a:uFillTx/>
                <a:latin typeface="+mn-lt"/>
                <a:ea typeface="+mn-ea"/>
                <a:cs typeface="+mn-cs"/>
              </a:rPr>
              <a:t> </a:t>
            </a:r>
            <a:r>
              <a:rPr kumimoji="1" lang="zh-CN" altLang="zh-CN" sz="2000" b="1" i="0" u="none" strike="noStrike" kern="0" cap="none" spc="0" normalizeH="0" baseline="0" noProof="0" dirty="0" smtClean="0">
                <a:ln>
                  <a:noFill/>
                </a:ln>
                <a:solidFill>
                  <a:schemeClr val="tx1"/>
                </a:solidFill>
                <a:effectLst/>
                <a:uLnTx/>
                <a:uFillTx/>
                <a:latin typeface="+mn-lt"/>
                <a:ea typeface="+mn-ea"/>
                <a:cs typeface="+mn-cs"/>
              </a:rPr>
              <a:t>计算机系统设计师和程序员更钟情于采用程序设计语言的记号来表示不同进制的数，这就是前缀表示法，如：在</a:t>
            </a: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C</a:t>
            </a:r>
            <a:r>
              <a:rPr kumimoji="1" lang="zh-CN" altLang="zh-CN" sz="2000" b="1" i="0" u="none" strike="noStrike" kern="0" cap="none" spc="0" normalizeH="0" baseline="0" noProof="0" dirty="0" smtClean="0">
                <a:ln>
                  <a:noFill/>
                </a:ln>
                <a:solidFill>
                  <a:schemeClr val="tx1"/>
                </a:solidFill>
                <a:effectLst/>
                <a:uLnTx/>
                <a:uFillTx/>
                <a:latin typeface="+mn-lt"/>
                <a:ea typeface="+mn-ea"/>
                <a:cs typeface="+mn-cs"/>
              </a:rPr>
              <a:t>语言中，八进制常数以前缀</a:t>
            </a: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0</a:t>
            </a:r>
            <a:r>
              <a:rPr kumimoji="1" lang="zh-CN" altLang="zh-CN" sz="2000" b="1" i="0" u="none" strike="noStrike" kern="0" cap="none" spc="0" normalizeH="0" baseline="0" noProof="0" dirty="0" smtClean="0">
                <a:ln>
                  <a:noFill/>
                </a:ln>
                <a:solidFill>
                  <a:schemeClr val="tx1"/>
                </a:solidFill>
                <a:effectLst/>
                <a:uLnTx/>
                <a:uFillTx/>
                <a:latin typeface="+mn-lt"/>
                <a:ea typeface="+mn-ea"/>
                <a:cs typeface="+mn-cs"/>
              </a:rPr>
              <a:t>开始，十六进制常数以前缀</a:t>
            </a: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0x</a:t>
            </a:r>
            <a:r>
              <a:rPr kumimoji="1" lang="zh-CN" altLang="zh-CN" sz="2000" b="1" i="0" u="none" strike="noStrike" kern="0" cap="none" spc="0" normalizeH="0" baseline="0" noProof="0" dirty="0" smtClean="0">
                <a:ln>
                  <a:noFill/>
                </a:ln>
                <a:solidFill>
                  <a:schemeClr val="tx1"/>
                </a:solidFill>
                <a:effectLst/>
                <a:uLnTx/>
                <a:uFillTx/>
                <a:latin typeface="+mn-lt"/>
                <a:ea typeface="+mn-ea"/>
                <a:cs typeface="+mn-cs"/>
              </a:rPr>
              <a:t>开始。</a:t>
            </a:r>
            <a:endParaRPr kumimoji="1" lang="zh-CN" altLang="zh-CN" sz="20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标题 1"/>
          <p:cNvSpPr>
            <a:spLocks noGrp="1"/>
          </p:cNvSpPr>
          <p:nvPr>
            <p:ph type="title"/>
          </p:nvPr>
        </p:nvSpPr>
        <p:spPr/>
        <p:txBody>
          <a:bodyPr anchor="ctr" anchorCtr="0"/>
          <a:p>
            <a:r>
              <a:rPr lang="zh-CN" altLang="en-US"/>
              <a:t>计算机为什么应用二进制？</a:t>
            </a:r>
            <a:endParaRPr lang="zh-CN" altLang="en-US"/>
          </a:p>
        </p:txBody>
      </p:sp>
      <p:sp>
        <p:nvSpPr>
          <p:cNvPr id="15362" name="内容占位符 2"/>
          <p:cNvSpPr>
            <a:spLocks noGrp="1"/>
          </p:cNvSpPr>
          <p:nvPr>
            <p:ph idx="1"/>
          </p:nvPr>
        </p:nvSpPr>
        <p:spPr/>
        <p:txBody>
          <a:bodyPr anchor="t" anchorCtr="0"/>
          <a:p>
            <a:r>
              <a:rPr lang="en-US" altLang="zh-CN"/>
              <a:t>1</a:t>
            </a:r>
            <a:r>
              <a:rPr lang="zh-CN" altLang="en-US"/>
              <a:t>、计算机是由电路构成，是一种机器设备</a:t>
            </a:r>
            <a:r>
              <a:rPr lang="en-US" altLang="zh-CN"/>
              <a:t>——</a:t>
            </a:r>
            <a:r>
              <a:rPr lang="zh-CN" altLang="en-US">
                <a:solidFill>
                  <a:srgbClr val="FF0000"/>
                </a:solidFill>
              </a:rPr>
              <a:t>导通与截止，只能应用</a:t>
            </a:r>
            <a:r>
              <a:rPr lang="en-US" altLang="zh-CN">
                <a:solidFill>
                  <a:srgbClr val="FF0000"/>
                </a:solidFill>
              </a:rPr>
              <a:t>0</a:t>
            </a:r>
            <a:r>
              <a:rPr lang="zh-CN" altLang="en-US">
                <a:solidFill>
                  <a:srgbClr val="FF0000"/>
                </a:solidFill>
              </a:rPr>
              <a:t>和</a:t>
            </a:r>
            <a:r>
              <a:rPr lang="en-US" altLang="zh-CN">
                <a:solidFill>
                  <a:srgbClr val="FF0000"/>
                </a:solidFill>
              </a:rPr>
              <a:t>1</a:t>
            </a:r>
            <a:endParaRPr lang="en-US" altLang="zh-CN">
              <a:solidFill>
                <a:srgbClr val="FF0000"/>
              </a:solidFill>
            </a:endParaRPr>
          </a:p>
          <a:p>
            <a:r>
              <a:rPr lang="en-US" altLang="zh-CN"/>
              <a:t>2</a:t>
            </a:r>
            <a:r>
              <a:rPr lang="zh-CN" altLang="en-US"/>
              <a:t>、二进制运算简单</a:t>
            </a:r>
            <a:endParaRPr lang="zh-CN" altLang="en-US"/>
          </a:p>
          <a:p>
            <a:r>
              <a:rPr lang="en-US" altLang="zh-CN"/>
              <a:t>3</a:t>
            </a:r>
            <a:r>
              <a:rPr lang="zh-CN" altLang="en-US"/>
              <a:t>、二进制可科学描述逻辑运算</a:t>
            </a:r>
            <a:endParaRPr lang="zh-CN" altLang="en-US"/>
          </a:p>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6386" name="Rectangle 2"/>
          <p:cNvSpPr>
            <a:spLocks noGrp="1"/>
          </p:cNvSpPr>
          <p:nvPr>
            <p:ph type="title"/>
          </p:nvPr>
        </p:nvSpPr>
        <p:spPr>
          <a:xfrm>
            <a:off x="685800" y="304800"/>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2.1.2  无符号数和带符号数 </a:t>
            </a:r>
            <a:endParaRPr lang="zh-CN" altLang="en-US" sz="3600" dirty="0">
              <a:solidFill>
                <a:srgbClr val="0000FF"/>
              </a:solidFill>
              <a:latin typeface="华文新魏" panose="02010800040101010101" pitchFamily="2" charset="-122"/>
              <a:ea typeface="华文新魏" panose="02010800040101010101" pitchFamily="2" charset="-122"/>
            </a:endParaRPr>
          </a:p>
        </p:txBody>
      </p:sp>
      <p:sp>
        <p:nvSpPr>
          <p:cNvPr id="16387" name="Rectangle 3"/>
          <p:cNvSpPr>
            <a:spLocks noGrp="1"/>
          </p:cNvSpPr>
          <p:nvPr>
            <p:ph idx="1"/>
          </p:nvPr>
        </p:nvSpPr>
        <p:spPr>
          <a:xfrm>
            <a:off x="685800" y="1524000"/>
            <a:ext cx="7924800" cy="4419600"/>
          </a:xfrm>
        </p:spPr>
        <p:txBody>
          <a:bodyPr vert="horz" wrap="square" lIns="91440" tIns="45720" rIns="91440" bIns="45720" anchor="t" anchorCtr="0"/>
          <a:p>
            <a:pPr marL="0" algn="just" eaLnBrk="1" hangingPunct="1">
              <a:lnSpc>
                <a:spcPct val="90000"/>
              </a:lnSpc>
              <a:buNone/>
            </a:pPr>
            <a:r>
              <a:rPr lang="zh-CN" altLang="en-US" b="1" dirty="0">
                <a:ea typeface="楷体_GB2312" pitchFamily="49" charset="-122"/>
              </a:rPr>
              <a:t>        无符号数，就是整个机器字长的全部二进制位均表示数值位（没有符号位），相当于数的绝对值。例如：</a:t>
            </a:r>
            <a:endParaRPr lang="zh-CN" altLang="en-US" b="1" dirty="0">
              <a:ea typeface="楷体_GB2312" pitchFamily="49" charset="-122"/>
            </a:endParaRPr>
          </a:p>
          <a:p>
            <a:pPr marL="0" algn="just" eaLnBrk="1" hangingPunct="1">
              <a:lnSpc>
                <a:spcPct val="90000"/>
              </a:lnSpc>
              <a:buNone/>
            </a:pPr>
            <a:r>
              <a:rPr lang="zh-CN" altLang="en-US" b="1" dirty="0">
                <a:ea typeface="楷体_GB2312" pitchFamily="49" charset="-122"/>
              </a:rPr>
              <a:t>        </a:t>
            </a:r>
            <a:r>
              <a:rPr lang="en-US" altLang="zh-CN" b="1" dirty="0">
                <a:ea typeface="楷体_GB2312" pitchFamily="49" charset="-122"/>
              </a:rPr>
              <a:t>N</a:t>
            </a:r>
            <a:r>
              <a:rPr lang="en-US" altLang="zh-CN" b="1" baseline="-30000" dirty="0">
                <a:ea typeface="楷体_GB2312" pitchFamily="49" charset="-122"/>
              </a:rPr>
              <a:t>1</a:t>
            </a:r>
            <a:r>
              <a:rPr lang="en-US" altLang="zh-CN" b="1" dirty="0">
                <a:ea typeface="楷体_GB2312" pitchFamily="49" charset="-122"/>
              </a:rPr>
              <a:t>=01001    </a:t>
            </a:r>
            <a:r>
              <a:rPr lang="zh-CN" altLang="en-US" b="1" dirty="0">
                <a:ea typeface="楷体_GB2312" pitchFamily="49" charset="-122"/>
              </a:rPr>
              <a:t>表示无符号数9</a:t>
            </a:r>
            <a:endParaRPr lang="zh-CN" altLang="en-US" b="1" dirty="0">
              <a:ea typeface="楷体_GB2312" pitchFamily="49" charset="-122"/>
            </a:endParaRPr>
          </a:p>
          <a:p>
            <a:pPr marL="0" algn="just" eaLnBrk="1" hangingPunct="1">
              <a:lnSpc>
                <a:spcPct val="90000"/>
              </a:lnSpc>
              <a:buNone/>
            </a:pPr>
            <a:r>
              <a:rPr lang="zh-CN" altLang="en-US" b="1" dirty="0">
                <a:ea typeface="楷体_GB2312" pitchFamily="49" charset="-122"/>
              </a:rPr>
              <a:t>        </a:t>
            </a:r>
            <a:r>
              <a:rPr lang="en-US" altLang="zh-CN" b="1" dirty="0">
                <a:ea typeface="楷体_GB2312" pitchFamily="49" charset="-122"/>
              </a:rPr>
              <a:t>N</a:t>
            </a:r>
            <a:r>
              <a:rPr lang="en-US" altLang="zh-CN" b="1" baseline="-30000" dirty="0">
                <a:ea typeface="楷体_GB2312" pitchFamily="49" charset="-122"/>
              </a:rPr>
              <a:t>2</a:t>
            </a:r>
            <a:r>
              <a:rPr lang="en-US" altLang="zh-CN" b="1" dirty="0">
                <a:ea typeface="楷体_GB2312" pitchFamily="49" charset="-122"/>
              </a:rPr>
              <a:t>=11001    </a:t>
            </a:r>
            <a:r>
              <a:rPr lang="zh-CN" altLang="en-US" b="1" dirty="0">
                <a:ea typeface="楷体_GB2312" pitchFamily="49" charset="-122"/>
              </a:rPr>
              <a:t>表示无符号数25</a:t>
            </a:r>
            <a:endParaRPr lang="zh-CN" altLang="en-US" b="1" dirty="0">
              <a:ea typeface="楷体_GB2312" pitchFamily="49" charset="-122"/>
            </a:endParaRPr>
          </a:p>
          <a:p>
            <a:pPr marL="0" algn="just" eaLnBrk="1" hangingPunct="1">
              <a:lnSpc>
                <a:spcPct val="90000"/>
              </a:lnSpc>
              <a:buNone/>
            </a:pPr>
            <a:r>
              <a:rPr lang="zh-CN" altLang="en-US" b="1" dirty="0">
                <a:ea typeface="楷体_GB2312" pitchFamily="49" charset="-122"/>
              </a:rPr>
              <a:t>       机器字长为</a:t>
            </a:r>
            <a:r>
              <a:rPr lang="en-US" altLang="zh-CN" b="1" dirty="0">
                <a:ea typeface="楷体_GB2312" pitchFamily="49" charset="-122"/>
              </a:rPr>
              <a:t>n+1</a:t>
            </a:r>
            <a:r>
              <a:rPr lang="zh-CN" altLang="en-US" b="1" dirty="0">
                <a:ea typeface="楷体_GB2312" pitchFamily="49" charset="-122"/>
              </a:rPr>
              <a:t>位的无符号数的表示范围是</a:t>
            </a:r>
            <a:r>
              <a:rPr lang="zh-CN" altLang="en-US" b="1" dirty="0">
                <a:solidFill>
                  <a:srgbClr val="FF3300"/>
                </a:solidFill>
                <a:ea typeface="楷体_GB2312" pitchFamily="49" charset="-122"/>
              </a:rPr>
              <a:t>0～(2</a:t>
            </a:r>
            <a:r>
              <a:rPr lang="en-US" altLang="zh-CN" b="1" baseline="30000" dirty="0">
                <a:solidFill>
                  <a:srgbClr val="FF3300"/>
                </a:solidFill>
                <a:ea typeface="楷体_GB2312" pitchFamily="49" charset="-122"/>
              </a:rPr>
              <a:t>n+1</a:t>
            </a:r>
            <a:r>
              <a:rPr lang="en-US" altLang="zh-CN" b="1" dirty="0">
                <a:solidFill>
                  <a:srgbClr val="FF3300"/>
                </a:solidFill>
                <a:ea typeface="楷体_GB2312" pitchFamily="49" charset="-122"/>
              </a:rPr>
              <a:t>-1)</a:t>
            </a:r>
            <a:r>
              <a:rPr lang="en-US" altLang="zh-CN" b="1" dirty="0">
                <a:ea typeface="楷体_GB2312" pitchFamily="49" charset="-122"/>
              </a:rPr>
              <a:t>，</a:t>
            </a:r>
            <a:r>
              <a:rPr lang="zh-CN" altLang="en-US" b="1" dirty="0">
                <a:ea typeface="楷体_GB2312" pitchFamily="49" charset="-122"/>
              </a:rPr>
              <a:t>此时二进制的最高位也是数值位，其权值等于2</a:t>
            </a:r>
            <a:r>
              <a:rPr lang="en-US" altLang="zh-CN" b="1" baseline="30000" dirty="0">
                <a:ea typeface="楷体_GB2312" pitchFamily="49" charset="-122"/>
              </a:rPr>
              <a:t>n</a:t>
            </a:r>
            <a:r>
              <a:rPr lang="en-US" altLang="zh-CN" b="1" dirty="0">
                <a:ea typeface="楷体_GB2312" pitchFamily="49" charset="-122"/>
              </a:rPr>
              <a:t>。</a:t>
            </a:r>
            <a:r>
              <a:rPr lang="zh-CN" altLang="en-US" b="1" dirty="0">
                <a:ea typeface="楷体_GB2312" pitchFamily="49" charset="-122"/>
              </a:rPr>
              <a:t>若字长为8位，则数的表示范围为0～255。 </a:t>
            </a:r>
            <a:endParaRPr lang="zh-CN" altLang="en-US" b="1" dirty="0">
              <a:ea typeface="楷体_GB2312"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7410" name="Rectangle 2"/>
          <p:cNvSpPr>
            <a:spLocks noGrp="1"/>
          </p:cNvSpPr>
          <p:nvPr>
            <p:ph type="title"/>
          </p:nvPr>
        </p:nvSpPr>
        <p:spPr>
          <a:xfrm>
            <a:off x="685800" y="304800"/>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2.1.2  无符号数和带符号数（续）</a:t>
            </a:r>
            <a:endParaRPr lang="zh-CN" altLang="en-US" sz="3600" dirty="0">
              <a:solidFill>
                <a:srgbClr val="0000FF"/>
              </a:solidFill>
              <a:latin typeface="华文新魏" panose="02010800040101010101" pitchFamily="2" charset="-122"/>
              <a:ea typeface="华文新魏" panose="02010800040101010101" pitchFamily="2" charset="-122"/>
            </a:endParaRPr>
          </a:p>
        </p:txBody>
      </p:sp>
      <p:sp>
        <p:nvSpPr>
          <p:cNvPr id="17411" name="Rectangle 3"/>
          <p:cNvSpPr>
            <a:spLocks noGrp="1"/>
          </p:cNvSpPr>
          <p:nvPr>
            <p:ph idx="1"/>
          </p:nvPr>
        </p:nvSpPr>
        <p:spPr>
          <a:xfrm>
            <a:off x="685800" y="1371600"/>
            <a:ext cx="7772400" cy="4572000"/>
          </a:xfrm>
        </p:spPr>
        <p:txBody>
          <a:bodyPr vert="horz" wrap="square" lIns="91440" tIns="45720" rIns="91440" bIns="45720" anchor="t" anchorCtr="0"/>
          <a:p>
            <a:pPr marL="0" algn="just" eaLnBrk="1" hangingPunct="1">
              <a:buNone/>
            </a:pPr>
            <a:r>
              <a:rPr lang="zh-CN" altLang="en-US" b="1" dirty="0">
                <a:ea typeface="楷体_GB2312" pitchFamily="49" charset="-122"/>
              </a:rPr>
              <a:t>        带符号数，即正、负数。在日常生活中，我们用“+”、“-”号加绝对值来表示数值的大小，用这种形式表示的数值在计算机技术中称为“</a:t>
            </a:r>
            <a:r>
              <a:rPr lang="zh-CN" altLang="en-US" b="1" dirty="0">
                <a:solidFill>
                  <a:srgbClr val="FF3300"/>
                </a:solidFill>
                <a:ea typeface="楷体_GB2312" pitchFamily="49" charset="-122"/>
              </a:rPr>
              <a:t>真值</a:t>
            </a:r>
            <a:r>
              <a:rPr lang="zh-CN" altLang="en-US" b="1" dirty="0">
                <a:ea typeface="楷体_GB2312" pitchFamily="49" charset="-122"/>
              </a:rPr>
              <a:t>”。</a:t>
            </a:r>
            <a:endParaRPr lang="zh-CN" altLang="en-US" b="1" dirty="0">
              <a:ea typeface="楷体_GB2312" pitchFamily="49" charset="-122"/>
            </a:endParaRPr>
          </a:p>
          <a:p>
            <a:pPr marL="0" algn="just" eaLnBrk="1" hangingPunct="1">
              <a:buNone/>
            </a:pPr>
            <a:r>
              <a:rPr lang="zh-CN" altLang="en-US" b="1" dirty="0">
                <a:ea typeface="楷体_GB2312" pitchFamily="49" charset="-122"/>
              </a:rPr>
              <a:t>        在计算机中需要把数的符号数码化。通常，约定二进制数的最高位为符号位，“0”表示正号，“1”表示负号。这种在计算机中使用的表示数的形式称为</a:t>
            </a:r>
            <a:r>
              <a:rPr lang="zh-CN" altLang="en-US" b="1" dirty="0">
                <a:solidFill>
                  <a:srgbClr val="FF3300"/>
                </a:solidFill>
                <a:ea typeface="楷体_GB2312" pitchFamily="49" charset="-122"/>
              </a:rPr>
              <a:t>机器数</a:t>
            </a:r>
            <a:r>
              <a:rPr lang="zh-CN" altLang="en-US" b="1" dirty="0">
                <a:ea typeface="楷体_GB2312" pitchFamily="49" charset="-122"/>
              </a:rPr>
              <a:t>。</a:t>
            </a:r>
            <a:endParaRPr lang="zh-CN" altLang="en-US" b="1" dirty="0">
              <a:ea typeface="楷体_GB2312"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8434" name="Rectangle 2"/>
          <p:cNvSpPr>
            <a:spLocks noGrp="1"/>
          </p:cNvSpPr>
          <p:nvPr>
            <p:ph type="title"/>
          </p:nvPr>
        </p:nvSpPr>
        <p:spPr>
          <a:xfrm>
            <a:off x="685800" y="304800"/>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2.1.2  无符号数和带符号数（续）</a:t>
            </a:r>
            <a:endParaRPr lang="zh-CN" altLang="en-US" sz="3600" dirty="0">
              <a:solidFill>
                <a:srgbClr val="0000FF"/>
              </a:solidFill>
              <a:latin typeface="华文新魏" panose="02010800040101010101" pitchFamily="2" charset="-122"/>
              <a:ea typeface="华文新魏" panose="02010800040101010101" pitchFamily="2" charset="-122"/>
            </a:endParaRPr>
          </a:p>
        </p:txBody>
      </p:sp>
      <p:sp>
        <p:nvSpPr>
          <p:cNvPr id="18435" name="Rectangle 3"/>
          <p:cNvSpPr>
            <a:spLocks noGrp="1"/>
          </p:cNvSpPr>
          <p:nvPr>
            <p:ph idx="1"/>
          </p:nvPr>
        </p:nvSpPr>
        <p:spPr>
          <a:xfrm>
            <a:off x="685800" y="1371600"/>
            <a:ext cx="7772400" cy="4572000"/>
          </a:xfrm>
        </p:spPr>
        <p:txBody>
          <a:bodyPr vert="horz" wrap="square" lIns="91440" tIns="45720" rIns="91440" bIns="45720" anchor="t" anchorCtr="0"/>
          <a:p>
            <a:pPr marL="0" algn="just" eaLnBrk="1" hangingPunct="1">
              <a:lnSpc>
                <a:spcPct val="90000"/>
              </a:lnSpc>
              <a:buNone/>
            </a:pPr>
            <a:r>
              <a:rPr lang="zh-CN" altLang="en-US" b="1" dirty="0">
                <a:ea typeface="楷体_GB2312" pitchFamily="49" charset="-122"/>
              </a:rPr>
              <a:t>        常见的机器数有原码、反码、补码等3种不同的表示形式。</a:t>
            </a:r>
            <a:endParaRPr lang="zh-CN" altLang="en-US" b="1" dirty="0">
              <a:ea typeface="楷体_GB2312" pitchFamily="49" charset="-122"/>
            </a:endParaRPr>
          </a:p>
          <a:p>
            <a:pPr marL="0" algn="just" eaLnBrk="1" hangingPunct="1">
              <a:lnSpc>
                <a:spcPct val="90000"/>
              </a:lnSpc>
              <a:buNone/>
            </a:pPr>
            <a:r>
              <a:rPr lang="zh-CN" altLang="en-US" b="1" dirty="0">
                <a:ea typeface="楷体_GB2312" pitchFamily="49" charset="-122"/>
              </a:rPr>
              <a:t>        带符号数的最高位被用来表示符号位，而不再表示数值位。前例中的</a:t>
            </a:r>
            <a:r>
              <a:rPr lang="en-US" altLang="zh-CN" b="1" dirty="0">
                <a:ea typeface="楷体_GB2312" pitchFamily="49" charset="-122"/>
              </a:rPr>
              <a:t>N</a:t>
            </a:r>
            <a:r>
              <a:rPr lang="en-US" altLang="zh-CN" b="1" baseline="-30000" dirty="0">
                <a:ea typeface="楷体_GB2312" pitchFamily="49" charset="-122"/>
              </a:rPr>
              <a:t>1</a:t>
            </a:r>
            <a:r>
              <a:rPr lang="en-US" altLang="zh-CN" b="1" dirty="0">
                <a:ea typeface="楷体_GB2312" pitchFamily="49" charset="-122"/>
              </a:rPr>
              <a:t>、N</a:t>
            </a:r>
            <a:r>
              <a:rPr lang="en-US" altLang="zh-CN" b="1" baseline="-30000" dirty="0">
                <a:ea typeface="楷体_GB2312" pitchFamily="49" charset="-122"/>
              </a:rPr>
              <a:t>2</a:t>
            </a:r>
            <a:r>
              <a:rPr lang="en-US" altLang="zh-CN" b="1" dirty="0">
                <a:ea typeface="楷体_GB2312" pitchFamily="49" charset="-122"/>
              </a:rPr>
              <a:t> </a:t>
            </a:r>
            <a:r>
              <a:rPr lang="zh-CN" altLang="en-US" b="1" dirty="0">
                <a:ea typeface="楷体_GB2312" pitchFamily="49" charset="-122"/>
              </a:rPr>
              <a:t>在这里的含义变为：</a:t>
            </a:r>
            <a:endParaRPr lang="zh-CN" altLang="en-US" b="1" dirty="0">
              <a:ea typeface="楷体_GB2312" pitchFamily="49" charset="-122"/>
            </a:endParaRPr>
          </a:p>
          <a:p>
            <a:pPr marL="0" algn="just" eaLnBrk="1" hangingPunct="1">
              <a:lnSpc>
                <a:spcPct val="90000"/>
              </a:lnSpc>
              <a:buNone/>
            </a:pPr>
            <a:r>
              <a:rPr lang="zh-CN" altLang="en-US" b="1" dirty="0">
                <a:ea typeface="楷体_GB2312" pitchFamily="49" charset="-122"/>
              </a:rPr>
              <a:t>        </a:t>
            </a:r>
            <a:r>
              <a:rPr lang="en-US" altLang="zh-CN" b="1" dirty="0">
                <a:ea typeface="楷体_GB2312" pitchFamily="49" charset="-122"/>
              </a:rPr>
              <a:t>N</a:t>
            </a:r>
            <a:r>
              <a:rPr lang="en-US" altLang="zh-CN" b="1" baseline="-30000" dirty="0">
                <a:ea typeface="楷体_GB2312" pitchFamily="49" charset="-122"/>
              </a:rPr>
              <a:t>1</a:t>
            </a:r>
            <a:r>
              <a:rPr lang="en-US" altLang="zh-CN" b="1" dirty="0">
                <a:ea typeface="楷体_GB2312" pitchFamily="49" charset="-122"/>
              </a:rPr>
              <a:t>=01001    </a:t>
            </a:r>
            <a:r>
              <a:rPr lang="zh-CN" altLang="en-US" b="1" dirty="0">
                <a:ea typeface="楷体_GB2312" pitchFamily="49" charset="-122"/>
              </a:rPr>
              <a:t>表示+9。</a:t>
            </a:r>
            <a:endParaRPr lang="zh-CN" altLang="en-US" b="1" dirty="0">
              <a:ea typeface="楷体_GB2312" pitchFamily="49" charset="-122"/>
            </a:endParaRPr>
          </a:p>
          <a:p>
            <a:pPr marL="0" algn="just" eaLnBrk="1" hangingPunct="1">
              <a:lnSpc>
                <a:spcPct val="90000"/>
              </a:lnSpc>
              <a:buNone/>
            </a:pPr>
            <a:r>
              <a:rPr lang="en-US" altLang="zh-CN" b="1" dirty="0">
                <a:ea typeface="楷体_GB2312" pitchFamily="49" charset="-122"/>
              </a:rPr>
              <a:t>        N</a:t>
            </a:r>
            <a:r>
              <a:rPr lang="en-US" altLang="zh-CN" b="1" baseline="-30000" dirty="0">
                <a:ea typeface="楷体_GB2312" pitchFamily="49" charset="-122"/>
              </a:rPr>
              <a:t>2</a:t>
            </a:r>
            <a:r>
              <a:rPr lang="en-US" altLang="zh-CN" b="1" dirty="0">
                <a:ea typeface="楷体_GB2312" pitchFamily="49" charset="-122"/>
              </a:rPr>
              <a:t>=11001    </a:t>
            </a:r>
            <a:r>
              <a:rPr lang="zh-CN" altLang="en-US" b="1" dirty="0">
                <a:ea typeface="楷体_GB2312" pitchFamily="49" charset="-122"/>
              </a:rPr>
              <a:t>根据机器数的不同形式表示不同的值，如是原码则表示-9，补码则表示-7，反码则表示-6。 </a:t>
            </a:r>
            <a:endParaRPr lang="zh-CN" altLang="en-US" b="1" dirty="0">
              <a:ea typeface="楷体_GB2312"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标题 1"/>
          <p:cNvSpPr>
            <a:spLocks noGrp="1"/>
          </p:cNvSpPr>
          <p:nvPr>
            <p:ph type="title"/>
          </p:nvPr>
        </p:nvSpPr>
        <p:spPr/>
        <p:txBody>
          <a:bodyPr anchor="ctr" anchorCtr="0"/>
          <a:p>
            <a:r>
              <a:rPr lang="zh-CN" altLang="en-US"/>
              <a:t>数符表示</a:t>
            </a:r>
            <a:endParaRPr lang="zh-CN" altLang="en-US"/>
          </a:p>
        </p:txBody>
      </p:sp>
      <p:graphicFrame>
        <p:nvGraphicFramePr>
          <p:cNvPr id="4" name="表格 3"/>
          <p:cNvGraphicFramePr/>
          <p:nvPr/>
        </p:nvGraphicFramePr>
        <p:xfrm>
          <a:off x="1181100" y="1885950"/>
          <a:ext cx="6396038" cy="365125"/>
        </p:xfrm>
        <a:graphic>
          <a:graphicData uri="http://schemas.openxmlformats.org/drawingml/2006/table">
            <a:tbl>
              <a:tblPr firstRow="1" bandRow="1">
                <a:tableStyleId>{5C22544A-7EE6-4342-B048-85BDC9FD1C3A}</a:tableStyleId>
              </a:tblPr>
              <a:tblGrid>
                <a:gridCol w="799465"/>
                <a:gridCol w="799465"/>
                <a:gridCol w="799465"/>
                <a:gridCol w="799465"/>
                <a:gridCol w="799465"/>
                <a:gridCol w="799465"/>
                <a:gridCol w="799465"/>
                <a:gridCol w="799465"/>
              </a:tblGrid>
              <a:tr h="320040">
                <a:tc>
                  <a:txBody>
                    <a:bodyPr/>
                    <a:p>
                      <a:pPr>
                        <a:buNone/>
                      </a:pPr>
                      <a:r>
                        <a:rPr lang="en-US" altLang="zh-CN"/>
                        <a:t>D7</a:t>
                      </a:r>
                      <a:endParaRPr lang="en-US" altLang="zh-CN"/>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r>
                        <a:rPr lang="en-US" altLang="zh-CN"/>
                        <a:t>D0</a:t>
                      </a:r>
                      <a:endParaRPr lang="en-US" altLang="zh-CN"/>
                    </a:p>
                  </a:txBody>
                  <a:tcPr/>
                </a:tc>
              </a:tr>
            </a:tbl>
          </a:graphicData>
        </a:graphic>
      </p:graphicFrame>
      <p:graphicFrame>
        <p:nvGraphicFramePr>
          <p:cNvPr id="5" name="表格 4"/>
          <p:cNvGraphicFramePr/>
          <p:nvPr/>
        </p:nvGraphicFramePr>
        <p:xfrm>
          <a:off x="1128713" y="3117850"/>
          <a:ext cx="6391275" cy="381000"/>
        </p:xfrm>
        <a:graphic>
          <a:graphicData uri="http://schemas.openxmlformats.org/drawingml/2006/table">
            <a:tbl>
              <a:tblPr firstRow="1" bandRow="1">
                <a:tableStyleId>{5C22544A-7EE6-4342-B048-85BDC9FD1C3A}</a:tableStyleId>
              </a:tblPr>
              <a:tblGrid>
                <a:gridCol w="399415"/>
                <a:gridCol w="399415"/>
                <a:gridCol w="399415"/>
                <a:gridCol w="399415"/>
                <a:gridCol w="399415"/>
                <a:gridCol w="399415"/>
                <a:gridCol w="399415"/>
                <a:gridCol w="399415"/>
                <a:gridCol w="399415"/>
                <a:gridCol w="399415"/>
                <a:gridCol w="399415"/>
                <a:gridCol w="399415"/>
                <a:gridCol w="399415"/>
                <a:gridCol w="399415"/>
                <a:gridCol w="399415"/>
                <a:gridCol w="399415"/>
              </a:tblGrid>
              <a:tr h="381000">
                <a:tc>
                  <a:txBody>
                    <a:bodyPr/>
                    <a:p>
                      <a:pPr>
                        <a:buNone/>
                      </a:pPr>
                      <a:r>
                        <a:rPr lang="en-US" altLang="zh-CN" sz="900"/>
                        <a:t>D15</a:t>
                      </a:r>
                      <a:endParaRPr lang="en-US" altLang="zh-CN" sz="900"/>
                    </a:p>
                  </a:txBody>
                  <a:tcPr/>
                </a:tc>
                <a:tc>
                  <a:txBody>
                    <a:bodyPr/>
                    <a:p>
                      <a:pPr>
                        <a:buNone/>
                      </a:pPr>
                      <a:endParaRPr lang="zh-CN" altLang="en-US" sz="900"/>
                    </a:p>
                  </a:txBody>
                  <a:tcPr/>
                </a:tc>
                <a:tc>
                  <a:txBody>
                    <a:bodyPr/>
                    <a:p>
                      <a:pPr>
                        <a:buNone/>
                      </a:pPr>
                      <a:endParaRPr lang="zh-CN" altLang="en-US" sz="900"/>
                    </a:p>
                  </a:txBody>
                  <a:tcPr/>
                </a:tc>
                <a:tc>
                  <a:txBody>
                    <a:bodyPr/>
                    <a:p>
                      <a:pPr>
                        <a:buNone/>
                      </a:pPr>
                      <a:endParaRPr lang="zh-CN" altLang="en-US" sz="900"/>
                    </a:p>
                  </a:txBody>
                  <a:tcPr/>
                </a:tc>
                <a:tc>
                  <a:txBody>
                    <a:bodyPr/>
                    <a:p>
                      <a:pPr>
                        <a:buNone/>
                      </a:pPr>
                      <a:endParaRPr lang="zh-CN" altLang="en-US" sz="900"/>
                    </a:p>
                  </a:txBody>
                  <a:tcPr/>
                </a:tc>
                <a:tc>
                  <a:txBody>
                    <a:bodyPr/>
                    <a:p>
                      <a:pPr>
                        <a:buNone/>
                      </a:pPr>
                      <a:endParaRPr lang="zh-CN" altLang="en-US" sz="900"/>
                    </a:p>
                  </a:txBody>
                  <a:tcPr/>
                </a:tc>
                <a:tc>
                  <a:txBody>
                    <a:bodyPr/>
                    <a:p>
                      <a:pPr>
                        <a:buNone/>
                      </a:pPr>
                      <a:endParaRPr lang="zh-CN" altLang="en-US" sz="900"/>
                    </a:p>
                  </a:txBody>
                  <a:tcPr/>
                </a:tc>
                <a:tc>
                  <a:txBody>
                    <a:bodyPr/>
                    <a:p>
                      <a:pPr>
                        <a:buNone/>
                      </a:pPr>
                      <a:endParaRPr lang="zh-CN" altLang="en-US" sz="900"/>
                    </a:p>
                  </a:txBody>
                  <a:tcPr/>
                </a:tc>
                <a:tc>
                  <a:txBody>
                    <a:bodyPr/>
                    <a:p>
                      <a:pPr>
                        <a:buNone/>
                      </a:pPr>
                      <a:endParaRPr lang="zh-CN" altLang="en-US" sz="900"/>
                    </a:p>
                  </a:txBody>
                  <a:tcPr/>
                </a:tc>
                <a:tc>
                  <a:txBody>
                    <a:bodyPr/>
                    <a:p>
                      <a:pPr>
                        <a:buNone/>
                      </a:pPr>
                      <a:endParaRPr lang="zh-CN" altLang="en-US" sz="900"/>
                    </a:p>
                  </a:txBody>
                  <a:tcPr/>
                </a:tc>
                <a:tc>
                  <a:txBody>
                    <a:bodyPr/>
                    <a:p>
                      <a:pPr>
                        <a:buNone/>
                      </a:pPr>
                      <a:endParaRPr lang="zh-CN" altLang="en-US" sz="900"/>
                    </a:p>
                  </a:txBody>
                  <a:tcPr/>
                </a:tc>
                <a:tc>
                  <a:txBody>
                    <a:bodyPr/>
                    <a:p>
                      <a:pPr>
                        <a:buNone/>
                      </a:pPr>
                      <a:endParaRPr lang="zh-CN" altLang="en-US" sz="900"/>
                    </a:p>
                  </a:txBody>
                  <a:tcPr/>
                </a:tc>
                <a:tc>
                  <a:txBody>
                    <a:bodyPr/>
                    <a:p>
                      <a:pPr>
                        <a:buNone/>
                      </a:pPr>
                      <a:endParaRPr lang="zh-CN" altLang="en-US" sz="900"/>
                    </a:p>
                  </a:txBody>
                  <a:tcPr/>
                </a:tc>
                <a:tc>
                  <a:txBody>
                    <a:bodyPr/>
                    <a:p>
                      <a:pPr>
                        <a:buNone/>
                      </a:pPr>
                      <a:endParaRPr lang="zh-CN" altLang="en-US" sz="900"/>
                    </a:p>
                  </a:txBody>
                  <a:tcPr/>
                </a:tc>
                <a:tc>
                  <a:txBody>
                    <a:bodyPr/>
                    <a:p>
                      <a:pPr>
                        <a:buNone/>
                      </a:pPr>
                      <a:endParaRPr lang="zh-CN" altLang="en-US" sz="900"/>
                    </a:p>
                  </a:txBody>
                  <a:tcPr/>
                </a:tc>
                <a:tc>
                  <a:txBody>
                    <a:bodyPr/>
                    <a:p>
                      <a:pPr>
                        <a:buNone/>
                      </a:pPr>
                      <a:r>
                        <a:rPr lang="en-US" altLang="zh-CN" sz="900"/>
                        <a:t>D0</a:t>
                      </a:r>
                      <a:endParaRPr lang="en-US" altLang="zh-CN" sz="900"/>
                    </a:p>
                  </a:txBody>
                  <a:tcPr/>
                </a:tc>
              </a:tr>
            </a:tbl>
          </a:graphicData>
        </a:graphic>
      </p:graphicFrame>
      <p:sp>
        <p:nvSpPr>
          <p:cNvPr id="19514" name="文本框 5"/>
          <p:cNvSpPr txBox="1"/>
          <p:nvPr/>
        </p:nvSpPr>
        <p:spPr>
          <a:xfrm>
            <a:off x="1592263" y="4051300"/>
            <a:ext cx="6624637" cy="2554288"/>
          </a:xfrm>
          <a:prstGeom prst="rect">
            <a:avLst/>
          </a:prstGeom>
          <a:noFill/>
          <a:ln w="9525">
            <a:noFill/>
          </a:ln>
        </p:spPr>
        <p:txBody>
          <a:bodyPr wrap="square" anchor="t" anchorCtr="0">
            <a:spAutoFit/>
          </a:bodyPr>
          <a:p>
            <a:pPr eaLnBrk="0" hangingPunct="0"/>
            <a:r>
              <a:rPr lang="zh-CN" altLang="en-US">
                <a:latin typeface="Arial" panose="020B0604020202020204" pitchFamily="34" charset="0"/>
              </a:rPr>
              <a:t>提问：从键盘输入</a:t>
            </a:r>
            <a:r>
              <a:rPr lang="en-US" altLang="zh-CN">
                <a:latin typeface="Arial" panose="020B0604020202020204" pitchFamily="34" charset="0"/>
              </a:rPr>
              <a:t>-236.375</a:t>
            </a:r>
            <a:r>
              <a:rPr lang="zh-CN" altLang="en-US">
                <a:latin typeface="Arial" panose="020B0604020202020204" pitchFamily="34" charset="0"/>
              </a:rPr>
              <a:t>，请机器值是什么？</a:t>
            </a:r>
            <a:endParaRPr lang="zh-CN" altLang="en-US">
              <a:latin typeface="Arial" panose="020B0604020202020204" pitchFamily="34" charset="0"/>
            </a:endParaRPr>
          </a:p>
          <a:p>
            <a:pPr eaLnBrk="0" hangingPunct="0"/>
            <a:endParaRPr lang="zh-CN" altLang="en-US">
              <a:latin typeface="Arial" panose="020B0604020202020204" pitchFamily="34" charset="0"/>
            </a:endParaRPr>
          </a:p>
          <a:p>
            <a:pPr eaLnBrk="0" hangingPunct="0"/>
            <a:r>
              <a:rPr lang="zh-CN" altLang="en-US">
                <a:latin typeface="Arial" panose="020B0604020202020204" pitchFamily="34" charset="0"/>
              </a:rPr>
              <a:t>考虑：</a:t>
            </a:r>
            <a:endParaRPr lang="zh-CN" altLang="en-US">
              <a:latin typeface="Arial" panose="020B0604020202020204" pitchFamily="34" charset="0"/>
            </a:endParaRPr>
          </a:p>
          <a:p>
            <a:pPr eaLnBrk="0" hangingPunct="0"/>
            <a:r>
              <a:rPr lang="zh-CN" altLang="en-US">
                <a:solidFill>
                  <a:srgbClr val="FF0000"/>
                </a:solidFill>
                <a:latin typeface="Arial" panose="020B0604020202020204" pitchFamily="34" charset="0"/>
              </a:rPr>
              <a:t>符号处理、大小处理、小数点处理</a:t>
            </a:r>
            <a:endParaRPr lang="zh-CN" altLang="en-US">
              <a:solidFill>
                <a:srgbClr val="FF0000"/>
              </a:solidFill>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481" name="内容占位符 3"/>
          <p:cNvPicPr>
            <a:picLocks noGrp="1" noChangeAspect="1"/>
          </p:cNvPicPr>
          <p:nvPr>
            <p:ph idx="1"/>
            <p:custDataLst>
              <p:tags r:id="rId1"/>
            </p:custDataLst>
          </p:nvPr>
        </p:nvPicPr>
        <p:blipFill>
          <a:blip r:embed="rId2"/>
          <a:stretch>
            <a:fillRect/>
          </a:stretch>
        </p:blipFill>
        <p:spPr>
          <a:xfrm>
            <a:off x="1436688" y="0"/>
            <a:ext cx="6018212" cy="4718050"/>
          </a:xfrm>
        </p:spPr>
      </p:pic>
      <p:pic>
        <p:nvPicPr>
          <p:cNvPr id="20482" name="图片 4"/>
          <p:cNvPicPr>
            <a:picLocks noChangeAspect="1"/>
          </p:cNvPicPr>
          <p:nvPr/>
        </p:nvPicPr>
        <p:blipFill>
          <a:blip r:embed="rId3"/>
          <a:stretch>
            <a:fillRect/>
          </a:stretch>
        </p:blipFill>
        <p:spPr>
          <a:xfrm>
            <a:off x="5548313" y="4594225"/>
            <a:ext cx="3270250" cy="213995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标题 1"/>
          <p:cNvSpPr>
            <a:spLocks noGrp="1"/>
          </p:cNvSpPr>
          <p:nvPr>
            <p:ph type="title"/>
          </p:nvPr>
        </p:nvSpPr>
        <p:spPr/>
        <p:txBody>
          <a:bodyPr anchor="ctr" anchorCtr="0"/>
          <a:p>
            <a:r>
              <a:rPr lang="zh-CN" altLang="en-US">
                <a:solidFill>
                  <a:srgbClr val="FF0000"/>
                </a:solidFill>
                <a:latin typeface="Arial" panose="020B0604020202020204" pitchFamily="34" charset="0"/>
              </a:rPr>
              <a:t>符号处理</a:t>
            </a:r>
            <a:endParaRPr lang="zh-CN" altLang="en-US"/>
          </a:p>
        </p:txBody>
      </p:sp>
      <p:sp>
        <p:nvSpPr>
          <p:cNvPr id="3" name="内容占位符 2"/>
          <p:cNvSpPr>
            <a:spLocks noGrp="1"/>
          </p:cNvSpPr>
          <p:nvPr>
            <p:ph idx="1"/>
          </p:nvPr>
        </p:nvSpPr>
        <p:spPr>
          <a:xfrm>
            <a:off x="685800" y="1981200"/>
            <a:ext cx="7772400" cy="2460625"/>
          </a:xfrm>
        </p:spPr>
        <p:txBody>
          <a:bodyPr/>
          <a:p>
            <a:pPr marL="342900" marR="0" indent="-342900" algn="l" defTabSz="914400" rtl="0" eaLnBrk="0" fontAlgn="base" latinLnBrk="0" hangingPunct="0">
              <a:lnSpc>
                <a:spcPct val="100000"/>
              </a:lnSpc>
              <a:spcBef>
                <a:spcPct val="20000"/>
              </a:spcBef>
              <a:spcAft>
                <a:spcPct val="0"/>
              </a:spcAft>
              <a:buClrTx/>
              <a:buSzTx/>
              <a:buFontTx/>
              <a:buChar char="•"/>
            </a:pPr>
            <a:r>
              <a:rPr kumimoji="1" lang="en-US" altLang="zh-CN" sz="3200" b="0" i="0" u="none" strike="noStrike" kern="0" cap="none" spc="0" normalizeH="0" baseline="0" noProof="1">
                <a:solidFill>
                  <a:schemeClr val="tx1"/>
                </a:solidFill>
                <a:latin typeface="+mn-lt"/>
                <a:ea typeface="+mn-ea"/>
                <a:cs typeface="+mn-cs"/>
              </a:rPr>
              <a:t>CPU</a:t>
            </a:r>
            <a:r>
              <a:rPr kumimoji="1" lang="zh-CN" altLang="en-US" sz="3200" b="0" i="0" u="none" strike="noStrike" kern="0" cap="none" spc="0" normalizeH="0" baseline="0" noProof="1">
                <a:solidFill>
                  <a:schemeClr val="tx1"/>
                </a:solidFill>
                <a:latin typeface="+mn-lt"/>
                <a:ea typeface="+mn-ea"/>
                <a:cs typeface="+mn-cs"/>
              </a:rPr>
              <a:t>设计时，约定</a:t>
            </a:r>
            <a:r>
              <a:rPr kumimoji="1" lang="en-US" altLang="zh-CN" sz="3200" b="0" i="0" u="none" strike="noStrike" kern="0" cap="none" spc="0" normalizeH="0" baseline="0" noProof="1">
                <a:solidFill>
                  <a:schemeClr val="tx1"/>
                </a:solidFill>
                <a:latin typeface="+mn-lt"/>
                <a:ea typeface="+mn-ea"/>
                <a:cs typeface="+mn-cs"/>
              </a:rPr>
              <a:t>CPU</a:t>
            </a:r>
            <a:r>
              <a:rPr kumimoji="1" lang="zh-CN" altLang="en-US" sz="3200" b="0" i="0" u="none" strike="noStrike" kern="0" cap="none" spc="0" normalizeH="0" baseline="0" noProof="1">
                <a:solidFill>
                  <a:schemeClr val="tx1"/>
                </a:solidFill>
                <a:latin typeface="+mn-lt"/>
                <a:ea typeface="+mn-ea"/>
                <a:cs typeface="+mn-cs"/>
              </a:rPr>
              <a:t>字长最高位表示符号</a:t>
            </a:r>
            <a:endParaRPr kumimoji="1" lang="zh-CN" altLang="en-US" sz="3200" b="0" i="0" u="none" strike="noStrike" kern="0" cap="none" spc="0" normalizeH="0" baseline="0" noProof="1">
              <a:solidFill>
                <a:schemeClr val="tx1"/>
              </a:solidFill>
              <a:latin typeface="+mn-lt"/>
              <a:ea typeface="+mn-ea"/>
              <a:cs typeface="+mn-cs"/>
            </a:endParaRPr>
          </a:p>
          <a:p>
            <a:pPr marL="0" marR="0" indent="0" algn="l" defTabSz="914400" rtl="0" eaLnBrk="0" fontAlgn="base" latinLnBrk="0" hangingPunct="0">
              <a:lnSpc>
                <a:spcPct val="100000"/>
              </a:lnSpc>
              <a:spcBef>
                <a:spcPct val="20000"/>
              </a:spcBef>
              <a:spcAft>
                <a:spcPct val="0"/>
              </a:spcAft>
              <a:buClrTx/>
              <a:buSzTx/>
              <a:buFontTx/>
              <a:buNone/>
            </a:pPr>
            <a:r>
              <a:rPr kumimoji="1" lang="zh-CN" altLang="en-US" sz="3200" b="0" i="0" u="none" strike="noStrike" kern="0" cap="none" spc="0" normalizeH="0" baseline="0" noProof="1">
                <a:solidFill>
                  <a:srgbClr val="FF0000"/>
                </a:solidFill>
                <a:latin typeface="+mn-lt"/>
                <a:ea typeface="+mn-ea"/>
                <a:cs typeface="+mn-cs"/>
              </a:rPr>
              <a:t>正数：</a:t>
            </a:r>
            <a:r>
              <a:rPr kumimoji="1" lang="en-US" altLang="zh-CN" sz="3200" b="0" i="0" u="none" strike="noStrike" kern="0" cap="none" spc="0" normalizeH="0" baseline="0" noProof="1">
                <a:solidFill>
                  <a:srgbClr val="FF0000"/>
                </a:solidFill>
                <a:latin typeface="+mn-lt"/>
                <a:ea typeface="+mn-ea"/>
                <a:cs typeface="+mn-cs"/>
              </a:rPr>
              <a:t>0</a:t>
            </a:r>
            <a:endParaRPr kumimoji="1" lang="en-US" altLang="zh-CN" sz="3200" b="0" i="0" u="none" strike="noStrike" kern="0" cap="none" spc="0" normalizeH="0" baseline="0" noProof="1">
              <a:solidFill>
                <a:srgbClr val="FF0000"/>
              </a:solidFill>
              <a:latin typeface="+mn-lt"/>
              <a:ea typeface="+mn-ea"/>
              <a:cs typeface="+mn-cs"/>
            </a:endParaRPr>
          </a:p>
          <a:p>
            <a:pPr marL="0" marR="0" indent="0" algn="l" defTabSz="914400" rtl="0" eaLnBrk="0" fontAlgn="base" latinLnBrk="0" hangingPunct="0">
              <a:lnSpc>
                <a:spcPct val="100000"/>
              </a:lnSpc>
              <a:spcBef>
                <a:spcPct val="20000"/>
              </a:spcBef>
              <a:spcAft>
                <a:spcPct val="0"/>
              </a:spcAft>
              <a:buClrTx/>
              <a:buSzTx/>
              <a:buFontTx/>
              <a:buNone/>
            </a:pPr>
            <a:r>
              <a:rPr kumimoji="1" lang="zh-CN" altLang="en-US" sz="3200" b="0" i="0" u="none" strike="noStrike" kern="0" cap="none" spc="0" normalizeH="0" baseline="0" noProof="1">
                <a:solidFill>
                  <a:srgbClr val="FF0000"/>
                </a:solidFill>
                <a:latin typeface="+mn-lt"/>
                <a:ea typeface="+mn-ea"/>
                <a:cs typeface="+mn-cs"/>
              </a:rPr>
              <a:t>负数：</a:t>
            </a:r>
            <a:r>
              <a:rPr kumimoji="1" lang="en-US" altLang="zh-CN" sz="3200" b="0" i="0" u="none" strike="noStrike" kern="0" cap="none" spc="0" normalizeH="0" baseline="0" noProof="1">
                <a:solidFill>
                  <a:srgbClr val="FF0000"/>
                </a:solidFill>
                <a:latin typeface="+mn-lt"/>
                <a:ea typeface="+mn-ea"/>
                <a:cs typeface="+mn-cs"/>
              </a:rPr>
              <a:t>1</a:t>
            </a:r>
            <a:endParaRPr kumimoji="1" lang="en-US" altLang="zh-CN" sz="3200" b="0" i="0" u="none" strike="noStrike" kern="0" cap="none" spc="0" normalizeH="0" baseline="0" noProof="1">
              <a:solidFill>
                <a:srgbClr val="FF0000"/>
              </a:solidFill>
              <a:latin typeface="+mn-lt"/>
              <a:ea typeface="+mn-ea"/>
              <a:cs typeface="+mn-cs"/>
            </a:endParaRPr>
          </a:p>
        </p:txBody>
      </p:sp>
      <p:graphicFrame>
        <p:nvGraphicFramePr>
          <p:cNvPr id="4" name="表格 3"/>
          <p:cNvGraphicFramePr/>
          <p:nvPr/>
        </p:nvGraphicFramePr>
        <p:xfrm>
          <a:off x="1085850" y="4970463"/>
          <a:ext cx="6396038" cy="381000"/>
        </p:xfrm>
        <a:graphic>
          <a:graphicData uri="http://schemas.openxmlformats.org/drawingml/2006/table">
            <a:tbl>
              <a:tblPr firstRow="1" bandRow="1">
                <a:tableStyleId>{21E4AEA4-8DFA-4A89-87EB-49C32662AFE0}</a:tableStyleId>
              </a:tblPr>
              <a:tblGrid>
                <a:gridCol w="799465"/>
                <a:gridCol w="799465"/>
                <a:gridCol w="799465"/>
                <a:gridCol w="799465"/>
                <a:gridCol w="799465"/>
                <a:gridCol w="799465"/>
                <a:gridCol w="799465"/>
                <a:gridCol w="799465"/>
              </a:tblGrid>
              <a:tr h="381000">
                <a:tc>
                  <a:txBody>
                    <a:bodyPr/>
                    <a:p>
                      <a:pPr>
                        <a:buNone/>
                      </a:pPr>
                      <a:r>
                        <a:rPr lang="en-US" altLang="zh-CN"/>
                        <a:t>D7</a:t>
                      </a:r>
                      <a:endParaRPr lang="en-US" altLang="zh-CN"/>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r>
                        <a:rPr lang="en-US" altLang="zh-CN"/>
                        <a:t>D0</a:t>
                      </a:r>
                      <a:endParaRPr lang="en-US" altLang="zh-CN"/>
                    </a:p>
                  </a:txBody>
                  <a:tcPr/>
                </a:tc>
              </a:tr>
            </a:tbl>
          </a:graphicData>
        </a:graphic>
      </p:graphicFrame>
      <p:cxnSp>
        <p:nvCxnSpPr>
          <p:cNvPr id="5" name="直接箭头连接符 4"/>
          <p:cNvCxnSpPr/>
          <p:nvPr/>
        </p:nvCxnSpPr>
        <p:spPr>
          <a:xfrm>
            <a:off x="1050925" y="4494213"/>
            <a:ext cx="280988" cy="590550"/>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sp>
        <p:nvSpPr>
          <p:cNvPr id="6" name="流程图: 过程 5"/>
          <p:cNvSpPr/>
          <p:nvPr/>
        </p:nvSpPr>
        <p:spPr>
          <a:xfrm>
            <a:off x="6443663" y="3429000"/>
            <a:ext cx="1223963" cy="792163"/>
          </a:xfrm>
          <a:prstGeom prst="flowChartProcess">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anchor="ctr" anchorCtr="0" compatLnSpc="1">
            <a:spAutoFit/>
          </a:bodyPr>
          <a:p>
            <a:pPr marL="0" marR="0" indent="0" algn="l" defTabSz="914400" rtl="0" eaLnBrk="1" fontAlgn="base" latinLnBrk="0" hangingPunct="1">
              <a:lnSpc>
                <a:spcPct val="100000"/>
              </a:lnSpc>
              <a:spcBef>
                <a:spcPct val="0"/>
              </a:spcBef>
              <a:spcAft>
                <a:spcPct val="0"/>
              </a:spcAft>
              <a:buClrTx/>
              <a:buSzTx/>
              <a:buFontTx/>
              <a:buNone/>
            </a:pPr>
            <a:endParaRPr kumimoji="0" lang="en-US" altLang="zh-CN" sz="3200" b="0" i="0" u="none" strike="noStrike" cap="none" normalizeH="0" baseline="0" noProof="1" smtClean="0">
              <a:ln>
                <a:noFill/>
              </a:ln>
              <a:solidFill>
                <a:schemeClr val="accent2"/>
              </a:solidFill>
              <a:effectLst/>
              <a:latin typeface="Arial" panose="020B0604020202020204" pitchFamily="34" charset="0"/>
              <a:ea typeface="华文行楷" panose="02010800040101010101" pitchFamily="2" charset="-122"/>
            </a:endParaRPr>
          </a:p>
        </p:txBody>
      </p:sp>
      <p:cxnSp>
        <p:nvCxnSpPr>
          <p:cNvPr id="7" name="直接连接符 6"/>
          <p:cNvCxnSpPr/>
          <p:nvPr/>
        </p:nvCxnSpPr>
        <p:spPr>
          <a:xfrm>
            <a:off x="6011863" y="4652963"/>
            <a:ext cx="647700" cy="0"/>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8" name="直接箭头连接符 7"/>
          <p:cNvCxnSpPr/>
          <p:nvPr/>
        </p:nvCxnSpPr>
        <p:spPr>
          <a:xfrm flipH="1" flipV="1">
            <a:off x="6659563" y="4221163"/>
            <a:ext cx="20638" cy="446088"/>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cxnSp>
        <p:nvCxnSpPr>
          <p:cNvPr id="10" name="直接箭头连接符 9"/>
          <p:cNvCxnSpPr/>
          <p:nvPr/>
        </p:nvCxnSpPr>
        <p:spPr>
          <a:xfrm flipH="1" flipV="1">
            <a:off x="7378700" y="4221163"/>
            <a:ext cx="1588" cy="503238"/>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cxnSp>
        <p:nvCxnSpPr>
          <p:cNvPr id="11" name="直接箭头连接符 10"/>
          <p:cNvCxnSpPr/>
          <p:nvPr/>
        </p:nvCxnSpPr>
        <p:spPr>
          <a:xfrm flipH="1" flipV="1">
            <a:off x="7370763" y="2959100"/>
            <a:ext cx="1588" cy="504825"/>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cxnSp>
        <p:nvCxnSpPr>
          <p:cNvPr id="12" name="直接箭头连接符 11"/>
          <p:cNvCxnSpPr/>
          <p:nvPr/>
        </p:nvCxnSpPr>
        <p:spPr>
          <a:xfrm flipH="1" flipV="1">
            <a:off x="6680200" y="2924175"/>
            <a:ext cx="1588" cy="504825"/>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sp>
        <p:nvSpPr>
          <p:cNvPr id="21534" name="文本框 12"/>
          <p:cNvSpPr txBox="1"/>
          <p:nvPr/>
        </p:nvSpPr>
        <p:spPr>
          <a:xfrm>
            <a:off x="7394575" y="4391025"/>
            <a:ext cx="850900" cy="584200"/>
          </a:xfrm>
          <a:prstGeom prst="rect">
            <a:avLst/>
          </a:prstGeom>
          <a:noFill/>
          <a:ln w="9525">
            <a:noFill/>
          </a:ln>
        </p:spPr>
        <p:txBody>
          <a:bodyPr wrap="square" anchor="t" anchorCtr="0">
            <a:spAutoFit/>
          </a:bodyPr>
          <a:p>
            <a:r>
              <a:rPr lang="en-US" altLang="zh-CN">
                <a:latin typeface="Arial" panose="020B0604020202020204" pitchFamily="34" charset="0"/>
              </a:rPr>
              <a:t>D</a:t>
            </a:r>
            <a:endParaRPr lang="en-US" altLang="zh-CN">
              <a:latin typeface="Arial" panose="020B0604020202020204" pitchFamily="34" charset="0"/>
            </a:endParaRPr>
          </a:p>
        </p:txBody>
      </p:sp>
      <p:sp>
        <p:nvSpPr>
          <p:cNvPr id="21535" name="文本框 13"/>
          <p:cNvSpPr txBox="1"/>
          <p:nvPr/>
        </p:nvSpPr>
        <p:spPr>
          <a:xfrm>
            <a:off x="5592763" y="4181475"/>
            <a:ext cx="850900" cy="582613"/>
          </a:xfrm>
          <a:prstGeom prst="rect">
            <a:avLst/>
          </a:prstGeom>
          <a:noFill/>
          <a:ln w="9525">
            <a:noFill/>
          </a:ln>
        </p:spPr>
        <p:txBody>
          <a:bodyPr wrap="square" anchor="t" anchorCtr="0">
            <a:spAutoFit/>
          </a:bodyPr>
          <a:p>
            <a:r>
              <a:rPr lang="en-US" altLang="zh-CN">
                <a:latin typeface="Arial" panose="020B0604020202020204" pitchFamily="34" charset="0"/>
              </a:rPr>
              <a:t>CP</a:t>
            </a:r>
            <a:endParaRPr lang="en-US" altLang="zh-CN">
              <a:latin typeface="Arial" panose="020B0604020202020204" pitchFamily="34" charset="0"/>
            </a:endParaRPr>
          </a:p>
        </p:txBody>
      </p:sp>
      <p:sp>
        <p:nvSpPr>
          <p:cNvPr id="21536" name="文本框 14"/>
          <p:cNvSpPr txBox="1"/>
          <p:nvPr/>
        </p:nvSpPr>
        <p:spPr>
          <a:xfrm>
            <a:off x="7567613" y="2844800"/>
            <a:ext cx="850900" cy="584200"/>
          </a:xfrm>
          <a:prstGeom prst="rect">
            <a:avLst/>
          </a:prstGeom>
          <a:noFill/>
          <a:ln w="9525">
            <a:noFill/>
          </a:ln>
        </p:spPr>
        <p:txBody>
          <a:bodyPr wrap="square" anchor="t" anchorCtr="0">
            <a:spAutoFit/>
          </a:bodyPr>
          <a:p>
            <a:r>
              <a:rPr lang="en-US" altLang="zh-CN">
                <a:latin typeface="Arial" panose="020B0604020202020204" pitchFamily="34" charset="0"/>
              </a:rPr>
              <a:t>Q</a:t>
            </a:r>
            <a:endParaRPr lang="en-US" altLang="zh-CN">
              <a:latin typeface="Arial" panose="020B0604020202020204" pitchFamily="34" charset="0"/>
            </a:endParaRPr>
          </a:p>
        </p:txBody>
      </p:sp>
      <p:sp>
        <p:nvSpPr>
          <p:cNvPr id="21537" name="文本框 15"/>
          <p:cNvSpPr txBox="1"/>
          <p:nvPr/>
        </p:nvSpPr>
        <p:spPr>
          <a:xfrm>
            <a:off x="5808663" y="2879725"/>
            <a:ext cx="850900" cy="1076325"/>
          </a:xfrm>
          <a:prstGeom prst="rect">
            <a:avLst/>
          </a:prstGeom>
          <a:noFill/>
          <a:ln w="9525">
            <a:noFill/>
          </a:ln>
        </p:spPr>
        <p:txBody>
          <a:bodyPr wrap="square" anchor="t" anchorCtr="0">
            <a:spAutoFit/>
          </a:bodyPr>
          <a:p>
            <a:r>
              <a:rPr lang="en-US" altLang="zh-CN">
                <a:latin typeface="Arial" panose="020B0604020202020204" pitchFamily="34" charset="0"/>
              </a:rPr>
              <a:t>Q</a:t>
            </a:r>
            <a:r>
              <a:rPr lang="zh-CN" altLang="en-US">
                <a:latin typeface="Arial" panose="020B0604020202020204" pitchFamily="34" charset="0"/>
              </a:rPr>
              <a:t>非</a:t>
            </a:r>
            <a:endParaRPr lang="zh-CN" altLang="en-US">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标题 1"/>
          <p:cNvSpPr>
            <a:spLocks noGrp="1"/>
          </p:cNvSpPr>
          <p:nvPr>
            <p:ph type="title"/>
          </p:nvPr>
        </p:nvSpPr>
        <p:spPr/>
        <p:txBody>
          <a:bodyPr anchor="ctr" anchorCtr="0"/>
          <a:p>
            <a:r>
              <a:rPr lang="zh-CN" altLang="en-US"/>
              <a:t>数据的大小</a:t>
            </a:r>
            <a:endParaRPr lang="zh-CN" altLang="en-US"/>
          </a:p>
        </p:txBody>
      </p:sp>
      <p:sp>
        <p:nvSpPr>
          <p:cNvPr id="22530" name="内容占位符 2"/>
          <p:cNvSpPr>
            <a:spLocks noGrp="1"/>
          </p:cNvSpPr>
          <p:nvPr>
            <p:ph idx="1"/>
          </p:nvPr>
        </p:nvSpPr>
        <p:spPr>
          <a:xfrm>
            <a:off x="685800" y="1981200"/>
            <a:ext cx="4360863" cy="677863"/>
          </a:xfrm>
        </p:spPr>
        <p:txBody>
          <a:bodyPr anchor="t" anchorCtr="0"/>
          <a:p>
            <a:r>
              <a:rPr lang="zh-CN" altLang="en-US"/>
              <a:t>通过数制转换实现</a:t>
            </a:r>
            <a:endParaRPr lang="zh-CN" altLang="en-US"/>
          </a:p>
        </p:txBody>
      </p:sp>
      <p:sp>
        <p:nvSpPr>
          <p:cNvPr id="22531" name="流程图: 过程 3"/>
          <p:cNvSpPr/>
          <p:nvPr/>
        </p:nvSpPr>
        <p:spPr>
          <a:xfrm>
            <a:off x="3970338" y="4084638"/>
            <a:ext cx="1401762" cy="584200"/>
          </a:xfrm>
          <a:prstGeom prst="flowChartProcess">
            <a:avLst/>
          </a:prstGeom>
          <a:solidFill>
            <a:schemeClr val="accent1"/>
          </a:solidFill>
          <a:ln w="6350" cap="flat" cmpd="sng">
            <a:solidFill>
              <a:srgbClr val="00FFFF"/>
            </a:solidFill>
            <a:prstDash val="solid"/>
            <a:round/>
            <a:headEnd type="none" w="med" len="med"/>
            <a:tailEnd type="none" w="med" len="med"/>
          </a:ln>
        </p:spPr>
        <p:txBody>
          <a:bodyPr wrap="none" lIns="91440" tIns="45720" rIns="91440" bIns="45720" anchor="ctr" anchorCtr="0">
            <a:spAutoFit/>
          </a:bodyPr>
          <a:p>
            <a:pPr>
              <a:buSzTx/>
            </a:pPr>
            <a:r>
              <a:rPr lang="zh-CN" altLang="en-US">
                <a:latin typeface="Arial" panose="020B0604020202020204" pitchFamily="34" charset="0"/>
              </a:rPr>
              <a:t>二进制</a:t>
            </a:r>
            <a:endParaRPr lang="zh-CN" altLang="en-US">
              <a:latin typeface="Arial" panose="020B0604020202020204" pitchFamily="34" charset="0"/>
            </a:endParaRPr>
          </a:p>
        </p:txBody>
      </p:sp>
      <p:sp>
        <p:nvSpPr>
          <p:cNvPr id="22532" name="流程图: 过程 4"/>
          <p:cNvSpPr/>
          <p:nvPr/>
        </p:nvSpPr>
        <p:spPr>
          <a:xfrm>
            <a:off x="1563688" y="3136900"/>
            <a:ext cx="1401762" cy="584200"/>
          </a:xfrm>
          <a:prstGeom prst="flowChartProcess">
            <a:avLst/>
          </a:prstGeom>
          <a:solidFill>
            <a:schemeClr val="accent1"/>
          </a:solidFill>
          <a:ln w="6350" cap="flat" cmpd="sng">
            <a:solidFill>
              <a:srgbClr val="00FFFF"/>
            </a:solidFill>
            <a:prstDash val="solid"/>
            <a:round/>
            <a:headEnd type="none" w="med" len="med"/>
            <a:tailEnd type="none" w="med" len="med"/>
          </a:ln>
        </p:spPr>
        <p:txBody>
          <a:bodyPr wrap="none" lIns="91440" tIns="45720" rIns="91440" bIns="45720" anchor="ctr" anchorCtr="0">
            <a:spAutoFit/>
          </a:bodyPr>
          <a:p>
            <a:pPr>
              <a:buSzTx/>
            </a:pPr>
            <a:r>
              <a:rPr lang="zh-CN" altLang="en-US">
                <a:latin typeface="Arial" panose="020B0604020202020204" pitchFamily="34" charset="0"/>
              </a:rPr>
              <a:t>十进制</a:t>
            </a:r>
            <a:endParaRPr lang="zh-CN" altLang="en-US">
              <a:latin typeface="Arial" panose="020B0604020202020204" pitchFamily="34" charset="0"/>
            </a:endParaRPr>
          </a:p>
        </p:txBody>
      </p:sp>
      <p:sp>
        <p:nvSpPr>
          <p:cNvPr id="22533" name="流程图: 过程 5"/>
          <p:cNvSpPr/>
          <p:nvPr/>
        </p:nvSpPr>
        <p:spPr>
          <a:xfrm>
            <a:off x="6135688" y="2835275"/>
            <a:ext cx="1401762" cy="584200"/>
          </a:xfrm>
          <a:prstGeom prst="flowChartProcess">
            <a:avLst/>
          </a:prstGeom>
          <a:solidFill>
            <a:schemeClr val="accent1"/>
          </a:solidFill>
          <a:ln w="6350" cap="flat" cmpd="sng">
            <a:solidFill>
              <a:srgbClr val="00FFFF"/>
            </a:solidFill>
            <a:prstDash val="solid"/>
            <a:round/>
            <a:headEnd type="none" w="med" len="med"/>
            <a:tailEnd type="none" w="med" len="med"/>
          </a:ln>
        </p:spPr>
        <p:txBody>
          <a:bodyPr wrap="none" lIns="91440" tIns="45720" rIns="91440" bIns="45720" anchor="ctr" anchorCtr="0">
            <a:spAutoFit/>
          </a:bodyPr>
          <a:p>
            <a:pPr>
              <a:buSzTx/>
            </a:pPr>
            <a:r>
              <a:rPr lang="zh-CN" altLang="en-US">
                <a:latin typeface="Arial" panose="020B0604020202020204" pitchFamily="34" charset="0"/>
              </a:rPr>
              <a:t>八进制</a:t>
            </a:r>
            <a:endParaRPr lang="zh-CN" altLang="en-US">
              <a:latin typeface="Arial" panose="020B0604020202020204" pitchFamily="34" charset="0"/>
            </a:endParaRPr>
          </a:p>
        </p:txBody>
      </p:sp>
      <p:sp>
        <p:nvSpPr>
          <p:cNvPr id="22534" name="流程图: 过程 6"/>
          <p:cNvSpPr/>
          <p:nvPr/>
        </p:nvSpPr>
        <p:spPr>
          <a:xfrm>
            <a:off x="3870325" y="5753100"/>
            <a:ext cx="1809750" cy="584200"/>
          </a:xfrm>
          <a:prstGeom prst="flowChartProcess">
            <a:avLst/>
          </a:prstGeom>
          <a:solidFill>
            <a:schemeClr val="accent1"/>
          </a:solidFill>
          <a:ln w="6350" cap="flat" cmpd="sng">
            <a:solidFill>
              <a:srgbClr val="00FFFF"/>
            </a:solidFill>
            <a:prstDash val="solid"/>
            <a:round/>
            <a:headEnd type="none" w="med" len="med"/>
            <a:tailEnd type="none" w="med" len="med"/>
          </a:ln>
        </p:spPr>
        <p:txBody>
          <a:bodyPr wrap="none" lIns="91440" tIns="45720" rIns="91440" bIns="45720" anchor="ctr" anchorCtr="0">
            <a:spAutoFit/>
          </a:bodyPr>
          <a:p>
            <a:pPr>
              <a:buSzTx/>
            </a:pPr>
            <a:r>
              <a:rPr lang="zh-CN" altLang="en-US">
                <a:latin typeface="Arial" panose="020B0604020202020204" pitchFamily="34" charset="0"/>
              </a:rPr>
              <a:t>十六进制</a:t>
            </a:r>
            <a:endParaRPr lang="zh-CN" altLang="en-US">
              <a:latin typeface="Arial" panose="020B0604020202020204" pitchFamily="34" charset="0"/>
            </a:endParaRPr>
          </a:p>
        </p:txBody>
      </p:sp>
      <p:cxnSp>
        <p:nvCxnSpPr>
          <p:cNvPr id="8" name="直接箭头连接符 7"/>
          <p:cNvCxnSpPr>
            <a:stCxn id="22532" idx="2"/>
          </p:cNvCxnSpPr>
          <p:nvPr/>
        </p:nvCxnSpPr>
        <p:spPr>
          <a:xfrm>
            <a:off x="2263775" y="3721100"/>
            <a:ext cx="1660525" cy="715963"/>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cxnSp>
        <p:nvCxnSpPr>
          <p:cNvPr id="9" name="直接箭头连接符 8"/>
          <p:cNvCxnSpPr>
            <a:stCxn id="22532" idx="2"/>
          </p:cNvCxnSpPr>
          <p:nvPr/>
        </p:nvCxnSpPr>
        <p:spPr>
          <a:xfrm flipH="1" flipV="1">
            <a:off x="2955925" y="3419475"/>
            <a:ext cx="1255713" cy="657225"/>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cxnSp>
        <p:nvCxnSpPr>
          <p:cNvPr id="10" name="直接箭头连接符 9"/>
          <p:cNvCxnSpPr>
            <a:stCxn id="22532" idx="2"/>
          </p:cNvCxnSpPr>
          <p:nvPr/>
        </p:nvCxnSpPr>
        <p:spPr>
          <a:xfrm flipV="1">
            <a:off x="5372100" y="3429000"/>
            <a:ext cx="1071563" cy="854075"/>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cxnSp>
        <p:nvCxnSpPr>
          <p:cNvPr id="11" name="直接箭头连接符 10"/>
          <p:cNvCxnSpPr>
            <a:stCxn id="22532" idx="2"/>
          </p:cNvCxnSpPr>
          <p:nvPr/>
        </p:nvCxnSpPr>
        <p:spPr>
          <a:xfrm flipH="1">
            <a:off x="5003800" y="3136900"/>
            <a:ext cx="1131888" cy="939800"/>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cxnSp>
        <p:nvCxnSpPr>
          <p:cNvPr id="12" name="直接箭头连接符 11"/>
          <p:cNvCxnSpPr>
            <a:stCxn id="22532" idx="2"/>
          </p:cNvCxnSpPr>
          <p:nvPr/>
        </p:nvCxnSpPr>
        <p:spPr>
          <a:xfrm flipH="1" flipV="1">
            <a:off x="4746625" y="4668838"/>
            <a:ext cx="57150" cy="1065213"/>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cxnSp>
        <p:nvCxnSpPr>
          <p:cNvPr id="13" name="直接箭头连接符 12"/>
          <p:cNvCxnSpPr>
            <a:stCxn id="22532" idx="2"/>
          </p:cNvCxnSpPr>
          <p:nvPr/>
        </p:nvCxnSpPr>
        <p:spPr>
          <a:xfrm>
            <a:off x="4427538" y="4724400"/>
            <a:ext cx="1588" cy="1028700"/>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sp>
        <p:nvSpPr>
          <p:cNvPr id="22541" name="文本框 13"/>
          <p:cNvSpPr txBox="1"/>
          <p:nvPr/>
        </p:nvSpPr>
        <p:spPr>
          <a:xfrm>
            <a:off x="1546225" y="3956050"/>
            <a:ext cx="1514475" cy="830263"/>
          </a:xfrm>
          <a:prstGeom prst="rect">
            <a:avLst/>
          </a:prstGeom>
          <a:noFill/>
          <a:ln w="9525">
            <a:noFill/>
          </a:ln>
        </p:spPr>
        <p:txBody>
          <a:bodyPr wrap="square" anchor="t" anchorCtr="0">
            <a:spAutoFit/>
          </a:bodyPr>
          <a:p>
            <a:r>
              <a:rPr lang="zh-CN" altLang="en-US" sz="2400">
                <a:latin typeface="Arial" panose="020B0604020202020204" pitchFamily="34" charset="0"/>
              </a:rPr>
              <a:t>分整数与小数</a:t>
            </a:r>
            <a:endParaRPr lang="zh-CN" altLang="en-US" sz="2400">
              <a:latin typeface="Arial" panose="020B0604020202020204" pitchFamily="34" charset="0"/>
            </a:endParaRPr>
          </a:p>
        </p:txBody>
      </p:sp>
      <p:sp>
        <p:nvSpPr>
          <p:cNvPr id="22542" name="文本框 14"/>
          <p:cNvSpPr txBox="1"/>
          <p:nvPr/>
        </p:nvSpPr>
        <p:spPr>
          <a:xfrm>
            <a:off x="3289300" y="3136900"/>
            <a:ext cx="1389063" cy="708025"/>
          </a:xfrm>
          <a:prstGeom prst="rect">
            <a:avLst/>
          </a:prstGeom>
          <a:noFill/>
          <a:ln w="9525">
            <a:noFill/>
          </a:ln>
        </p:spPr>
        <p:txBody>
          <a:bodyPr wrap="square" anchor="t" anchorCtr="0">
            <a:spAutoFit/>
          </a:bodyPr>
          <a:p>
            <a:r>
              <a:rPr lang="zh-CN" altLang="en-US" sz="2000">
                <a:latin typeface="Arial" panose="020B0604020202020204" pitchFamily="34" charset="0"/>
              </a:rPr>
              <a:t>公式法展开</a:t>
            </a:r>
            <a:endParaRPr lang="zh-CN" altLang="en-US" sz="2000">
              <a:latin typeface="Arial" panose="020B0604020202020204" pitchFamily="34" charset="0"/>
            </a:endParaRPr>
          </a:p>
        </p:txBody>
      </p:sp>
      <p:sp>
        <p:nvSpPr>
          <p:cNvPr id="22543" name="文本框 15"/>
          <p:cNvSpPr txBox="1"/>
          <p:nvPr/>
        </p:nvSpPr>
        <p:spPr>
          <a:xfrm>
            <a:off x="5086350" y="3136900"/>
            <a:ext cx="965200" cy="400050"/>
          </a:xfrm>
          <a:prstGeom prst="rect">
            <a:avLst/>
          </a:prstGeom>
          <a:noFill/>
          <a:ln w="9525">
            <a:noFill/>
          </a:ln>
        </p:spPr>
        <p:txBody>
          <a:bodyPr wrap="square" anchor="t" anchorCtr="0">
            <a:spAutoFit/>
          </a:bodyPr>
          <a:p>
            <a:r>
              <a:rPr lang="en-US" altLang="zh-CN" sz="2000">
                <a:latin typeface="Arial" panose="020B0604020202020204" pitchFamily="34" charset="0"/>
              </a:rPr>
              <a:t>1</a:t>
            </a:r>
            <a:r>
              <a:rPr lang="zh-CN" altLang="en-US" sz="2000">
                <a:latin typeface="Arial" panose="020B0604020202020204" pitchFamily="34" charset="0"/>
              </a:rPr>
              <a:t>扩</a:t>
            </a:r>
            <a:r>
              <a:rPr lang="en-US" altLang="zh-CN" sz="2000">
                <a:latin typeface="Arial" panose="020B0604020202020204" pitchFamily="34" charset="0"/>
              </a:rPr>
              <a:t>3</a:t>
            </a:r>
            <a:endParaRPr lang="en-US" altLang="zh-CN" sz="2000">
              <a:latin typeface="Arial" panose="020B0604020202020204" pitchFamily="34" charset="0"/>
            </a:endParaRPr>
          </a:p>
        </p:txBody>
      </p:sp>
      <p:sp>
        <p:nvSpPr>
          <p:cNvPr id="22544" name="文本框 16"/>
          <p:cNvSpPr txBox="1"/>
          <p:nvPr/>
        </p:nvSpPr>
        <p:spPr>
          <a:xfrm>
            <a:off x="5780088" y="3956050"/>
            <a:ext cx="965200" cy="400050"/>
          </a:xfrm>
          <a:prstGeom prst="rect">
            <a:avLst/>
          </a:prstGeom>
          <a:noFill/>
          <a:ln w="9525">
            <a:noFill/>
          </a:ln>
        </p:spPr>
        <p:txBody>
          <a:bodyPr wrap="square" anchor="t" anchorCtr="0">
            <a:spAutoFit/>
          </a:bodyPr>
          <a:p>
            <a:r>
              <a:rPr lang="en-US" altLang="zh-CN" sz="2000">
                <a:latin typeface="Arial" panose="020B0604020202020204" pitchFamily="34" charset="0"/>
              </a:rPr>
              <a:t>3</a:t>
            </a:r>
            <a:r>
              <a:rPr lang="zh-CN" altLang="en-US" sz="2000">
                <a:latin typeface="Arial" panose="020B0604020202020204" pitchFamily="34" charset="0"/>
              </a:rPr>
              <a:t>括</a:t>
            </a:r>
            <a:r>
              <a:rPr lang="en-US" altLang="zh-CN" sz="2000">
                <a:latin typeface="Arial" panose="020B0604020202020204" pitchFamily="34" charset="0"/>
              </a:rPr>
              <a:t>1</a:t>
            </a:r>
            <a:endParaRPr lang="en-US" altLang="zh-CN" sz="2000">
              <a:latin typeface="Arial" panose="020B0604020202020204" pitchFamily="34" charset="0"/>
            </a:endParaRPr>
          </a:p>
        </p:txBody>
      </p:sp>
      <p:sp>
        <p:nvSpPr>
          <p:cNvPr id="22545" name="文本框 17"/>
          <p:cNvSpPr txBox="1"/>
          <p:nvPr/>
        </p:nvSpPr>
        <p:spPr>
          <a:xfrm>
            <a:off x="4922838" y="5040313"/>
            <a:ext cx="965200" cy="398462"/>
          </a:xfrm>
          <a:prstGeom prst="rect">
            <a:avLst/>
          </a:prstGeom>
          <a:noFill/>
          <a:ln w="9525">
            <a:noFill/>
          </a:ln>
        </p:spPr>
        <p:txBody>
          <a:bodyPr wrap="square" anchor="t" anchorCtr="0">
            <a:spAutoFit/>
          </a:bodyPr>
          <a:p>
            <a:r>
              <a:rPr lang="en-US" altLang="zh-CN" sz="2000">
                <a:latin typeface="Arial" panose="020B0604020202020204" pitchFamily="34" charset="0"/>
              </a:rPr>
              <a:t>1</a:t>
            </a:r>
            <a:r>
              <a:rPr lang="zh-CN" altLang="en-US" sz="2000">
                <a:latin typeface="Arial" panose="020B0604020202020204" pitchFamily="34" charset="0"/>
              </a:rPr>
              <a:t>扩</a:t>
            </a:r>
            <a:r>
              <a:rPr lang="en-US" altLang="zh-CN" sz="2000">
                <a:latin typeface="Arial" panose="020B0604020202020204" pitchFamily="34" charset="0"/>
              </a:rPr>
              <a:t>4</a:t>
            </a:r>
            <a:endParaRPr lang="en-US" altLang="zh-CN" sz="2000">
              <a:latin typeface="Arial" panose="020B0604020202020204" pitchFamily="34" charset="0"/>
            </a:endParaRPr>
          </a:p>
        </p:txBody>
      </p:sp>
      <p:sp>
        <p:nvSpPr>
          <p:cNvPr id="22546" name="文本框 18"/>
          <p:cNvSpPr txBox="1"/>
          <p:nvPr/>
        </p:nvSpPr>
        <p:spPr>
          <a:xfrm>
            <a:off x="3713163" y="5000625"/>
            <a:ext cx="965200" cy="400050"/>
          </a:xfrm>
          <a:prstGeom prst="rect">
            <a:avLst/>
          </a:prstGeom>
          <a:noFill/>
          <a:ln w="9525">
            <a:noFill/>
          </a:ln>
        </p:spPr>
        <p:txBody>
          <a:bodyPr wrap="square" anchor="t" anchorCtr="0">
            <a:spAutoFit/>
          </a:bodyPr>
          <a:p>
            <a:r>
              <a:rPr lang="en-US" altLang="zh-CN" sz="2000">
                <a:latin typeface="Arial" panose="020B0604020202020204" pitchFamily="34" charset="0"/>
              </a:rPr>
              <a:t>4</a:t>
            </a:r>
            <a:r>
              <a:rPr lang="zh-CN" altLang="en-US" sz="2000">
                <a:latin typeface="Arial" panose="020B0604020202020204" pitchFamily="34" charset="0"/>
              </a:rPr>
              <a:t>括</a:t>
            </a:r>
            <a:r>
              <a:rPr lang="en-US" altLang="zh-CN" sz="2000">
                <a:latin typeface="Arial" panose="020B0604020202020204" pitchFamily="34" charset="0"/>
              </a:rPr>
              <a:t>1</a:t>
            </a:r>
            <a:endParaRPr lang="en-US" altLang="zh-CN" sz="2000">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标题 1"/>
          <p:cNvSpPr>
            <a:spLocks noGrp="1"/>
          </p:cNvSpPr>
          <p:nvPr>
            <p:ph type="title"/>
          </p:nvPr>
        </p:nvSpPr>
        <p:spPr/>
        <p:txBody>
          <a:bodyPr anchor="ctr" anchorCtr="0"/>
          <a:p>
            <a:r>
              <a:rPr lang="zh-CN" altLang="en-US"/>
              <a:t>二进制与十进制</a:t>
            </a:r>
            <a:endParaRPr lang="zh-CN" altLang="en-US"/>
          </a:p>
        </p:txBody>
      </p:sp>
      <p:sp>
        <p:nvSpPr>
          <p:cNvPr id="3" name="内容占位符 2"/>
          <p:cNvSpPr>
            <a:spLocks noGrp="1"/>
          </p:cNvSpPr>
          <p:nvPr>
            <p:ph idx="1"/>
          </p:nvPr>
        </p:nvSpPr>
        <p:spPr/>
        <p:txBody>
          <a:bodyPr/>
          <a:p>
            <a:pPr marL="342900" marR="0" indent="-342900" algn="l" defTabSz="914400" rtl="0" eaLnBrk="0" fontAlgn="base" latinLnBrk="0" hangingPunct="0">
              <a:lnSpc>
                <a:spcPct val="100000"/>
              </a:lnSpc>
              <a:spcBef>
                <a:spcPct val="20000"/>
              </a:spcBef>
              <a:spcAft>
                <a:spcPct val="0"/>
              </a:spcAft>
              <a:buClrTx/>
              <a:buSzTx/>
              <a:buFontTx/>
              <a:buChar char="•"/>
            </a:pPr>
            <a:r>
              <a:rPr kumimoji="1" lang="zh-CN" altLang="en-US" sz="3200" b="0" i="0" u="none" strike="noStrike" kern="0" cap="none" spc="0" normalizeH="0" baseline="0" noProof="1">
                <a:solidFill>
                  <a:schemeClr val="tx1"/>
                </a:solidFill>
                <a:latin typeface="+mn-lt"/>
                <a:ea typeface="+mn-ea"/>
                <a:cs typeface="+mn-cs"/>
                <a:sym typeface="+mn-ea"/>
              </a:rPr>
              <a:t>二进制</a:t>
            </a:r>
            <a:r>
              <a:rPr kumimoji="1" lang="en-US" altLang="zh-CN" sz="3200" b="0" i="0" u="none" strike="noStrike" kern="0" cap="none" spc="0" normalizeH="0" baseline="0" noProof="1">
                <a:solidFill>
                  <a:schemeClr val="tx1"/>
                </a:solidFill>
                <a:latin typeface="+mn-lt"/>
                <a:ea typeface="+mn-ea"/>
                <a:cs typeface="+mn-cs"/>
                <a:sym typeface="+mn-ea"/>
              </a:rPr>
              <a:t>——&gt;</a:t>
            </a:r>
            <a:r>
              <a:rPr kumimoji="1" lang="zh-CN" altLang="en-US" sz="3200" b="0" i="0" u="none" strike="noStrike" kern="0" cap="none" spc="0" normalizeH="0" baseline="0" noProof="1">
                <a:solidFill>
                  <a:schemeClr val="tx1"/>
                </a:solidFill>
                <a:latin typeface="+mn-lt"/>
                <a:ea typeface="+mn-ea"/>
                <a:cs typeface="+mn-cs"/>
                <a:sym typeface="+mn-ea"/>
              </a:rPr>
              <a:t>十进制</a:t>
            </a:r>
            <a:endParaRPr kumimoji="1" lang="zh-CN" altLang="en-US" sz="3200" b="0" i="0" u="none" strike="noStrike" kern="0" cap="none" spc="0" normalizeH="0" baseline="0" noProof="1">
              <a:solidFill>
                <a:schemeClr val="tx1"/>
              </a:solidFill>
              <a:latin typeface="+mn-lt"/>
              <a:ea typeface="+mn-ea"/>
              <a:cs typeface="+mn-cs"/>
              <a:sym typeface="+mn-ea"/>
            </a:endParaRPr>
          </a:p>
          <a:p>
            <a:pPr marL="0" marR="0" indent="0" algn="l" defTabSz="914400" rtl="0" eaLnBrk="0" fontAlgn="base" latinLnBrk="0" hangingPunct="0">
              <a:lnSpc>
                <a:spcPct val="100000"/>
              </a:lnSpc>
              <a:spcBef>
                <a:spcPct val="20000"/>
              </a:spcBef>
              <a:spcAft>
                <a:spcPct val="0"/>
              </a:spcAft>
              <a:buClrTx/>
              <a:buSzTx/>
              <a:buFontTx/>
              <a:buNone/>
            </a:pPr>
            <a:r>
              <a:rPr kumimoji="1" lang="zh-CN" altLang="en-US" sz="3200" b="0" i="0" u="none" strike="noStrike" kern="0" cap="none" spc="0" normalizeH="0" baseline="0" noProof="1">
                <a:solidFill>
                  <a:schemeClr val="tx1"/>
                </a:solidFill>
                <a:latin typeface="+mn-lt"/>
                <a:ea typeface="+mn-ea"/>
                <a:cs typeface="+mn-cs"/>
                <a:sym typeface="+mn-ea"/>
              </a:rPr>
              <a:t>         </a:t>
            </a:r>
            <a:r>
              <a:rPr kumimoji="1" lang="zh-CN" altLang="en-US" sz="3200" b="0" i="0" u="none" strike="noStrike" kern="0" cap="none" spc="0" normalizeH="0" baseline="0" noProof="1">
                <a:solidFill>
                  <a:srgbClr val="FF0000"/>
                </a:solidFill>
                <a:latin typeface="+mn-lt"/>
                <a:ea typeface="+mn-ea"/>
                <a:cs typeface="+mn-cs"/>
                <a:sym typeface="+mn-ea"/>
              </a:rPr>
              <a:t>公式法展开：计算基数与权，按（</a:t>
            </a:r>
            <a:r>
              <a:rPr kumimoji="1" lang="en-US" altLang="zh-CN" sz="3200" b="0" i="0" u="none" strike="noStrike" kern="0" cap="none" spc="0" normalizeH="0" baseline="0" noProof="1">
                <a:solidFill>
                  <a:srgbClr val="FF0000"/>
                </a:solidFill>
                <a:latin typeface="+mn-lt"/>
                <a:ea typeface="+mn-ea"/>
                <a:cs typeface="+mn-cs"/>
                <a:sym typeface="+mn-ea"/>
              </a:rPr>
              <a:t>n-1</a:t>
            </a:r>
            <a:r>
              <a:rPr kumimoji="1" lang="zh-CN" altLang="en-US" sz="3200" b="0" i="0" u="none" strike="noStrike" kern="0" cap="none" spc="0" normalizeH="0" baseline="0" noProof="1">
                <a:solidFill>
                  <a:srgbClr val="FF0000"/>
                </a:solidFill>
                <a:latin typeface="+mn-lt"/>
                <a:ea typeface="+mn-ea"/>
                <a:cs typeface="+mn-cs"/>
                <a:sym typeface="+mn-ea"/>
              </a:rPr>
              <a:t>）幂次展开，并求和</a:t>
            </a:r>
            <a:endParaRPr kumimoji="1" lang="zh-CN" altLang="en-US" sz="3200" b="0" i="0" u="none" strike="noStrike" kern="0" cap="none" spc="0" normalizeH="0" baseline="0" noProof="1">
              <a:solidFill>
                <a:schemeClr val="tx1"/>
              </a:solidFill>
              <a:latin typeface="+mn-lt"/>
              <a:ea typeface="+mn-ea"/>
              <a:cs typeface="+mn-cs"/>
              <a:sym typeface="+mn-ea"/>
            </a:endParaRPr>
          </a:p>
          <a:p>
            <a:pPr marL="0" marR="0" indent="0" algn="l" defTabSz="914400" rtl="0" eaLnBrk="0" fontAlgn="base" latinLnBrk="0" hangingPunct="0">
              <a:lnSpc>
                <a:spcPct val="100000"/>
              </a:lnSpc>
              <a:spcBef>
                <a:spcPct val="20000"/>
              </a:spcBef>
              <a:spcAft>
                <a:spcPct val="0"/>
              </a:spcAft>
              <a:buClrTx/>
              <a:buSzTx/>
              <a:buFontTx/>
              <a:buNone/>
            </a:pPr>
            <a:r>
              <a:rPr kumimoji="1" lang="en-US" altLang="zh-CN" sz="3200" b="0" i="0" u="none" strike="noStrike" kern="0" cap="none" spc="0" normalizeH="0" baseline="0" noProof="1">
                <a:solidFill>
                  <a:schemeClr val="tx1"/>
                </a:solidFill>
                <a:latin typeface="+mn-lt"/>
                <a:ea typeface="+mn-ea"/>
                <a:cs typeface="+mn-cs"/>
                <a:sym typeface="+mn-ea"/>
              </a:rPr>
              <a:t>10110101.011B=1X2</a:t>
            </a:r>
            <a:r>
              <a:rPr kumimoji="1" lang="en-US" altLang="zh-CN" sz="3200" b="0" i="0" u="none" strike="noStrike" kern="0" cap="none" spc="0" normalizeH="0" baseline="30000" noProof="1">
                <a:solidFill>
                  <a:schemeClr val="tx1"/>
                </a:solidFill>
                <a:uFillTx/>
                <a:latin typeface="+mn-lt"/>
                <a:ea typeface="+mn-ea"/>
                <a:cs typeface="+mn-cs"/>
                <a:sym typeface="+mn-ea"/>
              </a:rPr>
              <a:t>7</a:t>
            </a:r>
            <a:r>
              <a:rPr kumimoji="1" lang="en-US" altLang="zh-CN" sz="3200" b="0" i="0" u="none" strike="noStrike" kern="0" cap="none" spc="0" normalizeH="0" baseline="0" noProof="1">
                <a:solidFill>
                  <a:schemeClr val="tx1"/>
                </a:solidFill>
                <a:latin typeface="+mn-lt"/>
                <a:ea typeface="+mn-ea"/>
                <a:cs typeface="+mn-cs"/>
                <a:sym typeface="+mn-ea"/>
              </a:rPr>
              <a:t>+</a:t>
            </a:r>
            <a:r>
              <a:rPr kumimoji="1" lang="en-US" altLang="zh-CN" sz="3200" b="0" i="0" u="none" strike="noStrike" kern="0" cap="none" spc="0" normalizeH="0" baseline="0" noProof="1">
                <a:solidFill>
                  <a:schemeClr val="tx1"/>
                </a:solidFill>
                <a:latin typeface="+mn-lt"/>
                <a:ea typeface="+mn-ea"/>
                <a:cs typeface="+mn-cs"/>
                <a:sym typeface="+mn-ea"/>
              </a:rPr>
              <a:t>1X2</a:t>
            </a:r>
            <a:r>
              <a:rPr kumimoji="1" lang="en-US" altLang="zh-CN" sz="3200" b="0" i="0" u="none" strike="noStrike" kern="0" cap="none" spc="0" normalizeH="0" baseline="30000" noProof="1">
                <a:solidFill>
                  <a:schemeClr val="tx1"/>
                </a:solidFill>
                <a:uFillTx/>
                <a:latin typeface="+mn-lt"/>
                <a:ea typeface="+mn-ea"/>
                <a:cs typeface="+mn-cs"/>
                <a:sym typeface="+mn-ea"/>
              </a:rPr>
              <a:t>5</a:t>
            </a:r>
            <a:r>
              <a:rPr kumimoji="1" lang="en-US" altLang="zh-CN" sz="3200" b="0" i="0" u="none" strike="noStrike" kern="0" cap="none" spc="0" normalizeH="0" baseline="0" noProof="1">
                <a:solidFill>
                  <a:schemeClr val="tx1"/>
                </a:solidFill>
                <a:latin typeface="+mn-lt"/>
                <a:ea typeface="+mn-ea"/>
                <a:cs typeface="+mn-cs"/>
                <a:sym typeface="+mn-ea"/>
              </a:rPr>
              <a:t>+1X2</a:t>
            </a:r>
            <a:r>
              <a:rPr kumimoji="1" lang="en-US" altLang="zh-CN" sz="3200" b="0" i="0" u="none" strike="noStrike" kern="0" cap="none" spc="0" normalizeH="0" baseline="30000" noProof="1">
                <a:solidFill>
                  <a:schemeClr val="tx1"/>
                </a:solidFill>
                <a:uFillTx/>
                <a:latin typeface="+mn-lt"/>
                <a:ea typeface="+mn-ea"/>
                <a:cs typeface="+mn-cs"/>
                <a:sym typeface="+mn-ea"/>
              </a:rPr>
              <a:t>4</a:t>
            </a:r>
            <a:r>
              <a:rPr kumimoji="1" lang="en-US" altLang="zh-CN" sz="3200" b="0" i="0" u="none" strike="noStrike" kern="0" cap="none" spc="0" normalizeH="0" baseline="0" noProof="1">
                <a:solidFill>
                  <a:schemeClr val="tx1"/>
                </a:solidFill>
                <a:latin typeface="+mn-lt"/>
                <a:ea typeface="+mn-ea"/>
                <a:cs typeface="+mn-cs"/>
                <a:sym typeface="+mn-ea"/>
              </a:rPr>
              <a:t>+1X2</a:t>
            </a:r>
            <a:r>
              <a:rPr kumimoji="1" lang="en-US" altLang="zh-CN" sz="3200" b="0" i="0" u="none" strike="noStrike" kern="0" cap="none" spc="0" normalizeH="0" baseline="30000" noProof="1">
                <a:solidFill>
                  <a:schemeClr val="tx1"/>
                </a:solidFill>
                <a:uFillTx/>
                <a:latin typeface="+mn-lt"/>
                <a:ea typeface="+mn-ea"/>
                <a:cs typeface="+mn-cs"/>
                <a:sym typeface="+mn-ea"/>
              </a:rPr>
              <a:t>2</a:t>
            </a:r>
            <a:r>
              <a:rPr kumimoji="1" lang="en-US" altLang="zh-CN" sz="3200" b="0" i="0" u="none" strike="noStrike" kern="0" cap="none" spc="0" normalizeH="0" baseline="0" noProof="1">
                <a:solidFill>
                  <a:schemeClr val="tx1"/>
                </a:solidFill>
                <a:latin typeface="+mn-lt"/>
                <a:ea typeface="+mn-ea"/>
                <a:cs typeface="+mn-cs"/>
                <a:sym typeface="+mn-ea"/>
              </a:rPr>
              <a:t>+1X2</a:t>
            </a:r>
            <a:r>
              <a:rPr kumimoji="1" lang="en-US" altLang="zh-CN" sz="3200" b="0" i="0" u="none" strike="noStrike" kern="0" cap="none" spc="0" normalizeH="0" baseline="30000" noProof="1">
                <a:solidFill>
                  <a:schemeClr val="tx1"/>
                </a:solidFill>
                <a:uFillTx/>
                <a:latin typeface="+mn-lt"/>
                <a:ea typeface="+mn-ea"/>
                <a:cs typeface="+mn-cs"/>
                <a:sym typeface="+mn-ea"/>
              </a:rPr>
              <a:t>0</a:t>
            </a:r>
            <a:r>
              <a:rPr kumimoji="1" lang="en-US" altLang="zh-CN" sz="3200" b="0" i="0" u="none" strike="noStrike" kern="0" cap="none" spc="0" normalizeH="0" baseline="0" noProof="1">
                <a:solidFill>
                  <a:schemeClr val="tx1"/>
                </a:solidFill>
                <a:latin typeface="+mn-lt"/>
                <a:ea typeface="+mn-ea"/>
                <a:cs typeface="+mn-cs"/>
                <a:sym typeface="+mn-ea"/>
              </a:rPr>
              <a:t>+1X2</a:t>
            </a:r>
            <a:r>
              <a:rPr kumimoji="1" lang="en-US" altLang="zh-CN" sz="3200" b="0" i="0" u="none" strike="noStrike" kern="0" cap="none" spc="0" normalizeH="0" baseline="30000" noProof="1">
                <a:solidFill>
                  <a:schemeClr val="tx1"/>
                </a:solidFill>
                <a:uFillTx/>
                <a:latin typeface="+mn-lt"/>
                <a:ea typeface="+mn-ea"/>
                <a:cs typeface="+mn-cs"/>
                <a:sym typeface="+mn-ea"/>
              </a:rPr>
              <a:t>-2</a:t>
            </a:r>
            <a:r>
              <a:rPr kumimoji="1" lang="en-US" altLang="zh-CN" sz="3200" b="0" i="0" u="none" strike="noStrike" kern="0" cap="none" spc="0" normalizeH="0" baseline="0" noProof="1">
                <a:solidFill>
                  <a:schemeClr val="tx1"/>
                </a:solidFill>
                <a:latin typeface="+mn-lt"/>
                <a:ea typeface="+mn-ea"/>
                <a:cs typeface="+mn-cs"/>
                <a:sym typeface="+mn-ea"/>
              </a:rPr>
              <a:t>+1X2</a:t>
            </a:r>
            <a:r>
              <a:rPr kumimoji="1" lang="en-US" altLang="zh-CN" sz="3200" b="0" i="0" u="none" strike="noStrike" kern="0" cap="none" spc="0" normalizeH="0" baseline="30000" noProof="1">
                <a:solidFill>
                  <a:schemeClr val="tx1"/>
                </a:solidFill>
                <a:uFillTx/>
                <a:latin typeface="+mn-lt"/>
                <a:ea typeface="+mn-ea"/>
                <a:cs typeface="+mn-cs"/>
                <a:sym typeface="+mn-ea"/>
              </a:rPr>
              <a:t>-3</a:t>
            </a:r>
            <a:endParaRPr kumimoji="1" lang="en-US" altLang="zh-CN" sz="3200" b="0" i="0" u="none" strike="noStrike" kern="0" cap="none" spc="0" normalizeH="0" baseline="30000" noProof="1">
              <a:solidFill>
                <a:schemeClr val="tx1"/>
              </a:solidFill>
              <a:uFillTx/>
              <a:latin typeface="+mn-lt"/>
              <a:ea typeface="+mn-ea"/>
              <a:cs typeface="+mn-cs"/>
              <a:sym typeface="+mn-ea"/>
            </a:endParaRPr>
          </a:p>
          <a:p>
            <a:pPr marL="0" marR="0" indent="0" algn="l" defTabSz="914400" rtl="0" eaLnBrk="0" fontAlgn="base" latinLnBrk="0" hangingPunct="0">
              <a:lnSpc>
                <a:spcPct val="100000"/>
              </a:lnSpc>
              <a:spcBef>
                <a:spcPct val="20000"/>
              </a:spcBef>
              <a:spcAft>
                <a:spcPct val="0"/>
              </a:spcAft>
              <a:buClrTx/>
              <a:buSzTx/>
              <a:buFontTx/>
              <a:buNone/>
            </a:pPr>
            <a:r>
              <a:rPr kumimoji="1" lang="en-US" altLang="zh-CN" sz="3200" b="0" i="0" u="none" strike="noStrike" kern="0" cap="none" spc="0" normalizeH="0" baseline="0" noProof="1">
                <a:solidFill>
                  <a:schemeClr val="tx1"/>
                </a:solidFill>
                <a:latin typeface="+mn-lt"/>
                <a:ea typeface="+mn-ea"/>
                <a:cs typeface="+mn-cs"/>
                <a:sym typeface="+mn-ea"/>
              </a:rPr>
              <a:t>=128+32+16+4+1+0.25+0.125</a:t>
            </a:r>
            <a:endParaRPr kumimoji="1" lang="en-US" altLang="zh-CN" sz="3200" b="0" i="0" u="none" strike="noStrike" kern="0" cap="none" spc="0" normalizeH="0" baseline="0" noProof="1">
              <a:solidFill>
                <a:schemeClr val="tx1"/>
              </a:solidFill>
              <a:latin typeface="+mn-lt"/>
              <a:ea typeface="+mn-ea"/>
              <a:cs typeface="+mn-cs"/>
              <a:sym typeface="+mn-ea"/>
            </a:endParaRPr>
          </a:p>
          <a:p>
            <a:pPr marL="0" marR="0" indent="0" algn="l" defTabSz="914400" rtl="0" eaLnBrk="0" fontAlgn="base" latinLnBrk="0" hangingPunct="0">
              <a:lnSpc>
                <a:spcPct val="100000"/>
              </a:lnSpc>
              <a:spcBef>
                <a:spcPct val="20000"/>
              </a:spcBef>
              <a:spcAft>
                <a:spcPct val="0"/>
              </a:spcAft>
              <a:buClrTx/>
              <a:buSzTx/>
              <a:buFontTx/>
              <a:buNone/>
            </a:pPr>
            <a:r>
              <a:rPr kumimoji="1" lang="en-US" altLang="zh-CN" sz="3200" b="0" i="0" u="none" strike="noStrike" kern="0" cap="none" spc="0" normalizeH="0" baseline="0" noProof="1">
                <a:solidFill>
                  <a:schemeClr val="tx1"/>
                </a:solidFill>
                <a:latin typeface="+mn-lt"/>
                <a:ea typeface="+mn-ea"/>
                <a:cs typeface="+mn-cs"/>
                <a:sym typeface="+mn-ea"/>
              </a:rPr>
              <a:t>=181.375</a:t>
            </a:r>
            <a:endParaRPr kumimoji="1" lang="en-US" altLang="zh-CN" sz="3200" b="0" i="0" u="none" strike="noStrike" kern="0" cap="none" spc="0" normalizeH="0" baseline="0" noProof="1">
              <a:solidFill>
                <a:schemeClr val="tx1"/>
              </a:solidFill>
              <a:latin typeface="+mn-lt"/>
              <a:ea typeface="+mn-ea"/>
              <a:cs typeface="+mn-cs"/>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577" name="内容占位符 3"/>
          <p:cNvPicPr>
            <a:picLocks noGrp="1" noChangeAspect="1"/>
          </p:cNvPicPr>
          <p:nvPr>
            <p:ph idx="1"/>
          </p:nvPr>
        </p:nvPicPr>
        <p:blipFill>
          <a:blip r:embed="rId1"/>
          <a:stretch>
            <a:fillRect/>
          </a:stretch>
        </p:blipFill>
        <p:spPr>
          <a:xfrm>
            <a:off x="-155575" y="985838"/>
            <a:ext cx="9053513" cy="5846762"/>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601" name="内容占位符 3"/>
          <p:cNvPicPr>
            <a:picLocks noGrp="1" noChangeAspect="1"/>
          </p:cNvPicPr>
          <p:nvPr>
            <p:ph idx="1"/>
          </p:nvPr>
        </p:nvPicPr>
        <p:blipFill>
          <a:blip r:embed="rId1"/>
          <a:stretch>
            <a:fillRect/>
          </a:stretch>
        </p:blipFill>
        <p:spPr>
          <a:xfrm>
            <a:off x="403225" y="596900"/>
            <a:ext cx="8661400" cy="5969000"/>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1"/>
          <p:cNvSpPr>
            <a:spLocks noGrp="1"/>
          </p:cNvSpPr>
          <p:nvPr>
            <p:ph type="title"/>
          </p:nvPr>
        </p:nvSpPr>
        <p:spPr/>
        <p:txBody>
          <a:bodyPr anchor="ctr" anchorCtr="0"/>
          <a:p>
            <a:r>
              <a:rPr lang="zh-CN" altLang="en-US"/>
              <a:t>二进制与十进制</a:t>
            </a:r>
            <a:endParaRPr lang="zh-CN" altLang="en-US"/>
          </a:p>
        </p:txBody>
      </p:sp>
      <p:sp>
        <p:nvSpPr>
          <p:cNvPr id="3" name="内容占位符 2"/>
          <p:cNvSpPr>
            <a:spLocks noGrp="1"/>
          </p:cNvSpPr>
          <p:nvPr>
            <p:ph idx="1"/>
          </p:nvPr>
        </p:nvSpPr>
        <p:spPr>
          <a:xfrm>
            <a:off x="685800" y="1550988"/>
            <a:ext cx="7772400" cy="2563813"/>
          </a:xfrm>
        </p:spPr>
        <p:txBody>
          <a:bodyPr/>
          <a:p>
            <a:pPr marL="342900" marR="0" indent="-342900" algn="l" defTabSz="914400" rtl="0" eaLnBrk="0" fontAlgn="base" latinLnBrk="0" hangingPunct="0">
              <a:lnSpc>
                <a:spcPct val="100000"/>
              </a:lnSpc>
              <a:spcBef>
                <a:spcPct val="20000"/>
              </a:spcBef>
              <a:spcAft>
                <a:spcPct val="0"/>
              </a:spcAft>
              <a:buClrTx/>
              <a:buSzTx/>
              <a:buFontTx/>
              <a:buChar char="•"/>
            </a:pPr>
            <a:r>
              <a:rPr kumimoji="1" lang="zh-CN" altLang="en-US" sz="3200" b="0" i="0" u="none" strike="noStrike" kern="0" cap="none" spc="0" normalizeH="0" baseline="0" noProof="1">
                <a:solidFill>
                  <a:schemeClr val="tx1"/>
                </a:solidFill>
                <a:latin typeface="+mn-lt"/>
                <a:ea typeface="+mn-ea"/>
                <a:cs typeface="+mn-cs"/>
                <a:sym typeface="+mn-ea"/>
              </a:rPr>
              <a:t>十进制</a:t>
            </a:r>
            <a:r>
              <a:rPr kumimoji="1" lang="en-US" altLang="zh-CN" sz="3200" b="0" i="0" u="none" strike="noStrike" kern="0" cap="none" spc="0" normalizeH="0" baseline="0" noProof="1">
                <a:solidFill>
                  <a:schemeClr val="tx1"/>
                </a:solidFill>
                <a:latin typeface="+mn-lt"/>
                <a:ea typeface="+mn-ea"/>
                <a:cs typeface="+mn-cs"/>
                <a:sym typeface="+mn-ea"/>
              </a:rPr>
              <a:t>——&gt;</a:t>
            </a:r>
            <a:r>
              <a:rPr kumimoji="1" lang="zh-CN" altLang="en-US" sz="3200" b="0" i="0" u="none" strike="noStrike" kern="0" cap="none" spc="0" normalizeH="0" baseline="0" noProof="1">
                <a:solidFill>
                  <a:schemeClr val="tx1"/>
                </a:solidFill>
                <a:latin typeface="+mn-lt"/>
                <a:ea typeface="+mn-ea"/>
                <a:cs typeface="+mn-cs"/>
                <a:sym typeface="+mn-ea"/>
              </a:rPr>
              <a:t>二进制</a:t>
            </a:r>
            <a:endParaRPr kumimoji="1" lang="zh-CN" altLang="en-US" sz="3200" b="0" i="0" u="none" strike="noStrike" kern="0" cap="none" spc="0" normalizeH="0" baseline="0" noProof="1">
              <a:solidFill>
                <a:schemeClr val="tx1"/>
              </a:solidFill>
              <a:latin typeface="+mn-lt"/>
              <a:ea typeface="+mn-ea"/>
              <a:cs typeface="+mn-cs"/>
              <a:sym typeface="+mn-ea"/>
            </a:endParaRPr>
          </a:p>
          <a:p>
            <a:pPr marL="0" marR="0" indent="0" algn="l" defTabSz="914400" rtl="0" eaLnBrk="0" fontAlgn="base" latinLnBrk="0" hangingPunct="0">
              <a:lnSpc>
                <a:spcPct val="100000"/>
              </a:lnSpc>
              <a:spcBef>
                <a:spcPct val="20000"/>
              </a:spcBef>
              <a:spcAft>
                <a:spcPct val="0"/>
              </a:spcAft>
              <a:buClrTx/>
              <a:buSzTx/>
              <a:buFontTx/>
              <a:buNone/>
            </a:pPr>
            <a:r>
              <a:rPr kumimoji="1" lang="zh-CN" altLang="en-US" sz="3200" b="0" i="0" u="none" strike="noStrike" kern="0" cap="none" spc="0" normalizeH="0" baseline="0" noProof="1">
                <a:solidFill>
                  <a:srgbClr val="FF0000"/>
                </a:solidFill>
                <a:latin typeface="+mn-lt"/>
                <a:ea typeface="+mn-ea"/>
                <a:cs typeface="+mn-cs"/>
              </a:rPr>
              <a:t>方法：分为小数部分与整数部分</a:t>
            </a:r>
            <a:endParaRPr kumimoji="1" lang="zh-CN" altLang="en-US" sz="3200" b="0" i="0" u="none" strike="noStrike" kern="0" cap="none" spc="0" normalizeH="0" baseline="0" noProof="1">
              <a:solidFill>
                <a:srgbClr val="FF0000"/>
              </a:solidFill>
              <a:latin typeface="+mn-lt"/>
              <a:ea typeface="+mn-ea"/>
              <a:cs typeface="+mn-cs"/>
            </a:endParaRPr>
          </a:p>
          <a:p>
            <a:pPr marL="0" marR="0" indent="0" algn="l" defTabSz="914400" rtl="0" eaLnBrk="0" fontAlgn="base" latinLnBrk="0" hangingPunct="0">
              <a:lnSpc>
                <a:spcPct val="100000"/>
              </a:lnSpc>
              <a:spcBef>
                <a:spcPct val="20000"/>
              </a:spcBef>
              <a:spcAft>
                <a:spcPct val="0"/>
              </a:spcAft>
              <a:buClrTx/>
              <a:buSzTx/>
              <a:buFontTx/>
              <a:buNone/>
            </a:pPr>
            <a:r>
              <a:rPr kumimoji="1" lang="zh-CN" altLang="en-US" sz="3200" b="0" i="0" u="none" strike="noStrike" kern="0" cap="none" spc="0" normalizeH="0" baseline="0" noProof="1">
                <a:solidFill>
                  <a:srgbClr val="FF0000"/>
                </a:solidFill>
                <a:latin typeface="+mn-lt"/>
                <a:ea typeface="+mn-ea"/>
                <a:cs typeface="+mn-cs"/>
                <a:sym typeface="+mn-ea"/>
              </a:rPr>
              <a:t>整数：除</a:t>
            </a:r>
            <a:r>
              <a:rPr kumimoji="1" lang="en-US" altLang="zh-CN" sz="3200" b="0" i="0" u="none" strike="noStrike" kern="0" cap="none" spc="0" normalizeH="0" baseline="0" noProof="1">
                <a:solidFill>
                  <a:srgbClr val="FF0000"/>
                </a:solidFill>
                <a:latin typeface="+mn-lt"/>
                <a:ea typeface="+mn-ea"/>
                <a:cs typeface="+mn-cs"/>
                <a:sym typeface="+mn-ea"/>
              </a:rPr>
              <a:t>2 </a:t>
            </a:r>
            <a:r>
              <a:rPr kumimoji="1" lang="zh-CN" altLang="en-US" sz="3200" b="0" i="0" u="none" strike="noStrike" kern="0" cap="none" spc="0" normalizeH="0" baseline="0" noProof="1">
                <a:solidFill>
                  <a:srgbClr val="FF0000"/>
                </a:solidFill>
                <a:latin typeface="+mn-lt"/>
                <a:ea typeface="+mn-ea"/>
                <a:cs typeface="+mn-cs"/>
                <a:sym typeface="+mn-ea"/>
              </a:rPr>
              <a:t>取余，自下而上</a:t>
            </a:r>
            <a:endParaRPr kumimoji="1" lang="zh-CN" altLang="en-US" sz="3200" b="0" i="0" u="none" strike="noStrike" kern="0" cap="none" spc="0" normalizeH="0" baseline="0" noProof="1">
              <a:solidFill>
                <a:srgbClr val="FF0000"/>
              </a:solidFill>
              <a:latin typeface="+mn-lt"/>
              <a:ea typeface="+mn-ea"/>
              <a:cs typeface="+mn-cs"/>
              <a:sym typeface="+mn-ea"/>
            </a:endParaRPr>
          </a:p>
          <a:p>
            <a:pPr marL="0" marR="0" indent="0" algn="l" defTabSz="914400" rtl="0" eaLnBrk="0" fontAlgn="base" latinLnBrk="0" hangingPunct="0">
              <a:lnSpc>
                <a:spcPct val="100000"/>
              </a:lnSpc>
              <a:spcBef>
                <a:spcPct val="20000"/>
              </a:spcBef>
              <a:spcAft>
                <a:spcPct val="0"/>
              </a:spcAft>
              <a:buClrTx/>
              <a:buSzTx/>
              <a:buFontTx/>
              <a:buNone/>
            </a:pPr>
            <a:r>
              <a:rPr kumimoji="1" lang="zh-CN" altLang="en-US" sz="3200" b="0" i="0" u="none" strike="noStrike" kern="0" cap="none" spc="0" normalizeH="0" baseline="0" noProof="1">
                <a:solidFill>
                  <a:srgbClr val="FF0000"/>
                </a:solidFill>
                <a:latin typeface="+mn-lt"/>
                <a:ea typeface="+mn-ea"/>
                <a:cs typeface="+mn-cs"/>
                <a:sym typeface="+mn-ea"/>
              </a:rPr>
              <a:t>小数</a:t>
            </a:r>
            <a:r>
              <a:rPr kumimoji="1" lang="zh-CN" altLang="en-US" sz="3200" b="0" i="0" u="none" strike="noStrike" kern="0" cap="none" spc="0" normalizeH="0" baseline="0" noProof="1">
                <a:solidFill>
                  <a:srgbClr val="FF0000"/>
                </a:solidFill>
                <a:latin typeface="+mn-lt"/>
                <a:ea typeface="+mn-ea"/>
                <a:cs typeface="+mn-cs"/>
                <a:sym typeface="+mn-ea"/>
              </a:rPr>
              <a:t>：乘</a:t>
            </a:r>
            <a:r>
              <a:rPr kumimoji="1" lang="en-US" altLang="zh-CN" sz="3200" b="0" i="0" u="none" strike="noStrike" kern="0" cap="none" spc="0" normalizeH="0" baseline="0" noProof="1">
                <a:solidFill>
                  <a:srgbClr val="FF0000"/>
                </a:solidFill>
                <a:latin typeface="+mn-lt"/>
                <a:ea typeface="+mn-ea"/>
                <a:cs typeface="+mn-cs"/>
                <a:sym typeface="+mn-ea"/>
              </a:rPr>
              <a:t>2 </a:t>
            </a:r>
            <a:r>
              <a:rPr kumimoji="1" lang="zh-CN" altLang="en-US" sz="3200" b="0" i="0" u="none" strike="noStrike" kern="0" cap="none" spc="0" normalizeH="0" baseline="0" noProof="1">
                <a:solidFill>
                  <a:srgbClr val="FF0000"/>
                </a:solidFill>
                <a:latin typeface="+mn-lt"/>
                <a:ea typeface="+mn-ea"/>
                <a:cs typeface="+mn-cs"/>
                <a:sym typeface="+mn-ea"/>
              </a:rPr>
              <a:t>取整，自上而下</a:t>
            </a:r>
            <a:endParaRPr kumimoji="1" lang="zh-CN" altLang="en-US" sz="3200" b="0" i="0" u="none" strike="noStrike" kern="0" cap="none" spc="0" normalizeH="0" baseline="0" noProof="1">
              <a:solidFill>
                <a:srgbClr val="FF0000"/>
              </a:solidFill>
              <a:latin typeface="+mn-lt"/>
              <a:ea typeface="+mn-ea"/>
              <a:cs typeface="+mn-cs"/>
              <a:sym typeface="+mn-ea"/>
            </a:endParaRPr>
          </a:p>
          <a:p>
            <a:pPr marL="0" marR="0" indent="0" algn="l" defTabSz="914400" rtl="0" eaLnBrk="0" fontAlgn="base" latinLnBrk="0" hangingPunct="0">
              <a:lnSpc>
                <a:spcPct val="100000"/>
              </a:lnSpc>
              <a:spcBef>
                <a:spcPct val="20000"/>
              </a:spcBef>
              <a:spcAft>
                <a:spcPct val="0"/>
              </a:spcAft>
              <a:buClrTx/>
              <a:buSzTx/>
              <a:buFontTx/>
              <a:buNone/>
            </a:pPr>
            <a:r>
              <a:rPr kumimoji="1" lang="zh-CN" altLang="en-US" sz="3200" b="0" i="0" u="none" strike="noStrike" kern="0" cap="none" spc="0" normalizeH="0" baseline="0" noProof="1">
                <a:solidFill>
                  <a:srgbClr val="FF0000"/>
                </a:solidFill>
                <a:latin typeface="+mn-lt"/>
                <a:ea typeface="+mn-ea"/>
                <a:cs typeface="+mn-cs"/>
                <a:sym typeface="+mn-ea"/>
              </a:rPr>
              <a:t>求：</a:t>
            </a:r>
            <a:r>
              <a:rPr kumimoji="1" lang="en-US" altLang="zh-CN" sz="3200" b="0" i="0" u="none" strike="noStrike" kern="0" cap="none" spc="0" normalizeH="0" baseline="0" noProof="1">
                <a:solidFill>
                  <a:schemeClr val="tx1"/>
                </a:solidFill>
                <a:latin typeface="+mn-lt"/>
                <a:ea typeface="+mn-ea"/>
                <a:cs typeface="+mn-cs"/>
                <a:sym typeface="+mn-ea"/>
              </a:rPr>
              <a:t>181.375=B</a:t>
            </a:r>
            <a:r>
              <a:rPr kumimoji="1" lang="zh-CN" altLang="en-US" sz="3200" b="0" i="0" u="none" strike="noStrike" kern="0" cap="none" spc="0" normalizeH="0" baseline="0" noProof="1">
                <a:solidFill>
                  <a:schemeClr val="tx1"/>
                </a:solidFill>
                <a:latin typeface="+mn-lt"/>
                <a:ea typeface="+mn-ea"/>
                <a:cs typeface="+mn-cs"/>
                <a:sym typeface="+mn-ea"/>
              </a:rPr>
              <a:t>？</a:t>
            </a:r>
            <a:endParaRPr kumimoji="1" lang="zh-CN" altLang="en-US" sz="3200" b="0" i="0" u="none" strike="noStrike" kern="0" cap="none" spc="0" normalizeH="0" baseline="0" noProof="1">
              <a:solidFill>
                <a:schemeClr val="tx1"/>
              </a:solidFill>
              <a:latin typeface="+mn-lt"/>
              <a:ea typeface="+mn-ea"/>
              <a:cs typeface="+mn-cs"/>
              <a:sym typeface="+mn-ea"/>
            </a:endParaRPr>
          </a:p>
          <a:p>
            <a:pPr marL="0" marR="0" indent="0" algn="l" defTabSz="914400" rtl="0" eaLnBrk="0" fontAlgn="base" latinLnBrk="0" hangingPunct="0">
              <a:lnSpc>
                <a:spcPct val="100000"/>
              </a:lnSpc>
              <a:spcBef>
                <a:spcPct val="20000"/>
              </a:spcBef>
              <a:spcAft>
                <a:spcPct val="0"/>
              </a:spcAft>
              <a:buClrTx/>
              <a:buSzTx/>
              <a:buFontTx/>
              <a:buNone/>
            </a:pPr>
            <a:endParaRPr kumimoji="1" lang="zh-CN" altLang="en-US" sz="3200" b="0" i="0" u="none" strike="noStrike" kern="0" cap="none" spc="0" normalizeH="0" baseline="0" noProof="1">
              <a:solidFill>
                <a:schemeClr val="tx1"/>
              </a:solidFill>
              <a:latin typeface="+mn-lt"/>
              <a:ea typeface="+mn-ea"/>
              <a:cs typeface="+mn-cs"/>
              <a:sym typeface="+mn-ea"/>
            </a:endParaRPr>
          </a:p>
        </p:txBody>
      </p:sp>
      <p:sp>
        <p:nvSpPr>
          <p:cNvPr id="26627" name="文本框 3"/>
          <p:cNvSpPr txBox="1"/>
          <p:nvPr/>
        </p:nvSpPr>
        <p:spPr>
          <a:xfrm>
            <a:off x="1069975" y="4562475"/>
            <a:ext cx="4870450" cy="1568450"/>
          </a:xfrm>
          <a:prstGeom prst="rect">
            <a:avLst/>
          </a:prstGeom>
          <a:noFill/>
          <a:ln w="9525">
            <a:noFill/>
          </a:ln>
        </p:spPr>
        <p:txBody>
          <a:bodyPr wrap="square" anchor="t" anchorCtr="0">
            <a:spAutoFit/>
          </a:bodyPr>
          <a:p>
            <a:r>
              <a:rPr lang="zh-CN" altLang="en-US">
                <a:latin typeface="Arial" panose="020B0604020202020204" pitchFamily="34" charset="0"/>
              </a:rPr>
              <a:t>练习：</a:t>
            </a:r>
            <a:endParaRPr lang="zh-CN" altLang="en-US">
              <a:latin typeface="Arial" panose="020B0604020202020204" pitchFamily="34" charset="0"/>
            </a:endParaRPr>
          </a:p>
          <a:p>
            <a:r>
              <a:rPr lang="zh-CN" altLang="en-US">
                <a:latin typeface="Arial" panose="020B0604020202020204" pitchFamily="34" charset="0"/>
              </a:rPr>
              <a:t>（</a:t>
            </a:r>
            <a:r>
              <a:rPr lang="en-US" altLang="zh-CN">
                <a:latin typeface="Arial" panose="020B0604020202020204" pitchFamily="34" charset="0"/>
              </a:rPr>
              <a:t>1</a:t>
            </a:r>
            <a:r>
              <a:rPr lang="zh-CN" altLang="en-US">
                <a:latin typeface="Arial" panose="020B0604020202020204" pitchFamily="34" charset="0"/>
              </a:rPr>
              <a:t>）</a:t>
            </a:r>
            <a:r>
              <a:rPr lang="en-US" altLang="zh-CN">
                <a:latin typeface="Arial" panose="020B0604020202020204" pitchFamily="34" charset="0"/>
              </a:rPr>
              <a:t>110010111.11B</a:t>
            </a:r>
            <a:endParaRPr lang="en-US" altLang="zh-CN">
              <a:latin typeface="Arial" panose="020B0604020202020204" pitchFamily="34" charset="0"/>
            </a:endParaRPr>
          </a:p>
          <a:p>
            <a:r>
              <a:rPr lang="zh-CN" altLang="en-US">
                <a:latin typeface="Arial" panose="020B0604020202020204" pitchFamily="34" charset="0"/>
              </a:rPr>
              <a:t>（</a:t>
            </a:r>
            <a:r>
              <a:rPr lang="en-US" altLang="zh-CN">
                <a:latin typeface="Arial" panose="020B0604020202020204" pitchFamily="34" charset="0"/>
              </a:rPr>
              <a:t>2</a:t>
            </a:r>
            <a:r>
              <a:rPr lang="zh-CN" altLang="en-US">
                <a:latin typeface="Arial" panose="020B0604020202020204" pitchFamily="34" charset="0"/>
              </a:rPr>
              <a:t>）</a:t>
            </a:r>
            <a:r>
              <a:rPr lang="en-US" altLang="zh-CN">
                <a:latin typeface="Arial" panose="020B0604020202020204" pitchFamily="34" charset="0"/>
              </a:rPr>
              <a:t>203.625</a:t>
            </a:r>
            <a:endParaRPr lang="en-US" altLang="zh-CN">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标题 1"/>
          <p:cNvSpPr>
            <a:spLocks noGrp="1"/>
          </p:cNvSpPr>
          <p:nvPr>
            <p:ph type="title"/>
          </p:nvPr>
        </p:nvSpPr>
        <p:spPr/>
        <p:txBody>
          <a:bodyPr anchor="ctr" anchorCtr="0"/>
          <a:p>
            <a:r>
              <a:rPr lang="zh-CN" altLang="en-US">
                <a:sym typeface="宋体" panose="02010600030101010101" pitchFamily="2" charset="-122"/>
              </a:rPr>
              <a:t>二进制与八进制</a:t>
            </a:r>
            <a:endParaRPr lang="zh-CN" altLang="en-US"/>
          </a:p>
        </p:txBody>
      </p:sp>
      <p:sp>
        <p:nvSpPr>
          <p:cNvPr id="3" name="内容占位符 2"/>
          <p:cNvSpPr>
            <a:spLocks noGrp="1"/>
          </p:cNvSpPr>
          <p:nvPr>
            <p:ph idx="1"/>
          </p:nvPr>
        </p:nvSpPr>
        <p:spPr>
          <a:xfrm>
            <a:off x="685800" y="1981200"/>
            <a:ext cx="7772400" cy="590550"/>
          </a:xfrm>
        </p:spPr>
        <p:txBody>
          <a:bodyPr/>
          <a:p>
            <a:pPr marL="342900" marR="0" indent="-342900" algn="l" defTabSz="914400" rtl="0" eaLnBrk="0" fontAlgn="base" latinLnBrk="0" hangingPunct="0">
              <a:lnSpc>
                <a:spcPct val="100000"/>
              </a:lnSpc>
              <a:spcBef>
                <a:spcPct val="20000"/>
              </a:spcBef>
              <a:spcAft>
                <a:spcPct val="0"/>
              </a:spcAft>
              <a:buClrTx/>
              <a:buSzTx/>
              <a:buFontTx/>
              <a:buChar char="•"/>
            </a:pPr>
            <a:r>
              <a:rPr kumimoji="1" lang="zh-CN" altLang="en-US" sz="2800" b="0" i="0" u="none" strike="noStrike" kern="0" cap="none" spc="0" normalizeH="0" baseline="0" noProof="1">
                <a:solidFill>
                  <a:schemeClr val="tx1"/>
                </a:solidFill>
                <a:latin typeface="+mn-lt"/>
                <a:ea typeface="+mn-ea"/>
                <a:cs typeface="+mn-cs"/>
              </a:rPr>
              <a:t>由于</a:t>
            </a:r>
            <a:r>
              <a:rPr kumimoji="1" lang="en-US" altLang="zh-CN" sz="2800" b="0" i="0" u="none" strike="noStrike" kern="0" cap="none" spc="0" normalizeH="0" baseline="0" noProof="1">
                <a:solidFill>
                  <a:schemeClr val="tx1"/>
                </a:solidFill>
                <a:latin typeface="+mn-lt"/>
                <a:ea typeface="+mn-ea"/>
                <a:cs typeface="+mn-cs"/>
              </a:rPr>
              <a:t>2</a:t>
            </a:r>
            <a:r>
              <a:rPr kumimoji="1" lang="en-US" altLang="zh-CN" sz="2800" b="0" i="0" u="none" strike="noStrike" kern="0" cap="none" spc="0" normalizeH="0" baseline="30000" noProof="1">
                <a:solidFill>
                  <a:schemeClr val="tx1"/>
                </a:solidFill>
                <a:uFillTx/>
                <a:latin typeface="+mn-lt"/>
                <a:ea typeface="+mn-ea"/>
                <a:cs typeface="+mn-cs"/>
              </a:rPr>
              <a:t>3</a:t>
            </a:r>
            <a:r>
              <a:rPr kumimoji="1" lang="en-US" altLang="zh-CN" sz="2800" b="0" i="0" u="none" strike="noStrike" kern="0" cap="none" spc="0" normalizeH="0" baseline="0" noProof="1">
                <a:solidFill>
                  <a:schemeClr val="tx1"/>
                </a:solidFill>
                <a:latin typeface="+mn-lt"/>
                <a:ea typeface="+mn-ea"/>
                <a:cs typeface="+mn-cs"/>
              </a:rPr>
              <a:t>=8</a:t>
            </a:r>
            <a:r>
              <a:rPr kumimoji="1" lang="en-US" altLang="zh-CN" sz="2800" b="0" i="0" u="none" strike="noStrike" kern="0" cap="none" spc="0" normalizeH="0" baseline="30000" noProof="1">
                <a:solidFill>
                  <a:schemeClr val="tx1"/>
                </a:solidFill>
                <a:uFillTx/>
                <a:latin typeface="+mn-lt"/>
                <a:ea typeface="+mn-ea"/>
                <a:cs typeface="+mn-cs"/>
              </a:rPr>
              <a:t>1</a:t>
            </a:r>
            <a:r>
              <a:rPr kumimoji="1" lang="zh-CN" altLang="en-US" sz="2800" b="0" i="0" u="none" strike="noStrike" kern="0" cap="none" spc="0" normalizeH="0" baseline="0" noProof="1">
                <a:solidFill>
                  <a:schemeClr val="tx1"/>
                </a:solidFill>
                <a:latin typeface="+mn-lt"/>
                <a:ea typeface="+mn-ea"/>
                <a:cs typeface="+mn-cs"/>
              </a:rPr>
              <a:t>，即</a:t>
            </a:r>
            <a:r>
              <a:rPr kumimoji="1" lang="en-US" altLang="zh-CN" sz="2800" b="0" i="0" u="none" strike="noStrike" kern="0" cap="none" spc="0" normalizeH="0" baseline="0" noProof="1">
                <a:solidFill>
                  <a:schemeClr val="tx1"/>
                </a:solidFill>
                <a:latin typeface="+mn-lt"/>
                <a:ea typeface="+mn-ea"/>
                <a:cs typeface="+mn-cs"/>
              </a:rPr>
              <a:t>3</a:t>
            </a:r>
            <a:r>
              <a:rPr kumimoji="1" lang="zh-CN" altLang="en-US" sz="2800" b="0" i="0" u="none" strike="noStrike" kern="0" cap="none" spc="0" normalizeH="0" baseline="0" noProof="1">
                <a:solidFill>
                  <a:schemeClr val="tx1"/>
                </a:solidFill>
                <a:latin typeface="+mn-lt"/>
                <a:ea typeface="+mn-ea"/>
                <a:cs typeface="+mn-cs"/>
              </a:rPr>
              <a:t>个二进制对应一位八进制数</a:t>
            </a:r>
            <a:endParaRPr kumimoji="1" lang="zh-CN" altLang="en-US" sz="2800" b="0" i="0" u="none" strike="noStrike" kern="0" cap="none" spc="0" normalizeH="0" baseline="0" noProof="1">
              <a:solidFill>
                <a:schemeClr val="tx1"/>
              </a:solidFill>
              <a:latin typeface="+mn-lt"/>
              <a:ea typeface="+mn-ea"/>
              <a:cs typeface="+mn-cs"/>
            </a:endParaRPr>
          </a:p>
        </p:txBody>
      </p:sp>
      <p:graphicFrame>
        <p:nvGraphicFramePr>
          <p:cNvPr id="4" name="表格 3"/>
          <p:cNvGraphicFramePr/>
          <p:nvPr/>
        </p:nvGraphicFramePr>
        <p:xfrm>
          <a:off x="774700" y="2713038"/>
          <a:ext cx="3049588" cy="3486150"/>
        </p:xfrm>
        <a:graphic>
          <a:graphicData uri="http://schemas.openxmlformats.org/drawingml/2006/table">
            <a:tbl>
              <a:tblPr firstRow="1" bandRow="1">
                <a:tableStyleId>{5C22544A-7EE6-4342-B048-85BDC9FD1C3A}</a:tableStyleId>
              </a:tblPr>
              <a:tblGrid>
                <a:gridCol w="1598295"/>
                <a:gridCol w="1450975"/>
              </a:tblGrid>
              <a:tr h="387350">
                <a:tc>
                  <a:txBody>
                    <a:bodyPr/>
                    <a:p>
                      <a:pPr>
                        <a:buNone/>
                      </a:pPr>
                      <a:r>
                        <a:rPr lang="zh-CN" altLang="en-US"/>
                        <a:t>二进制</a:t>
                      </a:r>
                      <a:endParaRPr lang="zh-CN" altLang="en-US"/>
                    </a:p>
                  </a:txBody>
                  <a:tcPr/>
                </a:tc>
                <a:tc>
                  <a:txBody>
                    <a:bodyPr/>
                    <a:p>
                      <a:pPr algn="ctr">
                        <a:buNone/>
                      </a:pPr>
                      <a:r>
                        <a:rPr lang="zh-CN" altLang="en-US"/>
                        <a:t>八进制</a:t>
                      </a:r>
                      <a:endParaRPr lang="zh-CN" altLang="en-US"/>
                    </a:p>
                  </a:txBody>
                  <a:tcPr/>
                </a:tc>
              </a:tr>
              <a:tr h="387350">
                <a:tc>
                  <a:txBody>
                    <a:bodyPr/>
                    <a:p>
                      <a:pPr>
                        <a:buNone/>
                      </a:pPr>
                      <a:r>
                        <a:rPr lang="en-US" altLang="zh-CN"/>
                        <a:t>000</a:t>
                      </a:r>
                      <a:endParaRPr lang="en-US" altLang="zh-CN"/>
                    </a:p>
                  </a:txBody>
                  <a:tcPr/>
                </a:tc>
                <a:tc>
                  <a:txBody>
                    <a:bodyPr/>
                    <a:p>
                      <a:pPr>
                        <a:buNone/>
                      </a:pPr>
                      <a:r>
                        <a:rPr lang="en-US" altLang="zh-CN"/>
                        <a:t>0</a:t>
                      </a:r>
                      <a:endParaRPr lang="en-US" altLang="zh-CN"/>
                    </a:p>
                  </a:txBody>
                  <a:tcPr/>
                </a:tc>
              </a:tr>
              <a:tr h="387350">
                <a:tc>
                  <a:txBody>
                    <a:bodyPr/>
                    <a:p>
                      <a:pPr>
                        <a:buNone/>
                      </a:pPr>
                      <a:r>
                        <a:rPr lang="en-US" altLang="zh-CN"/>
                        <a:t>001</a:t>
                      </a:r>
                      <a:endParaRPr lang="en-US" altLang="zh-CN"/>
                    </a:p>
                  </a:txBody>
                  <a:tcPr/>
                </a:tc>
                <a:tc>
                  <a:txBody>
                    <a:bodyPr/>
                    <a:p>
                      <a:pPr>
                        <a:buNone/>
                      </a:pPr>
                      <a:r>
                        <a:rPr lang="en-US" altLang="zh-CN"/>
                        <a:t>1</a:t>
                      </a:r>
                      <a:endParaRPr lang="en-US" altLang="zh-CN"/>
                    </a:p>
                  </a:txBody>
                  <a:tcPr/>
                </a:tc>
              </a:tr>
              <a:tr h="387350">
                <a:tc>
                  <a:txBody>
                    <a:bodyPr/>
                    <a:p>
                      <a:pPr>
                        <a:buNone/>
                      </a:pPr>
                      <a:r>
                        <a:rPr lang="en-US" altLang="zh-CN"/>
                        <a:t>010</a:t>
                      </a:r>
                      <a:endParaRPr lang="en-US" altLang="zh-CN"/>
                    </a:p>
                  </a:txBody>
                  <a:tcPr/>
                </a:tc>
                <a:tc>
                  <a:txBody>
                    <a:bodyPr/>
                    <a:p>
                      <a:pPr>
                        <a:buNone/>
                      </a:pPr>
                      <a:r>
                        <a:rPr lang="en-US" altLang="zh-CN"/>
                        <a:t>2</a:t>
                      </a:r>
                      <a:endParaRPr lang="en-US" altLang="zh-CN"/>
                    </a:p>
                  </a:txBody>
                  <a:tcPr/>
                </a:tc>
              </a:tr>
              <a:tr h="387350">
                <a:tc>
                  <a:txBody>
                    <a:bodyPr/>
                    <a:p>
                      <a:pPr>
                        <a:buNone/>
                      </a:pPr>
                      <a:r>
                        <a:rPr lang="en-US" altLang="zh-CN"/>
                        <a:t>011</a:t>
                      </a:r>
                      <a:endParaRPr lang="en-US" altLang="zh-CN"/>
                    </a:p>
                  </a:txBody>
                  <a:tcPr/>
                </a:tc>
                <a:tc>
                  <a:txBody>
                    <a:bodyPr/>
                    <a:p>
                      <a:pPr>
                        <a:buNone/>
                      </a:pPr>
                      <a:r>
                        <a:rPr lang="en-US" altLang="zh-CN"/>
                        <a:t>3</a:t>
                      </a:r>
                      <a:endParaRPr lang="en-US" altLang="zh-CN"/>
                    </a:p>
                  </a:txBody>
                  <a:tcPr/>
                </a:tc>
              </a:tr>
              <a:tr h="387350">
                <a:tc>
                  <a:txBody>
                    <a:bodyPr/>
                    <a:p>
                      <a:pPr>
                        <a:buNone/>
                      </a:pPr>
                      <a:r>
                        <a:rPr lang="en-US" altLang="zh-CN"/>
                        <a:t>100</a:t>
                      </a:r>
                      <a:endParaRPr lang="en-US" altLang="zh-CN"/>
                    </a:p>
                  </a:txBody>
                  <a:tcPr/>
                </a:tc>
                <a:tc>
                  <a:txBody>
                    <a:bodyPr/>
                    <a:p>
                      <a:pPr>
                        <a:buNone/>
                      </a:pPr>
                      <a:r>
                        <a:rPr lang="en-US" altLang="zh-CN"/>
                        <a:t>4</a:t>
                      </a:r>
                      <a:endParaRPr lang="en-US" altLang="zh-CN"/>
                    </a:p>
                  </a:txBody>
                  <a:tcPr/>
                </a:tc>
              </a:tr>
              <a:tr h="387350">
                <a:tc>
                  <a:txBody>
                    <a:bodyPr/>
                    <a:p>
                      <a:pPr>
                        <a:buNone/>
                      </a:pPr>
                      <a:r>
                        <a:rPr lang="en-US" altLang="zh-CN"/>
                        <a:t>101</a:t>
                      </a:r>
                      <a:endParaRPr lang="en-US" altLang="zh-CN"/>
                    </a:p>
                  </a:txBody>
                  <a:tcPr/>
                </a:tc>
                <a:tc>
                  <a:txBody>
                    <a:bodyPr/>
                    <a:p>
                      <a:pPr>
                        <a:buNone/>
                      </a:pPr>
                      <a:r>
                        <a:rPr lang="en-US" altLang="zh-CN"/>
                        <a:t>5</a:t>
                      </a:r>
                      <a:endParaRPr lang="en-US" altLang="zh-CN"/>
                    </a:p>
                  </a:txBody>
                  <a:tcPr/>
                </a:tc>
              </a:tr>
              <a:tr h="387350">
                <a:tc>
                  <a:txBody>
                    <a:bodyPr/>
                    <a:p>
                      <a:pPr>
                        <a:buNone/>
                      </a:pPr>
                      <a:r>
                        <a:rPr lang="en-US" altLang="zh-CN"/>
                        <a:t>110</a:t>
                      </a:r>
                      <a:endParaRPr lang="en-US" altLang="zh-CN"/>
                    </a:p>
                  </a:txBody>
                  <a:tcPr/>
                </a:tc>
                <a:tc>
                  <a:txBody>
                    <a:bodyPr/>
                    <a:p>
                      <a:pPr>
                        <a:buNone/>
                      </a:pPr>
                      <a:r>
                        <a:rPr lang="en-US" altLang="zh-CN"/>
                        <a:t>6</a:t>
                      </a:r>
                      <a:endParaRPr lang="en-US" altLang="zh-CN"/>
                    </a:p>
                  </a:txBody>
                  <a:tcPr/>
                </a:tc>
              </a:tr>
              <a:tr h="387350">
                <a:tc>
                  <a:txBody>
                    <a:bodyPr/>
                    <a:p>
                      <a:pPr>
                        <a:buNone/>
                      </a:pPr>
                      <a:r>
                        <a:rPr lang="en-US" altLang="zh-CN"/>
                        <a:t>111</a:t>
                      </a:r>
                      <a:endParaRPr lang="en-US" altLang="zh-CN"/>
                    </a:p>
                  </a:txBody>
                  <a:tcPr/>
                </a:tc>
                <a:tc>
                  <a:txBody>
                    <a:bodyPr/>
                    <a:p>
                      <a:pPr>
                        <a:buNone/>
                      </a:pPr>
                      <a:r>
                        <a:rPr lang="en-US" altLang="zh-CN"/>
                        <a:t>7</a:t>
                      </a:r>
                      <a:endParaRPr lang="en-US" altLang="zh-CN"/>
                    </a:p>
                  </a:txBody>
                  <a:tcPr/>
                </a:tc>
              </a:tr>
            </a:tbl>
          </a:graphicData>
        </a:graphic>
      </p:graphicFrame>
      <p:sp>
        <p:nvSpPr>
          <p:cNvPr id="27683" name="文本框 4"/>
          <p:cNvSpPr txBox="1"/>
          <p:nvPr/>
        </p:nvSpPr>
        <p:spPr>
          <a:xfrm>
            <a:off x="4352925" y="2546350"/>
            <a:ext cx="4056063" cy="1568450"/>
          </a:xfrm>
          <a:prstGeom prst="rect">
            <a:avLst/>
          </a:prstGeom>
          <a:noFill/>
          <a:ln w="9525">
            <a:noFill/>
          </a:ln>
        </p:spPr>
        <p:txBody>
          <a:bodyPr wrap="square" anchor="t" anchorCtr="0">
            <a:spAutoFit/>
          </a:bodyPr>
          <a:p>
            <a:r>
              <a:rPr lang="zh-CN" altLang="en-US" sz="2400">
                <a:latin typeface="Arial" panose="020B0604020202020204" pitchFamily="34" charset="0"/>
              </a:rPr>
              <a:t>（</a:t>
            </a:r>
            <a:r>
              <a:rPr lang="en-US" altLang="zh-CN" sz="2400">
                <a:latin typeface="Arial" panose="020B0604020202020204" pitchFamily="34" charset="0"/>
              </a:rPr>
              <a:t>1</a:t>
            </a:r>
            <a:r>
              <a:rPr lang="zh-CN" altLang="en-US" sz="2400">
                <a:latin typeface="Arial" panose="020B0604020202020204" pitchFamily="34" charset="0"/>
              </a:rPr>
              <a:t>）</a:t>
            </a:r>
            <a:r>
              <a:rPr lang="zh-CN" altLang="en-US" sz="2400">
                <a:latin typeface="Arial" panose="020B0604020202020204" pitchFamily="34" charset="0"/>
                <a:sym typeface="宋体" panose="02010600030101010101" pitchFamily="2" charset="-122"/>
              </a:rPr>
              <a:t>二进制转换八进制：以小数点为始点，整数向左，小数向右，</a:t>
            </a:r>
            <a:r>
              <a:rPr lang="en-US" altLang="zh-CN" sz="2400">
                <a:latin typeface="Arial" panose="020B0604020202020204" pitchFamily="34" charset="0"/>
              </a:rPr>
              <a:t>3</a:t>
            </a:r>
            <a:r>
              <a:rPr lang="zh-CN" altLang="en-US" sz="2400">
                <a:latin typeface="Arial" panose="020B0604020202020204" pitchFamily="34" charset="0"/>
              </a:rPr>
              <a:t>个二进制对应一位八进制数</a:t>
            </a:r>
            <a:endParaRPr lang="zh-CN" altLang="en-US" sz="2400">
              <a:latin typeface="Arial" panose="020B0604020202020204" pitchFamily="34" charset="0"/>
            </a:endParaRPr>
          </a:p>
        </p:txBody>
      </p:sp>
      <p:sp>
        <p:nvSpPr>
          <p:cNvPr id="27684" name="文本框 5"/>
          <p:cNvSpPr txBox="1"/>
          <p:nvPr/>
        </p:nvSpPr>
        <p:spPr>
          <a:xfrm>
            <a:off x="4402138" y="4114800"/>
            <a:ext cx="4056062" cy="828675"/>
          </a:xfrm>
          <a:prstGeom prst="rect">
            <a:avLst/>
          </a:prstGeom>
          <a:noFill/>
          <a:ln w="9525">
            <a:noFill/>
          </a:ln>
        </p:spPr>
        <p:txBody>
          <a:bodyPr wrap="square" anchor="t" anchorCtr="0">
            <a:spAutoFit/>
          </a:bodyPr>
          <a:p>
            <a:r>
              <a:rPr lang="zh-CN" altLang="en-US" sz="2400">
                <a:latin typeface="Arial" panose="020B0604020202020204" pitchFamily="34" charset="0"/>
              </a:rPr>
              <a:t>（</a:t>
            </a:r>
            <a:r>
              <a:rPr lang="en-US" altLang="zh-CN" sz="2400">
                <a:latin typeface="Arial" panose="020B0604020202020204" pitchFamily="34" charset="0"/>
              </a:rPr>
              <a:t>2</a:t>
            </a:r>
            <a:r>
              <a:rPr lang="zh-CN" altLang="en-US" sz="2400">
                <a:latin typeface="Arial" panose="020B0604020202020204" pitchFamily="34" charset="0"/>
              </a:rPr>
              <a:t>）</a:t>
            </a:r>
            <a:r>
              <a:rPr lang="zh-CN" altLang="en-US" sz="2400">
                <a:latin typeface="Arial" panose="020B0604020202020204" pitchFamily="34" charset="0"/>
                <a:sym typeface="宋体" panose="02010600030101010101" pitchFamily="2" charset="-122"/>
              </a:rPr>
              <a:t>八进制转换二进制：一位八进制数对应</a:t>
            </a:r>
            <a:r>
              <a:rPr lang="en-US" altLang="zh-CN" sz="2400">
                <a:latin typeface="Arial" panose="020B0604020202020204" pitchFamily="34" charset="0"/>
                <a:sym typeface="宋体" panose="02010600030101010101" pitchFamily="2" charset="-122"/>
              </a:rPr>
              <a:t>3</a:t>
            </a:r>
            <a:r>
              <a:rPr lang="zh-CN" altLang="en-US" sz="2400">
                <a:latin typeface="Arial" panose="020B0604020202020204" pitchFamily="34" charset="0"/>
                <a:sym typeface="宋体" panose="02010600030101010101" pitchFamily="2" charset="-122"/>
              </a:rPr>
              <a:t>个二进制</a:t>
            </a:r>
            <a:endParaRPr lang="zh-CN" altLang="en-US" sz="2400">
              <a:latin typeface="Arial" panose="020B0604020202020204" pitchFamily="34" charset="0"/>
              <a:sym typeface="宋体" panose="02010600030101010101" pitchFamily="2" charset="-122"/>
            </a:endParaRPr>
          </a:p>
        </p:txBody>
      </p:sp>
      <p:sp>
        <p:nvSpPr>
          <p:cNvPr id="27685" name="文本框 6"/>
          <p:cNvSpPr txBox="1"/>
          <p:nvPr/>
        </p:nvSpPr>
        <p:spPr>
          <a:xfrm>
            <a:off x="4411663" y="5316538"/>
            <a:ext cx="3255962" cy="1076325"/>
          </a:xfrm>
          <a:prstGeom prst="rect">
            <a:avLst/>
          </a:prstGeom>
          <a:noFill/>
          <a:ln w="9525">
            <a:noFill/>
          </a:ln>
        </p:spPr>
        <p:txBody>
          <a:bodyPr wrap="square" anchor="t" anchorCtr="0">
            <a:spAutoFit/>
          </a:bodyPr>
          <a:p>
            <a:r>
              <a:rPr lang="en-US" altLang="zh-CN">
                <a:latin typeface="Arial" panose="020B0604020202020204" pitchFamily="34" charset="0"/>
              </a:rPr>
              <a:t>1001101011.1B</a:t>
            </a:r>
            <a:endParaRPr lang="en-US" altLang="zh-CN">
              <a:latin typeface="Arial" panose="020B0604020202020204" pitchFamily="34" charset="0"/>
            </a:endParaRPr>
          </a:p>
          <a:p>
            <a:r>
              <a:rPr lang="en-US" altLang="zh-CN">
                <a:latin typeface="Arial" panose="020B0604020202020204" pitchFamily="34" charset="0"/>
              </a:rPr>
              <a:t>403.2Q</a:t>
            </a:r>
            <a:endParaRPr lang="en-US" altLang="zh-CN">
              <a:latin typeface="Arial" panose="020B0604020202020204" pitchFamily="34" charset="0"/>
            </a:endParaRPr>
          </a:p>
        </p:txBody>
      </p:sp>
      <p:sp>
        <p:nvSpPr>
          <p:cNvPr id="27686" name="文本框 7"/>
          <p:cNvSpPr txBox="1"/>
          <p:nvPr/>
        </p:nvSpPr>
        <p:spPr>
          <a:xfrm>
            <a:off x="436563" y="614363"/>
            <a:ext cx="793750" cy="460375"/>
          </a:xfrm>
          <a:prstGeom prst="rect">
            <a:avLst/>
          </a:prstGeom>
          <a:noFill/>
          <a:ln w="9525">
            <a:noFill/>
          </a:ln>
        </p:spPr>
        <p:txBody>
          <a:bodyPr wrap="square" anchor="t" anchorCtr="0">
            <a:spAutoFit/>
          </a:bodyPr>
          <a:p>
            <a:r>
              <a:rPr lang="en-US" altLang="zh-CN" sz="2400">
                <a:latin typeface="Arial" panose="020B0604020202020204" pitchFamily="34" charset="0"/>
              </a:rPr>
              <a:t>111</a:t>
            </a:r>
            <a:endParaRPr lang="en-US" altLang="zh-CN" sz="2400">
              <a:latin typeface="Arial" panose="020B0604020202020204" pitchFamily="34" charset="0"/>
            </a:endParaRPr>
          </a:p>
        </p:txBody>
      </p:sp>
      <p:cxnSp>
        <p:nvCxnSpPr>
          <p:cNvPr id="9" name="直接箭头连接符 8"/>
          <p:cNvCxnSpPr>
            <a:stCxn id="27686" idx="3"/>
          </p:cNvCxnSpPr>
          <p:nvPr/>
        </p:nvCxnSpPr>
        <p:spPr>
          <a:xfrm flipV="1">
            <a:off x="1230313" y="836613"/>
            <a:ext cx="533400" cy="7938"/>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sp>
        <p:nvSpPr>
          <p:cNvPr id="27688" name="文本框 9"/>
          <p:cNvSpPr txBox="1"/>
          <p:nvPr/>
        </p:nvSpPr>
        <p:spPr>
          <a:xfrm>
            <a:off x="1746250" y="650875"/>
            <a:ext cx="377825" cy="460375"/>
          </a:xfrm>
          <a:prstGeom prst="rect">
            <a:avLst/>
          </a:prstGeom>
          <a:noFill/>
          <a:ln w="9525">
            <a:noFill/>
          </a:ln>
        </p:spPr>
        <p:txBody>
          <a:bodyPr wrap="square" anchor="t" anchorCtr="0">
            <a:spAutoFit/>
          </a:bodyPr>
          <a:p>
            <a:r>
              <a:rPr lang="en-US" altLang="zh-CN" sz="2400">
                <a:latin typeface="Arial" panose="020B0604020202020204" pitchFamily="34" charset="0"/>
              </a:rPr>
              <a:t>7</a:t>
            </a:r>
            <a:endParaRPr lang="en-US" altLang="zh-CN" sz="2400">
              <a:latin typeface="Arial" panose="020B0604020202020204" pitchFamily="34" charset="0"/>
            </a:endParaRPr>
          </a:p>
        </p:txBody>
      </p:sp>
      <p:cxnSp>
        <p:nvCxnSpPr>
          <p:cNvPr id="11" name="直接箭头连接符 10"/>
          <p:cNvCxnSpPr>
            <a:stCxn id="27686" idx="3"/>
          </p:cNvCxnSpPr>
          <p:nvPr/>
        </p:nvCxnSpPr>
        <p:spPr>
          <a:xfrm flipH="1">
            <a:off x="611188" y="1038225"/>
            <a:ext cx="25400" cy="519113"/>
          </a:xfrm>
          <a:prstGeom prst="straightConnector1">
            <a:avLst/>
          </a:prstGeom>
          <a:ln>
            <a:headEnd type="none" w="med" len="med"/>
            <a:tailEnd type="arrow" w="med" len="med"/>
          </a:ln>
        </p:spPr>
        <p:style>
          <a:lnRef idx="3">
            <a:schemeClr val="accent6"/>
          </a:lnRef>
          <a:fillRef idx="0">
            <a:schemeClr val="accent6"/>
          </a:fillRef>
          <a:effectRef idx="2">
            <a:schemeClr val="accent6"/>
          </a:effectRef>
          <a:fontRef idx="minor">
            <a:schemeClr val="tx1"/>
          </a:fontRef>
        </p:style>
      </p:cxnSp>
      <p:sp>
        <p:nvSpPr>
          <p:cNvPr id="27690" name="文本框 11"/>
          <p:cNvSpPr txBox="1"/>
          <p:nvPr/>
        </p:nvSpPr>
        <p:spPr>
          <a:xfrm>
            <a:off x="523875" y="1557338"/>
            <a:ext cx="1851025" cy="460375"/>
          </a:xfrm>
          <a:prstGeom prst="rect">
            <a:avLst/>
          </a:prstGeom>
          <a:noFill/>
          <a:ln w="9525">
            <a:noFill/>
          </a:ln>
        </p:spPr>
        <p:txBody>
          <a:bodyPr wrap="square" anchor="t" anchorCtr="0">
            <a:spAutoFit/>
          </a:bodyPr>
          <a:p>
            <a:r>
              <a:rPr lang="en-US" altLang="zh-CN" sz="2400">
                <a:latin typeface="Arial" panose="020B0604020202020204" pitchFamily="34" charset="0"/>
              </a:rPr>
              <a:t>1X2</a:t>
            </a:r>
            <a:r>
              <a:rPr lang="en-US" altLang="zh-CN" sz="2400" baseline="30000">
                <a:latin typeface="Arial" panose="020B0604020202020204" pitchFamily="34" charset="0"/>
              </a:rPr>
              <a:t>2</a:t>
            </a:r>
            <a:r>
              <a:rPr lang="en-US" altLang="zh-CN" sz="2400">
                <a:latin typeface="Arial" panose="020B0604020202020204" pitchFamily="34" charset="0"/>
              </a:rPr>
              <a:t>=4</a:t>
            </a:r>
            <a:endParaRPr lang="en-US" altLang="zh-CN" sz="2400" baseline="30000">
              <a:latin typeface="Arial" panose="020B0604020202020204" pitchFamily="34" charset="0"/>
            </a:endParaRPr>
          </a:p>
        </p:txBody>
      </p:sp>
      <p:cxnSp>
        <p:nvCxnSpPr>
          <p:cNvPr id="13" name="直接箭头连接符 12"/>
          <p:cNvCxnSpPr>
            <a:stCxn id="27686" idx="3"/>
          </p:cNvCxnSpPr>
          <p:nvPr/>
        </p:nvCxnSpPr>
        <p:spPr>
          <a:xfrm>
            <a:off x="798513" y="922338"/>
            <a:ext cx="28575" cy="417513"/>
          </a:xfrm>
          <a:prstGeom prst="straightConnector1">
            <a:avLst/>
          </a:prstGeom>
          <a:ln>
            <a:headEnd type="none" w="med" len="med"/>
            <a:tailEnd type="arrow" w="med" len="med"/>
          </a:ln>
        </p:spPr>
        <p:style>
          <a:lnRef idx="3">
            <a:schemeClr val="accent6"/>
          </a:lnRef>
          <a:fillRef idx="0">
            <a:schemeClr val="accent6"/>
          </a:fillRef>
          <a:effectRef idx="2">
            <a:schemeClr val="accent6"/>
          </a:effectRef>
          <a:fontRef idx="minor">
            <a:schemeClr val="tx1"/>
          </a:fontRef>
        </p:style>
      </p:cxnSp>
      <p:sp>
        <p:nvSpPr>
          <p:cNvPr id="27692" name="文本框 13"/>
          <p:cNvSpPr txBox="1"/>
          <p:nvPr/>
        </p:nvSpPr>
        <p:spPr>
          <a:xfrm>
            <a:off x="798513" y="1254125"/>
            <a:ext cx="1576387" cy="460375"/>
          </a:xfrm>
          <a:prstGeom prst="rect">
            <a:avLst/>
          </a:prstGeom>
          <a:noFill/>
          <a:ln w="9525">
            <a:noFill/>
          </a:ln>
        </p:spPr>
        <p:txBody>
          <a:bodyPr wrap="square" anchor="t" anchorCtr="0">
            <a:spAutoFit/>
          </a:bodyPr>
          <a:p>
            <a:pPr>
              <a:buSzTx/>
            </a:pPr>
            <a:r>
              <a:rPr lang="en-US" altLang="zh-CN" sz="2400">
                <a:latin typeface="Arial" panose="020B0604020202020204" pitchFamily="34" charset="0"/>
              </a:rPr>
              <a:t>1X2</a:t>
            </a:r>
            <a:r>
              <a:rPr lang="en-US" altLang="zh-CN" sz="2400" baseline="30000">
                <a:latin typeface="Arial" panose="020B0604020202020204" pitchFamily="34" charset="0"/>
              </a:rPr>
              <a:t>1</a:t>
            </a:r>
            <a:r>
              <a:rPr lang="en-US" altLang="zh-CN" sz="2400">
                <a:latin typeface="Arial" panose="020B0604020202020204" pitchFamily="34" charset="0"/>
              </a:rPr>
              <a:t>=2</a:t>
            </a:r>
            <a:endParaRPr lang="en-US" altLang="zh-CN" sz="2400">
              <a:latin typeface="Arial" panose="020B0604020202020204" pitchFamily="34" charset="0"/>
            </a:endParaRPr>
          </a:p>
        </p:txBody>
      </p:sp>
      <p:cxnSp>
        <p:nvCxnSpPr>
          <p:cNvPr id="15" name="直接箭头连接符 14"/>
          <p:cNvCxnSpPr>
            <a:stCxn id="27686" idx="3"/>
          </p:cNvCxnSpPr>
          <p:nvPr/>
        </p:nvCxnSpPr>
        <p:spPr>
          <a:xfrm>
            <a:off x="919163" y="844550"/>
            <a:ext cx="196850" cy="279400"/>
          </a:xfrm>
          <a:prstGeom prst="straightConnector1">
            <a:avLst/>
          </a:prstGeom>
          <a:ln>
            <a:headEnd type="none" w="med" len="med"/>
            <a:tailEnd type="arrow" w="med" len="med"/>
          </a:ln>
        </p:spPr>
        <p:style>
          <a:lnRef idx="3">
            <a:schemeClr val="accent6"/>
          </a:lnRef>
          <a:fillRef idx="0">
            <a:schemeClr val="accent6"/>
          </a:fillRef>
          <a:effectRef idx="2">
            <a:schemeClr val="accent6"/>
          </a:effectRef>
          <a:fontRef idx="minor">
            <a:schemeClr val="tx1"/>
          </a:fontRef>
        </p:style>
      </p:cxnSp>
      <p:sp>
        <p:nvSpPr>
          <p:cNvPr id="27694" name="文本框 15"/>
          <p:cNvSpPr txBox="1"/>
          <p:nvPr/>
        </p:nvSpPr>
        <p:spPr>
          <a:xfrm>
            <a:off x="1116013" y="879475"/>
            <a:ext cx="1776412" cy="460375"/>
          </a:xfrm>
          <a:prstGeom prst="rect">
            <a:avLst/>
          </a:prstGeom>
          <a:noFill/>
          <a:ln w="9525">
            <a:noFill/>
          </a:ln>
        </p:spPr>
        <p:txBody>
          <a:bodyPr wrap="square" anchor="t" anchorCtr="0">
            <a:spAutoFit/>
          </a:bodyPr>
          <a:p>
            <a:r>
              <a:rPr lang="en-US" altLang="zh-CN" sz="2400">
                <a:latin typeface="Arial" panose="020B0604020202020204" pitchFamily="34" charset="0"/>
              </a:rPr>
              <a:t>1X2</a:t>
            </a:r>
            <a:r>
              <a:rPr lang="en-US" altLang="zh-CN" sz="2400" baseline="30000">
                <a:latin typeface="Arial" panose="020B0604020202020204" pitchFamily="34" charset="0"/>
              </a:rPr>
              <a:t>0</a:t>
            </a:r>
            <a:r>
              <a:rPr lang="en-US" altLang="zh-CN" sz="2400">
                <a:latin typeface="Arial" panose="020B0604020202020204" pitchFamily="34" charset="0"/>
              </a:rPr>
              <a:t>=1</a:t>
            </a:r>
            <a:endParaRPr lang="en-US" altLang="zh-CN" sz="2400" baseline="30000">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标题 1"/>
          <p:cNvSpPr>
            <a:spLocks noGrp="1"/>
          </p:cNvSpPr>
          <p:nvPr>
            <p:ph type="title"/>
          </p:nvPr>
        </p:nvSpPr>
        <p:spPr/>
        <p:txBody>
          <a:bodyPr anchor="ctr" anchorCtr="0"/>
          <a:p>
            <a:r>
              <a:rPr lang="zh-CN" altLang="en-US">
                <a:sym typeface="宋体" panose="02010600030101010101" pitchFamily="2" charset="-122"/>
              </a:rPr>
              <a:t>二进制与十六进制</a:t>
            </a:r>
            <a:endParaRPr lang="zh-CN" altLang="en-US"/>
          </a:p>
        </p:txBody>
      </p:sp>
      <p:sp>
        <p:nvSpPr>
          <p:cNvPr id="3" name="内容占位符 2"/>
          <p:cNvSpPr>
            <a:spLocks noGrp="1"/>
          </p:cNvSpPr>
          <p:nvPr>
            <p:ph idx="1"/>
          </p:nvPr>
        </p:nvSpPr>
        <p:spPr>
          <a:xfrm>
            <a:off x="685800" y="1981200"/>
            <a:ext cx="7772400" cy="590550"/>
          </a:xfrm>
        </p:spPr>
        <p:txBody>
          <a:bodyPr/>
          <a:p>
            <a:pPr marL="342900" marR="0" indent="-342900" algn="l" defTabSz="914400" rtl="0" eaLnBrk="0" fontAlgn="base" latinLnBrk="0" hangingPunct="0">
              <a:lnSpc>
                <a:spcPct val="100000"/>
              </a:lnSpc>
              <a:spcBef>
                <a:spcPct val="20000"/>
              </a:spcBef>
              <a:spcAft>
                <a:spcPct val="0"/>
              </a:spcAft>
              <a:buClrTx/>
              <a:buSzTx/>
              <a:buFontTx/>
              <a:buChar char="•"/>
            </a:pPr>
            <a:r>
              <a:rPr kumimoji="1" lang="zh-CN" altLang="en-US" sz="2800" b="0" i="0" u="none" strike="noStrike" kern="0" cap="none" spc="0" normalizeH="0" baseline="0" noProof="1">
                <a:solidFill>
                  <a:schemeClr val="tx1"/>
                </a:solidFill>
                <a:latin typeface="+mn-lt"/>
                <a:ea typeface="+mn-ea"/>
                <a:cs typeface="+mn-cs"/>
              </a:rPr>
              <a:t>由于</a:t>
            </a:r>
            <a:r>
              <a:rPr kumimoji="1" lang="en-US" altLang="zh-CN" sz="2800" b="0" i="0" u="none" strike="noStrike" kern="0" cap="none" spc="0" normalizeH="0" baseline="0" noProof="1">
                <a:solidFill>
                  <a:schemeClr val="tx1"/>
                </a:solidFill>
                <a:latin typeface="+mn-lt"/>
                <a:ea typeface="+mn-ea"/>
                <a:cs typeface="+mn-cs"/>
              </a:rPr>
              <a:t>2</a:t>
            </a:r>
            <a:r>
              <a:rPr kumimoji="1" lang="en-US" altLang="zh-CN" sz="2800" b="0" i="0" u="none" strike="noStrike" kern="0" cap="none" spc="0" normalizeH="0" baseline="30000" noProof="1">
                <a:solidFill>
                  <a:schemeClr val="tx1"/>
                </a:solidFill>
                <a:uFillTx/>
                <a:latin typeface="+mn-lt"/>
                <a:ea typeface="+mn-ea"/>
                <a:cs typeface="+mn-cs"/>
              </a:rPr>
              <a:t>4</a:t>
            </a:r>
            <a:r>
              <a:rPr kumimoji="1" lang="en-US" altLang="zh-CN" sz="2800" b="0" i="0" u="none" strike="noStrike" kern="0" cap="none" spc="0" normalizeH="0" baseline="0" noProof="1">
                <a:solidFill>
                  <a:schemeClr val="tx1"/>
                </a:solidFill>
                <a:latin typeface="+mn-lt"/>
                <a:ea typeface="+mn-ea"/>
                <a:cs typeface="+mn-cs"/>
              </a:rPr>
              <a:t>=16</a:t>
            </a:r>
            <a:r>
              <a:rPr kumimoji="1" lang="en-US" altLang="zh-CN" sz="2800" b="0" i="0" u="none" strike="noStrike" kern="0" cap="none" spc="0" normalizeH="0" baseline="30000" noProof="1">
                <a:solidFill>
                  <a:schemeClr val="tx1"/>
                </a:solidFill>
                <a:uFillTx/>
                <a:latin typeface="+mn-lt"/>
                <a:ea typeface="+mn-ea"/>
                <a:cs typeface="+mn-cs"/>
              </a:rPr>
              <a:t>1</a:t>
            </a:r>
            <a:r>
              <a:rPr kumimoji="1" lang="zh-CN" altLang="en-US" sz="2800" b="0" i="0" u="none" strike="noStrike" kern="0" cap="none" spc="0" normalizeH="0" baseline="0" noProof="1">
                <a:solidFill>
                  <a:schemeClr val="tx1"/>
                </a:solidFill>
                <a:latin typeface="+mn-lt"/>
                <a:ea typeface="+mn-ea"/>
                <a:cs typeface="+mn-cs"/>
              </a:rPr>
              <a:t>，即</a:t>
            </a:r>
            <a:r>
              <a:rPr kumimoji="1" lang="en-US" altLang="zh-CN" sz="2800" b="0" i="0" u="none" strike="noStrike" kern="0" cap="none" spc="0" normalizeH="0" baseline="0" noProof="1">
                <a:solidFill>
                  <a:schemeClr val="tx1"/>
                </a:solidFill>
                <a:latin typeface="+mn-lt"/>
                <a:ea typeface="+mn-ea"/>
                <a:cs typeface="+mn-cs"/>
              </a:rPr>
              <a:t>4</a:t>
            </a:r>
            <a:r>
              <a:rPr kumimoji="1" lang="zh-CN" altLang="en-US" sz="2800" b="0" i="0" u="none" strike="noStrike" kern="0" cap="none" spc="0" normalizeH="0" baseline="0" noProof="1">
                <a:solidFill>
                  <a:schemeClr val="tx1"/>
                </a:solidFill>
                <a:latin typeface="+mn-lt"/>
                <a:ea typeface="+mn-ea"/>
                <a:cs typeface="+mn-cs"/>
              </a:rPr>
              <a:t>个二进制对应一位十六进制数</a:t>
            </a:r>
            <a:endParaRPr kumimoji="1" lang="zh-CN" altLang="en-US" sz="2800" b="0" i="0" u="none" strike="noStrike" kern="0" cap="none" spc="0" normalizeH="0" baseline="0" noProof="1">
              <a:solidFill>
                <a:schemeClr val="tx1"/>
              </a:solidFill>
              <a:latin typeface="+mn-lt"/>
              <a:ea typeface="+mn-ea"/>
              <a:cs typeface="+mn-cs"/>
            </a:endParaRPr>
          </a:p>
        </p:txBody>
      </p:sp>
      <p:graphicFrame>
        <p:nvGraphicFramePr>
          <p:cNvPr id="4" name="表格 3"/>
          <p:cNvGraphicFramePr/>
          <p:nvPr/>
        </p:nvGraphicFramePr>
        <p:xfrm>
          <a:off x="177800" y="2713038"/>
          <a:ext cx="2322830" cy="3486150"/>
        </p:xfrm>
        <a:graphic>
          <a:graphicData uri="http://schemas.openxmlformats.org/drawingml/2006/table">
            <a:tbl>
              <a:tblPr firstRow="1" bandRow="1">
                <a:tableStyleId>{5C22544A-7EE6-4342-B048-85BDC9FD1C3A}</a:tableStyleId>
              </a:tblPr>
              <a:tblGrid>
                <a:gridCol w="967105"/>
                <a:gridCol w="1355725"/>
              </a:tblGrid>
              <a:tr h="387350">
                <a:tc>
                  <a:txBody>
                    <a:bodyPr/>
                    <a:p>
                      <a:pPr>
                        <a:buNone/>
                      </a:pPr>
                      <a:r>
                        <a:rPr lang="zh-CN" altLang="en-US"/>
                        <a:t>二进制</a:t>
                      </a:r>
                      <a:endParaRPr lang="zh-CN" altLang="en-US"/>
                    </a:p>
                  </a:txBody>
                  <a:tcPr/>
                </a:tc>
                <a:tc>
                  <a:txBody>
                    <a:bodyPr/>
                    <a:p>
                      <a:pPr algn="ctr">
                        <a:buNone/>
                      </a:pPr>
                      <a:r>
                        <a:rPr lang="zh-CN" altLang="en-US"/>
                        <a:t>十六进制</a:t>
                      </a:r>
                      <a:endParaRPr lang="zh-CN" altLang="en-US"/>
                    </a:p>
                  </a:txBody>
                  <a:tcPr/>
                </a:tc>
              </a:tr>
              <a:tr h="387350">
                <a:tc>
                  <a:txBody>
                    <a:bodyPr/>
                    <a:p>
                      <a:pPr>
                        <a:buNone/>
                      </a:pPr>
                      <a:r>
                        <a:rPr lang="en-US" altLang="zh-CN"/>
                        <a:t>0000</a:t>
                      </a:r>
                      <a:endParaRPr lang="en-US" altLang="zh-CN"/>
                    </a:p>
                  </a:txBody>
                  <a:tcPr/>
                </a:tc>
                <a:tc>
                  <a:txBody>
                    <a:bodyPr/>
                    <a:p>
                      <a:pPr>
                        <a:buNone/>
                      </a:pPr>
                      <a:r>
                        <a:rPr lang="en-US" altLang="zh-CN"/>
                        <a:t>0</a:t>
                      </a:r>
                      <a:endParaRPr lang="en-US" altLang="zh-CN"/>
                    </a:p>
                  </a:txBody>
                  <a:tcPr/>
                </a:tc>
              </a:tr>
              <a:tr h="387350">
                <a:tc>
                  <a:txBody>
                    <a:bodyPr/>
                    <a:p>
                      <a:pPr>
                        <a:buNone/>
                      </a:pPr>
                      <a:r>
                        <a:rPr lang="en-US" altLang="zh-CN"/>
                        <a:t>0001</a:t>
                      </a:r>
                      <a:endParaRPr lang="en-US" altLang="zh-CN"/>
                    </a:p>
                  </a:txBody>
                  <a:tcPr/>
                </a:tc>
                <a:tc>
                  <a:txBody>
                    <a:bodyPr/>
                    <a:p>
                      <a:pPr>
                        <a:buNone/>
                      </a:pPr>
                      <a:r>
                        <a:rPr lang="en-US" altLang="zh-CN"/>
                        <a:t>1</a:t>
                      </a:r>
                      <a:endParaRPr lang="en-US" altLang="zh-CN"/>
                    </a:p>
                  </a:txBody>
                  <a:tcPr/>
                </a:tc>
              </a:tr>
              <a:tr h="387350">
                <a:tc>
                  <a:txBody>
                    <a:bodyPr/>
                    <a:p>
                      <a:pPr>
                        <a:buNone/>
                      </a:pPr>
                      <a:r>
                        <a:rPr lang="en-US" altLang="zh-CN"/>
                        <a:t>0010</a:t>
                      </a:r>
                      <a:endParaRPr lang="en-US" altLang="zh-CN"/>
                    </a:p>
                  </a:txBody>
                  <a:tcPr/>
                </a:tc>
                <a:tc>
                  <a:txBody>
                    <a:bodyPr/>
                    <a:p>
                      <a:pPr>
                        <a:buNone/>
                      </a:pPr>
                      <a:r>
                        <a:rPr lang="en-US" altLang="zh-CN"/>
                        <a:t>2</a:t>
                      </a:r>
                      <a:endParaRPr lang="en-US" altLang="zh-CN"/>
                    </a:p>
                  </a:txBody>
                  <a:tcPr/>
                </a:tc>
              </a:tr>
              <a:tr h="387350">
                <a:tc>
                  <a:txBody>
                    <a:bodyPr/>
                    <a:p>
                      <a:pPr>
                        <a:buNone/>
                      </a:pPr>
                      <a:r>
                        <a:rPr lang="en-US" altLang="zh-CN"/>
                        <a:t>0011</a:t>
                      </a:r>
                      <a:endParaRPr lang="en-US" altLang="zh-CN"/>
                    </a:p>
                  </a:txBody>
                  <a:tcPr/>
                </a:tc>
                <a:tc>
                  <a:txBody>
                    <a:bodyPr/>
                    <a:p>
                      <a:pPr>
                        <a:buNone/>
                      </a:pPr>
                      <a:r>
                        <a:rPr lang="en-US" altLang="zh-CN"/>
                        <a:t>3</a:t>
                      </a:r>
                      <a:endParaRPr lang="en-US" altLang="zh-CN"/>
                    </a:p>
                  </a:txBody>
                  <a:tcPr/>
                </a:tc>
              </a:tr>
              <a:tr h="387350">
                <a:tc>
                  <a:txBody>
                    <a:bodyPr/>
                    <a:p>
                      <a:pPr>
                        <a:buNone/>
                      </a:pPr>
                      <a:r>
                        <a:rPr lang="en-US" altLang="zh-CN"/>
                        <a:t>0100</a:t>
                      </a:r>
                      <a:endParaRPr lang="en-US" altLang="zh-CN"/>
                    </a:p>
                  </a:txBody>
                  <a:tcPr/>
                </a:tc>
                <a:tc>
                  <a:txBody>
                    <a:bodyPr/>
                    <a:p>
                      <a:pPr>
                        <a:buNone/>
                      </a:pPr>
                      <a:r>
                        <a:rPr lang="en-US" altLang="zh-CN"/>
                        <a:t>4</a:t>
                      </a:r>
                      <a:endParaRPr lang="en-US" altLang="zh-CN"/>
                    </a:p>
                  </a:txBody>
                  <a:tcPr/>
                </a:tc>
              </a:tr>
              <a:tr h="387350">
                <a:tc>
                  <a:txBody>
                    <a:bodyPr/>
                    <a:p>
                      <a:pPr>
                        <a:buNone/>
                      </a:pPr>
                      <a:r>
                        <a:rPr lang="en-US" altLang="zh-CN"/>
                        <a:t>0101</a:t>
                      </a:r>
                      <a:endParaRPr lang="en-US" altLang="zh-CN"/>
                    </a:p>
                  </a:txBody>
                  <a:tcPr/>
                </a:tc>
                <a:tc>
                  <a:txBody>
                    <a:bodyPr/>
                    <a:p>
                      <a:pPr>
                        <a:buNone/>
                      </a:pPr>
                      <a:r>
                        <a:rPr lang="en-US" altLang="zh-CN"/>
                        <a:t>5</a:t>
                      </a:r>
                      <a:endParaRPr lang="en-US" altLang="zh-CN"/>
                    </a:p>
                  </a:txBody>
                  <a:tcPr/>
                </a:tc>
              </a:tr>
              <a:tr h="387350">
                <a:tc>
                  <a:txBody>
                    <a:bodyPr/>
                    <a:p>
                      <a:pPr>
                        <a:buNone/>
                      </a:pPr>
                      <a:r>
                        <a:rPr lang="en-US" altLang="zh-CN"/>
                        <a:t>0110</a:t>
                      </a:r>
                      <a:endParaRPr lang="en-US" altLang="zh-CN"/>
                    </a:p>
                  </a:txBody>
                  <a:tcPr/>
                </a:tc>
                <a:tc>
                  <a:txBody>
                    <a:bodyPr/>
                    <a:p>
                      <a:pPr>
                        <a:buNone/>
                      </a:pPr>
                      <a:r>
                        <a:rPr lang="en-US" altLang="zh-CN"/>
                        <a:t>6</a:t>
                      </a:r>
                      <a:endParaRPr lang="en-US" altLang="zh-CN"/>
                    </a:p>
                  </a:txBody>
                  <a:tcPr/>
                </a:tc>
              </a:tr>
              <a:tr h="387350">
                <a:tc>
                  <a:txBody>
                    <a:bodyPr/>
                    <a:p>
                      <a:pPr>
                        <a:buNone/>
                      </a:pPr>
                      <a:r>
                        <a:rPr lang="en-US" altLang="zh-CN"/>
                        <a:t>0111</a:t>
                      </a:r>
                      <a:endParaRPr lang="en-US" altLang="zh-CN"/>
                    </a:p>
                  </a:txBody>
                  <a:tcPr/>
                </a:tc>
                <a:tc>
                  <a:txBody>
                    <a:bodyPr/>
                    <a:p>
                      <a:pPr>
                        <a:buNone/>
                      </a:pPr>
                      <a:r>
                        <a:rPr lang="en-US" altLang="zh-CN"/>
                        <a:t>7</a:t>
                      </a:r>
                      <a:endParaRPr lang="en-US" altLang="zh-CN"/>
                    </a:p>
                  </a:txBody>
                  <a:tcPr/>
                </a:tc>
              </a:tr>
            </a:tbl>
          </a:graphicData>
        </a:graphic>
      </p:graphicFrame>
      <p:sp>
        <p:nvSpPr>
          <p:cNvPr id="28707" name="文本框 4"/>
          <p:cNvSpPr txBox="1"/>
          <p:nvPr/>
        </p:nvSpPr>
        <p:spPr>
          <a:xfrm>
            <a:off x="4711700" y="2546350"/>
            <a:ext cx="4056063" cy="1568450"/>
          </a:xfrm>
          <a:prstGeom prst="rect">
            <a:avLst/>
          </a:prstGeom>
          <a:noFill/>
          <a:ln w="9525">
            <a:noFill/>
          </a:ln>
        </p:spPr>
        <p:txBody>
          <a:bodyPr wrap="square" anchor="t" anchorCtr="0">
            <a:spAutoFit/>
          </a:bodyPr>
          <a:p>
            <a:r>
              <a:rPr lang="zh-CN" altLang="en-US" sz="2400">
                <a:latin typeface="Arial" panose="020B0604020202020204" pitchFamily="34" charset="0"/>
                <a:ea typeface="华文行楷" panose="02010800040101010101" pitchFamily="2" charset="-122"/>
              </a:rPr>
              <a:t>（</a:t>
            </a:r>
            <a:r>
              <a:rPr lang="en-US" altLang="zh-CN" sz="2400">
                <a:latin typeface="Arial" panose="020B0604020202020204" pitchFamily="34" charset="0"/>
              </a:rPr>
              <a:t>1</a:t>
            </a:r>
            <a:r>
              <a:rPr lang="zh-CN" altLang="en-US" sz="2400">
                <a:latin typeface="Arial" panose="020B0604020202020204" pitchFamily="34" charset="0"/>
                <a:ea typeface="华文行楷" panose="02010800040101010101" pitchFamily="2" charset="-122"/>
              </a:rPr>
              <a:t>）</a:t>
            </a:r>
            <a:r>
              <a:rPr lang="zh-CN" altLang="en-US" sz="2400">
                <a:latin typeface="Arial" panose="020B0604020202020204" pitchFamily="34" charset="0"/>
                <a:ea typeface="华文行楷" panose="02010800040101010101" pitchFamily="2" charset="-122"/>
                <a:sym typeface="宋体" panose="02010600030101010101" pitchFamily="2" charset="-122"/>
              </a:rPr>
              <a:t>二进制转换十六进制：以小数点为始点，整数向左，小数向右，</a:t>
            </a:r>
            <a:r>
              <a:rPr lang="en-US" altLang="zh-CN" sz="2400">
                <a:latin typeface="Arial" panose="020B0604020202020204" pitchFamily="34" charset="0"/>
                <a:sym typeface="宋体" panose="02010600030101010101" pitchFamily="2" charset="-122"/>
              </a:rPr>
              <a:t>4</a:t>
            </a:r>
            <a:r>
              <a:rPr lang="zh-CN" altLang="en-US" sz="2400">
                <a:latin typeface="Arial" panose="020B0604020202020204" pitchFamily="34" charset="0"/>
                <a:ea typeface="华文行楷" panose="02010800040101010101" pitchFamily="2" charset="-122"/>
                <a:sym typeface="宋体" panose="02010600030101010101" pitchFamily="2" charset="-122"/>
              </a:rPr>
              <a:t>个二进制对应一位十六进制数</a:t>
            </a:r>
            <a:endParaRPr lang="zh-CN" altLang="en-US" sz="2400">
              <a:latin typeface="Arial" panose="020B0604020202020204" pitchFamily="34" charset="0"/>
              <a:ea typeface="华文行楷" panose="02010800040101010101" pitchFamily="2" charset="-122"/>
              <a:sym typeface="宋体" panose="02010600030101010101" pitchFamily="2" charset="-122"/>
            </a:endParaRPr>
          </a:p>
        </p:txBody>
      </p:sp>
      <p:sp>
        <p:nvSpPr>
          <p:cNvPr id="28708" name="文本框 5"/>
          <p:cNvSpPr txBox="1"/>
          <p:nvPr/>
        </p:nvSpPr>
        <p:spPr>
          <a:xfrm>
            <a:off x="4689475" y="4114800"/>
            <a:ext cx="4056063" cy="1198563"/>
          </a:xfrm>
          <a:prstGeom prst="rect">
            <a:avLst/>
          </a:prstGeom>
          <a:noFill/>
          <a:ln w="9525">
            <a:noFill/>
          </a:ln>
        </p:spPr>
        <p:txBody>
          <a:bodyPr wrap="square" anchor="t" anchorCtr="0">
            <a:spAutoFit/>
          </a:bodyPr>
          <a:p>
            <a:r>
              <a:rPr lang="zh-CN" altLang="en-US" sz="2400">
                <a:latin typeface="Arial" panose="020B0604020202020204" pitchFamily="34" charset="0"/>
                <a:ea typeface="华文行楷" panose="02010800040101010101" pitchFamily="2" charset="-122"/>
              </a:rPr>
              <a:t>（</a:t>
            </a:r>
            <a:r>
              <a:rPr lang="en-US" altLang="zh-CN" sz="2400">
                <a:latin typeface="Arial" panose="020B0604020202020204" pitchFamily="34" charset="0"/>
              </a:rPr>
              <a:t>2</a:t>
            </a:r>
            <a:r>
              <a:rPr lang="zh-CN" altLang="en-US" sz="2400">
                <a:latin typeface="Arial" panose="020B0604020202020204" pitchFamily="34" charset="0"/>
                <a:ea typeface="华文行楷" panose="02010800040101010101" pitchFamily="2" charset="-122"/>
              </a:rPr>
              <a:t>）</a:t>
            </a:r>
            <a:r>
              <a:rPr lang="zh-CN" altLang="en-US" sz="2400">
                <a:latin typeface="Arial" panose="020B0604020202020204" pitchFamily="34" charset="0"/>
                <a:ea typeface="华文行楷" panose="02010800040101010101" pitchFamily="2" charset="-122"/>
                <a:sym typeface="宋体" panose="02010600030101010101" pitchFamily="2" charset="-122"/>
              </a:rPr>
              <a:t>十六进制转换二进制：一位十六进制数对应</a:t>
            </a:r>
            <a:r>
              <a:rPr lang="en-US" altLang="zh-CN" sz="2400">
                <a:latin typeface="Arial" panose="020B0604020202020204" pitchFamily="34" charset="0"/>
                <a:sym typeface="宋体" panose="02010600030101010101" pitchFamily="2" charset="-122"/>
              </a:rPr>
              <a:t>4</a:t>
            </a:r>
            <a:r>
              <a:rPr lang="zh-CN" altLang="en-US" sz="2400">
                <a:latin typeface="Arial" panose="020B0604020202020204" pitchFamily="34" charset="0"/>
                <a:ea typeface="华文行楷" panose="02010800040101010101" pitchFamily="2" charset="-122"/>
                <a:sym typeface="宋体" panose="02010600030101010101" pitchFamily="2" charset="-122"/>
              </a:rPr>
              <a:t>个二进制</a:t>
            </a:r>
            <a:endParaRPr lang="zh-CN" altLang="en-US" sz="2400">
              <a:latin typeface="Arial" panose="020B0604020202020204" pitchFamily="34" charset="0"/>
              <a:ea typeface="华文行楷" panose="02010800040101010101" pitchFamily="2" charset="-122"/>
              <a:sym typeface="宋体" panose="02010600030101010101" pitchFamily="2" charset="-122"/>
            </a:endParaRPr>
          </a:p>
        </p:txBody>
      </p:sp>
      <p:sp>
        <p:nvSpPr>
          <p:cNvPr id="28709" name="文本框 6"/>
          <p:cNvSpPr txBox="1"/>
          <p:nvPr/>
        </p:nvSpPr>
        <p:spPr>
          <a:xfrm>
            <a:off x="5018088" y="5313363"/>
            <a:ext cx="3255962" cy="1076325"/>
          </a:xfrm>
          <a:prstGeom prst="rect">
            <a:avLst/>
          </a:prstGeom>
          <a:noFill/>
          <a:ln w="9525">
            <a:noFill/>
          </a:ln>
        </p:spPr>
        <p:txBody>
          <a:bodyPr wrap="square" anchor="t" anchorCtr="0">
            <a:spAutoFit/>
          </a:bodyPr>
          <a:p>
            <a:r>
              <a:rPr lang="en-US" altLang="zh-CN">
                <a:latin typeface="Arial" panose="020B0604020202020204" pitchFamily="34" charset="0"/>
              </a:rPr>
              <a:t>1001101011.1B</a:t>
            </a:r>
            <a:endParaRPr lang="en-US" altLang="zh-CN">
              <a:latin typeface="Arial" panose="020B0604020202020204" pitchFamily="34" charset="0"/>
            </a:endParaRPr>
          </a:p>
          <a:p>
            <a:r>
              <a:rPr lang="en-US" altLang="zh-CN">
                <a:latin typeface="Arial" panose="020B0604020202020204" pitchFamily="34" charset="0"/>
              </a:rPr>
              <a:t>A3.0CH</a:t>
            </a:r>
            <a:endParaRPr lang="en-US" altLang="zh-CN">
              <a:latin typeface="Arial" panose="020B0604020202020204" pitchFamily="34" charset="0"/>
            </a:endParaRPr>
          </a:p>
        </p:txBody>
      </p:sp>
      <p:sp>
        <p:nvSpPr>
          <p:cNvPr id="28710" name="文本框 7"/>
          <p:cNvSpPr txBox="1"/>
          <p:nvPr/>
        </p:nvSpPr>
        <p:spPr>
          <a:xfrm>
            <a:off x="177800" y="615950"/>
            <a:ext cx="1452563" cy="460375"/>
          </a:xfrm>
          <a:prstGeom prst="rect">
            <a:avLst/>
          </a:prstGeom>
          <a:noFill/>
          <a:ln w="9525">
            <a:noFill/>
          </a:ln>
        </p:spPr>
        <p:txBody>
          <a:bodyPr wrap="square" anchor="t" anchorCtr="0">
            <a:spAutoFit/>
          </a:bodyPr>
          <a:p>
            <a:r>
              <a:rPr lang="en-US" altLang="zh-CN" sz="2400">
                <a:latin typeface="Arial" panose="020B0604020202020204" pitchFamily="34" charset="0"/>
              </a:rPr>
              <a:t>1111</a:t>
            </a:r>
            <a:endParaRPr lang="en-US" altLang="zh-CN" sz="2400">
              <a:latin typeface="Arial" panose="020B0604020202020204" pitchFamily="34" charset="0"/>
            </a:endParaRPr>
          </a:p>
        </p:txBody>
      </p:sp>
      <p:cxnSp>
        <p:nvCxnSpPr>
          <p:cNvPr id="9" name="直接箭头连接符 8"/>
          <p:cNvCxnSpPr/>
          <p:nvPr/>
        </p:nvCxnSpPr>
        <p:spPr>
          <a:xfrm flipV="1">
            <a:off x="1143000" y="836613"/>
            <a:ext cx="533400" cy="7938"/>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sp>
        <p:nvSpPr>
          <p:cNvPr id="28712" name="文本框 9"/>
          <p:cNvSpPr txBox="1"/>
          <p:nvPr/>
        </p:nvSpPr>
        <p:spPr>
          <a:xfrm>
            <a:off x="1746250" y="650875"/>
            <a:ext cx="1716088" cy="460375"/>
          </a:xfrm>
          <a:prstGeom prst="rect">
            <a:avLst/>
          </a:prstGeom>
          <a:noFill/>
          <a:ln w="9525">
            <a:noFill/>
          </a:ln>
        </p:spPr>
        <p:txBody>
          <a:bodyPr wrap="square" anchor="t" anchorCtr="0">
            <a:spAutoFit/>
          </a:bodyPr>
          <a:p>
            <a:r>
              <a:rPr lang="en-US" altLang="zh-CN" sz="2400">
                <a:latin typeface="Arial" panose="020B0604020202020204" pitchFamily="34" charset="0"/>
              </a:rPr>
              <a:t>F</a:t>
            </a:r>
            <a:r>
              <a:rPr lang="zh-CN" altLang="en-US" sz="2400">
                <a:latin typeface="Arial" panose="020B0604020202020204" pitchFamily="34" charset="0"/>
                <a:ea typeface="华文行楷" panose="02010800040101010101" pitchFamily="2" charset="-122"/>
              </a:rPr>
              <a:t>（</a:t>
            </a:r>
            <a:r>
              <a:rPr lang="en-US" altLang="zh-CN" sz="2400">
                <a:latin typeface="Arial" panose="020B0604020202020204" pitchFamily="34" charset="0"/>
              </a:rPr>
              <a:t>15</a:t>
            </a:r>
            <a:r>
              <a:rPr lang="zh-CN" altLang="en-US" sz="2400">
                <a:latin typeface="Arial" panose="020B0604020202020204" pitchFamily="34" charset="0"/>
                <a:ea typeface="华文行楷" panose="02010800040101010101" pitchFamily="2" charset="-122"/>
              </a:rPr>
              <a:t>）</a:t>
            </a:r>
            <a:r>
              <a:rPr lang="en-US" altLang="zh-CN" sz="2400">
                <a:latin typeface="Arial" panose="020B0604020202020204" pitchFamily="34" charset="0"/>
              </a:rPr>
              <a:t> </a:t>
            </a:r>
            <a:endParaRPr lang="en-US" altLang="zh-CN" sz="2400">
              <a:latin typeface="Arial" panose="020B0604020202020204" pitchFamily="34" charset="0"/>
            </a:endParaRPr>
          </a:p>
        </p:txBody>
      </p:sp>
      <p:sp>
        <p:nvSpPr>
          <p:cNvPr id="28713" name="文本框 11"/>
          <p:cNvSpPr txBox="1"/>
          <p:nvPr/>
        </p:nvSpPr>
        <p:spPr>
          <a:xfrm>
            <a:off x="523875" y="1557338"/>
            <a:ext cx="1222375" cy="460375"/>
          </a:xfrm>
          <a:prstGeom prst="rect">
            <a:avLst/>
          </a:prstGeom>
          <a:noFill/>
          <a:ln w="9525">
            <a:noFill/>
          </a:ln>
        </p:spPr>
        <p:txBody>
          <a:bodyPr wrap="square" anchor="t" anchorCtr="0">
            <a:spAutoFit/>
          </a:bodyPr>
          <a:p>
            <a:pPr>
              <a:buSzTx/>
            </a:pPr>
            <a:r>
              <a:rPr lang="en-US" altLang="zh-CN" sz="2400">
                <a:latin typeface="Arial" panose="020B0604020202020204" pitchFamily="34" charset="0"/>
              </a:rPr>
              <a:t>1X2</a:t>
            </a:r>
            <a:r>
              <a:rPr lang="en-US" altLang="zh-CN" sz="2400" baseline="30000">
                <a:latin typeface="Arial" panose="020B0604020202020204" pitchFamily="34" charset="0"/>
              </a:rPr>
              <a:t>2</a:t>
            </a:r>
            <a:r>
              <a:rPr lang="en-US" altLang="zh-CN" sz="2400">
                <a:latin typeface="Arial" panose="020B0604020202020204" pitchFamily="34" charset="0"/>
              </a:rPr>
              <a:t>=4</a:t>
            </a:r>
            <a:endParaRPr lang="en-US" altLang="zh-CN" sz="2400">
              <a:latin typeface="Arial" panose="020B0604020202020204" pitchFamily="34" charset="0"/>
            </a:endParaRPr>
          </a:p>
        </p:txBody>
      </p:sp>
      <p:sp>
        <p:nvSpPr>
          <p:cNvPr id="28714" name="文本框 13"/>
          <p:cNvSpPr txBox="1"/>
          <p:nvPr/>
        </p:nvSpPr>
        <p:spPr>
          <a:xfrm>
            <a:off x="798513" y="1254125"/>
            <a:ext cx="1222375" cy="460375"/>
          </a:xfrm>
          <a:prstGeom prst="rect">
            <a:avLst/>
          </a:prstGeom>
          <a:noFill/>
          <a:ln w="9525">
            <a:noFill/>
          </a:ln>
        </p:spPr>
        <p:txBody>
          <a:bodyPr wrap="square" anchor="t" anchorCtr="0">
            <a:spAutoFit/>
          </a:bodyPr>
          <a:p>
            <a:r>
              <a:rPr lang="en-US" altLang="zh-CN" sz="2400">
                <a:latin typeface="Arial" panose="020B0604020202020204" pitchFamily="34" charset="0"/>
              </a:rPr>
              <a:t>1X2</a:t>
            </a:r>
            <a:r>
              <a:rPr lang="en-US" altLang="zh-CN" sz="2400" baseline="30000">
                <a:latin typeface="Arial" panose="020B0604020202020204" pitchFamily="34" charset="0"/>
              </a:rPr>
              <a:t>1</a:t>
            </a:r>
            <a:r>
              <a:rPr lang="en-US" altLang="zh-CN" sz="2400">
                <a:latin typeface="Arial" panose="020B0604020202020204" pitchFamily="34" charset="0"/>
              </a:rPr>
              <a:t>=2</a:t>
            </a:r>
            <a:endParaRPr lang="en-US" altLang="zh-CN" sz="2400" baseline="30000">
              <a:latin typeface="Arial" panose="020B0604020202020204" pitchFamily="34" charset="0"/>
            </a:endParaRPr>
          </a:p>
        </p:txBody>
      </p:sp>
      <p:sp>
        <p:nvSpPr>
          <p:cNvPr id="28715" name="文本框 15"/>
          <p:cNvSpPr txBox="1"/>
          <p:nvPr/>
        </p:nvSpPr>
        <p:spPr>
          <a:xfrm>
            <a:off x="1116013" y="879475"/>
            <a:ext cx="1541462" cy="460375"/>
          </a:xfrm>
          <a:prstGeom prst="rect">
            <a:avLst/>
          </a:prstGeom>
          <a:noFill/>
          <a:ln w="9525">
            <a:noFill/>
          </a:ln>
        </p:spPr>
        <p:txBody>
          <a:bodyPr wrap="square" anchor="t" anchorCtr="0">
            <a:spAutoFit/>
          </a:bodyPr>
          <a:p>
            <a:pPr>
              <a:buSzTx/>
            </a:pPr>
            <a:r>
              <a:rPr lang="en-US" altLang="zh-CN" sz="2400">
                <a:latin typeface="Arial" panose="020B0604020202020204" pitchFamily="34" charset="0"/>
              </a:rPr>
              <a:t>1X2</a:t>
            </a:r>
            <a:r>
              <a:rPr lang="en-US" altLang="zh-CN" sz="2400" baseline="30000">
                <a:latin typeface="Arial" panose="020B0604020202020204" pitchFamily="34" charset="0"/>
              </a:rPr>
              <a:t>0</a:t>
            </a:r>
            <a:r>
              <a:rPr lang="en-US" altLang="zh-CN" sz="2400">
                <a:latin typeface="Arial" panose="020B0604020202020204" pitchFamily="34" charset="0"/>
              </a:rPr>
              <a:t>=1</a:t>
            </a:r>
            <a:endParaRPr lang="en-US" altLang="zh-CN" sz="2400">
              <a:latin typeface="Arial" panose="020B0604020202020204" pitchFamily="34" charset="0"/>
            </a:endParaRPr>
          </a:p>
        </p:txBody>
      </p:sp>
      <p:graphicFrame>
        <p:nvGraphicFramePr>
          <p:cNvPr id="17" name="表格 16"/>
          <p:cNvGraphicFramePr/>
          <p:nvPr/>
        </p:nvGraphicFramePr>
        <p:xfrm>
          <a:off x="2471738" y="2713038"/>
          <a:ext cx="2201863" cy="3486150"/>
        </p:xfrm>
        <a:graphic>
          <a:graphicData uri="http://schemas.openxmlformats.org/drawingml/2006/table">
            <a:tbl>
              <a:tblPr firstRow="1" bandRow="1">
                <a:tableStyleId>{5C22544A-7EE6-4342-B048-85BDC9FD1C3A}</a:tableStyleId>
              </a:tblPr>
              <a:tblGrid>
                <a:gridCol w="974725"/>
                <a:gridCol w="1226820"/>
              </a:tblGrid>
              <a:tr h="387350">
                <a:tc>
                  <a:txBody>
                    <a:bodyPr/>
                    <a:p>
                      <a:pPr>
                        <a:buNone/>
                      </a:pPr>
                      <a:r>
                        <a:rPr lang="zh-CN" altLang="en-US"/>
                        <a:t>二进制</a:t>
                      </a:r>
                      <a:endParaRPr lang="zh-CN" altLang="en-US"/>
                    </a:p>
                  </a:txBody>
                  <a:tcPr/>
                </a:tc>
                <a:tc>
                  <a:txBody>
                    <a:bodyPr/>
                    <a:p>
                      <a:pPr algn="ctr">
                        <a:buNone/>
                      </a:pPr>
                      <a:r>
                        <a:rPr lang="zh-CN" altLang="en-US"/>
                        <a:t>十六进制</a:t>
                      </a:r>
                      <a:endParaRPr lang="zh-CN" altLang="en-US"/>
                    </a:p>
                  </a:txBody>
                  <a:tcPr/>
                </a:tc>
              </a:tr>
              <a:tr h="387350">
                <a:tc>
                  <a:txBody>
                    <a:bodyPr/>
                    <a:p>
                      <a:pPr>
                        <a:buNone/>
                      </a:pPr>
                      <a:r>
                        <a:rPr lang="en-US" altLang="zh-CN"/>
                        <a:t>1000</a:t>
                      </a:r>
                      <a:endParaRPr lang="en-US" altLang="zh-CN"/>
                    </a:p>
                  </a:txBody>
                  <a:tcPr/>
                </a:tc>
                <a:tc>
                  <a:txBody>
                    <a:bodyPr/>
                    <a:p>
                      <a:pPr>
                        <a:buNone/>
                      </a:pPr>
                      <a:r>
                        <a:rPr lang="en-US" altLang="zh-CN"/>
                        <a:t>8</a:t>
                      </a:r>
                      <a:endParaRPr lang="en-US" altLang="zh-CN"/>
                    </a:p>
                  </a:txBody>
                  <a:tcPr/>
                </a:tc>
              </a:tr>
              <a:tr h="387350">
                <a:tc>
                  <a:txBody>
                    <a:bodyPr/>
                    <a:p>
                      <a:pPr>
                        <a:buNone/>
                      </a:pPr>
                      <a:r>
                        <a:rPr lang="en-US" altLang="zh-CN"/>
                        <a:t>1001</a:t>
                      </a:r>
                      <a:endParaRPr lang="en-US" altLang="zh-CN"/>
                    </a:p>
                  </a:txBody>
                  <a:tcPr/>
                </a:tc>
                <a:tc>
                  <a:txBody>
                    <a:bodyPr/>
                    <a:p>
                      <a:pPr>
                        <a:buNone/>
                      </a:pPr>
                      <a:r>
                        <a:rPr lang="en-US" altLang="zh-CN"/>
                        <a:t>9</a:t>
                      </a:r>
                      <a:endParaRPr lang="en-US" altLang="zh-CN"/>
                    </a:p>
                  </a:txBody>
                  <a:tcPr/>
                </a:tc>
              </a:tr>
              <a:tr h="387350">
                <a:tc>
                  <a:txBody>
                    <a:bodyPr/>
                    <a:p>
                      <a:pPr>
                        <a:buNone/>
                      </a:pPr>
                      <a:r>
                        <a:rPr lang="en-US" altLang="zh-CN"/>
                        <a:t>1010</a:t>
                      </a:r>
                      <a:endParaRPr lang="en-US" altLang="zh-CN"/>
                    </a:p>
                  </a:txBody>
                  <a:tcPr/>
                </a:tc>
                <a:tc>
                  <a:txBody>
                    <a:bodyPr/>
                    <a:p>
                      <a:pPr>
                        <a:buNone/>
                      </a:pPr>
                      <a:r>
                        <a:rPr lang="en-US" altLang="zh-CN"/>
                        <a:t>A</a:t>
                      </a:r>
                      <a:endParaRPr lang="en-US" altLang="zh-CN"/>
                    </a:p>
                  </a:txBody>
                  <a:tcPr/>
                </a:tc>
              </a:tr>
              <a:tr h="387350">
                <a:tc>
                  <a:txBody>
                    <a:bodyPr/>
                    <a:p>
                      <a:pPr>
                        <a:buNone/>
                      </a:pPr>
                      <a:r>
                        <a:rPr lang="en-US" altLang="zh-CN"/>
                        <a:t>1011</a:t>
                      </a:r>
                      <a:endParaRPr lang="en-US" altLang="zh-CN"/>
                    </a:p>
                  </a:txBody>
                  <a:tcPr/>
                </a:tc>
                <a:tc>
                  <a:txBody>
                    <a:bodyPr/>
                    <a:p>
                      <a:pPr>
                        <a:buNone/>
                      </a:pPr>
                      <a:r>
                        <a:rPr lang="en-US" altLang="zh-CN"/>
                        <a:t>B</a:t>
                      </a:r>
                      <a:endParaRPr lang="en-US" altLang="zh-CN"/>
                    </a:p>
                  </a:txBody>
                  <a:tcPr/>
                </a:tc>
              </a:tr>
              <a:tr h="387350">
                <a:tc>
                  <a:txBody>
                    <a:bodyPr/>
                    <a:p>
                      <a:pPr>
                        <a:buNone/>
                      </a:pPr>
                      <a:r>
                        <a:rPr lang="en-US" altLang="zh-CN"/>
                        <a:t>1100</a:t>
                      </a:r>
                      <a:endParaRPr lang="en-US" altLang="zh-CN"/>
                    </a:p>
                  </a:txBody>
                  <a:tcPr/>
                </a:tc>
                <a:tc>
                  <a:txBody>
                    <a:bodyPr/>
                    <a:p>
                      <a:pPr>
                        <a:buNone/>
                      </a:pPr>
                      <a:r>
                        <a:rPr lang="en-US" altLang="zh-CN"/>
                        <a:t>C</a:t>
                      </a:r>
                      <a:endParaRPr lang="en-US" altLang="zh-CN"/>
                    </a:p>
                  </a:txBody>
                  <a:tcPr/>
                </a:tc>
              </a:tr>
              <a:tr h="387350">
                <a:tc>
                  <a:txBody>
                    <a:bodyPr/>
                    <a:p>
                      <a:pPr>
                        <a:buNone/>
                      </a:pPr>
                      <a:r>
                        <a:rPr lang="en-US" altLang="zh-CN"/>
                        <a:t>1101</a:t>
                      </a:r>
                      <a:endParaRPr lang="en-US" altLang="zh-CN"/>
                    </a:p>
                  </a:txBody>
                  <a:tcPr/>
                </a:tc>
                <a:tc>
                  <a:txBody>
                    <a:bodyPr/>
                    <a:p>
                      <a:pPr>
                        <a:buNone/>
                      </a:pPr>
                      <a:r>
                        <a:rPr lang="en-US" altLang="zh-CN"/>
                        <a:t>D</a:t>
                      </a:r>
                      <a:endParaRPr lang="en-US" altLang="zh-CN"/>
                    </a:p>
                  </a:txBody>
                  <a:tcPr/>
                </a:tc>
              </a:tr>
              <a:tr h="387350">
                <a:tc>
                  <a:txBody>
                    <a:bodyPr/>
                    <a:p>
                      <a:pPr>
                        <a:buNone/>
                      </a:pPr>
                      <a:r>
                        <a:rPr lang="en-US" altLang="zh-CN"/>
                        <a:t>1110</a:t>
                      </a:r>
                      <a:endParaRPr lang="en-US" altLang="zh-CN"/>
                    </a:p>
                  </a:txBody>
                  <a:tcPr/>
                </a:tc>
                <a:tc>
                  <a:txBody>
                    <a:bodyPr/>
                    <a:p>
                      <a:pPr>
                        <a:buNone/>
                      </a:pPr>
                      <a:r>
                        <a:rPr lang="en-US" altLang="zh-CN"/>
                        <a:t>E</a:t>
                      </a:r>
                      <a:endParaRPr lang="en-US" altLang="zh-CN"/>
                    </a:p>
                  </a:txBody>
                  <a:tcPr/>
                </a:tc>
              </a:tr>
              <a:tr h="387350">
                <a:tc>
                  <a:txBody>
                    <a:bodyPr/>
                    <a:p>
                      <a:pPr>
                        <a:buNone/>
                      </a:pPr>
                      <a:r>
                        <a:rPr lang="en-US" altLang="zh-CN"/>
                        <a:t>1111</a:t>
                      </a:r>
                      <a:endParaRPr lang="en-US" altLang="zh-CN"/>
                    </a:p>
                  </a:txBody>
                  <a:tcPr/>
                </a:tc>
                <a:tc>
                  <a:txBody>
                    <a:bodyPr/>
                    <a:p>
                      <a:pPr>
                        <a:buNone/>
                      </a:pPr>
                      <a:r>
                        <a:rPr lang="en-US" altLang="zh-CN"/>
                        <a:t>F</a:t>
                      </a:r>
                      <a:endParaRPr lang="en-US" altLang="zh-CN"/>
                    </a:p>
                  </a:txBody>
                  <a:tcPr/>
                </a:tc>
              </a:tr>
            </a:tbl>
          </a:graphicData>
        </a:graphic>
      </p:graphicFrame>
      <p:sp>
        <p:nvSpPr>
          <p:cNvPr id="28748" name="文本框 18"/>
          <p:cNvSpPr txBox="1"/>
          <p:nvPr/>
        </p:nvSpPr>
        <p:spPr>
          <a:xfrm>
            <a:off x="33338" y="1895475"/>
            <a:ext cx="1222375" cy="460375"/>
          </a:xfrm>
          <a:prstGeom prst="rect">
            <a:avLst/>
          </a:prstGeom>
          <a:noFill/>
          <a:ln w="9525">
            <a:noFill/>
          </a:ln>
        </p:spPr>
        <p:txBody>
          <a:bodyPr wrap="square" anchor="t" anchorCtr="0">
            <a:spAutoFit/>
          </a:bodyPr>
          <a:p>
            <a:pPr>
              <a:buSzTx/>
            </a:pPr>
            <a:r>
              <a:rPr lang="en-US" altLang="zh-CN" sz="2400">
                <a:latin typeface="Arial" panose="020B0604020202020204" pitchFamily="34" charset="0"/>
              </a:rPr>
              <a:t>1X2</a:t>
            </a:r>
            <a:r>
              <a:rPr lang="en-US" altLang="zh-CN" sz="2400" baseline="30000">
                <a:latin typeface="Arial" panose="020B0604020202020204" pitchFamily="34" charset="0"/>
              </a:rPr>
              <a:t>3</a:t>
            </a:r>
            <a:r>
              <a:rPr lang="en-US" altLang="zh-CN" sz="2400">
                <a:latin typeface="Arial" panose="020B0604020202020204" pitchFamily="34" charset="0"/>
              </a:rPr>
              <a:t>=8</a:t>
            </a:r>
            <a:endParaRPr lang="en-US" altLang="zh-CN" sz="2400">
              <a:latin typeface="Arial" panose="020B0604020202020204" pitchFamily="34" charset="0"/>
            </a:endParaRPr>
          </a:p>
        </p:txBody>
      </p:sp>
      <p:cxnSp>
        <p:nvCxnSpPr>
          <p:cNvPr id="2" name="直接箭头连接符 1"/>
          <p:cNvCxnSpPr/>
          <p:nvPr/>
        </p:nvCxnSpPr>
        <p:spPr>
          <a:xfrm>
            <a:off x="828675" y="908050"/>
            <a:ext cx="431800" cy="215900"/>
          </a:xfrm>
          <a:prstGeom prst="straightConnector1">
            <a:avLst/>
          </a:prstGeom>
          <a:ln>
            <a:headEnd type="none" w="med" len="med"/>
            <a:tailEnd type="arrow" w="med" len="med"/>
          </a:ln>
        </p:spPr>
        <p:style>
          <a:lnRef idx="3">
            <a:schemeClr val="accent6"/>
          </a:lnRef>
          <a:fillRef idx="0">
            <a:schemeClr val="accent6"/>
          </a:fillRef>
          <a:effectRef idx="2">
            <a:schemeClr val="accent6"/>
          </a:effectRef>
          <a:fontRef idx="minor">
            <a:schemeClr val="tx1"/>
          </a:fontRef>
        </p:style>
      </p:cxnSp>
      <p:cxnSp>
        <p:nvCxnSpPr>
          <p:cNvPr id="5" name="直接箭头连接符 4"/>
          <p:cNvCxnSpPr/>
          <p:nvPr/>
        </p:nvCxnSpPr>
        <p:spPr>
          <a:xfrm>
            <a:off x="684213" y="981075"/>
            <a:ext cx="266700" cy="358775"/>
          </a:xfrm>
          <a:prstGeom prst="straightConnector1">
            <a:avLst/>
          </a:prstGeom>
          <a:ln>
            <a:headEnd type="none" w="med" len="med"/>
            <a:tailEnd type="arrow" w="med" len="med"/>
          </a:ln>
        </p:spPr>
        <p:style>
          <a:lnRef idx="3">
            <a:schemeClr val="accent6"/>
          </a:lnRef>
          <a:fillRef idx="0">
            <a:schemeClr val="accent6"/>
          </a:fillRef>
          <a:effectRef idx="2">
            <a:schemeClr val="accent6"/>
          </a:effectRef>
          <a:fontRef idx="minor">
            <a:schemeClr val="tx1"/>
          </a:fontRef>
        </p:style>
      </p:cxnSp>
      <p:cxnSp>
        <p:nvCxnSpPr>
          <p:cNvPr id="6" name="直接箭头连接符 5"/>
          <p:cNvCxnSpPr/>
          <p:nvPr/>
        </p:nvCxnSpPr>
        <p:spPr>
          <a:xfrm>
            <a:off x="539750" y="981075"/>
            <a:ext cx="288925" cy="719138"/>
          </a:xfrm>
          <a:prstGeom prst="straightConnector1">
            <a:avLst/>
          </a:prstGeom>
          <a:ln>
            <a:headEnd type="none" w="med" len="med"/>
            <a:tailEnd type="arrow" w="med" len="med"/>
          </a:ln>
        </p:spPr>
        <p:style>
          <a:lnRef idx="3">
            <a:schemeClr val="accent6"/>
          </a:lnRef>
          <a:fillRef idx="0">
            <a:schemeClr val="accent6"/>
          </a:fillRef>
          <a:effectRef idx="2">
            <a:schemeClr val="accent6"/>
          </a:effectRef>
          <a:fontRef idx="minor">
            <a:schemeClr val="tx1"/>
          </a:fontRef>
        </p:style>
      </p:cxnSp>
      <p:cxnSp>
        <p:nvCxnSpPr>
          <p:cNvPr id="7" name="直接箭头连接符 6"/>
          <p:cNvCxnSpPr/>
          <p:nvPr/>
        </p:nvCxnSpPr>
        <p:spPr>
          <a:xfrm>
            <a:off x="387350" y="981075"/>
            <a:ext cx="80963" cy="936625"/>
          </a:xfrm>
          <a:prstGeom prst="straightConnector1">
            <a:avLst/>
          </a:prstGeom>
          <a:ln>
            <a:headEnd type="none" w="med" len="med"/>
            <a:tailEnd type="arrow" w="med" len="med"/>
          </a:ln>
        </p:spPr>
        <p:style>
          <a:lnRef idx="3">
            <a:schemeClr val="accent6"/>
          </a:lnRef>
          <a:fillRef idx="0">
            <a:schemeClr val="accent6"/>
          </a:fillRef>
          <a:effectRef idx="2">
            <a:schemeClr val="accent6"/>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标题 1"/>
          <p:cNvSpPr>
            <a:spLocks noGrp="1"/>
          </p:cNvSpPr>
          <p:nvPr>
            <p:ph type="title"/>
          </p:nvPr>
        </p:nvSpPr>
        <p:spPr/>
        <p:txBody>
          <a:bodyPr anchor="ctr" anchorCtr="0"/>
          <a:p>
            <a:r>
              <a:rPr lang="zh-CN" altLang="en-US"/>
              <a:t>综合练习</a:t>
            </a:r>
            <a:endParaRPr lang="zh-CN" altLang="en-US"/>
          </a:p>
        </p:txBody>
      </p:sp>
      <p:sp>
        <p:nvSpPr>
          <p:cNvPr id="29698" name="内容占位符 2"/>
          <p:cNvSpPr>
            <a:spLocks noGrp="1"/>
          </p:cNvSpPr>
          <p:nvPr>
            <p:ph idx="1"/>
          </p:nvPr>
        </p:nvSpPr>
        <p:spPr>
          <a:xfrm>
            <a:off x="685800" y="2268538"/>
            <a:ext cx="7772400" cy="2495550"/>
          </a:xfrm>
        </p:spPr>
        <p:txBody>
          <a:bodyPr anchor="t" anchorCtr="0"/>
          <a:p>
            <a:r>
              <a:rPr lang="zh-CN" altLang="en-US" sz="2800"/>
              <a:t>（</a:t>
            </a:r>
            <a:r>
              <a:rPr lang="en-US" altLang="zh-CN" sz="2800"/>
              <a:t>1</a:t>
            </a:r>
            <a:r>
              <a:rPr lang="zh-CN" altLang="en-US" sz="2800"/>
              <a:t>）</a:t>
            </a:r>
            <a:r>
              <a:rPr lang="en-US" altLang="zh-CN" sz="2800"/>
              <a:t>1101111.101B=</a:t>
            </a:r>
            <a:r>
              <a:rPr lang="zh-CN" altLang="en-US" sz="2800"/>
              <a:t>（）</a:t>
            </a:r>
            <a:r>
              <a:rPr lang="en-US" altLang="zh-CN" sz="2800"/>
              <a:t>D=</a:t>
            </a:r>
            <a:r>
              <a:rPr lang="zh-CN" altLang="en-US" sz="2800"/>
              <a:t>（）</a:t>
            </a:r>
            <a:r>
              <a:rPr lang="en-US" altLang="zh-CN" sz="2800"/>
              <a:t>Q=</a:t>
            </a:r>
            <a:r>
              <a:rPr lang="zh-CN" altLang="en-US" sz="2800"/>
              <a:t>（）</a:t>
            </a:r>
            <a:r>
              <a:rPr lang="en-US" altLang="zh-CN" sz="2800"/>
              <a:t>H</a:t>
            </a:r>
            <a:endParaRPr lang="en-US" altLang="zh-CN" sz="2800"/>
          </a:p>
          <a:p>
            <a:r>
              <a:rPr lang="zh-CN" altLang="en-US" sz="2800"/>
              <a:t>（</a:t>
            </a:r>
            <a:r>
              <a:rPr lang="en-US" altLang="zh-CN" sz="2800"/>
              <a:t>2</a:t>
            </a:r>
            <a:r>
              <a:rPr lang="zh-CN" altLang="en-US" sz="2800"/>
              <a:t>）</a:t>
            </a:r>
            <a:r>
              <a:rPr lang="en-US" altLang="zh-CN" sz="2800"/>
              <a:t>507.2Q=</a:t>
            </a:r>
            <a:r>
              <a:rPr lang="zh-CN" altLang="en-US" sz="2800"/>
              <a:t>（）</a:t>
            </a:r>
            <a:r>
              <a:rPr lang="en-US" altLang="zh-CN" sz="2800"/>
              <a:t>D=</a:t>
            </a:r>
            <a:r>
              <a:rPr lang="zh-CN" altLang="en-US" sz="2800"/>
              <a:t>（）</a:t>
            </a:r>
            <a:r>
              <a:rPr lang="en-US" altLang="zh-CN" sz="2800"/>
              <a:t>H</a:t>
            </a:r>
            <a:endParaRPr lang="en-US" altLang="zh-CN" sz="2800"/>
          </a:p>
          <a:p>
            <a:r>
              <a:rPr lang="zh-CN" altLang="en-US" sz="2800"/>
              <a:t>（</a:t>
            </a:r>
            <a:r>
              <a:rPr lang="en-US" altLang="zh-CN" sz="2800"/>
              <a:t>3</a:t>
            </a:r>
            <a:r>
              <a:rPr lang="zh-CN" altLang="en-US" sz="2800"/>
              <a:t>）</a:t>
            </a:r>
            <a:r>
              <a:rPr lang="en-US" altLang="zh-CN" sz="2800"/>
              <a:t>572.375=</a:t>
            </a:r>
            <a:r>
              <a:rPr lang="zh-CN" altLang="en-US" sz="2800"/>
              <a:t>（）</a:t>
            </a:r>
            <a:r>
              <a:rPr lang="en-US" altLang="zh-CN" sz="2800"/>
              <a:t>Q=</a:t>
            </a:r>
            <a:r>
              <a:rPr lang="zh-CN" altLang="en-US" sz="2800"/>
              <a:t>（）</a:t>
            </a:r>
            <a:r>
              <a:rPr lang="en-US" altLang="zh-CN" sz="2800"/>
              <a:t>H</a:t>
            </a:r>
            <a:endParaRPr lang="en-US" altLang="zh-CN" sz="2800"/>
          </a:p>
          <a:p>
            <a:r>
              <a:rPr lang="zh-CN" altLang="en-US" sz="2800"/>
              <a:t>（</a:t>
            </a:r>
            <a:r>
              <a:rPr lang="en-US" altLang="zh-CN" sz="2800"/>
              <a:t>4</a:t>
            </a:r>
            <a:r>
              <a:rPr lang="zh-CN" altLang="en-US" sz="2800"/>
              <a:t>）</a:t>
            </a:r>
            <a:r>
              <a:rPr lang="en-US" altLang="zh-CN" sz="2800"/>
              <a:t>4A.9BH=</a:t>
            </a:r>
            <a:r>
              <a:rPr lang="zh-CN" altLang="en-US" sz="2800"/>
              <a:t>（）</a:t>
            </a:r>
            <a:r>
              <a:rPr lang="en-US" altLang="zh-CN" sz="2800"/>
              <a:t>D=</a:t>
            </a:r>
            <a:r>
              <a:rPr lang="zh-CN" altLang="en-US" sz="2800"/>
              <a:t>（）</a:t>
            </a:r>
            <a:r>
              <a:rPr lang="en-US" altLang="zh-CN" sz="2800"/>
              <a:t>Q</a:t>
            </a:r>
            <a:endParaRPr lang="en-US" altLang="zh-CN" sz="2800"/>
          </a:p>
          <a:p>
            <a:endParaRPr lang="en-US" altLang="zh-CN" sz="28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30722" name="Rectangle 2"/>
          <p:cNvSpPr>
            <a:spLocks noGrp="1"/>
          </p:cNvSpPr>
          <p:nvPr>
            <p:ph type="title"/>
          </p:nvPr>
        </p:nvSpPr>
        <p:spPr>
          <a:xfrm>
            <a:off x="685800" y="304800"/>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2.1.3  原码表示法</a:t>
            </a:r>
            <a:endParaRPr lang="zh-CN" altLang="en-US" sz="3600" dirty="0">
              <a:solidFill>
                <a:srgbClr val="0000FF"/>
              </a:solidFill>
              <a:latin typeface="华文新魏" panose="02010800040101010101" pitchFamily="2" charset="-122"/>
              <a:ea typeface="华文新魏" panose="02010800040101010101" pitchFamily="2" charset="-122"/>
            </a:endParaRPr>
          </a:p>
        </p:txBody>
      </p:sp>
      <p:sp>
        <p:nvSpPr>
          <p:cNvPr id="30723" name="Rectangle 3"/>
          <p:cNvSpPr>
            <a:spLocks noGrp="1"/>
          </p:cNvSpPr>
          <p:nvPr>
            <p:ph idx="1"/>
          </p:nvPr>
        </p:nvSpPr>
        <p:spPr>
          <a:xfrm>
            <a:off x="685800" y="1822450"/>
            <a:ext cx="7772400" cy="4572000"/>
          </a:xfrm>
        </p:spPr>
        <p:txBody>
          <a:bodyPr vert="horz" wrap="square" lIns="91440" tIns="45720" rIns="91440" bIns="45720" anchor="t" anchorCtr="0"/>
          <a:p>
            <a:pPr eaLnBrk="1" hangingPunct="1">
              <a:lnSpc>
                <a:spcPct val="90000"/>
              </a:lnSpc>
              <a:buNone/>
            </a:pPr>
            <a:r>
              <a:rPr lang="zh-CN" altLang="en-US" b="1" dirty="0">
                <a:ea typeface="楷体_GB2312" pitchFamily="49" charset="-122"/>
              </a:rPr>
              <a:t>            原码表示法是一种最简单的机器数表示法，用最高位表示符号位，符号位为“0”表示该数为正，符号位为“1”表示该数为负，数值部分与真值相同。</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设二进制纯小数的原码形式为</a:t>
            </a:r>
            <a:r>
              <a:rPr lang="en-US" altLang="zh-CN" b="1" dirty="0">
                <a:solidFill>
                  <a:srgbClr val="FF3300"/>
                </a:solidFill>
                <a:ea typeface="楷体_GB2312" pitchFamily="49" charset="-122"/>
              </a:rPr>
              <a:t>X</a:t>
            </a:r>
            <a:r>
              <a:rPr lang="en-US" altLang="zh-CN" b="1" baseline="-25000" dirty="0">
                <a:solidFill>
                  <a:srgbClr val="FF3300"/>
                </a:solidFill>
                <a:ea typeface="楷体_GB2312" pitchFamily="49" charset="-122"/>
              </a:rPr>
              <a:t>s</a:t>
            </a:r>
            <a:r>
              <a:rPr lang="en-US" altLang="zh-CN" b="1" dirty="0">
                <a:ea typeface="楷体_GB2312" pitchFamily="49" charset="-122"/>
              </a:rPr>
              <a:t>.X</a:t>
            </a:r>
            <a:r>
              <a:rPr lang="en-US" altLang="zh-CN" b="1" baseline="-25000" dirty="0">
                <a:ea typeface="楷体_GB2312" pitchFamily="49" charset="-122"/>
              </a:rPr>
              <a:t>1</a:t>
            </a:r>
            <a:r>
              <a:rPr lang="en-US" altLang="zh-CN" b="1" dirty="0">
                <a:ea typeface="楷体_GB2312" pitchFamily="49" charset="-122"/>
              </a:rPr>
              <a:t>X</a:t>
            </a:r>
            <a:r>
              <a:rPr lang="en-US" altLang="zh-CN" b="1" baseline="-25000" dirty="0">
                <a:ea typeface="楷体_GB2312" pitchFamily="49" charset="-122"/>
              </a:rPr>
              <a:t>2</a:t>
            </a:r>
            <a:r>
              <a:rPr lang="en-US" altLang="zh-CN" b="1" dirty="0">
                <a:ea typeface="楷体_GB2312" pitchFamily="49" charset="-122"/>
              </a:rPr>
              <a:t>…X</a:t>
            </a:r>
            <a:r>
              <a:rPr lang="en-US" altLang="zh-CN" b="1" baseline="-25000" dirty="0">
                <a:ea typeface="楷体_GB2312" pitchFamily="49" charset="-122"/>
              </a:rPr>
              <a:t>n</a:t>
            </a:r>
            <a:r>
              <a:rPr lang="en-US" altLang="zh-CN" b="1" dirty="0">
                <a:ea typeface="楷体_GB2312" pitchFamily="49" charset="-122"/>
              </a:rPr>
              <a:t>，</a:t>
            </a:r>
            <a:r>
              <a:rPr lang="zh-CN" altLang="en-US" b="1" dirty="0">
                <a:ea typeface="楷体_GB2312" pitchFamily="49" charset="-122"/>
              </a:rPr>
              <a:t>字长</a:t>
            </a:r>
            <a:r>
              <a:rPr lang="en-US" altLang="zh-CN" b="1" dirty="0">
                <a:ea typeface="楷体_GB2312" pitchFamily="49" charset="-122"/>
              </a:rPr>
              <a:t>n+1</a:t>
            </a:r>
            <a:r>
              <a:rPr lang="zh-CN" altLang="en-US" b="1" dirty="0">
                <a:ea typeface="楷体_GB2312" pitchFamily="49" charset="-122"/>
              </a:rPr>
              <a:t>位，其中</a:t>
            </a:r>
            <a:r>
              <a:rPr lang="en-US" altLang="zh-CN" b="1" dirty="0">
                <a:solidFill>
                  <a:srgbClr val="FF3300"/>
                </a:solidFill>
                <a:ea typeface="楷体_GB2312" pitchFamily="49" charset="-122"/>
              </a:rPr>
              <a:t>X</a:t>
            </a:r>
            <a:r>
              <a:rPr lang="en-US" altLang="zh-CN" b="1" baseline="-25000" dirty="0">
                <a:solidFill>
                  <a:srgbClr val="FF3300"/>
                </a:solidFill>
                <a:ea typeface="楷体_GB2312" pitchFamily="49" charset="-122"/>
              </a:rPr>
              <a:t>s</a:t>
            </a:r>
            <a:r>
              <a:rPr lang="zh-CN" altLang="en-US" b="1" dirty="0">
                <a:ea typeface="楷体_GB2312" pitchFamily="49" charset="-122"/>
              </a:rPr>
              <a:t>表示符号位。</a:t>
            </a:r>
            <a:endParaRPr lang="zh-CN" altLang="en-US" b="1" dirty="0">
              <a:ea typeface="楷体_GB2312" pitchFamily="49" charset="-122"/>
            </a:endParaRPr>
          </a:p>
          <a:p>
            <a:pPr eaLnBrk="1" hangingPunct="1">
              <a:lnSpc>
                <a:spcPct val="90000"/>
              </a:lnSpc>
              <a:buNone/>
            </a:pPr>
            <a:r>
              <a:rPr lang="zh-CN" altLang="en-US" b="1" dirty="0"/>
              <a:t>   </a:t>
            </a:r>
            <a:r>
              <a:rPr lang="zh-CN" altLang="en-US" b="1" dirty="0">
                <a:ea typeface="楷体_GB2312" pitchFamily="49" charset="-122"/>
              </a:rPr>
              <a:t>例1：</a:t>
            </a:r>
            <a:r>
              <a:rPr lang="en-US" altLang="zh-CN" b="1" dirty="0">
                <a:ea typeface="楷体_GB2312" pitchFamily="49" charset="-122"/>
              </a:rPr>
              <a:t>X</a:t>
            </a:r>
            <a:r>
              <a:rPr lang="en-US" altLang="zh-CN" b="1" baseline="-25000" dirty="0">
                <a:ea typeface="楷体_GB2312" pitchFamily="49" charset="-122"/>
              </a:rPr>
              <a:t>1</a:t>
            </a:r>
            <a:r>
              <a:rPr lang="en-US" altLang="zh-CN" b="1" dirty="0">
                <a:ea typeface="楷体_GB2312" pitchFamily="49" charset="-122"/>
              </a:rPr>
              <a:t>=0.0110,    [X</a:t>
            </a:r>
            <a:r>
              <a:rPr lang="en-US" altLang="zh-CN" b="1" baseline="-25000" dirty="0">
                <a:ea typeface="楷体_GB2312" pitchFamily="49" charset="-122"/>
              </a:rPr>
              <a:t>1</a:t>
            </a:r>
            <a:r>
              <a:rPr lang="en-US" altLang="zh-CN" b="1" dirty="0">
                <a:ea typeface="楷体_GB2312" pitchFamily="49" charset="-122"/>
              </a:rPr>
              <a:t>]</a:t>
            </a:r>
            <a:r>
              <a:rPr lang="zh-CN" altLang="en-US" b="1" baseline="-30000" dirty="0">
                <a:ea typeface="楷体_GB2312" pitchFamily="49" charset="-122"/>
              </a:rPr>
              <a:t>原</a:t>
            </a:r>
            <a:r>
              <a:rPr lang="zh-CN" altLang="en-US" b="1" dirty="0">
                <a:ea typeface="楷体_GB2312" pitchFamily="49" charset="-122"/>
              </a:rPr>
              <a:t>=</a:t>
            </a:r>
            <a:r>
              <a:rPr lang="zh-CN" altLang="en-US" b="1" dirty="0">
                <a:solidFill>
                  <a:srgbClr val="FF0000"/>
                </a:solidFill>
                <a:ea typeface="楷体_GB2312" pitchFamily="49" charset="-122"/>
              </a:rPr>
              <a:t>0</a:t>
            </a:r>
            <a:r>
              <a:rPr lang="zh-CN" altLang="en-US" b="1" dirty="0">
                <a:ea typeface="楷体_GB2312" pitchFamily="49" charset="-122"/>
              </a:rPr>
              <a:t>.0110 </a:t>
            </a:r>
            <a:endParaRPr lang="en-US" altLang="zh-CN" b="1" dirty="0">
              <a:ea typeface="楷体_GB2312" pitchFamily="49" charset="-122"/>
            </a:endParaRPr>
          </a:p>
          <a:p>
            <a:pPr eaLnBrk="1" hangingPunct="1">
              <a:lnSpc>
                <a:spcPct val="90000"/>
              </a:lnSpc>
              <a:buNone/>
            </a:pPr>
            <a:r>
              <a:rPr lang="en-US" altLang="zh-CN" b="1" dirty="0">
                <a:ea typeface="楷体_GB2312" pitchFamily="49" charset="-122"/>
              </a:rPr>
              <a:t>             X</a:t>
            </a:r>
            <a:r>
              <a:rPr lang="en-US" altLang="zh-CN" b="1" baseline="-25000" dirty="0">
                <a:ea typeface="楷体_GB2312" pitchFamily="49" charset="-122"/>
              </a:rPr>
              <a:t>2</a:t>
            </a:r>
            <a:r>
              <a:rPr lang="en-US" altLang="zh-CN" b="1" dirty="0">
                <a:ea typeface="楷体_GB2312" pitchFamily="49" charset="-122"/>
              </a:rPr>
              <a:t>=</a:t>
            </a:r>
            <a:r>
              <a:rPr lang="en-US" altLang="zh-CN" b="1" dirty="0">
                <a:solidFill>
                  <a:srgbClr val="FF0000"/>
                </a:solidFill>
                <a:ea typeface="楷体_GB2312" pitchFamily="49" charset="-122"/>
              </a:rPr>
              <a:t>-</a:t>
            </a:r>
            <a:r>
              <a:rPr lang="en-US" altLang="zh-CN" b="1" dirty="0">
                <a:ea typeface="楷体_GB2312" pitchFamily="49" charset="-122"/>
              </a:rPr>
              <a:t>0.0110</a:t>
            </a:r>
            <a:r>
              <a:rPr lang="zh-CN" altLang="en-US" b="1" dirty="0">
                <a:ea typeface="楷体_GB2312" pitchFamily="49" charset="-122"/>
              </a:rPr>
              <a:t>,   [</a:t>
            </a:r>
            <a:r>
              <a:rPr lang="en-US" altLang="zh-CN" b="1" dirty="0">
                <a:ea typeface="楷体_GB2312" pitchFamily="49" charset="-122"/>
              </a:rPr>
              <a:t>X</a:t>
            </a:r>
            <a:r>
              <a:rPr lang="en-US" altLang="zh-CN" b="1" baseline="-25000" dirty="0">
                <a:ea typeface="楷体_GB2312" pitchFamily="49" charset="-122"/>
              </a:rPr>
              <a:t>2</a:t>
            </a:r>
            <a:r>
              <a:rPr lang="en-US" altLang="zh-CN" b="1" dirty="0">
                <a:ea typeface="楷体_GB2312" pitchFamily="49" charset="-122"/>
              </a:rPr>
              <a:t>]</a:t>
            </a:r>
            <a:r>
              <a:rPr lang="zh-CN" altLang="en-US" b="1" baseline="-30000" dirty="0">
                <a:ea typeface="楷体_GB2312" pitchFamily="49" charset="-122"/>
              </a:rPr>
              <a:t>原</a:t>
            </a:r>
            <a:r>
              <a:rPr lang="zh-CN" altLang="en-US" b="1" dirty="0">
                <a:ea typeface="楷体_GB2312" pitchFamily="49" charset="-122"/>
              </a:rPr>
              <a:t>=</a:t>
            </a:r>
            <a:r>
              <a:rPr lang="zh-CN" altLang="en-US" b="1" dirty="0">
                <a:solidFill>
                  <a:srgbClr val="FF0000"/>
                </a:solidFill>
                <a:ea typeface="楷体_GB2312" pitchFamily="49" charset="-122"/>
              </a:rPr>
              <a:t>1</a:t>
            </a:r>
            <a:r>
              <a:rPr lang="zh-CN" altLang="en-US" b="1" dirty="0">
                <a:ea typeface="楷体_GB2312" pitchFamily="49" charset="-122"/>
              </a:rPr>
              <a:t>.0110</a:t>
            </a:r>
            <a:endParaRPr lang="zh-CN" altLang="en-US" b="1" dirty="0">
              <a:ea typeface="楷体_GB2312" pitchFamily="49" charset="-122"/>
            </a:endParaRPr>
          </a:p>
        </p:txBody>
      </p:sp>
      <p:sp>
        <p:nvSpPr>
          <p:cNvPr id="30724" name="文本框 1"/>
          <p:cNvSpPr txBox="1"/>
          <p:nvPr/>
        </p:nvSpPr>
        <p:spPr>
          <a:xfrm>
            <a:off x="1363663" y="1238250"/>
            <a:ext cx="5980112" cy="584200"/>
          </a:xfrm>
          <a:prstGeom prst="rect">
            <a:avLst/>
          </a:prstGeom>
          <a:noFill/>
          <a:ln w="9525">
            <a:noFill/>
          </a:ln>
        </p:spPr>
        <p:txBody>
          <a:bodyPr wrap="square" anchor="t" anchorCtr="0">
            <a:spAutoFit/>
          </a:bodyPr>
          <a:p>
            <a:r>
              <a:rPr lang="zh-CN" altLang="en-US">
                <a:latin typeface="Arial" panose="020B0604020202020204" pitchFamily="34" charset="0"/>
              </a:rPr>
              <a:t>真实值</a:t>
            </a:r>
            <a:r>
              <a:rPr lang="en-US" altLang="zh-CN">
                <a:latin typeface="Arial" panose="020B0604020202020204" pitchFamily="34" charset="0"/>
              </a:rPr>
              <a:t>——</a:t>
            </a:r>
            <a:r>
              <a:rPr lang="zh-CN" altLang="en-US">
                <a:latin typeface="Arial" panose="020B0604020202020204" pitchFamily="34" charset="0"/>
              </a:rPr>
              <a:t>将一个数求出二进制</a:t>
            </a:r>
            <a:endParaRPr lang="zh-CN" altLang="en-US">
              <a:latin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31746" name="Rectangle 2"/>
          <p:cNvSpPr>
            <a:spLocks noGrp="1"/>
          </p:cNvSpPr>
          <p:nvPr>
            <p:ph type="title"/>
          </p:nvPr>
        </p:nvSpPr>
        <p:spPr>
          <a:xfrm>
            <a:off x="685800" y="304800"/>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2.1.3  原码表示法（续）</a:t>
            </a:r>
            <a:endParaRPr lang="zh-CN" altLang="en-US" sz="3600" dirty="0">
              <a:solidFill>
                <a:srgbClr val="0000FF"/>
              </a:solidFill>
              <a:latin typeface="华文新魏" panose="02010800040101010101" pitchFamily="2" charset="-122"/>
              <a:ea typeface="华文新魏" panose="02010800040101010101" pitchFamily="2" charset="-122"/>
            </a:endParaRPr>
          </a:p>
        </p:txBody>
      </p:sp>
      <p:sp>
        <p:nvSpPr>
          <p:cNvPr id="31747" name="Rectangle 3"/>
          <p:cNvSpPr>
            <a:spLocks noGrp="1"/>
          </p:cNvSpPr>
          <p:nvPr>
            <p:ph idx="1"/>
          </p:nvPr>
        </p:nvSpPr>
        <p:spPr>
          <a:xfrm>
            <a:off x="685800" y="1371600"/>
            <a:ext cx="7772400" cy="4572000"/>
          </a:xfrm>
        </p:spPr>
        <p:txBody>
          <a:bodyPr vert="horz" wrap="square" lIns="91440" tIns="45720" rIns="91440" bIns="45720" anchor="t" anchorCtr="0"/>
          <a:p>
            <a:pPr marL="0" algn="just" eaLnBrk="1" hangingPunct="1">
              <a:buNone/>
            </a:pPr>
            <a:r>
              <a:rPr lang="zh-CN" altLang="en-US" b="1" dirty="0">
                <a:ea typeface="楷体_GB2312" pitchFamily="49" charset="-122"/>
              </a:rPr>
              <a:t>        设二进制纯整数的原码形式为</a:t>
            </a:r>
            <a:r>
              <a:rPr lang="en-US" altLang="zh-CN" b="1" dirty="0">
                <a:solidFill>
                  <a:srgbClr val="FF3300"/>
                </a:solidFill>
                <a:ea typeface="楷体_GB2312" pitchFamily="49" charset="-122"/>
              </a:rPr>
              <a:t>X</a:t>
            </a:r>
            <a:r>
              <a:rPr lang="en-US" altLang="zh-CN" b="1" baseline="-25000" dirty="0">
                <a:solidFill>
                  <a:srgbClr val="FF3300"/>
                </a:solidFill>
                <a:ea typeface="楷体_GB2312" pitchFamily="49" charset="-122"/>
              </a:rPr>
              <a:t>s</a:t>
            </a:r>
            <a:r>
              <a:rPr lang="en-US" altLang="zh-CN" b="1" dirty="0">
                <a:ea typeface="楷体_GB2312" pitchFamily="49" charset="-122"/>
              </a:rPr>
              <a:t>X</a:t>
            </a:r>
            <a:r>
              <a:rPr lang="en-US" altLang="zh-CN" b="1" baseline="-25000" dirty="0">
                <a:ea typeface="楷体_GB2312" pitchFamily="49" charset="-122"/>
              </a:rPr>
              <a:t>1</a:t>
            </a:r>
            <a:r>
              <a:rPr lang="en-US" altLang="zh-CN" b="1" dirty="0">
                <a:ea typeface="楷体_GB2312" pitchFamily="49" charset="-122"/>
              </a:rPr>
              <a:t>X</a:t>
            </a:r>
            <a:r>
              <a:rPr lang="en-US" altLang="zh-CN" b="1" baseline="-25000" dirty="0">
                <a:ea typeface="楷体_GB2312" pitchFamily="49" charset="-122"/>
              </a:rPr>
              <a:t>2</a:t>
            </a:r>
            <a:r>
              <a:rPr lang="en-US" altLang="zh-CN" b="1" dirty="0">
                <a:ea typeface="楷体_GB2312" pitchFamily="49" charset="-122"/>
              </a:rPr>
              <a:t>…X</a:t>
            </a:r>
            <a:r>
              <a:rPr lang="en-US" altLang="zh-CN" b="1" baseline="-25000" dirty="0">
                <a:ea typeface="楷体_GB2312" pitchFamily="49" charset="-122"/>
              </a:rPr>
              <a:t>n</a:t>
            </a:r>
            <a:r>
              <a:rPr lang="en-US" altLang="zh-CN" b="1" dirty="0">
                <a:ea typeface="楷体_GB2312" pitchFamily="49" charset="-122"/>
              </a:rPr>
              <a:t>，</a:t>
            </a:r>
            <a:r>
              <a:rPr lang="zh-CN" altLang="en-US" b="1" dirty="0">
                <a:ea typeface="楷体_GB2312" pitchFamily="49" charset="-122"/>
              </a:rPr>
              <a:t>其中</a:t>
            </a:r>
            <a:r>
              <a:rPr lang="en-US" altLang="zh-CN" b="1" dirty="0">
                <a:solidFill>
                  <a:srgbClr val="FF3300"/>
                </a:solidFill>
                <a:ea typeface="楷体_GB2312" pitchFamily="49" charset="-122"/>
              </a:rPr>
              <a:t>X</a:t>
            </a:r>
            <a:r>
              <a:rPr lang="en-US" altLang="zh-CN" b="1" baseline="-25000" dirty="0">
                <a:solidFill>
                  <a:srgbClr val="FF3300"/>
                </a:solidFill>
                <a:ea typeface="楷体_GB2312" pitchFamily="49" charset="-122"/>
              </a:rPr>
              <a:t>s</a:t>
            </a:r>
            <a:r>
              <a:rPr lang="zh-CN" altLang="en-US" b="1" dirty="0">
                <a:ea typeface="楷体_GB2312" pitchFamily="49" charset="-122"/>
              </a:rPr>
              <a:t>表示符号位。</a:t>
            </a:r>
            <a:endParaRPr lang="en-US" altLang="zh-CN" b="1" dirty="0">
              <a:ea typeface="楷体_GB2312" pitchFamily="49" charset="-122"/>
            </a:endParaRPr>
          </a:p>
          <a:p>
            <a:pPr marL="0" algn="just" eaLnBrk="1" hangingPunct="1">
              <a:buNone/>
            </a:pPr>
            <a:r>
              <a:rPr lang="zh-CN" altLang="en-US" b="1" dirty="0">
                <a:ea typeface="楷体_GB2312" pitchFamily="49" charset="-122"/>
              </a:rPr>
              <a:t>例2： </a:t>
            </a:r>
            <a:r>
              <a:rPr lang="en-US" altLang="zh-CN" b="1" dirty="0">
                <a:ea typeface="楷体_GB2312" pitchFamily="49" charset="-122"/>
              </a:rPr>
              <a:t>X</a:t>
            </a:r>
            <a:r>
              <a:rPr lang="en-US" altLang="zh-CN" b="1" baseline="-25000" dirty="0">
                <a:ea typeface="楷体_GB2312" pitchFamily="49" charset="-122"/>
              </a:rPr>
              <a:t>1</a:t>
            </a:r>
            <a:r>
              <a:rPr lang="en-US" altLang="zh-CN" b="1" dirty="0">
                <a:ea typeface="楷体_GB2312" pitchFamily="49" charset="-122"/>
              </a:rPr>
              <a:t>=1101,    [X</a:t>
            </a:r>
            <a:r>
              <a:rPr lang="en-US" altLang="zh-CN" b="1" baseline="-25000" dirty="0">
                <a:ea typeface="楷体_GB2312" pitchFamily="49" charset="-122"/>
              </a:rPr>
              <a:t>1</a:t>
            </a:r>
            <a:r>
              <a:rPr lang="en-US" altLang="zh-CN" b="1" dirty="0">
                <a:ea typeface="楷体_GB2312" pitchFamily="49" charset="-122"/>
              </a:rPr>
              <a:t>]</a:t>
            </a:r>
            <a:r>
              <a:rPr lang="zh-CN" altLang="en-US" b="1" baseline="-30000" dirty="0">
                <a:ea typeface="楷体_GB2312" pitchFamily="49" charset="-122"/>
              </a:rPr>
              <a:t>原</a:t>
            </a:r>
            <a:r>
              <a:rPr lang="zh-CN" altLang="en-US" b="1" dirty="0">
                <a:ea typeface="楷体_GB2312" pitchFamily="49" charset="-122"/>
              </a:rPr>
              <a:t>=</a:t>
            </a:r>
            <a:r>
              <a:rPr lang="zh-CN" altLang="en-US" b="1" dirty="0">
                <a:solidFill>
                  <a:srgbClr val="FF0000"/>
                </a:solidFill>
                <a:ea typeface="楷体_GB2312" pitchFamily="49" charset="-122"/>
              </a:rPr>
              <a:t>0</a:t>
            </a:r>
            <a:r>
              <a:rPr lang="zh-CN" altLang="en-US" b="1" dirty="0">
                <a:ea typeface="楷体_GB2312" pitchFamily="49" charset="-122"/>
              </a:rPr>
              <a:t>1101</a:t>
            </a:r>
            <a:endParaRPr lang="en-US" altLang="zh-CN" b="1" dirty="0">
              <a:ea typeface="楷体_GB2312" pitchFamily="49" charset="-122"/>
            </a:endParaRPr>
          </a:p>
          <a:p>
            <a:pPr marL="0" algn="just" eaLnBrk="1" hangingPunct="1">
              <a:lnSpc>
                <a:spcPct val="90000"/>
              </a:lnSpc>
              <a:buClr>
                <a:schemeClr val="accent2"/>
              </a:buClr>
              <a:buSzPct val="80000"/>
              <a:buFont typeface="Wingdings" panose="05000000000000000000" pitchFamily="2" charset="2"/>
              <a:buNone/>
            </a:pPr>
            <a:r>
              <a:rPr lang="en-US" altLang="zh-CN" b="1" dirty="0">
                <a:ea typeface="楷体_GB2312" pitchFamily="49" charset="-122"/>
              </a:rPr>
              <a:t>           X</a:t>
            </a:r>
            <a:r>
              <a:rPr lang="en-US" altLang="zh-CN" b="1" baseline="-25000" dirty="0">
                <a:ea typeface="楷体_GB2312" pitchFamily="49" charset="-122"/>
              </a:rPr>
              <a:t>2</a:t>
            </a:r>
            <a:r>
              <a:rPr lang="en-US" altLang="zh-CN" b="1" dirty="0">
                <a:ea typeface="楷体_GB2312" pitchFamily="49" charset="-122"/>
              </a:rPr>
              <a:t>=</a:t>
            </a:r>
            <a:r>
              <a:rPr lang="en-US" altLang="zh-CN" b="1" dirty="0">
                <a:solidFill>
                  <a:srgbClr val="FF0000"/>
                </a:solidFill>
                <a:ea typeface="楷体_GB2312" pitchFamily="49" charset="-122"/>
              </a:rPr>
              <a:t>-</a:t>
            </a:r>
            <a:r>
              <a:rPr lang="en-US" altLang="zh-CN" b="1" dirty="0">
                <a:ea typeface="楷体_GB2312" pitchFamily="49" charset="-122"/>
              </a:rPr>
              <a:t>1101</a:t>
            </a:r>
            <a:r>
              <a:rPr lang="zh-CN" altLang="en-US" b="1" dirty="0">
                <a:ea typeface="楷体_GB2312" pitchFamily="49" charset="-122"/>
              </a:rPr>
              <a:t>,   [</a:t>
            </a:r>
            <a:r>
              <a:rPr lang="en-US" altLang="zh-CN" b="1" dirty="0">
                <a:ea typeface="楷体_GB2312" pitchFamily="49" charset="-122"/>
              </a:rPr>
              <a:t>X</a:t>
            </a:r>
            <a:r>
              <a:rPr lang="en-US" altLang="zh-CN" b="1" baseline="-25000" dirty="0">
                <a:ea typeface="楷体_GB2312" pitchFamily="49" charset="-122"/>
              </a:rPr>
              <a:t>2</a:t>
            </a:r>
            <a:r>
              <a:rPr lang="en-US" altLang="zh-CN" b="1" dirty="0">
                <a:ea typeface="楷体_GB2312" pitchFamily="49" charset="-122"/>
              </a:rPr>
              <a:t>]</a:t>
            </a:r>
            <a:r>
              <a:rPr lang="zh-CN" altLang="en-US" b="1" baseline="-30000" dirty="0">
                <a:ea typeface="楷体_GB2312" pitchFamily="49" charset="-122"/>
              </a:rPr>
              <a:t>原</a:t>
            </a:r>
            <a:r>
              <a:rPr lang="zh-CN" altLang="en-US" b="1" dirty="0">
                <a:ea typeface="楷体_GB2312" pitchFamily="49" charset="-122"/>
              </a:rPr>
              <a:t>=</a:t>
            </a:r>
            <a:r>
              <a:rPr lang="zh-CN" altLang="en-US" b="1" dirty="0">
                <a:solidFill>
                  <a:srgbClr val="FF0000"/>
                </a:solidFill>
                <a:ea typeface="楷体_GB2312" pitchFamily="49" charset="-122"/>
              </a:rPr>
              <a:t>1</a:t>
            </a:r>
            <a:r>
              <a:rPr lang="zh-CN" altLang="en-US" b="1" dirty="0">
                <a:ea typeface="楷体_GB2312" pitchFamily="49" charset="-122"/>
              </a:rPr>
              <a:t>1101</a:t>
            </a:r>
            <a:endParaRPr lang="zh-CN" altLang="en-US" b="1" dirty="0">
              <a:ea typeface="楷体_GB2312" pitchFamily="49" charset="-122"/>
            </a:endParaRPr>
          </a:p>
          <a:p>
            <a:pPr marL="0" algn="just" eaLnBrk="1" hangingPunct="1">
              <a:buNone/>
            </a:pPr>
            <a:r>
              <a:rPr lang="zh-CN" altLang="en-US" b="1" dirty="0"/>
              <a:t>        </a:t>
            </a:r>
            <a:r>
              <a:rPr lang="zh-CN" altLang="en-US" b="1" dirty="0">
                <a:ea typeface="楷体_GB2312" pitchFamily="49" charset="-122"/>
              </a:rPr>
              <a:t>在原码表示中，真值0有两种不同的表示形式：</a:t>
            </a:r>
            <a:endParaRPr lang="zh-CN" altLang="en-US" b="1" dirty="0">
              <a:ea typeface="楷体_GB2312" pitchFamily="49" charset="-122"/>
            </a:endParaRPr>
          </a:p>
          <a:p>
            <a:pPr marL="0" algn="just" eaLnBrk="1" hangingPunct="1">
              <a:buNone/>
            </a:pPr>
            <a:r>
              <a:rPr lang="zh-CN" altLang="en-US" b="1" dirty="0">
                <a:ea typeface="楷体_GB2312" pitchFamily="49" charset="-122"/>
              </a:rPr>
              <a:t>         [+0]</a:t>
            </a:r>
            <a:r>
              <a:rPr lang="zh-CN" altLang="en-US" b="1" baseline="-25000" dirty="0">
                <a:ea typeface="楷体_GB2312" pitchFamily="49" charset="-122"/>
              </a:rPr>
              <a:t>原</a:t>
            </a:r>
            <a:r>
              <a:rPr lang="zh-CN" altLang="en-US" b="1" dirty="0">
                <a:ea typeface="楷体_GB2312" pitchFamily="49" charset="-122"/>
              </a:rPr>
              <a:t>=</a:t>
            </a:r>
            <a:r>
              <a:rPr lang="zh-CN" altLang="en-US" b="1" dirty="0">
                <a:solidFill>
                  <a:srgbClr val="FF3300"/>
                </a:solidFill>
                <a:ea typeface="楷体_GB2312" pitchFamily="49" charset="-122"/>
              </a:rPr>
              <a:t>00000</a:t>
            </a:r>
            <a:endParaRPr lang="zh-CN" altLang="en-US" b="1" dirty="0">
              <a:solidFill>
                <a:srgbClr val="FF3300"/>
              </a:solidFill>
              <a:ea typeface="楷体_GB2312" pitchFamily="49" charset="-122"/>
            </a:endParaRPr>
          </a:p>
          <a:p>
            <a:pPr marL="0" algn="just" eaLnBrk="1" hangingPunct="1">
              <a:buNone/>
            </a:pPr>
            <a:r>
              <a:rPr lang="zh-CN" altLang="en-US" b="1" dirty="0">
                <a:solidFill>
                  <a:srgbClr val="FF3300"/>
                </a:solidFill>
                <a:ea typeface="楷体_GB2312" pitchFamily="49" charset="-122"/>
              </a:rPr>
              <a:t>         </a:t>
            </a:r>
            <a:r>
              <a:rPr lang="zh-CN" altLang="en-US" b="1" dirty="0">
                <a:ea typeface="楷体_GB2312" pitchFamily="49" charset="-122"/>
              </a:rPr>
              <a:t>[-0]</a:t>
            </a:r>
            <a:r>
              <a:rPr lang="zh-CN" altLang="en-US" b="1" baseline="-25000" dirty="0">
                <a:ea typeface="楷体_GB2312" pitchFamily="49" charset="-122"/>
              </a:rPr>
              <a:t>原</a:t>
            </a:r>
            <a:r>
              <a:rPr lang="zh-CN" altLang="en-US" b="1" dirty="0">
                <a:ea typeface="楷体_GB2312" pitchFamily="49" charset="-122"/>
              </a:rPr>
              <a:t>=</a:t>
            </a:r>
            <a:r>
              <a:rPr lang="zh-CN" altLang="en-US" b="1" dirty="0">
                <a:solidFill>
                  <a:srgbClr val="FF3300"/>
                </a:solidFill>
                <a:ea typeface="楷体_GB2312" pitchFamily="49" charset="-122"/>
              </a:rPr>
              <a:t>10000</a:t>
            </a:r>
            <a:endParaRPr lang="zh-CN" altLang="en-US" b="1" dirty="0">
              <a:solidFill>
                <a:srgbClr val="FF3300"/>
              </a:solidFill>
              <a:ea typeface="楷体_GB2312"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1"/>
          <p:cNvSpPr>
            <a:spLocks noGrp="1"/>
          </p:cNvSpPr>
          <p:nvPr>
            <p:ph type="title"/>
          </p:nvPr>
        </p:nvSpPr>
        <p:spPr/>
        <p:txBody>
          <a:bodyPr anchor="ctr" anchorCtr="0"/>
          <a:p>
            <a:pPr algn="l"/>
            <a:r>
              <a:rPr lang="zh-CN" altLang="en-US"/>
              <a:t>原码</a:t>
            </a:r>
            <a:endParaRPr lang="zh-CN" altLang="en-US"/>
          </a:p>
        </p:txBody>
      </p:sp>
      <p:sp>
        <p:nvSpPr>
          <p:cNvPr id="32770" name="内容占位符 2"/>
          <p:cNvSpPr>
            <a:spLocks noGrp="1"/>
          </p:cNvSpPr>
          <p:nvPr>
            <p:ph idx="1"/>
          </p:nvPr>
        </p:nvSpPr>
        <p:spPr>
          <a:xfrm>
            <a:off x="685800" y="1981200"/>
            <a:ext cx="7772400" cy="1500188"/>
          </a:xfrm>
        </p:spPr>
        <p:txBody>
          <a:bodyPr anchor="t" anchorCtr="0"/>
          <a:p>
            <a:r>
              <a:rPr lang="zh-CN" altLang="en-US"/>
              <a:t>（</a:t>
            </a:r>
            <a:r>
              <a:rPr lang="en-US" altLang="zh-CN"/>
              <a:t>1</a:t>
            </a:r>
            <a:r>
              <a:rPr lang="zh-CN" altLang="en-US"/>
              <a:t>）求出二进制数</a:t>
            </a:r>
            <a:endParaRPr lang="zh-CN" altLang="en-US"/>
          </a:p>
          <a:p>
            <a:r>
              <a:rPr lang="zh-CN" altLang="en-US"/>
              <a:t>（</a:t>
            </a:r>
            <a:r>
              <a:rPr lang="en-US" altLang="zh-CN"/>
              <a:t>2</a:t>
            </a:r>
            <a:r>
              <a:rPr lang="zh-CN" altLang="en-US"/>
              <a:t>）在最高位补</a:t>
            </a:r>
            <a:r>
              <a:rPr lang="en-US" altLang="zh-CN"/>
              <a:t>“0”</a:t>
            </a:r>
            <a:r>
              <a:rPr lang="zh-CN" altLang="en-US"/>
              <a:t>或</a:t>
            </a:r>
            <a:r>
              <a:rPr lang="en-US" altLang="zh-CN"/>
              <a:t>“1”</a:t>
            </a:r>
            <a:endParaRPr lang="en-US" altLang="zh-CN"/>
          </a:p>
        </p:txBody>
      </p:sp>
      <p:sp>
        <p:nvSpPr>
          <p:cNvPr id="32771" name="内容占位符 2"/>
          <p:cNvSpPr>
            <a:spLocks noGrp="1"/>
          </p:cNvSpPr>
          <p:nvPr/>
        </p:nvSpPr>
        <p:spPr>
          <a:xfrm>
            <a:off x="685800" y="3452813"/>
            <a:ext cx="7772400" cy="712787"/>
          </a:xfrm>
          <a:prstGeom prst="rect">
            <a:avLst/>
          </a:prstGeom>
          <a:noFill/>
          <a:ln w="9525">
            <a:noFill/>
          </a:ln>
        </p:spPr>
        <p:txBody>
          <a:bodyPr anchor="t" anchorCtr="0"/>
          <a:p>
            <a:pPr marL="342900" indent="-342900" eaLnBrk="0" hangingPunct="0">
              <a:spcBef>
                <a:spcPct val="20000"/>
              </a:spcBef>
              <a:buChar char="•"/>
            </a:pPr>
            <a:r>
              <a:rPr lang="zh-CN" altLang="zh-CN">
                <a:solidFill>
                  <a:schemeClr val="tx1"/>
                </a:solidFill>
                <a:latin typeface="Times New Roman" panose="02020603050405020304" pitchFamily="18" charset="0"/>
                <a:ea typeface="宋体" panose="02010600030101010101" pitchFamily="2" charset="-122"/>
              </a:rPr>
              <a:t>例：</a:t>
            </a:r>
            <a:r>
              <a:rPr lang="en-US" altLang="zh-CN">
                <a:solidFill>
                  <a:schemeClr val="tx1"/>
                </a:solidFill>
                <a:latin typeface="Times New Roman" panose="02020603050405020304" pitchFamily="18" charset="0"/>
                <a:ea typeface="宋体" panose="02010600030101010101" pitchFamily="2" charset="-122"/>
              </a:rPr>
              <a:t>-200    +200</a:t>
            </a:r>
            <a:r>
              <a:rPr lang="zh-CN" altLang="en-US">
                <a:solidFill>
                  <a:schemeClr val="tx1"/>
                </a:solidFill>
                <a:latin typeface="Times New Roman" panose="02020603050405020304" pitchFamily="18" charset="0"/>
                <a:ea typeface="宋体" panose="02010600030101010101" pitchFamily="2" charset="-122"/>
              </a:rPr>
              <a:t>的原码？</a:t>
            </a:r>
            <a:endParaRPr lang="zh-CN" altLang="en-US">
              <a:solidFill>
                <a:schemeClr val="tx1"/>
              </a:solidFill>
              <a:latin typeface="Times New Roman" panose="02020603050405020304" pitchFamily="18" charset="0"/>
              <a:ea typeface="宋体" panose="02010600030101010101" pitchFamily="2" charset="-122"/>
            </a:endParaRPr>
          </a:p>
          <a:p>
            <a:pPr marL="342900" indent="-342900" eaLnBrk="0" hangingPunct="0">
              <a:spcBef>
                <a:spcPct val="20000"/>
              </a:spcBef>
              <a:buChar char="•"/>
            </a:pPr>
            <a:r>
              <a:rPr lang="en-US" altLang="zh-CN">
                <a:solidFill>
                  <a:schemeClr val="tx1"/>
                </a:solidFill>
                <a:latin typeface="Times New Roman" panose="02020603050405020304" pitchFamily="18" charset="0"/>
                <a:ea typeface="宋体" panose="02010600030101010101" pitchFamily="2" charset="-122"/>
              </a:rPr>
              <a:t>-200=-11001000</a:t>
            </a:r>
            <a:endParaRPr lang="zh-CN" altLang="en-US">
              <a:solidFill>
                <a:schemeClr val="tx1"/>
              </a:solidFill>
              <a:latin typeface="Times New Roman" panose="02020603050405020304" pitchFamily="18" charset="0"/>
              <a:ea typeface="宋体" panose="02010600030101010101" pitchFamily="2" charset="-122"/>
            </a:endParaRPr>
          </a:p>
          <a:p>
            <a:pPr marL="342900" indent="-342900" eaLnBrk="0" hangingPunct="0">
              <a:spcBef>
                <a:spcPct val="20000"/>
              </a:spcBef>
              <a:buChar char="•"/>
            </a:pPr>
            <a:r>
              <a:rPr lang="zh-CN" altLang="en-US">
                <a:solidFill>
                  <a:schemeClr val="tx1"/>
                </a:solidFill>
                <a:latin typeface="Times New Roman" panose="02020603050405020304" pitchFamily="18" charset="0"/>
                <a:ea typeface="宋体" panose="02010600030101010101" pitchFamily="2" charset="-122"/>
              </a:rPr>
              <a:t>则：原码为</a:t>
            </a:r>
            <a:r>
              <a:rPr lang="en-US" altLang="zh-CN">
                <a:solidFill>
                  <a:srgbClr val="FF0000"/>
                </a:solidFill>
                <a:latin typeface="Times New Roman" panose="02020603050405020304" pitchFamily="18" charset="0"/>
                <a:ea typeface="宋体" panose="02010600030101010101" pitchFamily="2" charset="-122"/>
              </a:rPr>
              <a:t>1</a:t>
            </a:r>
            <a:r>
              <a:rPr lang="en-US" altLang="zh-CN">
                <a:solidFill>
                  <a:schemeClr val="tx1"/>
                </a:solidFill>
                <a:latin typeface="Times New Roman" panose="02020603050405020304" pitchFamily="18" charset="0"/>
                <a:ea typeface="宋体" panose="02010600030101010101" pitchFamily="2" charset="-122"/>
              </a:rPr>
              <a:t>11001000</a:t>
            </a:r>
            <a:endParaRPr lang="en-US" altLang="zh-CN">
              <a:solidFill>
                <a:schemeClr val="tx1"/>
              </a:solidFill>
              <a:latin typeface="Times New Roman" panose="02020603050405020304" pitchFamily="18" charset="0"/>
              <a:ea typeface="宋体" panose="02010600030101010101" pitchFamily="2" charset="-122"/>
            </a:endParaRPr>
          </a:p>
          <a:p>
            <a:pPr marL="342900" indent="-342900" eaLnBrk="0" hangingPunct="0">
              <a:spcBef>
                <a:spcPct val="20000"/>
              </a:spcBef>
              <a:buChar char="•"/>
            </a:pPr>
            <a:r>
              <a:rPr lang="en-US" altLang="zh-CN">
                <a:solidFill>
                  <a:schemeClr val="tx1"/>
                </a:solidFill>
                <a:latin typeface="Times New Roman" panose="02020603050405020304" pitchFamily="18" charset="0"/>
                <a:ea typeface="宋体" panose="02010600030101010101" pitchFamily="2" charset="-122"/>
              </a:rPr>
              <a:t>+200=+11001000</a:t>
            </a:r>
            <a:endParaRPr lang="en-US" altLang="zh-CN">
              <a:solidFill>
                <a:schemeClr val="tx1"/>
              </a:solidFill>
              <a:latin typeface="Times New Roman" panose="02020603050405020304" pitchFamily="18" charset="0"/>
              <a:ea typeface="宋体" panose="02010600030101010101" pitchFamily="2" charset="-122"/>
            </a:endParaRPr>
          </a:p>
          <a:p>
            <a:pPr marL="342900" indent="-342900" eaLnBrk="0" hangingPunct="0">
              <a:spcBef>
                <a:spcPct val="20000"/>
              </a:spcBef>
              <a:buChar char="•"/>
            </a:pPr>
            <a:r>
              <a:rPr lang="zh-CN" altLang="en-US">
                <a:solidFill>
                  <a:schemeClr val="tx1"/>
                </a:solidFill>
                <a:latin typeface="Times New Roman" panose="02020603050405020304" pitchFamily="18" charset="0"/>
                <a:ea typeface="宋体" panose="02010600030101010101" pitchFamily="2" charset="-122"/>
              </a:rPr>
              <a:t>则：原码为</a:t>
            </a:r>
            <a:r>
              <a:rPr lang="en-US" altLang="zh-CN">
                <a:solidFill>
                  <a:srgbClr val="FF0000"/>
                </a:solidFill>
                <a:latin typeface="Times New Roman" panose="02020603050405020304" pitchFamily="18" charset="0"/>
                <a:ea typeface="宋体" panose="02010600030101010101" pitchFamily="2" charset="-122"/>
              </a:rPr>
              <a:t>0</a:t>
            </a:r>
            <a:r>
              <a:rPr lang="en-US" altLang="zh-CN">
                <a:solidFill>
                  <a:schemeClr val="tx1"/>
                </a:solidFill>
                <a:latin typeface="Times New Roman" panose="02020603050405020304" pitchFamily="18" charset="0"/>
                <a:ea typeface="宋体" panose="02010600030101010101" pitchFamily="2" charset="-122"/>
              </a:rPr>
              <a:t>11001000</a:t>
            </a:r>
            <a:endParaRPr lang="en-US" altLang="zh-CN">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33794" name="Rectangle 2"/>
          <p:cNvSpPr>
            <a:spLocks noGrp="1"/>
          </p:cNvSpPr>
          <p:nvPr>
            <p:ph type="title"/>
          </p:nvPr>
        </p:nvSpPr>
        <p:spPr>
          <a:xfrm>
            <a:off x="685800" y="304800"/>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2.1.4  补码表示法</a:t>
            </a:r>
            <a:endParaRPr lang="zh-CN" altLang="en-US" sz="3600" dirty="0">
              <a:solidFill>
                <a:srgbClr val="0000FF"/>
              </a:solidFill>
              <a:latin typeface="华文新魏" panose="02010800040101010101" pitchFamily="2" charset="-122"/>
              <a:ea typeface="华文新魏" panose="02010800040101010101" pitchFamily="2" charset="-122"/>
            </a:endParaRPr>
          </a:p>
        </p:txBody>
      </p:sp>
      <p:sp>
        <p:nvSpPr>
          <p:cNvPr id="33795" name="Rectangle 3"/>
          <p:cNvSpPr>
            <a:spLocks noGrp="1"/>
          </p:cNvSpPr>
          <p:nvPr>
            <p:ph idx="1"/>
          </p:nvPr>
        </p:nvSpPr>
        <p:spPr>
          <a:xfrm>
            <a:off x="685800" y="1143000"/>
            <a:ext cx="7772400" cy="5410200"/>
          </a:xfrm>
        </p:spPr>
        <p:txBody>
          <a:bodyPr vert="horz" wrap="square" lIns="91440" tIns="45720" rIns="91440" bIns="45720" anchor="t" anchorCtr="0"/>
          <a:p>
            <a:pPr marL="0" algn="just" eaLnBrk="1" hangingPunct="1">
              <a:buNone/>
            </a:pPr>
            <a:r>
              <a:rPr lang="zh-CN" altLang="en-US" sz="2800" b="1" dirty="0">
                <a:solidFill>
                  <a:schemeClr val="accent2"/>
                </a:solidFill>
                <a:ea typeface="楷体_GB2312" pitchFamily="49" charset="-122"/>
              </a:rPr>
              <a:t> 1.模和同余</a:t>
            </a:r>
            <a:endParaRPr lang="zh-CN" altLang="en-US" sz="2800" b="1" dirty="0">
              <a:solidFill>
                <a:schemeClr val="accent2"/>
              </a:solidFill>
              <a:ea typeface="楷体_GB2312" pitchFamily="49" charset="-122"/>
            </a:endParaRPr>
          </a:p>
          <a:p>
            <a:pPr marL="0" algn="just" eaLnBrk="1" hangingPunct="1">
              <a:buNone/>
            </a:pPr>
            <a:r>
              <a:rPr lang="zh-CN" altLang="en-US" sz="2800" b="1" dirty="0">
                <a:solidFill>
                  <a:srgbClr val="FF3300"/>
                </a:solidFill>
                <a:ea typeface="楷体_GB2312" pitchFamily="49" charset="-122"/>
              </a:rPr>
              <a:t>        模</a:t>
            </a:r>
            <a:r>
              <a:rPr lang="zh-CN" altLang="en-US" sz="2800" b="1" dirty="0">
                <a:ea typeface="楷体_GB2312" pitchFamily="49" charset="-122"/>
              </a:rPr>
              <a:t>是指一个计量器的容量，可用</a:t>
            </a:r>
            <a:r>
              <a:rPr lang="en-US" altLang="zh-CN" sz="2800" b="1" dirty="0">
                <a:ea typeface="楷体_GB2312" pitchFamily="49" charset="-122"/>
              </a:rPr>
              <a:t>M</a:t>
            </a:r>
            <a:r>
              <a:rPr lang="zh-CN" altLang="en-US" sz="2800" b="1" dirty="0">
                <a:ea typeface="楷体_GB2312" pitchFamily="49" charset="-122"/>
              </a:rPr>
              <a:t>表示。例如：一个4位的二进制计数器，当计数器从0计到15之后，再加1，计数值又变为0。这个计数器的容量</a:t>
            </a:r>
            <a:r>
              <a:rPr lang="en-US" altLang="zh-CN" sz="2800" b="1" dirty="0">
                <a:ea typeface="楷体_GB2312" pitchFamily="49" charset="-122"/>
              </a:rPr>
              <a:t>M=2</a:t>
            </a:r>
            <a:r>
              <a:rPr lang="en-US" altLang="zh-CN" sz="2800" b="1" baseline="30000" dirty="0">
                <a:ea typeface="楷体_GB2312" pitchFamily="49" charset="-122"/>
              </a:rPr>
              <a:t>4</a:t>
            </a:r>
            <a:r>
              <a:rPr lang="en-US" altLang="zh-CN" sz="2800" b="1" dirty="0">
                <a:ea typeface="楷体_GB2312" pitchFamily="49" charset="-122"/>
              </a:rPr>
              <a:t>=16，</a:t>
            </a:r>
            <a:r>
              <a:rPr lang="zh-CN" altLang="en-US" sz="2800" b="1" dirty="0">
                <a:ea typeface="楷体_GB2312" pitchFamily="49" charset="-122"/>
              </a:rPr>
              <a:t>即模为16。由此可见，纯小数的模为2，一个字长为</a:t>
            </a:r>
            <a:r>
              <a:rPr lang="en-US" altLang="zh-CN" sz="2800" b="1" dirty="0">
                <a:ea typeface="楷体_GB2312" pitchFamily="49" charset="-122"/>
              </a:rPr>
              <a:t>n+1</a:t>
            </a:r>
            <a:r>
              <a:rPr lang="zh-CN" altLang="en-US" sz="2800" b="1" dirty="0">
                <a:ea typeface="楷体_GB2312" pitchFamily="49" charset="-122"/>
              </a:rPr>
              <a:t>位的纯整数的模为2</a:t>
            </a:r>
            <a:r>
              <a:rPr lang="en-US" altLang="zh-CN" sz="2800" b="1" baseline="30000" dirty="0">
                <a:ea typeface="楷体_GB2312" pitchFamily="49" charset="-122"/>
              </a:rPr>
              <a:t>n+1</a:t>
            </a:r>
            <a:r>
              <a:rPr lang="en-US" altLang="zh-CN" sz="2800" b="1" dirty="0">
                <a:ea typeface="楷体_GB2312" pitchFamily="49" charset="-122"/>
              </a:rPr>
              <a:t>。</a:t>
            </a:r>
            <a:endParaRPr lang="en-US" altLang="zh-CN" sz="2800" b="1" dirty="0">
              <a:ea typeface="楷体_GB2312" pitchFamily="49" charset="-122"/>
            </a:endParaRPr>
          </a:p>
          <a:p>
            <a:pPr marL="0" algn="just" eaLnBrk="1" hangingPunct="1">
              <a:buNone/>
            </a:pPr>
            <a:r>
              <a:rPr lang="zh-CN" altLang="en-US" sz="2800" b="1" dirty="0">
                <a:solidFill>
                  <a:srgbClr val="FF3300"/>
                </a:solidFill>
                <a:ea typeface="楷体_GB2312" pitchFamily="49" charset="-122"/>
              </a:rPr>
              <a:t>        同余</a:t>
            </a:r>
            <a:r>
              <a:rPr lang="zh-CN" altLang="en-US" sz="2800" b="1" dirty="0">
                <a:ea typeface="楷体_GB2312" pitchFamily="49" charset="-122"/>
              </a:rPr>
              <a:t>是指两整数</a:t>
            </a:r>
            <a:r>
              <a:rPr lang="en-US" altLang="zh-CN" sz="2800" b="1" dirty="0">
                <a:ea typeface="楷体_GB2312" pitchFamily="49" charset="-122"/>
              </a:rPr>
              <a:t>A、B</a:t>
            </a:r>
            <a:r>
              <a:rPr lang="zh-CN" altLang="en-US" sz="2800" b="1" dirty="0">
                <a:ea typeface="楷体_GB2312" pitchFamily="49" charset="-122"/>
              </a:rPr>
              <a:t>除以同一正整数</a:t>
            </a:r>
            <a:r>
              <a:rPr lang="en-US" altLang="zh-CN" sz="2800" b="1" dirty="0">
                <a:ea typeface="楷体_GB2312" pitchFamily="49" charset="-122"/>
              </a:rPr>
              <a:t>M，</a:t>
            </a:r>
            <a:r>
              <a:rPr lang="zh-CN" altLang="en-US" sz="2800" b="1" dirty="0">
                <a:ea typeface="楷体_GB2312" pitchFamily="49" charset="-122"/>
              </a:rPr>
              <a:t>所得余数相同，则称</a:t>
            </a:r>
            <a:r>
              <a:rPr lang="en-US" altLang="zh-CN" sz="2800" b="1" dirty="0">
                <a:ea typeface="楷体_GB2312" pitchFamily="49" charset="-122"/>
              </a:rPr>
              <a:t>A、B</a:t>
            </a:r>
            <a:r>
              <a:rPr lang="zh-CN" altLang="en-US" sz="2800" b="1" dirty="0">
                <a:ea typeface="楷体_GB2312" pitchFamily="49" charset="-122"/>
              </a:rPr>
              <a:t>对</a:t>
            </a:r>
            <a:r>
              <a:rPr lang="en-US" altLang="zh-CN" sz="2800" b="1" dirty="0">
                <a:ea typeface="楷体_GB2312" pitchFamily="49" charset="-122"/>
              </a:rPr>
              <a:t>M</a:t>
            </a:r>
            <a:r>
              <a:rPr lang="zh-CN" altLang="en-US" sz="2800" b="1" dirty="0">
                <a:ea typeface="楷体_GB2312" pitchFamily="49" charset="-122"/>
              </a:rPr>
              <a:t>同余，即</a:t>
            </a:r>
            <a:r>
              <a:rPr lang="en-US" altLang="zh-CN" sz="2800" b="1" dirty="0">
                <a:ea typeface="楷体_GB2312" pitchFamily="49" charset="-122"/>
              </a:rPr>
              <a:t>A、B</a:t>
            </a:r>
            <a:r>
              <a:rPr lang="zh-CN" altLang="en-US" sz="2800" b="1" dirty="0">
                <a:ea typeface="楷体_GB2312" pitchFamily="49" charset="-122"/>
              </a:rPr>
              <a:t>在以</a:t>
            </a:r>
            <a:r>
              <a:rPr lang="en-US" altLang="zh-CN" sz="2800" b="1" dirty="0">
                <a:ea typeface="楷体_GB2312" pitchFamily="49" charset="-122"/>
              </a:rPr>
              <a:t>M</a:t>
            </a:r>
            <a:r>
              <a:rPr lang="zh-CN" altLang="en-US" sz="2800" b="1" dirty="0">
                <a:ea typeface="楷体_GB2312" pitchFamily="49" charset="-122"/>
              </a:rPr>
              <a:t>为模时是相等的，可写作</a:t>
            </a:r>
            <a:endParaRPr lang="zh-CN" altLang="en-US" sz="2800" b="1" dirty="0">
              <a:ea typeface="楷体_GB2312" pitchFamily="49" charset="-122"/>
            </a:endParaRPr>
          </a:p>
          <a:p>
            <a:pPr marL="0" algn="just" eaLnBrk="1" hangingPunct="1">
              <a:buNone/>
            </a:pPr>
            <a:r>
              <a:rPr lang="zh-CN" altLang="en-US" sz="2800" b="1" dirty="0">
                <a:ea typeface="楷体_GB2312" pitchFamily="49" charset="-122"/>
              </a:rPr>
              <a:t>        </a:t>
            </a:r>
            <a:r>
              <a:rPr lang="en-US" altLang="zh-CN" sz="2800" b="1" dirty="0">
                <a:ea typeface="楷体_GB2312" pitchFamily="49" charset="-122"/>
              </a:rPr>
              <a:t>A=B (mod M)     </a:t>
            </a:r>
            <a:endParaRPr lang="en-US" altLang="zh-CN" sz="2800" b="1" dirty="0">
              <a:ea typeface="楷体_GB2312"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34818" name="Rectangle 2"/>
          <p:cNvSpPr>
            <a:spLocks noGrp="1"/>
          </p:cNvSpPr>
          <p:nvPr>
            <p:ph type="title"/>
          </p:nvPr>
        </p:nvSpPr>
        <p:spPr>
          <a:xfrm>
            <a:off x="685800" y="304800"/>
            <a:ext cx="7772400" cy="1143000"/>
          </a:xfrm>
        </p:spPr>
        <p:txBody>
          <a:bodyPr vert="horz" wrap="square" lIns="91440" tIns="45720" rIns="91440" bIns="45720" anchor="ctr" anchorCtr="0"/>
          <a:p>
            <a:pPr algn="l" eaLnBrk="1" hangingPunct="1"/>
            <a:r>
              <a:rPr lang="zh-CN" altLang="en-US" sz="3200" dirty="0">
                <a:solidFill>
                  <a:srgbClr val="0000FF"/>
                </a:solidFill>
                <a:ea typeface="楷体_GB2312" pitchFamily="49" charset="-122"/>
              </a:rPr>
              <a:t>时钟正拨和倒拨</a:t>
            </a:r>
            <a:endParaRPr lang="zh-CN" altLang="en-US" sz="3200" dirty="0">
              <a:solidFill>
                <a:srgbClr val="0000FF"/>
              </a:solidFill>
              <a:ea typeface="楷体_GB2312" pitchFamily="49" charset="-122"/>
            </a:endParaRPr>
          </a:p>
        </p:txBody>
      </p:sp>
      <p:sp>
        <p:nvSpPr>
          <p:cNvPr id="34819" name="Rectangle 3"/>
          <p:cNvSpPr>
            <a:spLocks noGrp="1"/>
          </p:cNvSpPr>
          <p:nvPr>
            <p:ph idx="1"/>
          </p:nvPr>
        </p:nvSpPr>
        <p:spPr>
          <a:xfrm>
            <a:off x="685800" y="1143000"/>
            <a:ext cx="7772400" cy="5410200"/>
          </a:xfrm>
        </p:spPr>
        <p:txBody>
          <a:bodyPr vert="horz" wrap="square" lIns="91440" tIns="45720" rIns="91440" bIns="45720" anchor="t" anchorCtr="0"/>
          <a:p>
            <a:pPr marL="0" algn="just">
              <a:spcBef>
                <a:spcPct val="0"/>
              </a:spcBef>
              <a:buNone/>
            </a:pPr>
            <a:r>
              <a:rPr lang="zh-CN" altLang="en-US" b="1" dirty="0">
                <a:ea typeface="楷体_GB2312" pitchFamily="49" charset="-122"/>
              </a:rPr>
              <a:t>        对钟表而言，</a:t>
            </a:r>
            <a:r>
              <a:rPr lang="en-US" altLang="zh-CN" b="1" dirty="0">
                <a:ea typeface="楷体_GB2312" pitchFamily="49" charset="-122"/>
              </a:rPr>
              <a:t>M=12。</a:t>
            </a:r>
            <a:r>
              <a:rPr lang="zh-CN" altLang="en-US" b="1" dirty="0">
                <a:ea typeface="楷体_GB2312" pitchFamily="49" charset="-122"/>
              </a:rPr>
              <a:t>假设：时钟停在8点，而现在正确的时间是6点，这时拨准时钟的方法有两种：正拨和倒拨。</a:t>
            </a:r>
            <a:endParaRPr lang="zh-CN" altLang="en-US" b="1" dirty="0">
              <a:ea typeface="楷体_GB2312" pitchFamily="49" charset="-122"/>
            </a:endParaRPr>
          </a:p>
          <a:p>
            <a:pPr marL="0" algn="just" eaLnBrk="1" hangingPunct="1">
              <a:buClr>
                <a:schemeClr val="accent2"/>
              </a:buClr>
              <a:buSzPct val="80000"/>
              <a:buFont typeface="Wingdings" panose="05000000000000000000" pitchFamily="2" charset="2"/>
              <a:buNone/>
            </a:pPr>
            <a:r>
              <a:rPr lang="zh-CN" altLang="en-US" b="1" dirty="0">
                <a:ea typeface="楷体_GB2312" pitchFamily="49" charset="-122"/>
              </a:rPr>
              <a:t>        分针倒着旋转2圈，等于分针正着旋转10圈。故有：-2=10 (</a:t>
            </a:r>
            <a:r>
              <a:rPr lang="en-US" altLang="zh-CN" b="1" dirty="0">
                <a:ea typeface="楷体_GB2312" pitchFamily="49" charset="-122"/>
              </a:rPr>
              <a:t>mod 12) ，</a:t>
            </a:r>
            <a:r>
              <a:rPr lang="zh-CN" altLang="en-US" b="1" dirty="0">
                <a:ea typeface="楷体_GB2312" pitchFamily="49" charset="-122"/>
              </a:rPr>
              <a:t>即 -2和10同余。</a:t>
            </a:r>
            <a:endParaRPr lang="zh-CN" altLang="en-US" b="1" dirty="0">
              <a:ea typeface="楷体_GB2312" pitchFamily="49" charset="-122"/>
            </a:endParaRPr>
          </a:p>
          <a:p>
            <a:pPr marL="0" algn="just" eaLnBrk="1" hangingPunct="1">
              <a:buClr>
                <a:schemeClr val="accent2"/>
              </a:buClr>
              <a:buSzPct val="80000"/>
              <a:buFont typeface="Wingdings" panose="05000000000000000000" pitchFamily="2" charset="2"/>
              <a:buNone/>
            </a:pPr>
            <a:r>
              <a:rPr lang="zh-CN" altLang="en-US" b="1" dirty="0">
                <a:ea typeface="楷体_GB2312" pitchFamily="49" charset="-122"/>
              </a:rPr>
              <a:t>         8-2=8+10 (</a:t>
            </a:r>
            <a:r>
              <a:rPr lang="en-US" altLang="zh-CN" b="1" dirty="0">
                <a:ea typeface="楷体_GB2312" pitchFamily="49" charset="-122"/>
              </a:rPr>
              <a:t>mod 12) </a:t>
            </a:r>
            <a:endParaRPr lang="en-US" altLang="zh-CN" b="1" dirty="0">
              <a:ea typeface="楷体_GB2312"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35842" name="Rectangle 2"/>
          <p:cNvSpPr>
            <a:spLocks noGrp="1"/>
          </p:cNvSpPr>
          <p:nvPr>
            <p:ph type="body" idx="4294967295"/>
          </p:nvPr>
        </p:nvSpPr>
        <p:spPr>
          <a:xfrm>
            <a:off x="533400" y="1219200"/>
            <a:ext cx="8077200" cy="5257800"/>
          </a:xfrm>
        </p:spPr>
        <p:txBody>
          <a:bodyPr vert="horz" wrap="square" lIns="91440" tIns="45720" rIns="91440" bIns="45720" anchor="t" anchorCtr="0"/>
          <a:p>
            <a:pPr eaLnBrk="1" hangingPunct="1">
              <a:buNone/>
            </a:pPr>
            <a:r>
              <a:rPr lang="zh-CN" altLang="en-US" b="1" dirty="0">
                <a:ea typeface="楷体_GB2312" pitchFamily="49" charset="-122"/>
              </a:rPr>
              <a:t>            补码的符号位表示方法与原码相同，其数值部分的表示与数的正负有关：对于正数，数值部分与真值形式相同；对于负数，将真值的数值部分按位取反，且在最低位上加1。</a:t>
            </a:r>
            <a:endParaRPr lang="zh-CN" altLang="en-US" b="1" dirty="0">
              <a:ea typeface="楷体_GB2312" pitchFamily="49" charset="-122"/>
            </a:endParaRPr>
          </a:p>
          <a:p>
            <a:pPr eaLnBrk="1" hangingPunct="1">
              <a:buNone/>
            </a:pPr>
            <a:r>
              <a:rPr lang="zh-CN" altLang="en-US" b="1" dirty="0">
                <a:ea typeface="楷体_GB2312" pitchFamily="49" charset="-122"/>
              </a:rPr>
              <a:t>            若真值为纯小数，它的补码形式为</a:t>
            </a:r>
            <a:r>
              <a:rPr lang="en-US" altLang="zh-CN" b="1" dirty="0">
                <a:solidFill>
                  <a:srgbClr val="FF3300"/>
                </a:solidFill>
                <a:ea typeface="楷体_GB2312" pitchFamily="49" charset="-122"/>
              </a:rPr>
              <a:t>X</a:t>
            </a:r>
            <a:r>
              <a:rPr lang="en-US" altLang="zh-CN" b="1" baseline="-30000" dirty="0">
                <a:solidFill>
                  <a:srgbClr val="FF3300"/>
                </a:solidFill>
                <a:ea typeface="楷体_GB2312" pitchFamily="49" charset="-122"/>
              </a:rPr>
              <a:t>s</a:t>
            </a:r>
            <a:r>
              <a:rPr lang="en-US" altLang="zh-CN" b="1" dirty="0">
                <a:ea typeface="楷体_GB2312" pitchFamily="49" charset="-122"/>
              </a:rPr>
              <a:t>.X</a:t>
            </a:r>
            <a:r>
              <a:rPr lang="en-US" altLang="zh-CN" b="1" baseline="-30000" dirty="0">
                <a:ea typeface="楷体_GB2312" pitchFamily="49" charset="-122"/>
              </a:rPr>
              <a:t>1</a:t>
            </a:r>
            <a:r>
              <a:rPr lang="en-US" altLang="zh-CN" b="1" dirty="0">
                <a:ea typeface="楷体_GB2312" pitchFamily="49" charset="-122"/>
              </a:rPr>
              <a:t>X</a:t>
            </a:r>
            <a:r>
              <a:rPr lang="en-US" altLang="zh-CN" b="1" baseline="-30000" dirty="0">
                <a:ea typeface="楷体_GB2312" pitchFamily="49" charset="-122"/>
              </a:rPr>
              <a:t>2</a:t>
            </a:r>
            <a:r>
              <a:rPr lang="en-US" altLang="zh-CN" b="1" dirty="0">
                <a:ea typeface="楷体_GB2312" pitchFamily="49" charset="-122"/>
              </a:rPr>
              <a:t>…X</a:t>
            </a:r>
            <a:r>
              <a:rPr lang="en-US" altLang="zh-CN" b="1" baseline="-30000" dirty="0">
                <a:ea typeface="楷体_GB2312" pitchFamily="49" charset="-122"/>
              </a:rPr>
              <a:t>n</a:t>
            </a:r>
            <a:r>
              <a:rPr lang="en-US" altLang="zh-CN" b="1" dirty="0">
                <a:ea typeface="楷体_GB2312" pitchFamily="49" charset="-122"/>
              </a:rPr>
              <a:t>，</a:t>
            </a:r>
            <a:r>
              <a:rPr lang="zh-CN" altLang="en-US" b="1" dirty="0">
                <a:ea typeface="楷体_GB2312" pitchFamily="49" charset="-122"/>
              </a:rPr>
              <a:t>其中</a:t>
            </a:r>
            <a:r>
              <a:rPr lang="en-US" altLang="zh-CN" b="1" dirty="0">
                <a:solidFill>
                  <a:srgbClr val="FF3300"/>
                </a:solidFill>
                <a:ea typeface="楷体_GB2312" pitchFamily="49" charset="-122"/>
              </a:rPr>
              <a:t>X</a:t>
            </a:r>
            <a:r>
              <a:rPr lang="en-US" altLang="zh-CN" b="1" baseline="-30000" dirty="0">
                <a:solidFill>
                  <a:srgbClr val="FF3300"/>
                </a:solidFill>
                <a:ea typeface="楷体_GB2312" pitchFamily="49" charset="-122"/>
              </a:rPr>
              <a:t>s</a:t>
            </a:r>
            <a:r>
              <a:rPr lang="zh-CN" altLang="en-US" b="1" dirty="0">
                <a:ea typeface="楷体_GB2312" pitchFamily="49" charset="-122"/>
              </a:rPr>
              <a:t>表示符号位。</a:t>
            </a:r>
            <a:endParaRPr lang="zh-CN" altLang="en-US" b="1" dirty="0">
              <a:ea typeface="楷体_GB2312" pitchFamily="49" charset="-122"/>
            </a:endParaRPr>
          </a:p>
          <a:p>
            <a:pPr eaLnBrk="1" hangingPunct="1">
              <a:lnSpc>
                <a:spcPct val="110000"/>
              </a:lnSpc>
              <a:buNone/>
            </a:pPr>
            <a:r>
              <a:rPr lang="zh-CN" altLang="en-US" b="1" dirty="0">
                <a:ea typeface="楷体_GB2312" pitchFamily="49" charset="-122"/>
              </a:rPr>
              <a:t>   例5：</a:t>
            </a:r>
            <a:r>
              <a:rPr lang="en-US" altLang="zh-CN" b="1" dirty="0">
                <a:ea typeface="楷体_GB2312" pitchFamily="49" charset="-122"/>
              </a:rPr>
              <a:t>X</a:t>
            </a:r>
            <a:r>
              <a:rPr lang="en-US" altLang="zh-CN" b="1" baseline="-25000" dirty="0">
                <a:ea typeface="楷体_GB2312" pitchFamily="49" charset="-122"/>
              </a:rPr>
              <a:t>1</a:t>
            </a:r>
            <a:r>
              <a:rPr lang="en-US" altLang="zh-CN" b="1" dirty="0">
                <a:ea typeface="楷体_GB2312" pitchFamily="49" charset="-122"/>
              </a:rPr>
              <a:t>=0.0110,   [X</a:t>
            </a:r>
            <a:r>
              <a:rPr lang="en-US" altLang="zh-CN" b="1" baseline="-25000" dirty="0">
                <a:ea typeface="楷体_GB2312" pitchFamily="49" charset="-122"/>
              </a:rPr>
              <a:t>1</a:t>
            </a:r>
            <a:r>
              <a:rPr lang="en-US" altLang="zh-CN" b="1" dirty="0">
                <a:ea typeface="楷体_GB2312" pitchFamily="49" charset="-122"/>
              </a:rPr>
              <a:t>]</a:t>
            </a:r>
            <a:r>
              <a:rPr lang="zh-CN" altLang="en-US" b="1" baseline="-30000" dirty="0">
                <a:ea typeface="楷体_GB2312" pitchFamily="49" charset="-122"/>
              </a:rPr>
              <a:t>补</a:t>
            </a:r>
            <a:r>
              <a:rPr lang="zh-CN" altLang="en-US" b="1" dirty="0">
                <a:ea typeface="楷体_GB2312" pitchFamily="49" charset="-122"/>
              </a:rPr>
              <a:t>=</a:t>
            </a:r>
            <a:r>
              <a:rPr lang="zh-CN" altLang="en-US" b="1" dirty="0">
                <a:solidFill>
                  <a:srgbClr val="FF0000"/>
                </a:solidFill>
                <a:ea typeface="楷体_GB2312" pitchFamily="49" charset="-122"/>
              </a:rPr>
              <a:t>0</a:t>
            </a:r>
            <a:r>
              <a:rPr lang="zh-CN" altLang="en-US" b="1" dirty="0">
                <a:ea typeface="楷体_GB2312" pitchFamily="49" charset="-122"/>
              </a:rPr>
              <a:t>.0110</a:t>
            </a:r>
            <a:endParaRPr lang="en-US" altLang="zh-CN" b="1" dirty="0">
              <a:ea typeface="楷体_GB2312" pitchFamily="49" charset="-122"/>
            </a:endParaRPr>
          </a:p>
          <a:p>
            <a:pPr eaLnBrk="1" hangingPunct="1">
              <a:lnSpc>
                <a:spcPct val="110000"/>
              </a:lnSpc>
              <a:buNone/>
            </a:pPr>
            <a:r>
              <a:rPr lang="en-US" altLang="zh-CN" b="1" dirty="0">
                <a:ea typeface="楷体_GB2312" pitchFamily="49" charset="-122"/>
              </a:rPr>
              <a:t>             X</a:t>
            </a:r>
            <a:r>
              <a:rPr lang="en-US" altLang="zh-CN" b="1" baseline="-25000" dirty="0">
                <a:ea typeface="楷体_GB2312" pitchFamily="49" charset="-122"/>
              </a:rPr>
              <a:t>2</a:t>
            </a:r>
            <a:r>
              <a:rPr lang="en-US" altLang="zh-CN" b="1" dirty="0">
                <a:ea typeface="楷体_GB2312" pitchFamily="49" charset="-122"/>
              </a:rPr>
              <a:t>=</a:t>
            </a:r>
            <a:r>
              <a:rPr lang="en-US" altLang="zh-CN" b="1" dirty="0">
                <a:solidFill>
                  <a:srgbClr val="FF0000"/>
                </a:solidFill>
                <a:ea typeface="楷体_GB2312" pitchFamily="49" charset="-122"/>
              </a:rPr>
              <a:t>-</a:t>
            </a:r>
            <a:r>
              <a:rPr lang="en-US" altLang="zh-CN" b="1" dirty="0">
                <a:ea typeface="楷体_GB2312" pitchFamily="49" charset="-122"/>
              </a:rPr>
              <a:t>0.0110</a:t>
            </a:r>
            <a:r>
              <a:rPr lang="zh-CN" altLang="en-US" b="1" dirty="0">
                <a:ea typeface="楷体_GB2312" pitchFamily="49" charset="-122"/>
              </a:rPr>
              <a:t>,  [</a:t>
            </a:r>
            <a:r>
              <a:rPr lang="en-US" altLang="zh-CN" b="1" dirty="0">
                <a:ea typeface="楷体_GB2312" pitchFamily="49" charset="-122"/>
              </a:rPr>
              <a:t>X</a:t>
            </a:r>
            <a:r>
              <a:rPr lang="en-US" altLang="zh-CN" b="1" baseline="-25000" dirty="0">
                <a:ea typeface="楷体_GB2312" pitchFamily="49" charset="-122"/>
              </a:rPr>
              <a:t>2</a:t>
            </a:r>
            <a:r>
              <a:rPr lang="en-US" altLang="zh-CN" b="1" dirty="0">
                <a:ea typeface="楷体_GB2312" pitchFamily="49" charset="-122"/>
              </a:rPr>
              <a:t>]</a:t>
            </a:r>
            <a:r>
              <a:rPr lang="zh-CN" altLang="en-US" b="1" baseline="-30000" dirty="0">
                <a:ea typeface="楷体_GB2312" pitchFamily="49" charset="-122"/>
              </a:rPr>
              <a:t>补</a:t>
            </a:r>
            <a:r>
              <a:rPr lang="zh-CN" altLang="en-US" b="1" dirty="0">
                <a:ea typeface="楷体_GB2312" pitchFamily="49" charset="-122"/>
              </a:rPr>
              <a:t>=</a:t>
            </a:r>
            <a:r>
              <a:rPr lang="zh-CN" altLang="en-US" b="1" dirty="0">
                <a:solidFill>
                  <a:srgbClr val="FF0000"/>
                </a:solidFill>
                <a:ea typeface="楷体_GB2312" pitchFamily="49" charset="-122"/>
              </a:rPr>
              <a:t>1</a:t>
            </a:r>
            <a:r>
              <a:rPr lang="zh-CN" altLang="en-US" b="1" dirty="0">
                <a:ea typeface="楷体_GB2312" pitchFamily="49" charset="-122"/>
              </a:rPr>
              <a:t>.1010</a:t>
            </a:r>
            <a:endParaRPr lang="zh-CN" altLang="en-US" b="1" dirty="0">
              <a:ea typeface="楷体_GB2312" pitchFamily="49" charset="-122"/>
            </a:endParaRPr>
          </a:p>
        </p:txBody>
      </p:sp>
      <p:sp>
        <p:nvSpPr>
          <p:cNvPr id="35843" name="Rectangle 5"/>
          <p:cNvSpPr>
            <a:spLocks noGrp="1"/>
          </p:cNvSpPr>
          <p:nvPr>
            <p:ph type="title" idx="4294967295"/>
          </p:nvPr>
        </p:nvSpPr>
        <p:spPr>
          <a:xfrm>
            <a:off x="685800" y="3048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2.补码表示</a:t>
            </a:r>
            <a:endParaRPr lang="zh-CN" altLang="en-US" sz="3200" dirty="0">
              <a:solidFill>
                <a:schemeClr val="accent2"/>
              </a:solidFill>
              <a:ea typeface="楷体_GB2312" pitchFamily="49"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标题 1"/>
          <p:cNvSpPr>
            <a:spLocks noGrp="1"/>
          </p:cNvSpPr>
          <p:nvPr>
            <p:ph type="title"/>
          </p:nvPr>
        </p:nvSpPr>
        <p:spPr>
          <a:xfrm>
            <a:off x="685800" y="322263"/>
            <a:ext cx="7772400" cy="1143000"/>
          </a:xfrm>
        </p:spPr>
        <p:txBody>
          <a:bodyPr anchor="ctr" anchorCtr="0"/>
          <a:p>
            <a:pPr algn="l"/>
            <a:r>
              <a:rPr lang="zh-CN" altLang="en-US"/>
              <a:t>补码</a:t>
            </a:r>
            <a:endParaRPr lang="zh-CN" altLang="en-US"/>
          </a:p>
        </p:txBody>
      </p:sp>
      <p:sp>
        <p:nvSpPr>
          <p:cNvPr id="36866" name="内容占位符 2"/>
          <p:cNvSpPr>
            <a:spLocks noGrp="1"/>
          </p:cNvSpPr>
          <p:nvPr>
            <p:ph idx="1"/>
          </p:nvPr>
        </p:nvSpPr>
        <p:spPr>
          <a:xfrm>
            <a:off x="685800" y="1192213"/>
            <a:ext cx="7772400" cy="2382837"/>
          </a:xfrm>
        </p:spPr>
        <p:txBody>
          <a:bodyPr anchor="t" anchorCtr="0"/>
          <a:p>
            <a:r>
              <a:rPr lang="zh-CN" altLang="en-US"/>
              <a:t>规则：</a:t>
            </a:r>
            <a:endParaRPr lang="zh-CN" altLang="en-US"/>
          </a:p>
          <a:p>
            <a:r>
              <a:rPr lang="zh-CN" altLang="en-US"/>
              <a:t>在原码上，若为正数，由补码即为原码；若为负数，</a:t>
            </a:r>
            <a:r>
              <a:rPr lang="zh-CN" altLang="en-US">
                <a:sym typeface="宋体" panose="02010600030101010101" pitchFamily="2" charset="-122"/>
              </a:rPr>
              <a:t>由补码在原码上，符号位不动，其余位按位取反，末位</a:t>
            </a:r>
            <a:r>
              <a:rPr lang="en-US" altLang="zh-CN">
                <a:sym typeface="宋体" panose="02010600030101010101" pitchFamily="2" charset="-122"/>
              </a:rPr>
              <a:t>+1</a:t>
            </a:r>
            <a:r>
              <a:rPr lang="zh-CN" altLang="en-US">
                <a:sym typeface="宋体" panose="02010600030101010101" pitchFamily="2" charset="-122"/>
              </a:rPr>
              <a:t>。</a:t>
            </a:r>
            <a:endParaRPr lang="zh-CN" altLang="en-US">
              <a:sym typeface="宋体" panose="02010600030101010101" pitchFamily="2" charset="-122"/>
            </a:endParaRPr>
          </a:p>
        </p:txBody>
      </p:sp>
      <p:sp>
        <p:nvSpPr>
          <p:cNvPr id="36867" name="内容占位符 2"/>
          <p:cNvSpPr>
            <a:spLocks noGrp="1"/>
          </p:cNvSpPr>
          <p:nvPr/>
        </p:nvSpPr>
        <p:spPr>
          <a:xfrm>
            <a:off x="685800" y="3452813"/>
            <a:ext cx="7772400" cy="712787"/>
          </a:xfrm>
          <a:prstGeom prst="rect">
            <a:avLst/>
          </a:prstGeom>
          <a:noFill/>
          <a:ln w="9525">
            <a:noFill/>
          </a:ln>
        </p:spPr>
        <p:txBody>
          <a:bodyPr anchor="t" anchorCtr="0"/>
          <a:p>
            <a:pPr marL="342900" indent="-342900" eaLnBrk="0" hangingPunct="0">
              <a:spcBef>
                <a:spcPct val="20000"/>
              </a:spcBef>
              <a:buChar char="•"/>
            </a:pPr>
            <a:r>
              <a:rPr lang="zh-CN" altLang="zh-CN" sz="2400">
                <a:solidFill>
                  <a:schemeClr val="tx1"/>
                </a:solidFill>
                <a:latin typeface="Times New Roman" panose="02020603050405020304" pitchFamily="18" charset="0"/>
                <a:ea typeface="宋体" panose="02010600030101010101" pitchFamily="2" charset="-122"/>
              </a:rPr>
              <a:t>例：</a:t>
            </a:r>
            <a:r>
              <a:rPr lang="en-US" altLang="zh-CN" sz="2400">
                <a:solidFill>
                  <a:schemeClr val="tx1"/>
                </a:solidFill>
                <a:latin typeface="Times New Roman" panose="02020603050405020304" pitchFamily="18" charset="0"/>
                <a:ea typeface="宋体" panose="02010600030101010101" pitchFamily="2" charset="-122"/>
              </a:rPr>
              <a:t>-200    +200</a:t>
            </a:r>
            <a:r>
              <a:rPr lang="zh-CN" altLang="en-US" sz="2400">
                <a:solidFill>
                  <a:schemeClr val="tx1"/>
                </a:solidFill>
                <a:latin typeface="Times New Roman" panose="02020603050405020304" pitchFamily="18" charset="0"/>
                <a:ea typeface="宋体" panose="02010600030101010101" pitchFamily="2" charset="-122"/>
              </a:rPr>
              <a:t>的</a:t>
            </a:r>
            <a:r>
              <a:rPr lang="zh-CN" altLang="en-US" sz="2400">
                <a:latin typeface="Arial" panose="020B0604020202020204" pitchFamily="34" charset="0"/>
                <a:ea typeface="华文行楷" panose="02010800040101010101" pitchFamily="2" charset="-122"/>
                <a:sym typeface="宋体" panose="02010600030101010101" pitchFamily="2" charset="-122"/>
              </a:rPr>
              <a:t>补</a:t>
            </a:r>
            <a:r>
              <a:rPr lang="zh-CN" altLang="en-US" sz="2400">
                <a:solidFill>
                  <a:schemeClr val="tx1"/>
                </a:solidFill>
                <a:latin typeface="Times New Roman" panose="02020603050405020304" pitchFamily="18" charset="0"/>
                <a:ea typeface="宋体" panose="02010600030101010101" pitchFamily="2" charset="-122"/>
              </a:rPr>
              <a:t>码？</a:t>
            </a:r>
            <a:endParaRPr lang="zh-CN" altLang="en-US" sz="2400">
              <a:solidFill>
                <a:schemeClr val="tx1"/>
              </a:solidFill>
              <a:latin typeface="Times New Roman" panose="02020603050405020304" pitchFamily="18" charset="0"/>
              <a:ea typeface="宋体" panose="02010600030101010101" pitchFamily="2" charset="-122"/>
            </a:endParaRPr>
          </a:p>
          <a:p>
            <a:pPr marL="342900" indent="-342900" eaLnBrk="0" hangingPunct="0">
              <a:spcBef>
                <a:spcPct val="20000"/>
              </a:spcBef>
              <a:buChar char="•"/>
            </a:pPr>
            <a:r>
              <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rPr>
              <a:t>-200=-11001000</a:t>
            </a:r>
            <a:endParaRPr lang="zh-CN" altLang="en-US" sz="2400">
              <a:solidFill>
                <a:schemeClr val="tx1"/>
              </a:solidFill>
              <a:latin typeface="Times New Roman" panose="02020603050405020304" pitchFamily="18" charset="0"/>
              <a:ea typeface="宋体" panose="02010600030101010101" pitchFamily="2" charset="-122"/>
            </a:endParaRPr>
          </a:p>
          <a:p>
            <a:pPr marL="342900" indent="-342900" eaLnBrk="0" hangingPunct="0">
              <a:spcBef>
                <a:spcPct val="20000"/>
              </a:spcBef>
              <a:buChar char="•"/>
            </a:pPr>
            <a:r>
              <a:rPr lang="zh-CN" altLang="en-US" sz="2400">
                <a:solidFill>
                  <a:schemeClr val="tx1"/>
                </a:solidFill>
                <a:latin typeface="Times New Roman" panose="02020603050405020304" pitchFamily="18" charset="0"/>
                <a:ea typeface="宋体" panose="02010600030101010101" pitchFamily="2" charset="-122"/>
              </a:rPr>
              <a:t>则：原码为</a:t>
            </a:r>
            <a:r>
              <a:rPr lang="en-US" altLang="zh-CN" sz="2400">
                <a:solidFill>
                  <a:srgbClr val="FF0000"/>
                </a:solidFill>
                <a:latin typeface="Times New Roman" panose="02020603050405020304" pitchFamily="18" charset="0"/>
                <a:ea typeface="宋体" panose="02010600030101010101" pitchFamily="2" charset="-122"/>
              </a:rPr>
              <a:t>1</a:t>
            </a:r>
            <a:r>
              <a:rPr lang="en-US" altLang="zh-CN" sz="2400">
                <a:solidFill>
                  <a:schemeClr val="tx1"/>
                </a:solidFill>
                <a:latin typeface="Times New Roman" panose="02020603050405020304" pitchFamily="18" charset="0"/>
                <a:ea typeface="宋体" panose="02010600030101010101" pitchFamily="2" charset="-122"/>
              </a:rPr>
              <a:t>11001000</a:t>
            </a:r>
            <a:endParaRPr lang="en-US" altLang="zh-CN" sz="2400">
              <a:solidFill>
                <a:schemeClr val="tx1"/>
              </a:solidFill>
              <a:latin typeface="Times New Roman" panose="02020603050405020304" pitchFamily="18" charset="0"/>
              <a:ea typeface="宋体" panose="02010600030101010101" pitchFamily="2" charset="-122"/>
            </a:endParaRPr>
          </a:p>
          <a:p>
            <a:pPr marL="342900" indent="-342900" eaLnBrk="0" hangingPunct="0">
              <a:spcBef>
                <a:spcPct val="20000"/>
              </a:spcBef>
              <a:buChar char="•"/>
            </a:pPr>
            <a:r>
              <a:rPr lang="en-US" altLang="zh-CN" sz="2400">
                <a:solidFill>
                  <a:schemeClr val="tx1"/>
                </a:solidFill>
                <a:latin typeface="Times New Roman" panose="02020603050405020304" pitchFamily="18" charset="0"/>
                <a:ea typeface="宋体" panose="02010600030101010101" pitchFamily="2" charset="-122"/>
              </a:rPr>
              <a:t>         </a:t>
            </a:r>
            <a:r>
              <a:rPr lang="zh-CN" altLang="en-US" sz="2400">
                <a:solidFill>
                  <a:schemeClr val="tx1"/>
                </a:solidFill>
                <a:latin typeface="Times New Roman" panose="02020603050405020304" pitchFamily="18" charset="0"/>
                <a:ea typeface="宋体" panose="02010600030101010101" pitchFamily="2" charset="-122"/>
              </a:rPr>
              <a:t>反码为</a:t>
            </a:r>
            <a:r>
              <a:rPr lang="en-US" altLang="zh-CN" sz="2400">
                <a:solidFill>
                  <a:srgbClr val="FF0000"/>
                </a:solidFill>
                <a:latin typeface="Times New Roman" panose="02020603050405020304" pitchFamily="18" charset="0"/>
                <a:ea typeface="宋体" panose="02010600030101010101" pitchFamily="2" charset="-122"/>
              </a:rPr>
              <a:t>1</a:t>
            </a:r>
            <a:r>
              <a:rPr lang="en-US" altLang="zh-CN" sz="2400">
                <a:solidFill>
                  <a:schemeClr val="tx1"/>
                </a:solidFill>
                <a:latin typeface="Times New Roman" panose="02020603050405020304" pitchFamily="18" charset="0"/>
                <a:ea typeface="宋体" panose="02010600030101010101" pitchFamily="2" charset="-122"/>
              </a:rPr>
              <a:t>00110111      </a:t>
            </a:r>
            <a:r>
              <a:rPr lang="zh-CN" altLang="en-US" sz="2400">
                <a:solidFill>
                  <a:schemeClr val="tx1"/>
                </a:solidFill>
                <a:latin typeface="Times New Roman" panose="02020603050405020304" pitchFamily="18" charset="0"/>
                <a:ea typeface="宋体" panose="02010600030101010101" pitchFamily="2" charset="-122"/>
              </a:rPr>
              <a:t>补码：</a:t>
            </a:r>
            <a:r>
              <a:rPr lang="en-US" altLang="zh-CN" sz="2400">
                <a:solidFill>
                  <a:srgbClr val="FF0000"/>
                </a:solidFill>
                <a:latin typeface="Times New Roman" panose="02020603050405020304" pitchFamily="18" charset="0"/>
                <a:ea typeface="宋体" panose="02010600030101010101" pitchFamily="2" charset="-122"/>
              </a:rPr>
              <a:t>1</a:t>
            </a:r>
            <a:r>
              <a:rPr lang="en-US" altLang="zh-CN" sz="2400">
                <a:solidFill>
                  <a:schemeClr val="tx1"/>
                </a:solidFill>
                <a:latin typeface="Times New Roman" panose="02020603050405020304" pitchFamily="18" charset="0"/>
                <a:ea typeface="宋体" panose="02010600030101010101" pitchFamily="2" charset="-122"/>
              </a:rPr>
              <a:t>00111000 </a:t>
            </a:r>
            <a:endParaRPr lang="en-US" altLang="zh-CN" sz="2400">
              <a:solidFill>
                <a:schemeClr val="tx1"/>
              </a:solidFill>
              <a:latin typeface="Times New Roman" panose="02020603050405020304" pitchFamily="18" charset="0"/>
              <a:ea typeface="宋体" panose="02010600030101010101" pitchFamily="2" charset="-122"/>
            </a:endParaRPr>
          </a:p>
          <a:p>
            <a:pPr marL="342900" indent="-342900" eaLnBrk="0" hangingPunct="0">
              <a:spcBef>
                <a:spcPct val="20000"/>
              </a:spcBef>
              <a:buChar char="•"/>
            </a:pPr>
            <a:r>
              <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rPr>
              <a:t>+200=+11001000</a:t>
            </a:r>
            <a:endPar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endParaRPr>
          </a:p>
          <a:p>
            <a:pPr marL="342900" indent="-342900" eaLnBrk="0" hangingPunct="0">
              <a:spcBef>
                <a:spcPct val="20000"/>
              </a:spcBef>
              <a:buChar char="•"/>
            </a:pPr>
            <a:r>
              <a:rPr lang="zh-CN" altLang="en-US" sz="2400">
                <a:solidFill>
                  <a:schemeClr val="tx1"/>
                </a:solidFill>
                <a:latin typeface="Times New Roman" panose="02020603050405020304" pitchFamily="18" charset="0"/>
                <a:ea typeface="宋体" panose="02010600030101010101" pitchFamily="2" charset="-122"/>
                <a:sym typeface="宋体" panose="02010600030101010101" pitchFamily="2" charset="-122"/>
              </a:rPr>
              <a:t>则：原码为</a:t>
            </a:r>
            <a:r>
              <a:rPr lang="en-US" altLang="zh-CN" sz="2400">
                <a:solidFill>
                  <a:srgbClr val="FF0000"/>
                </a:solidFill>
                <a:latin typeface="Times New Roman" panose="02020603050405020304" pitchFamily="18" charset="0"/>
                <a:ea typeface="宋体" panose="02010600030101010101" pitchFamily="2" charset="-122"/>
                <a:sym typeface="宋体" panose="02010600030101010101" pitchFamily="2" charset="-122"/>
              </a:rPr>
              <a:t>0</a:t>
            </a:r>
            <a:r>
              <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rPr>
              <a:t>11001000</a:t>
            </a:r>
            <a:endPar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endParaRPr>
          </a:p>
          <a:p>
            <a:pPr marL="342900" indent="-342900" eaLnBrk="0" hangingPunct="0">
              <a:spcBef>
                <a:spcPct val="20000"/>
              </a:spcBef>
              <a:buChar char="•"/>
            </a:pPr>
            <a:r>
              <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rPr>
              <a:t>       </a:t>
            </a:r>
            <a:r>
              <a:rPr lang="zh-CN" altLang="en-US" sz="2400">
                <a:solidFill>
                  <a:schemeClr val="tx1"/>
                </a:solidFill>
                <a:latin typeface="Times New Roman" panose="02020603050405020304" pitchFamily="18" charset="0"/>
                <a:ea typeface="宋体" panose="02010600030101010101" pitchFamily="2" charset="-122"/>
                <a:sym typeface="宋体" panose="02010600030101010101" pitchFamily="2" charset="-122"/>
              </a:rPr>
              <a:t>反码为 </a:t>
            </a:r>
            <a:r>
              <a:rPr lang="en-US" altLang="zh-CN" sz="2400">
                <a:solidFill>
                  <a:srgbClr val="FF0000"/>
                </a:solidFill>
                <a:latin typeface="Times New Roman" panose="02020603050405020304" pitchFamily="18" charset="0"/>
                <a:ea typeface="宋体" panose="02010600030101010101" pitchFamily="2" charset="-122"/>
                <a:sym typeface="宋体" panose="02010600030101010101" pitchFamily="2" charset="-122"/>
              </a:rPr>
              <a:t>0</a:t>
            </a:r>
            <a:r>
              <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rPr>
              <a:t>11001000       </a:t>
            </a:r>
            <a:r>
              <a:rPr lang="zh-CN" altLang="en-US" sz="2400">
                <a:solidFill>
                  <a:schemeClr val="tx1"/>
                </a:solidFill>
                <a:latin typeface="Times New Roman" panose="02020603050405020304" pitchFamily="18" charset="0"/>
                <a:ea typeface="宋体" panose="02010600030101010101" pitchFamily="2" charset="-122"/>
              </a:rPr>
              <a:t>补码：</a:t>
            </a:r>
            <a:r>
              <a:rPr lang="en-US" altLang="zh-CN" sz="2400">
                <a:solidFill>
                  <a:srgbClr val="FF0000"/>
                </a:solidFill>
                <a:latin typeface="Times New Roman" panose="02020603050405020304" pitchFamily="18" charset="0"/>
                <a:ea typeface="宋体" panose="02010600030101010101" pitchFamily="2" charset="-122"/>
                <a:sym typeface="宋体" panose="02010600030101010101" pitchFamily="2" charset="-122"/>
              </a:rPr>
              <a:t>0</a:t>
            </a:r>
            <a:r>
              <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rPr>
              <a:t>11001000   </a:t>
            </a:r>
            <a:endParaRPr lang="zh-CN" altLang="en-US" sz="2400">
              <a:solidFill>
                <a:schemeClr val="tx1"/>
              </a:solidFill>
              <a:latin typeface="Times New Roman" panose="02020603050405020304" pitchFamily="18" charset="0"/>
              <a:ea typeface="宋体" panose="02010600030101010101" pitchFamily="2" charset="-122"/>
              <a:sym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37890" name="Rectangle 3"/>
          <p:cNvSpPr>
            <a:spLocks noGrp="1"/>
          </p:cNvSpPr>
          <p:nvPr>
            <p:ph idx="1"/>
          </p:nvPr>
        </p:nvSpPr>
        <p:spPr>
          <a:xfrm>
            <a:off x="609600" y="1143000"/>
            <a:ext cx="8001000" cy="4724400"/>
          </a:xfrm>
        </p:spPr>
        <p:txBody>
          <a:bodyPr vert="horz" wrap="square" lIns="91440" tIns="45720" rIns="91440" bIns="45720" anchor="t" anchorCtr="0"/>
          <a:p>
            <a:pPr marL="0" algn="just" eaLnBrk="1" hangingPunct="1">
              <a:buNone/>
            </a:pPr>
            <a:r>
              <a:rPr lang="zh-CN" altLang="en-US" b="1" dirty="0">
                <a:ea typeface="楷体_GB2312" pitchFamily="49" charset="-122"/>
              </a:rPr>
              <a:t>       若真值为纯整数，它的补码形式为</a:t>
            </a:r>
            <a:r>
              <a:rPr lang="en-US" altLang="zh-CN" b="1" dirty="0">
                <a:solidFill>
                  <a:srgbClr val="FF3300"/>
                </a:solidFill>
                <a:ea typeface="楷体_GB2312" pitchFamily="49" charset="-122"/>
              </a:rPr>
              <a:t>X</a:t>
            </a:r>
            <a:r>
              <a:rPr lang="en-US" altLang="zh-CN" b="1" baseline="-30000" dirty="0">
                <a:solidFill>
                  <a:srgbClr val="FF3300"/>
                </a:solidFill>
                <a:ea typeface="楷体_GB2312" pitchFamily="49" charset="-122"/>
              </a:rPr>
              <a:t>s</a:t>
            </a:r>
            <a:r>
              <a:rPr lang="en-US" altLang="zh-CN" b="1" dirty="0">
                <a:ea typeface="楷体_GB2312" pitchFamily="49" charset="-122"/>
              </a:rPr>
              <a:t>X</a:t>
            </a:r>
            <a:r>
              <a:rPr lang="en-US" altLang="zh-CN" b="1" baseline="-30000" dirty="0">
                <a:ea typeface="楷体_GB2312" pitchFamily="49" charset="-122"/>
              </a:rPr>
              <a:t>1</a:t>
            </a:r>
            <a:r>
              <a:rPr lang="en-US" altLang="zh-CN" b="1" dirty="0">
                <a:ea typeface="楷体_GB2312" pitchFamily="49" charset="-122"/>
              </a:rPr>
              <a:t>X</a:t>
            </a:r>
            <a:r>
              <a:rPr lang="en-US" altLang="zh-CN" b="1" baseline="-30000" dirty="0">
                <a:ea typeface="楷体_GB2312" pitchFamily="49" charset="-122"/>
              </a:rPr>
              <a:t>2</a:t>
            </a:r>
            <a:r>
              <a:rPr lang="en-US" altLang="zh-CN" b="1" dirty="0">
                <a:ea typeface="楷体_GB2312" pitchFamily="49" charset="-122"/>
              </a:rPr>
              <a:t>…X</a:t>
            </a:r>
            <a:r>
              <a:rPr lang="en-US" altLang="zh-CN" b="1" baseline="-30000" dirty="0">
                <a:ea typeface="楷体_GB2312" pitchFamily="49" charset="-122"/>
              </a:rPr>
              <a:t>n</a:t>
            </a:r>
            <a:r>
              <a:rPr lang="en-US" altLang="zh-CN" b="1" dirty="0">
                <a:ea typeface="楷体_GB2312" pitchFamily="49" charset="-122"/>
              </a:rPr>
              <a:t>，</a:t>
            </a:r>
            <a:r>
              <a:rPr lang="zh-CN" altLang="en-US" b="1" dirty="0">
                <a:ea typeface="楷体_GB2312" pitchFamily="49" charset="-122"/>
              </a:rPr>
              <a:t>其中</a:t>
            </a:r>
            <a:r>
              <a:rPr lang="en-US" altLang="zh-CN" b="1" dirty="0">
                <a:solidFill>
                  <a:srgbClr val="FF3300"/>
                </a:solidFill>
                <a:ea typeface="楷体_GB2312" pitchFamily="49" charset="-122"/>
              </a:rPr>
              <a:t>X</a:t>
            </a:r>
            <a:r>
              <a:rPr lang="en-US" altLang="zh-CN" b="1" baseline="-30000" dirty="0">
                <a:solidFill>
                  <a:srgbClr val="FF3300"/>
                </a:solidFill>
                <a:ea typeface="楷体_GB2312" pitchFamily="49" charset="-122"/>
              </a:rPr>
              <a:t>s</a:t>
            </a:r>
            <a:r>
              <a:rPr lang="zh-CN" altLang="en-US" b="1" dirty="0">
                <a:ea typeface="楷体_GB2312" pitchFamily="49" charset="-122"/>
              </a:rPr>
              <a:t>表示符号位。</a:t>
            </a:r>
            <a:endParaRPr lang="zh-CN" altLang="en-US" b="1" dirty="0">
              <a:ea typeface="楷体_GB2312" pitchFamily="49" charset="-122"/>
            </a:endParaRPr>
          </a:p>
          <a:p>
            <a:pPr marL="0" algn="just" eaLnBrk="1" hangingPunct="1">
              <a:buNone/>
            </a:pPr>
            <a:r>
              <a:rPr lang="zh-CN" altLang="en-US" b="1" dirty="0">
                <a:ea typeface="楷体_GB2312" pitchFamily="49" charset="-122"/>
              </a:rPr>
              <a:t>例6：</a:t>
            </a:r>
            <a:r>
              <a:rPr lang="en-US" altLang="zh-CN" b="1" dirty="0">
                <a:ea typeface="楷体_GB2312" pitchFamily="49" charset="-122"/>
              </a:rPr>
              <a:t>X</a:t>
            </a:r>
            <a:r>
              <a:rPr lang="en-US" altLang="zh-CN" b="1" baseline="-25000" dirty="0">
                <a:ea typeface="楷体_GB2312" pitchFamily="49" charset="-122"/>
              </a:rPr>
              <a:t>1</a:t>
            </a:r>
            <a:r>
              <a:rPr lang="en-US" altLang="zh-CN" b="1" dirty="0">
                <a:ea typeface="楷体_GB2312" pitchFamily="49" charset="-122"/>
              </a:rPr>
              <a:t>=1101，     [X</a:t>
            </a:r>
            <a:r>
              <a:rPr lang="en-US" altLang="zh-CN" b="1" baseline="-25000" dirty="0">
                <a:ea typeface="楷体_GB2312" pitchFamily="49" charset="-122"/>
              </a:rPr>
              <a:t>1</a:t>
            </a:r>
            <a:r>
              <a:rPr lang="en-US" altLang="zh-CN" b="1" dirty="0">
                <a:ea typeface="楷体_GB2312" pitchFamily="49" charset="-122"/>
              </a:rPr>
              <a:t>]</a:t>
            </a:r>
            <a:r>
              <a:rPr lang="zh-CN" altLang="en-US" b="1" baseline="-30000" dirty="0">
                <a:ea typeface="楷体_GB2312" pitchFamily="49" charset="-122"/>
              </a:rPr>
              <a:t>补</a:t>
            </a:r>
            <a:r>
              <a:rPr lang="en-US" altLang="zh-CN" b="1" dirty="0">
                <a:ea typeface="楷体_GB2312" pitchFamily="49" charset="-122"/>
              </a:rPr>
              <a:t>=</a:t>
            </a:r>
            <a:r>
              <a:rPr lang="en-US" altLang="zh-CN" b="1" dirty="0">
                <a:solidFill>
                  <a:srgbClr val="FF3300"/>
                </a:solidFill>
                <a:ea typeface="楷体_GB2312" pitchFamily="49" charset="-122"/>
              </a:rPr>
              <a:t>0</a:t>
            </a:r>
            <a:r>
              <a:rPr lang="en-US" altLang="zh-CN" b="1" dirty="0">
                <a:ea typeface="楷体_GB2312" pitchFamily="49" charset="-122"/>
              </a:rPr>
              <a:t>1101</a:t>
            </a:r>
            <a:endParaRPr lang="en-US" altLang="zh-CN" b="1" dirty="0">
              <a:ea typeface="楷体_GB2312" pitchFamily="49" charset="-122"/>
            </a:endParaRPr>
          </a:p>
          <a:p>
            <a:pPr marL="0" algn="just" eaLnBrk="1" hangingPunct="1">
              <a:buNone/>
            </a:pPr>
            <a:r>
              <a:rPr lang="en-US" altLang="zh-CN" b="1" dirty="0">
                <a:ea typeface="楷体_GB2312" pitchFamily="49" charset="-122"/>
              </a:rPr>
              <a:t>          X</a:t>
            </a:r>
            <a:r>
              <a:rPr lang="en-US" altLang="zh-CN" b="1" baseline="-25000" dirty="0">
                <a:ea typeface="楷体_GB2312" pitchFamily="49" charset="-122"/>
              </a:rPr>
              <a:t>2</a:t>
            </a:r>
            <a:r>
              <a:rPr lang="en-US" altLang="zh-CN" b="1" dirty="0">
                <a:ea typeface="楷体_GB2312" pitchFamily="49" charset="-122"/>
              </a:rPr>
              <a:t>=-1101，    [X</a:t>
            </a:r>
            <a:r>
              <a:rPr lang="en-US" altLang="zh-CN" b="1" baseline="-25000" dirty="0">
                <a:ea typeface="楷体_GB2312" pitchFamily="49" charset="-122"/>
              </a:rPr>
              <a:t>2</a:t>
            </a:r>
            <a:r>
              <a:rPr lang="en-US" altLang="zh-CN" b="1" dirty="0">
                <a:ea typeface="楷体_GB2312" pitchFamily="49" charset="-122"/>
              </a:rPr>
              <a:t>]</a:t>
            </a:r>
            <a:r>
              <a:rPr lang="zh-CN" altLang="en-US" b="1" baseline="-30000" dirty="0">
                <a:ea typeface="楷体_GB2312" pitchFamily="49" charset="-122"/>
              </a:rPr>
              <a:t>补</a:t>
            </a:r>
            <a:r>
              <a:rPr lang="zh-CN" altLang="en-US" b="1" dirty="0">
                <a:ea typeface="楷体_GB2312" pitchFamily="49" charset="-122"/>
              </a:rPr>
              <a:t>=</a:t>
            </a:r>
            <a:r>
              <a:rPr lang="en-US" altLang="zh-CN" b="1" dirty="0">
                <a:solidFill>
                  <a:srgbClr val="FF3300"/>
                </a:solidFill>
                <a:ea typeface="楷体_GB2312" pitchFamily="49" charset="-122"/>
              </a:rPr>
              <a:t>1</a:t>
            </a:r>
            <a:r>
              <a:rPr lang="en-US" altLang="zh-CN" b="1" dirty="0">
                <a:ea typeface="楷体_GB2312" pitchFamily="49" charset="-122"/>
              </a:rPr>
              <a:t>0011</a:t>
            </a:r>
            <a:endParaRPr lang="en-US" altLang="zh-CN" b="1" dirty="0">
              <a:ea typeface="楷体_GB2312" pitchFamily="49" charset="-122"/>
            </a:endParaRPr>
          </a:p>
          <a:p>
            <a:pPr marL="0" algn="just" eaLnBrk="1" hangingPunct="1">
              <a:buNone/>
            </a:pPr>
            <a:r>
              <a:rPr lang="zh-CN" altLang="en-US" b="1" dirty="0">
                <a:ea typeface="楷体_GB2312" pitchFamily="49" charset="-122"/>
              </a:rPr>
              <a:t>       在补码表示中，真值0的表示形式是唯一的：</a:t>
            </a:r>
            <a:endParaRPr lang="zh-CN" altLang="en-US" b="1" dirty="0">
              <a:ea typeface="楷体_GB2312" pitchFamily="49" charset="-122"/>
            </a:endParaRPr>
          </a:p>
          <a:p>
            <a:pPr marL="0" algn="just" eaLnBrk="1" hangingPunct="1">
              <a:buNone/>
            </a:pPr>
            <a:r>
              <a:rPr lang="zh-CN" altLang="en-US" b="1" dirty="0">
                <a:ea typeface="楷体_GB2312" pitchFamily="49" charset="-122"/>
              </a:rPr>
              <a:t>        [+0]</a:t>
            </a:r>
            <a:r>
              <a:rPr lang="zh-CN" altLang="en-US" b="1" baseline="-30000" dirty="0">
                <a:ea typeface="楷体_GB2312" pitchFamily="49" charset="-122"/>
              </a:rPr>
              <a:t>补</a:t>
            </a:r>
            <a:r>
              <a:rPr lang="zh-CN" altLang="en-US" b="1" dirty="0">
                <a:ea typeface="楷体_GB2312" pitchFamily="49" charset="-122"/>
              </a:rPr>
              <a:t>=[-0]</a:t>
            </a:r>
            <a:r>
              <a:rPr lang="zh-CN" altLang="en-US" b="1" baseline="-30000" dirty="0">
                <a:ea typeface="楷体_GB2312" pitchFamily="49" charset="-122"/>
              </a:rPr>
              <a:t>补</a:t>
            </a:r>
            <a:r>
              <a:rPr lang="zh-CN" altLang="en-US" b="1" dirty="0">
                <a:ea typeface="楷体_GB2312" pitchFamily="49" charset="-122"/>
              </a:rPr>
              <a:t>=</a:t>
            </a:r>
            <a:r>
              <a:rPr lang="zh-CN" altLang="en-US" b="1" dirty="0">
                <a:solidFill>
                  <a:srgbClr val="FF3300"/>
                </a:solidFill>
                <a:ea typeface="楷体_GB2312" pitchFamily="49" charset="-122"/>
              </a:rPr>
              <a:t>00000</a:t>
            </a:r>
            <a:endParaRPr lang="zh-CN" altLang="en-US" b="1" dirty="0">
              <a:solidFill>
                <a:srgbClr val="FF3300"/>
              </a:solidFill>
              <a:ea typeface="楷体_GB2312" pitchFamily="49" charset="-122"/>
            </a:endParaRPr>
          </a:p>
        </p:txBody>
      </p:sp>
      <p:sp>
        <p:nvSpPr>
          <p:cNvPr id="37891" name="Rectangle 4"/>
          <p:cNvSpPr>
            <a:spLocks noGrp="1"/>
          </p:cNvSpPr>
          <p:nvPr>
            <p:ph type="title"/>
          </p:nvPr>
        </p:nvSpPr>
        <p:spPr>
          <a:xfrm>
            <a:off x="685800" y="3810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2.补码表示（续）</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38914" name="Rectangle 2"/>
          <p:cNvSpPr>
            <a:spLocks noGrp="1"/>
          </p:cNvSpPr>
          <p:nvPr>
            <p:ph type="body" idx="4294967295"/>
          </p:nvPr>
        </p:nvSpPr>
        <p:spPr>
          <a:xfrm>
            <a:off x="533400" y="1219200"/>
            <a:ext cx="8077200" cy="5257800"/>
          </a:xfrm>
        </p:spPr>
        <p:txBody>
          <a:bodyPr vert="horz" wrap="square" lIns="91440" tIns="45720" rIns="91440" bIns="45720" anchor="t" anchorCtr="0"/>
          <a:p>
            <a:pPr marL="0" algn="just" eaLnBrk="1" hangingPunct="1">
              <a:lnSpc>
                <a:spcPct val="90000"/>
              </a:lnSpc>
              <a:buNone/>
            </a:pPr>
            <a:r>
              <a:rPr lang="zh-CN" altLang="en-US" b="1" dirty="0">
                <a:ea typeface="楷体_GB2312" pitchFamily="49" charset="-122"/>
              </a:rPr>
              <a:t>        当</a:t>
            </a:r>
            <a:r>
              <a:rPr lang="en-US" altLang="zh-CN" b="1" dirty="0">
                <a:ea typeface="楷体_GB2312" pitchFamily="49" charset="-122"/>
              </a:rPr>
              <a:t>X</a:t>
            </a:r>
            <a:r>
              <a:rPr lang="zh-CN" altLang="en-US" b="1" dirty="0">
                <a:ea typeface="楷体_GB2312" pitchFamily="49" charset="-122"/>
              </a:rPr>
              <a:t>为正数时，[</a:t>
            </a:r>
            <a:r>
              <a:rPr lang="en-US" altLang="zh-CN" b="1" dirty="0">
                <a:ea typeface="楷体_GB2312" pitchFamily="49" charset="-122"/>
              </a:rPr>
              <a:t>X]</a:t>
            </a:r>
            <a:r>
              <a:rPr lang="zh-CN" altLang="en-US" b="1" baseline="-25000" dirty="0">
                <a:ea typeface="楷体_GB2312" pitchFamily="49" charset="-122"/>
              </a:rPr>
              <a:t>补</a:t>
            </a:r>
            <a:r>
              <a:rPr lang="zh-CN" altLang="en-US" b="1" dirty="0">
                <a:ea typeface="楷体_GB2312" pitchFamily="49" charset="-122"/>
              </a:rPr>
              <a:t>=[</a:t>
            </a:r>
            <a:r>
              <a:rPr lang="en-US" altLang="zh-CN" b="1" dirty="0">
                <a:ea typeface="楷体_GB2312" pitchFamily="49" charset="-122"/>
              </a:rPr>
              <a:t>X]</a:t>
            </a:r>
            <a:r>
              <a:rPr lang="zh-CN" altLang="en-US" b="1" baseline="-25000" dirty="0">
                <a:ea typeface="楷体_GB2312" pitchFamily="49" charset="-122"/>
              </a:rPr>
              <a:t>原</a:t>
            </a:r>
            <a:r>
              <a:rPr lang="zh-CN" altLang="en-US" b="1" dirty="0">
                <a:ea typeface="楷体_GB2312" pitchFamily="49" charset="-122"/>
              </a:rPr>
              <a:t>=</a:t>
            </a:r>
            <a:r>
              <a:rPr lang="en-US" altLang="zh-CN" b="1" dirty="0">
                <a:ea typeface="楷体_GB2312" pitchFamily="49" charset="-122"/>
              </a:rPr>
              <a:t>X</a:t>
            </a:r>
            <a:endParaRPr lang="en-US" altLang="zh-CN" b="1" dirty="0">
              <a:ea typeface="楷体_GB2312" pitchFamily="49" charset="-122"/>
            </a:endParaRPr>
          </a:p>
          <a:p>
            <a:pPr marL="0" algn="just" eaLnBrk="1" hangingPunct="1">
              <a:lnSpc>
                <a:spcPct val="90000"/>
              </a:lnSpc>
              <a:buNone/>
            </a:pPr>
            <a:r>
              <a:rPr lang="en-US" altLang="zh-CN" b="1" dirty="0">
                <a:ea typeface="楷体_GB2312" pitchFamily="49" charset="-122"/>
              </a:rPr>
              <a:t>        </a:t>
            </a:r>
            <a:r>
              <a:rPr lang="zh-CN" altLang="en-US" b="1" dirty="0">
                <a:ea typeface="楷体_GB2312" pitchFamily="49" charset="-122"/>
              </a:rPr>
              <a:t>当</a:t>
            </a:r>
            <a:r>
              <a:rPr lang="en-US" altLang="zh-CN" b="1" dirty="0">
                <a:ea typeface="楷体_GB2312" pitchFamily="49" charset="-122"/>
              </a:rPr>
              <a:t>X</a:t>
            </a:r>
            <a:r>
              <a:rPr lang="zh-CN" altLang="en-US" b="1" dirty="0">
                <a:ea typeface="楷体_GB2312" pitchFamily="49" charset="-122"/>
              </a:rPr>
              <a:t>为负数时，由[</a:t>
            </a:r>
            <a:r>
              <a:rPr lang="en-US" altLang="zh-CN" b="1" dirty="0">
                <a:ea typeface="楷体_GB2312" pitchFamily="49" charset="-122"/>
              </a:rPr>
              <a:t>X]</a:t>
            </a:r>
            <a:r>
              <a:rPr lang="zh-CN" altLang="en-US" b="1" baseline="-25000" dirty="0">
                <a:ea typeface="楷体_GB2312" pitchFamily="49" charset="-122"/>
              </a:rPr>
              <a:t>原</a:t>
            </a:r>
            <a:r>
              <a:rPr lang="zh-CN" altLang="en-US" b="1" dirty="0">
                <a:ea typeface="楷体_GB2312" pitchFamily="49" charset="-122"/>
              </a:rPr>
              <a:t>转换为[</a:t>
            </a:r>
            <a:r>
              <a:rPr lang="en-US" altLang="zh-CN" b="1" dirty="0">
                <a:ea typeface="楷体_GB2312" pitchFamily="49" charset="-122"/>
              </a:rPr>
              <a:t>X]</a:t>
            </a:r>
            <a:r>
              <a:rPr lang="zh-CN" altLang="en-US" b="1" baseline="-25000" dirty="0">
                <a:ea typeface="楷体_GB2312" pitchFamily="49" charset="-122"/>
              </a:rPr>
              <a:t>补</a:t>
            </a:r>
            <a:r>
              <a:rPr lang="zh-CN" altLang="en-US" b="1" dirty="0">
                <a:ea typeface="楷体_GB2312" pitchFamily="49" charset="-122"/>
              </a:rPr>
              <a:t>的方法：</a:t>
            </a:r>
            <a:endParaRPr lang="zh-CN" altLang="en-US" b="1" dirty="0">
              <a:ea typeface="楷体_GB2312" pitchFamily="49" charset="-122"/>
            </a:endParaRPr>
          </a:p>
          <a:p>
            <a:pPr marL="0" algn="just" eaLnBrk="1" hangingPunct="1">
              <a:lnSpc>
                <a:spcPct val="90000"/>
              </a:lnSpc>
              <a:buNone/>
            </a:pPr>
            <a:r>
              <a:rPr lang="zh-CN" altLang="en-US" b="1" dirty="0">
                <a:ea typeface="楷体_GB2312" pitchFamily="49" charset="-122"/>
              </a:rPr>
              <a:t>        ①[</a:t>
            </a:r>
            <a:r>
              <a:rPr lang="en-US" altLang="zh-CN" b="1" dirty="0">
                <a:ea typeface="楷体_GB2312" pitchFamily="49" charset="-122"/>
              </a:rPr>
              <a:t>X]</a:t>
            </a:r>
            <a:r>
              <a:rPr lang="zh-CN" altLang="en-US" b="1" baseline="-25000" dirty="0">
                <a:ea typeface="楷体_GB2312" pitchFamily="49" charset="-122"/>
              </a:rPr>
              <a:t>原</a:t>
            </a:r>
            <a:r>
              <a:rPr lang="zh-CN" altLang="en-US" b="1" dirty="0">
                <a:ea typeface="楷体_GB2312" pitchFamily="49" charset="-122"/>
              </a:rPr>
              <a:t>除掉符号位外的各位取反加“1”。</a:t>
            </a:r>
            <a:endParaRPr lang="zh-CN" altLang="en-US" b="1" dirty="0">
              <a:ea typeface="楷体_GB2312" pitchFamily="49" charset="-122"/>
            </a:endParaRPr>
          </a:p>
          <a:p>
            <a:pPr marL="0" algn="just" eaLnBrk="1" hangingPunct="1">
              <a:lnSpc>
                <a:spcPct val="90000"/>
              </a:lnSpc>
              <a:buNone/>
            </a:pPr>
            <a:r>
              <a:rPr lang="zh-CN" altLang="en-US" b="1" dirty="0">
                <a:ea typeface="楷体_GB2312" pitchFamily="49" charset="-122"/>
              </a:rPr>
              <a:t>        ②自低位向高位，尾数的第一个“1”及其右部的“0”保持不变，左部的各位取反，符号位保持不变。</a:t>
            </a:r>
            <a:endParaRPr lang="en-US" altLang="zh-CN" b="1" dirty="0">
              <a:ea typeface="楷体_GB2312" pitchFamily="49" charset="-122"/>
            </a:endParaRPr>
          </a:p>
          <a:p>
            <a:pPr marL="0" algn="just" eaLnBrk="1" hangingPunct="1">
              <a:lnSpc>
                <a:spcPct val="90000"/>
              </a:lnSpc>
              <a:buNone/>
            </a:pPr>
            <a:r>
              <a:rPr lang="zh-CN" altLang="en-US" b="1" dirty="0">
                <a:ea typeface="楷体_GB2312" pitchFamily="49" charset="-122"/>
              </a:rPr>
              <a:t>例7：[</a:t>
            </a:r>
            <a:r>
              <a:rPr lang="en-US" altLang="zh-CN" b="1" dirty="0">
                <a:ea typeface="楷体_GB2312" pitchFamily="49" charset="-122"/>
              </a:rPr>
              <a:t>X]</a:t>
            </a:r>
            <a:r>
              <a:rPr lang="zh-CN" altLang="en-US" b="1" baseline="-25000" dirty="0">
                <a:ea typeface="楷体_GB2312" pitchFamily="49" charset="-122"/>
              </a:rPr>
              <a:t>原</a:t>
            </a:r>
            <a:r>
              <a:rPr lang="zh-CN" altLang="en-US" b="1" dirty="0">
                <a:ea typeface="楷体_GB2312" pitchFamily="49" charset="-122"/>
              </a:rPr>
              <a:t> =1.1110011000</a:t>
            </a:r>
            <a:endParaRPr lang="zh-CN" altLang="en-US" b="1" dirty="0">
              <a:ea typeface="楷体_GB2312" pitchFamily="49" charset="-122"/>
            </a:endParaRPr>
          </a:p>
          <a:p>
            <a:pPr marL="0" algn="just" eaLnBrk="1" hangingPunct="1">
              <a:lnSpc>
                <a:spcPct val="90000"/>
              </a:lnSpc>
              <a:buNone/>
            </a:pPr>
            <a:r>
              <a:rPr lang="zh-CN" altLang="en-US" b="1" dirty="0">
                <a:ea typeface="楷体_GB2312" pitchFamily="49" charset="-122"/>
              </a:rPr>
              <a:t>          [</a:t>
            </a:r>
            <a:r>
              <a:rPr lang="en-US" altLang="zh-CN" b="1" dirty="0">
                <a:ea typeface="楷体_GB2312" pitchFamily="49" charset="-122"/>
              </a:rPr>
              <a:t>X]</a:t>
            </a:r>
            <a:r>
              <a:rPr lang="zh-CN" altLang="en-US" b="1" baseline="-25000" dirty="0">
                <a:ea typeface="楷体_GB2312" pitchFamily="49" charset="-122"/>
              </a:rPr>
              <a:t>补</a:t>
            </a:r>
            <a:r>
              <a:rPr lang="zh-CN" altLang="en-US" b="1" dirty="0">
                <a:ea typeface="楷体_GB2312" pitchFamily="49" charset="-122"/>
              </a:rPr>
              <a:t> =</a:t>
            </a:r>
            <a:r>
              <a:rPr lang="zh-CN" altLang="en-US" b="1" u="sng" dirty="0">
                <a:ea typeface="楷体_GB2312" pitchFamily="49" charset="-122"/>
              </a:rPr>
              <a:t>1</a:t>
            </a:r>
            <a:r>
              <a:rPr lang="zh-CN" altLang="en-US" b="1" dirty="0">
                <a:ea typeface="楷体_GB2312" pitchFamily="49" charset="-122"/>
              </a:rPr>
              <a:t>.</a:t>
            </a:r>
            <a:r>
              <a:rPr lang="zh-CN" altLang="en-US" b="1" u="sng" dirty="0">
                <a:solidFill>
                  <a:srgbClr val="FF0000"/>
                </a:solidFill>
                <a:ea typeface="楷体_GB2312" pitchFamily="49" charset="-122"/>
              </a:rPr>
              <a:t>000110</a:t>
            </a:r>
            <a:r>
              <a:rPr lang="zh-CN" altLang="en-US" b="1" u="sng" dirty="0">
                <a:ea typeface="楷体_GB2312" pitchFamily="49" charset="-122"/>
              </a:rPr>
              <a:t>1000</a:t>
            </a:r>
            <a:endParaRPr lang="zh-CN" altLang="en-US" b="1" u="sng" dirty="0">
              <a:ea typeface="楷体_GB2312" pitchFamily="49" charset="-122"/>
            </a:endParaRPr>
          </a:p>
        </p:txBody>
      </p:sp>
      <p:sp>
        <p:nvSpPr>
          <p:cNvPr id="38915" name="Rectangle 3"/>
          <p:cNvSpPr>
            <a:spLocks noGrp="1"/>
          </p:cNvSpPr>
          <p:nvPr>
            <p:ph type="title" idx="4294967295"/>
          </p:nvPr>
        </p:nvSpPr>
        <p:spPr>
          <a:xfrm>
            <a:off x="685800" y="3048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3.由真值、原码转换为补码</a:t>
            </a:r>
            <a:endParaRPr lang="zh-CN" altLang="en-US" sz="3200" dirty="0">
              <a:solidFill>
                <a:schemeClr val="accent2"/>
              </a:solidFill>
              <a:ea typeface="楷体_GB2312" pitchFamily="49" charset="-122"/>
            </a:endParaRPr>
          </a:p>
        </p:txBody>
      </p:sp>
      <p:grpSp>
        <p:nvGrpSpPr>
          <p:cNvPr id="2" name="Group 4"/>
          <p:cNvGrpSpPr/>
          <p:nvPr/>
        </p:nvGrpSpPr>
        <p:grpSpPr>
          <a:xfrm>
            <a:off x="2627313" y="6132513"/>
            <a:ext cx="2667000" cy="609600"/>
            <a:chOff x="2064" y="3360"/>
            <a:chExt cx="1680" cy="384"/>
          </a:xfrm>
        </p:grpSpPr>
        <p:sp>
          <p:nvSpPr>
            <p:cNvPr id="38917" name="Text Box 5"/>
            <p:cNvSpPr txBox="1"/>
            <p:nvPr/>
          </p:nvSpPr>
          <p:spPr>
            <a:xfrm>
              <a:off x="3120" y="3494"/>
              <a:ext cx="624" cy="250"/>
            </a:xfrm>
            <a:prstGeom prst="rect">
              <a:avLst/>
            </a:prstGeom>
            <a:noFill/>
            <a:ln w="57150">
              <a:noFill/>
            </a:ln>
          </p:spPr>
          <p:txBody>
            <a:bodyPr anchor="t" anchorCtr="0">
              <a:spAutoFit/>
            </a:bodyPr>
            <a:p>
              <a:pPr>
                <a:spcBef>
                  <a:spcPct val="50000"/>
                </a:spcBef>
              </a:pPr>
              <a:r>
                <a:rPr lang="zh-CN" altLang="en-US" sz="2000" b="1" dirty="0">
                  <a:solidFill>
                    <a:schemeClr val="tx1"/>
                  </a:solidFill>
                  <a:latin typeface="宋体" panose="02010600030101010101" pitchFamily="2" charset="-122"/>
                  <a:ea typeface="宋体" panose="02010600030101010101" pitchFamily="2" charset="-122"/>
                </a:rPr>
                <a:t>不变</a:t>
              </a:r>
              <a:endParaRPr lang="zh-CN" altLang="en-US" sz="2000" b="1" dirty="0">
                <a:solidFill>
                  <a:schemeClr val="tx1"/>
                </a:solidFill>
                <a:latin typeface="宋体" panose="02010600030101010101" pitchFamily="2" charset="-122"/>
                <a:ea typeface="宋体" panose="02010600030101010101" pitchFamily="2" charset="-122"/>
              </a:endParaRPr>
            </a:p>
          </p:txBody>
        </p:sp>
        <p:sp>
          <p:nvSpPr>
            <p:cNvPr id="38918" name="Text Box 6"/>
            <p:cNvSpPr txBox="1"/>
            <p:nvPr/>
          </p:nvSpPr>
          <p:spPr>
            <a:xfrm>
              <a:off x="2064" y="3494"/>
              <a:ext cx="624" cy="250"/>
            </a:xfrm>
            <a:prstGeom prst="rect">
              <a:avLst/>
            </a:prstGeom>
            <a:noFill/>
            <a:ln w="57150">
              <a:noFill/>
            </a:ln>
          </p:spPr>
          <p:txBody>
            <a:bodyPr anchor="t" anchorCtr="0">
              <a:spAutoFit/>
            </a:bodyPr>
            <a:p>
              <a:pPr>
                <a:spcBef>
                  <a:spcPct val="50000"/>
                </a:spcBef>
              </a:pPr>
              <a:r>
                <a:rPr lang="zh-CN" altLang="en-US" sz="2000" b="1" dirty="0">
                  <a:solidFill>
                    <a:schemeClr val="tx1"/>
                  </a:solidFill>
                  <a:latin typeface="宋体" panose="02010600030101010101" pitchFamily="2" charset="-122"/>
                  <a:ea typeface="宋体" panose="02010600030101010101" pitchFamily="2" charset="-122"/>
                </a:rPr>
                <a:t>不变</a:t>
              </a:r>
              <a:endParaRPr lang="zh-CN" altLang="en-US" sz="2000" b="1" dirty="0">
                <a:solidFill>
                  <a:schemeClr val="tx1"/>
                </a:solidFill>
                <a:latin typeface="宋体" panose="02010600030101010101" pitchFamily="2" charset="-122"/>
                <a:ea typeface="宋体" panose="02010600030101010101" pitchFamily="2" charset="-122"/>
              </a:endParaRPr>
            </a:p>
          </p:txBody>
        </p:sp>
        <p:sp>
          <p:nvSpPr>
            <p:cNvPr id="38919" name="Text Box 7"/>
            <p:cNvSpPr txBox="1"/>
            <p:nvPr/>
          </p:nvSpPr>
          <p:spPr>
            <a:xfrm>
              <a:off x="2592" y="3494"/>
              <a:ext cx="672" cy="250"/>
            </a:xfrm>
            <a:prstGeom prst="rect">
              <a:avLst/>
            </a:prstGeom>
            <a:noFill/>
            <a:ln w="57150">
              <a:noFill/>
            </a:ln>
          </p:spPr>
          <p:txBody>
            <a:bodyPr anchor="t" anchorCtr="0">
              <a:spAutoFit/>
            </a:bodyPr>
            <a:p>
              <a:pPr>
                <a:spcBef>
                  <a:spcPct val="50000"/>
                </a:spcBef>
              </a:pPr>
              <a:r>
                <a:rPr lang="zh-CN" altLang="en-US" sz="2000" b="1" dirty="0">
                  <a:solidFill>
                    <a:srgbClr val="FF0000"/>
                  </a:solidFill>
                  <a:latin typeface="宋体" panose="02010600030101010101" pitchFamily="2" charset="-122"/>
                  <a:ea typeface="宋体" panose="02010600030101010101" pitchFamily="2" charset="-122"/>
                </a:rPr>
                <a:t>变反</a:t>
              </a:r>
              <a:endParaRPr lang="zh-CN" altLang="en-US" sz="2000" b="1" dirty="0">
                <a:solidFill>
                  <a:srgbClr val="FF0000"/>
                </a:solidFill>
                <a:latin typeface="宋体" panose="02010600030101010101" pitchFamily="2" charset="-122"/>
                <a:ea typeface="宋体" panose="02010600030101010101" pitchFamily="2" charset="-122"/>
              </a:endParaRPr>
            </a:p>
          </p:txBody>
        </p:sp>
        <p:sp>
          <p:nvSpPr>
            <p:cNvPr id="38920" name="Line 8"/>
            <p:cNvSpPr/>
            <p:nvPr/>
          </p:nvSpPr>
          <p:spPr>
            <a:xfrm flipV="1">
              <a:off x="2256" y="3360"/>
              <a:ext cx="0" cy="192"/>
            </a:xfrm>
            <a:prstGeom prst="line">
              <a:avLst/>
            </a:prstGeom>
            <a:ln w="38100" cap="sq" cmpd="sng">
              <a:solidFill>
                <a:srgbClr val="6600FF"/>
              </a:solidFill>
              <a:prstDash val="solid"/>
              <a:miter/>
              <a:headEnd type="none" w="sm" len="sm"/>
              <a:tailEnd type="triangle" w="sm" len="sm"/>
            </a:ln>
          </p:spPr>
        </p:sp>
        <p:sp>
          <p:nvSpPr>
            <p:cNvPr id="38921" name="Line 9"/>
            <p:cNvSpPr/>
            <p:nvPr/>
          </p:nvSpPr>
          <p:spPr>
            <a:xfrm flipV="1">
              <a:off x="3360" y="3360"/>
              <a:ext cx="0" cy="192"/>
            </a:xfrm>
            <a:prstGeom prst="line">
              <a:avLst/>
            </a:prstGeom>
            <a:ln w="38100" cap="sq" cmpd="sng">
              <a:solidFill>
                <a:srgbClr val="6600FF"/>
              </a:solidFill>
              <a:prstDash val="solid"/>
              <a:miter/>
              <a:headEnd type="none" w="sm" len="sm"/>
              <a:tailEnd type="triangle" w="sm" len="sm"/>
            </a:ln>
          </p:spPr>
        </p:sp>
        <p:sp>
          <p:nvSpPr>
            <p:cNvPr id="38922" name="Line 10"/>
            <p:cNvSpPr/>
            <p:nvPr/>
          </p:nvSpPr>
          <p:spPr>
            <a:xfrm flipV="1">
              <a:off x="2784" y="3360"/>
              <a:ext cx="0" cy="192"/>
            </a:xfrm>
            <a:prstGeom prst="line">
              <a:avLst/>
            </a:prstGeom>
            <a:ln w="38100" cap="sq" cmpd="sng">
              <a:solidFill>
                <a:srgbClr val="6600FF"/>
              </a:solidFill>
              <a:prstDash val="solid"/>
              <a:miter/>
              <a:headEnd type="none" w="sm" len="sm"/>
              <a:tailEnd type="triangle" w="sm" len="sm"/>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39938" name="Rectangle 2"/>
          <p:cNvSpPr>
            <a:spLocks noGrp="1"/>
          </p:cNvSpPr>
          <p:nvPr>
            <p:ph type="title"/>
          </p:nvPr>
        </p:nvSpPr>
        <p:spPr>
          <a:xfrm>
            <a:off x="685800" y="304800"/>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2.1.5  反码表示法</a:t>
            </a:r>
            <a:endParaRPr lang="zh-CN" altLang="en-US" sz="3600" dirty="0">
              <a:solidFill>
                <a:srgbClr val="0000FF"/>
              </a:solidFill>
              <a:latin typeface="华文新魏" panose="02010800040101010101" pitchFamily="2" charset="-122"/>
              <a:ea typeface="华文新魏" panose="02010800040101010101" pitchFamily="2" charset="-122"/>
            </a:endParaRPr>
          </a:p>
        </p:txBody>
      </p:sp>
      <p:sp>
        <p:nvSpPr>
          <p:cNvPr id="39939" name="Rectangle 3"/>
          <p:cNvSpPr>
            <a:spLocks noGrp="1"/>
          </p:cNvSpPr>
          <p:nvPr>
            <p:ph idx="1"/>
          </p:nvPr>
        </p:nvSpPr>
        <p:spPr>
          <a:xfrm>
            <a:off x="685800" y="1143000"/>
            <a:ext cx="7772400" cy="5410200"/>
          </a:xfrm>
        </p:spPr>
        <p:txBody>
          <a:bodyPr vert="horz" wrap="square" lIns="91440" tIns="45720" rIns="91440" bIns="45720" anchor="t" anchorCtr="0"/>
          <a:p>
            <a:pPr marL="0" algn="just" eaLnBrk="1" hangingPunct="1">
              <a:buNone/>
            </a:pPr>
            <a:r>
              <a:rPr lang="zh-CN" altLang="en-US" b="1" dirty="0">
                <a:ea typeface="楷体_GB2312" pitchFamily="49" charset="-122"/>
              </a:rPr>
              <a:t>        反码表示法与补码表示法有许多类似之处，对于正数，数值部分与真值形式相同；对于负数，将真值的数值部分按位取反。</a:t>
            </a:r>
            <a:endParaRPr lang="zh-CN" altLang="en-US" b="1" dirty="0">
              <a:ea typeface="楷体_GB2312" pitchFamily="49" charset="-122"/>
            </a:endParaRPr>
          </a:p>
          <a:p>
            <a:pPr marL="0" algn="just" eaLnBrk="1" hangingPunct="1">
              <a:buNone/>
            </a:pPr>
            <a:r>
              <a:rPr lang="zh-CN" altLang="en-US" b="1" dirty="0">
                <a:ea typeface="楷体_GB2312" pitchFamily="49" charset="-122"/>
              </a:rPr>
              <a:t>        若真值为纯小数，它的反码形式为</a:t>
            </a:r>
            <a:r>
              <a:rPr lang="en-US" altLang="zh-CN" b="1" dirty="0">
                <a:solidFill>
                  <a:srgbClr val="FF3300"/>
                </a:solidFill>
                <a:ea typeface="楷体_GB2312" pitchFamily="49" charset="-122"/>
              </a:rPr>
              <a:t>X</a:t>
            </a:r>
            <a:r>
              <a:rPr lang="en-US" altLang="zh-CN" b="1" baseline="-30000" dirty="0">
                <a:solidFill>
                  <a:srgbClr val="FF3300"/>
                </a:solidFill>
                <a:ea typeface="楷体_GB2312" pitchFamily="49" charset="-122"/>
              </a:rPr>
              <a:t>s</a:t>
            </a:r>
            <a:r>
              <a:rPr lang="en-US" altLang="zh-CN" b="1" dirty="0">
                <a:ea typeface="楷体_GB2312" pitchFamily="49" charset="-122"/>
              </a:rPr>
              <a:t>.X</a:t>
            </a:r>
            <a:r>
              <a:rPr lang="en-US" altLang="zh-CN" b="1" baseline="-30000" dirty="0">
                <a:ea typeface="楷体_GB2312" pitchFamily="49" charset="-122"/>
              </a:rPr>
              <a:t>1</a:t>
            </a:r>
            <a:r>
              <a:rPr lang="en-US" altLang="zh-CN" b="1" dirty="0">
                <a:ea typeface="楷体_GB2312" pitchFamily="49" charset="-122"/>
              </a:rPr>
              <a:t>X</a:t>
            </a:r>
            <a:r>
              <a:rPr lang="en-US" altLang="zh-CN" b="1" baseline="-30000" dirty="0">
                <a:ea typeface="楷体_GB2312" pitchFamily="49" charset="-122"/>
              </a:rPr>
              <a:t>2</a:t>
            </a:r>
            <a:r>
              <a:rPr lang="en-US" altLang="zh-CN" b="1" dirty="0">
                <a:ea typeface="楷体_GB2312" pitchFamily="49" charset="-122"/>
              </a:rPr>
              <a:t>…X</a:t>
            </a:r>
            <a:r>
              <a:rPr lang="en-US" altLang="zh-CN" b="1" baseline="-30000" dirty="0">
                <a:ea typeface="楷体_GB2312" pitchFamily="49" charset="-122"/>
              </a:rPr>
              <a:t>n</a:t>
            </a:r>
            <a:r>
              <a:rPr lang="en-US" altLang="zh-CN" b="1" dirty="0">
                <a:ea typeface="楷体_GB2312" pitchFamily="49" charset="-122"/>
              </a:rPr>
              <a:t>，</a:t>
            </a:r>
            <a:r>
              <a:rPr lang="zh-CN" altLang="en-US" b="1" dirty="0">
                <a:ea typeface="楷体_GB2312" pitchFamily="49" charset="-122"/>
              </a:rPr>
              <a:t>其中</a:t>
            </a:r>
            <a:r>
              <a:rPr lang="en-US" altLang="zh-CN" b="1" dirty="0">
                <a:solidFill>
                  <a:srgbClr val="FF3300"/>
                </a:solidFill>
                <a:ea typeface="楷体_GB2312" pitchFamily="49" charset="-122"/>
              </a:rPr>
              <a:t>X</a:t>
            </a:r>
            <a:r>
              <a:rPr lang="en-US" altLang="zh-CN" b="1" baseline="-30000" dirty="0">
                <a:solidFill>
                  <a:srgbClr val="FF3300"/>
                </a:solidFill>
                <a:ea typeface="楷体_GB2312" pitchFamily="49" charset="-122"/>
              </a:rPr>
              <a:t>s</a:t>
            </a:r>
            <a:r>
              <a:rPr lang="zh-CN" altLang="en-US" b="1" dirty="0">
                <a:ea typeface="楷体_GB2312" pitchFamily="49" charset="-122"/>
              </a:rPr>
              <a:t>表示符号位。</a:t>
            </a:r>
            <a:endParaRPr lang="zh-CN" altLang="en-US" b="1" dirty="0">
              <a:ea typeface="楷体_GB2312" pitchFamily="49" charset="-122"/>
            </a:endParaRPr>
          </a:p>
          <a:p>
            <a:pPr marL="0" algn="just" eaLnBrk="1" hangingPunct="1">
              <a:buNone/>
            </a:pPr>
            <a:r>
              <a:rPr lang="zh-CN" altLang="en-US" b="1" dirty="0">
                <a:ea typeface="楷体_GB2312" pitchFamily="49" charset="-122"/>
              </a:rPr>
              <a:t>例9：</a:t>
            </a:r>
            <a:r>
              <a:rPr lang="en-US" altLang="zh-CN" b="1" dirty="0">
                <a:ea typeface="楷体_GB2312" pitchFamily="49" charset="-122"/>
              </a:rPr>
              <a:t>X</a:t>
            </a:r>
            <a:r>
              <a:rPr lang="en-US" altLang="zh-CN" b="1" baseline="-25000" dirty="0">
                <a:ea typeface="楷体_GB2312" pitchFamily="49" charset="-122"/>
              </a:rPr>
              <a:t>1</a:t>
            </a:r>
            <a:r>
              <a:rPr lang="en-US" altLang="zh-CN" b="1" dirty="0">
                <a:ea typeface="楷体_GB2312" pitchFamily="49" charset="-122"/>
              </a:rPr>
              <a:t>=0.0110，    [X</a:t>
            </a:r>
            <a:r>
              <a:rPr lang="en-US" altLang="zh-CN" b="1" baseline="-25000" dirty="0">
                <a:ea typeface="楷体_GB2312" pitchFamily="49" charset="-122"/>
              </a:rPr>
              <a:t>1</a:t>
            </a:r>
            <a:r>
              <a:rPr lang="en-US" altLang="zh-CN" b="1" dirty="0">
                <a:ea typeface="楷体_GB2312" pitchFamily="49" charset="-122"/>
              </a:rPr>
              <a:t>]</a:t>
            </a:r>
            <a:r>
              <a:rPr lang="zh-CN" altLang="en-US" b="1" baseline="-30000" dirty="0">
                <a:ea typeface="楷体_GB2312" pitchFamily="49" charset="-122"/>
              </a:rPr>
              <a:t>反</a:t>
            </a:r>
            <a:r>
              <a:rPr lang="en-US" altLang="zh-CN" b="1" dirty="0">
                <a:ea typeface="楷体_GB2312" pitchFamily="49" charset="-122"/>
              </a:rPr>
              <a:t>=</a:t>
            </a:r>
            <a:r>
              <a:rPr lang="en-US" altLang="zh-CN" b="1" dirty="0">
                <a:solidFill>
                  <a:schemeClr val="hlink"/>
                </a:solidFill>
                <a:ea typeface="楷体_GB2312" pitchFamily="49" charset="-122"/>
              </a:rPr>
              <a:t>0</a:t>
            </a:r>
            <a:r>
              <a:rPr lang="en-US" altLang="zh-CN" b="1" dirty="0">
                <a:ea typeface="楷体_GB2312" pitchFamily="49" charset="-122"/>
              </a:rPr>
              <a:t>.0110</a:t>
            </a:r>
            <a:endParaRPr lang="en-US" altLang="zh-CN" b="1" dirty="0">
              <a:ea typeface="楷体_GB2312" pitchFamily="49" charset="-122"/>
            </a:endParaRPr>
          </a:p>
          <a:p>
            <a:pPr marL="0" algn="just" eaLnBrk="1" hangingPunct="1">
              <a:buNone/>
            </a:pPr>
            <a:r>
              <a:rPr lang="en-US" altLang="zh-CN" b="1" dirty="0">
                <a:ea typeface="楷体_GB2312" pitchFamily="49" charset="-122"/>
              </a:rPr>
              <a:t>          X</a:t>
            </a:r>
            <a:r>
              <a:rPr lang="en-US" altLang="zh-CN" b="1" baseline="-25000" dirty="0">
                <a:ea typeface="楷体_GB2312" pitchFamily="49" charset="-122"/>
              </a:rPr>
              <a:t>2</a:t>
            </a:r>
            <a:r>
              <a:rPr lang="en-US" altLang="zh-CN" b="1" dirty="0">
                <a:ea typeface="楷体_GB2312" pitchFamily="49" charset="-122"/>
              </a:rPr>
              <a:t>=</a:t>
            </a:r>
            <a:r>
              <a:rPr lang="en-US" altLang="zh-CN" b="1" dirty="0">
                <a:solidFill>
                  <a:schemeClr val="hlink"/>
                </a:solidFill>
                <a:ea typeface="楷体_GB2312" pitchFamily="49" charset="-122"/>
              </a:rPr>
              <a:t>-</a:t>
            </a:r>
            <a:r>
              <a:rPr lang="en-US" altLang="zh-CN" b="1" dirty="0">
                <a:ea typeface="楷体_GB2312" pitchFamily="49" charset="-122"/>
              </a:rPr>
              <a:t>0.0110，   [X</a:t>
            </a:r>
            <a:r>
              <a:rPr lang="en-US" altLang="zh-CN" b="1" baseline="-25000" dirty="0">
                <a:ea typeface="楷体_GB2312" pitchFamily="49" charset="-122"/>
              </a:rPr>
              <a:t>2</a:t>
            </a:r>
            <a:r>
              <a:rPr lang="en-US" altLang="zh-CN" b="1" dirty="0">
                <a:ea typeface="楷体_GB2312" pitchFamily="49" charset="-122"/>
              </a:rPr>
              <a:t>]</a:t>
            </a:r>
            <a:r>
              <a:rPr lang="zh-CN" altLang="en-US" b="1" baseline="-30000" dirty="0">
                <a:ea typeface="楷体_GB2312" pitchFamily="49" charset="-122"/>
              </a:rPr>
              <a:t>反</a:t>
            </a:r>
            <a:r>
              <a:rPr lang="zh-CN" altLang="en-US" b="1" dirty="0">
                <a:ea typeface="楷体_GB2312" pitchFamily="49" charset="-122"/>
              </a:rPr>
              <a:t>=</a:t>
            </a:r>
            <a:r>
              <a:rPr lang="en-US" altLang="zh-CN" b="1" dirty="0">
                <a:solidFill>
                  <a:schemeClr val="hlink"/>
                </a:solidFill>
                <a:ea typeface="楷体_GB2312" pitchFamily="49" charset="-122"/>
              </a:rPr>
              <a:t>1</a:t>
            </a:r>
            <a:r>
              <a:rPr lang="en-US" altLang="zh-CN" b="1" dirty="0">
                <a:ea typeface="楷体_GB2312" pitchFamily="49" charset="-122"/>
              </a:rPr>
              <a:t>.1001</a:t>
            </a:r>
            <a:endParaRPr lang="en-US" altLang="zh-CN" b="1" dirty="0">
              <a:ea typeface="楷体_GB2312"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标题 1"/>
          <p:cNvSpPr>
            <a:spLocks noGrp="1"/>
          </p:cNvSpPr>
          <p:nvPr>
            <p:ph type="title"/>
          </p:nvPr>
        </p:nvSpPr>
        <p:spPr>
          <a:xfrm>
            <a:off x="685800" y="322263"/>
            <a:ext cx="7772400" cy="1143000"/>
          </a:xfrm>
        </p:spPr>
        <p:txBody>
          <a:bodyPr anchor="ctr" anchorCtr="0"/>
          <a:p>
            <a:pPr algn="l"/>
            <a:r>
              <a:rPr lang="zh-CN" altLang="en-US"/>
              <a:t>反码</a:t>
            </a:r>
            <a:endParaRPr lang="zh-CN" altLang="en-US"/>
          </a:p>
        </p:txBody>
      </p:sp>
      <p:sp>
        <p:nvSpPr>
          <p:cNvPr id="40962" name="内容占位符 2"/>
          <p:cNvSpPr>
            <a:spLocks noGrp="1"/>
          </p:cNvSpPr>
          <p:nvPr>
            <p:ph idx="1"/>
          </p:nvPr>
        </p:nvSpPr>
        <p:spPr>
          <a:xfrm>
            <a:off x="685800" y="1192213"/>
            <a:ext cx="7772400" cy="2382837"/>
          </a:xfrm>
        </p:spPr>
        <p:txBody>
          <a:bodyPr anchor="t" anchorCtr="0"/>
          <a:p>
            <a:r>
              <a:rPr lang="zh-CN" altLang="en-US"/>
              <a:t>规则：</a:t>
            </a:r>
            <a:endParaRPr lang="zh-CN" altLang="en-US"/>
          </a:p>
          <a:p>
            <a:r>
              <a:rPr lang="zh-CN" altLang="en-US"/>
              <a:t>在原码上，若为正数，由反码即为原码；若为负数，</a:t>
            </a:r>
            <a:r>
              <a:rPr lang="zh-CN" altLang="en-US">
                <a:sym typeface="宋体" panose="02010600030101010101" pitchFamily="2" charset="-122"/>
              </a:rPr>
              <a:t>由反码在原码上，符号位不动，其余位按位取反。</a:t>
            </a:r>
            <a:endParaRPr lang="zh-CN" altLang="en-US">
              <a:sym typeface="宋体" panose="02010600030101010101" pitchFamily="2" charset="-122"/>
            </a:endParaRPr>
          </a:p>
        </p:txBody>
      </p:sp>
      <p:sp>
        <p:nvSpPr>
          <p:cNvPr id="40963" name="内容占位符 2"/>
          <p:cNvSpPr>
            <a:spLocks noGrp="1"/>
          </p:cNvSpPr>
          <p:nvPr/>
        </p:nvSpPr>
        <p:spPr>
          <a:xfrm>
            <a:off x="685800" y="3452813"/>
            <a:ext cx="7772400" cy="712787"/>
          </a:xfrm>
          <a:prstGeom prst="rect">
            <a:avLst/>
          </a:prstGeom>
          <a:noFill/>
          <a:ln w="9525">
            <a:noFill/>
          </a:ln>
        </p:spPr>
        <p:txBody>
          <a:bodyPr anchor="t" anchorCtr="0"/>
          <a:p>
            <a:pPr marL="342900" indent="-342900" eaLnBrk="0" hangingPunct="0">
              <a:spcBef>
                <a:spcPct val="20000"/>
              </a:spcBef>
              <a:buChar char="•"/>
            </a:pPr>
            <a:r>
              <a:rPr lang="zh-CN" altLang="zh-CN" sz="2400">
                <a:solidFill>
                  <a:schemeClr val="tx1"/>
                </a:solidFill>
                <a:latin typeface="Times New Roman" panose="02020603050405020304" pitchFamily="18" charset="0"/>
                <a:ea typeface="宋体" panose="02010600030101010101" pitchFamily="2" charset="-122"/>
              </a:rPr>
              <a:t>例：</a:t>
            </a:r>
            <a:r>
              <a:rPr lang="en-US" altLang="zh-CN" sz="2400">
                <a:solidFill>
                  <a:schemeClr val="tx1"/>
                </a:solidFill>
                <a:latin typeface="Times New Roman" panose="02020603050405020304" pitchFamily="18" charset="0"/>
                <a:ea typeface="宋体" panose="02010600030101010101" pitchFamily="2" charset="-122"/>
              </a:rPr>
              <a:t>-200    +200</a:t>
            </a:r>
            <a:r>
              <a:rPr lang="zh-CN" altLang="en-US" sz="2400">
                <a:solidFill>
                  <a:schemeClr val="tx1"/>
                </a:solidFill>
                <a:latin typeface="Times New Roman" panose="02020603050405020304" pitchFamily="18" charset="0"/>
                <a:ea typeface="宋体" panose="02010600030101010101" pitchFamily="2" charset="-122"/>
              </a:rPr>
              <a:t>的</a:t>
            </a:r>
            <a:r>
              <a:rPr lang="zh-CN" altLang="en-US" sz="2400">
                <a:latin typeface="Arial" panose="020B0604020202020204" pitchFamily="34" charset="0"/>
                <a:ea typeface="华文行楷" panose="02010800040101010101" pitchFamily="2" charset="-122"/>
                <a:sym typeface="宋体" panose="02010600030101010101" pitchFamily="2" charset="-122"/>
              </a:rPr>
              <a:t>反</a:t>
            </a:r>
            <a:r>
              <a:rPr lang="zh-CN" altLang="en-US" sz="2400">
                <a:solidFill>
                  <a:schemeClr val="tx1"/>
                </a:solidFill>
                <a:latin typeface="Times New Roman" panose="02020603050405020304" pitchFamily="18" charset="0"/>
                <a:ea typeface="宋体" panose="02010600030101010101" pitchFamily="2" charset="-122"/>
              </a:rPr>
              <a:t>码？</a:t>
            </a:r>
            <a:endParaRPr lang="zh-CN" altLang="en-US" sz="2400">
              <a:solidFill>
                <a:schemeClr val="tx1"/>
              </a:solidFill>
              <a:latin typeface="Times New Roman" panose="02020603050405020304" pitchFamily="18" charset="0"/>
              <a:ea typeface="宋体" panose="02010600030101010101" pitchFamily="2" charset="-122"/>
            </a:endParaRPr>
          </a:p>
          <a:p>
            <a:pPr marL="342900" indent="-342900" eaLnBrk="0" hangingPunct="0">
              <a:spcBef>
                <a:spcPct val="20000"/>
              </a:spcBef>
              <a:buChar char="•"/>
            </a:pPr>
            <a:r>
              <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rPr>
              <a:t>-200=-11001000</a:t>
            </a:r>
            <a:endParaRPr lang="zh-CN" altLang="en-US" sz="2400">
              <a:solidFill>
                <a:schemeClr val="tx1"/>
              </a:solidFill>
              <a:latin typeface="Times New Roman" panose="02020603050405020304" pitchFamily="18" charset="0"/>
              <a:ea typeface="宋体" panose="02010600030101010101" pitchFamily="2" charset="-122"/>
            </a:endParaRPr>
          </a:p>
          <a:p>
            <a:pPr marL="342900" indent="-342900" eaLnBrk="0" hangingPunct="0">
              <a:spcBef>
                <a:spcPct val="20000"/>
              </a:spcBef>
              <a:buChar char="•"/>
            </a:pPr>
            <a:r>
              <a:rPr lang="zh-CN" altLang="en-US" sz="2400">
                <a:solidFill>
                  <a:schemeClr val="tx1"/>
                </a:solidFill>
                <a:latin typeface="Times New Roman" panose="02020603050405020304" pitchFamily="18" charset="0"/>
                <a:ea typeface="宋体" panose="02010600030101010101" pitchFamily="2" charset="-122"/>
              </a:rPr>
              <a:t>则：原码为</a:t>
            </a:r>
            <a:r>
              <a:rPr lang="en-US" altLang="zh-CN" sz="2400">
                <a:solidFill>
                  <a:srgbClr val="FF0000"/>
                </a:solidFill>
                <a:latin typeface="Times New Roman" panose="02020603050405020304" pitchFamily="18" charset="0"/>
                <a:ea typeface="宋体" panose="02010600030101010101" pitchFamily="2" charset="-122"/>
              </a:rPr>
              <a:t>1</a:t>
            </a:r>
            <a:r>
              <a:rPr lang="en-US" altLang="zh-CN" sz="2400">
                <a:solidFill>
                  <a:schemeClr val="tx1"/>
                </a:solidFill>
                <a:latin typeface="Times New Roman" panose="02020603050405020304" pitchFamily="18" charset="0"/>
                <a:ea typeface="宋体" panose="02010600030101010101" pitchFamily="2" charset="-122"/>
              </a:rPr>
              <a:t>11001000</a:t>
            </a:r>
            <a:endParaRPr lang="en-US" altLang="zh-CN" sz="2400">
              <a:solidFill>
                <a:schemeClr val="tx1"/>
              </a:solidFill>
              <a:latin typeface="Times New Roman" panose="02020603050405020304" pitchFamily="18" charset="0"/>
              <a:ea typeface="宋体" panose="02010600030101010101" pitchFamily="2" charset="-122"/>
            </a:endParaRPr>
          </a:p>
          <a:p>
            <a:pPr marL="342900" indent="-342900" eaLnBrk="0" hangingPunct="0">
              <a:spcBef>
                <a:spcPct val="20000"/>
              </a:spcBef>
              <a:buChar char="•"/>
            </a:pPr>
            <a:r>
              <a:rPr lang="en-US" altLang="zh-CN" sz="2400">
                <a:solidFill>
                  <a:schemeClr val="tx1"/>
                </a:solidFill>
                <a:latin typeface="Times New Roman" panose="02020603050405020304" pitchFamily="18" charset="0"/>
                <a:ea typeface="宋体" panose="02010600030101010101" pitchFamily="2" charset="-122"/>
              </a:rPr>
              <a:t>         </a:t>
            </a:r>
            <a:r>
              <a:rPr lang="zh-CN" altLang="en-US" sz="2400">
                <a:solidFill>
                  <a:schemeClr val="tx1"/>
                </a:solidFill>
                <a:latin typeface="Times New Roman" panose="02020603050405020304" pitchFamily="18" charset="0"/>
                <a:ea typeface="宋体" panose="02010600030101010101" pitchFamily="2" charset="-122"/>
              </a:rPr>
              <a:t>反码为</a:t>
            </a:r>
            <a:r>
              <a:rPr lang="en-US" altLang="zh-CN" sz="2400">
                <a:solidFill>
                  <a:srgbClr val="FF0000"/>
                </a:solidFill>
                <a:latin typeface="Times New Roman" panose="02020603050405020304" pitchFamily="18" charset="0"/>
                <a:ea typeface="宋体" panose="02010600030101010101" pitchFamily="2" charset="-122"/>
              </a:rPr>
              <a:t>1</a:t>
            </a:r>
            <a:r>
              <a:rPr lang="en-US" altLang="zh-CN" sz="2400">
                <a:solidFill>
                  <a:schemeClr val="tx1"/>
                </a:solidFill>
                <a:latin typeface="Times New Roman" panose="02020603050405020304" pitchFamily="18" charset="0"/>
                <a:ea typeface="宋体" panose="02010600030101010101" pitchFamily="2" charset="-122"/>
              </a:rPr>
              <a:t>00110111      </a:t>
            </a:r>
            <a:endParaRPr lang="en-US" altLang="zh-CN" sz="2400">
              <a:solidFill>
                <a:schemeClr val="tx1"/>
              </a:solidFill>
              <a:latin typeface="Times New Roman" panose="02020603050405020304" pitchFamily="18" charset="0"/>
              <a:ea typeface="宋体" panose="02010600030101010101" pitchFamily="2" charset="-122"/>
            </a:endParaRPr>
          </a:p>
          <a:p>
            <a:pPr marL="342900" indent="-342900" eaLnBrk="0" hangingPunct="0">
              <a:spcBef>
                <a:spcPct val="20000"/>
              </a:spcBef>
              <a:buChar char="•"/>
            </a:pPr>
            <a:r>
              <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rPr>
              <a:t>+200=+11001000</a:t>
            </a:r>
            <a:endPar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endParaRPr>
          </a:p>
          <a:p>
            <a:pPr marL="342900" indent="-342900" eaLnBrk="0" hangingPunct="0">
              <a:spcBef>
                <a:spcPct val="20000"/>
              </a:spcBef>
              <a:buChar char="•"/>
            </a:pPr>
            <a:r>
              <a:rPr lang="zh-CN" altLang="en-US" sz="2400">
                <a:solidFill>
                  <a:schemeClr val="tx1"/>
                </a:solidFill>
                <a:latin typeface="Times New Roman" panose="02020603050405020304" pitchFamily="18" charset="0"/>
                <a:ea typeface="宋体" panose="02010600030101010101" pitchFamily="2" charset="-122"/>
                <a:sym typeface="宋体" panose="02010600030101010101" pitchFamily="2" charset="-122"/>
              </a:rPr>
              <a:t>则：原码为</a:t>
            </a:r>
            <a:r>
              <a:rPr lang="en-US" altLang="zh-CN" sz="2400">
                <a:solidFill>
                  <a:srgbClr val="FF0000"/>
                </a:solidFill>
                <a:latin typeface="Times New Roman" panose="02020603050405020304" pitchFamily="18" charset="0"/>
                <a:ea typeface="宋体" panose="02010600030101010101" pitchFamily="2" charset="-122"/>
                <a:sym typeface="宋体" panose="02010600030101010101" pitchFamily="2" charset="-122"/>
              </a:rPr>
              <a:t>0</a:t>
            </a:r>
            <a:r>
              <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rPr>
              <a:t>11001000</a:t>
            </a:r>
            <a:endPar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endParaRPr>
          </a:p>
          <a:p>
            <a:pPr marL="342900" indent="-342900" eaLnBrk="0" hangingPunct="0">
              <a:spcBef>
                <a:spcPct val="20000"/>
              </a:spcBef>
              <a:buChar char="•"/>
            </a:pPr>
            <a:r>
              <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rPr>
              <a:t>       </a:t>
            </a:r>
            <a:r>
              <a:rPr lang="zh-CN" altLang="en-US" sz="2400">
                <a:solidFill>
                  <a:schemeClr val="tx1"/>
                </a:solidFill>
                <a:latin typeface="Times New Roman" panose="02020603050405020304" pitchFamily="18" charset="0"/>
                <a:ea typeface="宋体" panose="02010600030101010101" pitchFamily="2" charset="-122"/>
                <a:sym typeface="宋体" panose="02010600030101010101" pitchFamily="2" charset="-122"/>
              </a:rPr>
              <a:t>反码为 </a:t>
            </a:r>
            <a:r>
              <a:rPr lang="en-US" altLang="zh-CN" sz="2400">
                <a:solidFill>
                  <a:srgbClr val="FF0000"/>
                </a:solidFill>
                <a:latin typeface="Times New Roman" panose="02020603050405020304" pitchFamily="18" charset="0"/>
                <a:ea typeface="宋体" panose="02010600030101010101" pitchFamily="2" charset="-122"/>
                <a:sym typeface="宋体" panose="02010600030101010101" pitchFamily="2" charset="-122"/>
              </a:rPr>
              <a:t>0</a:t>
            </a:r>
            <a:r>
              <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rPr>
              <a:t>11001000       </a:t>
            </a:r>
            <a:endParaRPr lang="zh-CN" altLang="en-US" sz="2400">
              <a:solidFill>
                <a:schemeClr val="tx1"/>
              </a:solidFill>
              <a:latin typeface="Times New Roman" panose="02020603050405020304" pitchFamily="18" charset="0"/>
              <a:ea typeface="宋体" panose="02010600030101010101" pitchFamily="2" charset="-122"/>
              <a:sym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41986" name="Rectangle 2"/>
          <p:cNvSpPr>
            <a:spLocks noGrp="1"/>
          </p:cNvSpPr>
          <p:nvPr>
            <p:ph type="title"/>
          </p:nvPr>
        </p:nvSpPr>
        <p:spPr>
          <a:xfrm>
            <a:off x="685800" y="304800"/>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2.1.5  反码表示法（续）</a:t>
            </a:r>
            <a:endParaRPr lang="zh-CN" altLang="en-US" sz="3600" dirty="0">
              <a:solidFill>
                <a:srgbClr val="0000FF"/>
              </a:solidFill>
              <a:latin typeface="华文新魏" panose="02010800040101010101" pitchFamily="2" charset="-122"/>
              <a:ea typeface="华文新魏" panose="02010800040101010101" pitchFamily="2" charset="-122"/>
            </a:endParaRPr>
          </a:p>
        </p:txBody>
      </p:sp>
      <p:sp>
        <p:nvSpPr>
          <p:cNvPr id="41987" name="Rectangle 3"/>
          <p:cNvSpPr>
            <a:spLocks noGrp="1"/>
          </p:cNvSpPr>
          <p:nvPr>
            <p:ph idx="1"/>
          </p:nvPr>
        </p:nvSpPr>
        <p:spPr>
          <a:xfrm>
            <a:off x="685800" y="1371600"/>
            <a:ext cx="7772400" cy="4572000"/>
          </a:xfrm>
        </p:spPr>
        <p:txBody>
          <a:bodyPr vert="horz" wrap="square" lIns="91440" tIns="45720" rIns="91440" bIns="45720" anchor="t" anchorCtr="0"/>
          <a:p>
            <a:pPr marL="0" algn="just" eaLnBrk="1" hangingPunct="1">
              <a:buNone/>
            </a:pPr>
            <a:r>
              <a:rPr lang="zh-CN" altLang="en-US" b="1" dirty="0">
                <a:ea typeface="楷体_GB2312" pitchFamily="49" charset="-122"/>
              </a:rPr>
              <a:t>       若真值为纯整数，它的反码形式为</a:t>
            </a:r>
            <a:r>
              <a:rPr lang="en-US" altLang="zh-CN" b="1" dirty="0">
                <a:solidFill>
                  <a:srgbClr val="FF3300"/>
                </a:solidFill>
                <a:ea typeface="楷体_GB2312" pitchFamily="49" charset="-122"/>
              </a:rPr>
              <a:t>X</a:t>
            </a:r>
            <a:r>
              <a:rPr lang="en-US" altLang="zh-CN" b="1" baseline="-30000" dirty="0">
                <a:solidFill>
                  <a:srgbClr val="FF3300"/>
                </a:solidFill>
                <a:ea typeface="楷体_GB2312" pitchFamily="49" charset="-122"/>
              </a:rPr>
              <a:t>s</a:t>
            </a:r>
            <a:r>
              <a:rPr lang="en-US" altLang="zh-CN" b="1" dirty="0">
                <a:ea typeface="楷体_GB2312" pitchFamily="49" charset="-122"/>
              </a:rPr>
              <a:t>X</a:t>
            </a:r>
            <a:r>
              <a:rPr lang="en-US" altLang="zh-CN" b="1" baseline="-30000" dirty="0">
                <a:ea typeface="楷体_GB2312" pitchFamily="49" charset="-122"/>
              </a:rPr>
              <a:t>1</a:t>
            </a:r>
            <a:r>
              <a:rPr lang="en-US" altLang="zh-CN" b="1" dirty="0">
                <a:ea typeface="楷体_GB2312" pitchFamily="49" charset="-122"/>
              </a:rPr>
              <a:t>X</a:t>
            </a:r>
            <a:r>
              <a:rPr lang="en-US" altLang="zh-CN" b="1" baseline="-30000" dirty="0">
                <a:ea typeface="楷体_GB2312" pitchFamily="49" charset="-122"/>
              </a:rPr>
              <a:t>2</a:t>
            </a:r>
            <a:r>
              <a:rPr lang="en-US" altLang="zh-CN" b="1" dirty="0">
                <a:ea typeface="楷体_GB2312" pitchFamily="49" charset="-122"/>
              </a:rPr>
              <a:t>…X</a:t>
            </a:r>
            <a:r>
              <a:rPr lang="en-US" altLang="zh-CN" b="1" baseline="-30000" dirty="0">
                <a:ea typeface="楷体_GB2312" pitchFamily="49" charset="-122"/>
              </a:rPr>
              <a:t>n</a:t>
            </a:r>
            <a:r>
              <a:rPr lang="en-US" altLang="zh-CN" b="1" dirty="0">
                <a:ea typeface="楷体_GB2312" pitchFamily="49" charset="-122"/>
              </a:rPr>
              <a:t>，</a:t>
            </a:r>
            <a:r>
              <a:rPr lang="zh-CN" altLang="en-US" b="1" dirty="0">
                <a:ea typeface="楷体_GB2312" pitchFamily="49" charset="-122"/>
              </a:rPr>
              <a:t>其中</a:t>
            </a:r>
            <a:r>
              <a:rPr lang="en-US" altLang="zh-CN" b="1" dirty="0">
                <a:solidFill>
                  <a:srgbClr val="FF3300"/>
                </a:solidFill>
                <a:ea typeface="楷体_GB2312" pitchFamily="49" charset="-122"/>
              </a:rPr>
              <a:t>X</a:t>
            </a:r>
            <a:r>
              <a:rPr lang="en-US" altLang="zh-CN" b="1" baseline="-30000" dirty="0">
                <a:solidFill>
                  <a:srgbClr val="FF3300"/>
                </a:solidFill>
                <a:ea typeface="楷体_GB2312" pitchFamily="49" charset="-122"/>
              </a:rPr>
              <a:t>s</a:t>
            </a:r>
            <a:r>
              <a:rPr lang="zh-CN" altLang="en-US" b="1" dirty="0">
                <a:ea typeface="楷体_GB2312" pitchFamily="49" charset="-122"/>
              </a:rPr>
              <a:t>表示符号位。</a:t>
            </a:r>
            <a:endParaRPr lang="zh-CN" altLang="en-US" b="1" dirty="0">
              <a:ea typeface="楷体_GB2312" pitchFamily="49" charset="-122"/>
            </a:endParaRPr>
          </a:p>
          <a:p>
            <a:pPr marL="0" algn="just" eaLnBrk="1" hangingPunct="1">
              <a:buNone/>
            </a:pPr>
            <a:r>
              <a:rPr lang="zh-CN" altLang="en-US" b="1" dirty="0">
                <a:ea typeface="楷体_GB2312" pitchFamily="49" charset="-122"/>
              </a:rPr>
              <a:t>例10：</a:t>
            </a:r>
            <a:r>
              <a:rPr lang="en-US" altLang="zh-CN" b="1" dirty="0">
                <a:ea typeface="楷体_GB2312" pitchFamily="49" charset="-122"/>
              </a:rPr>
              <a:t>X</a:t>
            </a:r>
            <a:r>
              <a:rPr lang="en-US" altLang="zh-CN" sz="2800" b="1" baseline="-25000" dirty="0">
                <a:ea typeface="楷体_GB2312" pitchFamily="49" charset="-122"/>
              </a:rPr>
              <a:t>1</a:t>
            </a:r>
            <a:r>
              <a:rPr lang="en-US" altLang="zh-CN" b="1" dirty="0">
                <a:ea typeface="楷体_GB2312" pitchFamily="49" charset="-122"/>
              </a:rPr>
              <a:t>=1101，    [X</a:t>
            </a:r>
            <a:r>
              <a:rPr lang="en-US" altLang="zh-CN" sz="2800" b="1" baseline="-25000" dirty="0">
                <a:ea typeface="楷体_GB2312" pitchFamily="49" charset="-122"/>
              </a:rPr>
              <a:t>1</a:t>
            </a:r>
            <a:r>
              <a:rPr lang="en-US" altLang="zh-CN" b="1" dirty="0">
                <a:ea typeface="楷体_GB2312" pitchFamily="49" charset="-122"/>
              </a:rPr>
              <a:t>]</a:t>
            </a:r>
            <a:r>
              <a:rPr lang="zh-CN" altLang="en-US" b="1" baseline="-30000" dirty="0">
                <a:ea typeface="楷体_GB2312" pitchFamily="49" charset="-122"/>
              </a:rPr>
              <a:t>补</a:t>
            </a:r>
            <a:r>
              <a:rPr lang="zh-CN" altLang="en-US" b="1" dirty="0">
                <a:ea typeface="楷体_GB2312" pitchFamily="49" charset="-122"/>
              </a:rPr>
              <a:t>=</a:t>
            </a:r>
            <a:r>
              <a:rPr lang="en-US" altLang="zh-CN" b="1" dirty="0">
                <a:solidFill>
                  <a:schemeClr val="hlink"/>
                </a:solidFill>
                <a:ea typeface="楷体_GB2312" pitchFamily="49" charset="-122"/>
              </a:rPr>
              <a:t>0</a:t>
            </a:r>
            <a:r>
              <a:rPr lang="en-US" altLang="zh-CN" b="1" dirty="0">
                <a:ea typeface="楷体_GB2312" pitchFamily="49" charset="-122"/>
              </a:rPr>
              <a:t>1101</a:t>
            </a:r>
            <a:endParaRPr lang="en-US" altLang="zh-CN" b="1" dirty="0">
              <a:ea typeface="楷体_GB2312" pitchFamily="49" charset="-122"/>
            </a:endParaRPr>
          </a:p>
          <a:p>
            <a:pPr marL="0" algn="just" eaLnBrk="1" hangingPunct="1">
              <a:buNone/>
            </a:pPr>
            <a:r>
              <a:rPr lang="en-US" altLang="zh-CN" b="1" dirty="0">
                <a:ea typeface="楷体_GB2312" pitchFamily="49" charset="-122"/>
              </a:rPr>
              <a:t>            X</a:t>
            </a:r>
            <a:r>
              <a:rPr lang="en-US" altLang="zh-CN" sz="2800" b="1" baseline="-25000" dirty="0">
                <a:ea typeface="楷体_GB2312" pitchFamily="49" charset="-122"/>
              </a:rPr>
              <a:t>2</a:t>
            </a:r>
            <a:r>
              <a:rPr lang="en-US" altLang="zh-CN" b="1" dirty="0">
                <a:ea typeface="楷体_GB2312" pitchFamily="49" charset="-122"/>
              </a:rPr>
              <a:t>=</a:t>
            </a:r>
            <a:r>
              <a:rPr lang="en-US" altLang="zh-CN" b="1" dirty="0">
                <a:solidFill>
                  <a:schemeClr val="hlink"/>
                </a:solidFill>
                <a:ea typeface="楷体_GB2312" pitchFamily="49" charset="-122"/>
              </a:rPr>
              <a:t>-</a:t>
            </a:r>
            <a:r>
              <a:rPr lang="en-US" altLang="zh-CN" b="1" dirty="0">
                <a:ea typeface="楷体_GB2312" pitchFamily="49" charset="-122"/>
              </a:rPr>
              <a:t>1101，   [X</a:t>
            </a:r>
            <a:r>
              <a:rPr lang="en-US" altLang="zh-CN" sz="2800" b="1" baseline="-25000" dirty="0">
                <a:ea typeface="楷体_GB2312" pitchFamily="49" charset="-122"/>
              </a:rPr>
              <a:t>2</a:t>
            </a:r>
            <a:r>
              <a:rPr lang="en-US" altLang="zh-CN" b="1" dirty="0">
                <a:ea typeface="楷体_GB2312" pitchFamily="49" charset="-122"/>
              </a:rPr>
              <a:t>]</a:t>
            </a:r>
            <a:r>
              <a:rPr lang="zh-CN" altLang="en-US" b="1" baseline="-30000" dirty="0">
                <a:ea typeface="楷体_GB2312" pitchFamily="49" charset="-122"/>
              </a:rPr>
              <a:t>补</a:t>
            </a:r>
            <a:r>
              <a:rPr lang="zh-CN" altLang="en-US" b="1" dirty="0">
                <a:ea typeface="楷体_GB2312" pitchFamily="49" charset="-122"/>
              </a:rPr>
              <a:t>=</a:t>
            </a:r>
            <a:r>
              <a:rPr lang="en-US" altLang="zh-CN" b="1" dirty="0">
                <a:solidFill>
                  <a:schemeClr val="hlink"/>
                </a:solidFill>
                <a:ea typeface="楷体_GB2312" pitchFamily="49" charset="-122"/>
              </a:rPr>
              <a:t>1</a:t>
            </a:r>
            <a:r>
              <a:rPr lang="en-US" altLang="zh-CN" b="1" dirty="0">
                <a:ea typeface="楷体_GB2312" pitchFamily="49" charset="-122"/>
              </a:rPr>
              <a:t>0010</a:t>
            </a:r>
            <a:endParaRPr lang="en-US" altLang="zh-CN" b="1" dirty="0">
              <a:ea typeface="楷体_GB2312" pitchFamily="49" charset="-122"/>
            </a:endParaRPr>
          </a:p>
          <a:p>
            <a:pPr marL="0" algn="just" eaLnBrk="1" hangingPunct="1">
              <a:buNone/>
            </a:pPr>
            <a:r>
              <a:rPr lang="en-US" altLang="zh-CN" b="1" dirty="0">
                <a:ea typeface="楷体_GB2312" pitchFamily="49" charset="-122"/>
              </a:rPr>
              <a:t>        </a:t>
            </a:r>
            <a:r>
              <a:rPr lang="zh-CN" altLang="en-US" b="1" dirty="0">
                <a:ea typeface="楷体_GB2312" pitchFamily="49" charset="-122"/>
              </a:rPr>
              <a:t>在反码表示中，真值0也有两种不同的表示形式：</a:t>
            </a:r>
            <a:endParaRPr lang="zh-CN" altLang="en-US" b="1" dirty="0">
              <a:ea typeface="楷体_GB2312" pitchFamily="49" charset="-122"/>
            </a:endParaRPr>
          </a:p>
          <a:p>
            <a:pPr marL="0" algn="just" eaLnBrk="1" hangingPunct="1">
              <a:buNone/>
            </a:pPr>
            <a:r>
              <a:rPr lang="zh-CN" altLang="en-US" b="1" dirty="0">
                <a:ea typeface="楷体_GB2312" pitchFamily="49" charset="-122"/>
              </a:rPr>
              <a:t>        [+0]</a:t>
            </a:r>
            <a:r>
              <a:rPr lang="zh-CN" altLang="en-US" b="1" baseline="-30000" dirty="0">
                <a:ea typeface="楷体_GB2312" pitchFamily="49" charset="-122"/>
              </a:rPr>
              <a:t>反</a:t>
            </a:r>
            <a:r>
              <a:rPr lang="zh-CN" altLang="en-US" b="1" dirty="0">
                <a:ea typeface="楷体_GB2312" pitchFamily="49" charset="-122"/>
              </a:rPr>
              <a:t>=</a:t>
            </a:r>
            <a:r>
              <a:rPr lang="zh-CN" altLang="en-US" b="1" dirty="0">
                <a:solidFill>
                  <a:srgbClr val="FF3300"/>
                </a:solidFill>
                <a:ea typeface="楷体_GB2312" pitchFamily="49" charset="-122"/>
              </a:rPr>
              <a:t>00000</a:t>
            </a:r>
            <a:endParaRPr lang="zh-CN" altLang="en-US" b="1" dirty="0">
              <a:solidFill>
                <a:srgbClr val="FF3300"/>
              </a:solidFill>
              <a:ea typeface="楷体_GB2312" pitchFamily="49" charset="-122"/>
            </a:endParaRPr>
          </a:p>
          <a:p>
            <a:pPr marL="0" algn="just" eaLnBrk="1" hangingPunct="1">
              <a:buNone/>
            </a:pPr>
            <a:r>
              <a:rPr lang="zh-CN" altLang="en-US" b="1" dirty="0">
                <a:ea typeface="楷体_GB2312" pitchFamily="49" charset="-122"/>
              </a:rPr>
              <a:t>        [-0]</a:t>
            </a:r>
            <a:r>
              <a:rPr lang="zh-CN" altLang="en-US" b="1" baseline="-30000" dirty="0">
                <a:ea typeface="楷体_GB2312" pitchFamily="49" charset="-122"/>
              </a:rPr>
              <a:t>反</a:t>
            </a:r>
            <a:r>
              <a:rPr lang="zh-CN" altLang="en-US" b="1" dirty="0">
                <a:ea typeface="楷体_GB2312" pitchFamily="49" charset="-122"/>
              </a:rPr>
              <a:t>=</a:t>
            </a:r>
            <a:r>
              <a:rPr lang="zh-CN" altLang="en-US" b="1" dirty="0">
                <a:solidFill>
                  <a:srgbClr val="FF3300"/>
                </a:solidFill>
                <a:ea typeface="楷体_GB2312" pitchFamily="49" charset="-122"/>
              </a:rPr>
              <a:t>11111</a:t>
            </a:r>
            <a:endParaRPr lang="zh-CN" altLang="en-US" b="1" dirty="0">
              <a:solidFill>
                <a:srgbClr val="FF3300"/>
              </a:solidFill>
              <a:ea typeface="楷体_GB2312" pitchFamily="49"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标题 1"/>
          <p:cNvSpPr>
            <a:spLocks noGrp="1"/>
          </p:cNvSpPr>
          <p:nvPr>
            <p:ph type="title"/>
          </p:nvPr>
        </p:nvSpPr>
        <p:spPr>
          <a:xfrm>
            <a:off x="685800" y="322263"/>
            <a:ext cx="7772400" cy="1143000"/>
          </a:xfrm>
        </p:spPr>
        <p:txBody>
          <a:bodyPr anchor="ctr" anchorCtr="0"/>
          <a:p>
            <a:pPr algn="l"/>
            <a:r>
              <a:rPr lang="zh-CN" altLang="en-US"/>
              <a:t>反码</a:t>
            </a:r>
            <a:endParaRPr lang="zh-CN" altLang="en-US"/>
          </a:p>
        </p:txBody>
      </p:sp>
      <p:sp>
        <p:nvSpPr>
          <p:cNvPr id="43010" name="内容占位符 2"/>
          <p:cNvSpPr>
            <a:spLocks noGrp="1"/>
          </p:cNvSpPr>
          <p:nvPr>
            <p:ph idx="1"/>
          </p:nvPr>
        </p:nvSpPr>
        <p:spPr>
          <a:xfrm>
            <a:off x="685800" y="1192213"/>
            <a:ext cx="7772400" cy="2382837"/>
          </a:xfrm>
        </p:spPr>
        <p:txBody>
          <a:bodyPr anchor="t" anchorCtr="0"/>
          <a:p>
            <a:r>
              <a:rPr lang="zh-CN" altLang="en-US"/>
              <a:t>规则：</a:t>
            </a:r>
            <a:endParaRPr lang="zh-CN" altLang="en-US"/>
          </a:p>
          <a:p>
            <a:r>
              <a:rPr lang="zh-CN" altLang="en-US"/>
              <a:t>在原码上，若为正数，由反码即为原码；若为负数，由反码在原码上，符号位不动，其余位按位取反。</a:t>
            </a:r>
            <a:endParaRPr lang="zh-CN" altLang="en-US"/>
          </a:p>
        </p:txBody>
      </p:sp>
      <p:sp>
        <p:nvSpPr>
          <p:cNvPr id="43011" name="内容占位符 2"/>
          <p:cNvSpPr>
            <a:spLocks noGrp="1"/>
          </p:cNvSpPr>
          <p:nvPr/>
        </p:nvSpPr>
        <p:spPr>
          <a:xfrm>
            <a:off x="685800" y="3452813"/>
            <a:ext cx="7772400" cy="712787"/>
          </a:xfrm>
          <a:prstGeom prst="rect">
            <a:avLst/>
          </a:prstGeom>
          <a:noFill/>
          <a:ln w="9525">
            <a:noFill/>
          </a:ln>
        </p:spPr>
        <p:txBody>
          <a:bodyPr anchor="t" anchorCtr="0"/>
          <a:p>
            <a:pPr marL="342900" indent="-342900" eaLnBrk="0" hangingPunct="0">
              <a:spcBef>
                <a:spcPct val="20000"/>
              </a:spcBef>
              <a:buChar char="•"/>
            </a:pPr>
            <a:r>
              <a:rPr lang="zh-CN" altLang="zh-CN" sz="2400">
                <a:solidFill>
                  <a:schemeClr val="tx1"/>
                </a:solidFill>
                <a:latin typeface="Times New Roman" panose="02020603050405020304" pitchFamily="18" charset="0"/>
                <a:ea typeface="宋体" panose="02010600030101010101" pitchFamily="2" charset="-122"/>
              </a:rPr>
              <a:t>例：</a:t>
            </a:r>
            <a:r>
              <a:rPr lang="en-US" altLang="zh-CN" sz="2400">
                <a:solidFill>
                  <a:schemeClr val="tx1"/>
                </a:solidFill>
                <a:latin typeface="Times New Roman" panose="02020603050405020304" pitchFamily="18" charset="0"/>
                <a:ea typeface="宋体" panose="02010600030101010101" pitchFamily="2" charset="-122"/>
              </a:rPr>
              <a:t>-200    +200</a:t>
            </a:r>
            <a:r>
              <a:rPr lang="zh-CN" altLang="en-US" sz="2400">
                <a:solidFill>
                  <a:schemeClr val="tx1"/>
                </a:solidFill>
                <a:latin typeface="Times New Roman" panose="02020603050405020304" pitchFamily="18" charset="0"/>
                <a:ea typeface="宋体" panose="02010600030101010101" pitchFamily="2" charset="-122"/>
              </a:rPr>
              <a:t>的反码？</a:t>
            </a:r>
            <a:endParaRPr lang="zh-CN" altLang="en-US" sz="2400">
              <a:solidFill>
                <a:schemeClr val="tx1"/>
              </a:solidFill>
              <a:latin typeface="Times New Roman" panose="02020603050405020304" pitchFamily="18" charset="0"/>
              <a:ea typeface="宋体" panose="02010600030101010101" pitchFamily="2" charset="-122"/>
            </a:endParaRPr>
          </a:p>
          <a:p>
            <a:pPr marL="342900" indent="-342900" eaLnBrk="0" hangingPunct="0">
              <a:spcBef>
                <a:spcPct val="20000"/>
              </a:spcBef>
              <a:buChar char="•"/>
            </a:pPr>
            <a:r>
              <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rPr>
              <a:t>-200=-11001000</a:t>
            </a:r>
            <a:endParaRPr lang="zh-CN" altLang="en-US" sz="2400">
              <a:solidFill>
                <a:schemeClr val="tx1"/>
              </a:solidFill>
              <a:latin typeface="Times New Roman" panose="02020603050405020304" pitchFamily="18" charset="0"/>
              <a:ea typeface="宋体" panose="02010600030101010101" pitchFamily="2" charset="-122"/>
            </a:endParaRPr>
          </a:p>
          <a:p>
            <a:pPr marL="342900" indent="-342900" eaLnBrk="0" hangingPunct="0">
              <a:spcBef>
                <a:spcPct val="20000"/>
              </a:spcBef>
              <a:buChar char="•"/>
            </a:pPr>
            <a:r>
              <a:rPr lang="zh-CN" altLang="en-US" sz="2400">
                <a:solidFill>
                  <a:schemeClr val="tx1"/>
                </a:solidFill>
                <a:latin typeface="Times New Roman" panose="02020603050405020304" pitchFamily="18" charset="0"/>
                <a:ea typeface="宋体" panose="02010600030101010101" pitchFamily="2" charset="-122"/>
              </a:rPr>
              <a:t>则：原码为</a:t>
            </a:r>
            <a:r>
              <a:rPr lang="en-US" altLang="zh-CN" sz="2400">
                <a:solidFill>
                  <a:srgbClr val="FF0000"/>
                </a:solidFill>
                <a:latin typeface="Times New Roman" panose="02020603050405020304" pitchFamily="18" charset="0"/>
                <a:ea typeface="宋体" panose="02010600030101010101" pitchFamily="2" charset="-122"/>
              </a:rPr>
              <a:t>1</a:t>
            </a:r>
            <a:r>
              <a:rPr lang="en-US" altLang="zh-CN" sz="2400">
                <a:solidFill>
                  <a:schemeClr val="tx1"/>
                </a:solidFill>
                <a:latin typeface="Times New Roman" panose="02020603050405020304" pitchFamily="18" charset="0"/>
                <a:ea typeface="宋体" panose="02010600030101010101" pitchFamily="2" charset="-122"/>
              </a:rPr>
              <a:t>11001000</a:t>
            </a:r>
            <a:endParaRPr lang="en-US" altLang="zh-CN" sz="2400">
              <a:solidFill>
                <a:schemeClr val="tx1"/>
              </a:solidFill>
              <a:latin typeface="Times New Roman" panose="02020603050405020304" pitchFamily="18" charset="0"/>
              <a:ea typeface="宋体" panose="02010600030101010101" pitchFamily="2" charset="-122"/>
            </a:endParaRPr>
          </a:p>
          <a:p>
            <a:pPr marL="342900" indent="-342900" eaLnBrk="0" hangingPunct="0">
              <a:spcBef>
                <a:spcPct val="20000"/>
              </a:spcBef>
              <a:buChar char="•"/>
            </a:pPr>
            <a:r>
              <a:rPr lang="en-US" altLang="zh-CN" sz="2400">
                <a:solidFill>
                  <a:schemeClr val="tx1"/>
                </a:solidFill>
                <a:latin typeface="Times New Roman" panose="02020603050405020304" pitchFamily="18" charset="0"/>
                <a:ea typeface="宋体" panose="02010600030101010101" pitchFamily="2" charset="-122"/>
              </a:rPr>
              <a:t>         </a:t>
            </a:r>
            <a:r>
              <a:rPr lang="zh-CN" altLang="en-US" sz="2400">
                <a:solidFill>
                  <a:schemeClr val="tx1"/>
                </a:solidFill>
                <a:latin typeface="Times New Roman" panose="02020603050405020304" pitchFamily="18" charset="0"/>
                <a:ea typeface="宋体" panose="02010600030101010101" pitchFamily="2" charset="-122"/>
              </a:rPr>
              <a:t>反码为</a:t>
            </a:r>
            <a:r>
              <a:rPr lang="en-US" altLang="zh-CN" sz="2400">
                <a:solidFill>
                  <a:srgbClr val="FF0000"/>
                </a:solidFill>
                <a:latin typeface="Times New Roman" panose="02020603050405020304" pitchFamily="18" charset="0"/>
                <a:ea typeface="宋体" panose="02010600030101010101" pitchFamily="2" charset="-122"/>
              </a:rPr>
              <a:t>1</a:t>
            </a:r>
            <a:r>
              <a:rPr lang="en-US" altLang="zh-CN" sz="2400">
                <a:solidFill>
                  <a:schemeClr val="tx1"/>
                </a:solidFill>
                <a:latin typeface="Times New Roman" panose="02020603050405020304" pitchFamily="18" charset="0"/>
                <a:ea typeface="宋体" panose="02010600030101010101" pitchFamily="2" charset="-122"/>
              </a:rPr>
              <a:t>00110111</a:t>
            </a:r>
            <a:endParaRPr lang="en-US" altLang="zh-CN" sz="2400">
              <a:solidFill>
                <a:schemeClr val="tx1"/>
              </a:solidFill>
              <a:latin typeface="Times New Roman" panose="02020603050405020304" pitchFamily="18" charset="0"/>
              <a:ea typeface="宋体" panose="02010600030101010101" pitchFamily="2" charset="-122"/>
            </a:endParaRPr>
          </a:p>
          <a:p>
            <a:pPr marL="342900" indent="-342900" eaLnBrk="0" hangingPunct="0">
              <a:spcBef>
                <a:spcPct val="20000"/>
              </a:spcBef>
              <a:buChar char="•"/>
            </a:pPr>
            <a:r>
              <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rPr>
              <a:t>+200=+11001000</a:t>
            </a:r>
            <a:endPar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endParaRPr>
          </a:p>
          <a:p>
            <a:pPr marL="342900" indent="-342900" eaLnBrk="0" hangingPunct="0">
              <a:spcBef>
                <a:spcPct val="20000"/>
              </a:spcBef>
              <a:buChar char="•"/>
            </a:pPr>
            <a:r>
              <a:rPr lang="zh-CN" altLang="en-US" sz="2400">
                <a:solidFill>
                  <a:schemeClr val="tx1"/>
                </a:solidFill>
                <a:latin typeface="Times New Roman" panose="02020603050405020304" pitchFamily="18" charset="0"/>
                <a:ea typeface="宋体" panose="02010600030101010101" pitchFamily="2" charset="-122"/>
                <a:sym typeface="宋体" panose="02010600030101010101" pitchFamily="2" charset="-122"/>
              </a:rPr>
              <a:t>则：原码为</a:t>
            </a:r>
            <a:r>
              <a:rPr lang="en-US" altLang="zh-CN" sz="2400">
                <a:solidFill>
                  <a:srgbClr val="FF0000"/>
                </a:solidFill>
                <a:latin typeface="Times New Roman" panose="02020603050405020304" pitchFamily="18" charset="0"/>
                <a:ea typeface="宋体" panose="02010600030101010101" pitchFamily="2" charset="-122"/>
                <a:sym typeface="宋体" panose="02010600030101010101" pitchFamily="2" charset="-122"/>
              </a:rPr>
              <a:t>0</a:t>
            </a:r>
            <a:r>
              <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rPr>
              <a:t>11001000</a:t>
            </a:r>
            <a:endPar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endParaRPr>
          </a:p>
          <a:p>
            <a:pPr marL="342900" indent="-342900" eaLnBrk="0" hangingPunct="0">
              <a:spcBef>
                <a:spcPct val="20000"/>
              </a:spcBef>
              <a:buChar char="•"/>
            </a:pPr>
            <a:r>
              <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rPr>
              <a:t>      </a:t>
            </a:r>
            <a:r>
              <a:rPr lang="en-US" altLang="zh-CN" sz="2400">
                <a:solidFill>
                  <a:schemeClr val="tx1"/>
                </a:solidFill>
                <a:latin typeface="Times New Roman" panose="02020603050405020304" pitchFamily="18" charset="0"/>
                <a:ea typeface="宋体" panose="02010600030101010101" pitchFamily="2" charset="-122"/>
              </a:rPr>
              <a:t> </a:t>
            </a:r>
            <a:r>
              <a:rPr lang="zh-CN" altLang="en-US" sz="2400">
                <a:solidFill>
                  <a:schemeClr val="tx1"/>
                </a:solidFill>
                <a:latin typeface="Times New Roman" panose="02020603050405020304" pitchFamily="18" charset="0"/>
                <a:ea typeface="宋体" panose="02010600030101010101" pitchFamily="2" charset="-122"/>
              </a:rPr>
              <a:t>反码为 </a:t>
            </a:r>
            <a:r>
              <a:rPr lang="en-US" altLang="zh-CN" sz="2400">
                <a:solidFill>
                  <a:srgbClr val="FF0000"/>
                </a:solidFill>
                <a:latin typeface="Times New Roman" panose="02020603050405020304" pitchFamily="18" charset="0"/>
                <a:ea typeface="宋体" panose="02010600030101010101" pitchFamily="2" charset="-122"/>
                <a:sym typeface="宋体" panose="02010600030101010101" pitchFamily="2" charset="-122"/>
              </a:rPr>
              <a:t>0</a:t>
            </a:r>
            <a:r>
              <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rPr>
              <a:t>11001000</a:t>
            </a:r>
            <a:endParaRPr lang="en-US" altLang="zh-CN" sz="2400">
              <a:solidFill>
                <a:schemeClr val="tx1"/>
              </a:solidFill>
              <a:latin typeface="Times New Roman" panose="02020603050405020304" pitchFamily="18" charset="0"/>
              <a:ea typeface="宋体" panose="02010600030101010101" pitchFamily="2" charset="-122"/>
              <a:sym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标题 1"/>
          <p:cNvSpPr>
            <a:spLocks noGrp="1"/>
          </p:cNvSpPr>
          <p:nvPr>
            <p:ph type="title"/>
          </p:nvPr>
        </p:nvSpPr>
        <p:spPr/>
        <p:txBody>
          <a:bodyPr anchor="ctr" anchorCtr="0"/>
          <a:p>
            <a:r>
              <a:rPr lang="zh-CN" altLang="en-US"/>
              <a:t>练习</a:t>
            </a:r>
            <a:endParaRPr lang="zh-CN" altLang="en-US"/>
          </a:p>
        </p:txBody>
      </p:sp>
      <p:sp>
        <p:nvSpPr>
          <p:cNvPr id="44034" name="内容占位符 2"/>
          <p:cNvSpPr>
            <a:spLocks noGrp="1"/>
          </p:cNvSpPr>
          <p:nvPr>
            <p:ph idx="1"/>
          </p:nvPr>
        </p:nvSpPr>
        <p:spPr/>
        <p:txBody>
          <a:bodyPr anchor="t" anchorCtr="0"/>
          <a:p>
            <a:r>
              <a:rPr lang="zh-CN" altLang="en-US"/>
              <a:t>求出 </a:t>
            </a:r>
            <a:r>
              <a:rPr lang="en-US" altLang="zh-CN"/>
              <a:t>-100</a:t>
            </a:r>
            <a:r>
              <a:rPr lang="zh-CN" altLang="en-US"/>
              <a:t>与</a:t>
            </a:r>
            <a:r>
              <a:rPr lang="en-US" altLang="zh-CN"/>
              <a:t>+100</a:t>
            </a:r>
            <a:r>
              <a:rPr lang="zh-CN" altLang="en-US"/>
              <a:t>原、反、补？</a:t>
            </a:r>
            <a:endParaRPr lang="zh-CN" altLang="en-US"/>
          </a:p>
          <a:p>
            <a:r>
              <a:rPr lang="zh-CN" altLang="en-US"/>
              <a:t>求出  </a:t>
            </a:r>
            <a:r>
              <a:rPr lang="en-US" altLang="zh-CN"/>
              <a:t>-AC.2H</a:t>
            </a:r>
            <a:r>
              <a:rPr lang="zh-CN" altLang="en-US"/>
              <a:t>原、反、补？</a:t>
            </a:r>
            <a:endParaRPr lang="zh-CN" altLang="en-US"/>
          </a:p>
          <a:p>
            <a:r>
              <a:rPr lang="zh-CN" altLang="en-US">
                <a:sym typeface="宋体" panose="02010600030101010101" pitchFamily="2" charset="-122"/>
              </a:rPr>
              <a:t>求出 </a:t>
            </a:r>
            <a:r>
              <a:rPr lang="en-US" altLang="zh-CN">
                <a:sym typeface="宋体" panose="02010600030101010101" pitchFamily="2" charset="-122"/>
              </a:rPr>
              <a:t>+520Q</a:t>
            </a:r>
            <a:r>
              <a:rPr lang="zh-CN" altLang="en-US">
                <a:sym typeface="宋体" panose="02010600030101010101" pitchFamily="2" charset="-122"/>
              </a:rPr>
              <a:t>原、反、补？</a:t>
            </a:r>
            <a:endParaRPr lang="zh-CN" altLang="en-US"/>
          </a:p>
          <a:p>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45058" name="Rectangle 3"/>
          <p:cNvSpPr>
            <a:spLocks noGrp="1"/>
          </p:cNvSpPr>
          <p:nvPr>
            <p:ph type="body" idx="4294967295"/>
          </p:nvPr>
        </p:nvSpPr>
        <p:spPr>
          <a:xfrm>
            <a:off x="609600" y="1066800"/>
            <a:ext cx="7924800" cy="5410200"/>
          </a:xfrm>
        </p:spPr>
        <p:txBody>
          <a:bodyPr vert="horz" wrap="square" lIns="91440" tIns="45720" rIns="91440" bIns="45720" anchor="t" anchorCtr="0"/>
          <a:p>
            <a:pPr eaLnBrk="1" hangingPunct="1">
              <a:lnSpc>
                <a:spcPct val="90000"/>
              </a:lnSpc>
              <a:buNone/>
            </a:pPr>
            <a:r>
              <a:rPr lang="zh-CN" altLang="en-US" sz="2800" b="1" dirty="0">
                <a:solidFill>
                  <a:schemeClr val="accent2"/>
                </a:solidFill>
                <a:ea typeface="楷体_GB2312" pitchFamily="49" charset="-122"/>
              </a:rPr>
              <a:t> 1.比较</a:t>
            </a:r>
            <a:endParaRPr lang="zh-CN" altLang="en-US" sz="2800" b="1" dirty="0">
              <a:solidFill>
                <a:schemeClr val="accent2"/>
              </a:solidFill>
              <a:ea typeface="楷体_GB2312" pitchFamily="49" charset="-122"/>
            </a:endParaRPr>
          </a:p>
          <a:p>
            <a:pPr eaLnBrk="1" hangingPunct="1">
              <a:lnSpc>
                <a:spcPct val="90000"/>
              </a:lnSpc>
            </a:pPr>
            <a:r>
              <a:rPr lang="zh-CN" altLang="en-US" sz="2800" b="1" dirty="0">
                <a:ea typeface="楷体_GB2312" pitchFamily="49" charset="-122"/>
              </a:rPr>
              <a:t>对于正数它们都等于真值本身，而对于负数各有不同的表示。</a:t>
            </a:r>
            <a:endParaRPr lang="zh-CN" altLang="en-US" sz="2800" b="1" dirty="0">
              <a:ea typeface="楷体_GB2312" pitchFamily="49" charset="-122"/>
            </a:endParaRPr>
          </a:p>
          <a:p>
            <a:pPr eaLnBrk="1" hangingPunct="1">
              <a:lnSpc>
                <a:spcPct val="90000"/>
              </a:lnSpc>
            </a:pPr>
            <a:r>
              <a:rPr lang="zh-CN" altLang="en-US" sz="2800" b="1" dirty="0">
                <a:ea typeface="楷体_GB2312" pitchFamily="49" charset="-122"/>
              </a:rPr>
              <a:t>最高位都表示符号位，补码和反码的符号位可作为数值位的一部分看待，和数值位一起参加运算；但原码的符号位不允许和数值位同等看待，必须分开进行处理。</a:t>
            </a:r>
            <a:endParaRPr lang="zh-CN" altLang="en-US" sz="2800" b="1" dirty="0">
              <a:ea typeface="楷体_GB2312" pitchFamily="49" charset="-122"/>
            </a:endParaRPr>
          </a:p>
          <a:p>
            <a:pPr eaLnBrk="1" hangingPunct="1">
              <a:lnSpc>
                <a:spcPct val="90000"/>
              </a:lnSpc>
            </a:pPr>
            <a:r>
              <a:rPr lang="zh-CN" altLang="en-US" sz="2800" b="1" dirty="0">
                <a:ea typeface="楷体_GB2312" pitchFamily="49" charset="-122"/>
              </a:rPr>
              <a:t> 对于真值0，原码和反码各有两种不同的表示形式，而补码只有唯一的一种表示形式。</a:t>
            </a:r>
            <a:endParaRPr lang="zh-CN" altLang="en-US" sz="2800" b="1" dirty="0">
              <a:ea typeface="楷体_GB2312" pitchFamily="49" charset="-122"/>
            </a:endParaRPr>
          </a:p>
          <a:p>
            <a:pPr eaLnBrk="1" hangingPunct="1">
              <a:lnSpc>
                <a:spcPct val="90000"/>
              </a:lnSpc>
            </a:pPr>
            <a:r>
              <a:rPr lang="zh-CN" altLang="en-US" sz="2800" b="1" dirty="0">
                <a:ea typeface="楷体_GB2312" pitchFamily="49" charset="-122"/>
              </a:rPr>
              <a:t>原码、反码表示的正、负数范围相对零来说是对称的；但补码负数表示范围较正数表示范围宽，能多表示一个最负的数（绝对值最大的负数），其值等于</a:t>
            </a:r>
            <a:r>
              <a:rPr lang="zh-CN" altLang="en-US" sz="2800" b="1" dirty="0">
                <a:solidFill>
                  <a:srgbClr val="FF3300"/>
                </a:solidFill>
                <a:ea typeface="楷体_GB2312" pitchFamily="49" charset="-122"/>
              </a:rPr>
              <a:t>-2</a:t>
            </a:r>
            <a:r>
              <a:rPr lang="en-US" altLang="zh-CN" sz="2800" b="1" baseline="30000" dirty="0">
                <a:solidFill>
                  <a:srgbClr val="FF3300"/>
                </a:solidFill>
                <a:ea typeface="楷体_GB2312" pitchFamily="49" charset="-122"/>
              </a:rPr>
              <a:t>n</a:t>
            </a:r>
            <a:r>
              <a:rPr lang="en-US" altLang="zh-CN" sz="2800" b="1" dirty="0">
                <a:ea typeface="楷体_GB2312" pitchFamily="49" charset="-122"/>
              </a:rPr>
              <a:t>（</a:t>
            </a:r>
            <a:r>
              <a:rPr lang="zh-CN" altLang="en-US" sz="2800" b="1" dirty="0">
                <a:ea typeface="楷体_GB2312" pitchFamily="49" charset="-122"/>
              </a:rPr>
              <a:t>纯整数）或</a:t>
            </a:r>
            <a:r>
              <a:rPr lang="zh-CN" altLang="en-US" sz="2800" b="1" dirty="0">
                <a:solidFill>
                  <a:srgbClr val="FF3300"/>
                </a:solidFill>
                <a:ea typeface="楷体_GB2312" pitchFamily="49" charset="-122"/>
              </a:rPr>
              <a:t>-1</a:t>
            </a:r>
            <a:r>
              <a:rPr lang="zh-CN" altLang="en-US" sz="2800" b="1" dirty="0">
                <a:ea typeface="楷体_GB2312" pitchFamily="49" charset="-122"/>
              </a:rPr>
              <a:t>（纯小数）。</a:t>
            </a:r>
            <a:endParaRPr lang="zh-CN" altLang="en-US" sz="2800" b="1" dirty="0">
              <a:ea typeface="楷体_GB2312" pitchFamily="49" charset="-122"/>
            </a:endParaRPr>
          </a:p>
        </p:txBody>
      </p:sp>
      <p:sp>
        <p:nvSpPr>
          <p:cNvPr id="45059" name="Rectangle 5"/>
          <p:cNvSpPr>
            <a:spLocks noGrp="1"/>
          </p:cNvSpPr>
          <p:nvPr>
            <p:ph type="title" idx="4294967295"/>
          </p:nvPr>
        </p:nvSpPr>
        <p:spPr>
          <a:xfrm>
            <a:off x="685800" y="228600"/>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2.1.6  三种码制的比较与转换</a:t>
            </a:r>
            <a:endParaRPr lang="zh-CN" altLang="en-US" sz="3600"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46082" name="Rectangle 2"/>
          <p:cNvSpPr>
            <a:spLocks noGrp="1"/>
          </p:cNvSpPr>
          <p:nvPr>
            <p:ph type="title" idx="4294967295"/>
          </p:nvPr>
        </p:nvSpPr>
        <p:spPr>
          <a:xfrm>
            <a:off x="685800" y="304800"/>
            <a:ext cx="7772400" cy="1143000"/>
          </a:xfrm>
        </p:spPr>
        <p:txBody>
          <a:bodyPr vert="horz" wrap="square" lIns="91440" tIns="45720" rIns="91440" bIns="45720" anchor="ctr" anchorCtr="0"/>
          <a:p>
            <a:pPr algn="l" eaLnBrk="1" hangingPunct="1"/>
            <a:r>
              <a:rPr lang="zh-CN" altLang="en-US" sz="3200" dirty="0">
                <a:solidFill>
                  <a:srgbClr val="0000FF"/>
                </a:solidFill>
                <a:ea typeface="楷体_GB2312" pitchFamily="49" charset="-122"/>
              </a:rPr>
              <a:t>真值与3种机器数间的对照</a:t>
            </a:r>
            <a:endParaRPr lang="zh-CN" altLang="en-US" sz="3200" dirty="0">
              <a:solidFill>
                <a:srgbClr val="0000FF"/>
              </a:solidFill>
              <a:ea typeface="楷体_GB2312" pitchFamily="49" charset="-122"/>
            </a:endParaRPr>
          </a:p>
        </p:txBody>
      </p:sp>
      <p:graphicFrame>
        <p:nvGraphicFramePr>
          <p:cNvPr id="1026" name="Object 4"/>
          <p:cNvGraphicFramePr>
            <a:graphicFrameLocks noChangeAspect="1"/>
          </p:cNvGraphicFramePr>
          <p:nvPr/>
        </p:nvGraphicFramePr>
        <p:xfrm>
          <a:off x="76200" y="1409700"/>
          <a:ext cx="8648700" cy="4686300"/>
        </p:xfrm>
        <a:graphic>
          <a:graphicData uri="http://schemas.openxmlformats.org/presentationml/2006/ole">
            <mc:AlternateContent xmlns:mc="http://schemas.openxmlformats.org/markup-compatibility/2006">
              <mc:Choice xmlns:v="urn:schemas-microsoft-com:vml" Requires="v">
                <p:oleObj spid="_x0000_s3076" name="" r:id="rId1" imgW="8651240" imgH="4688840" progId="Word.Document.8">
                  <p:embed/>
                </p:oleObj>
              </mc:Choice>
              <mc:Fallback>
                <p:oleObj name="" r:id="rId1" imgW="8651240" imgH="4688840" progId="Word.Document.8">
                  <p:embed/>
                  <p:pic>
                    <p:nvPicPr>
                      <p:cNvPr id="0" name="图片 3075"/>
                      <p:cNvPicPr/>
                      <p:nvPr/>
                    </p:nvPicPr>
                    <p:blipFill>
                      <a:blip r:embed="rId2"/>
                      <a:stretch>
                        <a:fillRect/>
                      </a:stretch>
                    </p:blipFill>
                    <p:spPr>
                      <a:xfrm>
                        <a:off x="76200" y="1409700"/>
                        <a:ext cx="8648700" cy="4686300"/>
                      </a:xfrm>
                      <a:prstGeom prst="rect">
                        <a:avLst/>
                      </a:prstGeom>
                      <a:noFill/>
                      <a:ln w="38100">
                        <a:noFill/>
                        <a:miter/>
                      </a:ln>
                    </p:spPr>
                  </p:pic>
                </p:oleObj>
              </mc:Fallback>
            </mc:AlternateContent>
          </a:graphicData>
        </a:graphic>
      </p:graphicFrame>
      <p:sp>
        <p:nvSpPr>
          <p:cNvPr id="331781" name="Line 5"/>
          <p:cNvSpPr/>
          <p:nvPr/>
        </p:nvSpPr>
        <p:spPr>
          <a:xfrm flipV="1">
            <a:off x="8763000" y="1447800"/>
            <a:ext cx="0" cy="4267200"/>
          </a:xfrm>
          <a:prstGeom prst="line">
            <a:avLst/>
          </a:prstGeom>
          <a:ln w="6350" cap="sq" cmpd="sng">
            <a:solidFill>
              <a:schemeClr val="tx1"/>
            </a:solidFill>
            <a:prstDash val="solid"/>
            <a:miter/>
            <a:headEnd type="none" w="sm" len="sm"/>
            <a:tailEnd type="none" w="sm" len="sm"/>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arn(outVertical)">
                                      <p:cBhvr>
                                        <p:cTn id="7" dur="500"/>
                                        <p:tgtEl>
                                          <p:spTgt spid="1026"/>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3317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47106" name="Rectangle 2"/>
          <p:cNvSpPr>
            <a:spLocks noGrp="1"/>
          </p:cNvSpPr>
          <p:nvPr>
            <p:ph type="title" idx="4294967295"/>
          </p:nvPr>
        </p:nvSpPr>
        <p:spPr>
          <a:xfrm>
            <a:off x="609600" y="3048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2.转换</a:t>
            </a:r>
            <a:endParaRPr lang="zh-CN" altLang="en-US" sz="3200" dirty="0">
              <a:solidFill>
                <a:schemeClr val="accent2"/>
              </a:solidFill>
              <a:ea typeface="楷体_GB2312" pitchFamily="49" charset="-122"/>
            </a:endParaRPr>
          </a:p>
        </p:txBody>
      </p:sp>
      <p:sp>
        <p:nvSpPr>
          <p:cNvPr id="47107" name="Rectangle 3"/>
          <p:cNvSpPr>
            <a:spLocks noGrp="1"/>
          </p:cNvSpPr>
          <p:nvPr>
            <p:ph type="body" idx="4294967295"/>
          </p:nvPr>
        </p:nvSpPr>
        <p:spPr>
          <a:xfrm>
            <a:off x="533400" y="1143000"/>
            <a:ext cx="8001000" cy="5334000"/>
          </a:xfrm>
        </p:spPr>
        <p:txBody>
          <a:bodyPr vert="horz" wrap="square" lIns="91440" tIns="45720" rIns="91440" bIns="45720" anchor="t" anchorCtr="0"/>
          <a:p>
            <a:pPr eaLnBrk="1" hangingPunct="1">
              <a:buNone/>
            </a:pPr>
            <a:r>
              <a:rPr lang="zh-CN" altLang="en-US" sz="2800" b="1" dirty="0">
                <a:ea typeface="楷体_GB2312" pitchFamily="49" charset="-122"/>
              </a:rPr>
              <a:t>            如果已知机器的字长，则机器数的位数应补够相应的位。例如，设机器字长为8位，则：</a:t>
            </a:r>
            <a:endParaRPr lang="zh-CN" altLang="en-US" sz="2800" b="1" dirty="0">
              <a:ea typeface="楷体_GB2312" pitchFamily="49" charset="-122"/>
            </a:endParaRPr>
          </a:p>
          <a:p>
            <a:pPr eaLnBrk="1" hangingPunct="1">
              <a:lnSpc>
                <a:spcPct val="80000"/>
              </a:lnSpc>
              <a:spcBef>
                <a:spcPct val="50000"/>
              </a:spcBef>
              <a:buNone/>
            </a:pPr>
            <a:r>
              <a:rPr lang="zh-CN" altLang="en-US" sz="2800" b="1" dirty="0">
                <a:ea typeface="楷体_GB2312" pitchFamily="49" charset="-122"/>
              </a:rPr>
              <a:t>        </a:t>
            </a:r>
            <a:r>
              <a:rPr lang="en-US" altLang="zh-CN" sz="2800" b="1" dirty="0">
                <a:ea typeface="楷体_GB2312" pitchFamily="49" charset="-122"/>
              </a:rPr>
              <a:t>X</a:t>
            </a:r>
            <a:r>
              <a:rPr lang="en-US" altLang="zh-CN" sz="2800" b="1" baseline="-25000" dirty="0">
                <a:ea typeface="楷体_GB2312" pitchFamily="49" charset="-122"/>
              </a:rPr>
              <a:t>1</a:t>
            </a:r>
            <a:r>
              <a:rPr lang="en-US" altLang="zh-CN" sz="2800" b="1" dirty="0">
                <a:ea typeface="楷体_GB2312" pitchFamily="49" charset="-122"/>
              </a:rPr>
              <a:t>=1011                   X</a:t>
            </a:r>
            <a:r>
              <a:rPr lang="en-US" altLang="zh-CN" sz="2800" b="1" baseline="-25000" dirty="0">
                <a:ea typeface="楷体_GB2312" pitchFamily="49" charset="-122"/>
              </a:rPr>
              <a:t>2</a:t>
            </a:r>
            <a:r>
              <a:rPr lang="en-US" altLang="zh-CN" sz="2800" b="1" dirty="0">
                <a:ea typeface="楷体_GB2312" pitchFamily="49" charset="-122"/>
              </a:rPr>
              <a:t>=</a:t>
            </a:r>
            <a:r>
              <a:rPr lang="en-US" altLang="zh-CN" sz="2800" b="1" dirty="0">
                <a:solidFill>
                  <a:srgbClr val="FF3300"/>
                </a:solidFill>
                <a:ea typeface="楷体_GB2312" pitchFamily="49" charset="-122"/>
              </a:rPr>
              <a:t>-</a:t>
            </a:r>
            <a:r>
              <a:rPr lang="en-US" altLang="zh-CN" sz="2800" b="1" dirty="0">
                <a:ea typeface="楷体_GB2312" pitchFamily="49" charset="-122"/>
              </a:rPr>
              <a:t>1011 </a:t>
            </a:r>
            <a:endParaRPr lang="en-US" altLang="zh-CN" sz="2800" b="1" dirty="0">
              <a:ea typeface="楷体_GB2312" pitchFamily="49" charset="-122"/>
            </a:endParaRPr>
          </a:p>
          <a:p>
            <a:pPr eaLnBrk="1" hangingPunct="1">
              <a:lnSpc>
                <a:spcPct val="60000"/>
              </a:lnSpc>
              <a:spcBef>
                <a:spcPct val="50000"/>
              </a:spcBef>
              <a:buNone/>
            </a:pPr>
            <a:r>
              <a:rPr lang="en-US" altLang="zh-CN" sz="2800" b="1" dirty="0">
                <a:ea typeface="楷体_GB2312" pitchFamily="49" charset="-122"/>
              </a:rPr>
              <a:t>       [X</a:t>
            </a:r>
            <a:r>
              <a:rPr lang="en-US" altLang="zh-CN" sz="2800" b="1" baseline="-25000" dirty="0">
                <a:ea typeface="楷体_GB2312" pitchFamily="49" charset="-122"/>
              </a:rPr>
              <a:t>1</a:t>
            </a:r>
            <a:r>
              <a:rPr lang="en-US" altLang="zh-CN" sz="2800" b="1" dirty="0">
                <a:ea typeface="楷体_GB2312" pitchFamily="49" charset="-122"/>
              </a:rPr>
              <a:t>]</a:t>
            </a:r>
            <a:r>
              <a:rPr lang="zh-CN" altLang="en-US" sz="2800" b="1" baseline="-25000" dirty="0">
                <a:ea typeface="楷体_GB2312" pitchFamily="49" charset="-122"/>
              </a:rPr>
              <a:t>原</a:t>
            </a:r>
            <a:r>
              <a:rPr lang="zh-CN" altLang="en-US" sz="2800" b="1" dirty="0">
                <a:ea typeface="楷体_GB2312" pitchFamily="49" charset="-122"/>
              </a:rPr>
              <a:t>=</a:t>
            </a:r>
            <a:r>
              <a:rPr lang="zh-CN" altLang="en-US" sz="2800" b="1" dirty="0">
                <a:solidFill>
                  <a:srgbClr val="FF3300"/>
                </a:solidFill>
                <a:ea typeface="楷体_GB2312" pitchFamily="49" charset="-122"/>
              </a:rPr>
              <a:t>0</a:t>
            </a:r>
            <a:r>
              <a:rPr lang="zh-CN" altLang="en-US" sz="2800" b="1" dirty="0">
                <a:ea typeface="楷体_GB2312" pitchFamily="49" charset="-122"/>
              </a:rPr>
              <a:t>0001011      [</a:t>
            </a:r>
            <a:r>
              <a:rPr lang="en-US" altLang="zh-CN" sz="2800" b="1" dirty="0">
                <a:ea typeface="楷体_GB2312" pitchFamily="49" charset="-122"/>
              </a:rPr>
              <a:t>X</a:t>
            </a:r>
            <a:r>
              <a:rPr lang="en-US" altLang="zh-CN" sz="2800" b="1" baseline="-25000" dirty="0">
                <a:ea typeface="楷体_GB2312" pitchFamily="49" charset="-122"/>
              </a:rPr>
              <a:t>2</a:t>
            </a:r>
            <a:r>
              <a:rPr lang="en-US" altLang="zh-CN" sz="2800" b="1" dirty="0">
                <a:ea typeface="楷体_GB2312" pitchFamily="49" charset="-122"/>
              </a:rPr>
              <a:t>]</a:t>
            </a:r>
            <a:r>
              <a:rPr lang="zh-CN" altLang="en-US" sz="2800" b="1" baseline="-25000" dirty="0">
                <a:ea typeface="楷体_GB2312" pitchFamily="49" charset="-122"/>
              </a:rPr>
              <a:t>原</a:t>
            </a:r>
            <a:r>
              <a:rPr lang="zh-CN" altLang="en-US" sz="2800" b="1" dirty="0">
                <a:ea typeface="楷体_GB2312" pitchFamily="49" charset="-122"/>
              </a:rPr>
              <a:t>=</a:t>
            </a:r>
            <a:r>
              <a:rPr lang="zh-CN" altLang="en-US" sz="2800" b="1" dirty="0">
                <a:solidFill>
                  <a:srgbClr val="FF3300"/>
                </a:solidFill>
                <a:ea typeface="楷体_GB2312" pitchFamily="49" charset="-122"/>
              </a:rPr>
              <a:t>1</a:t>
            </a:r>
            <a:r>
              <a:rPr lang="zh-CN" altLang="en-US" sz="2800" b="1" dirty="0">
                <a:ea typeface="楷体_GB2312" pitchFamily="49" charset="-122"/>
              </a:rPr>
              <a:t>0001011 </a:t>
            </a:r>
            <a:endParaRPr lang="zh-CN" altLang="en-US" sz="2800" b="1" dirty="0">
              <a:ea typeface="楷体_GB2312" pitchFamily="49" charset="-122"/>
            </a:endParaRPr>
          </a:p>
          <a:p>
            <a:pPr lvl="1" eaLnBrk="1" hangingPunct="1">
              <a:lnSpc>
                <a:spcPct val="70000"/>
              </a:lnSpc>
              <a:spcBef>
                <a:spcPct val="50000"/>
              </a:spcBef>
              <a:buNone/>
            </a:pPr>
            <a:r>
              <a:rPr lang="zh-CN" altLang="en-US" b="1" dirty="0">
                <a:ea typeface="楷体_GB2312" pitchFamily="49" charset="-122"/>
              </a:rPr>
              <a:t>  [</a:t>
            </a:r>
            <a:r>
              <a:rPr lang="en-US" altLang="zh-CN" b="1" dirty="0">
                <a:ea typeface="楷体_GB2312" pitchFamily="49" charset="-122"/>
              </a:rPr>
              <a:t>X</a:t>
            </a:r>
            <a:r>
              <a:rPr lang="en-US" altLang="zh-CN" b="1" baseline="-25000" dirty="0">
                <a:ea typeface="楷体_GB2312" pitchFamily="49" charset="-122"/>
              </a:rPr>
              <a:t>1</a:t>
            </a:r>
            <a:r>
              <a:rPr lang="en-US" altLang="zh-CN" b="1" dirty="0">
                <a:ea typeface="楷体_GB2312" pitchFamily="49" charset="-122"/>
              </a:rPr>
              <a:t>]</a:t>
            </a:r>
            <a:r>
              <a:rPr lang="zh-CN" altLang="en-US" b="1" baseline="-25000" dirty="0">
                <a:ea typeface="楷体_GB2312" pitchFamily="49" charset="-122"/>
              </a:rPr>
              <a:t>补</a:t>
            </a:r>
            <a:r>
              <a:rPr lang="zh-CN" altLang="en-US" b="1" dirty="0">
                <a:ea typeface="楷体_GB2312" pitchFamily="49" charset="-122"/>
              </a:rPr>
              <a:t>=</a:t>
            </a:r>
            <a:r>
              <a:rPr lang="zh-CN" altLang="en-US" b="1" dirty="0">
                <a:solidFill>
                  <a:srgbClr val="FF3300"/>
                </a:solidFill>
                <a:ea typeface="楷体_GB2312" pitchFamily="49" charset="-122"/>
              </a:rPr>
              <a:t>0</a:t>
            </a:r>
            <a:r>
              <a:rPr lang="zh-CN" altLang="en-US" b="1" dirty="0">
                <a:ea typeface="楷体_GB2312" pitchFamily="49" charset="-122"/>
              </a:rPr>
              <a:t>0001011      [</a:t>
            </a:r>
            <a:r>
              <a:rPr lang="en-US" altLang="zh-CN" b="1" dirty="0">
                <a:ea typeface="楷体_GB2312" pitchFamily="49" charset="-122"/>
              </a:rPr>
              <a:t>X</a:t>
            </a:r>
            <a:r>
              <a:rPr lang="en-US" altLang="zh-CN" b="1" baseline="-25000" dirty="0">
                <a:ea typeface="楷体_GB2312" pitchFamily="49" charset="-122"/>
              </a:rPr>
              <a:t>2</a:t>
            </a:r>
            <a:r>
              <a:rPr lang="en-US" altLang="zh-CN" b="1" dirty="0">
                <a:ea typeface="楷体_GB2312" pitchFamily="49" charset="-122"/>
              </a:rPr>
              <a:t>]</a:t>
            </a:r>
            <a:r>
              <a:rPr lang="zh-CN" altLang="en-US" b="1" baseline="-25000" dirty="0">
                <a:ea typeface="楷体_GB2312" pitchFamily="49" charset="-122"/>
              </a:rPr>
              <a:t>补</a:t>
            </a:r>
            <a:r>
              <a:rPr lang="zh-CN" altLang="en-US" b="1" dirty="0">
                <a:ea typeface="楷体_GB2312" pitchFamily="49" charset="-122"/>
              </a:rPr>
              <a:t>=</a:t>
            </a:r>
            <a:r>
              <a:rPr lang="zh-CN" altLang="en-US" b="1" dirty="0">
                <a:solidFill>
                  <a:srgbClr val="FF3300"/>
                </a:solidFill>
                <a:ea typeface="楷体_GB2312" pitchFamily="49" charset="-122"/>
              </a:rPr>
              <a:t>1</a:t>
            </a:r>
            <a:r>
              <a:rPr lang="zh-CN" altLang="en-US" b="1" dirty="0">
                <a:ea typeface="楷体_GB2312" pitchFamily="49" charset="-122"/>
              </a:rPr>
              <a:t>1110101 </a:t>
            </a:r>
            <a:endParaRPr lang="zh-CN" altLang="en-US" b="1" dirty="0">
              <a:ea typeface="楷体_GB2312" pitchFamily="49" charset="-122"/>
            </a:endParaRPr>
          </a:p>
          <a:p>
            <a:pPr lvl="1" eaLnBrk="1" hangingPunct="1">
              <a:lnSpc>
                <a:spcPct val="70000"/>
              </a:lnSpc>
              <a:spcBef>
                <a:spcPct val="50000"/>
              </a:spcBef>
              <a:buNone/>
            </a:pPr>
            <a:r>
              <a:rPr lang="zh-CN" altLang="en-US" b="1" dirty="0">
                <a:ea typeface="楷体_GB2312" pitchFamily="49" charset="-122"/>
              </a:rPr>
              <a:t>  [</a:t>
            </a:r>
            <a:r>
              <a:rPr lang="en-US" altLang="zh-CN" b="1" dirty="0">
                <a:ea typeface="楷体_GB2312" pitchFamily="49" charset="-122"/>
              </a:rPr>
              <a:t>X</a:t>
            </a:r>
            <a:r>
              <a:rPr lang="en-US" altLang="zh-CN" b="1" baseline="-25000" dirty="0">
                <a:ea typeface="楷体_GB2312" pitchFamily="49" charset="-122"/>
              </a:rPr>
              <a:t>1</a:t>
            </a:r>
            <a:r>
              <a:rPr lang="en-US" altLang="zh-CN" b="1" dirty="0">
                <a:ea typeface="楷体_GB2312" pitchFamily="49" charset="-122"/>
              </a:rPr>
              <a:t>]</a:t>
            </a:r>
            <a:r>
              <a:rPr lang="zh-CN" altLang="en-US" b="1" baseline="-25000" dirty="0">
                <a:ea typeface="楷体_GB2312" pitchFamily="49" charset="-122"/>
              </a:rPr>
              <a:t>反</a:t>
            </a:r>
            <a:r>
              <a:rPr lang="zh-CN" altLang="en-US" b="1" dirty="0">
                <a:ea typeface="楷体_GB2312" pitchFamily="49" charset="-122"/>
              </a:rPr>
              <a:t>=</a:t>
            </a:r>
            <a:r>
              <a:rPr lang="zh-CN" altLang="en-US" b="1" dirty="0">
                <a:solidFill>
                  <a:srgbClr val="FF3300"/>
                </a:solidFill>
                <a:ea typeface="楷体_GB2312" pitchFamily="49" charset="-122"/>
              </a:rPr>
              <a:t>0</a:t>
            </a:r>
            <a:r>
              <a:rPr lang="zh-CN" altLang="en-US" b="1" dirty="0">
                <a:ea typeface="楷体_GB2312" pitchFamily="49" charset="-122"/>
              </a:rPr>
              <a:t>0001011      [</a:t>
            </a:r>
            <a:r>
              <a:rPr lang="en-US" altLang="zh-CN" b="1" dirty="0">
                <a:ea typeface="楷体_GB2312" pitchFamily="49" charset="-122"/>
              </a:rPr>
              <a:t>X</a:t>
            </a:r>
            <a:r>
              <a:rPr lang="en-US" altLang="zh-CN" b="1" baseline="-25000" dirty="0">
                <a:ea typeface="楷体_GB2312" pitchFamily="49" charset="-122"/>
              </a:rPr>
              <a:t>2</a:t>
            </a:r>
            <a:r>
              <a:rPr lang="en-US" altLang="zh-CN" b="1" dirty="0">
                <a:ea typeface="楷体_GB2312" pitchFamily="49" charset="-122"/>
              </a:rPr>
              <a:t>]</a:t>
            </a:r>
            <a:r>
              <a:rPr lang="zh-CN" altLang="en-US" b="1" baseline="-25000" dirty="0">
                <a:ea typeface="楷体_GB2312" pitchFamily="49" charset="-122"/>
              </a:rPr>
              <a:t>反</a:t>
            </a:r>
            <a:r>
              <a:rPr lang="zh-CN" altLang="en-US" b="1" dirty="0">
                <a:ea typeface="楷体_GB2312" pitchFamily="49" charset="-122"/>
              </a:rPr>
              <a:t>=</a:t>
            </a:r>
            <a:r>
              <a:rPr lang="zh-CN" altLang="en-US" b="1" dirty="0">
                <a:solidFill>
                  <a:srgbClr val="FF3300"/>
                </a:solidFill>
                <a:ea typeface="楷体_GB2312" pitchFamily="49" charset="-122"/>
              </a:rPr>
              <a:t>1</a:t>
            </a:r>
            <a:r>
              <a:rPr lang="zh-CN" altLang="en-US" b="1" dirty="0">
                <a:ea typeface="楷体_GB2312" pitchFamily="49" charset="-122"/>
              </a:rPr>
              <a:t>1110100</a:t>
            </a:r>
            <a:endParaRPr lang="zh-CN" altLang="en-US" b="1" dirty="0">
              <a:ea typeface="楷体_GB2312" pitchFamily="49" charset="-122"/>
            </a:endParaRPr>
          </a:p>
          <a:p>
            <a:pPr eaLnBrk="1" hangingPunct="1">
              <a:spcBef>
                <a:spcPct val="50000"/>
              </a:spcBef>
              <a:buNone/>
            </a:pPr>
            <a:r>
              <a:rPr lang="zh-CN" altLang="en-US" sz="2800" b="1" dirty="0">
                <a:ea typeface="楷体_GB2312" pitchFamily="49" charset="-122"/>
              </a:rPr>
              <a:t>       </a:t>
            </a:r>
            <a:r>
              <a:rPr lang="en-US" altLang="zh-CN" sz="2800" b="1" dirty="0">
                <a:ea typeface="楷体_GB2312" pitchFamily="49" charset="-122"/>
              </a:rPr>
              <a:t>X</a:t>
            </a:r>
            <a:r>
              <a:rPr lang="en-US" altLang="zh-CN" sz="2800" b="1" baseline="-25000" dirty="0">
                <a:ea typeface="楷体_GB2312" pitchFamily="49" charset="-122"/>
              </a:rPr>
              <a:t>3</a:t>
            </a:r>
            <a:r>
              <a:rPr lang="en-US" altLang="zh-CN" sz="2800" b="1" dirty="0">
                <a:ea typeface="楷体_GB2312" pitchFamily="49" charset="-122"/>
              </a:rPr>
              <a:t>=0.1011                 X</a:t>
            </a:r>
            <a:r>
              <a:rPr lang="en-US" altLang="zh-CN" sz="2800" b="1" baseline="-25000" dirty="0">
                <a:ea typeface="楷体_GB2312" pitchFamily="49" charset="-122"/>
              </a:rPr>
              <a:t>4</a:t>
            </a:r>
            <a:r>
              <a:rPr lang="en-US" altLang="zh-CN" sz="2800" b="1" dirty="0">
                <a:ea typeface="楷体_GB2312" pitchFamily="49" charset="-122"/>
              </a:rPr>
              <a:t>=</a:t>
            </a:r>
            <a:r>
              <a:rPr lang="en-US" altLang="zh-CN" sz="2800" b="1" dirty="0">
                <a:solidFill>
                  <a:srgbClr val="FF3300"/>
                </a:solidFill>
                <a:ea typeface="楷体_GB2312" pitchFamily="49" charset="-122"/>
              </a:rPr>
              <a:t>-</a:t>
            </a:r>
            <a:r>
              <a:rPr lang="en-US" altLang="zh-CN" sz="2800" b="1" dirty="0">
                <a:ea typeface="楷体_GB2312" pitchFamily="49" charset="-122"/>
              </a:rPr>
              <a:t>0.1011 </a:t>
            </a:r>
            <a:endParaRPr lang="en-US" altLang="zh-CN" sz="2800" b="1" dirty="0">
              <a:ea typeface="楷体_GB2312" pitchFamily="49" charset="-122"/>
            </a:endParaRPr>
          </a:p>
          <a:p>
            <a:pPr eaLnBrk="1" hangingPunct="1">
              <a:lnSpc>
                <a:spcPct val="50000"/>
              </a:lnSpc>
              <a:spcBef>
                <a:spcPct val="50000"/>
              </a:spcBef>
              <a:buNone/>
            </a:pPr>
            <a:r>
              <a:rPr lang="en-US" altLang="zh-CN" sz="2800" b="1" dirty="0">
                <a:ea typeface="楷体_GB2312" pitchFamily="49" charset="-122"/>
              </a:rPr>
              <a:t>       [X</a:t>
            </a:r>
            <a:r>
              <a:rPr lang="en-US" altLang="zh-CN" sz="2800" b="1" baseline="-25000" dirty="0">
                <a:ea typeface="楷体_GB2312" pitchFamily="49" charset="-122"/>
              </a:rPr>
              <a:t>3</a:t>
            </a:r>
            <a:r>
              <a:rPr lang="en-US" altLang="zh-CN" sz="2800" b="1" dirty="0">
                <a:ea typeface="楷体_GB2312" pitchFamily="49" charset="-122"/>
              </a:rPr>
              <a:t>]</a:t>
            </a:r>
            <a:r>
              <a:rPr lang="zh-CN" altLang="en-US" sz="2800" b="1" baseline="-25000" dirty="0">
                <a:ea typeface="楷体_GB2312" pitchFamily="49" charset="-122"/>
              </a:rPr>
              <a:t>原</a:t>
            </a:r>
            <a:r>
              <a:rPr lang="zh-CN" altLang="en-US" sz="2800" b="1" dirty="0">
                <a:ea typeface="楷体_GB2312" pitchFamily="49" charset="-122"/>
              </a:rPr>
              <a:t>=</a:t>
            </a:r>
            <a:r>
              <a:rPr lang="zh-CN" altLang="en-US" sz="2800" b="1" dirty="0">
                <a:solidFill>
                  <a:srgbClr val="FF3300"/>
                </a:solidFill>
                <a:ea typeface="楷体_GB2312" pitchFamily="49" charset="-122"/>
              </a:rPr>
              <a:t>0</a:t>
            </a:r>
            <a:r>
              <a:rPr lang="zh-CN" altLang="en-US" sz="2800" b="1" dirty="0">
                <a:ea typeface="楷体_GB2312" pitchFamily="49" charset="-122"/>
              </a:rPr>
              <a:t>.1011000     [</a:t>
            </a:r>
            <a:r>
              <a:rPr lang="en-US" altLang="zh-CN" sz="2800" b="1" dirty="0">
                <a:ea typeface="楷体_GB2312" pitchFamily="49" charset="-122"/>
              </a:rPr>
              <a:t>X</a:t>
            </a:r>
            <a:r>
              <a:rPr lang="en-US" altLang="zh-CN" sz="2800" b="1" baseline="-25000" dirty="0">
                <a:ea typeface="楷体_GB2312" pitchFamily="49" charset="-122"/>
              </a:rPr>
              <a:t>4</a:t>
            </a:r>
            <a:r>
              <a:rPr lang="en-US" altLang="zh-CN" sz="2800" b="1" dirty="0">
                <a:ea typeface="楷体_GB2312" pitchFamily="49" charset="-122"/>
              </a:rPr>
              <a:t>]</a:t>
            </a:r>
            <a:r>
              <a:rPr lang="zh-CN" altLang="en-US" sz="2800" b="1" baseline="-25000" dirty="0">
                <a:ea typeface="楷体_GB2312" pitchFamily="49" charset="-122"/>
              </a:rPr>
              <a:t>原</a:t>
            </a:r>
            <a:r>
              <a:rPr lang="zh-CN" altLang="en-US" sz="2800" b="1" dirty="0">
                <a:ea typeface="楷体_GB2312" pitchFamily="49" charset="-122"/>
              </a:rPr>
              <a:t>=</a:t>
            </a:r>
            <a:r>
              <a:rPr lang="zh-CN" altLang="en-US" sz="2800" b="1" dirty="0">
                <a:solidFill>
                  <a:srgbClr val="FF3300"/>
                </a:solidFill>
                <a:ea typeface="楷体_GB2312" pitchFamily="49" charset="-122"/>
              </a:rPr>
              <a:t>1</a:t>
            </a:r>
            <a:r>
              <a:rPr lang="zh-CN" altLang="en-US" sz="2800" b="1" dirty="0">
                <a:ea typeface="楷体_GB2312" pitchFamily="49" charset="-122"/>
              </a:rPr>
              <a:t>.1011000 </a:t>
            </a:r>
            <a:endParaRPr lang="zh-CN" altLang="en-US" sz="2800" b="1" dirty="0">
              <a:ea typeface="楷体_GB2312" pitchFamily="49" charset="-122"/>
            </a:endParaRPr>
          </a:p>
          <a:p>
            <a:pPr lvl="1" eaLnBrk="1" hangingPunct="1">
              <a:lnSpc>
                <a:spcPct val="80000"/>
              </a:lnSpc>
              <a:spcBef>
                <a:spcPct val="50000"/>
              </a:spcBef>
              <a:buNone/>
            </a:pPr>
            <a:r>
              <a:rPr lang="zh-CN" altLang="en-US" b="1" dirty="0">
                <a:ea typeface="楷体_GB2312" pitchFamily="49" charset="-122"/>
              </a:rPr>
              <a:t>  [</a:t>
            </a:r>
            <a:r>
              <a:rPr lang="en-US" altLang="zh-CN" b="1" dirty="0">
                <a:ea typeface="楷体_GB2312" pitchFamily="49" charset="-122"/>
              </a:rPr>
              <a:t>X</a:t>
            </a:r>
            <a:r>
              <a:rPr lang="en-US" altLang="zh-CN" b="1" baseline="-25000" dirty="0">
                <a:ea typeface="楷体_GB2312" pitchFamily="49" charset="-122"/>
              </a:rPr>
              <a:t>3</a:t>
            </a:r>
            <a:r>
              <a:rPr lang="en-US" altLang="zh-CN" b="1" dirty="0">
                <a:ea typeface="楷体_GB2312" pitchFamily="49" charset="-122"/>
              </a:rPr>
              <a:t>]</a:t>
            </a:r>
            <a:r>
              <a:rPr lang="zh-CN" altLang="en-US" b="1" baseline="-25000" dirty="0">
                <a:ea typeface="楷体_GB2312" pitchFamily="49" charset="-122"/>
              </a:rPr>
              <a:t>补</a:t>
            </a:r>
            <a:r>
              <a:rPr lang="zh-CN" altLang="en-US" b="1" dirty="0">
                <a:ea typeface="楷体_GB2312" pitchFamily="49" charset="-122"/>
              </a:rPr>
              <a:t>=</a:t>
            </a:r>
            <a:r>
              <a:rPr lang="zh-CN" altLang="en-US" b="1" dirty="0">
                <a:solidFill>
                  <a:srgbClr val="FF3300"/>
                </a:solidFill>
                <a:ea typeface="楷体_GB2312" pitchFamily="49" charset="-122"/>
              </a:rPr>
              <a:t>0</a:t>
            </a:r>
            <a:r>
              <a:rPr lang="zh-CN" altLang="en-US" b="1" dirty="0">
                <a:ea typeface="楷体_GB2312" pitchFamily="49" charset="-122"/>
              </a:rPr>
              <a:t>.1011000     [</a:t>
            </a:r>
            <a:r>
              <a:rPr lang="en-US" altLang="zh-CN" b="1" dirty="0">
                <a:ea typeface="楷体_GB2312" pitchFamily="49" charset="-122"/>
              </a:rPr>
              <a:t>X</a:t>
            </a:r>
            <a:r>
              <a:rPr lang="en-US" altLang="zh-CN" b="1" baseline="-25000" dirty="0">
                <a:ea typeface="楷体_GB2312" pitchFamily="49" charset="-122"/>
              </a:rPr>
              <a:t>4</a:t>
            </a:r>
            <a:r>
              <a:rPr lang="en-US" altLang="zh-CN" b="1" dirty="0">
                <a:ea typeface="楷体_GB2312" pitchFamily="49" charset="-122"/>
              </a:rPr>
              <a:t>]</a:t>
            </a:r>
            <a:r>
              <a:rPr lang="zh-CN" altLang="en-US" b="1" baseline="-25000" dirty="0">
                <a:ea typeface="楷体_GB2312" pitchFamily="49" charset="-122"/>
              </a:rPr>
              <a:t>补</a:t>
            </a:r>
            <a:r>
              <a:rPr lang="zh-CN" altLang="en-US" b="1" dirty="0">
                <a:ea typeface="楷体_GB2312" pitchFamily="49" charset="-122"/>
              </a:rPr>
              <a:t>=</a:t>
            </a:r>
            <a:r>
              <a:rPr lang="zh-CN" altLang="en-US" b="1" dirty="0">
                <a:solidFill>
                  <a:srgbClr val="FF3300"/>
                </a:solidFill>
                <a:ea typeface="楷体_GB2312" pitchFamily="49" charset="-122"/>
              </a:rPr>
              <a:t>1</a:t>
            </a:r>
            <a:r>
              <a:rPr lang="zh-CN" altLang="en-US" b="1" dirty="0">
                <a:ea typeface="楷体_GB2312" pitchFamily="49" charset="-122"/>
              </a:rPr>
              <a:t>.0101000 </a:t>
            </a:r>
            <a:endParaRPr lang="zh-CN" altLang="en-US" b="1" dirty="0">
              <a:ea typeface="楷体_GB2312" pitchFamily="49" charset="-122"/>
            </a:endParaRPr>
          </a:p>
          <a:p>
            <a:pPr lvl="1" eaLnBrk="1" hangingPunct="1">
              <a:lnSpc>
                <a:spcPct val="80000"/>
              </a:lnSpc>
              <a:spcBef>
                <a:spcPct val="50000"/>
              </a:spcBef>
              <a:buNone/>
            </a:pPr>
            <a:r>
              <a:rPr lang="zh-CN" altLang="en-US" b="1" dirty="0">
                <a:ea typeface="楷体_GB2312" pitchFamily="49" charset="-122"/>
              </a:rPr>
              <a:t>  [</a:t>
            </a:r>
            <a:r>
              <a:rPr lang="en-US" altLang="zh-CN" b="1" dirty="0">
                <a:ea typeface="楷体_GB2312" pitchFamily="49" charset="-122"/>
              </a:rPr>
              <a:t>X</a:t>
            </a:r>
            <a:r>
              <a:rPr lang="en-US" altLang="zh-CN" b="1" baseline="-25000" dirty="0">
                <a:ea typeface="楷体_GB2312" pitchFamily="49" charset="-122"/>
              </a:rPr>
              <a:t>3</a:t>
            </a:r>
            <a:r>
              <a:rPr lang="en-US" altLang="zh-CN" b="1" dirty="0">
                <a:ea typeface="楷体_GB2312" pitchFamily="49" charset="-122"/>
              </a:rPr>
              <a:t>]</a:t>
            </a:r>
            <a:r>
              <a:rPr lang="zh-CN" altLang="en-US" b="1" baseline="-25000" dirty="0">
                <a:ea typeface="楷体_GB2312" pitchFamily="49" charset="-122"/>
              </a:rPr>
              <a:t>反</a:t>
            </a:r>
            <a:r>
              <a:rPr lang="zh-CN" altLang="en-US" b="1" dirty="0">
                <a:ea typeface="楷体_GB2312" pitchFamily="49" charset="-122"/>
              </a:rPr>
              <a:t>=</a:t>
            </a:r>
            <a:r>
              <a:rPr lang="zh-CN" altLang="en-US" b="1" dirty="0">
                <a:solidFill>
                  <a:srgbClr val="FF3300"/>
                </a:solidFill>
                <a:ea typeface="楷体_GB2312" pitchFamily="49" charset="-122"/>
              </a:rPr>
              <a:t>0</a:t>
            </a:r>
            <a:r>
              <a:rPr lang="zh-CN" altLang="en-US" b="1" dirty="0">
                <a:ea typeface="楷体_GB2312" pitchFamily="49" charset="-122"/>
              </a:rPr>
              <a:t>.1011000     [</a:t>
            </a:r>
            <a:r>
              <a:rPr lang="en-US" altLang="zh-CN" b="1" dirty="0">
                <a:ea typeface="楷体_GB2312" pitchFamily="49" charset="-122"/>
              </a:rPr>
              <a:t>X</a:t>
            </a:r>
            <a:r>
              <a:rPr lang="en-US" altLang="zh-CN" b="1" baseline="-25000" dirty="0">
                <a:ea typeface="楷体_GB2312" pitchFamily="49" charset="-122"/>
              </a:rPr>
              <a:t>4</a:t>
            </a:r>
            <a:r>
              <a:rPr lang="en-US" altLang="zh-CN" b="1" dirty="0">
                <a:ea typeface="楷体_GB2312" pitchFamily="49" charset="-122"/>
              </a:rPr>
              <a:t>]</a:t>
            </a:r>
            <a:r>
              <a:rPr lang="zh-CN" altLang="en-US" b="1" baseline="-25000" dirty="0">
                <a:ea typeface="楷体_GB2312" pitchFamily="49" charset="-122"/>
              </a:rPr>
              <a:t>反</a:t>
            </a:r>
            <a:r>
              <a:rPr lang="zh-CN" altLang="en-US" b="1" dirty="0">
                <a:ea typeface="楷体_GB2312" pitchFamily="49" charset="-122"/>
              </a:rPr>
              <a:t>=</a:t>
            </a:r>
            <a:r>
              <a:rPr lang="zh-CN" altLang="en-US" b="1" dirty="0">
                <a:solidFill>
                  <a:srgbClr val="FF3300"/>
                </a:solidFill>
                <a:ea typeface="楷体_GB2312" pitchFamily="49" charset="-122"/>
              </a:rPr>
              <a:t>1</a:t>
            </a:r>
            <a:r>
              <a:rPr lang="zh-CN" altLang="en-US" b="1" dirty="0">
                <a:ea typeface="楷体_GB2312" pitchFamily="49" charset="-122"/>
              </a:rPr>
              <a:t>.0100111</a:t>
            </a:r>
            <a:endParaRPr lang="zh-CN" altLang="en-US" b="1" dirty="0">
              <a:ea typeface="楷体_GB2312" pitchFamily="49"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48130" name="Rectangle 2"/>
          <p:cNvSpPr>
            <a:spLocks noGrp="1"/>
          </p:cNvSpPr>
          <p:nvPr>
            <p:ph type="title"/>
          </p:nvPr>
        </p:nvSpPr>
        <p:spPr>
          <a:xfrm>
            <a:off x="762000" y="381000"/>
            <a:ext cx="7772400" cy="1143000"/>
          </a:xfrm>
        </p:spPr>
        <p:txBody>
          <a:bodyPr vert="horz" wrap="square" lIns="91440" tIns="45720" rIns="91440" bIns="45720" anchor="ctr" anchorCtr="0"/>
          <a:p>
            <a:pPr algn="l" eaLnBrk="1" hangingPunct="1"/>
            <a:r>
              <a:rPr lang="zh-CN" altLang="en-US" sz="4000" dirty="0">
                <a:solidFill>
                  <a:srgbClr val="0000FF"/>
                </a:solidFill>
                <a:latin typeface="华文新魏" panose="02010800040101010101" pitchFamily="2" charset="-122"/>
                <a:ea typeface="华文新魏" panose="02010800040101010101" pitchFamily="2" charset="-122"/>
              </a:rPr>
              <a:t>2.2  机器数的定点表示与浮点表示</a:t>
            </a:r>
            <a:endParaRPr lang="en-US" altLang="zh-CN" sz="4000" dirty="0">
              <a:solidFill>
                <a:srgbClr val="0000FF"/>
              </a:solidFill>
              <a:latin typeface="华文新魏" panose="02010800040101010101" pitchFamily="2" charset="-122"/>
              <a:ea typeface="华文新魏" panose="02010800040101010101" pitchFamily="2" charset="-122"/>
            </a:endParaRPr>
          </a:p>
        </p:txBody>
      </p:sp>
      <p:sp>
        <p:nvSpPr>
          <p:cNvPr id="48131" name="Rectangle 3"/>
          <p:cNvSpPr>
            <a:spLocks noGrp="1"/>
          </p:cNvSpPr>
          <p:nvPr>
            <p:ph idx="1"/>
          </p:nvPr>
        </p:nvSpPr>
        <p:spPr>
          <a:xfrm>
            <a:off x="762000" y="1905000"/>
            <a:ext cx="7772400" cy="3962400"/>
          </a:xfrm>
        </p:spPr>
        <p:txBody>
          <a:bodyPr vert="horz" wrap="square" lIns="91440" tIns="45720" rIns="91440" bIns="45720" anchor="t" anchorCtr="0"/>
          <a:p>
            <a:pPr marL="0" algn="just">
              <a:spcBef>
                <a:spcPct val="0"/>
              </a:spcBef>
              <a:buNone/>
            </a:pPr>
            <a:r>
              <a:rPr lang="zh-CN" altLang="en-US" b="1" dirty="0">
                <a:ea typeface="楷体_GB2312" pitchFamily="49" charset="-122"/>
              </a:rPr>
              <a:t>        计算机在进行算术运算时，需要指出小数点的位置。根据小数点的位置是否固定，在计算机中有两种数据格式：定点表示和浮点表示。</a:t>
            </a:r>
            <a:endParaRPr lang="zh-CN" altLang="en-US" b="1" dirty="0">
              <a:ea typeface="楷体_GB2312" pitchFamily="49"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49154" name="Rectangle 2"/>
          <p:cNvSpPr>
            <a:spLocks noGrp="1"/>
          </p:cNvSpPr>
          <p:nvPr>
            <p:ph type="title"/>
          </p:nvPr>
        </p:nvSpPr>
        <p:spPr>
          <a:xfrm>
            <a:off x="762000" y="457200"/>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2.2.1 定点表示法</a:t>
            </a:r>
            <a:endParaRPr lang="en-US" altLang="zh-CN" sz="3600" dirty="0">
              <a:solidFill>
                <a:srgbClr val="0000FF"/>
              </a:solidFill>
              <a:latin typeface="楷体_GB2312" pitchFamily="49" charset="-122"/>
              <a:ea typeface="楷体_GB2312" pitchFamily="49" charset="-122"/>
            </a:endParaRPr>
          </a:p>
        </p:txBody>
      </p:sp>
      <p:sp>
        <p:nvSpPr>
          <p:cNvPr id="49155" name="Rectangle 3"/>
          <p:cNvSpPr>
            <a:spLocks noGrp="1"/>
          </p:cNvSpPr>
          <p:nvPr>
            <p:ph idx="1"/>
          </p:nvPr>
        </p:nvSpPr>
        <p:spPr>
          <a:xfrm>
            <a:off x="762000" y="1600200"/>
            <a:ext cx="7772400" cy="3962400"/>
          </a:xfrm>
        </p:spPr>
        <p:txBody>
          <a:bodyPr vert="horz" wrap="square" lIns="91440" tIns="45720" rIns="91440" bIns="45720" anchor="t" anchorCtr="0"/>
          <a:p>
            <a:pPr marL="0" algn="just">
              <a:lnSpc>
                <a:spcPct val="90000"/>
              </a:lnSpc>
              <a:spcBef>
                <a:spcPct val="0"/>
              </a:spcBef>
              <a:buNone/>
            </a:pPr>
            <a:r>
              <a:rPr lang="zh-CN" altLang="en-US" b="1" dirty="0">
                <a:ea typeface="楷体_GB2312" pitchFamily="49" charset="-122"/>
              </a:rPr>
              <a:t>        </a:t>
            </a:r>
            <a:r>
              <a:rPr lang="zh-CN" altLang="en-US" b="1" dirty="0">
                <a:solidFill>
                  <a:srgbClr val="FF3300"/>
                </a:solidFill>
                <a:ea typeface="楷体_GB2312" pitchFamily="49" charset="-122"/>
              </a:rPr>
              <a:t>在定点表示法中约定：所有数据的小数点位置固定不变</a:t>
            </a:r>
            <a:r>
              <a:rPr lang="zh-CN" altLang="en-US" b="1" dirty="0">
                <a:ea typeface="楷体_GB2312" pitchFamily="49" charset="-122"/>
              </a:rPr>
              <a:t>。</a:t>
            </a:r>
            <a:endParaRPr lang="zh-CN" altLang="en-US" b="1" dirty="0">
              <a:ea typeface="楷体_GB2312" pitchFamily="49" charset="-122"/>
            </a:endParaRPr>
          </a:p>
          <a:p>
            <a:pPr marL="0" algn="just" eaLnBrk="1" hangingPunct="1">
              <a:lnSpc>
                <a:spcPct val="90000"/>
              </a:lnSpc>
              <a:buNone/>
            </a:pPr>
            <a:r>
              <a:rPr lang="zh-CN" altLang="en-US" b="1" dirty="0">
                <a:solidFill>
                  <a:schemeClr val="accent2"/>
                </a:solidFill>
                <a:ea typeface="楷体_GB2312" pitchFamily="49" charset="-122"/>
              </a:rPr>
              <a:t>1.定点小数</a:t>
            </a:r>
            <a:endParaRPr lang="zh-CN" altLang="en-US" b="1" dirty="0">
              <a:solidFill>
                <a:schemeClr val="accent2"/>
              </a:solidFill>
              <a:ea typeface="楷体_GB2312" pitchFamily="49" charset="-122"/>
            </a:endParaRPr>
          </a:p>
          <a:p>
            <a:pPr marL="0" algn="just" eaLnBrk="1" hangingPunct="1">
              <a:lnSpc>
                <a:spcPct val="90000"/>
              </a:lnSpc>
              <a:buNone/>
            </a:pPr>
            <a:r>
              <a:rPr lang="zh-CN" altLang="en-US" b="1" dirty="0">
                <a:ea typeface="楷体_GB2312" pitchFamily="49" charset="-122"/>
              </a:rPr>
              <a:t>        </a:t>
            </a:r>
            <a:r>
              <a:rPr lang="zh-CN" altLang="en-US" b="1" dirty="0">
                <a:solidFill>
                  <a:srgbClr val="FF3300"/>
                </a:solidFill>
                <a:ea typeface="楷体_GB2312" pitchFamily="49" charset="-122"/>
              </a:rPr>
              <a:t>小数点的位置固定在最高有效数位之前，符号位之后</a:t>
            </a:r>
            <a:r>
              <a:rPr lang="zh-CN" altLang="en-US" b="1" dirty="0">
                <a:ea typeface="楷体_GB2312" pitchFamily="49" charset="-122"/>
              </a:rPr>
              <a:t>，记作</a:t>
            </a:r>
            <a:r>
              <a:rPr lang="en-US" altLang="zh-CN" b="1" dirty="0">
                <a:ea typeface="楷体_GB2312" pitchFamily="49" charset="-122"/>
              </a:rPr>
              <a:t>X</a:t>
            </a:r>
            <a:r>
              <a:rPr lang="en-US" altLang="zh-CN" b="1" baseline="-25000" dirty="0">
                <a:ea typeface="楷体_GB2312" pitchFamily="49" charset="-122"/>
              </a:rPr>
              <a:t>s</a:t>
            </a:r>
            <a:r>
              <a:rPr lang="en-US" altLang="zh-CN" b="1" dirty="0">
                <a:ea typeface="楷体_GB2312" pitchFamily="49" charset="-122"/>
              </a:rPr>
              <a:t>.X</a:t>
            </a:r>
            <a:r>
              <a:rPr lang="en-US" altLang="zh-CN" b="1" baseline="-25000" dirty="0">
                <a:ea typeface="楷体_GB2312" pitchFamily="49" charset="-122"/>
              </a:rPr>
              <a:t>1</a:t>
            </a:r>
            <a:r>
              <a:rPr lang="en-US" altLang="zh-CN" b="1" dirty="0">
                <a:ea typeface="楷体_GB2312" pitchFamily="49" charset="-122"/>
              </a:rPr>
              <a:t>X</a:t>
            </a:r>
            <a:r>
              <a:rPr lang="en-US" altLang="zh-CN" b="1" baseline="-25000" dirty="0">
                <a:ea typeface="楷体_GB2312" pitchFamily="49" charset="-122"/>
              </a:rPr>
              <a:t>2</a:t>
            </a:r>
            <a:r>
              <a:rPr lang="en-US" altLang="zh-CN" b="1" dirty="0">
                <a:ea typeface="楷体_GB2312" pitchFamily="49" charset="-122"/>
              </a:rPr>
              <a:t>…X</a:t>
            </a:r>
            <a:r>
              <a:rPr lang="en-US" altLang="zh-CN" b="1" baseline="-25000" dirty="0">
                <a:ea typeface="楷体_GB2312" pitchFamily="49" charset="-122"/>
              </a:rPr>
              <a:t>n</a:t>
            </a:r>
            <a:r>
              <a:rPr lang="en-US" altLang="zh-CN" b="1" dirty="0">
                <a:ea typeface="楷体_GB2312" pitchFamily="49" charset="-122"/>
              </a:rPr>
              <a:t>，</a:t>
            </a:r>
            <a:r>
              <a:rPr lang="zh-CN" altLang="en-US" b="1" dirty="0">
                <a:ea typeface="楷体_GB2312" pitchFamily="49" charset="-122"/>
              </a:rPr>
              <a:t>这个数是一个纯小数。定点小数的小数点位置是隐含约定的，小数点并不需要真正地占据一个二进制位。</a:t>
            </a:r>
            <a:endParaRPr lang="zh-CN" altLang="en-US" b="1" dirty="0">
              <a:ea typeface="楷体_GB2312" pitchFamily="49"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50178" name="Rectangle 2"/>
          <p:cNvSpPr>
            <a:spLocks noGrp="1"/>
          </p:cNvSpPr>
          <p:nvPr>
            <p:ph type="title" idx="4294967295"/>
          </p:nvPr>
        </p:nvSpPr>
        <p:spPr>
          <a:xfrm>
            <a:off x="685800" y="457200"/>
            <a:ext cx="7772400" cy="1143000"/>
          </a:xfrm>
        </p:spPr>
        <p:txBody>
          <a:bodyPr vert="horz" wrap="square" lIns="91440" tIns="45720" rIns="91440" bIns="45720" anchor="ctr" anchorCtr="0"/>
          <a:p>
            <a:pPr algn="l" eaLnBrk="1" hangingPunct="1"/>
            <a:r>
              <a:rPr lang="zh-CN" altLang="en-US" sz="3200" dirty="0">
                <a:solidFill>
                  <a:srgbClr val="0000FF"/>
                </a:solidFill>
                <a:ea typeface="楷体_GB2312" pitchFamily="49" charset="-122"/>
              </a:rPr>
              <a:t>定点小数表示范围</a:t>
            </a:r>
            <a:endParaRPr lang="zh-CN" altLang="en-US" sz="3200" dirty="0">
              <a:solidFill>
                <a:srgbClr val="0000FF"/>
              </a:solidFill>
              <a:ea typeface="楷体_GB2312" pitchFamily="49" charset="-122"/>
            </a:endParaRPr>
          </a:p>
        </p:txBody>
      </p:sp>
      <p:sp>
        <p:nvSpPr>
          <p:cNvPr id="50179" name="Rectangle 3"/>
          <p:cNvSpPr>
            <a:spLocks noGrp="1"/>
          </p:cNvSpPr>
          <p:nvPr>
            <p:ph type="body" idx="4294967295"/>
          </p:nvPr>
        </p:nvSpPr>
        <p:spPr>
          <a:xfrm>
            <a:off x="609600" y="3581400"/>
            <a:ext cx="7848600" cy="2743200"/>
          </a:xfrm>
        </p:spPr>
        <p:txBody>
          <a:bodyPr vert="horz" wrap="square" lIns="91440" tIns="45720" rIns="91440" bIns="45720" anchor="t" anchorCtr="0"/>
          <a:p>
            <a:pPr algn="ctr" eaLnBrk="1" hangingPunct="1">
              <a:lnSpc>
                <a:spcPct val="90000"/>
              </a:lnSpc>
              <a:buNone/>
            </a:pPr>
            <a:r>
              <a:rPr lang="zh-CN" altLang="en-US" sz="2400" b="1" dirty="0"/>
              <a:t>图2-2 定点小数格式</a:t>
            </a:r>
            <a:r>
              <a:rPr lang="zh-CN" altLang="en-US" b="1" dirty="0">
                <a:ea typeface="楷体_GB2312" pitchFamily="49" charset="-122"/>
              </a:rPr>
              <a:t>    </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当</a:t>
            </a:r>
            <a:r>
              <a:rPr lang="en-US" altLang="zh-CN" b="1" dirty="0">
                <a:ea typeface="楷体_GB2312" pitchFamily="49" charset="-122"/>
              </a:rPr>
              <a:t>X</a:t>
            </a:r>
            <a:r>
              <a:rPr lang="en-US" altLang="zh-CN" b="1" baseline="-25000" dirty="0">
                <a:ea typeface="楷体_GB2312" pitchFamily="49" charset="-122"/>
              </a:rPr>
              <a:t>s</a:t>
            </a:r>
            <a:r>
              <a:rPr lang="en-US" altLang="zh-CN" b="1" dirty="0">
                <a:ea typeface="楷体_GB2312" pitchFamily="49" charset="-122"/>
              </a:rPr>
              <a:t>=0，X</a:t>
            </a:r>
            <a:r>
              <a:rPr lang="en-US" altLang="zh-CN" b="1" baseline="-25000" dirty="0">
                <a:ea typeface="楷体_GB2312" pitchFamily="49" charset="-122"/>
              </a:rPr>
              <a:t>1</a:t>
            </a:r>
            <a:r>
              <a:rPr lang="en-US" altLang="zh-CN" b="1" dirty="0">
                <a:ea typeface="楷体_GB2312" pitchFamily="49" charset="-122"/>
              </a:rPr>
              <a:t>～X</a:t>
            </a:r>
            <a:r>
              <a:rPr lang="en-US" altLang="zh-CN" b="1" baseline="-25000" dirty="0">
                <a:ea typeface="楷体_GB2312" pitchFamily="49" charset="-122"/>
              </a:rPr>
              <a:t>n</a:t>
            </a:r>
            <a:r>
              <a:rPr lang="en-US" altLang="zh-CN" b="1" dirty="0">
                <a:ea typeface="楷体_GB2312" pitchFamily="49" charset="-122"/>
              </a:rPr>
              <a:t>=1</a:t>
            </a:r>
            <a:r>
              <a:rPr lang="zh-CN" altLang="en-US" b="1" dirty="0">
                <a:ea typeface="楷体_GB2312" pitchFamily="49" charset="-122"/>
              </a:rPr>
              <a:t>时，</a:t>
            </a:r>
            <a:r>
              <a:rPr lang="en-US" altLang="zh-CN" b="1" dirty="0">
                <a:ea typeface="楷体_GB2312" pitchFamily="49" charset="-122"/>
              </a:rPr>
              <a:t>X</a:t>
            </a:r>
            <a:r>
              <a:rPr lang="zh-CN" altLang="en-US" b="1" dirty="0">
                <a:ea typeface="楷体_GB2312" pitchFamily="49" charset="-122"/>
              </a:rPr>
              <a:t>为最大正数。</a:t>
            </a:r>
            <a:endParaRPr lang="zh-CN" altLang="en-US" b="1" dirty="0">
              <a:ea typeface="楷体_GB2312" pitchFamily="49" charset="-122"/>
            </a:endParaRPr>
          </a:p>
          <a:p>
            <a:pPr eaLnBrk="1" hangingPunct="1">
              <a:lnSpc>
                <a:spcPct val="90000"/>
              </a:lnSpc>
              <a:buNone/>
            </a:pPr>
            <a:r>
              <a:rPr lang="en-US" altLang="zh-CN" b="1" dirty="0">
                <a:ea typeface="楷体_GB2312" pitchFamily="49" charset="-122"/>
              </a:rPr>
              <a:t>            X</a:t>
            </a:r>
            <a:r>
              <a:rPr lang="zh-CN" altLang="en-US" b="1" baseline="-25000" dirty="0">
                <a:ea typeface="楷体_GB2312" pitchFamily="49" charset="-122"/>
              </a:rPr>
              <a:t>最大正数</a:t>
            </a:r>
            <a:r>
              <a:rPr lang="zh-CN" altLang="en-US" b="1" dirty="0">
                <a:ea typeface="楷体_GB2312" pitchFamily="49" charset="-122"/>
              </a:rPr>
              <a:t> =</a:t>
            </a:r>
            <a:r>
              <a:rPr lang="zh-CN" altLang="en-US" b="1" dirty="0">
                <a:solidFill>
                  <a:srgbClr val="FF0000"/>
                </a:solidFill>
                <a:ea typeface="楷体_GB2312" pitchFamily="49" charset="-122"/>
              </a:rPr>
              <a:t>1-2</a:t>
            </a:r>
            <a:r>
              <a:rPr lang="zh-CN" altLang="en-US" b="1" baseline="30000" dirty="0">
                <a:solidFill>
                  <a:srgbClr val="FF0000"/>
                </a:solidFill>
                <a:ea typeface="楷体_GB2312" pitchFamily="49" charset="-122"/>
              </a:rPr>
              <a:t>-</a:t>
            </a:r>
            <a:r>
              <a:rPr lang="en-US" altLang="zh-CN" b="1" baseline="30000" dirty="0">
                <a:solidFill>
                  <a:srgbClr val="FF0000"/>
                </a:solidFill>
                <a:ea typeface="楷体_GB2312" pitchFamily="49" charset="-122"/>
              </a:rPr>
              <a:t>n</a:t>
            </a:r>
            <a:endParaRPr lang="en-US" altLang="zh-CN" b="1" dirty="0">
              <a:ea typeface="楷体_GB2312" pitchFamily="49" charset="-122"/>
            </a:endParaRPr>
          </a:p>
          <a:p>
            <a:pPr>
              <a:lnSpc>
                <a:spcPct val="90000"/>
              </a:lnSpc>
              <a:spcBef>
                <a:spcPct val="0"/>
              </a:spcBef>
              <a:buNone/>
            </a:pPr>
            <a:r>
              <a:rPr lang="zh-CN" altLang="en-US" b="1" dirty="0">
                <a:ea typeface="楷体_GB2312" pitchFamily="49" charset="-122"/>
              </a:rPr>
              <a:t>    当</a:t>
            </a:r>
            <a:r>
              <a:rPr lang="en-US" altLang="zh-CN" b="1" dirty="0">
                <a:ea typeface="楷体_GB2312" pitchFamily="49" charset="-122"/>
              </a:rPr>
              <a:t>X</a:t>
            </a:r>
            <a:r>
              <a:rPr lang="en-US" altLang="zh-CN" b="1" baseline="-25000" dirty="0">
                <a:ea typeface="楷体_GB2312" pitchFamily="49" charset="-122"/>
              </a:rPr>
              <a:t>n</a:t>
            </a:r>
            <a:r>
              <a:rPr lang="en-US" altLang="zh-CN" b="1" dirty="0">
                <a:ea typeface="楷体_GB2312" pitchFamily="49" charset="-122"/>
              </a:rPr>
              <a:t>=1，X</a:t>
            </a:r>
            <a:r>
              <a:rPr lang="en-US" altLang="zh-CN" b="1" baseline="-25000" dirty="0">
                <a:ea typeface="楷体_GB2312" pitchFamily="49" charset="-122"/>
              </a:rPr>
              <a:t>s</a:t>
            </a:r>
            <a:r>
              <a:rPr lang="en-US" altLang="zh-CN" b="1" dirty="0">
                <a:ea typeface="楷体_GB2312" pitchFamily="49" charset="-122"/>
              </a:rPr>
              <a:t>～X</a:t>
            </a:r>
            <a:r>
              <a:rPr lang="en-US" altLang="zh-CN" b="1" baseline="-25000" dirty="0">
                <a:ea typeface="楷体_GB2312" pitchFamily="49" charset="-122"/>
              </a:rPr>
              <a:t>n-1</a:t>
            </a:r>
            <a:r>
              <a:rPr lang="en-US" altLang="zh-CN" b="1" dirty="0">
                <a:ea typeface="楷体_GB2312" pitchFamily="49" charset="-122"/>
              </a:rPr>
              <a:t>=0</a:t>
            </a:r>
            <a:r>
              <a:rPr lang="zh-CN" altLang="en-US" b="1" dirty="0">
                <a:ea typeface="楷体_GB2312" pitchFamily="49" charset="-122"/>
              </a:rPr>
              <a:t>时，</a:t>
            </a:r>
            <a:r>
              <a:rPr lang="en-US" altLang="zh-CN" b="1" dirty="0">
                <a:ea typeface="楷体_GB2312" pitchFamily="49" charset="-122"/>
              </a:rPr>
              <a:t>X</a:t>
            </a:r>
            <a:r>
              <a:rPr lang="zh-CN" altLang="en-US" b="1" dirty="0">
                <a:ea typeface="楷体_GB2312" pitchFamily="49" charset="-122"/>
              </a:rPr>
              <a:t>为最小正数。</a:t>
            </a:r>
            <a:endParaRPr lang="zh-CN" altLang="en-US" b="1" dirty="0">
              <a:ea typeface="楷体_GB2312" pitchFamily="49" charset="-122"/>
            </a:endParaRPr>
          </a:p>
          <a:p>
            <a:pPr>
              <a:lnSpc>
                <a:spcPct val="110000"/>
              </a:lnSpc>
              <a:spcBef>
                <a:spcPct val="0"/>
              </a:spcBef>
              <a:buNone/>
            </a:pPr>
            <a:r>
              <a:rPr lang="en-US" altLang="zh-CN" b="1" dirty="0">
                <a:ea typeface="楷体_GB2312" pitchFamily="49" charset="-122"/>
              </a:rPr>
              <a:t>            X</a:t>
            </a:r>
            <a:r>
              <a:rPr lang="zh-CN" altLang="en-US" b="1" baseline="-25000" dirty="0">
                <a:ea typeface="楷体_GB2312" pitchFamily="49" charset="-122"/>
              </a:rPr>
              <a:t>最小正数</a:t>
            </a:r>
            <a:r>
              <a:rPr lang="zh-CN" altLang="en-US" b="1" dirty="0">
                <a:ea typeface="楷体_GB2312" pitchFamily="49" charset="-122"/>
              </a:rPr>
              <a:t> =</a:t>
            </a:r>
            <a:r>
              <a:rPr lang="zh-CN" altLang="en-US" b="1" dirty="0">
                <a:solidFill>
                  <a:srgbClr val="FF0000"/>
                </a:solidFill>
                <a:ea typeface="楷体_GB2312" pitchFamily="49" charset="-122"/>
              </a:rPr>
              <a:t>2</a:t>
            </a:r>
            <a:r>
              <a:rPr lang="zh-CN" altLang="en-US" b="1" baseline="30000" dirty="0">
                <a:solidFill>
                  <a:srgbClr val="FF0000"/>
                </a:solidFill>
                <a:ea typeface="楷体_GB2312" pitchFamily="49" charset="-122"/>
              </a:rPr>
              <a:t>-</a:t>
            </a:r>
            <a:r>
              <a:rPr lang="en-US" altLang="zh-CN" b="1" baseline="30000" dirty="0">
                <a:solidFill>
                  <a:srgbClr val="FF0000"/>
                </a:solidFill>
                <a:ea typeface="楷体_GB2312" pitchFamily="49" charset="-122"/>
              </a:rPr>
              <a:t>n</a:t>
            </a:r>
            <a:endParaRPr lang="zh-CN" altLang="en-US" b="1" dirty="0">
              <a:ea typeface="楷体_GB2312" pitchFamily="49" charset="-122"/>
            </a:endParaRPr>
          </a:p>
        </p:txBody>
      </p:sp>
      <p:graphicFrame>
        <p:nvGraphicFramePr>
          <p:cNvPr id="50180" name="Object 4"/>
          <p:cNvGraphicFramePr>
            <a:graphicFrameLocks noChangeAspect="1"/>
          </p:cNvGraphicFramePr>
          <p:nvPr/>
        </p:nvGraphicFramePr>
        <p:xfrm>
          <a:off x="609600" y="1066800"/>
          <a:ext cx="8001000" cy="2708275"/>
        </p:xfrm>
        <a:graphic>
          <a:graphicData uri="http://schemas.openxmlformats.org/presentationml/2006/ole">
            <mc:AlternateContent xmlns:mc="http://schemas.openxmlformats.org/markup-compatibility/2006">
              <mc:Choice xmlns:v="urn:schemas-microsoft-com:vml" Requires="v">
                <p:oleObj spid="_x0000_s3077" name="" r:id="rId1" imgW="3596640" imgH="1219200" progId="Visio.Drawing.6">
                  <p:embed/>
                </p:oleObj>
              </mc:Choice>
              <mc:Fallback>
                <p:oleObj name="" r:id="rId1" imgW="3596640" imgH="1219200" progId="Visio.Drawing.6">
                  <p:embed/>
                  <p:pic>
                    <p:nvPicPr>
                      <p:cNvPr id="0" name="图片 3076"/>
                      <p:cNvPicPr/>
                      <p:nvPr/>
                    </p:nvPicPr>
                    <p:blipFill>
                      <a:blip r:embed="rId2"/>
                      <a:stretch>
                        <a:fillRect/>
                      </a:stretch>
                    </p:blipFill>
                    <p:spPr>
                      <a:xfrm>
                        <a:off x="609600" y="1066800"/>
                        <a:ext cx="8001000" cy="2708275"/>
                      </a:xfrm>
                      <a:prstGeom prst="rect">
                        <a:avLst/>
                      </a:prstGeom>
                      <a:noFill/>
                      <a:ln w="38100">
                        <a:noFill/>
                        <a:miter/>
                      </a:ln>
                    </p:spPr>
                  </p:pic>
                </p:oleObj>
              </mc:Fallback>
            </mc:AlternateContent>
          </a:graphicData>
        </a:graphic>
      </p:graphicFrame>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51202" name="Rectangle 2"/>
          <p:cNvSpPr>
            <a:spLocks noGrp="1"/>
          </p:cNvSpPr>
          <p:nvPr>
            <p:ph type="title" idx="4294967295"/>
          </p:nvPr>
        </p:nvSpPr>
        <p:spPr>
          <a:xfrm>
            <a:off x="685800" y="457200"/>
            <a:ext cx="7772400" cy="1143000"/>
          </a:xfrm>
        </p:spPr>
        <p:txBody>
          <a:bodyPr vert="horz" wrap="square" lIns="91440" tIns="45720" rIns="91440" bIns="45720" anchor="ctr" anchorCtr="0"/>
          <a:p>
            <a:pPr algn="l" eaLnBrk="1" hangingPunct="1"/>
            <a:r>
              <a:rPr lang="zh-CN" altLang="en-US" sz="3200" dirty="0">
                <a:solidFill>
                  <a:srgbClr val="0000FF"/>
                </a:solidFill>
                <a:ea typeface="楷体_GB2312" pitchFamily="49" charset="-122"/>
              </a:rPr>
              <a:t>定点小数表示范围（续）</a:t>
            </a:r>
            <a:endParaRPr lang="zh-CN" altLang="en-US" sz="3200" dirty="0">
              <a:solidFill>
                <a:srgbClr val="0000FF"/>
              </a:solidFill>
              <a:ea typeface="楷体_GB2312" pitchFamily="49" charset="-122"/>
            </a:endParaRPr>
          </a:p>
        </p:txBody>
      </p:sp>
      <p:sp>
        <p:nvSpPr>
          <p:cNvPr id="51203" name="Rectangle 3"/>
          <p:cNvSpPr>
            <a:spLocks noGrp="1"/>
          </p:cNvSpPr>
          <p:nvPr>
            <p:ph type="body" idx="4294967295"/>
          </p:nvPr>
        </p:nvSpPr>
        <p:spPr>
          <a:xfrm>
            <a:off x="609600" y="1295400"/>
            <a:ext cx="8001000" cy="5199063"/>
          </a:xfrm>
        </p:spPr>
        <p:txBody>
          <a:bodyPr vert="horz" wrap="square" lIns="91440" tIns="45720" rIns="91440" bIns="45720" anchor="t" anchorCtr="0"/>
          <a:p>
            <a:pPr marL="0" algn="just">
              <a:spcBef>
                <a:spcPct val="0"/>
              </a:spcBef>
              <a:buNone/>
            </a:pPr>
            <a:r>
              <a:rPr lang="zh-CN" altLang="en-US" b="1" dirty="0">
                <a:ea typeface="楷体_GB2312" pitchFamily="49" charset="-122"/>
              </a:rPr>
              <a:t>        当</a:t>
            </a:r>
            <a:r>
              <a:rPr lang="en-US" altLang="zh-CN" b="1" dirty="0">
                <a:ea typeface="楷体_GB2312" pitchFamily="49" charset="-122"/>
              </a:rPr>
              <a:t>X</a:t>
            </a:r>
            <a:r>
              <a:rPr lang="en-US" altLang="zh-CN" b="1" baseline="-25000" dirty="0">
                <a:ea typeface="楷体_GB2312" pitchFamily="49" charset="-122"/>
              </a:rPr>
              <a:t>s</a:t>
            </a:r>
            <a:r>
              <a:rPr lang="en-US" altLang="zh-CN" b="1" dirty="0">
                <a:ea typeface="楷体_GB2312" pitchFamily="49" charset="-122"/>
              </a:rPr>
              <a:t>=1，</a:t>
            </a:r>
            <a:r>
              <a:rPr lang="zh-CN" altLang="en-US" b="1" dirty="0">
                <a:ea typeface="楷体_GB2312" pitchFamily="49" charset="-122"/>
              </a:rPr>
              <a:t>表示</a:t>
            </a:r>
            <a:r>
              <a:rPr lang="en-US" altLang="zh-CN" b="1" dirty="0">
                <a:ea typeface="楷体_GB2312" pitchFamily="49" charset="-122"/>
              </a:rPr>
              <a:t>X</a:t>
            </a:r>
            <a:r>
              <a:rPr lang="zh-CN" altLang="en-US" b="1" dirty="0">
                <a:ea typeface="楷体_GB2312" pitchFamily="49" charset="-122"/>
              </a:rPr>
              <a:t>为负数，此时情况要稍微复杂一些，这是因为在计算机中带符号数可用补码表示，也可用原码表示。原码和补码的表示范围有一些差别。</a:t>
            </a:r>
            <a:endParaRPr lang="zh-CN" altLang="en-US" b="1" dirty="0">
              <a:ea typeface="楷体_GB2312" pitchFamily="49" charset="-122"/>
            </a:endParaRPr>
          </a:p>
          <a:p>
            <a:pPr marL="0" algn="just">
              <a:spcBef>
                <a:spcPct val="0"/>
              </a:spcBef>
              <a:buNone/>
            </a:pPr>
            <a:r>
              <a:rPr lang="zh-CN" altLang="en-US" b="1" dirty="0">
                <a:ea typeface="楷体_GB2312" pitchFamily="49" charset="-122"/>
              </a:rPr>
              <a:t>        若机器数为原码表示，当</a:t>
            </a:r>
            <a:r>
              <a:rPr lang="en-US" altLang="zh-CN" b="1" dirty="0">
                <a:ea typeface="楷体_GB2312" pitchFamily="49" charset="-122"/>
              </a:rPr>
              <a:t>X</a:t>
            </a:r>
            <a:r>
              <a:rPr lang="en-US" altLang="zh-CN" b="1" baseline="-30000" dirty="0">
                <a:ea typeface="楷体_GB2312" pitchFamily="49" charset="-122"/>
              </a:rPr>
              <a:t>s</a:t>
            </a:r>
            <a:r>
              <a:rPr lang="en-US" altLang="zh-CN" b="1" dirty="0">
                <a:ea typeface="楷体_GB2312" pitchFamily="49" charset="-122"/>
              </a:rPr>
              <a:t>～X</a:t>
            </a:r>
            <a:r>
              <a:rPr lang="en-US" altLang="zh-CN" b="1" baseline="-30000" dirty="0">
                <a:ea typeface="楷体_GB2312" pitchFamily="49" charset="-122"/>
              </a:rPr>
              <a:t>n</a:t>
            </a:r>
            <a:r>
              <a:rPr lang="zh-CN" altLang="en-US" b="1" dirty="0">
                <a:ea typeface="楷体_GB2312" pitchFamily="49" charset="-122"/>
              </a:rPr>
              <a:t>均等于1时，</a:t>
            </a:r>
            <a:r>
              <a:rPr lang="en-US" altLang="zh-CN" b="1" dirty="0">
                <a:ea typeface="楷体_GB2312" pitchFamily="49" charset="-122"/>
              </a:rPr>
              <a:t>X</a:t>
            </a:r>
            <a:r>
              <a:rPr lang="zh-CN" altLang="en-US" b="1" dirty="0">
                <a:ea typeface="楷体_GB2312" pitchFamily="49" charset="-122"/>
              </a:rPr>
              <a:t>为绝对值最大的负数。</a:t>
            </a:r>
            <a:endParaRPr lang="zh-CN" altLang="en-US" b="1" dirty="0">
              <a:ea typeface="楷体_GB2312" pitchFamily="49" charset="-122"/>
            </a:endParaRPr>
          </a:p>
          <a:p>
            <a:pPr marL="0" algn="just">
              <a:spcBef>
                <a:spcPct val="0"/>
              </a:spcBef>
              <a:buNone/>
            </a:pPr>
            <a:r>
              <a:rPr lang="zh-CN" altLang="en-US" b="1" dirty="0">
                <a:ea typeface="楷体_GB2312" pitchFamily="49" charset="-122"/>
              </a:rPr>
              <a:t>                 </a:t>
            </a:r>
            <a:r>
              <a:rPr lang="en-US" altLang="zh-CN" b="1" dirty="0">
                <a:ea typeface="楷体_GB2312" pitchFamily="49" charset="-122"/>
              </a:rPr>
              <a:t>X</a:t>
            </a:r>
            <a:r>
              <a:rPr lang="zh-CN" altLang="en-US" b="1" baseline="-30000" dirty="0">
                <a:ea typeface="楷体_GB2312" pitchFamily="49" charset="-122"/>
              </a:rPr>
              <a:t>绝对值最大负数</a:t>
            </a:r>
            <a:r>
              <a:rPr lang="zh-CN" altLang="en-US" b="1" dirty="0">
                <a:ea typeface="楷体_GB2312" pitchFamily="49" charset="-122"/>
              </a:rPr>
              <a:t>=</a:t>
            </a:r>
            <a:r>
              <a:rPr lang="zh-CN" altLang="en-US" b="1" dirty="0">
                <a:solidFill>
                  <a:schemeClr val="hlink"/>
                </a:solidFill>
                <a:ea typeface="楷体_GB2312" pitchFamily="49" charset="-122"/>
              </a:rPr>
              <a:t>-(1-2</a:t>
            </a:r>
            <a:r>
              <a:rPr lang="zh-CN" altLang="en-US" b="1" baseline="30000" dirty="0">
                <a:solidFill>
                  <a:schemeClr val="hlink"/>
                </a:solidFill>
                <a:ea typeface="楷体_GB2312" pitchFamily="49" charset="-122"/>
              </a:rPr>
              <a:t>-</a:t>
            </a:r>
            <a:r>
              <a:rPr lang="en-US" altLang="zh-CN" b="1" baseline="30000" dirty="0">
                <a:solidFill>
                  <a:schemeClr val="hlink"/>
                </a:solidFill>
                <a:ea typeface="楷体_GB2312" pitchFamily="49" charset="-122"/>
              </a:rPr>
              <a:t>n</a:t>
            </a:r>
            <a:r>
              <a:rPr lang="en-US" altLang="zh-CN" b="1" dirty="0">
                <a:solidFill>
                  <a:schemeClr val="hlink"/>
                </a:solidFill>
                <a:ea typeface="楷体_GB2312" pitchFamily="49" charset="-122"/>
              </a:rPr>
              <a:t>)</a:t>
            </a:r>
            <a:endParaRPr lang="en-US" altLang="zh-CN" b="1" dirty="0">
              <a:solidFill>
                <a:schemeClr val="hlink"/>
              </a:solidFill>
              <a:ea typeface="楷体_GB2312" pitchFamily="49" charset="-122"/>
            </a:endParaRPr>
          </a:p>
          <a:p>
            <a:pPr marL="0" algn="just">
              <a:spcBef>
                <a:spcPct val="0"/>
              </a:spcBef>
              <a:buNone/>
            </a:pPr>
            <a:r>
              <a:rPr lang="en-US" altLang="zh-CN" b="1" dirty="0">
                <a:ea typeface="楷体_GB2312" pitchFamily="49" charset="-122"/>
              </a:rPr>
              <a:t>        </a:t>
            </a:r>
            <a:r>
              <a:rPr lang="zh-CN" altLang="en-US" b="1" dirty="0">
                <a:ea typeface="楷体_GB2312" pitchFamily="49" charset="-122"/>
              </a:rPr>
              <a:t>若机器数为补码表示，当</a:t>
            </a:r>
            <a:r>
              <a:rPr lang="en-US" altLang="zh-CN" b="1" dirty="0">
                <a:ea typeface="楷体_GB2312" pitchFamily="49" charset="-122"/>
              </a:rPr>
              <a:t>X</a:t>
            </a:r>
            <a:r>
              <a:rPr lang="en-US" altLang="zh-CN" b="1" baseline="-30000" dirty="0">
                <a:ea typeface="楷体_GB2312" pitchFamily="49" charset="-122"/>
              </a:rPr>
              <a:t>s</a:t>
            </a:r>
            <a:r>
              <a:rPr lang="en-US" altLang="zh-CN" b="1" dirty="0">
                <a:ea typeface="楷体_GB2312" pitchFamily="49" charset="-122"/>
              </a:rPr>
              <a:t>=1，X</a:t>
            </a:r>
            <a:r>
              <a:rPr lang="en-US" altLang="zh-CN" b="1" baseline="-30000" dirty="0">
                <a:ea typeface="楷体_GB2312" pitchFamily="49" charset="-122"/>
              </a:rPr>
              <a:t>1</a:t>
            </a:r>
            <a:r>
              <a:rPr lang="en-US" altLang="zh-CN" b="1" dirty="0">
                <a:ea typeface="楷体_GB2312" pitchFamily="49" charset="-122"/>
              </a:rPr>
              <a:t>～X</a:t>
            </a:r>
            <a:r>
              <a:rPr lang="en-US" altLang="zh-CN" b="1" baseline="-30000" dirty="0">
                <a:ea typeface="楷体_GB2312" pitchFamily="49" charset="-122"/>
              </a:rPr>
              <a:t>n</a:t>
            </a:r>
            <a:r>
              <a:rPr lang="zh-CN" altLang="en-US" b="1" dirty="0">
                <a:ea typeface="楷体_GB2312" pitchFamily="49" charset="-122"/>
              </a:rPr>
              <a:t>均等于0时，</a:t>
            </a:r>
            <a:r>
              <a:rPr lang="en-US" altLang="zh-CN" b="1" dirty="0">
                <a:ea typeface="楷体_GB2312" pitchFamily="49" charset="-122"/>
              </a:rPr>
              <a:t>X</a:t>
            </a:r>
            <a:r>
              <a:rPr lang="zh-CN" altLang="en-US" b="1" dirty="0">
                <a:ea typeface="楷体_GB2312" pitchFamily="49" charset="-122"/>
              </a:rPr>
              <a:t>为绝对值最大的负数。</a:t>
            </a:r>
            <a:endParaRPr lang="zh-CN" altLang="en-US" b="1" dirty="0">
              <a:ea typeface="楷体_GB2312" pitchFamily="49" charset="-122"/>
            </a:endParaRPr>
          </a:p>
          <a:p>
            <a:pPr marL="0" algn="just">
              <a:spcBef>
                <a:spcPct val="0"/>
              </a:spcBef>
              <a:buNone/>
            </a:pPr>
            <a:r>
              <a:rPr lang="zh-CN" altLang="en-US" b="1" dirty="0">
                <a:ea typeface="楷体_GB2312" pitchFamily="49" charset="-122"/>
              </a:rPr>
              <a:t>                 </a:t>
            </a:r>
            <a:r>
              <a:rPr lang="en-US" altLang="zh-CN" b="1" dirty="0">
                <a:ea typeface="楷体_GB2312" pitchFamily="49" charset="-122"/>
              </a:rPr>
              <a:t>X</a:t>
            </a:r>
            <a:r>
              <a:rPr lang="zh-CN" altLang="en-US" b="1" baseline="-30000" dirty="0">
                <a:ea typeface="楷体_GB2312" pitchFamily="49" charset="-122"/>
              </a:rPr>
              <a:t>绝对值最大负数</a:t>
            </a:r>
            <a:r>
              <a:rPr lang="zh-CN" altLang="en-US" b="1" dirty="0">
                <a:ea typeface="楷体_GB2312" pitchFamily="49" charset="-122"/>
              </a:rPr>
              <a:t>=</a:t>
            </a:r>
            <a:r>
              <a:rPr lang="zh-CN" altLang="en-US" b="1" dirty="0">
                <a:solidFill>
                  <a:schemeClr val="hlink"/>
                </a:solidFill>
                <a:ea typeface="楷体_GB2312" pitchFamily="49" charset="-122"/>
              </a:rPr>
              <a:t>-1</a:t>
            </a:r>
            <a:endParaRPr lang="zh-CN" altLang="en-US" b="1" dirty="0">
              <a:solidFill>
                <a:schemeClr val="hlink"/>
              </a:solidFill>
              <a:ea typeface="楷体_GB2312" pitchFamily="49"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52226" name="Rectangle 6"/>
          <p:cNvSpPr>
            <a:spLocks noGrp="1"/>
          </p:cNvSpPr>
          <p:nvPr>
            <p:ph type="body" idx="4294967295"/>
          </p:nvPr>
        </p:nvSpPr>
        <p:spPr>
          <a:xfrm>
            <a:off x="609600" y="1143000"/>
            <a:ext cx="7848600" cy="5638800"/>
          </a:xfrm>
        </p:spPr>
        <p:txBody>
          <a:bodyPr vert="horz" wrap="square" lIns="91440" tIns="45720" rIns="91440" bIns="45720" anchor="t" anchorCtr="0"/>
          <a:p>
            <a:pPr eaLnBrk="1" hangingPunct="1">
              <a:lnSpc>
                <a:spcPct val="90000"/>
              </a:lnSpc>
              <a:buNone/>
            </a:pPr>
            <a:r>
              <a:rPr lang="zh-CN" altLang="en-US" b="1" dirty="0">
                <a:ea typeface="楷体_GB2312" pitchFamily="49" charset="-122"/>
              </a:rPr>
              <a:t>  若机器字长有</a:t>
            </a:r>
            <a:r>
              <a:rPr lang="en-US" altLang="zh-CN" b="1" dirty="0">
                <a:ea typeface="楷体_GB2312" pitchFamily="49" charset="-122"/>
              </a:rPr>
              <a:t>n+1</a:t>
            </a:r>
            <a:r>
              <a:rPr lang="zh-CN" altLang="en-US" b="1" dirty="0">
                <a:ea typeface="楷体_GB2312" pitchFamily="49" charset="-122"/>
              </a:rPr>
              <a:t>位，则有：</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原码定点小数表示范围：</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a:t>
            </a:r>
            <a:r>
              <a:rPr lang="zh-CN" altLang="en-US" b="1" dirty="0">
                <a:solidFill>
                  <a:schemeClr val="hlink"/>
                </a:solidFill>
                <a:ea typeface="楷体_GB2312" pitchFamily="49" charset="-122"/>
              </a:rPr>
              <a:t>-(1-2</a:t>
            </a:r>
            <a:r>
              <a:rPr lang="zh-CN" altLang="en-US" b="1" baseline="30000" dirty="0">
                <a:solidFill>
                  <a:schemeClr val="hlink"/>
                </a:solidFill>
                <a:ea typeface="楷体_GB2312" pitchFamily="49" charset="-122"/>
              </a:rPr>
              <a:t>-</a:t>
            </a:r>
            <a:r>
              <a:rPr lang="en-US" altLang="zh-CN" b="1" baseline="30000" dirty="0">
                <a:solidFill>
                  <a:schemeClr val="hlink"/>
                </a:solidFill>
                <a:ea typeface="楷体_GB2312" pitchFamily="49" charset="-122"/>
              </a:rPr>
              <a:t>n</a:t>
            </a:r>
            <a:r>
              <a:rPr lang="en-US" altLang="zh-CN" b="1" dirty="0">
                <a:solidFill>
                  <a:schemeClr val="hlink"/>
                </a:solidFill>
                <a:ea typeface="楷体_GB2312" pitchFamily="49" charset="-122"/>
              </a:rPr>
              <a:t>)～(1-2</a:t>
            </a:r>
            <a:r>
              <a:rPr lang="en-US" altLang="zh-CN" b="1" baseline="30000" dirty="0">
                <a:solidFill>
                  <a:schemeClr val="hlink"/>
                </a:solidFill>
                <a:ea typeface="楷体_GB2312" pitchFamily="49" charset="-122"/>
              </a:rPr>
              <a:t>-n</a:t>
            </a:r>
            <a:r>
              <a:rPr lang="en-US" altLang="zh-CN" b="1" dirty="0">
                <a:solidFill>
                  <a:schemeClr val="hlink"/>
                </a:solidFill>
                <a:ea typeface="楷体_GB2312" pitchFamily="49" charset="-122"/>
              </a:rPr>
              <a:t>)</a:t>
            </a:r>
            <a:endParaRPr lang="en-US" altLang="zh-CN" b="1" dirty="0">
              <a:solidFill>
                <a:schemeClr val="hlink"/>
              </a:solidFill>
              <a:ea typeface="楷体_GB2312" pitchFamily="49" charset="-122"/>
            </a:endParaRPr>
          </a:p>
          <a:p>
            <a:pPr eaLnBrk="1" hangingPunct="1">
              <a:lnSpc>
                <a:spcPct val="90000"/>
              </a:lnSpc>
              <a:buNone/>
            </a:pPr>
            <a:r>
              <a:rPr lang="zh-CN" altLang="en-US" b="1" dirty="0">
                <a:ea typeface="楷体_GB2312" pitchFamily="49" charset="-122"/>
              </a:rPr>
              <a:t>       补码定点小数表示范围：</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a:t>
            </a:r>
            <a:r>
              <a:rPr lang="zh-CN" altLang="en-US" b="1" dirty="0">
                <a:solidFill>
                  <a:schemeClr val="hlink"/>
                </a:solidFill>
                <a:ea typeface="楷体_GB2312" pitchFamily="49" charset="-122"/>
              </a:rPr>
              <a:t>-1～(1-2</a:t>
            </a:r>
            <a:r>
              <a:rPr lang="zh-CN" altLang="en-US" b="1" baseline="30000" dirty="0">
                <a:solidFill>
                  <a:schemeClr val="hlink"/>
                </a:solidFill>
                <a:ea typeface="楷体_GB2312" pitchFamily="49" charset="-122"/>
              </a:rPr>
              <a:t>-</a:t>
            </a:r>
            <a:r>
              <a:rPr lang="en-US" altLang="zh-CN" b="1" baseline="30000" dirty="0">
                <a:solidFill>
                  <a:schemeClr val="hlink"/>
                </a:solidFill>
                <a:ea typeface="楷体_GB2312" pitchFamily="49" charset="-122"/>
              </a:rPr>
              <a:t>n</a:t>
            </a:r>
            <a:r>
              <a:rPr lang="en-US" altLang="zh-CN" b="1" dirty="0">
                <a:solidFill>
                  <a:schemeClr val="hlink"/>
                </a:solidFill>
                <a:ea typeface="楷体_GB2312" pitchFamily="49" charset="-122"/>
              </a:rPr>
              <a:t>)</a:t>
            </a:r>
            <a:endParaRPr lang="en-US" altLang="zh-CN" b="1" dirty="0">
              <a:solidFill>
                <a:schemeClr val="hlink"/>
              </a:solidFill>
              <a:ea typeface="楷体_GB2312" pitchFamily="49" charset="-122"/>
            </a:endParaRPr>
          </a:p>
          <a:p>
            <a:pPr eaLnBrk="1" hangingPunct="1">
              <a:lnSpc>
                <a:spcPct val="90000"/>
              </a:lnSpc>
              <a:buNone/>
            </a:pPr>
            <a:r>
              <a:rPr lang="en-US" altLang="zh-CN" b="1" dirty="0">
                <a:ea typeface="楷体_GB2312" pitchFamily="49" charset="-122"/>
              </a:rPr>
              <a:t>  </a:t>
            </a:r>
            <a:r>
              <a:rPr lang="zh-CN" altLang="en-US" b="1" dirty="0">
                <a:ea typeface="楷体_GB2312" pitchFamily="49" charset="-122"/>
              </a:rPr>
              <a:t>若机器字长有8位，则有：</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原码定点小数表示范围：</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        ～ </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补码定点小数表示范围：</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-1～</a:t>
            </a:r>
            <a:endParaRPr lang="zh-CN" altLang="en-US" b="1" dirty="0">
              <a:ea typeface="楷体_GB2312" pitchFamily="49" charset="-122"/>
            </a:endParaRPr>
          </a:p>
        </p:txBody>
      </p:sp>
      <p:sp>
        <p:nvSpPr>
          <p:cNvPr id="52227" name="Rectangle 7"/>
          <p:cNvSpPr>
            <a:spLocks noGrp="1"/>
          </p:cNvSpPr>
          <p:nvPr>
            <p:ph type="title" idx="4294967295"/>
          </p:nvPr>
        </p:nvSpPr>
        <p:spPr>
          <a:xfrm>
            <a:off x="685800" y="228600"/>
            <a:ext cx="7772400" cy="1143000"/>
          </a:xfrm>
        </p:spPr>
        <p:txBody>
          <a:bodyPr vert="horz" wrap="square" lIns="91440" tIns="45720" rIns="91440" bIns="45720" anchor="ctr" anchorCtr="0"/>
          <a:p>
            <a:pPr algn="l" eaLnBrk="1" hangingPunct="1"/>
            <a:r>
              <a:rPr lang="zh-CN" altLang="en-US" sz="3200" dirty="0">
                <a:solidFill>
                  <a:srgbClr val="0000FF"/>
                </a:solidFill>
                <a:ea typeface="楷体_GB2312" pitchFamily="49" charset="-122"/>
              </a:rPr>
              <a:t>定点小数表示范围（续）</a:t>
            </a:r>
            <a:endParaRPr lang="zh-CN" altLang="en-US" sz="3200" dirty="0">
              <a:solidFill>
                <a:srgbClr val="0000FF"/>
              </a:solidFill>
              <a:ea typeface="楷体_GB2312" pitchFamily="49" charset="-122"/>
            </a:endParaRPr>
          </a:p>
        </p:txBody>
      </p:sp>
      <p:sp>
        <p:nvSpPr>
          <p:cNvPr id="52228" name="Rectangle 21"/>
          <p:cNvSpPr/>
          <p:nvPr/>
        </p:nvSpPr>
        <p:spPr>
          <a:xfrm>
            <a:off x="4500563" y="3257550"/>
            <a:ext cx="9144000" cy="0"/>
          </a:xfrm>
          <a:prstGeom prst="rect">
            <a:avLst/>
          </a:prstGeom>
          <a:noFill/>
          <a:ln w="6350">
            <a:noFill/>
          </a:ln>
        </p:spPr>
        <p:txBody>
          <a:bodyPr anchor="t" anchorCtr="0">
            <a:spAutoFit/>
          </a:bodyPr>
          <a:p>
            <a:endParaRPr lang="zh-CN" altLang="en-US" dirty="0">
              <a:latin typeface="Arial" panose="020B0604020202020204" pitchFamily="34" charset="0"/>
            </a:endParaRPr>
          </a:p>
        </p:txBody>
      </p:sp>
      <p:graphicFrame>
        <p:nvGraphicFramePr>
          <p:cNvPr id="52229" name="Object 20"/>
          <p:cNvGraphicFramePr>
            <a:graphicFrameLocks noChangeAspect="1"/>
          </p:cNvGraphicFramePr>
          <p:nvPr/>
        </p:nvGraphicFramePr>
        <p:xfrm>
          <a:off x="2971800" y="5791200"/>
          <a:ext cx="577850" cy="762000"/>
        </p:xfrm>
        <a:graphic>
          <a:graphicData uri="http://schemas.openxmlformats.org/presentationml/2006/ole">
            <mc:AlternateContent xmlns:mc="http://schemas.openxmlformats.org/markup-compatibility/2006">
              <mc:Choice xmlns:v="urn:schemas-microsoft-com:vml" Requires="v">
                <p:oleObj spid="_x0000_s3081" name="" r:id="rId1" imgW="292100" imgH="393700" progId="Equation.3">
                  <p:embed/>
                </p:oleObj>
              </mc:Choice>
              <mc:Fallback>
                <p:oleObj name="" r:id="rId1" imgW="292100" imgH="393700" progId="Equation.3">
                  <p:embed/>
                  <p:pic>
                    <p:nvPicPr>
                      <p:cNvPr id="0" name="图片 3080"/>
                      <p:cNvPicPr/>
                      <p:nvPr/>
                    </p:nvPicPr>
                    <p:blipFill>
                      <a:blip r:embed="rId2"/>
                      <a:stretch>
                        <a:fillRect/>
                      </a:stretch>
                    </p:blipFill>
                    <p:spPr>
                      <a:xfrm>
                        <a:off x="2971800" y="5791200"/>
                        <a:ext cx="577850" cy="762000"/>
                      </a:xfrm>
                      <a:prstGeom prst="rect">
                        <a:avLst/>
                      </a:prstGeom>
                      <a:noFill/>
                      <a:ln w="38100">
                        <a:noFill/>
                        <a:miter/>
                      </a:ln>
                    </p:spPr>
                  </p:pic>
                </p:oleObj>
              </mc:Fallback>
            </mc:AlternateContent>
          </a:graphicData>
        </a:graphic>
      </p:graphicFrame>
      <p:graphicFrame>
        <p:nvGraphicFramePr>
          <p:cNvPr id="52230" name="Object 22"/>
          <p:cNvGraphicFramePr>
            <a:graphicFrameLocks noChangeAspect="1"/>
          </p:cNvGraphicFramePr>
          <p:nvPr/>
        </p:nvGraphicFramePr>
        <p:xfrm>
          <a:off x="3657600" y="4724400"/>
          <a:ext cx="577850" cy="762000"/>
        </p:xfrm>
        <a:graphic>
          <a:graphicData uri="http://schemas.openxmlformats.org/presentationml/2006/ole">
            <mc:AlternateContent xmlns:mc="http://schemas.openxmlformats.org/markup-compatibility/2006">
              <mc:Choice xmlns:v="urn:schemas-microsoft-com:vml" Requires="v">
                <p:oleObj spid="_x0000_s3083" name="" r:id="rId3" imgW="292100" imgH="393700" progId="Equation.3">
                  <p:embed/>
                </p:oleObj>
              </mc:Choice>
              <mc:Fallback>
                <p:oleObj name="" r:id="rId3" imgW="292100" imgH="393700" progId="Equation.3">
                  <p:embed/>
                  <p:pic>
                    <p:nvPicPr>
                      <p:cNvPr id="0" name="图片 3082"/>
                      <p:cNvPicPr/>
                      <p:nvPr/>
                    </p:nvPicPr>
                    <p:blipFill>
                      <a:blip r:embed="rId2"/>
                      <a:stretch>
                        <a:fillRect/>
                      </a:stretch>
                    </p:blipFill>
                    <p:spPr>
                      <a:xfrm>
                        <a:off x="3657600" y="4724400"/>
                        <a:ext cx="577850" cy="762000"/>
                      </a:xfrm>
                      <a:prstGeom prst="rect">
                        <a:avLst/>
                      </a:prstGeom>
                      <a:noFill/>
                      <a:ln w="38100">
                        <a:noFill/>
                        <a:miter/>
                      </a:ln>
                    </p:spPr>
                  </p:pic>
                </p:oleObj>
              </mc:Fallback>
            </mc:AlternateContent>
          </a:graphicData>
        </a:graphic>
      </p:graphicFrame>
      <p:graphicFrame>
        <p:nvGraphicFramePr>
          <p:cNvPr id="52231" name="Object 23"/>
          <p:cNvGraphicFramePr>
            <a:graphicFrameLocks noChangeAspect="1"/>
          </p:cNvGraphicFramePr>
          <p:nvPr/>
        </p:nvGraphicFramePr>
        <p:xfrm>
          <a:off x="2590800" y="4724400"/>
          <a:ext cx="577850" cy="762000"/>
        </p:xfrm>
        <a:graphic>
          <a:graphicData uri="http://schemas.openxmlformats.org/presentationml/2006/ole">
            <mc:AlternateContent xmlns:mc="http://schemas.openxmlformats.org/markup-compatibility/2006">
              <mc:Choice xmlns:v="urn:schemas-microsoft-com:vml" Requires="v">
                <p:oleObj spid="_x0000_s3082" name="" r:id="rId4" imgW="292100" imgH="393700" progId="Equation.3">
                  <p:embed/>
                </p:oleObj>
              </mc:Choice>
              <mc:Fallback>
                <p:oleObj name="" r:id="rId4" imgW="292100" imgH="393700" progId="Equation.3">
                  <p:embed/>
                  <p:pic>
                    <p:nvPicPr>
                      <p:cNvPr id="0" name="图片 3081"/>
                      <p:cNvPicPr/>
                      <p:nvPr/>
                    </p:nvPicPr>
                    <p:blipFill>
                      <a:blip r:embed="rId5"/>
                      <a:stretch>
                        <a:fillRect/>
                      </a:stretch>
                    </p:blipFill>
                    <p:spPr>
                      <a:xfrm>
                        <a:off x="2590800" y="4724400"/>
                        <a:ext cx="577850" cy="762000"/>
                      </a:xfrm>
                      <a:prstGeom prst="rect">
                        <a:avLst/>
                      </a:prstGeom>
                      <a:noFill/>
                      <a:ln w="38100">
                        <a:noFill/>
                        <a:miter/>
                      </a:ln>
                    </p:spPr>
                  </p:pic>
                </p:oleObj>
              </mc:Fallback>
            </mc:AlternateContent>
          </a:graphicData>
        </a:graphic>
      </p:graphicFrame>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53250" name="Rectangle 2"/>
          <p:cNvSpPr>
            <a:spLocks noGrp="1"/>
          </p:cNvSpPr>
          <p:nvPr>
            <p:ph type="title"/>
          </p:nvPr>
        </p:nvSpPr>
        <p:spPr>
          <a:xfrm>
            <a:off x="762000" y="4572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2.定点整数</a:t>
            </a:r>
            <a:endParaRPr lang="en-US" altLang="zh-CN" sz="3200" dirty="0">
              <a:solidFill>
                <a:schemeClr val="accent2"/>
              </a:solidFill>
              <a:ea typeface="楷体_GB2312" pitchFamily="49" charset="-122"/>
            </a:endParaRPr>
          </a:p>
        </p:txBody>
      </p:sp>
      <p:sp>
        <p:nvSpPr>
          <p:cNvPr id="53251" name="Rectangle 3"/>
          <p:cNvSpPr>
            <a:spLocks noGrp="1"/>
          </p:cNvSpPr>
          <p:nvPr>
            <p:ph idx="1"/>
          </p:nvPr>
        </p:nvSpPr>
        <p:spPr>
          <a:xfrm>
            <a:off x="762000" y="1295400"/>
            <a:ext cx="7772400" cy="4724400"/>
          </a:xfrm>
        </p:spPr>
        <p:txBody>
          <a:bodyPr vert="horz" wrap="square" lIns="91440" tIns="45720" rIns="91440" bIns="45720" anchor="t" anchorCtr="0"/>
          <a:p>
            <a:pPr marL="0" algn="just">
              <a:spcBef>
                <a:spcPct val="0"/>
              </a:spcBef>
              <a:buNone/>
            </a:pPr>
            <a:r>
              <a:rPr lang="zh-CN" altLang="en-US" b="1" dirty="0">
                <a:ea typeface="楷体_GB2312" pitchFamily="49" charset="-122"/>
              </a:rPr>
              <a:t>         定点整数即纯整数，</a:t>
            </a:r>
            <a:r>
              <a:rPr lang="zh-CN" altLang="en-US" b="1" dirty="0">
                <a:solidFill>
                  <a:srgbClr val="FF3300"/>
                </a:solidFill>
                <a:ea typeface="楷体_GB2312" pitchFamily="49" charset="-122"/>
              </a:rPr>
              <a:t>小数点位置隐含固定在最低有效数位之后</a:t>
            </a:r>
            <a:r>
              <a:rPr lang="zh-CN" altLang="en-US" b="1" dirty="0">
                <a:ea typeface="楷体_GB2312" pitchFamily="49" charset="-122"/>
              </a:rPr>
              <a:t>，记作</a:t>
            </a:r>
            <a:r>
              <a:rPr lang="en-US" altLang="zh-CN" b="1" dirty="0">
                <a:ea typeface="楷体_GB2312" pitchFamily="49" charset="-122"/>
              </a:rPr>
              <a:t>X</a:t>
            </a:r>
            <a:r>
              <a:rPr lang="en-US" altLang="zh-CN" b="1" baseline="-30000" dirty="0">
                <a:ea typeface="楷体_GB2312" pitchFamily="49" charset="-122"/>
              </a:rPr>
              <a:t>s</a:t>
            </a:r>
            <a:r>
              <a:rPr lang="en-US" altLang="zh-CN" b="1" dirty="0">
                <a:ea typeface="楷体_GB2312" pitchFamily="49" charset="-122"/>
              </a:rPr>
              <a:t>X</a:t>
            </a:r>
            <a:r>
              <a:rPr lang="en-US" altLang="zh-CN" b="1" baseline="-30000" dirty="0">
                <a:ea typeface="楷体_GB2312" pitchFamily="49" charset="-122"/>
              </a:rPr>
              <a:t>1</a:t>
            </a:r>
            <a:r>
              <a:rPr lang="en-US" altLang="zh-CN" b="1" dirty="0">
                <a:ea typeface="楷体_GB2312" pitchFamily="49" charset="-122"/>
              </a:rPr>
              <a:t>X</a:t>
            </a:r>
            <a:r>
              <a:rPr lang="en-US" altLang="zh-CN" b="1" baseline="-30000" dirty="0">
                <a:ea typeface="楷体_GB2312" pitchFamily="49" charset="-122"/>
              </a:rPr>
              <a:t>2</a:t>
            </a:r>
            <a:r>
              <a:rPr lang="en-US" altLang="zh-CN" b="1" dirty="0">
                <a:ea typeface="楷体_GB2312" pitchFamily="49" charset="-122"/>
              </a:rPr>
              <a:t>…X</a:t>
            </a:r>
            <a:r>
              <a:rPr lang="en-US" altLang="zh-CN" b="1" baseline="-30000" dirty="0">
                <a:ea typeface="楷体_GB2312" pitchFamily="49" charset="-122"/>
              </a:rPr>
              <a:t>n</a:t>
            </a:r>
            <a:r>
              <a:rPr lang="en-US" altLang="zh-CN" b="1" dirty="0">
                <a:ea typeface="楷体_GB2312" pitchFamily="49" charset="-122"/>
              </a:rPr>
              <a:t>。</a:t>
            </a:r>
            <a:endParaRPr lang="en-US" altLang="zh-CN" b="1" dirty="0">
              <a:ea typeface="楷体_GB2312" pitchFamily="49" charset="-122"/>
            </a:endParaRPr>
          </a:p>
          <a:p>
            <a:pPr marL="0" algn="just">
              <a:spcBef>
                <a:spcPct val="0"/>
              </a:spcBef>
              <a:buNone/>
            </a:pPr>
            <a:endParaRPr lang="en-US" altLang="zh-CN" b="1" dirty="0">
              <a:ea typeface="楷体_GB2312" pitchFamily="49" charset="-122"/>
            </a:endParaRPr>
          </a:p>
          <a:p>
            <a:pPr marL="0" algn="just">
              <a:spcBef>
                <a:spcPct val="0"/>
              </a:spcBef>
              <a:buNone/>
            </a:pPr>
            <a:endParaRPr lang="en-US" altLang="zh-CN" b="1" dirty="0">
              <a:ea typeface="楷体_GB2312" pitchFamily="49" charset="-122"/>
            </a:endParaRPr>
          </a:p>
          <a:p>
            <a:pPr marL="0" algn="just">
              <a:spcBef>
                <a:spcPct val="0"/>
              </a:spcBef>
              <a:buNone/>
            </a:pPr>
            <a:endParaRPr lang="en-US" altLang="zh-CN" b="1" dirty="0">
              <a:ea typeface="楷体_GB2312" pitchFamily="49" charset="-122"/>
            </a:endParaRPr>
          </a:p>
          <a:p>
            <a:pPr marL="0" algn="just">
              <a:spcBef>
                <a:spcPct val="0"/>
              </a:spcBef>
              <a:buNone/>
            </a:pPr>
            <a:endParaRPr lang="en-US" altLang="zh-CN" b="1" dirty="0">
              <a:ea typeface="楷体_GB2312" pitchFamily="49" charset="-122"/>
            </a:endParaRPr>
          </a:p>
          <a:p>
            <a:pPr marL="0" algn="just">
              <a:spcBef>
                <a:spcPct val="0"/>
              </a:spcBef>
              <a:buNone/>
            </a:pPr>
            <a:endParaRPr lang="en-US" altLang="zh-CN" b="1" dirty="0">
              <a:ea typeface="楷体_GB2312" pitchFamily="49" charset="-122"/>
            </a:endParaRPr>
          </a:p>
          <a:p>
            <a:pPr marL="0" algn="just">
              <a:spcBef>
                <a:spcPct val="0"/>
              </a:spcBef>
              <a:buNone/>
            </a:pPr>
            <a:endParaRPr lang="zh-CN" altLang="en-US" sz="2400" b="1" dirty="0"/>
          </a:p>
          <a:p>
            <a:pPr marL="0" algn="ctr">
              <a:spcBef>
                <a:spcPct val="0"/>
              </a:spcBef>
              <a:buNone/>
            </a:pPr>
            <a:r>
              <a:rPr lang="zh-CN" altLang="en-US" sz="2400" b="1" dirty="0"/>
              <a:t>图2-3 定点整数格式</a:t>
            </a:r>
            <a:endParaRPr lang="zh-CN" altLang="en-US" sz="2400" b="1" dirty="0"/>
          </a:p>
        </p:txBody>
      </p:sp>
      <p:graphicFrame>
        <p:nvGraphicFramePr>
          <p:cNvPr id="53252" name="Object 4"/>
          <p:cNvGraphicFramePr>
            <a:graphicFrameLocks noChangeAspect="1"/>
          </p:cNvGraphicFramePr>
          <p:nvPr/>
        </p:nvGraphicFramePr>
        <p:xfrm>
          <a:off x="304800" y="3048000"/>
          <a:ext cx="8839200" cy="2417763"/>
        </p:xfrm>
        <a:graphic>
          <a:graphicData uri="http://schemas.openxmlformats.org/presentationml/2006/ole">
            <mc:AlternateContent xmlns:mc="http://schemas.openxmlformats.org/markup-compatibility/2006">
              <mc:Choice xmlns:v="urn:schemas-microsoft-com:vml" Requires="v">
                <p:oleObj spid="_x0000_s3084" name="" r:id="rId1" imgW="4353560" imgH="1196340" progId="Visio.Drawing.6">
                  <p:embed/>
                </p:oleObj>
              </mc:Choice>
              <mc:Fallback>
                <p:oleObj name="" r:id="rId1" imgW="4353560" imgH="1196340" progId="Visio.Drawing.6">
                  <p:embed/>
                  <p:pic>
                    <p:nvPicPr>
                      <p:cNvPr id="0" name="图片 3083"/>
                      <p:cNvPicPr/>
                      <p:nvPr/>
                    </p:nvPicPr>
                    <p:blipFill>
                      <a:blip r:embed="rId2"/>
                      <a:stretch>
                        <a:fillRect/>
                      </a:stretch>
                    </p:blipFill>
                    <p:spPr>
                      <a:xfrm>
                        <a:off x="304800" y="3048000"/>
                        <a:ext cx="8839200" cy="2417763"/>
                      </a:xfrm>
                      <a:prstGeom prst="rect">
                        <a:avLst/>
                      </a:prstGeom>
                      <a:noFill/>
                      <a:ln w="38100">
                        <a:noFill/>
                        <a:miter/>
                      </a:ln>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54274" name="Rectangle 2"/>
          <p:cNvSpPr>
            <a:spLocks noGrp="1"/>
          </p:cNvSpPr>
          <p:nvPr>
            <p:ph type="body" idx="4294967295"/>
          </p:nvPr>
        </p:nvSpPr>
        <p:spPr>
          <a:xfrm>
            <a:off x="533400" y="1143000"/>
            <a:ext cx="7924800" cy="5410200"/>
          </a:xfrm>
        </p:spPr>
        <p:txBody>
          <a:bodyPr vert="horz" wrap="square" lIns="91440" tIns="45720" rIns="91440" bIns="45720" anchor="t" anchorCtr="0"/>
          <a:p>
            <a:pPr eaLnBrk="1" hangingPunct="1">
              <a:lnSpc>
                <a:spcPct val="90000"/>
              </a:lnSpc>
              <a:buNone/>
            </a:pPr>
            <a:r>
              <a:rPr lang="zh-CN" altLang="en-US" b="1" dirty="0">
                <a:ea typeface="楷体_GB2312" pitchFamily="49" charset="-122"/>
              </a:rPr>
              <a:t>若机器字长有</a:t>
            </a:r>
            <a:r>
              <a:rPr lang="en-US" altLang="zh-CN" b="1" dirty="0">
                <a:ea typeface="楷体_GB2312" pitchFamily="49" charset="-122"/>
              </a:rPr>
              <a:t>n+1</a:t>
            </a:r>
            <a:r>
              <a:rPr lang="zh-CN" altLang="en-US" b="1" dirty="0">
                <a:ea typeface="楷体_GB2312" pitchFamily="49" charset="-122"/>
              </a:rPr>
              <a:t>位，则有：</a:t>
            </a:r>
            <a:endParaRPr lang="zh-CN" altLang="en-US" b="1" dirty="0">
              <a:ea typeface="楷体_GB2312" pitchFamily="49" charset="-122"/>
            </a:endParaRPr>
          </a:p>
          <a:p>
            <a:pPr lvl="1" eaLnBrk="1" hangingPunct="1">
              <a:lnSpc>
                <a:spcPct val="90000"/>
              </a:lnSpc>
              <a:buNone/>
            </a:pPr>
            <a:r>
              <a:rPr lang="zh-CN" altLang="en-US" sz="3200" b="1" dirty="0">
                <a:ea typeface="楷体_GB2312" pitchFamily="49" charset="-122"/>
              </a:rPr>
              <a:t>原码定点整数的表示范围：</a:t>
            </a:r>
            <a:endParaRPr lang="zh-CN" altLang="en-US" sz="3200" b="1" dirty="0">
              <a:ea typeface="楷体_GB2312" pitchFamily="49" charset="-122"/>
            </a:endParaRPr>
          </a:p>
          <a:p>
            <a:pPr lvl="1" eaLnBrk="1" hangingPunct="1">
              <a:lnSpc>
                <a:spcPct val="90000"/>
              </a:lnSpc>
              <a:buNone/>
            </a:pPr>
            <a:r>
              <a:rPr lang="zh-CN" altLang="en-US" sz="3200" b="1" dirty="0">
                <a:ea typeface="楷体_GB2312" pitchFamily="49" charset="-122"/>
              </a:rPr>
              <a:t>           </a:t>
            </a:r>
            <a:r>
              <a:rPr lang="zh-CN" altLang="en-US" sz="3200" b="1" dirty="0">
                <a:solidFill>
                  <a:schemeClr val="hlink"/>
                </a:solidFill>
                <a:ea typeface="楷体_GB2312" pitchFamily="49" charset="-122"/>
              </a:rPr>
              <a:t>-(2</a:t>
            </a:r>
            <a:r>
              <a:rPr lang="en-US" altLang="zh-CN" sz="3200" b="1" baseline="30000" dirty="0">
                <a:solidFill>
                  <a:schemeClr val="hlink"/>
                </a:solidFill>
                <a:ea typeface="楷体_GB2312" pitchFamily="49" charset="-122"/>
              </a:rPr>
              <a:t>n</a:t>
            </a:r>
            <a:r>
              <a:rPr lang="en-US" altLang="zh-CN" sz="3200" b="1" dirty="0">
                <a:solidFill>
                  <a:schemeClr val="hlink"/>
                </a:solidFill>
                <a:ea typeface="楷体_GB2312" pitchFamily="49" charset="-122"/>
              </a:rPr>
              <a:t>-1)～(2</a:t>
            </a:r>
            <a:r>
              <a:rPr lang="en-US" altLang="zh-CN" sz="3200" b="1" baseline="30000" dirty="0">
                <a:solidFill>
                  <a:schemeClr val="hlink"/>
                </a:solidFill>
                <a:ea typeface="楷体_GB2312" pitchFamily="49" charset="-122"/>
              </a:rPr>
              <a:t>n</a:t>
            </a:r>
            <a:r>
              <a:rPr lang="en-US" altLang="zh-CN" sz="3200" b="1" dirty="0">
                <a:solidFill>
                  <a:schemeClr val="hlink"/>
                </a:solidFill>
                <a:ea typeface="楷体_GB2312" pitchFamily="49" charset="-122"/>
              </a:rPr>
              <a:t>-1)</a:t>
            </a:r>
            <a:endParaRPr lang="en-US" altLang="zh-CN" sz="3200" b="1" dirty="0">
              <a:solidFill>
                <a:schemeClr val="hlink"/>
              </a:solidFill>
              <a:ea typeface="楷体_GB2312" pitchFamily="49" charset="-122"/>
            </a:endParaRPr>
          </a:p>
          <a:p>
            <a:pPr lvl="1" eaLnBrk="1" hangingPunct="1">
              <a:lnSpc>
                <a:spcPct val="90000"/>
              </a:lnSpc>
              <a:buNone/>
            </a:pPr>
            <a:r>
              <a:rPr lang="zh-CN" altLang="en-US" sz="3200" b="1" dirty="0">
                <a:ea typeface="楷体_GB2312" pitchFamily="49" charset="-122"/>
              </a:rPr>
              <a:t>补码定点整数的表示范围：</a:t>
            </a:r>
            <a:endParaRPr lang="zh-CN" altLang="en-US" sz="3200" b="1" dirty="0">
              <a:ea typeface="楷体_GB2312" pitchFamily="49" charset="-122"/>
            </a:endParaRPr>
          </a:p>
          <a:p>
            <a:pPr lvl="1" eaLnBrk="1" hangingPunct="1">
              <a:lnSpc>
                <a:spcPct val="90000"/>
              </a:lnSpc>
              <a:buNone/>
            </a:pPr>
            <a:r>
              <a:rPr lang="zh-CN" altLang="en-US" sz="3200" b="1" dirty="0">
                <a:ea typeface="楷体_GB2312" pitchFamily="49" charset="-122"/>
              </a:rPr>
              <a:t>           </a:t>
            </a:r>
            <a:r>
              <a:rPr lang="zh-CN" altLang="en-US" sz="3200" b="1" dirty="0">
                <a:solidFill>
                  <a:schemeClr val="hlink"/>
                </a:solidFill>
                <a:ea typeface="楷体_GB2312" pitchFamily="49" charset="-122"/>
              </a:rPr>
              <a:t>-2</a:t>
            </a:r>
            <a:r>
              <a:rPr lang="en-US" altLang="zh-CN" sz="3200" b="1" baseline="30000" dirty="0">
                <a:solidFill>
                  <a:schemeClr val="hlink"/>
                </a:solidFill>
                <a:ea typeface="楷体_GB2312" pitchFamily="49" charset="-122"/>
              </a:rPr>
              <a:t>n</a:t>
            </a:r>
            <a:r>
              <a:rPr lang="en-US" altLang="zh-CN" sz="3200" b="1" dirty="0">
                <a:solidFill>
                  <a:schemeClr val="hlink"/>
                </a:solidFill>
                <a:ea typeface="楷体_GB2312" pitchFamily="49" charset="-122"/>
              </a:rPr>
              <a:t> ～(2</a:t>
            </a:r>
            <a:r>
              <a:rPr lang="en-US" altLang="zh-CN" sz="3200" b="1" baseline="30000" dirty="0">
                <a:solidFill>
                  <a:schemeClr val="hlink"/>
                </a:solidFill>
                <a:ea typeface="楷体_GB2312" pitchFamily="49" charset="-122"/>
              </a:rPr>
              <a:t>n</a:t>
            </a:r>
            <a:r>
              <a:rPr lang="en-US" altLang="zh-CN" sz="3200" b="1" dirty="0">
                <a:solidFill>
                  <a:schemeClr val="hlink"/>
                </a:solidFill>
                <a:ea typeface="楷体_GB2312" pitchFamily="49" charset="-122"/>
              </a:rPr>
              <a:t>-1)</a:t>
            </a:r>
            <a:endParaRPr lang="en-US" altLang="zh-CN" sz="3200" b="1" dirty="0">
              <a:solidFill>
                <a:schemeClr val="hlink"/>
              </a:solidFill>
              <a:ea typeface="楷体_GB2312" pitchFamily="49" charset="-122"/>
            </a:endParaRPr>
          </a:p>
          <a:p>
            <a:pPr eaLnBrk="1" hangingPunct="1">
              <a:lnSpc>
                <a:spcPct val="90000"/>
              </a:lnSpc>
              <a:buNone/>
            </a:pPr>
            <a:r>
              <a:rPr lang="zh-CN" altLang="en-US" b="1" dirty="0">
                <a:ea typeface="楷体_GB2312" pitchFamily="49" charset="-122"/>
              </a:rPr>
              <a:t>若机器字长有8位，则有：</a:t>
            </a:r>
            <a:endParaRPr lang="zh-CN" altLang="en-US" b="1" dirty="0">
              <a:ea typeface="楷体_GB2312" pitchFamily="49" charset="-122"/>
            </a:endParaRPr>
          </a:p>
          <a:p>
            <a:pPr lvl="1" eaLnBrk="1" hangingPunct="1">
              <a:lnSpc>
                <a:spcPct val="90000"/>
              </a:lnSpc>
              <a:buNone/>
            </a:pPr>
            <a:r>
              <a:rPr lang="zh-CN" altLang="en-US" sz="3200" b="1" dirty="0">
                <a:ea typeface="楷体_GB2312" pitchFamily="49" charset="-122"/>
              </a:rPr>
              <a:t>原码定点整数表示范围：</a:t>
            </a:r>
            <a:endParaRPr lang="zh-CN" altLang="en-US" sz="3200" b="1" dirty="0">
              <a:ea typeface="楷体_GB2312" pitchFamily="49" charset="-122"/>
            </a:endParaRPr>
          </a:p>
          <a:p>
            <a:pPr lvl="1" eaLnBrk="1" hangingPunct="1">
              <a:lnSpc>
                <a:spcPct val="90000"/>
              </a:lnSpc>
              <a:buNone/>
            </a:pPr>
            <a:r>
              <a:rPr lang="zh-CN" altLang="en-US" sz="3200" b="1" dirty="0">
                <a:solidFill>
                  <a:srgbClr val="FF0000"/>
                </a:solidFill>
                <a:ea typeface="楷体_GB2312" pitchFamily="49" charset="-122"/>
              </a:rPr>
              <a:t>             -127</a:t>
            </a:r>
            <a:r>
              <a:rPr lang="zh-CN" altLang="en-US" sz="3200" b="1" dirty="0">
                <a:ea typeface="楷体_GB2312" pitchFamily="49" charset="-122"/>
              </a:rPr>
              <a:t>～</a:t>
            </a:r>
            <a:r>
              <a:rPr lang="zh-CN" altLang="en-US" sz="3200" b="1" dirty="0">
                <a:solidFill>
                  <a:srgbClr val="FF0000"/>
                </a:solidFill>
                <a:ea typeface="楷体_GB2312" pitchFamily="49" charset="-122"/>
              </a:rPr>
              <a:t>127</a:t>
            </a:r>
            <a:endParaRPr lang="zh-CN" altLang="en-US" sz="3200" b="1" dirty="0">
              <a:ea typeface="楷体_GB2312" pitchFamily="49" charset="-122"/>
            </a:endParaRPr>
          </a:p>
          <a:p>
            <a:pPr lvl="1" eaLnBrk="1" hangingPunct="1">
              <a:lnSpc>
                <a:spcPct val="90000"/>
              </a:lnSpc>
              <a:buNone/>
            </a:pPr>
            <a:r>
              <a:rPr lang="zh-CN" altLang="en-US" sz="3200" b="1" dirty="0">
                <a:ea typeface="楷体_GB2312" pitchFamily="49" charset="-122"/>
              </a:rPr>
              <a:t>补码定点整数表示范围：</a:t>
            </a:r>
            <a:endParaRPr lang="zh-CN" altLang="en-US" sz="3200" b="1" dirty="0">
              <a:ea typeface="楷体_GB2312" pitchFamily="49" charset="-122"/>
            </a:endParaRPr>
          </a:p>
          <a:p>
            <a:pPr lvl="1" eaLnBrk="1" hangingPunct="1">
              <a:lnSpc>
                <a:spcPct val="90000"/>
              </a:lnSpc>
              <a:buNone/>
            </a:pPr>
            <a:r>
              <a:rPr lang="zh-CN" altLang="en-US" sz="3200" b="1" dirty="0">
                <a:solidFill>
                  <a:srgbClr val="FF0000"/>
                </a:solidFill>
                <a:ea typeface="楷体_GB2312" pitchFamily="49" charset="-122"/>
              </a:rPr>
              <a:t>             -128</a:t>
            </a:r>
            <a:r>
              <a:rPr lang="zh-CN" altLang="en-US" sz="3200" b="1" dirty="0">
                <a:ea typeface="楷体_GB2312" pitchFamily="49" charset="-122"/>
              </a:rPr>
              <a:t>～</a:t>
            </a:r>
            <a:r>
              <a:rPr lang="zh-CN" altLang="en-US" sz="3200" b="1" dirty="0">
                <a:solidFill>
                  <a:srgbClr val="FF0000"/>
                </a:solidFill>
                <a:ea typeface="楷体_GB2312" pitchFamily="49" charset="-122"/>
              </a:rPr>
              <a:t>127</a:t>
            </a:r>
            <a:endParaRPr lang="zh-CN" altLang="en-US" sz="3200" b="1" dirty="0">
              <a:solidFill>
                <a:srgbClr val="FF0000"/>
              </a:solidFill>
              <a:ea typeface="楷体_GB2312" pitchFamily="49" charset="-122"/>
            </a:endParaRPr>
          </a:p>
        </p:txBody>
      </p:sp>
      <p:sp>
        <p:nvSpPr>
          <p:cNvPr id="54275" name="Rectangle 11"/>
          <p:cNvSpPr>
            <a:spLocks noGrp="1"/>
          </p:cNvSpPr>
          <p:nvPr>
            <p:ph type="title" idx="4294967295"/>
          </p:nvPr>
        </p:nvSpPr>
        <p:spPr>
          <a:xfrm>
            <a:off x="685800" y="304800"/>
            <a:ext cx="7772400" cy="1143000"/>
          </a:xfrm>
        </p:spPr>
        <p:txBody>
          <a:bodyPr vert="horz" wrap="square" lIns="91440" tIns="45720" rIns="91440" bIns="45720" anchor="ctr" anchorCtr="0"/>
          <a:p>
            <a:pPr algn="l" eaLnBrk="1" hangingPunct="1"/>
            <a:r>
              <a:rPr lang="zh-CN" altLang="en-US" sz="3200" dirty="0">
                <a:solidFill>
                  <a:srgbClr val="0000FF"/>
                </a:solidFill>
                <a:ea typeface="楷体_GB2312" pitchFamily="49" charset="-122"/>
              </a:rPr>
              <a:t>定点整数表示范围</a:t>
            </a:r>
            <a:endParaRPr lang="zh-CN" altLang="en-US" sz="3200" dirty="0">
              <a:solidFill>
                <a:srgbClr val="0000FF"/>
              </a:solidFill>
              <a:ea typeface="楷体_GB2312" pitchFamily="49"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55298" name="Rectangle 3"/>
          <p:cNvSpPr>
            <a:spLocks noGrp="1"/>
          </p:cNvSpPr>
          <p:nvPr>
            <p:ph type="body" idx="4294967295"/>
          </p:nvPr>
        </p:nvSpPr>
        <p:spPr>
          <a:xfrm>
            <a:off x="609600" y="1219200"/>
            <a:ext cx="7924800" cy="5029200"/>
          </a:xfrm>
        </p:spPr>
        <p:txBody>
          <a:bodyPr vert="horz" wrap="square" lIns="91440" tIns="45720" rIns="91440" bIns="45720" anchor="t" anchorCtr="0"/>
          <a:p>
            <a:pPr marL="0" algn="just" eaLnBrk="1" hangingPunct="1">
              <a:buNone/>
            </a:pPr>
            <a:r>
              <a:rPr lang="zh-CN" altLang="en-US" b="1" dirty="0">
                <a:ea typeface="楷体_GB2312" pitchFamily="49" charset="-122"/>
              </a:rPr>
              <a:t>        </a:t>
            </a:r>
            <a:r>
              <a:rPr lang="zh-CN" altLang="en-US" b="1" dirty="0">
                <a:solidFill>
                  <a:srgbClr val="FF3300"/>
                </a:solidFill>
                <a:ea typeface="楷体_GB2312" pitchFamily="49" charset="-122"/>
              </a:rPr>
              <a:t>小数点的位置根据需要而浮动，这就是浮点数</a:t>
            </a:r>
            <a:r>
              <a:rPr lang="zh-CN" altLang="en-US" b="1" dirty="0">
                <a:ea typeface="楷体_GB2312" pitchFamily="49" charset="-122"/>
              </a:rPr>
              <a:t>。例如：</a:t>
            </a:r>
            <a:endParaRPr lang="zh-CN" altLang="en-US" b="1" dirty="0">
              <a:ea typeface="楷体_GB2312" pitchFamily="49" charset="-122"/>
            </a:endParaRPr>
          </a:p>
          <a:p>
            <a:pPr marL="0" algn="just" eaLnBrk="1" hangingPunct="1">
              <a:buNone/>
            </a:pPr>
            <a:r>
              <a:rPr lang="en-US" altLang="zh-CN" b="1" dirty="0">
                <a:ea typeface="楷体_GB2312" pitchFamily="49" charset="-122"/>
              </a:rPr>
              <a:t>            N=M×r</a:t>
            </a:r>
            <a:r>
              <a:rPr lang="en-US" altLang="zh-CN" b="1" baseline="30000" dirty="0">
                <a:ea typeface="楷体_GB2312" pitchFamily="49" charset="-122"/>
              </a:rPr>
              <a:t>E</a:t>
            </a:r>
            <a:endParaRPr lang="en-US" altLang="zh-CN" b="1" baseline="30000" dirty="0">
              <a:ea typeface="楷体_GB2312" pitchFamily="49" charset="-122"/>
            </a:endParaRPr>
          </a:p>
          <a:p>
            <a:pPr marL="0" algn="just">
              <a:spcBef>
                <a:spcPct val="0"/>
              </a:spcBef>
              <a:buNone/>
            </a:pPr>
            <a:r>
              <a:rPr lang="zh-CN" altLang="en-US" b="1" dirty="0">
                <a:ea typeface="楷体_GB2312" pitchFamily="49" charset="-122"/>
              </a:rPr>
              <a:t>         式中：</a:t>
            </a:r>
            <a:r>
              <a:rPr lang="en-US" altLang="zh-CN" b="1" dirty="0">
                <a:ea typeface="楷体_GB2312" pitchFamily="49" charset="-122"/>
              </a:rPr>
              <a:t>r</a:t>
            </a:r>
            <a:r>
              <a:rPr lang="zh-CN" altLang="en-US" b="1" dirty="0">
                <a:ea typeface="楷体_GB2312" pitchFamily="49" charset="-122"/>
              </a:rPr>
              <a:t>为浮点数阶码的底，与尾数的基数相同，通常</a:t>
            </a:r>
            <a:r>
              <a:rPr lang="en-US" altLang="zh-CN" b="1" dirty="0">
                <a:ea typeface="楷体_GB2312" pitchFamily="49" charset="-122"/>
              </a:rPr>
              <a:t>r=</a:t>
            </a:r>
            <a:r>
              <a:rPr lang="en-US" altLang="zh-CN" b="1" dirty="0">
                <a:solidFill>
                  <a:srgbClr val="FF3300"/>
                </a:solidFill>
                <a:ea typeface="楷体_GB2312" pitchFamily="49" charset="-122"/>
              </a:rPr>
              <a:t>2</a:t>
            </a:r>
            <a:r>
              <a:rPr lang="en-US" altLang="zh-CN" b="1" dirty="0">
                <a:ea typeface="楷体_GB2312" pitchFamily="49" charset="-122"/>
              </a:rPr>
              <a:t>。E</a:t>
            </a:r>
            <a:r>
              <a:rPr lang="zh-CN" altLang="en-US" b="1" dirty="0">
                <a:ea typeface="楷体_GB2312" pitchFamily="49" charset="-122"/>
              </a:rPr>
              <a:t>和</a:t>
            </a:r>
            <a:r>
              <a:rPr lang="en-US" altLang="zh-CN" b="1" dirty="0">
                <a:ea typeface="楷体_GB2312" pitchFamily="49" charset="-122"/>
              </a:rPr>
              <a:t>M</a:t>
            </a:r>
            <a:r>
              <a:rPr lang="zh-CN" altLang="en-US" b="1" dirty="0">
                <a:ea typeface="楷体_GB2312" pitchFamily="49" charset="-122"/>
              </a:rPr>
              <a:t>都是带符号数，</a:t>
            </a:r>
            <a:r>
              <a:rPr lang="en-US" altLang="zh-CN" b="1" dirty="0">
                <a:ea typeface="楷体_GB2312" pitchFamily="49" charset="-122"/>
              </a:rPr>
              <a:t>E</a:t>
            </a:r>
            <a:r>
              <a:rPr lang="zh-CN" altLang="en-US" b="1" dirty="0">
                <a:ea typeface="楷体_GB2312" pitchFamily="49" charset="-122"/>
              </a:rPr>
              <a:t>叫做阶码，</a:t>
            </a:r>
            <a:r>
              <a:rPr lang="en-US" altLang="zh-CN" b="1" dirty="0">
                <a:ea typeface="楷体_GB2312" pitchFamily="49" charset="-122"/>
              </a:rPr>
              <a:t>M</a:t>
            </a:r>
            <a:r>
              <a:rPr lang="zh-CN" altLang="en-US" b="1" dirty="0">
                <a:ea typeface="楷体_GB2312" pitchFamily="49" charset="-122"/>
              </a:rPr>
              <a:t>叫做尾数。在大多数计算机中，尾数为纯小数，常用原码或补码表示；阶码为纯整数，常用移码或补码表示。</a:t>
            </a:r>
            <a:endParaRPr lang="zh-CN" altLang="en-US" sz="3600" b="1" dirty="0">
              <a:ea typeface="楷体_GB2312" pitchFamily="49" charset="-122"/>
            </a:endParaRPr>
          </a:p>
        </p:txBody>
      </p:sp>
      <p:sp>
        <p:nvSpPr>
          <p:cNvPr id="55299" name="Rectangle 5"/>
          <p:cNvSpPr>
            <a:spLocks noGrp="1"/>
          </p:cNvSpPr>
          <p:nvPr>
            <p:ph type="title" idx="4294967295"/>
          </p:nvPr>
        </p:nvSpPr>
        <p:spPr>
          <a:xfrm>
            <a:off x="685800" y="304800"/>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2.2.2  浮点表示法 </a:t>
            </a:r>
            <a:endParaRPr lang="zh-CN" altLang="en-US" sz="3600" dirty="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文本框 1"/>
          <p:cNvSpPr txBox="1"/>
          <p:nvPr/>
        </p:nvSpPr>
        <p:spPr>
          <a:xfrm>
            <a:off x="930275" y="727075"/>
            <a:ext cx="4362450" cy="584200"/>
          </a:xfrm>
          <a:prstGeom prst="rect">
            <a:avLst/>
          </a:prstGeom>
          <a:noFill/>
          <a:ln w="9525">
            <a:noFill/>
          </a:ln>
        </p:spPr>
        <p:txBody>
          <a:bodyPr wrap="square" anchor="t" anchorCtr="0">
            <a:spAutoFit/>
          </a:bodyPr>
          <a:p>
            <a:r>
              <a:rPr lang="zh-CN" altLang="en-US">
                <a:latin typeface="Arial" panose="020B0604020202020204" pitchFamily="34" charset="0"/>
              </a:rPr>
              <a:t>分析：</a:t>
            </a:r>
            <a:endParaRPr lang="zh-CN" altLang="en-US">
              <a:latin typeface="Arial" panose="020B0604020202020204" pitchFamily="34" charset="0"/>
            </a:endParaRPr>
          </a:p>
        </p:txBody>
      </p:sp>
      <p:sp>
        <p:nvSpPr>
          <p:cNvPr id="56322" name="文本框 2"/>
          <p:cNvSpPr txBox="1"/>
          <p:nvPr/>
        </p:nvSpPr>
        <p:spPr>
          <a:xfrm>
            <a:off x="877888" y="1809750"/>
            <a:ext cx="7088187" cy="4030663"/>
          </a:xfrm>
          <a:prstGeom prst="rect">
            <a:avLst/>
          </a:prstGeom>
          <a:noFill/>
          <a:ln w="9525">
            <a:noFill/>
          </a:ln>
        </p:spPr>
        <p:txBody>
          <a:bodyPr wrap="square" anchor="t" anchorCtr="0">
            <a:spAutoFit/>
          </a:bodyPr>
          <a:p>
            <a:r>
              <a:rPr lang="zh-CN" altLang="en-US">
                <a:latin typeface="Arial" panose="020B0604020202020204" pitchFamily="34" charset="0"/>
              </a:rPr>
              <a:t>从键盘输入一个数</a:t>
            </a:r>
            <a:r>
              <a:rPr lang="en-US" altLang="zh-CN">
                <a:latin typeface="Arial" panose="020B0604020202020204" pitchFamily="34" charset="0"/>
              </a:rPr>
              <a:t>-187.375</a:t>
            </a:r>
            <a:endParaRPr lang="en-US" altLang="zh-CN">
              <a:latin typeface="Arial" panose="020B0604020202020204" pitchFamily="34" charset="0"/>
            </a:endParaRPr>
          </a:p>
          <a:p>
            <a:r>
              <a:rPr lang="en-US" altLang="zh-CN">
                <a:latin typeface="Arial" panose="020B0604020202020204" pitchFamily="34" charset="0"/>
                <a:sym typeface="宋体" panose="02010600030101010101" pitchFamily="2" charset="-122"/>
              </a:rPr>
              <a:t>-187.375=-10111011.011B</a:t>
            </a:r>
            <a:endParaRPr lang="en-US" altLang="zh-CN">
              <a:latin typeface="Arial" panose="020B0604020202020204" pitchFamily="34" charset="0"/>
              <a:sym typeface="宋体" panose="02010600030101010101" pitchFamily="2" charset="-122"/>
            </a:endParaRPr>
          </a:p>
          <a:p>
            <a:r>
              <a:rPr lang="en-US" altLang="zh-CN">
                <a:latin typeface="Arial" panose="020B0604020202020204" pitchFamily="34" charset="0"/>
                <a:sym typeface="宋体" panose="02010600030101010101" pitchFamily="2" charset="-122"/>
              </a:rPr>
              <a:t>              =-.10111011011*2</a:t>
            </a:r>
            <a:r>
              <a:rPr lang="en-US" altLang="zh-CN" baseline="30000">
                <a:latin typeface="Arial" panose="020B0604020202020204" pitchFamily="34" charset="0"/>
                <a:sym typeface="宋体" panose="02010600030101010101" pitchFamily="2" charset="-122"/>
              </a:rPr>
              <a:t>+8</a:t>
            </a:r>
            <a:r>
              <a:rPr lang="en-US" altLang="zh-CN">
                <a:latin typeface="Arial" panose="020B0604020202020204" pitchFamily="34" charset="0"/>
                <a:sym typeface="宋体" panose="02010600030101010101" pitchFamily="2" charset="-122"/>
              </a:rPr>
              <a:t>B</a:t>
            </a:r>
            <a:endParaRPr lang="en-US" altLang="zh-CN">
              <a:latin typeface="Arial" panose="020B0604020202020204" pitchFamily="34" charset="0"/>
              <a:sym typeface="宋体" panose="02010600030101010101" pitchFamily="2" charset="-122"/>
            </a:endParaRPr>
          </a:p>
          <a:p>
            <a:r>
              <a:rPr lang="en-US" altLang="zh-CN">
                <a:latin typeface="Arial" panose="020B0604020202020204" pitchFamily="34" charset="0"/>
                <a:sym typeface="宋体" panose="02010600030101010101" pitchFamily="2" charset="-122"/>
              </a:rPr>
              <a:t>              =-10111011011.*2</a:t>
            </a:r>
            <a:r>
              <a:rPr lang="en-US" altLang="zh-CN" baseline="30000">
                <a:latin typeface="Arial" panose="020B0604020202020204" pitchFamily="34" charset="0"/>
                <a:sym typeface="宋体" panose="02010600030101010101" pitchFamily="2" charset="-122"/>
              </a:rPr>
              <a:t>-3</a:t>
            </a:r>
            <a:r>
              <a:rPr lang="en-US" altLang="zh-CN">
                <a:latin typeface="Arial" panose="020B0604020202020204" pitchFamily="34" charset="0"/>
                <a:sym typeface="宋体" panose="02010600030101010101" pitchFamily="2" charset="-122"/>
              </a:rPr>
              <a:t>B</a:t>
            </a:r>
            <a:endParaRPr lang="en-US" altLang="zh-CN">
              <a:latin typeface="Arial" panose="020B0604020202020204" pitchFamily="34" charset="0"/>
              <a:sym typeface="宋体" panose="02010600030101010101" pitchFamily="2" charset="-122"/>
            </a:endParaRPr>
          </a:p>
          <a:p>
            <a:r>
              <a:rPr lang="zh-CN" altLang="en-US">
                <a:latin typeface="Arial" panose="020B0604020202020204" pitchFamily="34" charset="0"/>
              </a:rPr>
              <a:t>说明：</a:t>
            </a:r>
            <a:r>
              <a:rPr lang="zh-CN" altLang="en-US">
                <a:solidFill>
                  <a:srgbClr val="FF0000"/>
                </a:solidFill>
                <a:latin typeface="Arial" panose="020B0604020202020204" pitchFamily="34" charset="0"/>
              </a:rPr>
              <a:t>由于小数点固定，相对数据移动，为保证机器数据精度，</a:t>
            </a:r>
            <a:r>
              <a:rPr lang="en-US" altLang="zh-CN">
                <a:solidFill>
                  <a:srgbClr val="FF0000"/>
                </a:solidFill>
                <a:latin typeface="Arial" panose="020B0604020202020204" pitchFamily="34" charset="0"/>
              </a:rPr>
              <a:t>CPU</a:t>
            </a:r>
            <a:r>
              <a:rPr lang="zh-CN" altLang="en-US">
                <a:solidFill>
                  <a:srgbClr val="FF0000"/>
                </a:solidFill>
                <a:latin typeface="Arial" panose="020B0604020202020204" pitchFamily="34" charset="0"/>
              </a:rPr>
              <a:t>设计时应用定点小数描述</a:t>
            </a:r>
            <a:endParaRPr lang="en-US" altLang="zh-CN">
              <a:solidFill>
                <a:srgbClr val="FF0000"/>
              </a:solidFill>
              <a:latin typeface="Arial" panose="020B0604020202020204" pitchFamily="34" charset="0"/>
            </a:endParaRPr>
          </a:p>
          <a:p>
            <a:endParaRPr lang="en-US" altLang="zh-CN">
              <a:solidFill>
                <a:srgbClr val="FF0000"/>
              </a:solidFill>
              <a:latin typeface="Arial" panose="020B0604020202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57346" name="Rectangle 2"/>
          <p:cNvSpPr>
            <a:spLocks noGrp="1"/>
          </p:cNvSpPr>
          <p:nvPr>
            <p:ph type="body" idx="4294967295"/>
          </p:nvPr>
        </p:nvSpPr>
        <p:spPr>
          <a:xfrm>
            <a:off x="533400" y="3200400"/>
            <a:ext cx="7924800" cy="3276600"/>
          </a:xfrm>
        </p:spPr>
        <p:txBody>
          <a:bodyPr vert="horz" wrap="square" lIns="91440" tIns="45720" rIns="91440" bIns="45720" anchor="t" anchorCtr="0"/>
          <a:p>
            <a:pPr algn="ctr" eaLnBrk="1" hangingPunct="1">
              <a:lnSpc>
                <a:spcPct val="90000"/>
              </a:lnSpc>
              <a:buClr>
                <a:schemeClr val="accent2"/>
              </a:buClr>
              <a:buSzPct val="80000"/>
              <a:buFont typeface="Wingdings" panose="05000000000000000000" pitchFamily="2" charset="2"/>
              <a:buNone/>
            </a:pPr>
            <a:r>
              <a:rPr lang="zh-CN" altLang="en-US" sz="2400" b="1" dirty="0"/>
              <a:t>图2-5 浮点数的一般格式</a:t>
            </a:r>
            <a:endParaRPr lang="zh-CN" altLang="en-US" sz="2400" b="1" dirty="0"/>
          </a:p>
          <a:p>
            <a:pPr algn="ctr" eaLnBrk="1" hangingPunct="1">
              <a:lnSpc>
                <a:spcPct val="90000"/>
              </a:lnSpc>
              <a:buClr>
                <a:schemeClr val="accent2"/>
              </a:buClr>
              <a:buSzPct val="80000"/>
              <a:buFont typeface="Wingdings" panose="05000000000000000000" pitchFamily="2" charset="2"/>
              <a:buNone/>
            </a:pPr>
            <a:endParaRPr lang="zh-CN" altLang="en-US" sz="2400" b="1" dirty="0"/>
          </a:p>
          <a:p>
            <a:pPr eaLnBrk="1" hangingPunct="1">
              <a:lnSpc>
                <a:spcPct val="90000"/>
              </a:lnSpc>
              <a:buClr>
                <a:schemeClr val="accent2"/>
              </a:buClr>
              <a:buSzPct val="80000"/>
              <a:buFont typeface="Wingdings" panose="05000000000000000000" pitchFamily="2" charset="2"/>
              <a:buNone/>
            </a:pPr>
            <a:r>
              <a:rPr lang="zh-CN" altLang="en-US" b="1" dirty="0">
                <a:ea typeface="楷体_GB2312" pitchFamily="49" charset="-122"/>
              </a:rPr>
              <a:t>            浮点数的底是隐含的，在整个机器数中不出现。阶码的符号位为</a:t>
            </a:r>
            <a:r>
              <a:rPr lang="en-US" altLang="zh-CN" b="1" dirty="0">
                <a:solidFill>
                  <a:srgbClr val="FF0000"/>
                </a:solidFill>
                <a:ea typeface="楷体_GB2312" pitchFamily="49" charset="-122"/>
              </a:rPr>
              <a:t>e</a:t>
            </a:r>
            <a:r>
              <a:rPr lang="en-US" altLang="zh-CN" b="1" baseline="-25000" dirty="0">
                <a:solidFill>
                  <a:srgbClr val="FF0000"/>
                </a:solidFill>
                <a:ea typeface="楷体_GB2312" pitchFamily="49" charset="-122"/>
              </a:rPr>
              <a:t>s</a:t>
            </a:r>
            <a:r>
              <a:rPr lang="en-US" altLang="zh-CN" b="1" dirty="0">
                <a:ea typeface="楷体_GB2312" pitchFamily="49" charset="-122"/>
              </a:rPr>
              <a:t>，</a:t>
            </a:r>
            <a:r>
              <a:rPr lang="zh-CN" altLang="en-US" b="1" dirty="0">
                <a:ea typeface="楷体_GB2312" pitchFamily="49" charset="-122"/>
              </a:rPr>
              <a:t>阶码的大小反映了在数</a:t>
            </a:r>
            <a:r>
              <a:rPr lang="en-US" altLang="zh-CN" b="1" dirty="0">
                <a:ea typeface="楷体_GB2312" pitchFamily="49" charset="-122"/>
              </a:rPr>
              <a:t>N</a:t>
            </a:r>
            <a:r>
              <a:rPr lang="zh-CN" altLang="en-US" b="1" dirty="0">
                <a:ea typeface="楷体_GB2312" pitchFamily="49" charset="-122"/>
              </a:rPr>
              <a:t>中小数点的实际位置；尾数的符号位为</a:t>
            </a:r>
            <a:r>
              <a:rPr lang="en-US" altLang="zh-CN" b="1" dirty="0">
                <a:solidFill>
                  <a:srgbClr val="FF0000"/>
                </a:solidFill>
                <a:ea typeface="楷体_GB2312" pitchFamily="49" charset="-122"/>
              </a:rPr>
              <a:t>m</a:t>
            </a:r>
            <a:r>
              <a:rPr lang="en-US" altLang="zh-CN" b="1" baseline="-25000" dirty="0">
                <a:solidFill>
                  <a:srgbClr val="FF0000"/>
                </a:solidFill>
                <a:ea typeface="楷体_GB2312" pitchFamily="49" charset="-122"/>
              </a:rPr>
              <a:t>s</a:t>
            </a:r>
            <a:r>
              <a:rPr lang="en-US" altLang="zh-CN" b="1" dirty="0">
                <a:ea typeface="楷体_GB2312" pitchFamily="49" charset="-122"/>
              </a:rPr>
              <a:t>，</a:t>
            </a:r>
            <a:r>
              <a:rPr lang="zh-CN" altLang="en-US" b="1" dirty="0">
                <a:ea typeface="楷体_GB2312" pitchFamily="49" charset="-122"/>
              </a:rPr>
              <a:t>它是整个浮点数的符号位，表示了该浮点数的正负。</a:t>
            </a:r>
            <a:endParaRPr lang="zh-CN" altLang="en-US" b="1" dirty="0">
              <a:ea typeface="楷体_GB2312" pitchFamily="49" charset="-122"/>
            </a:endParaRPr>
          </a:p>
        </p:txBody>
      </p:sp>
      <p:sp>
        <p:nvSpPr>
          <p:cNvPr id="57347" name="Rectangle 4"/>
          <p:cNvSpPr>
            <a:spLocks noGrp="1"/>
          </p:cNvSpPr>
          <p:nvPr>
            <p:ph type="title" idx="4294967295"/>
          </p:nvPr>
        </p:nvSpPr>
        <p:spPr>
          <a:xfrm>
            <a:off x="685800" y="304800"/>
            <a:ext cx="7772400" cy="1143000"/>
          </a:xfrm>
        </p:spPr>
        <p:txBody>
          <a:bodyPr vert="horz" wrap="square" lIns="91440" tIns="45720" rIns="91440" bIns="45720" anchor="ctr" anchorCtr="0"/>
          <a:p>
            <a:pPr algn="l" eaLnBrk="1" hangingPunct="1"/>
            <a:r>
              <a:rPr lang="zh-CN" altLang="en-US" sz="3200" dirty="0">
                <a:solidFill>
                  <a:srgbClr val="0000FF"/>
                </a:solidFill>
                <a:latin typeface="华文新魏" panose="02010800040101010101" pitchFamily="2" charset="-122"/>
                <a:ea typeface="楷体_GB2312" pitchFamily="49" charset="-122"/>
              </a:rPr>
              <a:t>浮点数的一般格式</a:t>
            </a:r>
            <a:endParaRPr lang="zh-CN" altLang="en-US" dirty="0">
              <a:ea typeface="楷体_GB2312" pitchFamily="49" charset="-122"/>
            </a:endParaRPr>
          </a:p>
        </p:txBody>
      </p:sp>
      <p:graphicFrame>
        <p:nvGraphicFramePr>
          <p:cNvPr id="57348" name="Object 5"/>
          <p:cNvGraphicFramePr>
            <a:graphicFrameLocks noChangeAspect="1"/>
          </p:cNvGraphicFramePr>
          <p:nvPr/>
        </p:nvGraphicFramePr>
        <p:xfrm>
          <a:off x="0" y="1219200"/>
          <a:ext cx="9144000" cy="1906588"/>
        </p:xfrm>
        <a:graphic>
          <a:graphicData uri="http://schemas.openxmlformats.org/presentationml/2006/ole">
            <mc:AlternateContent xmlns:mc="http://schemas.openxmlformats.org/markup-compatibility/2006">
              <mc:Choice xmlns:v="urn:schemas-microsoft-com:vml" Requires="v">
                <p:oleObj spid="_x0000_s3078" name="" r:id="rId1" imgW="3741420" imgH="784860" progId="Visio.Drawing.6">
                  <p:embed/>
                </p:oleObj>
              </mc:Choice>
              <mc:Fallback>
                <p:oleObj name="" r:id="rId1" imgW="3741420" imgH="784860" progId="Visio.Drawing.6">
                  <p:embed/>
                  <p:pic>
                    <p:nvPicPr>
                      <p:cNvPr id="0" name="图片 3077"/>
                      <p:cNvPicPr/>
                      <p:nvPr/>
                    </p:nvPicPr>
                    <p:blipFill>
                      <a:blip r:embed="rId2"/>
                      <a:stretch>
                        <a:fillRect/>
                      </a:stretch>
                    </p:blipFill>
                    <p:spPr>
                      <a:xfrm>
                        <a:off x="0" y="1219200"/>
                        <a:ext cx="9144000" cy="1906588"/>
                      </a:xfrm>
                      <a:prstGeom prst="rect">
                        <a:avLst/>
                      </a:prstGeom>
                      <a:noFill/>
                      <a:ln w="38100">
                        <a:noFill/>
                        <a:miter/>
                      </a:ln>
                    </p:spPr>
                  </p:pic>
                </p:oleObj>
              </mc:Fallback>
            </mc:AlternateContent>
          </a:graphicData>
        </a:graphic>
      </p:graphicFrame>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58370" name="Rectangle 2"/>
          <p:cNvSpPr>
            <a:spLocks noGrp="1"/>
          </p:cNvSpPr>
          <p:nvPr>
            <p:ph type="title"/>
          </p:nvPr>
        </p:nvSpPr>
        <p:spPr>
          <a:xfrm>
            <a:off x="762000" y="3810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1.浮点数的表示范围</a:t>
            </a:r>
            <a:endParaRPr lang="zh-CN" altLang="en-US" sz="3200" dirty="0">
              <a:solidFill>
                <a:schemeClr val="accent2"/>
              </a:solidFill>
              <a:ea typeface="楷体_GB2312" pitchFamily="49" charset="-122"/>
            </a:endParaRPr>
          </a:p>
        </p:txBody>
      </p:sp>
      <p:sp>
        <p:nvSpPr>
          <p:cNvPr id="58371" name="Rectangle 3"/>
          <p:cNvSpPr>
            <a:spLocks noGrp="1"/>
          </p:cNvSpPr>
          <p:nvPr>
            <p:ph idx="1"/>
          </p:nvPr>
        </p:nvSpPr>
        <p:spPr>
          <a:xfrm>
            <a:off x="609600" y="1219200"/>
            <a:ext cx="7848600" cy="5257800"/>
          </a:xfrm>
        </p:spPr>
        <p:txBody>
          <a:bodyPr vert="horz" wrap="square" lIns="91440" tIns="45720" rIns="91440" bIns="45720" anchor="t" anchorCtr="0"/>
          <a:p>
            <a:pPr marL="0" algn="just" eaLnBrk="1" hangingPunct="1">
              <a:lnSpc>
                <a:spcPct val="90000"/>
              </a:lnSpc>
              <a:buNone/>
            </a:pPr>
            <a:r>
              <a:rPr lang="zh-CN" altLang="en-US" b="1" dirty="0">
                <a:ea typeface="楷体_GB2312" pitchFamily="49" charset="-122"/>
              </a:rPr>
              <a:t>        当</a:t>
            </a:r>
            <a:r>
              <a:rPr lang="en-US" altLang="zh-CN" b="1" dirty="0">
                <a:ea typeface="楷体_GB2312" pitchFamily="49" charset="-122"/>
              </a:rPr>
              <a:t>e</a:t>
            </a:r>
            <a:r>
              <a:rPr lang="en-US" altLang="zh-CN" b="1" baseline="-30000" dirty="0">
                <a:ea typeface="楷体_GB2312" pitchFamily="49" charset="-122"/>
              </a:rPr>
              <a:t>s</a:t>
            </a:r>
            <a:r>
              <a:rPr lang="en-US" altLang="zh-CN" b="1" dirty="0">
                <a:ea typeface="楷体_GB2312" pitchFamily="49" charset="-122"/>
              </a:rPr>
              <a:t>=0，m</a:t>
            </a:r>
            <a:r>
              <a:rPr lang="en-US" altLang="zh-CN" b="1" baseline="-30000" dirty="0">
                <a:ea typeface="楷体_GB2312" pitchFamily="49" charset="-122"/>
              </a:rPr>
              <a:t>s</a:t>
            </a:r>
            <a:r>
              <a:rPr lang="en-US" altLang="zh-CN" b="1" dirty="0">
                <a:ea typeface="楷体_GB2312" pitchFamily="49" charset="-122"/>
              </a:rPr>
              <a:t>=0，</a:t>
            </a:r>
            <a:r>
              <a:rPr lang="zh-CN" altLang="en-US" b="1" dirty="0">
                <a:ea typeface="楷体_GB2312" pitchFamily="49" charset="-122"/>
              </a:rPr>
              <a:t>阶码和尾数的数值位各位全为1（即阶码和尾数都为最大正数）时，该浮点数为最大正数：</a:t>
            </a:r>
            <a:endParaRPr lang="zh-CN" altLang="en-US" b="1" dirty="0">
              <a:ea typeface="楷体_GB2312" pitchFamily="49" charset="-122"/>
            </a:endParaRPr>
          </a:p>
          <a:p>
            <a:pPr marL="0" algn="just" eaLnBrk="1" hangingPunct="1">
              <a:lnSpc>
                <a:spcPct val="90000"/>
              </a:lnSpc>
              <a:buNone/>
            </a:pPr>
            <a:r>
              <a:rPr lang="en-US" altLang="zh-CN" b="1" dirty="0">
                <a:ea typeface="楷体_GB2312" pitchFamily="49" charset="-122"/>
              </a:rPr>
              <a:t>             X</a:t>
            </a:r>
            <a:r>
              <a:rPr lang="zh-CN" altLang="en-US" b="1" baseline="-30000" dirty="0">
                <a:ea typeface="楷体_GB2312" pitchFamily="49" charset="-122"/>
              </a:rPr>
              <a:t>最大正数</a:t>
            </a:r>
            <a:r>
              <a:rPr lang="zh-CN" altLang="en-US" b="1" dirty="0">
                <a:ea typeface="楷体_GB2312" pitchFamily="49" charset="-122"/>
              </a:rPr>
              <a:t>=(1-2</a:t>
            </a:r>
            <a:r>
              <a:rPr lang="zh-CN" altLang="en-US" b="1" baseline="30000" dirty="0">
                <a:ea typeface="楷体_GB2312" pitchFamily="49" charset="-122"/>
              </a:rPr>
              <a:t>-</a:t>
            </a:r>
            <a:r>
              <a:rPr lang="en-US" altLang="zh-CN" b="1" baseline="30000" dirty="0">
                <a:ea typeface="楷体_GB2312" pitchFamily="49" charset="-122"/>
              </a:rPr>
              <a:t>n</a:t>
            </a:r>
            <a:r>
              <a:rPr lang="en-US" altLang="zh-CN" b="1" dirty="0">
                <a:ea typeface="楷体_GB2312" pitchFamily="49" charset="-122"/>
              </a:rPr>
              <a:t>)</a:t>
            </a:r>
            <a:r>
              <a:rPr lang="en-US" altLang="zh-CN" b="1" dirty="0">
                <a:ea typeface="楷体_GB2312" pitchFamily="49" charset="-122"/>
                <a:sym typeface="Symbol" panose="05050102010706020507" pitchFamily="18" charset="2"/>
              </a:rPr>
              <a:t></a:t>
            </a:r>
            <a:r>
              <a:rPr lang="en-US" altLang="zh-CN" b="1" baseline="30000" dirty="0">
                <a:ea typeface="楷体_GB2312" pitchFamily="49" charset="-122"/>
              </a:rPr>
              <a:t> </a:t>
            </a:r>
            <a:endParaRPr lang="en-US" altLang="zh-CN" b="1" dirty="0">
              <a:ea typeface="楷体_GB2312" pitchFamily="49" charset="-122"/>
            </a:endParaRPr>
          </a:p>
          <a:p>
            <a:pPr marL="0" algn="just" eaLnBrk="1" hangingPunct="1">
              <a:lnSpc>
                <a:spcPct val="90000"/>
              </a:lnSpc>
              <a:buNone/>
            </a:pPr>
            <a:r>
              <a:rPr lang="en-US" altLang="zh-CN" b="1" dirty="0">
                <a:ea typeface="楷体_GB2312" pitchFamily="49" charset="-122"/>
              </a:rPr>
              <a:t>        </a:t>
            </a:r>
            <a:r>
              <a:rPr lang="zh-CN" altLang="en-US" b="1" dirty="0">
                <a:ea typeface="楷体_GB2312" pitchFamily="49" charset="-122"/>
              </a:rPr>
              <a:t>当</a:t>
            </a:r>
            <a:r>
              <a:rPr lang="en-US" altLang="zh-CN" b="1" dirty="0">
                <a:ea typeface="楷体_GB2312" pitchFamily="49" charset="-122"/>
              </a:rPr>
              <a:t>e</a:t>
            </a:r>
            <a:r>
              <a:rPr lang="en-US" altLang="zh-CN" b="1" baseline="-30000" dirty="0">
                <a:ea typeface="楷体_GB2312" pitchFamily="49" charset="-122"/>
              </a:rPr>
              <a:t>s</a:t>
            </a:r>
            <a:r>
              <a:rPr lang="en-US" altLang="zh-CN" b="1" dirty="0">
                <a:ea typeface="楷体_GB2312" pitchFamily="49" charset="-122"/>
              </a:rPr>
              <a:t>=1，m</a:t>
            </a:r>
            <a:r>
              <a:rPr lang="en-US" altLang="zh-CN" b="1" baseline="-30000" dirty="0">
                <a:ea typeface="楷体_GB2312" pitchFamily="49" charset="-122"/>
              </a:rPr>
              <a:t>s</a:t>
            </a:r>
            <a:r>
              <a:rPr lang="en-US" altLang="zh-CN" b="1" dirty="0">
                <a:ea typeface="楷体_GB2312" pitchFamily="49" charset="-122"/>
              </a:rPr>
              <a:t>=0，</a:t>
            </a:r>
            <a:r>
              <a:rPr lang="zh-CN" altLang="en-US" b="1" dirty="0">
                <a:ea typeface="楷体_GB2312" pitchFamily="49" charset="-122"/>
              </a:rPr>
              <a:t>尾数的最低位</a:t>
            </a:r>
            <a:r>
              <a:rPr lang="en-US" altLang="zh-CN" b="1" dirty="0">
                <a:ea typeface="楷体_GB2312" pitchFamily="49" charset="-122"/>
              </a:rPr>
              <a:t>m</a:t>
            </a:r>
            <a:r>
              <a:rPr lang="en-US" altLang="zh-CN" b="1" baseline="-30000" dirty="0">
                <a:ea typeface="楷体_GB2312" pitchFamily="49" charset="-122"/>
              </a:rPr>
              <a:t>n</a:t>
            </a:r>
            <a:r>
              <a:rPr lang="en-US" altLang="zh-CN" b="1" dirty="0">
                <a:ea typeface="楷体_GB2312" pitchFamily="49" charset="-122"/>
              </a:rPr>
              <a:t>=1，</a:t>
            </a:r>
            <a:r>
              <a:rPr lang="zh-CN" altLang="en-US" b="1" dirty="0">
                <a:ea typeface="楷体_GB2312" pitchFamily="49" charset="-122"/>
              </a:rPr>
              <a:t>其余各位为0（即阶码为绝对值最大的负数，尾数为最小正数）时，该浮点数为最小正数：</a:t>
            </a:r>
            <a:endParaRPr lang="zh-CN" altLang="en-US" b="1" dirty="0">
              <a:ea typeface="楷体_GB2312" pitchFamily="49" charset="-122"/>
            </a:endParaRPr>
          </a:p>
          <a:p>
            <a:pPr marL="0" algn="just" eaLnBrk="1" hangingPunct="1">
              <a:lnSpc>
                <a:spcPct val="90000"/>
              </a:lnSpc>
              <a:buNone/>
            </a:pPr>
            <a:r>
              <a:rPr lang="en-US" altLang="zh-CN" b="1" dirty="0">
                <a:ea typeface="楷体_GB2312" pitchFamily="49" charset="-122"/>
              </a:rPr>
              <a:t>            X</a:t>
            </a:r>
            <a:r>
              <a:rPr lang="zh-CN" altLang="en-US" b="1" baseline="-30000" dirty="0">
                <a:ea typeface="楷体_GB2312" pitchFamily="49" charset="-122"/>
              </a:rPr>
              <a:t>最小正数</a:t>
            </a:r>
            <a:r>
              <a:rPr lang="zh-CN" altLang="en-US" b="1" dirty="0">
                <a:ea typeface="楷体_GB2312" pitchFamily="49" charset="-122"/>
              </a:rPr>
              <a:t>=2</a:t>
            </a:r>
            <a:r>
              <a:rPr lang="zh-CN" altLang="en-US" b="1" baseline="30000" dirty="0">
                <a:ea typeface="楷体_GB2312" pitchFamily="49" charset="-122"/>
              </a:rPr>
              <a:t>-</a:t>
            </a:r>
            <a:r>
              <a:rPr lang="en-US" altLang="zh-CN" b="1" baseline="30000" dirty="0">
                <a:ea typeface="楷体_GB2312" pitchFamily="49" charset="-122"/>
              </a:rPr>
              <a:t>n</a:t>
            </a:r>
            <a:r>
              <a:rPr lang="en-US" altLang="zh-CN" b="1" dirty="0">
                <a:ea typeface="楷体_GB2312" pitchFamily="49" charset="-122"/>
                <a:sym typeface="Symbol" panose="05050102010706020507" pitchFamily="18" charset="2"/>
              </a:rPr>
              <a:t></a:t>
            </a:r>
            <a:r>
              <a:rPr lang="en-US" altLang="zh-CN" b="1" baseline="30000" dirty="0">
                <a:ea typeface="楷体_GB2312" pitchFamily="49" charset="-122"/>
              </a:rPr>
              <a:t> </a:t>
            </a:r>
            <a:endParaRPr lang="en-US" altLang="zh-CN" b="1" dirty="0">
              <a:ea typeface="楷体_GB2312" pitchFamily="49" charset="-122"/>
            </a:endParaRPr>
          </a:p>
          <a:p>
            <a:pPr marL="0" algn="just" eaLnBrk="1" hangingPunct="1">
              <a:lnSpc>
                <a:spcPct val="90000"/>
              </a:lnSpc>
              <a:buNone/>
            </a:pPr>
            <a:r>
              <a:rPr lang="en-US" altLang="zh-CN" b="1" dirty="0">
                <a:ea typeface="楷体_GB2312" pitchFamily="49" charset="-122"/>
              </a:rPr>
              <a:t>    </a:t>
            </a:r>
            <a:endParaRPr lang="zh-CN" altLang="en-US" b="1" dirty="0">
              <a:ea typeface="楷体_GB2312" pitchFamily="49" charset="-122"/>
              <a:sym typeface="Symbol" panose="05050102010706020507" pitchFamily="18" charset="2"/>
            </a:endParaRPr>
          </a:p>
        </p:txBody>
      </p:sp>
      <p:graphicFrame>
        <p:nvGraphicFramePr>
          <p:cNvPr id="58372" name="Object 5"/>
          <p:cNvGraphicFramePr>
            <a:graphicFrameLocks noChangeAspect="1"/>
          </p:cNvGraphicFramePr>
          <p:nvPr/>
        </p:nvGraphicFramePr>
        <p:xfrm>
          <a:off x="4876800" y="2514600"/>
          <a:ext cx="990600" cy="692150"/>
        </p:xfrm>
        <a:graphic>
          <a:graphicData uri="http://schemas.openxmlformats.org/presentationml/2006/ole">
            <mc:AlternateContent xmlns:mc="http://schemas.openxmlformats.org/markup-compatibility/2006">
              <mc:Choice xmlns:v="urn:schemas-microsoft-com:vml" Requires="v">
                <p:oleObj spid="_x0000_s3079" name="" r:id="rId1" imgW="316865" imgH="215900" progId="Equation.3">
                  <p:embed/>
                </p:oleObj>
              </mc:Choice>
              <mc:Fallback>
                <p:oleObj name="" r:id="rId1" imgW="316865" imgH="215900" progId="Equation.3">
                  <p:embed/>
                  <p:pic>
                    <p:nvPicPr>
                      <p:cNvPr id="0" name="图片 3078"/>
                      <p:cNvPicPr/>
                      <p:nvPr/>
                    </p:nvPicPr>
                    <p:blipFill>
                      <a:blip r:embed="rId2"/>
                      <a:stretch>
                        <a:fillRect/>
                      </a:stretch>
                    </p:blipFill>
                    <p:spPr>
                      <a:xfrm>
                        <a:off x="4876800" y="2514600"/>
                        <a:ext cx="990600" cy="692150"/>
                      </a:xfrm>
                      <a:prstGeom prst="rect">
                        <a:avLst/>
                      </a:prstGeom>
                      <a:noFill/>
                      <a:ln w="38100">
                        <a:noFill/>
                        <a:miter/>
                      </a:ln>
                    </p:spPr>
                  </p:pic>
                </p:oleObj>
              </mc:Fallback>
            </mc:AlternateContent>
          </a:graphicData>
        </a:graphic>
      </p:graphicFrame>
      <p:graphicFrame>
        <p:nvGraphicFramePr>
          <p:cNvPr id="58373" name="Object 7"/>
          <p:cNvGraphicFramePr>
            <a:graphicFrameLocks noChangeAspect="1"/>
          </p:cNvGraphicFramePr>
          <p:nvPr/>
        </p:nvGraphicFramePr>
        <p:xfrm>
          <a:off x="4191000" y="4800600"/>
          <a:ext cx="914400" cy="725488"/>
        </p:xfrm>
        <a:graphic>
          <a:graphicData uri="http://schemas.openxmlformats.org/presentationml/2006/ole">
            <mc:AlternateContent xmlns:mc="http://schemas.openxmlformats.org/markup-compatibility/2006">
              <mc:Choice xmlns:v="urn:schemas-microsoft-com:vml" Requires="v">
                <p:oleObj spid="_x0000_s3080" name="" r:id="rId3" imgW="279400" imgH="215900" progId="Equation.3">
                  <p:embed/>
                </p:oleObj>
              </mc:Choice>
              <mc:Fallback>
                <p:oleObj name="" r:id="rId3" imgW="279400" imgH="215900" progId="Equation.3">
                  <p:embed/>
                  <p:pic>
                    <p:nvPicPr>
                      <p:cNvPr id="0" name="图片 3079"/>
                      <p:cNvPicPr/>
                      <p:nvPr/>
                    </p:nvPicPr>
                    <p:blipFill>
                      <a:blip r:embed="rId4"/>
                      <a:stretch>
                        <a:fillRect/>
                      </a:stretch>
                    </p:blipFill>
                    <p:spPr>
                      <a:xfrm>
                        <a:off x="4191000" y="4800600"/>
                        <a:ext cx="914400" cy="725488"/>
                      </a:xfrm>
                      <a:prstGeom prst="rect">
                        <a:avLst/>
                      </a:prstGeom>
                      <a:noFill/>
                      <a:ln w="38100">
                        <a:noFill/>
                        <a:miter/>
                      </a:ln>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59394" name="Rectangle 2"/>
          <p:cNvSpPr>
            <a:spLocks noGrp="1"/>
          </p:cNvSpPr>
          <p:nvPr>
            <p:ph type="title"/>
          </p:nvPr>
        </p:nvSpPr>
        <p:spPr>
          <a:xfrm>
            <a:off x="762000" y="3810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1.浮点数的表示范围（续）</a:t>
            </a:r>
            <a:endParaRPr lang="zh-CN" altLang="en-US" sz="3200" dirty="0">
              <a:solidFill>
                <a:schemeClr val="accent2"/>
              </a:solidFill>
              <a:ea typeface="楷体_GB2312" pitchFamily="49" charset="-122"/>
            </a:endParaRPr>
          </a:p>
        </p:txBody>
      </p:sp>
      <p:sp>
        <p:nvSpPr>
          <p:cNvPr id="59395" name="Rectangle 3"/>
          <p:cNvSpPr>
            <a:spLocks noGrp="1"/>
          </p:cNvSpPr>
          <p:nvPr>
            <p:ph idx="1"/>
          </p:nvPr>
        </p:nvSpPr>
        <p:spPr>
          <a:xfrm>
            <a:off x="609600" y="1219200"/>
            <a:ext cx="7848600" cy="5638800"/>
          </a:xfrm>
        </p:spPr>
        <p:txBody>
          <a:bodyPr vert="horz" wrap="square" lIns="91440" tIns="45720" rIns="91440" bIns="45720" anchor="t" anchorCtr="0"/>
          <a:p>
            <a:pPr eaLnBrk="1" hangingPunct="1">
              <a:buNone/>
            </a:pPr>
            <a:r>
              <a:rPr lang="zh-CN" altLang="en-US" b="1" dirty="0">
                <a:ea typeface="楷体_GB2312" pitchFamily="49" charset="-122"/>
              </a:rPr>
              <a:t>            当</a:t>
            </a:r>
            <a:r>
              <a:rPr lang="en-US" altLang="zh-CN" b="1" dirty="0">
                <a:ea typeface="楷体_GB2312" pitchFamily="49" charset="-122"/>
              </a:rPr>
              <a:t>e</a:t>
            </a:r>
            <a:r>
              <a:rPr lang="en-US" altLang="zh-CN" b="1" baseline="-30000" dirty="0">
                <a:ea typeface="楷体_GB2312" pitchFamily="49" charset="-122"/>
              </a:rPr>
              <a:t>s</a:t>
            </a:r>
            <a:r>
              <a:rPr lang="en-US" altLang="zh-CN" b="1" dirty="0">
                <a:ea typeface="楷体_GB2312" pitchFamily="49" charset="-122"/>
              </a:rPr>
              <a:t>=0，</a:t>
            </a:r>
            <a:r>
              <a:rPr lang="zh-CN" altLang="en-US" b="1" dirty="0">
                <a:ea typeface="楷体_GB2312" pitchFamily="49" charset="-122"/>
              </a:rPr>
              <a:t>阶码的数值位为全1；</a:t>
            </a:r>
            <a:r>
              <a:rPr lang="en-US" altLang="zh-CN" b="1" dirty="0">
                <a:ea typeface="楷体_GB2312" pitchFamily="49" charset="-122"/>
              </a:rPr>
              <a:t>m</a:t>
            </a:r>
            <a:r>
              <a:rPr lang="en-US" altLang="zh-CN" b="1" baseline="-30000" dirty="0">
                <a:ea typeface="楷体_GB2312" pitchFamily="49" charset="-122"/>
              </a:rPr>
              <a:t>s</a:t>
            </a:r>
            <a:r>
              <a:rPr lang="en-US" altLang="zh-CN" b="1" dirty="0">
                <a:ea typeface="楷体_GB2312" pitchFamily="49" charset="-122"/>
              </a:rPr>
              <a:t>=1，</a:t>
            </a:r>
            <a:r>
              <a:rPr lang="zh-CN" altLang="en-US" b="1" dirty="0">
                <a:ea typeface="楷体_GB2312" pitchFamily="49" charset="-122"/>
              </a:rPr>
              <a:t>尾数的数值位为全0（即阶码为最大正数，尾数为绝对值最大的负数）时，该浮点数为绝对值最大负数：</a:t>
            </a:r>
            <a:endParaRPr lang="zh-CN" altLang="en-US" b="1" dirty="0">
              <a:ea typeface="楷体_GB2312" pitchFamily="49" charset="-122"/>
            </a:endParaRPr>
          </a:p>
          <a:p>
            <a:pPr eaLnBrk="1" hangingPunct="1">
              <a:buNone/>
            </a:pPr>
            <a:r>
              <a:rPr lang="zh-CN" altLang="en-US" b="1" dirty="0">
                <a:ea typeface="楷体_GB2312" pitchFamily="49" charset="-122"/>
              </a:rPr>
              <a:t>             </a:t>
            </a:r>
            <a:r>
              <a:rPr lang="en-US" altLang="zh-CN" b="1" dirty="0">
                <a:ea typeface="楷体_GB2312" pitchFamily="49" charset="-122"/>
              </a:rPr>
              <a:t>X</a:t>
            </a:r>
            <a:r>
              <a:rPr lang="zh-CN" altLang="en-US" b="1" baseline="-30000" dirty="0">
                <a:ea typeface="楷体_GB2312" pitchFamily="49" charset="-122"/>
              </a:rPr>
              <a:t>绝对值最大负数</a:t>
            </a:r>
            <a:r>
              <a:rPr lang="zh-CN" altLang="en-US" b="1" dirty="0">
                <a:ea typeface="楷体_GB2312" pitchFamily="49" charset="-122"/>
              </a:rPr>
              <a:t>= -1</a:t>
            </a:r>
            <a:r>
              <a:rPr lang="zh-CN" altLang="en-US" b="1" dirty="0">
                <a:ea typeface="楷体_GB2312" pitchFamily="49" charset="-122"/>
                <a:sym typeface="Symbol" panose="05050102010706020507" pitchFamily="18" charset="2"/>
              </a:rPr>
              <a:t></a:t>
            </a:r>
            <a:endParaRPr lang="zh-CN" altLang="en-US" b="1" dirty="0">
              <a:ea typeface="楷体_GB2312" pitchFamily="49" charset="-122"/>
              <a:sym typeface="Symbol" panose="05050102010706020507" pitchFamily="18" charset="2"/>
            </a:endParaRPr>
          </a:p>
        </p:txBody>
      </p:sp>
      <p:graphicFrame>
        <p:nvGraphicFramePr>
          <p:cNvPr id="59396" name="Object 4"/>
          <p:cNvGraphicFramePr>
            <a:graphicFrameLocks noChangeAspect="1"/>
          </p:cNvGraphicFramePr>
          <p:nvPr/>
        </p:nvGraphicFramePr>
        <p:xfrm>
          <a:off x="5122863" y="3124200"/>
          <a:ext cx="877887" cy="638175"/>
        </p:xfrm>
        <a:graphic>
          <a:graphicData uri="http://schemas.openxmlformats.org/presentationml/2006/ole">
            <mc:AlternateContent xmlns:mc="http://schemas.openxmlformats.org/markup-compatibility/2006">
              <mc:Choice xmlns:v="urn:schemas-microsoft-com:vml" Requires="v">
                <p:oleObj spid="_x0000_s3085" name="" r:id="rId1" imgW="304800" imgH="215900" progId="Equation.3">
                  <p:embed/>
                </p:oleObj>
              </mc:Choice>
              <mc:Fallback>
                <p:oleObj name="" r:id="rId1" imgW="304800" imgH="215900" progId="Equation.3">
                  <p:embed/>
                  <p:pic>
                    <p:nvPicPr>
                      <p:cNvPr id="0" name="图片 3084"/>
                      <p:cNvPicPr/>
                      <p:nvPr/>
                    </p:nvPicPr>
                    <p:blipFill>
                      <a:blip r:embed="rId2"/>
                      <a:stretch>
                        <a:fillRect/>
                      </a:stretch>
                    </p:blipFill>
                    <p:spPr>
                      <a:xfrm>
                        <a:off x="5122863" y="3124200"/>
                        <a:ext cx="877887" cy="638175"/>
                      </a:xfrm>
                      <a:prstGeom prst="rect">
                        <a:avLst/>
                      </a:prstGeom>
                      <a:noFill/>
                      <a:ln w="38100">
                        <a:noFill/>
                        <a:miter/>
                      </a:ln>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60418" name="Rectangle 2"/>
          <p:cNvSpPr>
            <a:spLocks noGrp="1"/>
          </p:cNvSpPr>
          <p:nvPr>
            <p:ph type="body" idx="4294967295"/>
          </p:nvPr>
        </p:nvSpPr>
        <p:spPr>
          <a:xfrm>
            <a:off x="533400" y="1295400"/>
            <a:ext cx="7924800" cy="5105400"/>
          </a:xfrm>
        </p:spPr>
        <p:txBody>
          <a:bodyPr vert="horz" wrap="square" lIns="91440" tIns="45720" rIns="91440" bIns="45720" anchor="t" anchorCtr="0"/>
          <a:p>
            <a:pPr eaLnBrk="1" hangingPunct="1">
              <a:buNone/>
            </a:pPr>
            <a:r>
              <a:rPr lang="zh-CN" altLang="en-US" b="1" dirty="0">
                <a:ea typeface="楷体_GB2312" pitchFamily="49" charset="-122"/>
              </a:rPr>
              <a:t>            为了提高运算的精度，需要充分地利用尾数的有效数位，通常采取浮点数规格化形式，即规定</a:t>
            </a:r>
            <a:r>
              <a:rPr lang="zh-CN" altLang="en-US" b="1" dirty="0">
                <a:solidFill>
                  <a:srgbClr val="FF0000"/>
                </a:solidFill>
                <a:ea typeface="楷体_GB2312" pitchFamily="49" charset="-122"/>
              </a:rPr>
              <a:t>尾数的最高数位必须是一个有效值</a:t>
            </a:r>
            <a:r>
              <a:rPr lang="zh-CN" altLang="en-US" b="1" dirty="0">
                <a:ea typeface="楷体_GB2312" pitchFamily="49" charset="-122"/>
              </a:rPr>
              <a:t>。</a:t>
            </a:r>
            <a:endParaRPr lang="zh-CN" altLang="en-US" b="1" dirty="0">
              <a:ea typeface="楷体_GB2312" pitchFamily="49" charset="-122"/>
            </a:endParaRPr>
          </a:p>
          <a:p>
            <a:pPr eaLnBrk="1" hangingPunct="1">
              <a:lnSpc>
                <a:spcPct val="110000"/>
              </a:lnSpc>
              <a:buNone/>
            </a:pPr>
            <a:r>
              <a:rPr lang="zh-CN" altLang="en-US" b="1" dirty="0">
                <a:solidFill>
                  <a:srgbClr val="FF0000"/>
                </a:solidFill>
                <a:ea typeface="楷体_GB2312" pitchFamily="49" charset="-122"/>
              </a:rPr>
              <a:t>             1/2 ≤|</a:t>
            </a:r>
            <a:r>
              <a:rPr lang="en-US" altLang="zh-CN" b="1" dirty="0">
                <a:solidFill>
                  <a:srgbClr val="FF0000"/>
                </a:solidFill>
                <a:ea typeface="楷体_GB2312" pitchFamily="49" charset="-122"/>
              </a:rPr>
              <a:t>M| ＜ 1</a:t>
            </a:r>
            <a:endParaRPr lang="en-US" altLang="zh-CN" b="1" dirty="0">
              <a:solidFill>
                <a:srgbClr val="FF0000"/>
              </a:solidFill>
              <a:ea typeface="楷体_GB2312" pitchFamily="49" charset="-122"/>
            </a:endParaRPr>
          </a:p>
        </p:txBody>
      </p:sp>
      <p:sp>
        <p:nvSpPr>
          <p:cNvPr id="60419" name="Rectangle 3"/>
          <p:cNvSpPr>
            <a:spLocks noGrp="1"/>
          </p:cNvSpPr>
          <p:nvPr>
            <p:ph type="title" idx="4294967295"/>
          </p:nvPr>
        </p:nvSpPr>
        <p:spPr>
          <a:xfrm>
            <a:off x="685800" y="3810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2.规格化浮点数</a:t>
            </a:r>
            <a:endParaRPr lang="zh-CN" altLang="en-US" dirty="0">
              <a:solidFill>
                <a:schemeClr val="accent2"/>
              </a:solidFill>
              <a:ea typeface="楷体_GB2312" pitchFamily="49"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61442" name="Rectangle 2"/>
          <p:cNvSpPr>
            <a:spLocks noGrp="1"/>
          </p:cNvSpPr>
          <p:nvPr>
            <p:ph type="title"/>
          </p:nvPr>
        </p:nvSpPr>
        <p:spPr>
          <a:xfrm>
            <a:off x="685800" y="304800"/>
            <a:ext cx="7772400" cy="1143000"/>
          </a:xfrm>
        </p:spPr>
        <p:txBody>
          <a:bodyPr vert="horz" wrap="square" lIns="91440" tIns="45720" rIns="91440" bIns="45720" anchor="ctr" anchorCtr="0"/>
          <a:p>
            <a:pPr algn="l" eaLnBrk="1" hangingPunct="1">
              <a:lnSpc>
                <a:spcPct val="110000"/>
              </a:lnSpc>
            </a:pPr>
            <a:r>
              <a:rPr lang="zh-CN" altLang="en-US" sz="3200" dirty="0">
                <a:solidFill>
                  <a:schemeClr val="accent2"/>
                </a:solidFill>
                <a:ea typeface="楷体_GB2312" pitchFamily="49" charset="-122"/>
              </a:rPr>
              <a:t>2.规格化浮点数（续）</a:t>
            </a:r>
            <a:endParaRPr lang="zh-CN" altLang="en-US" sz="4800" dirty="0">
              <a:solidFill>
                <a:schemeClr val="accent2"/>
              </a:solidFill>
            </a:endParaRPr>
          </a:p>
        </p:txBody>
      </p:sp>
      <p:sp>
        <p:nvSpPr>
          <p:cNvPr id="61443" name="Rectangle 3"/>
          <p:cNvSpPr>
            <a:spLocks noGrp="1"/>
          </p:cNvSpPr>
          <p:nvPr>
            <p:ph idx="1"/>
          </p:nvPr>
        </p:nvSpPr>
        <p:spPr>
          <a:xfrm>
            <a:off x="533400" y="1143000"/>
            <a:ext cx="7966075" cy="4970463"/>
          </a:xfrm>
        </p:spPr>
        <p:txBody>
          <a:bodyPr vert="horz" wrap="square" lIns="91440" tIns="45720" rIns="91440" bIns="45720" anchor="t" anchorCtr="0"/>
          <a:p>
            <a:pPr eaLnBrk="1" hangingPunct="1">
              <a:lnSpc>
                <a:spcPct val="110000"/>
              </a:lnSpc>
              <a:buNone/>
            </a:pPr>
            <a:r>
              <a:rPr lang="zh-CN" altLang="en-US" b="1" dirty="0">
                <a:ea typeface="楷体_GB2312" pitchFamily="49" charset="-122"/>
              </a:rPr>
              <a:t>           在尾数用补码表示时，规格化浮点数应满足</a:t>
            </a:r>
            <a:r>
              <a:rPr lang="zh-CN" altLang="en-US" b="1" dirty="0">
                <a:solidFill>
                  <a:srgbClr val="FF0000"/>
                </a:solidFill>
                <a:ea typeface="楷体_GB2312" pitchFamily="49" charset="-122"/>
              </a:rPr>
              <a:t>尾数最高数位与符号位不同</a:t>
            </a:r>
            <a:r>
              <a:rPr lang="zh-CN" altLang="en-US" b="1" dirty="0">
                <a:ea typeface="楷体_GB2312" pitchFamily="49" charset="-122"/>
              </a:rPr>
              <a:t>（</a:t>
            </a:r>
            <a:r>
              <a:rPr lang="en-US" altLang="zh-CN" b="1" dirty="0">
                <a:ea typeface="楷体_GB2312" pitchFamily="49" charset="-122"/>
              </a:rPr>
              <a:t>m</a:t>
            </a:r>
            <a:r>
              <a:rPr lang="en-US" altLang="zh-CN" b="1" baseline="-25000" dirty="0">
                <a:ea typeface="楷体_GB2312" pitchFamily="49" charset="-122"/>
              </a:rPr>
              <a:t>s</a:t>
            </a:r>
            <a:r>
              <a:rPr lang="en-US" altLang="zh-CN" b="1" dirty="0">
                <a:ea typeface="楷体_GB2312" pitchFamily="49" charset="-122"/>
              </a:rPr>
              <a:t>⊕m</a:t>
            </a:r>
            <a:r>
              <a:rPr lang="en-US" altLang="zh-CN" b="1" baseline="-25000" dirty="0">
                <a:ea typeface="楷体_GB2312" pitchFamily="49" charset="-122"/>
              </a:rPr>
              <a:t>1</a:t>
            </a:r>
            <a:r>
              <a:rPr lang="en-US" altLang="zh-CN" b="1" dirty="0">
                <a:ea typeface="楷体_GB2312" pitchFamily="49" charset="-122"/>
              </a:rPr>
              <a:t> =1），</a:t>
            </a:r>
            <a:r>
              <a:rPr lang="zh-CN" altLang="en-US" b="1" dirty="0">
                <a:ea typeface="楷体_GB2312" pitchFamily="49" charset="-122"/>
              </a:rPr>
              <a:t>即当1/2</a:t>
            </a:r>
            <a:r>
              <a:rPr lang="zh-CN" altLang="en-US" b="1" dirty="0">
                <a:solidFill>
                  <a:srgbClr val="FF0000"/>
                </a:solidFill>
                <a:ea typeface="楷体_GB2312" pitchFamily="49" charset="-122"/>
              </a:rPr>
              <a:t>≤</a:t>
            </a:r>
            <a:r>
              <a:rPr lang="en-US" altLang="zh-CN" b="1" dirty="0">
                <a:ea typeface="楷体_GB2312" pitchFamily="49" charset="-122"/>
              </a:rPr>
              <a:t>M＜1</a:t>
            </a:r>
            <a:r>
              <a:rPr lang="zh-CN" altLang="en-US" b="1" dirty="0">
                <a:ea typeface="楷体_GB2312" pitchFamily="49" charset="-122"/>
              </a:rPr>
              <a:t>时，应有0.1</a:t>
            </a:r>
            <a:r>
              <a:rPr lang="en-US" altLang="zh-CN" b="1" dirty="0">
                <a:ea typeface="楷体_GB2312" pitchFamily="49" charset="-122"/>
              </a:rPr>
              <a:t>xx…x</a:t>
            </a:r>
            <a:r>
              <a:rPr lang="zh-CN" altLang="en-US" b="1" dirty="0">
                <a:ea typeface="楷体_GB2312" pitchFamily="49" charset="-122"/>
              </a:rPr>
              <a:t>形式，当-1</a:t>
            </a:r>
            <a:r>
              <a:rPr lang="zh-CN" altLang="en-US" b="1" dirty="0">
                <a:solidFill>
                  <a:srgbClr val="FF0000"/>
                </a:solidFill>
                <a:ea typeface="楷体_GB2312" pitchFamily="49" charset="-122"/>
              </a:rPr>
              <a:t>≤</a:t>
            </a:r>
            <a:r>
              <a:rPr lang="en-US" altLang="zh-CN" b="1" dirty="0">
                <a:ea typeface="楷体_GB2312" pitchFamily="49" charset="-122"/>
              </a:rPr>
              <a:t>M＜-1/2</a:t>
            </a:r>
            <a:r>
              <a:rPr lang="zh-CN" altLang="en-US" b="1" dirty="0">
                <a:ea typeface="楷体_GB2312" pitchFamily="49" charset="-122"/>
              </a:rPr>
              <a:t>时，应有1.0</a:t>
            </a:r>
            <a:r>
              <a:rPr lang="en-US" altLang="zh-CN" b="1" dirty="0">
                <a:ea typeface="楷体_GB2312" pitchFamily="49" charset="-122"/>
              </a:rPr>
              <a:t>xx…x</a:t>
            </a:r>
            <a:r>
              <a:rPr lang="zh-CN" altLang="en-US" b="1" dirty="0">
                <a:ea typeface="楷体_GB2312" pitchFamily="49" charset="-122"/>
              </a:rPr>
              <a:t>形式。</a:t>
            </a:r>
            <a:endParaRPr lang="zh-CN" altLang="en-US" b="1" dirty="0">
              <a:ea typeface="楷体_GB2312" pitchFamily="49" charset="-122"/>
            </a:endParaRPr>
          </a:p>
          <a:p>
            <a:pPr eaLnBrk="1" hangingPunct="1">
              <a:lnSpc>
                <a:spcPct val="110000"/>
              </a:lnSpc>
              <a:buNone/>
            </a:pPr>
            <a:r>
              <a:rPr lang="zh-CN" altLang="en-US" b="1" dirty="0">
                <a:ea typeface="楷体_GB2312" pitchFamily="49" charset="-122"/>
              </a:rPr>
              <a:t>            需要注意的是当</a:t>
            </a:r>
            <a:r>
              <a:rPr lang="en-US" altLang="zh-CN" b="1" dirty="0">
                <a:ea typeface="楷体_GB2312" pitchFamily="49" charset="-122"/>
              </a:rPr>
              <a:t>M=-1/2，</a:t>
            </a:r>
            <a:r>
              <a:rPr lang="zh-CN" altLang="en-US" b="1" dirty="0">
                <a:ea typeface="楷体_GB2312" pitchFamily="49" charset="-122"/>
              </a:rPr>
              <a:t>对于原码来说，是规格化数，而对于补码来说，不是规格化数。</a:t>
            </a:r>
            <a:endParaRPr lang="zh-CN" altLang="en-US" b="1" dirty="0">
              <a:ea typeface="楷体_GB2312" pitchFamily="49"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62466" name="Rectangle 2"/>
          <p:cNvSpPr>
            <a:spLocks noGrp="1"/>
          </p:cNvSpPr>
          <p:nvPr>
            <p:ph type="title"/>
          </p:nvPr>
        </p:nvSpPr>
        <p:spPr>
          <a:xfrm>
            <a:off x="685800" y="304800"/>
            <a:ext cx="7772400" cy="1143000"/>
          </a:xfrm>
        </p:spPr>
        <p:txBody>
          <a:bodyPr vert="horz" wrap="square" lIns="91440" tIns="45720" rIns="91440" bIns="45720" anchor="ctr" anchorCtr="0"/>
          <a:p>
            <a:pPr algn="l" eaLnBrk="1" hangingPunct="1">
              <a:lnSpc>
                <a:spcPct val="110000"/>
              </a:lnSpc>
            </a:pPr>
            <a:r>
              <a:rPr lang="zh-CN" altLang="en-US" sz="3200" dirty="0">
                <a:solidFill>
                  <a:schemeClr val="accent2"/>
                </a:solidFill>
                <a:ea typeface="楷体_GB2312" pitchFamily="49" charset="-122"/>
              </a:rPr>
              <a:t>2.规格化浮点数（续）</a:t>
            </a:r>
            <a:endParaRPr lang="zh-CN" altLang="en-US" sz="4800" dirty="0">
              <a:solidFill>
                <a:schemeClr val="accent2"/>
              </a:solidFill>
            </a:endParaRPr>
          </a:p>
        </p:txBody>
      </p:sp>
      <p:sp>
        <p:nvSpPr>
          <p:cNvPr id="62467" name="Rectangle 3"/>
          <p:cNvSpPr>
            <a:spLocks noGrp="1"/>
          </p:cNvSpPr>
          <p:nvPr>
            <p:ph idx="1"/>
          </p:nvPr>
        </p:nvSpPr>
        <p:spPr>
          <a:xfrm>
            <a:off x="533400" y="1143000"/>
            <a:ext cx="7966075" cy="4970463"/>
          </a:xfrm>
        </p:spPr>
        <p:txBody>
          <a:bodyPr vert="horz" wrap="square" lIns="91440" tIns="45720" rIns="91440" bIns="45720" anchor="t" anchorCtr="0"/>
          <a:p>
            <a:pPr eaLnBrk="1" hangingPunct="1">
              <a:lnSpc>
                <a:spcPct val="110000"/>
              </a:lnSpc>
              <a:buNone/>
            </a:pPr>
            <a:r>
              <a:rPr lang="zh-CN" altLang="en-US" b="1" dirty="0">
                <a:ea typeface="楷体_GB2312" pitchFamily="49" charset="-122"/>
              </a:rPr>
              <a:t>           当</a:t>
            </a:r>
            <a:r>
              <a:rPr lang="en-US" altLang="zh-CN" b="1" dirty="0">
                <a:ea typeface="楷体_GB2312" pitchFamily="49" charset="-122"/>
              </a:rPr>
              <a:t>e</a:t>
            </a:r>
            <a:r>
              <a:rPr lang="en-US" altLang="zh-CN" b="1" baseline="-30000" dirty="0">
                <a:ea typeface="楷体_GB2312" pitchFamily="49" charset="-122"/>
              </a:rPr>
              <a:t>s</a:t>
            </a:r>
            <a:r>
              <a:rPr lang="en-US" altLang="zh-CN" b="1" dirty="0">
                <a:ea typeface="楷体_GB2312" pitchFamily="49" charset="-122"/>
              </a:rPr>
              <a:t>=1，m</a:t>
            </a:r>
            <a:r>
              <a:rPr lang="en-US" altLang="zh-CN" b="1" baseline="-30000" dirty="0">
                <a:ea typeface="楷体_GB2312" pitchFamily="49" charset="-122"/>
              </a:rPr>
              <a:t>s</a:t>
            </a:r>
            <a:r>
              <a:rPr lang="en-US" altLang="zh-CN" b="1" dirty="0">
                <a:ea typeface="楷体_GB2312" pitchFamily="49" charset="-122"/>
              </a:rPr>
              <a:t>=0，</a:t>
            </a:r>
            <a:r>
              <a:rPr lang="zh-CN" altLang="en-US" b="1" dirty="0">
                <a:ea typeface="楷体_GB2312" pitchFamily="49" charset="-122"/>
              </a:rPr>
              <a:t>尾数的最高位</a:t>
            </a:r>
            <a:r>
              <a:rPr lang="en-US" altLang="zh-CN" b="1" dirty="0">
                <a:ea typeface="楷体_GB2312" pitchFamily="49" charset="-122"/>
              </a:rPr>
              <a:t>m</a:t>
            </a:r>
            <a:r>
              <a:rPr lang="en-US" altLang="zh-CN" b="1" baseline="-30000" dirty="0">
                <a:ea typeface="楷体_GB2312" pitchFamily="49" charset="-122"/>
              </a:rPr>
              <a:t>1</a:t>
            </a:r>
            <a:r>
              <a:rPr lang="en-US" altLang="zh-CN" b="1" dirty="0">
                <a:ea typeface="楷体_GB2312" pitchFamily="49" charset="-122"/>
              </a:rPr>
              <a:t>=1，</a:t>
            </a:r>
            <a:r>
              <a:rPr lang="zh-CN" altLang="en-US" b="1" dirty="0">
                <a:ea typeface="楷体_GB2312" pitchFamily="49" charset="-122"/>
              </a:rPr>
              <a:t>其余各位为0时，该浮点数为规格化的最小正数：</a:t>
            </a:r>
            <a:endParaRPr lang="zh-CN" altLang="en-US" b="1" dirty="0">
              <a:ea typeface="楷体_GB2312" pitchFamily="49" charset="-122"/>
            </a:endParaRPr>
          </a:p>
          <a:p>
            <a:pPr eaLnBrk="1" hangingPunct="1">
              <a:lnSpc>
                <a:spcPct val="110000"/>
              </a:lnSpc>
              <a:buNone/>
            </a:pPr>
            <a:r>
              <a:rPr lang="en-US" altLang="zh-CN" b="1" dirty="0">
                <a:ea typeface="楷体_GB2312" pitchFamily="49" charset="-122"/>
              </a:rPr>
              <a:t>            X</a:t>
            </a:r>
            <a:r>
              <a:rPr lang="zh-CN" altLang="en-US" b="1" baseline="-30000" dirty="0">
                <a:ea typeface="楷体_GB2312" pitchFamily="49" charset="-122"/>
              </a:rPr>
              <a:t>规格化的最小正数</a:t>
            </a:r>
            <a:r>
              <a:rPr lang="zh-CN" altLang="en-US" b="1" dirty="0">
                <a:ea typeface="楷体_GB2312" pitchFamily="49" charset="-122"/>
              </a:rPr>
              <a:t>=2</a:t>
            </a:r>
            <a:r>
              <a:rPr lang="zh-CN" altLang="en-US" b="1" baseline="30000" dirty="0">
                <a:ea typeface="楷体_GB2312" pitchFamily="49" charset="-122"/>
              </a:rPr>
              <a:t>-1</a:t>
            </a:r>
            <a:r>
              <a:rPr lang="zh-CN" altLang="en-US" b="1" dirty="0">
                <a:ea typeface="楷体_GB2312" pitchFamily="49" charset="-122"/>
                <a:sym typeface="Symbol" panose="05050102010706020507" pitchFamily="18" charset="2"/>
              </a:rPr>
              <a:t></a:t>
            </a:r>
            <a:endParaRPr lang="zh-CN" altLang="en-US" b="1" dirty="0">
              <a:ea typeface="楷体_GB2312" pitchFamily="49" charset="-122"/>
            </a:endParaRPr>
          </a:p>
          <a:p>
            <a:pPr eaLnBrk="1" hangingPunct="1">
              <a:lnSpc>
                <a:spcPct val="110000"/>
              </a:lnSpc>
              <a:buNone/>
            </a:pPr>
            <a:r>
              <a:rPr lang="zh-CN" altLang="en-US" b="1" dirty="0">
                <a:ea typeface="楷体_GB2312" pitchFamily="49" charset="-122"/>
              </a:rPr>
              <a:t>            </a:t>
            </a:r>
            <a:r>
              <a:rPr lang="zh-CN" altLang="en-US" b="1" dirty="0">
                <a:solidFill>
                  <a:srgbClr val="FF3300"/>
                </a:solidFill>
                <a:ea typeface="楷体_GB2312" pitchFamily="49" charset="-122"/>
              </a:rPr>
              <a:t>规格化的最小正数大于非规格化的最小正数</a:t>
            </a:r>
            <a:r>
              <a:rPr lang="zh-CN" altLang="en-US" b="1" dirty="0">
                <a:ea typeface="楷体_GB2312" pitchFamily="49" charset="-122"/>
              </a:rPr>
              <a:t>。</a:t>
            </a:r>
            <a:endParaRPr lang="zh-CN" altLang="en-US" b="1" dirty="0">
              <a:ea typeface="楷体_GB2312" pitchFamily="49" charset="-122"/>
            </a:endParaRPr>
          </a:p>
        </p:txBody>
      </p:sp>
      <p:graphicFrame>
        <p:nvGraphicFramePr>
          <p:cNvPr id="62468" name="Object 4"/>
          <p:cNvGraphicFramePr>
            <a:graphicFrameLocks noChangeAspect="1"/>
          </p:cNvGraphicFramePr>
          <p:nvPr/>
        </p:nvGraphicFramePr>
        <p:xfrm>
          <a:off x="5105400" y="2743200"/>
          <a:ext cx="838200" cy="665163"/>
        </p:xfrm>
        <a:graphic>
          <a:graphicData uri="http://schemas.openxmlformats.org/presentationml/2006/ole">
            <mc:AlternateContent xmlns:mc="http://schemas.openxmlformats.org/markup-compatibility/2006">
              <mc:Choice xmlns:v="urn:schemas-microsoft-com:vml" Requires="v">
                <p:oleObj spid="_x0000_s3086" name="" r:id="rId1" imgW="279400" imgH="215900" progId="Equation.3">
                  <p:embed/>
                </p:oleObj>
              </mc:Choice>
              <mc:Fallback>
                <p:oleObj name="" r:id="rId1" imgW="279400" imgH="215900" progId="Equation.3">
                  <p:embed/>
                  <p:pic>
                    <p:nvPicPr>
                      <p:cNvPr id="0" name="图片 3085"/>
                      <p:cNvPicPr/>
                      <p:nvPr/>
                    </p:nvPicPr>
                    <p:blipFill>
                      <a:blip r:embed="rId2"/>
                      <a:stretch>
                        <a:fillRect/>
                      </a:stretch>
                    </p:blipFill>
                    <p:spPr>
                      <a:xfrm>
                        <a:off x="5105400" y="2743200"/>
                        <a:ext cx="838200" cy="665163"/>
                      </a:xfrm>
                      <a:prstGeom prst="rect">
                        <a:avLst/>
                      </a:prstGeom>
                      <a:noFill/>
                      <a:ln w="38100">
                        <a:noFill/>
                        <a:miter/>
                      </a:ln>
                    </p:spPr>
                  </p:pic>
                </p:oleObj>
              </mc:Fallback>
            </mc:AlternateContent>
          </a:graphicData>
        </a:graphic>
      </p:graphicFrame>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63490" name="Rectangle 2"/>
          <p:cNvSpPr>
            <a:spLocks noGrp="1"/>
          </p:cNvSpPr>
          <p:nvPr>
            <p:ph type="title" idx="4294967295"/>
          </p:nvPr>
        </p:nvSpPr>
        <p:spPr>
          <a:xfrm>
            <a:off x="762000" y="304800"/>
            <a:ext cx="7772400" cy="1143000"/>
          </a:xfrm>
        </p:spPr>
        <p:txBody>
          <a:bodyPr vert="horz" wrap="square" lIns="91440" tIns="45720" rIns="91440" bIns="45720" anchor="ctr" anchorCtr="0"/>
          <a:p>
            <a:pPr algn="l" eaLnBrk="1" hangingPunct="1"/>
            <a:r>
              <a:rPr lang="zh-CN" altLang="en-US" sz="3200" dirty="0">
                <a:solidFill>
                  <a:srgbClr val="0000FF"/>
                </a:solidFill>
                <a:latin typeface="楷体_GB2312" pitchFamily="49" charset="-122"/>
                <a:ea typeface="楷体_GB2312" pitchFamily="49" charset="-122"/>
              </a:rPr>
              <a:t>浮点数的典型值      </a:t>
            </a:r>
            <a:endParaRPr lang="zh-CN" altLang="en-US" sz="3200" dirty="0">
              <a:solidFill>
                <a:srgbClr val="0000FF"/>
              </a:solidFill>
              <a:latin typeface="楷体_GB2312" pitchFamily="49" charset="-122"/>
              <a:ea typeface="楷体_GB2312" pitchFamily="49" charset="-122"/>
            </a:endParaRPr>
          </a:p>
        </p:txBody>
      </p:sp>
      <p:pic>
        <p:nvPicPr>
          <p:cNvPr id="63491" name="Picture 3" descr="E:\Temp\浮点数表.jpg"/>
          <p:cNvPicPr>
            <a:picLocks noChangeAspect="1"/>
          </p:cNvPicPr>
          <p:nvPr/>
        </p:nvPicPr>
        <p:blipFill>
          <a:blip r:embed="rId1"/>
          <a:stretch>
            <a:fillRect/>
          </a:stretch>
        </p:blipFill>
        <p:spPr>
          <a:xfrm>
            <a:off x="0" y="1524000"/>
            <a:ext cx="9144000" cy="4070350"/>
          </a:xfrm>
          <a:prstGeom prst="rect">
            <a:avLst/>
          </a:prstGeom>
          <a:noFill/>
          <a:ln w="9525">
            <a:noFill/>
          </a:ln>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64514" name="Rectangle 2"/>
          <p:cNvSpPr>
            <a:spLocks noGrp="1"/>
          </p:cNvSpPr>
          <p:nvPr>
            <p:ph type="title" idx="4294967295"/>
          </p:nvPr>
        </p:nvSpPr>
        <p:spPr>
          <a:xfrm>
            <a:off x="685800" y="228600"/>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2.2.3 浮点数阶码的移码表示法</a:t>
            </a:r>
            <a:endParaRPr lang="zh-CN" altLang="en-US" sz="3600" dirty="0">
              <a:solidFill>
                <a:srgbClr val="0000FF"/>
              </a:solidFill>
              <a:latin typeface="华文新魏" panose="02010800040101010101" pitchFamily="2" charset="-122"/>
              <a:ea typeface="华文新魏" panose="02010800040101010101" pitchFamily="2" charset="-122"/>
            </a:endParaRPr>
          </a:p>
        </p:txBody>
      </p:sp>
      <p:sp>
        <p:nvSpPr>
          <p:cNvPr id="64515" name="Rectangle 3"/>
          <p:cNvSpPr>
            <a:spLocks noGrp="1"/>
          </p:cNvSpPr>
          <p:nvPr>
            <p:ph type="body" idx="4294967295"/>
          </p:nvPr>
        </p:nvSpPr>
        <p:spPr>
          <a:xfrm>
            <a:off x="609600" y="1066800"/>
            <a:ext cx="7924800" cy="5486400"/>
          </a:xfrm>
        </p:spPr>
        <p:txBody>
          <a:bodyPr vert="horz" wrap="square" lIns="91440" tIns="45720" rIns="91440" bIns="45720" anchor="t" anchorCtr="0"/>
          <a:p>
            <a:pPr eaLnBrk="1" hangingPunct="1">
              <a:buNone/>
            </a:pPr>
            <a:r>
              <a:rPr lang="zh-CN" altLang="en-US" sz="2800" b="1" dirty="0">
                <a:ea typeface="楷体_GB2312" pitchFamily="49" charset="-122"/>
              </a:rPr>
              <a:t>            移码就是在真值</a:t>
            </a:r>
            <a:r>
              <a:rPr lang="en-US" altLang="zh-CN" sz="2800" b="1" dirty="0">
                <a:ea typeface="楷体_GB2312" pitchFamily="49" charset="-122"/>
              </a:rPr>
              <a:t>X</a:t>
            </a:r>
            <a:r>
              <a:rPr lang="zh-CN" altLang="en-US" sz="2800" b="1" dirty="0">
                <a:ea typeface="楷体_GB2312" pitchFamily="49" charset="-122"/>
              </a:rPr>
              <a:t>上加一个常数（偏置值），相当于</a:t>
            </a:r>
            <a:r>
              <a:rPr lang="en-US" altLang="zh-CN" sz="2800" b="1" dirty="0">
                <a:ea typeface="楷体_GB2312" pitchFamily="49" charset="-122"/>
              </a:rPr>
              <a:t>X</a:t>
            </a:r>
            <a:r>
              <a:rPr lang="zh-CN" altLang="en-US" sz="2800" b="1" dirty="0">
                <a:ea typeface="楷体_GB2312" pitchFamily="49" charset="-122"/>
              </a:rPr>
              <a:t>在数轴上向正方向平移了一段距离，这就是“移码”一词的来由。</a:t>
            </a:r>
            <a:endParaRPr lang="zh-CN" altLang="en-US" sz="2800" b="1" dirty="0">
              <a:ea typeface="楷体_GB2312" pitchFamily="49" charset="-122"/>
            </a:endParaRPr>
          </a:p>
          <a:p>
            <a:pPr eaLnBrk="1" hangingPunct="1">
              <a:buNone/>
            </a:pPr>
            <a:r>
              <a:rPr lang="zh-CN" altLang="en-US" sz="2800" b="1" dirty="0">
                <a:ea typeface="楷体_GB2312" pitchFamily="49" charset="-122"/>
              </a:rPr>
              <a:t>            [</a:t>
            </a:r>
            <a:r>
              <a:rPr lang="en-US" altLang="zh-CN" sz="2800" b="1" dirty="0">
                <a:ea typeface="楷体_GB2312" pitchFamily="49" charset="-122"/>
              </a:rPr>
              <a:t>X]</a:t>
            </a:r>
            <a:r>
              <a:rPr lang="zh-CN" altLang="en-US" sz="2800" b="1" baseline="-25000" dirty="0">
                <a:ea typeface="楷体_GB2312" pitchFamily="49" charset="-122"/>
              </a:rPr>
              <a:t>移</a:t>
            </a:r>
            <a:r>
              <a:rPr lang="zh-CN" altLang="en-US" sz="2800" b="1" dirty="0">
                <a:ea typeface="楷体_GB2312" pitchFamily="49" charset="-122"/>
              </a:rPr>
              <a:t>=偏置值+</a:t>
            </a:r>
            <a:r>
              <a:rPr lang="en-US" altLang="zh-CN" sz="2800" b="1" dirty="0">
                <a:ea typeface="楷体_GB2312" pitchFamily="49" charset="-122"/>
              </a:rPr>
              <a:t>X</a:t>
            </a:r>
            <a:endParaRPr lang="en-US" altLang="zh-CN" sz="2800" b="1" dirty="0">
              <a:ea typeface="楷体_GB2312" pitchFamily="49" charset="-122"/>
            </a:endParaRPr>
          </a:p>
          <a:p>
            <a:pPr eaLnBrk="1" hangingPunct="1">
              <a:buNone/>
            </a:pPr>
            <a:r>
              <a:rPr lang="zh-CN" altLang="en-US" sz="2800" b="1" dirty="0">
                <a:ea typeface="楷体_GB2312" pitchFamily="49" charset="-122"/>
              </a:rPr>
              <a:t>            对于字长8位的定点整数，偏置值为</a:t>
            </a:r>
            <a:r>
              <a:rPr lang="zh-CN" altLang="en-US" sz="2800" b="1" dirty="0">
                <a:solidFill>
                  <a:srgbClr val="FF0000"/>
                </a:solidFill>
                <a:ea typeface="楷体_GB2312" pitchFamily="49" charset="-122"/>
              </a:rPr>
              <a:t>2</a:t>
            </a:r>
            <a:r>
              <a:rPr lang="zh-CN" altLang="en-US" sz="2800" b="1" baseline="30000" dirty="0">
                <a:solidFill>
                  <a:srgbClr val="FF0000"/>
                </a:solidFill>
                <a:ea typeface="楷体_GB2312" pitchFamily="49" charset="-122"/>
              </a:rPr>
              <a:t>7</a:t>
            </a:r>
            <a:r>
              <a:rPr lang="zh-CN" altLang="en-US" sz="2800" b="1" dirty="0">
                <a:solidFill>
                  <a:srgbClr val="FF0000"/>
                </a:solidFill>
                <a:ea typeface="楷体_GB2312" pitchFamily="49" charset="-122"/>
              </a:rPr>
              <a:t>。</a:t>
            </a:r>
            <a:endParaRPr lang="zh-CN" altLang="en-US" sz="2800" b="1" dirty="0">
              <a:solidFill>
                <a:srgbClr val="FF0000"/>
              </a:solidFill>
              <a:ea typeface="楷体_GB2312" pitchFamily="49" charset="-122"/>
            </a:endParaRPr>
          </a:p>
          <a:p>
            <a:pPr eaLnBrk="1" hangingPunct="1">
              <a:buNone/>
            </a:pPr>
            <a:r>
              <a:rPr lang="zh-CN" altLang="en-US" sz="2800" b="1" dirty="0">
                <a:solidFill>
                  <a:srgbClr val="FF3300"/>
                </a:solidFill>
                <a:ea typeface="楷体_GB2312" pitchFamily="49" charset="-122"/>
              </a:rPr>
              <a:t>    </a:t>
            </a:r>
            <a:r>
              <a:rPr lang="zh-CN" altLang="en-US" sz="2800" b="1" dirty="0">
                <a:ea typeface="楷体_GB2312" pitchFamily="49" charset="-122"/>
              </a:rPr>
              <a:t>例11：</a:t>
            </a:r>
            <a:r>
              <a:rPr lang="en-US" altLang="zh-CN" sz="2800" b="1" dirty="0">
                <a:ea typeface="楷体_GB2312" pitchFamily="49" charset="-122"/>
              </a:rPr>
              <a:t>X=1011101</a:t>
            </a:r>
            <a:endParaRPr lang="en-US" altLang="zh-CN" sz="2800" b="1" dirty="0">
              <a:ea typeface="楷体_GB2312" pitchFamily="49" charset="-122"/>
            </a:endParaRPr>
          </a:p>
          <a:p>
            <a:pPr eaLnBrk="1" hangingPunct="1">
              <a:buNone/>
            </a:pPr>
            <a:r>
              <a:rPr lang="en-US" altLang="zh-CN" sz="2800" b="1" dirty="0">
                <a:ea typeface="楷体_GB2312" pitchFamily="49" charset="-122"/>
              </a:rPr>
              <a:t>           [X]</a:t>
            </a:r>
            <a:r>
              <a:rPr lang="zh-CN" altLang="en-US" sz="2800" b="1" baseline="-25000" dirty="0">
                <a:ea typeface="楷体_GB2312" pitchFamily="49" charset="-122"/>
              </a:rPr>
              <a:t>移</a:t>
            </a:r>
            <a:r>
              <a:rPr lang="zh-CN" altLang="en-US" sz="2800" b="1" dirty="0">
                <a:ea typeface="楷体_GB2312" pitchFamily="49" charset="-122"/>
              </a:rPr>
              <a:t>=</a:t>
            </a:r>
            <a:r>
              <a:rPr lang="zh-CN" altLang="en-US" sz="2800" b="1" dirty="0">
                <a:solidFill>
                  <a:srgbClr val="FF0000"/>
                </a:solidFill>
                <a:ea typeface="楷体_GB2312" pitchFamily="49" charset="-122"/>
              </a:rPr>
              <a:t>2</a:t>
            </a:r>
            <a:r>
              <a:rPr lang="zh-CN" altLang="en-US" sz="2800" b="1" baseline="30000" dirty="0">
                <a:solidFill>
                  <a:srgbClr val="FF0000"/>
                </a:solidFill>
                <a:ea typeface="楷体_GB2312" pitchFamily="49" charset="-122"/>
              </a:rPr>
              <a:t>7</a:t>
            </a:r>
            <a:r>
              <a:rPr lang="zh-CN" altLang="en-US" sz="2800" b="1" dirty="0">
                <a:ea typeface="楷体_GB2312" pitchFamily="49" charset="-122"/>
              </a:rPr>
              <a:t>+</a:t>
            </a:r>
            <a:r>
              <a:rPr lang="en-US" altLang="zh-CN" sz="2800" b="1" dirty="0">
                <a:ea typeface="楷体_GB2312" pitchFamily="49" charset="-122"/>
              </a:rPr>
              <a:t>X=10000000+1011101=</a:t>
            </a:r>
            <a:r>
              <a:rPr lang="en-US" altLang="zh-CN" sz="2800" b="1" dirty="0">
                <a:solidFill>
                  <a:srgbClr val="FF0000"/>
                </a:solidFill>
                <a:ea typeface="楷体_GB2312" pitchFamily="49" charset="-122"/>
              </a:rPr>
              <a:t>1</a:t>
            </a:r>
            <a:r>
              <a:rPr lang="en-US" altLang="zh-CN" sz="2800" b="1" dirty="0">
                <a:ea typeface="楷体_GB2312" pitchFamily="49" charset="-122"/>
              </a:rPr>
              <a:t>1011101</a:t>
            </a:r>
            <a:endParaRPr lang="en-US" altLang="zh-CN" sz="2800" b="1" dirty="0">
              <a:ea typeface="楷体_GB2312" pitchFamily="49" charset="-122"/>
            </a:endParaRPr>
          </a:p>
          <a:p>
            <a:pPr eaLnBrk="1" hangingPunct="1">
              <a:buNone/>
            </a:pPr>
            <a:r>
              <a:rPr lang="en-US" altLang="zh-CN" sz="2800" b="1" dirty="0">
                <a:ea typeface="楷体_GB2312" pitchFamily="49" charset="-122"/>
              </a:rPr>
              <a:t>           [X]</a:t>
            </a:r>
            <a:r>
              <a:rPr lang="zh-CN" altLang="en-US" sz="2800" b="1" baseline="-25000" dirty="0">
                <a:ea typeface="楷体_GB2312" pitchFamily="49" charset="-122"/>
              </a:rPr>
              <a:t>补</a:t>
            </a:r>
            <a:r>
              <a:rPr lang="zh-CN" altLang="en-US" sz="2800" b="1" dirty="0">
                <a:ea typeface="楷体_GB2312" pitchFamily="49" charset="-122"/>
              </a:rPr>
              <a:t>=</a:t>
            </a:r>
            <a:r>
              <a:rPr lang="zh-CN" altLang="en-US" sz="2800" b="1" dirty="0">
                <a:solidFill>
                  <a:srgbClr val="FF0000"/>
                </a:solidFill>
                <a:ea typeface="楷体_GB2312" pitchFamily="49" charset="-122"/>
              </a:rPr>
              <a:t>0</a:t>
            </a:r>
            <a:r>
              <a:rPr lang="zh-CN" altLang="en-US" sz="2800" b="1" dirty="0">
                <a:ea typeface="楷体_GB2312" pitchFamily="49" charset="-122"/>
              </a:rPr>
              <a:t>1011101</a:t>
            </a:r>
            <a:endParaRPr lang="zh-CN" altLang="en-US" sz="2800" b="1" dirty="0">
              <a:ea typeface="楷体_GB2312" pitchFamily="49" charset="-122"/>
            </a:endParaRPr>
          </a:p>
          <a:p>
            <a:pPr eaLnBrk="1" hangingPunct="1">
              <a:buNone/>
            </a:pPr>
            <a:r>
              <a:rPr lang="zh-CN" altLang="en-US" sz="2800" b="1" dirty="0">
                <a:ea typeface="楷体_GB2312" pitchFamily="49" charset="-122"/>
              </a:rPr>
              <a:t>    例12：</a:t>
            </a:r>
            <a:r>
              <a:rPr lang="en-US" altLang="zh-CN" sz="2800" b="1" dirty="0">
                <a:ea typeface="楷体_GB2312" pitchFamily="49" charset="-122"/>
              </a:rPr>
              <a:t>X=</a:t>
            </a:r>
            <a:r>
              <a:rPr lang="en-US" altLang="zh-CN" sz="2800" b="1" dirty="0">
                <a:solidFill>
                  <a:srgbClr val="FF0000"/>
                </a:solidFill>
                <a:ea typeface="楷体_GB2312" pitchFamily="49" charset="-122"/>
              </a:rPr>
              <a:t>-</a:t>
            </a:r>
            <a:r>
              <a:rPr lang="en-US" altLang="zh-CN" sz="2800" b="1" dirty="0">
                <a:ea typeface="楷体_GB2312" pitchFamily="49" charset="-122"/>
              </a:rPr>
              <a:t>1011101</a:t>
            </a:r>
            <a:endParaRPr lang="en-US" altLang="zh-CN" sz="2800" b="1" dirty="0">
              <a:ea typeface="楷体_GB2312" pitchFamily="49" charset="-122"/>
            </a:endParaRPr>
          </a:p>
          <a:p>
            <a:pPr eaLnBrk="1" hangingPunct="1">
              <a:lnSpc>
                <a:spcPct val="50000"/>
              </a:lnSpc>
              <a:spcBef>
                <a:spcPct val="50000"/>
              </a:spcBef>
              <a:buNone/>
            </a:pPr>
            <a:r>
              <a:rPr lang="en-US" altLang="zh-CN" sz="2800" b="1" dirty="0">
                <a:ea typeface="楷体_GB2312" pitchFamily="49" charset="-122"/>
              </a:rPr>
              <a:t>           [X]</a:t>
            </a:r>
            <a:r>
              <a:rPr lang="zh-CN" altLang="en-US" sz="2800" b="1" baseline="-25000" dirty="0">
                <a:ea typeface="楷体_GB2312" pitchFamily="49" charset="-122"/>
              </a:rPr>
              <a:t>移</a:t>
            </a:r>
            <a:r>
              <a:rPr lang="zh-CN" altLang="en-US" sz="2800" b="1" dirty="0">
                <a:ea typeface="楷体_GB2312" pitchFamily="49" charset="-122"/>
              </a:rPr>
              <a:t>= </a:t>
            </a:r>
            <a:r>
              <a:rPr lang="zh-CN" altLang="en-US" sz="2800" b="1" dirty="0">
                <a:solidFill>
                  <a:srgbClr val="FF0000"/>
                </a:solidFill>
                <a:ea typeface="楷体_GB2312" pitchFamily="49" charset="-122"/>
              </a:rPr>
              <a:t>2</a:t>
            </a:r>
            <a:r>
              <a:rPr lang="zh-CN" altLang="en-US" sz="2800" b="1" baseline="30000" dirty="0">
                <a:solidFill>
                  <a:srgbClr val="FF0000"/>
                </a:solidFill>
                <a:ea typeface="楷体_GB2312" pitchFamily="49" charset="-122"/>
              </a:rPr>
              <a:t>7</a:t>
            </a:r>
            <a:r>
              <a:rPr lang="zh-CN" altLang="en-US" sz="2800" b="1" dirty="0">
                <a:ea typeface="楷体_GB2312" pitchFamily="49" charset="-122"/>
              </a:rPr>
              <a:t> +</a:t>
            </a:r>
            <a:r>
              <a:rPr lang="en-US" altLang="zh-CN" sz="2800" b="1" dirty="0">
                <a:ea typeface="楷体_GB2312" pitchFamily="49" charset="-122"/>
              </a:rPr>
              <a:t>X=10000000-1011101=</a:t>
            </a:r>
            <a:r>
              <a:rPr lang="en-US" altLang="zh-CN" sz="2800" b="1" dirty="0">
                <a:solidFill>
                  <a:srgbClr val="FF0000"/>
                </a:solidFill>
                <a:ea typeface="楷体_GB2312" pitchFamily="49" charset="-122"/>
              </a:rPr>
              <a:t>0</a:t>
            </a:r>
            <a:r>
              <a:rPr lang="en-US" altLang="zh-CN" sz="2800" b="1" dirty="0">
                <a:ea typeface="楷体_GB2312" pitchFamily="49" charset="-122"/>
              </a:rPr>
              <a:t>0100011</a:t>
            </a:r>
            <a:endParaRPr lang="en-US" altLang="zh-CN" sz="2800" b="1" dirty="0">
              <a:ea typeface="楷体_GB2312" pitchFamily="49" charset="-122"/>
            </a:endParaRPr>
          </a:p>
          <a:p>
            <a:pPr eaLnBrk="1" hangingPunct="1">
              <a:lnSpc>
                <a:spcPct val="60000"/>
              </a:lnSpc>
              <a:spcBef>
                <a:spcPct val="50000"/>
              </a:spcBef>
              <a:buNone/>
            </a:pPr>
            <a:r>
              <a:rPr lang="en-US" altLang="zh-CN" sz="2800" b="1" dirty="0">
                <a:ea typeface="楷体_GB2312" pitchFamily="49" charset="-122"/>
              </a:rPr>
              <a:t>           [X]</a:t>
            </a:r>
            <a:r>
              <a:rPr lang="zh-CN" altLang="en-US" sz="2800" b="1" baseline="-25000" dirty="0">
                <a:ea typeface="楷体_GB2312" pitchFamily="49" charset="-122"/>
              </a:rPr>
              <a:t>补</a:t>
            </a:r>
            <a:r>
              <a:rPr lang="zh-CN" altLang="en-US" sz="2800" b="1" dirty="0">
                <a:ea typeface="楷体_GB2312" pitchFamily="49" charset="-122"/>
              </a:rPr>
              <a:t>=</a:t>
            </a:r>
            <a:r>
              <a:rPr lang="zh-CN" altLang="en-US" sz="2800" b="1" dirty="0">
                <a:solidFill>
                  <a:srgbClr val="FF0000"/>
                </a:solidFill>
                <a:ea typeface="楷体_GB2312" pitchFamily="49" charset="-122"/>
              </a:rPr>
              <a:t>1</a:t>
            </a:r>
            <a:r>
              <a:rPr lang="zh-CN" altLang="en-US" sz="2800" b="1" dirty="0">
                <a:ea typeface="楷体_GB2312" pitchFamily="49" charset="-122"/>
              </a:rPr>
              <a:t>0100011</a:t>
            </a:r>
            <a:endParaRPr lang="en-US" altLang="zh-CN" sz="2800" b="1" dirty="0">
              <a:ea typeface="楷体_GB2312" pitchFamily="49"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65538" name="Rectangle 2"/>
          <p:cNvSpPr>
            <a:spLocks noGrp="1"/>
          </p:cNvSpPr>
          <p:nvPr>
            <p:ph type="title"/>
          </p:nvPr>
        </p:nvSpPr>
        <p:spPr>
          <a:xfrm>
            <a:off x="533400" y="533400"/>
            <a:ext cx="8001000" cy="1143000"/>
          </a:xfrm>
        </p:spPr>
        <p:txBody>
          <a:bodyPr vert="horz" wrap="square" lIns="91440" tIns="45720" rIns="91440" bIns="45720" anchor="ctr" anchorCtr="0"/>
          <a:p>
            <a:pPr eaLnBrk="1" hangingPunct="1"/>
            <a:r>
              <a:rPr lang="zh-CN" altLang="en-US" sz="3200" dirty="0">
                <a:solidFill>
                  <a:srgbClr val="0000FF"/>
                </a:solidFill>
                <a:ea typeface="楷体_GB2312" pitchFamily="49" charset="-122"/>
              </a:rPr>
              <a:t>偏置值为2</a:t>
            </a:r>
            <a:r>
              <a:rPr lang="zh-CN" altLang="en-US" sz="3200" baseline="30000" dirty="0">
                <a:solidFill>
                  <a:srgbClr val="0000FF"/>
                </a:solidFill>
                <a:ea typeface="楷体_GB2312" pitchFamily="49" charset="-122"/>
              </a:rPr>
              <a:t>7</a:t>
            </a:r>
            <a:r>
              <a:rPr lang="zh-CN" altLang="en-US" sz="3200" dirty="0">
                <a:solidFill>
                  <a:srgbClr val="0000FF"/>
                </a:solidFill>
                <a:ea typeface="楷体_GB2312" pitchFamily="49" charset="-122"/>
              </a:rPr>
              <a:t>的移码、补码和真值之间的关系 </a:t>
            </a:r>
            <a:endParaRPr lang="zh-CN" altLang="en-US" sz="3200" dirty="0">
              <a:solidFill>
                <a:srgbClr val="0000FF"/>
              </a:solidFill>
              <a:ea typeface="楷体_GB2312" pitchFamily="49" charset="-122"/>
            </a:endParaRPr>
          </a:p>
        </p:txBody>
      </p:sp>
      <p:pic>
        <p:nvPicPr>
          <p:cNvPr id="65539" name="Picture 3" descr="E:\Temp\移码表.jpg"/>
          <p:cNvPicPr>
            <a:picLocks noChangeAspect="1"/>
          </p:cNvPicPr>
          <p:nvPr/>
        </p:nvPicPr>
        <p:blipFill>
          <a:blip r:embed="rId1"/>
          <a:stretch>
            <a:fillRect/>
          </a:stretch>
        </p:blipFill>
        <p:spPr>
          <a:xfrm>
            <a:off x="0" y="1852613"/>
            <a:ext cx="9144000" cy="3171825"/>
          </a:xfrm>
          <a:prstGeom prst="rect">
            <a:avLst/>
          </a:prstGeom>
          <a:noFill/>
          <a:ln w="9525">
            <a:noFill/>
          </a:ln>
        </p:spPr>
      </p:pic>
      <p:sp>
        <p:nvSpPr>
          <p:cNvPr id="65540" name="Text Box 4"/>
          <p:cNvSpPr txBox="1"/>
          <p:nvPr/>
        </p:nvSpPr>
        <p:spPr>
          <a:xfrm>
            <a:off x="1141413" y="4267200"/>
            <a:ext cx="611187" cy="579438"/>
          </a:xfrm>
          <a:prstGeom prst="rect">
            <a:avLst/>
          </a:prstGeom>
          <a:noFill/>
          <a:ln w="6350">
            <a:noFill/>
          </a:ln>
        </p:spPr>
        <p:txBody>
          <a:bodyPr vert="eaVert" anchor="t" anchorCtr="0">
            <a:spAutoFit/>
          </a:bodyPr>
          <a:p>
            <a:pPr>
              <a:spcBef>
                <a:spcPct val="50000"/>
              </a:spcBef>
            </a:pPr>
            <a:r>
              <a:rPr lang="zh-CN" altLang="en-US" sz="2800" dirty="0">
                <a:solidFill>
                  <a:schemeClr val="tx1"/>
                </a:solidFill>
                <a:latin typeface="Arial" panose="020B0604020202020204" pitchFamily="34" charset="0"/>
              </a:rPr>
              <a:t>…</a:t>
            </a:r>
            <a:endParaRPr lang="zh-CN" altLang="en-US" sz="2800" dirty="0">
              <a:solidFill>
                <a:schemeClr val="tx1"/>
              </a:solidFill>
              <a:latin typeface="Arial" panose="020B0604020202020204" pitchFamily="34" charset="0"/>
            </a:endParaRPr>
          </a:p>
        </p:txBody>
      </p:sp>
      <p:sp>
        <p:nvSpPr>
          <p:cNvPr id="65541" name="Text Box 5"/>
          <p:cNvSpPr txBox="1"/>
          <p:nvPr/>
        </p:nvSpPr>
        <p:spPr>
          <a:xfrm>
            <a:off x="3427413" y="4267200"/>
            <a:ext cx="611187" cy="579438"/>
          </a:xfrm>
          <a:prstGeom prst="rect">
            <a:avLst/>
          </a:prstGeom>
          <a:noFill/>
          <a:ln w="6350">
            <a:noFill/>
          </a:ln>
        </p:spPr>
        <p:txBody>
          <a:bodyPr vert="eaVert" anchor="t" anchorCtr="0">
            <a:spAutoFit/>
          </a:bodyPr>
          <a:p>
            <a:pPr>
              <a:spcBef>
                <a:spcPct val="50000"/>
              </a:spcBef>
            </a:pPr>
            <a:r>
              <a:rPr lang="zh-CN" altLang="en-US" sz="2800" dirty="0">
                <a:solidFill>
                  <a:schemeClr val="tx1"/>
                </a:solidFill>
                <a:latin typeface="Arial" panose="020B0604020202020204" pitchFamily="34" charset="0"/>
              </a:rPr>
              <a:t>…</a:t>
            </a:r>
            <a:endParaRPr lang="zh-CN" altLang="en-US" sz="2800" dirty="0">
              <a:solidFill>
                <a:schemeClr val="tx1"/>
              </a:solidFill>
              <a:latin typeface="Arial" panose="020B0604020202020204" pitchFamily="34" charset="0"/>
            </a:endParaRPr>
          </a:p>
        </p:txBody>
      </p:sp>
      <p:sp>
        <p:nvSpPr>
          <p:cNvPr id="65542" name="Text Box 6"/>
          <p:cNvSpPr txBox="1"/>
          <p:nvPr/>
        </p:nvSpPr>
        <p:spPr>
          <a:xfrm>
            <a:off x="5638800" y="4267200"/>
            <a:ext cx="611188" cy="579438"/>
          </a:xfrm>
          <a:prstGeom prst="rect">
            <a:avLst/>
          </a:prstGeom>
          <a:noFill/>
          <a:ln w="6350">
            <a:noFill/>
          </a:ln>
        </p:spPr>
        <p:txBody>
          <a:bodyPr vert="eaVert" anchor="t" anchorCtr="0">
            <a:spAutoFit/>
          </a:bodyPr>
          <a:p>
            <a:pPr>
              <a:spcBef>
                <a:spcPct val="50000"/>
              </a:spcBef>
            </a:pPr>
            <a:r>
              <a:rPr lang="zh-CN" altLang="en-US" sz="2800" dirty="0">
                <a:solidFill>
                  <a:schemeClr val="tx1"/>
                </a:solidFill>
                <a:latin typeface="Arial" panose="020B0604020202020204" pitchFamily="34" charset="0"/>
              </a:rPr>
              <a:t>…</a:t>
            </a:r>
            <a:endParaRPr lang="zh-CN" altLang="en-US" sz="2800" dirty="0">
              <a:solidFill>
                <a:schemeClr val="tx1"/>
              </a:solidFill>
              <a:latin typeface="Arial" panose="020B0604020202020204" pitchFamily="34" charset="0"/>
            </a:endParaRPr>
          </a:p>
        </p:txBody>
      </p:sp>
      <p:sp>
        <p:nvSpPr>
          <p:cNvPr id="65543" name="Text Box 7"/>
          <p:cNvSpPr txBox="1"/>
          <p:nvPr/>
        </p:nvSpPr>
        <p:spPr>
          <a:xfrm>
            <a:off x="7772400" y="4267200"/>
            <a:ext cx="611188" cy="579438"/>
          </a:xfrm>
          <a:prstGeom prst="rect">
            <a:avLst/>
          </a:prstGeom>
          <a:noFill/>
          <a:ln w="6350">
            <a:noFill/>
          </a:ln>
        </p:spPr>
        <p:txBody>
          <a:bodyPr vert="eaVert" anchor="t" anchorCtr="0">
            <a:spAutoFit/>
          </a:bodyPr>
          <a:p>
            <a:pPr>
              <a:spcBef>
                <a:spcPct val="50000"/>
              </a:spcBef>
            </a:pPr>
            <a:r>
              <a:rPr lang="zh-CN" altLang="en-US" sz="2800" dirty="0">
                <a:solidFill>
                  <a:schemeClr val="tx1"/>
                </a:solidFill>
                <a:latin typeface="Arial" panose="020B0604020202020204" pitchFamily="34" charset="0"/>
              </a:rPr>
              <a:t>…</a:t>
            </a:r>
            <a:endParaRPr lang="zh-CN" altLang="en-US" sz="2800" dirty="0">
              <a:solidFill>
                <a:schemeClr val="tx1"/>
              </a:solidFill>
              <a:latin typeface="Arial" panose="020B0604020202020204" pitchFamily="34" charset="0"/>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66562" name="Rectangle 2"/>
          <p:cNvSpPr>
            <a:spLocks noGrp="1"/>
          </p:cNvSpPr>
          <p:nvPr>
            <p:ph type="title"/>
          </p:nvPr>
        </p:nvSpPr>
        <p:spPr>
          <a:xfrm>
            <a:off x="685800" y="381000"/>
            <a:ext cx="7772400" cy="1143000"/>
          </a:xfrm>
        </p:spPr>
        <p:txBody>
          <a:bodyPr vert="horz" wrap="square" lIns="91440" tIns="45720" rIns="91440" bIns="45720" anchor="ctr" anchorCtr="0"/>
          <a:p>
            <a:pPr algn="l" eaLnBrk="1" hangingPunct="1"/>
            <a:r>
              <a:rPr lang="zh-CN" altLang="en-US" sz="3200" dirty="0">
                <a:solidFill>
                  <a:srgbClr val="0000FF"/>
                </a:solidFill>
                <a:ea typeface="楷体_GB2312" pitchFamily="49" charset="-122"/>
              </a:rPr>
              <a:t>偏置值为2</a:t>
            </a:r>
            <a:r>
              <a:rPr lang="en-US" altLang="zh-CN" sz="3200" baseline="30000" dirty="0">
                <a:solidFill>
                  <a:srgbClr val="0000FF"/>
                </a:solidFill>
                <a:ea typeface="楷体_GB2312" pitchFamily="49" charset="-122"/>
              </a:rPr>
              <a:t>n</a:t>
            </a:r>
            <a:r>
              <a:rPr lang="zh-CN" altLang="en-US" sz="3200" dirty="0">
                <a:solidFill>
                  <a:srgbClr val="0000FF"/>
                </a:solidFill>
                <a:ea typeface="楷体_GB2312" pitchFamily="49" charset="-122"/>
              </a:rPr>
              <a:t>的移码的特点</a:t>
            </a:r>
            <a:endParaRPr lang="zh-CN" altLang="en-US" sz="3200" dirty="0">
              <a:solidFill>
                <a:srgbClr val="0000FF"/>
              </a:solidFill>
              <a:ea typeface="楷体_GB2312" pitchFamily="49" charset="-122"/>
            </a:endParaRPr>
          </a:p>
        </p:txBody>
      </p:sp>
      <p:sp>
        <p:nvSpPr>
          <p:cNvPr id="66563" name="Rectangle 3"/>
          <p:cNvSpPr>
            <a:spLocks noGrp="1"/>
          </p:cNvSpPr>
          <p:nvPr>
            <p:ph idx="1"/>
          </p:nvPr>
        </p:nvSpPr>
        <p:spPr>
          <a:xfrm>
            <a:off x="533400" y="1143000"/>
            <a:ext cx="8001000" cy="5410200"/>
          </a:xfrm>
        </p:spPr>
        <p:txBody>
          <a:bodyPr vert="horz" wrap="square" lIns="91440" tIns="45720" rIns="91440" bIns="45720" anchor="t" anchorCtr="0"/>
          <a:p>
            <a:pPr marL="0" algn="just" eaLnBrk="1" hangingPunct="1">
              <a:lnSpc>
                <a:spcPct val="90000"/>
              </a:lnSpc>
              <a:buNone/>
            </a:pPr>
            <a:r>
              <a:rPr lang="zh-CN" altLang="en-US" b="1" dirty="0"/>
              <a:t>         ⑴</a:t>
            </a:r>
            <a:r>
              <a:rPr lang="zh-CN" altLang="en-US" b="1" dirty="0">
                <a:ea typeface="楷体_GB2312" pitchFamily="49" charset="-122"/>
              </a:rPr>
              <a:t>在移码中，最高位为“0”表示负数，最高位为“1”表示正数。</a:t>
            </a:r>
            <a:endParaRPr lang="zh-CN" altLang="en-US" b="1" dirty="0">
              <a:ea typeface="楷体_GB2312" pitchFamily="49" charset="-122"/>
            </a:endParaRPr>
          </a:p>
          <a:p>
            <a:pPr marL="0" algn="just" eaLnBrk="1" hangingPunct="1">
              <a:lnSpc>
                <a:spcPct val="90000"/>
              </a:lnSpc>
              <a:buNone/>
            </a:pPr>
            <a:r>
              <a:rPr lang="zh-CN" altLang="en-US" b="1" dirty="0"/>
              <a:t>         ⑵</a:t>
            </a:r>
            <a:r>
              <a:rPr lang="zh-CN" altLang="en-US" b="1" dirty="0">
                <a:ea typeface="楷体_GB2312" pitchFamily="49" charset="-122"/>
              </a:rPr>
              <a:t>移码为全0时，它所对应的真值最小，为全1时，它所对应的真值最大。</a:t>
            </a:r>
            <a:endParaRPr lang="zh-CN" altLang="en-US" b="1" dirty="0">
              <a:ea typeface="楷体_GB2312" pitchFamily="49" charset="-122"/>
            </a:endParaRPr>
          </a:p>
          <a:p>
            <a:pPr marL="0" algn="just" eaLnBrk="1" hangingPunct="1">
              <a:lnSpc>
                <a:spcPct val="90000"/>
              </a:lnSpc>
              <a:buNone/>
            </a:pPr>
            <a:r>
              <a:rPr lang="zh-CN" altLang="en-US" b="1" dirty="0"/>
              <a:t>         ⑶</a:t>
            </a:r>
            <a:r>
              <a:rPr lang="zh-CN" altLang="en-US" b="1" dirty="0">
                <a:ea typeface="楷体_GB2312" pitchFamily="49" charset="-122"/>
              </a:rPr>
              <a:t>真值0在移码中的表示形式是唯一的，即[+0]</a:t>
            </a:r>
            <a:r>
              <a:rPr lang="zh-CN" altLang="en-US" b="1" baseline="-25000" dirty="0">
                <a:ea typeface="楷体_GB2312" pitchFamily="49" charset="-122"/>
              </a:rPr>
              <a:t>移</a:t>
            </a:r>
            <a:r>
              <a:rPr lang="zh-CN" altLang="en-US" b="1" dirty="0">
                <a:ea typeface="楷体_GB2312" pitchFamily="49" charset="-122"/>
              </a:rPr>
              <a:t>=[-0]</a:t>
            </a:r>
            <a:r>
              <a:rPr lang="zh-CN" altLang="en-US" b="1" baseline="-25000" dirty="0">
                <a:ea typeface="楷体_GB2312" pitchFamily="49" charset="-122"/>
              </a:rPr>
              <a:t>移</a:t>
            </a:r>
            <a:r>
              <a:rPr lang="zh-CN" altLang="en-US" b="1" dirty="0">
                <a:ea typeface="楷体_GB2312" pitchFamily="49" charset="-122"/>
              </a:rPr>
              <a:t>=</a:t>
            </a:r>
            <a:r>
              <a:rPr lang="zh-CN" altLang="en-US" b="1" dirty="0">
                <a:solidFill>
                  <a:srgbClr val="FF0000"/>
                </a:solidFill>
                <a:ea typeface="楷体_GB2312" pitchFamily="49" charset="-122"/>
              </a:rPr>
              <a:t>100…0</a:t>
            </a:r>
            <a:r>
              <a:rPr lang="zh-CN" altLang="en-US" b="1" dirty="0">
                <a:ea typeface="楷体_GB2312" pitchFamily="49" charset="-122"/>
              </a:rPr>
              <a:t>。</a:t>
            </a:r>
            <a:endParaRPr lang="zh-CN" altLang="en-US" b="1" dirty="0">
              <a:ea typeface="楷体_GB2312" pitchFamily="49" charset="-122"/>
            </a:endParaRPr>
          </a:p>
          <a:p>
            <a:pPr marL="0" algn="just" eaLnBrk="1" hangingPunct="1">
              <a:lnSpc>
                <a:spcPct val="90000"/>
              </a:lnSpc>
              <a:buNone/>
            </a:pPr>
            <a:r>
              <a:rPr lang="zh-CN" altLang="en-US" b="1" dirty="0"/>
              <a:t>         ⑷</a:t>
            </a:r>
            <a:r>
              <a:rPr lang="zh-CN" altLang="en-US" b="1" dirty="0">
                <a:ea typeface="楷体_GB2312" pitchFamily="49" charset="-122"/>
              </a:rPr>
              <a:t>移码把真值映射到一个正数域，所以可将移码视为无符号数，直接按无符号数规则比较大小。</a:t>
            </a:r>
            <a:endParaRPr lang="zh-CN" altLang="en-US" b="1" dirty="0">
              <a:ea typeface="楷体_GB2312" pitchFamily="49" charset="-122"/>
            </a:endParaRPr>
          </a:p>
          <a:p>
            <a:pPr marL="0" algn="just" eaLnBrk="1" hangingPunct="1">
              <a:lnSpc>
                <a:spcPct val="90000"/>
              </a:lnSpc>
              <a:buNone/>
            </a:pPr>
            <a:r>
              <a:rPr lang="zh-CN" altLang="en-US" b="1" dirty="0"/>
              <a:t>         ⑸</a:t>
            </a:r>
            <a:r>
              <a:rPr lang="zh-CN" altLang="en-US" b="1" dirty="0">
                <a:solidFill>
                  <a:srgbClr val="FF3300"/>
                </a:solidFill>
                <a:ea typeface="楷体_GB2312" pitchFamily="49" charset="-122"/>
              </a:rPr>
              <a:t>同一数值的移码和补码除最高位相反外，其他各位相同</a:t>
            </a:r>
            <a:r>
              <a:rPr lang="zh-CN" altLang="en-US" b="1" dirty="0">
                <a:ea typeface="楷体_GB2312" pitchFamily="49" charset="-122"/>
              </a:rPr>
              <a:t>。</a:t>
            </a:r>
            <a:endParaRPr lang="zh-CN" altLang="en-US" b="1" dirty="0">
              <a:ea typeface="楷体_GB2312" pitchFamily="49"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67586" name="Rectangle 2"/>
          <p:cNvSpPr>
            <a:spLocks noGrp="1"/>
          </p:cNvSpPr>
          <p:nvPr>
            <p:ph type="title"/>
          </p:nvPr>
        </p:nvSpPr>
        <p:spPr>
          <a:xfrm>
            <a:off x="685800" y="381000"/>
            <a:ext cx="7772400" cy="1143000"/>
          </a:xfrm>
        </p:spPr>
        <p:txBody>
          <a:bodyPr vert="horz" wrap="square" lIns="91440" tIns="45720" rIns="91440" bIns="45720" anchor="ctr" anchorCtr="0"/>
          <a:p>
            <a:pPr algn="l" eaLnBrk="1" hangingPunct="1"/>
            <a:r>
              <a:rPr lang="zh-CN" altLang="en-US" sz="3200" dirty="0">
                <a:solidFill>
                  <a:srgbClr val="0000FF"/>
                </a:solidFill>
                <a:ea typeface="楷体_GB2312" pitchFamily="49" charset="-122"/>
              </a:rPr>
              <a:t>浮点数的阶码采用移码的原因</a:t>
            </a:r>
            <a:endParaRPr lang="zh-CN" altLang="en-US" sz="3200" dirty="0">
              <a:solidFill>
                <a:srgbClr val="0000FF"/>
              </a:solidFill>
              <a:ea typeface="楷体_GB2312" pitchFamily="49" charset="-122"/>
            </a:endParaRPr>
          </a:p>
        </p:txBody>
      </p:sp>
      <p:sp>
        <p:nvSpPr>
          <p:cNvPr id="67587" name="Rectangle 3"/>
          <p:cNvSpPr>
            <a:spLocks noGrp="1"/>
          </p:cNvSpPr>
          <p:nvPr>
            <p:ph idx="1"/>
          </p:nvPr>
        </p:nvSpPr>
        <p:spPr>
          <a:xfrm>
            <a:off x="533400" y="1371600"/>
            <a:ext cx="8001000" cy="5029200"/>
          </a:xfrm>
        </p:spPr>
        <p:txBody>
          <a:bodyPr vert="horz" wrap="square" lIns="91440" tIns="45720" rIns="91440" bIns="45720" anchor="t" anchorCtr="0"/>
          <a:p>
            <a:pPr eaLnBrk="1" hangingPunct="1"/>
            <a:r>
              <a:rPr lang="zh-CN" altLang="en-US" b="1" dirty="0">
                <a:ea typeface="楷体_GB2312" pitchFamily="49" charset="-122"/>
              </a:rPr>
              <a:t>便于比较浮点数的大小。阶码大的，其对应的真值就大，阶码小的，对应的真值就小。</a:t>
            </a:r>
            <a:endParaRPr lang="zh-CN" altLang="en-US" b="1" dirty="0">
              <a:ea typeface="楷体_GB2312" pitchFamily="49" charset="-122"/>
            </a:endParaRPr>
          </a:p>
          <a:p>
            <a:pPr eaLnBrk="1" hangingPunct="1"/>
            <a:r>
              <a:rPr lang="zh-CN" altLang="en-US" b="1" dirty="0">
                <a:ea typeface="楷体_GB2312" pitchFamily="49" charset="-122"/>
              </a:rPr>
              <a:t>简化机器中的判零电路。当阶码全为0，尾数也全为0时，表示机器零。</a:t>
            </a:r>
            <a:endParaRPr lang="zh-CN" altLang="en-US" b="1" dirty="0">
              <a:ea typeface="楷体_GB2312" pitchFamily="49" charset="-122"/>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68610" name="Rectangle 2"/>
          <p:cNvSpPr>
            <a:spLocks noGrp="1"/>
          </p:cNvSpPr>
          <p:nvPr>
            <p:ph type="title" idx="4294967295"/>
          </p:nvPr>
        </p:nvSpPr>
        <p:spPr>
          <a:xfrm>
            <a:off x="685800" y="228600"/>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2.2.</a:t>
            </a:r>
            <a:r>
              <a:rPr lang="en-US" altLang="zh-CN" sz="3600" dirty="0">
                <a:solidFill>
                  <a:srgbClr val="0000FF"/>
                </a:solidFill>
                <a:latin typeface="华文新魏" panose="02010800040101010101" pitchFamily="2" charset="-122"/>
                <a:ea typeface="华文新魏" panose="02010800040101010101" pitchFamily="2" charset="-122"/>
              </a:rPr>
              <a:t>4</a:t>
            </a:r>
            <a:r>
              <a:rPr lang="zh-CN" altLang="en-US" sz="3600" dirty="0">
                <a:solidFill>
                  <a:srgbClr val="0000FF"/>
                </a:solidFill>
                <a:latin typeface="华文新魏" panose="02010800040101010101" pitchFamily="2" charset="-122"/>
                <a:ea typeface="华文新魏" panose="02010800040101010101" pitchFamily="2" charset="-122"/>
              </a:rPr>
              <a:t> 浮点数尾数的基数</a:t>
            </a:r>
            <a:endParaRPr lang="zh-CN" altLang="en-US" sz="3600" dirty="0">
              <a:solidFill>
                <a:srgbClr val="0000FF"/>
              </a:solidFill>
              <a:latin typeface="华文新魏" panose="02010800040101010101" pitchFamily="2" charset="-122"/>
              <a:ea typeface="华文新魏" panose="02010800040101010101" pitchFamily="2" charset="-122"/>
            </a:endParaRPr>
          </a:p>
        </p:txBody>
      </p:sp>
      <p:sp>
        <p:nvSpPr>
          <p:cNvPr id="68611" name="Rectangle 3"/>
          <p:cNvSpPr>
            <a:spLocks noGrp="1"/>
          </p:cNvSpPr>
          <p:nvPr>
            <p:ph type="body" idx="4294967295"/>
          </p:nvPr>
        </p:nvSpPr>
        <p:spPr>
          <a:xfrm>
            <a:off x="609600" y="1066800"/>
            <a:ext cx="7924800" cy="5486400"/>
          </a:xfrm>
        </p:spPr>
        <p:txBody>
          <a:bodyPr vert="horz" wrap="square" lIns="91440" tIns="45720" rIns="91440" bIns="45720" anchor="t" anchorCtr="0"/>
          <a:p>
            <a:pPr marL="0" indent="0" eaLnBrk="1" hangingPunct="1">
              <a:buNone/>
            </a:pPr>
            <a:r>
              <a:rPr lang="en-US" altLang="zh-CN" sz="2800" b="1" dirty="0"/>
              <a:t>        </a:t>
            </a:r>
            <a:r>
              <a:rPr lang="zh-CN" altLang="zh-CN" sz="2800" b="1" dirty="0"/>
              <a:t>浮点数尾数基数的选择对浮点数的特性起着主要作用，它既影响浮点运算的精度，也影响数值的表示范围。</a:t>
            </a:r>
            <a:endParaRPr lang="en-US" altLang="zh-CN" sz="2800" b="1" dirty="0"/>
          </a:p>
          <a:p>
            <a:pPr marL="0" indent="0">
              <a:buNone/>
            </a:pPr>
            <a:r>
              <a:rPr lang="en-US" altLang="zh-CN" sz="2800" b="1" dirty="0"/>
              <a:t>         </a:t>
            </a:r>
            <a:r>
              <a:rPr lang="zh-CN" altLang="zh-CN" sz="2800" b="1" dirty="0"/>
              <a:t>改变尾数基数r，会使浮点数的特性有下列影响： </a:t>
            </a:r>
            <a:endParaRPr lang="zh-CN" altLang="zh-CN" sz="2800" b="1" dirty="0"/>
          </a:p>
          <a:p>
            <a:pPr marL="0" indent="0">
              <a:buNone/>
            </a:pPr>
            <a:r>
              <a:rPr lang="en-US" altLang="zh-CN" sz="2800" b="1" dirty="0"/>
              <a:t>        </a:t>
            </a:r>
            <a:r>
              <a:rPr lang="zh-CN" altLang="zh-CN" sz="2800" b="1" dirty="0"/>
              <a:t>①</a:t>
            </a:r>
            <a:r>
              <a:rPr lang="en-US" altLang="zh-CN" sz="2800" b="1" dirty="0"/>
              <a:t> </a:t>
            </a:r>
            <a:r>
              <a:rPr lang="zh-CN" altLang="zh-CN" sz="2800" b="1" dirty="0"/>
              <a:t>可表示数的范围。</a:t>
            </a:r>
            <a:endParaRPr lang="zh-CN" altLang="zh-CN" sz="2800" b="1" dirty="0"/>
          </a:p>
          <a:p>
            <a:pPr marL="0" indent="0">
              <a:buNone/>
            </a:pPr>
            <a:r>
              <a:rPr lang="en-US" altLang="zh-CN" sz="2800" b="1" dirty="0"/>
              <a:t>        </a:t>
            </a:r>
            <a:r>
              <a:rPr lang="zh-CN" altLang="zh-CN" sz="2800" b="1" dirty="0"/>
              <a:t>②</a:t>
            </a:r>
            <a:r>
              <a:rPr lang="en-US" altLang="zh-CN" sz="2800" b="1" dirty="0"/>
              <a:t> </a:t>
            </a:r>
            <a:r>
              <a:rPr lang="zh-CN" altLang="zh-CN" sz="2800" b="1" dirty="0"/>
              <a:t>可表示数的个数。</a:t>
            </a:r>
            <a:endParaRPr lang="en-US" altLang="zh-CN" sz="2800" b="1" dirty="0"/>
          </a:p>
          <a:p>
            <a:pPr marL="0" indent="0">
              <a:buNone/>
            </a:pPr>
            <a:r>
              <a:rPr lang="en-US" altLang="zh-CN" sz="2800" b="1" dirty="0"/>
              <a:t>        </a:t>
            </a:r>
            <a:r>
              <a:rPr lang="zh-CN" altLang="zh-CN" sz="2800" b="1" dirty="0"/>
              <a:t>③</a:t>
            </a:r>
            <a:r>
              <a:rPr lang="en-US" altLang="zh-CN" sz="2800" b="1" dirty="0"/>
              <a:t> </a:t>
            </a:r>
            <a:r>
              <a:rPr lang="zh-CN" altLang="zh-CN" sz="2800" b="1" dirty="0"/>
              <a:t>数在数轴上的分布。</a:t>
            </a:r>
            <a:endParaRPr lang="zh-CN" altLang="zh-CN" sz="2800" b="1" dirty="0"/>
          </a:p>
          <a:p>
            <a:pPr marL="0" indent="0">
              <a:buNone/>
            </a:pPr>
            <a:r>
              <a:rPr lang="en-US" altLang="zh-CN" sz="2800" b="1" dirty="0"/>
              <a:t>        </a:t>
            </a:r>
            <a:r>
              <a:rPr lang="zh-CN" altLang="zh-CN" sz="2800" b="1" dirty="0"/>
              <a:t>④</a:t>
            </a:r>
            <a:r>
              <a:rPr lang="en-US" altLang="zh-CN" sz="2800" b="1" dirty="0"/>
              <a:t> </a:t>
            </a:r>
            <a:r>
              <a:rPr lang="zh-CN" altLang="zh-CN" sz="2800" b="1" dirty="0"/>
              <a:t>可表示数的精度。</a:t>
            </a:r>
            <a:endParaRPr lang="zh-CN" altLang="zh-CN" sz="2800" b="1" dirty="0"/>
          </a:p>
          <a:p>
            <a:pPr marL="0" indent="0">
              <a:buNone/>
            </a:pPr>
            <a:r>
              <a:rPr lang="en-US" altLang="zh-CN" sz="2800" b="1" dirty="0"/>
              <a:t>        </a:t>
            </a:r>
            <a:r>
              <a:rPr lang="zh-CN" altLang="zh-CN" sz="2800" b="1" dirty="0"/>
              <a:t>⑤ 运算中的精度损失。</a:t>
            </a:r>
            <a:endParaRPr lang="en-US" altLang="zh-CN" sz="2800" b="1" dirty="0"/>
          </a:p>
          <a:p>
            <a:pPr marL="0" indent="0">
              <a:buNone/>
            </a:pPr>
            <a:r>
              <a:rPr lang="en-US" altLang="zh-CN" sz="2800" b="1" dirty="0"/>
              <a:t>        </a:t>
            </a:r>
            <a:r>
              <a:rPr lang="zh-CN" altLang="zh-CN" sz="2800" b="1" dirty="0"/>
              <a:t>⑥</a:t>
            </a:r>
            <a:r>
              <a:rPr lang="en-US" altLang="zh-CN" sz="2800" b="1" dirty="0"/>
              <a:t> </a:t>
            </a:r>
            <a:r>
              <a:rPr lang="zh-CN" altLang="zh-CN" sz="2800" b="1" dirty="0"/>
              <a:t>运算速度。</a:t>
            </a:r>
            <a:endParaRPr lang="en-US" altLang="zh-CN" sz="2800" b="1" dirty="0">
              <a:ea typeface="楷体_GB2312" pitchFamily="49"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69634" name="Rectangle 2"/>
          <p:cNvSpPr>
            <a:spLocks noGrp="1"/>
          </p:cNvSpPr>
          <p:nvPr>
            <p:ph type="body" idx="4294967295"/>
          </p:nvPr>
        </p:nvSpPr>
        <p:spPr>
          <a:xfrm>
            <a:off x="533400" y="3657600"/>
            <a:ext cx="7924800" cy="1066800"/>
          </a:xfrm>
        </p:spPr>
        <p:txBody>
          <a:bodyPr vert="horz" wrap="square" lIns="91440" tIns="45720" rIns="91440" bIns="45720" anchor="t" anchorCtr="0"/>
          <a:p>
            <a:pPr algn="ctr" eaLnBrk="1" hangingPunct="1">
              <a:buNone/>
            </a:pPr>
            <a:r>
              <a:rPr lang="zh-CN" altLang="en-US" sz="2400" b="1" dirty="0"/>
              <a:t>图2-6  </a:t>
            </a:r>
            <a:r>
              <a:rPr lang="en-US" altLang="zh-CN" sz="2400" b="1" dirty="0"/>
              <a:t>IEEE 754</a:t>
            </a:r>
            <a:r>
              <a:rPr lang="zh-CN" altLang="en-US" sz="2400" b="1" dirty="0"/>
              <a:t>标准的浮点数格式 </a:t>
            </a:r>
            <a:endParaRPr lang="zh-CN" altLang="en-US" sz="2400" b="1" dirty="0"/>
          </a:p>
        </p:txBody>
      </p:sp>
      <p:sp>
        <p:nvSpPr>
          <p:cNvPr id="69635" name="Rectangle 3"/>
          <p:cNvSpPr>
            <a:spLocks noGrp="1"/>
          </p:cNvSpPr>
          <p:nvPr>
            <p:ph type="title" idx="4294967295"/>
          </p:nvPr>
        </p:nvSpPr>
        <p:spPr>
          <a:xfrm>
            <a:off x="685800" y="381000"/>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2.2.</a:t>
            </a:r>
            <a:r>
              <a:rPr lang="en-US" altLang="zh-CN" sz="3600" dirty="0">
                <a:solidFill>
                  <a:srgbClr val="0000FF"/>
                </a:solidFill>
                <a:latin typeface="华文新魏" panose="02010800040101010101" pitchFamily="2" charset="-122"/>
                <a:ea typeface="华文新魏" panose="02010800040101010101" pitchFamily="2" charset="-122"/>
              </a:rPr>
              <a:t>5</a:t>
            </a:r>
            <a:r>
              <a:rPr lang="zh-CN" altLang="en-US" sz="3600" dirty="0">
                <a:solidFill>
                  <a:srgbClr val="0000FF"/>
                </a:solidFill>
                <a:latin typeface="华文新魏" panose="02010800040101010101" pitchFamily="2" charset="-122"/>
                <a:ea typeface="华文新魏" panose="02010800040101010101" pitchFamily="2" charset="-122"/>
              </a:rPr>
              <a:t>  </a:t>
            </a:r>
            <a:r>
              <a:rPr lang="en-US" altLang="zh-CN" sz="3600" dirty="0">
                <a:solidFill>
                  <a:srgbClr val="0000FF"/>
                </a:solidFill>
                <a:latin typeface="华文新魏" panose="02010800040101010101" pitchFamily="2" charset="-122"/>
                <a:ea typeface="华文新魏" panose="02010800040101010101" pitchFamily="2" charset="-122"/>
              </a:rPr>
              <a:t>IEEE754</a:t>
            </a:r>
            <a:r>
              <a:rPr lang="zh-CN" altLang="en-US" sz="3600" dirty="0">
                <a:solidFill>
                  <a:srgbClr val="0000FF"/>
                </a:solidFill>
                <a:latin typeface="华文新魏" panose="02010800040101010101" pitchFamily="2" charset="-122"/>
                <a:ea typeface="华文新魏" panose="02010800040101010101" pitchFamily="2" charset="-122"/>
              </a:rPr>
              <a:t>标准浮点数</a:t>
            </a:r>
            <a:endParaRPr lang="zh-CN" altLang="en-US" sz="3600" dirty="0"/>
          </a:p>
        </p:txBody>
      </p:sp>
      <p:graphicFrame>
        <p:nvGraphicFramePr>
          <p:cNvPr id="69636" name="Object 4"/>
          <p:cNvGraphicFramePr>
            <a:graphicFrameLocks noChangeAspect="1"/>
          </p:cNvGraphicFramePr>
          <p:nvPr/>
        </p:nvGraphicFramePr>
        <p:xfrm>
          <a:off x="171450" y="4191000"/>
          <a:ext cx="8972550" cy="2667000"/>
        </p:xfrm>
        <a:graphic>
          <a:graphicData uri="http://schemas.openxmlformats.org/presentationml/2006/ole">
            <mc:AlternateContent xmlns:mc="http://schemas.openxmlformats.org/markup-compatibility/2006">
              <mc:Choice xmlns:v="urn:schemas-microsoft-com:vml" Requires="v">
                <p:oleObj spid="_x0000_s3087" name="" r:id="rId1" imgW="8978900" imgH="2669540" progId="Word.Document.8">
                  <p:embed/>
                </p:oleObj>
              </mc:Choice>
              <mc:Fallback>
                <p:oleObj name="" r:id="rId1" imgW="8978900" imgH="2669540" progId="Word.Document.8">
                  <p:embed/>
                  <p:pic>
                    <p:nvPicPr>
                      <p:cNvPr id="0" name="图片 3086"/>
                      <p:cNvPicPr/>
                      <p:nvPr/>
                    </p:nvPicPr>
                    <p:blipFill>
                      <a:blip r:embed="rId2"/>
                      <a:stretch>
                        <a:fillRect/>
                      </a:stretch>
                    </p:blipFill>
                    <p:spPr>
                      <a:xfrm>
                        <a:off x="171450" y="4191000"/>
                        <a:ext cx="8972550" cy="2667000"/>
                      </a:xfrm>
                      <a:prstGeom prst="rect">
                        <a:avLst/>
                      </a:prstGeom>
                      <a:noFill/>
                      <a:ln w="38100">
                        <a:noFill/>
                        <a:miter/>
                      </a:ln>
                    </p:spPr>
                  </p:pic>
                </p:oleObj>
              </mc:Fallback>
            </mc:AlternateContent>
          </a:graphicData>
        </a:graphic>
      </p:graphicFrame>
      <p:graphicFrame>
        <p:nvGraphicFramePr>
          <p:cNvPr id="69637" name="Object 5"/>
          <p:cNvGraphicFramePr>
            <a:graphicFrameLocks noChangeAspect="1"/>
          </p:cNvGraphicFramePr>
          <p:nvPr/>
        </p:nvGraphicFramePr>
        <p:xfrm>
          <a:off x="228600" y="1295400"/>
          <a:ext cx="8686800" cy="2251075"/>
        </p:xfrm>
        <a:graphic>
          <a:graphicData uri="http://schemas.openxmlformats.org/presentationml/2006/ole">
            <mc:AlternateContent xmlns:mc="http://schemas.openxmlformats.org/markup-compatibility/2006">
              <mc:Choice xmlns:v="urn:schemas-microsoft-com:vml" Requires="v">
                <p:oleObj spid="_x0000_s3088" name="" r:id="rId3" imgW="3675380" imgH="955040" progId="Visio.Drawing.6">
                  <p:embed/>
                </p:oleObj>
              </mc:Choice>
              <mc:Fallback>
                <p:oleObj name="" r:id="rId3" imgW="3675380" imgH="955040" progId="Visio.Drawing.6">
                  <p:embed/>
                  <p:pic>
                    <p:nvPicPr>
                      <p:cNvPr id="0" name="图片 3087"/>
                      <p:cNvPicPr/>
                      <p:nvPr/>
                    </p:nvPicPr>
                    <p:blipFill>
                      <a:blip r:embed="rId4"/>
                      <a:stretch>
                        <a:fillRect/>
                      </a:stretch>
                    </p:blipFill>
                    <p:spPr>
                      <a:xfrm>
                        <a:off x="228600" y="1295400"/>
                        <a:ext cx="8686800" cy="2251075"/>
                      </a:xfrm>
                      <a:prstGeom prst="rect">
                        <a:avLst/>
                      </a:prstGeom>
                      <a:noFill/>
                      <a:ln w="38100">
                        <a:noFill/>
                        <a:miter/>
                      </a:ln>
                    </p:spPr>
                  </p:pic>
                </p:oleObj>
              </mc:Fallback>
            </mc:AlternateContent>
          </a:graphicData>
        </a:graphic>
      </p:graphicFrame>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70658" name="Rectangle 3"/>
          <p:cNvSpPr>
            <a:spLocks noGrp="1"/>
          </p:cNvSpPr>
          <p:nvPr>
            <p:ph type="body" idx="4294967295"/>
          </p:nvPr>
        </p:nvSpPr>
        <p:spPr>
          <a:xfrm>
            <a:off x="533400" y="1295400"/>
            <a:ext cx="8001000" cy="4741863"/>
          </a:xfrm>
        </p:spPr>
        <p:txBody>
          <a:bodyPr vert="horz" wrap="square" lIns="91440" tIns="45720" rIns="91440" bIns="45720" anchor="t" anchorCtr="0"/>
          <a:p>
            <a:pPr marL="0" algn="just" eaLnBrk="1" hangingPunct="1">
              <a:lnSpc>
                <a:spcPct val="90000"/>
              </a:lnSpc>
              <a:buNone/>
            </a:pPr>
            <a:r>
              <a:rPr lang="zh-CN" altLang="en-US" b="1" dirty="0">
                <a:ea typeface="楷体_GB2312" pitchFamily="49" charset="-122"/>
              </a:rPr>
              <a:t>        以短浮点数为例讨论浮点代码与其真值之间的关系。最高位为数符位；其后是8位阶码，以2为底，阶码的偏置值为</a:t>
            </a:r>
            <a:r>
              <a:rPr lang="zh-CN" altLang="en-US" b="1" dirty="0">
                <a:solidFill>
                  <a:srgbClr val="FF0000"/>
                </a:solidFill>
                <a:ea typeface="楷体_GB2312" pitchFamily="49" charset="-122"/>
              </a:rPr>
              <a:t>127</a:t>
            </a:r>
            <a:r>
              <a:rPr lang="zh-CN" altLang="en-US" b="1" dirty="0">
                <a:ea typeface="楷体_GB2312" pitchFamily="49" charset="-122"/>
              </a:rPr>
              <a:t>；其余23位是尾数。为了使尾数部分能表示更多一位的有效值，</a:t>
            </a:r>
            <a:r>
              <a:rPr lang="en-US" altLang="zh-CN" b="1" dirty="0">
                <a:ea typeface="楷体_GB2312" pitchFamily="49" charset="-122"/>
              </a:rPr>
              <a:t>IEEE754</a:t>
            </a:r>
            <a:r>
              <a:rPr lang="zh-CN" altLang="en-US" b="1" dirty="0">
                <a:ea typeface="楷体_GB2312" pitchFamily="49" charset="-122"/>
              </a:rPr>
              <a:t>采用</a:t>
            </a:r>
            <a:r>
              <a:rPr lang="zh-CN" altLang="en-US" b="1" dirty="0">
                <a:solidFill>
                  <a:srgbClr val="FF0000"/>
                </a:solidFill>
                <a:ea typeface="楷体_GB2312" pitchFamily="49" charset="-122"/>
              </a:rPr>
              <a:t>隐含尾数最高数位1</a:t>
            </a:r>
            <a:r>
              <a:rPr lang="zh-CN" altLang="en-US" b="1" dirty="0">
                <a:ea typeface="楷体_GB2312" pitchFamily="49" charset="-122"/>
              </a:rPr>
              <a:t>（即这一位1不表示出来）的方法，因此尾数实际上是</a:t>
            </a:r>
            <a:r>
              <a:rPr lang="zh-CN" altLang="en-US" b="1" dirty="0">
                <a:solidFill>
                  <a:srgbClr val="FF0000"/>
                </a:solidFill>
                <a:ea typeface="楷体_GB2312" pitchFamily="49" charset="-122"/>
              </a:rPr>
              <a:t>24</a:t>
            </a:r>
            <a:r>
              <a:rPr lang="zh-CN" altLang="en-US" b="1" dirty="0">
                <a:ea typeface="楷体_GB2312" pitchFamily="49" charset="-122"/>
              </a:rPr>
              <a:t>位。应注意的是，</a:t>
            </a:r>
            <a:r>
              <a:rPr lang="zh-CN" altLang="en-US" b="1" dirty="0">
                <a:solidFill>
                  <a:srgbClr val="FF0000"/>
                </a:solidFill>
                <a:ea typeface="楷体_GB2312" pitchFamily="49" charset="-122"/>
              </a:rPr>
              <a:t>隐含的1是一位整数（即位权为2</a:t>
            </a:r>
            <a:r>
              <a:rPr lang="zh-CN" altLang="en-US" b="1" baseline="30000" dirty="0">
                <a:solidFill>
                  <a:srgbClr val="FF0000"/>
                </a:solidFill>
                <a:ea typeface="楷体_GB2312" pitchFamily="49" charset="-122"/>
              </a:rPr>
              <a:t>0</a:t>
            </a:r>
            <a:r>
              <a:rPr lang="zh-CN" altLang="en-US" b="1" dirty="0">
                <a:solidFill>
                  <a:srgbClr val="FF0000"/>
                </a:solidFill>
                <a:ea typeface="楷体_GB2312" pitchFamily="49" charset="-122"/>
              </a:rPr>
              <a:t>）</a:t>
            </a:r>
            <a:r>
              <a:rPr lang="zh-CN" altLang="en-US" b="1" dirty="0">
                <a:ea typeface="楷体_GB2312" pitchFamily="49" charset="-122"/>
              </a:rPr>
              <a:t>，在浮点格式中表示出来的23位尾数是纯小数，并用原码表示。</a:t>
            </a:r>
            <a:endParaRPr lang="zh-CN" altLang="en-US" b="1" dirty="0">
              <a:ea typeface="楷体_GB2312" pitchFamily="49" charset="-122"/>
            </a:endParaRPr>
          </a:p>
        </p:txBody>
      </p:sp>
      <p:sp>
        <p:nvSpPr>
          <p:cNvPr id="5" name="Rectangle 3"/>
          <p:cNvSpPr txBox="1">
            <a:spLocks noChangeArrowheads="1"/>
          </p:cNvSpPr>
          <p:nvPr/>
        </p:nvSpPr>
        <p:spPr bwMode="auto">
          <a:xfrm>
            <a:off x="684213" y="333375"/>
            <a:ext cx="7772400" cy="1143000"/>
          </a:xfrm>
          <a:prstGeom prst="rect">
            <a:avLst/>
          </a:prstGeom>
          <a:noFill/>
          <a:ln>
            <a:noFill/>
          </a:ln>
          <a:effectLst/>
        </p:spPr>
        <p:txBody>
          <a:bodyPr anchor="ctr"/>
          <a:lstStyle>
            <a:lvl1pPr algn="ctr" rtl="0" fontAlgn="base">
              <a:spcBef>
                <a:spcPct val="0"/>
              </a:spcBef>
              <a:spcAft>
                <a:spcPct val="0"/>
              </a:spcAft>
              <a:defRPr kumimoji="1" sz="4400" b="1">
                <a:solidFill>
                  <a:srgbClr val="663300"/>
                </a:solidFill>
                <a:latin typeface="+mj-lt"/>
                <a:ea typeface="+mj-ea"/>
                <a:cs typeface="+mj-cs"/>
              </a:defRPr>
            </a:lvl1pPr>
            <a:lvl2pPr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2.2.</a:t>
            </a:r>
            <a:r>
              <a:rPr kumimoji="1" lang="en-US" altLang="zh-CN"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5</a:t>
            </a:r>
            <a:r>
              <a:rPr kumimoji="1" lang="zh-CN" altLang="en-US"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  </a:t>
            </a:r>
            <a:r>
              <a:rPr kumimoji="1" lang="en-US" altLang="zh-CN"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IEEE754</a:t>
            </a:r>
            <a:r>
              <a:rPr kumimoji="1" lang="zh-CN" altLang="en-US"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标准浮点数（续）</a:t>
            </a:r>
            <a:endParaRPr kumimoji="1" lang="zh-CN" altLang="en-US" sz="3600" b="1" i="0" u="none" strike="noStrike" kern="0" cap="none" spc="0" normalizeH="0" baseline="0" noProof="0" dirty="0" smtClean="0">
              <a:ln>
                <a:noFill/>
              </a:ln>
              <a:solidFill>
                <a:srgbClr val="663300"/>
              </a:solidFill>
              <a:effectLst/>
              <a:uLnTx/>
              <a:uFillTx/>
              <a:latin typeface="+mj-lt"/>
              <a:ea typeface="+mj-ea"/>
              <a:cs typeface="+mj-cs"/>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71682" name="Rectangle 3"/>
          <p:cNvSpPr>
            <a:spLocks noGrp="1"/>
          </p:cNvSpPr>
          <p:nvPr>
            <p:ph idx="1"/>
          </p:nvPr>
        </p:nvSpPr>
        <p:spPr>
          <a:xfrm>
            <a:off x="457200" y="1371600"/>
            <a:ext cx="8077200" cy="4876800"/>
          </a:xfrm>
        </p:spPr>
        <p:txBody>
          <a:bodyPr vert="horz" wrap="square" lIns="91440" tIns="45720" rIns="91440" bIns="45720" anchor="t" anchorCtr="0"/>
          <a:p>
            <a:pPr eaLnBrk="1" hangingPunct="1">
              <a:lnSpc>
                <a:spcPct val="90000"/>
              </a:lnSpc>
              <a:buNone/>
            </a:pPr>
            <a:r>
              <a:rPr lang="zh-CN" altLang="en-US" sz="2800" b="1" dirty="0">
                <a:ea typeface="楷体_GB2312" pitchFamily="49" charset="-122"/>
              </a:rPr>
              <a:t> 例13：将(100.25)</a:t>
            </a:r>
            <a:r>
              <a:rPr lang="zh-CN" altLang="en-US" sz="2800" b="1" baseline="-30000" dirty="0">
                <a:ea typeface="楷体_GB2312" pitchFamily="49" charset="-122"/>
              </a:rPr>
              <a:t>10</a:t>
            </a:r>
            <a:r>
              <a:rPr lang="zh-CN" altLang="en-US" sz="2800" b="1" dirty="0">
                <a:ea typeface="楷体_GB2312" pitchFamily="49" charset="-122"/>
              </a:rPr>
              <a:t>转换成短浮点数格式。</a:t>
            </a:r>
            <a:endParaRPr lang="zh-CN" altLang="en-US" sz="2800" b="1" dirty="0">
              <a:ea typeface="楷体_GB2312" pitchFamily="49" charset="-122"/>
            </a:endParaRPr>
          </a:p>
          <a:p>
            <a:pPr eaLnBrk="1" hangingPunct="1">
              <a:lnSpc>
                <a:spcPct val="90000"/>
              </a:lnSpc>
              <a:buNone/>
            </a:pPr>
            <a:r>
              <a:rPr lang="zh-CN" altLang="en-US" sz="2800" b="1" dirty="0">
                <a:ea typeface="楷体_GB2312" pitchFamily="49" charset="-122"/>
              </a:rPr>
              <a:t>    ⑴ 十进制数→二进制数</a:t>
            </a:r>
            <a:endParaRPr lang="zh-CN" altLang="en-US" sz="2800" b="1" dirty="0">
              <a:ea typeface="楷体_GB2312" pitchFamily="49" charset="-122"/>
            </a:endParaRPr>
          </a:p>
          <a:p>
            <a:pPr eaLnBrk="1" hangingPunct="1">
              <a:lnSpc>
                <a:spcPct val="90000"/>
              </a:lnSpc>
              <a:buNone/>
            </a:pPr>
            <a:r>
              <a:rPr lang="zh-CN" altLang="en-US" sz="2800" b="1" dirty="0">
                <a:ea typeface="楷体_GB2312" pitchFamily="49" charset="-122"/>
              </a:rPr>
              <a:t>       (100.25)</a:t>
            </a:r>
            <a:r>
              <a:rPr lang="zh-CN" altLang="en-US" sz="2800" b="1" baseline="-30000" dirty="0">
                <a:ea typeface="楷体_GB2312" pitchFamily="49" charset="-122"/>
              </a:rPr>
              <a:t>10</a:t>
            </a:r>
            <a:r>
              <a:rPr lang="zh-CN" altLang="en-US" sz="2800" b="1" dirty="0">
                <a:ea typeface="楷体_GB2312" pitchFamily="49" charset="-122"/>
              </a:rPr>
              <a:t>=(1100100.01)</a:t>
            </a:r>
            <a:r>
              <a:rPr lang="zh-CN" altLang="en-US" sz="2800" b="1" baseline="-30000" dirty="0">
                <a:ea typeface="楷体_GB2312" pitchFamily="49" charset="-122"/>
              </a:rPr>
              <a:t>2</a:t>
            </a:r>
            <a:endParaRPr lang="zh-CN" altLang="en-US" sz="2800" b="1" dirty="0">
              <a:ea typeface="楷体_GB2312" pitchFamily="49" charset="-122"/>
            </a:endParaRPr>
          </a:p>
          <a:p>
            <a:pPr eaLnBrk="1" hangingPunct="1">
              <a:lnSpc>
                <a:spcPct val="90000"/>
              </a:lnSpc>
              <a:buNone/>
            </a:pPr>
            <a:r>
              <a:rPr lang="zh-CN" altLang="en-US" sz="2800" b="1" dirty="0">
                <a:ea typeface="楷体_GB2312" pitchFamily="49" charset="-122"/>
              </a:rPr>
              <a:t>    ⑵ 非规格化数→规格化数</a:t>
            </a:r>
            <a:endParaRPr lang="zh-CN" altLang="en-US" sz="2800" b="1" dirty="0">
              <a:ea typeface="楷体_GB2312" pitchFamily="49" charset="-122"/>
            </a:endParaRPr>
          </a:p>
          <a:p>
            <a:pPr eaLnBrk="1" hangingPunct="1">
              <a:lnSpc>
                <a:spcPct val="90000"/>
              </a:lnSpc>
              <a:buNone/>
            </a:pPr>
            <a:r>
              <a:rPr lang="zh-CN" altLang="en-US" sz="2800" b="1" dirty="0">
                <a:ea typeface="楷体_GB2312" pitchFamily="49" charset="-122"/>
              </a:rPr>
              <a:t>      1100100.01=</a:t>
            </a:r>
            <a:r>
              <a:rPr lang="zh-CN" altLang="en-US" sz="2800" b="1" dirty="0">
                <a:solidFill>
                  <a:srgbClr val="FF0000"/>
                </a:solidFill>
                <a:ea typeface="楷体_GB2312" pitchFamily="49" charset="-122"/>
              </a:rPr>
              <a:t>1</a:t>
            </a:r>
            <a:r>
              <a:rPr lang="zh-CN" altLang="en-US" sz="2800" b="1" dirty="0">
                <a:ea typeface="楷体_GB2312" pitchFamily="49" charset="-122"/>
              </a:rPr>
              <a:t>.10010001×2</a:t>
            </a:r>
            <a:r>
              <a:rPr lang="zh-CN" altLang="en-US" sz="2800" b="1" baseline="30000" dirty="0">
                <a:ea typeface="楷体_GB2312" pitchFamily="49" charset="-122"/>
              </a:rPr>
              <a:t>6</a:t>
            </a:r>
            <a:endParaRPr lang="zh-CN" altLang="en-US" sz="2800" b="1" dirty="0">
              <a:ea typeface="楷体_GB2312" pitchFamily="49" charset="-122"/>
            </a:endParaRPr>
          </a:p>
          <a:p>
            <a:pPr eaLnBrk="1" hangingPunct="1">
              <a:lnSpc>
                <a:spcPct val="80000"/>
              </a:lnSpc>
              <a:buNone/>
            </a:pPr>
            <a:r>
              <a:rPr lang="zh-CN" altLang="en-US" sz="2800" b="1" dirty="0">
                <a:ea typeface="楷体_GB2312" pitchFamily="49" charset="-122"/>
              </a:rPr>
              <a:t>    ⑶ 计算移码表示的阶码（偏置值＋阶码真值）</a:t>
            </a:r>
            <a:endParaRPr lang="zh-CN" altLang="en-US" sz="2800" b="1" dirty="0">
              <a:ea typeface="楷体_GB2312" pitchFamily="49" charset="-122"/>
            </a:endParaRPr>
          </a:p>
          <a:p>
            <a:pPr eaLnBrk="1" hangingPunct="1">
              <a:lnSpc>
                <a:spcPct val="90000"/>
              </a:lnSpc>
              <a:buNone/>
            </a:pPr>
            <a:r>
              <a:rPr lang="zh-CN" altLang="en-US" sz="2800" b="1" dirty="0">
                <a:ea typeface="楷体_GB2312" pitchFamily="49" charset="-122"/>
              </a:rPr>
              <a:t>       1111111+110=10000101</a:t>
            </a:r>
            <a:endParaRPr lang="zh-CN" altLang="en-US" sz="2800" b="1" dirty="0">
              <a:ea typeface="楷体_GB2312" pitchFamily="49" charset="-122"/>
            </a:endParaRPr>
          </a:p>
          <a:p>
            <a:pPr eaLnBrk="1" hangingPunct="1">
              <a:lnSpc>
                <a:spcPct val="90000"/>
              </a:lnSpc>
              <a:buNone/>
            </a:pPr>
            <a:r>
              <a:rPr lang="zh-CN" altLang="en-US" sz="2800" b="1" dirty="0">
                <a:ea typeface="楷体_GB2312" pitchFamily="49" charset="-122"/>
              </a:rPr>
              <a:t>    ⑷ 以短浮点数格式存储该数。</a:t>
            </a:r>
            <a:endParaRPr lang="zh-CN" altLang="en-US" sz="2800" b="1" dirty="0">
              <a:ea typeface="楷体_GB2312" pitchFamily="49" charset="-122"/>
            </a:endParaRPr>
          </a:p>
          <a:p>
            <a:pPr eaLnBrk="1" hangingPunct="1">
              <a:lnSpc>
                <a:spcPct val="90000"/>
              </a:lnSpc>
              <a:buNone/>
            </a:pPr>
            <a:r>
              <a:rPr lang="zh-CN" altLang="en-US" sz="2800" b="1" dirty="0">
                <a:ea typeface="楷体_GB2312" pitchFamily="49" charset="-122"/>
              </a:rPr>
              <a:t>             符号位=0</a:t>
            </a:r>
            <a:endParaRPr lang="zh-CN" altLang="en-US" sz="2800" b="1" dirty="0">
              <a:ea typeface="楷体_GB2312" pitchFamily="49" charset="-122"/>
            </a:endParaRPr>
          </a:p>
          <a:p>
            <a:pPr eaLnBrk="1" hangingPunct="1">
              <a:lnSpc>
                <a:spcPct val="90000"/>
              </a:lnSpc>
              <a:buNone/>
            </a:pPr>
            <a:r>
              <a:rPr lang="zh-CN" altLang="en-US" sz="2800" b="1" dirty="0">
                <a:ea typeface="楷体_GB2312" pitchFamily="49" charset="-122"/>
              </a:rPr>
              <a:t>             阶码=10000101</a:t>
            </a:r>
            <a:endParaRPr lang="zh-CN" altLang="en-US" sz="2800" b="1" dirty="0">
              <a:ea typeface="楷体_GB2312" pitchFamily="49" charset="-122"/>
            </a:endParaRPr>
          </a:p>
          <a:p>
            <a:pPr eaLnBrk="1" hangingPunct="1">
              <a:lnSpc>
                <a:spcPct val="70000"/>
              </a:lnSpc>
              <a:buNone/>
            </a:pPr>
            <a:r>
              <a:rPr lang="zh-CN" altLang="en-US" sz="2800" b="1" dirty="0">
                <a:ea typeface="楷体_GB2312" pitchFamily="49" charset="-122"/>
              </a:rPr>
              <a:t>             尾数=10010001000000000000000</a:t>
            </a:r>
            <a:endParaRPr lang="zh-CN" altLang="en-US" sz="2800" b="1" dirty="0">
              <a:ea typeface="楷体_GB2312" pitchFamily="49" charset="-122"/>
            </a:endParaRPr>
          </a:p>
        </p:txBody>
      </p:sp>
      <p:sp>
        <p:nvSpPr>
          <p:cNvPr id="6" name="Rectangle 3"/>
          <p:cNvSpPr txBox="1">
            <a:spLocks noChangeArrowheads="1"/>
          </p:cNvSpPr>
          <p:nvPr/>
        </p:nvSpPr>
        <p:spPr bwMode="auto">
          <a:xfrm>
            <a:off x="684213" y="333375"/>
            <a:ext cx="7772400" cy="1143000"/>
          </a:xfrm>
          <a:prstGeom prst="rect">
            <a:avLst/>
          </a:prstGeom>
          <a:noFill/>
          <a:ln>
            <a:noFill/>
          </a:ln>
          <a:effectLst/>
        </p:spPr>
        <p:txBody>
          <a:bodyPr anchor="ctr"/>
          <a:lstStyle>
            <a:lvl1pPr algn="ctr" rtl="0" fontAlgn="base">
              <a:spcBef>
                <a:spcPct val="0"/>
              </a:spcBef>
              <a:spcAft>
                <a:spcPct val="0"/>
              </a:spcAft>
              <a:defRPr kumimoji="1" sz="4400" b="1">
                <a:solidFill>
                  <a:srgbClr val="663300"/>
                </a:solidFill>
                <a:latin typeface="+mj-lt"/>
                <a:ea typeface="+mj-ea"/>
                <a:cs typeface="+mj-cs"/>
              </a:defRPr>
            </a:lvl1pPr>
            <a:lvl2pPr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2.2.</a:t>
            </a:r>
            <a:r>
              <a:rPr kumimoji="1" lang="en-US" altLang="zh-CN"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5</a:t>
            </a:r>
            <a:r>
              <a:rPr kumimoji="1" lang="zh-CN" altLang="en-US"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  </a:t>
            </a:r>
            <a:r>
              <a:rPr kumimoji="1" lang="en-US" altLang="zh-CN"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IEEE754</a:t>
            </a:r>
            <a:r>
              <a:rPr kumimoji="1" lang="zh-CN" altLang="en-US"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标准浮点数（续）</a:t>
            </a:r>
            <a:endParaRPr kumimoji="1" lang="zh-CN" altLang="en-US" sz="3600" b="1" i="0" u="none" strike="noStrike" kern="0" cap="none" spc="0" normalizeH="0" baseline="0" noProof="0" dirty="0" smtClean="0">
              <a:ln>
                <a:noFill/>
              </a:ln>
              <a:solidFill>
                <a:srgbClr val="663300"/>
              </a:solidFill>
              <a:effectLst/>
              <a:uLnTx/>
              <a:uFillTx/>
              <a:latin typeface="+mj-lt"/>
              <a:ea typeface="+mj-ea"/>
              <a:cs typeface="+mj-cs"/>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72706" name="Rectangle 3"/>
          <p:cNvSpPr>
            <a:spLocks noGrp="1"/>
          </p:cNvSpPr>
          <p:nvPr>
            <p:ph idx="1"/>
          </p:nvPr>
        </p:nvSpPr>
        <p:spPr>
          <a:xfrm>
            <a:off x="457200" y="1296988"/>
            <a:ext cx="8194675" cy="4722812"/>
          </a:xfrm>
        </p:spPr>
        <p:txBody>
          <a:bodyPr vert="horz" wrap="square" lIns="91440" tIns="45720" rIns="91440" bIns="45720" anchor="t" anchorCtr="0"/>
          <a:p>
            <a:pPr eaLnBrk="1" hangingPunct="1">
              <a:buNone/>
            </a:pPr>
            <a:r>
              <a:rPr lang="zh-CN" altLang="en-US" sz="2800" b="1" dirty="0">
                <a:ea typeface="楷体_GB2312" pitchFamily="49" charset="-122"/>
              </a:rPr>
              <a:t>   短浮点数代码为</a:t>
            </a:r>
            <a:endParaRPr lang="zh-CN" altLang="en-US" sz="2800" b="1" dirty="0">
              <a:ea typeface="楷体_GB2312" pitchFamily="49" charset="-122"/>
            </a:endParaRPr>
          </a:p>
          <a:p>
            <a:pPr eaLnBrk="1" hangingPunct="1">
              <a:buNone/>
            </a:pPr>
            <a:r>
              <a:rPr lang="zh-CN" altLang="en-US" sz="2800" b="1" dirty="0">
                <a:ea typeface="楷体_GB2312" pitchFamily="49" charset="-122"/>
              </a:rPr>
              <a:t>       </a:t>
            </a:r>
            <a:r>
              <a:rPr lang="zh-CN" altLang="en-US" sz="2800" b="1" u="sng" dirty="0">
                <a:ea typeface="楷体_GB2312" pitchFamily="49" charset="-122"/>
              </a:rPr>
              <a:t>0;100</a:t>
            </a:r>
            <a:r>
              <a:rPr lang="zh-CN" altLang="en-US" sz="2800" b="1" dirty="0">
                <a:ea typeface="楷体_GB2312" pitchFamily="49" charset="-122"/>
              </a:rPr>
              <a:t> </a:t>
            </a:r>
            <a:r>
              <a:rPr lang="zh-CN" altLang="en-US" sz="2800" b="1" u="sng" dirty="0">
                <a:ea typeface="楷体_GB2312" pitchFamily="49" charset="-122"/>
              </a:rPr>
              <a:t>0010</a:t>
            </a:r>
            <a:r>
              <a:rPr lang="zh-CN" altLang="en-US" sz="2800" b="1" dirty="0">
                <a:ea typeface="楷体_GB2312" pitchFamily="49" charset="-122"/>
              </a:rPr>
              <a:t> </a:t>
            </a:r>
            <a:r>
              <a:rPr lang="zh-CN" altLang="en-US" sz="2800" b="1" u="sng" dirty="0">
                <a:ea typeface="楷体_GB2312" pitchFamily="49" charset="-122"/>
              </a:rPr>
              <a:t>1;100</a:t>
            </a:r>
            <a:r>
              <a:rPr lang="zh-CN" altLang="en-US" sz="2800" b="1" dirty="0">
                <a:ea typeface="楷体_GB2312" pitchFamily="49" charset="-122"/>
              </a:rPr>
              <a:t> </a:t>
            </a:r>
            <a:r>
              <a:rPr lang="zh-CN" altLang="en-US" sz="2800" b="1" u="sng" dirty="0">
                <a:ea typeface="楷体_GB2312" pitchFamily="49" charset="-122"/>
              </a:rPr>
              <a:t>1000</a:t>
            </a:r>
            <a:r>
              <a:rPr lang="zh-CN" altLang="en-US" sz="2800" b="1" dirty="0">
                <a:ea typeface="楷体_GB2312" pitchFamily="49" charset="-122"/>
              </a:rPr>
              <a:t> </a:t>
            </a:r>
            <a:r>
              <a:rPr lang="zh-CN" altLang="en-US" sz="2800" b="1" u="sng" dirty="0">
                <a:ea typeface="楷体_GB2312" pitchFamily="49" charset="-122"/>
              </a:rPr>
              <a:t>1000</a:t>
            </a:r>
            <a:r>
              <a:rPr lang="zh-CN" altLang="en-US" sz="2800" b="1" dirty="0">
                <a:ea typeface="楷体_GB2312" pitchFamily="49" charset="-122"/>
              </a:rPr>
              <a:t> </a:t>
            </a:r>
            <a:r>
              <a:rPr lang="zh-CN" altLang="en-US" sz="2800" b="1" u="sng" dirty="0">
                <a:ea typeface="楷体_GB2312" pitchFamily="49" charset="-122"/>
              </a:rPr>
              <a:t>0000</a:t>
            </a:r>
            <a:r>
              <a:rPr lang="zh-CN" altLang="en-US" sz="2800" b="1" dirty="0">
                <a:ea typeface="楷体_GB2312" pitchFamily="49" charset="-122"/>
              </a:rPr>
              <a:t> </a:t>
            </a:r>
            <a:r>
              <a:rPr lang="zh-CN" altLang="en-US" sz="2800" b="1" u="sng" dirty="0">
                <a:ea typeface="楷体_GB2312" pitchFamily="49" charset="-122"/>
              </a:rPr>
              <a:t>0000</a:t>
            </a:r>
            <a:r>
              <a:rPr lang="zh-CN" altLang="en-US" sz="2800" b="1" dirty="0">
                <a:ea typeface="楷体_GB2312" pitchFamily="49" charset="-122"/>
              </a:rPr>
              <a:t> </a:t>
            </a:r>
            <a:r>
              <a:rPr lang="zh-CN" altLang="en-US" sz="2800" b="1" u="sng" dirty="0">
                <a:ea typeface="楷体_GB2312" pitchFamily="49" charset="-122"/>
              </a:rPr>
              <a:t>0000</a:t>
            </a:r>
            <a:endParaRPr lang="zh-CN" altLang="en-US" sz="2800" b="1" u="sng" dirty="0">
              <a:ea typeface="楷体_GB2312" pitchFamily="49" charset="-122"/>
            </a:endParaRPr>
          </a:p>
          <a:p>
            <a:pPr eaLnBrk="1" hangingPunct="1">
              <a:buNone/>
            </a:pPr>
            <a:r>
              <a:rPr lang="zh-CN" altLang="en-US" sz="2800" b="1" dirty="0">
                <a:ea typeface="楷体_GB2312" pitchFamily="49" charset="-122"/>
              </a:rPr>
              <a:t>    表示为十六进制的代码：42</a:t>
            </a:r>
            <a:r>
              <a:rPr lang="en-US" altLang="zh-CN" sz="2800" b="1" dirty="0">
                <a:ea typeface="楷体_GB2312" pitchFamily="49" charset="-122"/>
              </a:rPr>
              <a:t>C88000H。</a:t>
            </a:r>
            <a:endParaRPr lang="en-US" altLang="zh-CN" sz="2800" b="1" dirty="0">
              <a:ea typeface="楷体_GB2312" pitchFamily="49" charset="-122"/>
            </a:endParaRPr>
          </a:p>
          <a:p>
            <a:pPr eaLnBrk="1" hangingPunct="1">
              <a:buNone/>
            </a:pPr>
            <a:r>
              <a:rPr lang="zh-CN" altLang="en-US" sz="2800" b="1" dirty="0">
                <a:ea typeface="楷体_GB2312" pitchFamily="49" charset="-122"/>
              </a:rPr>
              <a:t>例14：把短浮点数</a:t>
            </a:r>
            <a:r>
              <a:rPr lang="en-US" altLang="zh-CN" sz="2800" b="1" dirty="0">
                <a:ea typeface="楷体_GB2312" pitchFamily="49" charset="-122"/>
              </a:rPr>
              <a:t>C1C90000H</a:t>
            </a:r>
            <a:r>
              <a:rPr lang="zh-CN" altLang="en-US" sz="2800" b="1" dirty="0">
                <a:ea typeface="楷体_GB2312" pitchFamily="49" charset="-122"/>
              </a:rPr>
              <a:t>转换成为十进制数。</a:t>
            </a:r>
            <a:endParaRPr lang="zh-CN" altLang="en-US" sz="2800" b="1" dirty="0">
              <a:ea typeface="楷体_GB2312" pitchFamily="49" charset="-122"/>
            </a:endParaRPr>
          </a:p>
          <a:p>
            <a:pPr eaLnBrk="1" hangingPunct="1">
              <a:buNone/>
            </a:pPr>
            <a:r>
              <a:rPr lang="zh-CN" altLang="en-US" sz="2800" b="1" dirty="0">
                <a:ea typeface="楷体_GB2312" pitchFamily="49" charset="-122"/>
              </a:rPr>
              <a:t>    ⑴ 十六进制→二进制形式，并分离出符号位、阶码和尾数。</a:t>
            </a:r>
            <a:endParaRPr lang="zh-CN" altLang="en-US" sz="2800" b="1" dirty="0">
              <a:ea typeface="楷体_GB2312" pitchFamily="49" charset="-122"/>
            </a:endParaRPr>
          </a:p>
          <a:p>
            <a:pPr eaLnBrk="1" hangingPunct="1">
              <a:buNone/>
            </a:pPr>
            <a:r>
              <a:rPr lang="zh-CN" altLang="en-US" sz="2800" b="1" dirty="0">
                <a:ea typeface="楷体_GB2312" pitchFamily="49" charset="-122"/>
              </a:rPr>
              <a:t>       </a:t>
            </a:r>
            <a:r>
              <a:rPr lang="en-US" altLang="zh-CN" sz="2800" b="1" dirty="0">
                <a:ea typeface="楷体_GB2312" pitchFamily="49" charset="-122"/>
              </a:rPr>
              <a:t>C1C90000H=</a:t>
            </a:r>
            <a:endParaRPr lang="en-US" altLang="zh-CN" sz="2800" b="1" dirty="0">
              <a:ea typeface="楷体_GB2312" pitchFamily="49" charset="-122"/>
            </a:endParaRPr>
          </a:p>
          <a:p>
            <a:pPr eaLnBrk="1" hangingPunct="1">
              <a:buNone/>
            </a:pPr>
            <a:r>
              <a:rPr lang="en-US" altLang="zh-CN" sz="2800" b="1" dirty="0">
                <a:ea typeface="楷体_GB2312" pitchFamily="49" charset="-122"/>
              </a:rPr>
              <a:t>       </a:t>
            </a:r>
            <a:r>
              <a:rPr lang="en-US" altLang="zh-CN" sz="2800" b="1" u="sng" dirty="0">
                <a:ea typeface="楷体_GB2312" pitchFamily="49" charset="-122"/>
              </a:rPr>
              <a:t>1</a:t>
            </a:r>
            <a:r>
              <a:rPr lang="en-US" altLang="zh-CN" sz="2800" b="1" dirty="0">
                <a:ea typeface="楷体_GB2312" pitchFamily="49" charset="-122"/>
              </a:rPr>
              <a:t>;</a:t>
            </a:r>
            <a:r>
              <a:rPr lang="en-US" altLang="zh-CN" sz="2800" b="1" u="sng" dirty="0">
                <a:ea typeface="楷体_GB2312" pitchFamily="49" charset="-122"/>
              </a:rPr>
              <a:t>10000011</a:t>
            </a:r>
            <a:r>
              <a:rPr lang="en-US" altLang="zh-CN" sz="2800" b="1" dirty="0">
                <a:ea typeface="楷体_GB2312" pitchFamily="49" charset="-122"/>
              </a:rPr>
              <a:t>;</a:t>
            </a:r>
            <a:r>
              <a:rPr lang="en-US" altLang="zh-CN" sz="2800" b="1" u="sng" dirty="0">
                <a:ea typeface="楷体_GB2312" pitchFamily="49" charset="-122"/>
              </a:rPr>
              <a:t>10010010000000000000000</a:t>
            </a:r>
            <a:endParaRPr lang="en-US" altLang="zh-CN" sz="2800" b="1" u="sng" dirty="0">
              <a:ea typeface="楷体_GB2312" pitchFamily="49" charset="-122"/>
            </a:endParaRPr>
          </a:p>
        </p:txBody>
      </p:sp>
      <p:grpSp>
        <p:nvGrpSpPr>
          <p:cNvPr id="2" name="Group 4"/>
          <p:cNvGrpSpPr/>
          <p:nvPr/>
        </p:nvGrpSpPr>
        <p:grpSpPr>
          <a:xfrm>
            <a:off x="1752600" y="5276850"/>
            <a:ext cx="971550" cy="666750"/>
            <a:chOff x="1200" y="3636"/>
            <a:chExt cx="612" cy="420"/>
          </a:xfrm>
        </p:grpSpPr>
        <p:sp>
          <p:nvSpPr>
            <p:cNvPr id="72708" name="Text Box 5"/>
            <p:cNvSpPr txBox="1"/>
            <p:nvPr/>
          </p:nvSpPr>
          <p:spPr>
            <a:xfrm>
              <a:off x="1200" y="3768"/>
              <a:ext cx="612" cy="288"/>
            </a:xfrm>
            <a:prstGeom prst="rect">
              <a:avLst/>
            </a:prstGeom>
            <a:noFill/>
            <a:ln w="57150">
              <a:noFill/>
            </a:ln>
          </p:spPr>
          <p:txBody>
            <a:bodyPr anchor="t" anchorCtr="0">
              <a:spAutoFit/>
            </a:bodyPr>
            <a:p>
              <a:pPr algn="ctr" eaLnBrk="0" hangingPunct="0">
                <a:spcBef>
                  <a:spcPct val="50000"/>
                </a:spcBef>
              </a:pPr>
              <a:r>
                <a:rPr lang="zh-CN" altLang="en-US" sz="2400" b="1" dirty="0">
                  <a:solidFill>
                    <a:schemeClr val="tx1"/>
                  </a:solidFill>
                  <a:latin typeface="Times New Roman" panose="02020603050405020304" pitchFamily="18" charset="0"/>
                  <a:ea typeface="宋体" panose="02010600030101010101" pitchFamily="2" charset="-122"/>
                </a:rPr>
                <a:t>阶码</a:t>
              </a:r>
              <a:endParaRPr lang="zh-CN" altLang="en-US" sz="2400" b="1" dirty="0">
                <a:solidFill>
                  <a:schemeClr val="tx1"/>
                </a:solidFill>
                <a:latin typeface="Times New Roman" panose="02020603050405020304" pitchFamily="18" charset="0"/>
                <a:ea typeface="宋体" panose="02010600030101010101" pitchFamily="2" charset="-122"/>
              </a:endParaRPr>
            </a:p>
          </p:txBody>
        </p:sp>
        <p:sp>
          <p:nvSpPr>
            <p:cNvPr id="72709" name="Line 6"/>
            <p:cNvSpPr/>
            <p:nvPr/>
          </p:nvSpPr>
          <p:spPr>
            <a:xfrm flipV="1">
              <a:off x="1464" y="3636"/>
              <a:ext cx="0" cy="216"/>
            </a:xfrm>
            <a:prstGeom prst="line">
              <a:avLst/>
            </a:prstGeom>
            <a:ln w="57150" cap="sq" cmpd="sng">
              <a:solidFill>
                <a:srgbClr val="7A48C4"/>
              </a:solidFill>
              <a:prstDash val="solid"/>
              <a:round/>
              <a:headEnd type="none" w="sm" len="sm"/>
              <a:tailEnd type="triangle" w="sm" len="sm"/>
            </a:ln>
          </p:spPr>
        </p:sp>
      </p:grpSp>
      <p:grpSp>
        <p:nvGrpSpPr>
          <p:cNvPr id="3" name="Group 7"/>
          <p:cNvGrpSpPr/>
          <p:nvPr/>
        </p:nvGrpSpPr>
        <p:grpSpPr>
          <a:xfrm>
            <a:off x="838200" y="5219700"/>
            <a:ext cx="1200150" cy="723900"/>
            <a:chOff x="432" y="3624"/>
            <a:chExt cx="756" cy="456"/>
          </a:xfrm>
        </p:grpSpPr>
        <p:sp>
          <p:nvSpPr>
            <p:cNvPr id="72711" name="Text Box 8"/>
            <p:cNvSpPr txBox="1"/>
            <p:nvPr/>
          </p:nvSpPr>
          <p:spPr>
            <a:xfrm>
              <a:off x="432" y="3792"/>
              <a:ext cx="756" cy="288"/>
            </a:xfrm>
            <a:prstGeom prst="rect">
              <a:avLst/>
            </a:prstGeom>
            <a:noFill/>
            <a:ln w="57150">
              <a:noFill/>
            </a:ln>
          </p:spPr>
          <p:txBody>
            <a:bodyPr anchor="t" anchorCtr="0">
              <a:spAutoFit/>
            </a:bodyPr>
            <a:p>
              <a:pPr algn="ctr" eaLnBrk="0" hangingPunct="0">
                <a:spcBef>
                  <a:spcPct val="50000"/>
                </a:spcBef>
              </a:pPr>
              <a:r>
                <a:rPr lang="zh-CN" altLang="en-US" sz="2400" b="1" dirty="0">
                  <a:solidFill>
                    <a:schemeClr val="tx1"/>
                  </a:solidFill>
                  <a:latin typeface="Times New Roman" panose="02020603050405020304" pitchFamily="18" charset="0"/>
                  <a:ea typeface="宋体" panose="02010600030101010101" pitchFamily="2" charset="-122"/>
                </a:rPr>
                <a:t>符号位</a:t>
              </a:r>
              <a:endParaRPr lang="zh-CN" altLang="en-US" sz="2400" b="1" dirty="0">
                <a:solidFill>
                  <a:schemeClr val="tx1"/>
                </a:solidFill>
                <a:latin typeface="Times New Roman" panose="02020603050405020304" pitchFamily="18" charset="0"/>
                <a:ea typeface="宋体" panose="02010600030101010101" pitchFamily="2" charset="-122"/>
              </a:endParaRPr>
            </a:p>
          </p:txBody>
        </p:sp>
        <p:sp>
          <p:nvSpPr>
            <p:cNvPr id="72712" name="Line 9"/>
            <p:cNvSpPr/>
            <p:nvPr/>
          </p:nvSpPr>
          <p:spPr>
            <a:xfrm flipV="1">
              <a:off x="708" y="3624"/>
              <a:ext cx="0" cy="228"/>
            </a:xfrm>
            <a:prstGeom prst="line">
              <a:avLst/>
            </a:prstGeom>
            <a:ln w="57150" cap="sq" cmpd="sng">
              <a:solidFill>
                <a:srgbClr val="7A48C4"/>
              </a:solidFill>
              <a:prstDash val="solid"/>
              <a:round/>
              <a:headEnd type="none" w="sm" len="sm"/>
              <a:tailEnd type="triangle" w="sm" len="sm"/>
            </a:ln>
          </p:spPr>
        </p:sp>
      </p:grpSp>
      <p:grpSp>
        <p:nvGrpSpPr>
          <p:cNvPr id="4" name="Group 10"/>
          <p:cNvGrpSpPr/>
          <p:nvPr/>
        </p:nvGrpSpPr>
        <p:grpSpPr>
          <a:xfrm>
            <a:off x="4495800" y="5238750"/>
            <a:ext cx="1314450" cy="628650"/>
            <a:chOff x="3288" y="3696"/>
            <a:chExt cx="828" cy="396"/>
          </a:xfrm>
        </p:grpSpPr>
        <p:sp>
          <p:nvSpPr>
            <p:cNvPr id="72714" name="Text Box 11"/>
            <p:cNvSpPr txBox="1"/>
            <p:nvPr/>
          </p:nvSpPr>
          <p:spPr>
            <a:xfrm>
              <a:off x="3288" y="3804"/>
              <a:ext cx="828" cy="288"/>
            </a:xfrm>
            <a:prstGeom prst="rect">
              <a:avLst/>
            </a:prstGeom>
            <a:noFill/>
            <a:ln w="57150">
              <a:noFill/>
            </a:ln>
          </p:spPr>
          <p:txBody>
            <a:bodyPr anchor="t" anchorCtr="0">
              <a:spAutoFit/>
            </a:bodyPr>
            <a:p>
              <a:pPr algn="ctr" eaLnBrk="0" hangingPunct="0">
                <a:spcBef>
                  <a:spcPct val="50000"/>
                </a:spcBef>
              </a:pPr>
              <a:r>
                <a:rPr lang="zh-CN" altLang="en-US" sz="2400" b="1" dirty="0">
                  <a:solidFill>
                    <a:schemeClr val="tx1"/>
                  </a:solidFill>
                  <a:latin typeface="Times New Roman" panose="02020603050405020304" pitchFamily="18" charset="0"/>
                  <a:ea typeface="宋体" panose="02010600030101010101" pitchFamily="2" charset="-122"/>
                </a:rPr>
                <a:t>尾数</a:t>
              </a:r>
              <a:endParaRPr lang="zh-CN" altLang="en-US" sz="2400" b="1" dirty="0">
                <a:solidFill>
                  <a:schemeClr val="tx1"/>
                </a:solidFill>
                <a:latin typeface="Times New Roman" panose="02020603050405020304" pitchFamily="18" charset="0"/>
                <a:ea typeface="宋体" panose="02010600030101010101" pitchFamily="2" charset="-122"/>
              </a:endParaRPr>
            </a:p>
          </p:txBody>
        </p:sp>
        <p:sp>
          <p:nvSpPr>
            <p:cNvPr id="72715" name="Line 12"/>
            <p:cNvSpPr/>
            <p:nvPr/>
          </p:nvSpPr>
          <p:spPr>
            <a:xfrm flipH="1" flipV="1">
              <a:off x="3672" y="3696"/>
              <a:ext cx="12" cy="204"/>
            </a:xfrm>
            <a:prstGeom prst="line">
              <a:avLst/>
            </a:prstGeom>
            <a:ln w="57150" cap="sq" cmpd="sng">
              <a:solidFill>
                <a:srgbClr val="7A48C4"/>
              </a:solidFill>
              <a:prstDash val="solid"/>
              <a:round/>
              <a:headEnd type="none" w="sm" len="sm"/>
              <a:tailEnd type="triangle" w="sm" len="sm"/>
            </a:ln>
          </p:spPr>
        </p:sp>
      </p:grpSp>
      <p:sp>
        <p:nvSpPr>
          <p:cNvPr id="15" name="Rectangle 3"/>
          <p:cNvSpPr txBox="1">
            <a:spLocks noChangeArrowheads="1"/>
          </p:cNvSpPr>
          <p:nvPr/>
        </p:nvSpPr>
        <p:spPr bwMode="auto">
          <a:xfrm>
            <a:off x="684213" y="333375"/>
            <a:ext cx="7772400" cy="1143000"/>
          </a:xfrm>
          <a:prstGeom prst="rect">
            <a:avLst/>
          </a:prstGeom>
          <a:noFill/>
          <a:ln>
            <a:noFill/>
          </a:ln>
          <a:effectLst/>
        </p:spPr>
        <p:txBody>
          <a:bodyPr anchor="ctr"/>
          <a:lstStyle>
            <a:lvl1pPr algn="ctr" rtl="0" fontAlgn="base">
              <a:spcBef>
                <a:spcPct val="0"/>
              </a:spcBef>
              <a:spcAft>
                <a:spcPct val="0"/>
              </a:spcAft>
              <a:defRPr kumimoji="1" sz="4400" b="1">
                <a:solidFill>
                  <a:srgbClr val="663300"/>
                </a:solidFill>
                <a:latin typeface="+mj-lt"/>
                <a:ea typeface="+mj-ea"/>
                <a:cs typeface="+mj-cs"/>
              </a:defRPr>
            </a:lvl1pPr>
            <a:lvl2pPr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2.2.</a:t>
            </a:r>
            <a:r>
              <a:rPr kumimoji="1" lang="en-US" altLang="zh-CN"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5</a:t>
            </a:r>
            <a:r>
              <a:rPr kumimoji="1" lang="zh-CN" altLang="en-US"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  </a:t>
            </a:r>
            <a:r>
              <a:rPr kumimoji="1" lang="en-US" altLang="zh-CN"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IEEE754</a:t>
            </a:r>
            <a:r>
              <a:rPr kumimoji="1" lang="zh-CN" altLang="en-US"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标准浮点数（续）</a:t>
            </a:r>
            <a:endParaRPr kumimoji="1" lang="zh-CN" altLang="en-US" sz="3600" b="1" i="0" u="none" strike="noStrike" kern="0" cap="none" spc="0" normalizeH="0" baseline="0" noProof="0" dirty="0" smtClean="0">
              <a:ln>
                <a:noFill/>
              </a:ln>
              <a:solidFill>
                <a:srgbClr val="663300"/>
              </a:solidFill>
              <a:effectLst/>
              <a:uLnTx/>
              <a:uFillTx/>
              <a:latin typeface="+mj-lt"/>
              <a:ea typeface="+mj-ea"/>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2"/>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73730" name="Rectangle 3"/>
          <p:cNvSpPr>
            <a:spLocks noGrp="1"/>
          </p:cNvSpPr>
          <p:nvPr>
            <p:ph idx="1"/>
          </p:nvPr>
        </p:nvSpPr>
        <p:spPr>
          <a:xfrm>
            <a:off x="609600" y="1354138"/>
            <a:ext cx="7889875" cy="4818062"/>
          </a:xfrm>
        </p:spPr>
        <p:txBody>
          <a:bodyPr vert="horz" wrap="square" lIns="91440" tIns="45720" rIns="91440" bIns="45720" anchor="t" anchorCtr="0"/>
          <a:p>
            <a:pPr eaLnBrk="1" hangingPunct="1">
              <a:lnSpc>
                <a:spcPct val="90000"/>
              </a:lnSpc>
              <a:buNone/>
            </a:pPr>
            <a:r>
              <a:rPr lang="zh-CN" altLang="en-US" b="1" dirty="0">
                <a:ea typeface="楷体_GB2312" pitchFamily="49" charset="-122"/>
              </a:rPr>
              <a:t>⑵ 计算出阶码真值（移码－偏置值）</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10000011-1111111=100</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⑶ 以规格化二进制数形式写出此数</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1.1001001×2</a:t>
            </a:r>
            <a:r>
              <a:rPr lang="zh-CN" altLang="en-US" b="1" baseline="30000" dirty="0">
                <a:ea typeface="楷体_GB2312" pitchFamily="49" charset="-122"/>
              </a:rPr>
              <a:t>4</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⑷ 写成非规格化二进制数形式</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11001.001</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⑸ 转换成十进制数，并加上符号位。</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(11001.001)</a:t>
            </a:r>
            <a:r>
              <a:rPr lang="zh-CN" altLang="en-US" b="1" baseline="-30000" dirty="0">
                <a:ea typeface="楷体_GB2312" pitchFamily="49" charset="-122"/>
              </a:rPr>
              <a:t>2</a:t>
            </a:r>
            <a:r>
              <a:rPr lang="zh-CN" altLang="en-US" b="1" dirty="0">
                <a:ea typeface="楷体_GB2312" pitchFamily="49" charset="-122"/>
              </a:rPr>
              <a:t>=(25.125)</a:t>
            </a:r>
            <a:r>
              <a:rPr lang="zh-CN" altLang="en-US" b="1" baseline="-30000" dirty="0">
                <a:ea typeface="楷体_GB2312" pitchFamily="49" charset="-122"/>
              </a:rPr>
              <a:t>10</a:t>
            </a:r>
            <a:r>
              <a:rPr lang="zh-CN" altLang="en-US" b="1" dirty="0">
                <a:ea typeface="楷体_GB2312" pitchFamily="49" charset="-122"/>
              </a:rPr>
              <a:t> </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所以，该浮点数=-25.125</a:t>
            </a:r>
            <a:endParaRPr lang="zh-CN" altLang="en-US" b="1" dirty="0">
              <a:ea typeface="楷体_GB2312" pitchFamily="49" charset="-122"/>
            </a:endParaRPr>
          </a:p>
        </p:txBody>
      </p:sp>
      <p:sp>
        <p:nvSpPr>
          <p:cNvPr id="6" name="Rectangle 3"/>
          <p:cNvSpPr txBox="1">
            <a:spLocks noChangeArrowheads="1"/>
          </p:cNvSpPr>
          <p:nvPr/>
        </p:nvSpPr>
        <p:spPr bwMode="auto">
          <a:xfrm>
            <a:off x="684213" y="333375"/>
            <a:ext cx="7772400" cy="1143000"/>
          </a:xfrm>
          <a:prstGeom prst="rect">
            <a:avLst/>
          </a:prstGeom>
          <a:noFill/>
          <a:ln>
            <a:noFill/>
          </a:ln>
          <a:effectLst/>
        </p:spPr>
        <p:txBody>
          <a:bodyPr anchor="ctr"/>
          <a:lstStyle>
            <a:lvl1pPr algn="ctr" rtl="0" fontAlgn="base">
              <a:spcBef>
                <a:spcPct val="0"/>
              </a:spcBef>
              <a:spcAft>
                <a:spcPct val="0"/>
              </a:spcAft>
              <a:defRPr kumimoji="1" sz="4400" b="1">
                <a:solidFill>
                  <a:srgbClr val="663300"/>
                </a:solidFill>
                <a:latin typeface="+mj-lt"/>
                <a:ea typeface="+mj-ea"/>
                <a:cs typeface="+mj-cs"/>
              </a:defRPr>
            </a:lvl1pPr>
            <a:lvl2pPr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b="1">
                <a:solidFill>
                  <a:srgbClr val="66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2.2.</a:t>
            </a:r>
            <a:r>
              <a:rPr kumimoji="1" lang="en-US" altLang="zh-CN"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5</a:t>
            </a:r>
            <a:r>
              <a:rPr kumimoji="1" lang="zh-CN" altLang="en-US"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  </a:t>
            </a:r>
            <a:r>
              <a:rPr kumimoji="1" lang="en-US" altLang="zh-CN"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IEEE754</a:t>
            </a:r>
            <a:r>
              <a:rPr kumimoji="1" lang="zh-CN" altLang="en-US" sz="3600" b="1" i="0" u="none" strike="noStrike" kern="0" cap="none" spc="0" normalizeH="0" baseline="0" noProof="0" dirty="0" smtClean="0">
                <a:ln>
                  <a:noFill/>
                </a:ln>
                <a:solidFill>
                  <a:srgbClr val="0000FF"/>
                </a:solidFill>
                <a:effectLst/>
                <a:uLnTx/>
                <a:uFillTx/>
                <a:latin typeface="华文新魏" panose="02010800040101010101" pitchFamily="2" charset="-122"/>
                <a:ea typeface="华文新魏" panose="02010800040101010101" pitchFamily="2" charset="-122"/>
                <a:cs typeface="+mj-cs"/>
              </a:rPr>
              <a:t>标准浮点数（续）</a:t>
            </a:r>
            <a:endParaRPr kumimoji="1" lang="zh-CN" altLang="en-US" sz="3600" b="1" i="0" u="none" strike="noStrike" kern="0" cap="none" spc="0" normalizeH="0" baseline="0" noProof="0" dirty="0" smtClean="0">
              <a:ln>
                <a:noFill/>
              </a:ln>
              <a:solidFill>
                <a:srgbClr val="663300"/>
              </a:solidFill>
              <a:effectLst/>
              <a:uLnTx/>
              <a:uFillTx/>
              <a:latin typeface="+mj-lt"/>
              <a:ea typeface="+mj-ea"/>
              <a:cs typeface="+mj-cs"/>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74754" name="Rectangle 2"/>
          <p:cNvSpPr>
            <a:spLocks noGrp="1"/>
          </p:cNvSpPr>
          <p:nvPr>
            <p:ph type="body" idx="4294967295"/>
          </p:nvPr>
        </p:nvSpPr>
        <p:spPr>
          <a:xfrm>
            <a:off x="533400" y="1219200"/>
            <a:ext cx="7924800" cy="5486400"/>
          </a:xfrm>
        </p:spPr>
        <p:txBody>
          <a:bodyPr vert="horz" wrap="square" lIns="91440" tIns="45720" rIns="91440" bIns="45720" anchor="t" anchorCtr="0"/>
          <a:p>
            <a:pPr marL="0" algn="just" eaLnBrk="1" hangingPunct="1">
              <a:buNone/>
            </a:pPr>
            <a:r>
              <a:rPr lang="zh-CN" altLang="en-US" b="1" dirty="0">
                <a:solidFill>
                  <a:schemeClr val="accent2"/>
                </a:solidFill>
                <a:ea typeface="楷体_GB2312" pitchFamily="49" charset="-122"/>
              </a:rPr>
              <a:t>1.定点、浮点表示法的区别</a:t>
            </a:r>
            <a:endParaRPr lang="zh-CN" altLang="en-US" b="1" dirty="0">
              <a:solidFill>
                <a:schemeClr val="accent2"/>
              </a:solidFill>
              <a:ea typeface="楷体_GB2312" pitchFamily="49" charset="-122"/>
            </a:endParaRPr>
          </a:p>
          <a:p>
            <a:pPr marL="0" algn="just" eaLnBrk="1" hangingPunct="1">
              <a:buNone/>
            </a:pPr>
            <a:r>
              <a:rPr lang="zh-CN" altLang="en-US" b="1" dirty="0">
                <a:ea typeface="楷体_GB2312" pitchFamily="49" charset="-122"/>
              </a:rPr>
              <a:t>⑴数值的表示范围</a:t>
            </a:r>
            <a:endParaRPr lang="zh-CN" altLang="en-US" b="1" dirty="0">
              <a:ea typeface="楷体_GB2312" pitchFamily="49" charset="-122"/>
            </a:endParaRPr>
          </a:p>
          <a:p>
            <a:pPr marL="0" algn="just" eaLnBrk="1" hangingPunct="1">
              <a:buNone/>
            </a:pPr>
            <a:r>
              <a:rPr lang="zh-CN" altLang="en-US" b="1" dirty="0">
                <a:ea typeface="楷体_GB2312" pitchFamily="49" charset="-122"/>
              </a:rPr>
              <a:t>         假设定点数和浮点数的字长相同，浮点表示法所能表示的数值范围将远远大于定点数。</a:t>
            </a:r>
            <a:endParaRPr lang="zh-CN" altLang="en-US" b="1" dirty="0">
              <a:ea typeface="楷体_GB2312" pitchFamily="49" charset="-122"/>
            </a:endParaRPr>
          </a:p>
          <a:p>
            <a:pPr marL="0" algn="just" eaLnBrk="1" hangingPunct="1">
              <a:buNone/>
            </a:pPr>
            <a:r>
              <a:rPr lang="zh-CN" altLang="en-US" b="1" dirty="0">
                <a:ea typeface="楷体_GB2312" pitchFamily="49" charset="-122"/>
              </a:rPr>
              <a:t>⑵精度</a:t>
            </a:r>
            <a:endParaRPr lang="zh-CN" altLang="en-US" b="1" dirty="0">
              <a:ea typeface="楷体_GB2312" pitchFamily="49" charset="-122"/>
            </a:endParaRPr>
          </a:p>
          <a:p>
            <a:pPr marL="0" algn="just" eaLnBrk="1" hangingPunct="1">
              <a:buNone/>
            </a:pPr>
            <a:r>
              <a:rPr lang="zh-CN" altLang="en-US" b="1" dirty="0">
                <a:ea typeface="楷体_GB2312" pitchFamily="49" charset="-122"/>
              </a:rPr>
              <a:t>         对于字长相同的定点数和浮点数来说，浮点数虽然扩大了数的表示范围，但这正是以降低精度为代价的，也就是数轴上各点的排列更稀疏了。</a:t>
            </a:r>
            <a:endParaRPr lang="zh-CN" altLang="en-US" b="1" dirty="0">
              <a:ea typeface="楷体_GB2312" pitchFamily="49" charset="-122"/>
            </a:endParaRPr>
          </a:p>
        </p:txBody>
      </p:sp>
      <p:sp>
        <p:nvSpPr>
          <p:cNvPr id="74755" name="Rectangle 3"/>
          <p:cNvSpPr>
            <a:spLocks noGrp="1"/>
          </p:cNvSpPr>
          <p:nvPr>
            <p:ph type="title" idx="4294967295"/>
          </p:nvPr>
        </p:nvSpPr>
        <p:spPr>
          <a:xfrm>
            <a:off x="304800" y="304800"/>
            <a:ext cx="8382000" cy="1143000"/>
          </a:xfrm>
        </p:spPr>
        <p:txBody>
          <a:bodyPr vert="horz" wrap="square" lIns="91440" tIns="45720" rIns="91440" bIns="45720" anchor="ctr" anchorCtr="0"/>
          <a:p>
            <a:pPr algn="l" eaLnBrk="1" hangingPunct="1"/>
            <a:r>
              <a:rPr lang="zh-CN" altLang="en-US" sz="3200" dirty="0">
                <a:solidFill>
                  <a:srgbClr val="0000FF"/>
                </a:solidFill>
                <a:latin typeface="华文新魏" panose="02010800040101010101" pitchFamily="2" charset="-122"/>
                <a:ea typeface="华文新魏" panose="02010800040101010101" pitchFamily="2" charset="-122"/>
              </a:rPr>
              <a:t>2.2.</a:t>
            </a:r>
            <a:r>
              <a:rPr lang="en-US" altLang="zh-CN" sz="3200" dirty="0">
                <a:solidFill>
                  <a:srgbClr val="0000FF"/>
                </a:solidFill>
                <a:latin typeface="华文新魏" panose="02010800040101010101" pitchFamily="2" charset="-122"/>
                <a:ea typeface="华文新魏" panose="02010800040101010101" pitchFamily="2" charset="-122"/>
              </a:rPr>
              <a:t>6</a:t>
            </a:r>
            <a:r>
              <a:rPr lang="zh-CN" altLang="en-US" sz="3200" dirty="0">
                <a:solidFill>
                  <a:srgbClr val="0000FF"/>
                </a:solidFill>
                <a:latin typeface="华文新魏" panose="02010800040101010101" pitchFamily="2" charset="-122"/>
                <a:ea typeface="华文新魏" panose="02010800040101010101" pitchFamily="2" charset="-122"/>
              </a:rPr>
              <a:t>  定点、浮点表示法和定点、浮点计算机</a:t>
            </a:r>
            <a:endParaRPr lang="zh-CN" altLang="en-US" dirty="0"/>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文本框 1"/>
          <p:cNvSpPr txBox="1"/>
          <p:nvPr/>
        </p:nvSpPr>
        <p:spPr>
          <a:xfrm>
            <a:off x="1181100" y="987425"/>
            <a:ext cx="5407025" cy="582613"/>
          </a:xfrm>
          <a:prstGeom prst="rect">
            <a:avLst/>
          </a:prstGeom>
          <a:noFill/>
          <a:ln w="9525">
            <a:noFill/>
          </a:ln>
        </p:spPr>
        <p:txBody>
          <a:bodyPr wrap="square" anchor="t" anchorCtr="0">
            <a:spAutoFit/>
          </a:bodyPr>
          <a:p>
            <a:r>
              <a:rPr lang="zh-CN" altLang="en-US" dirty="0">
                <a:solidFill>
                  <a:srgbClr val="0000FF"/>
                </a:solidFill>
                <a:latin typeface="华文新魏" panose="02010800040101010101" pitchFamily="2" charset="-122"/>
                <a:ea typeface="华文新魏" panose="02010800040101010101" pitchFamily="2" charset="-122"/>
              </a:rPr>
              <a:t>浮点数设计格式：</a:t>
            </a:r>
            <a:endParaRPr lang="zh-CN" altLang="en-US">
              <a:latin typeface="Arial" panose="020B0604020202020204" pitchFamily="34" charset="0"/>
            </a:endParaRPr>
          </a:p>
        </p:txBody>
      </p:sp>
      <p:sp>
        <p:nvSpPr>
          <p:cNvPr id="3" name="流程图: 过程 2"/>
          <p:cNvSpPr/>
          <p:nvPr/>
        </p:nvSpPr>
        <p:spPr>
          <a:xfrm>
            <a:off x="1403350" y="2236788"/>
            <a:ext cx="720725" cy="584200"/>
          </a:xfrm>
          <a:prstGeom prst="flowChartProcess">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ctr" anchorCtr="0" compatLnSpc="1">
            <a:spAutoFit/>
          </a:bodyPr>
          <a:p>
            <a:pPr marL="0" marR="0" indent="0" algn="l" defTabSz="914400" rtl="0" eaLnBrk="1" fontAlgn="base" latinLnBrk="0" hangingPunct="1">
              <a:lnSpc>
                <a:spcPct val="100000"/>
              </a:lnSpc>
              <a:spcBef>
                <a:spcPct val="0"/>
              </a:spcBef>
              <a:spcAft>
                <a:spcPct val="0"/>
              </a:spcAft>
              <a:buClrTx/>
              <a:buSzTx/>
              <a:buFontTx/>
              <a:buNone/>
            </a:pPr>
            <a:endParaRPr kumimoji="0" lang="en-US" altLang="zh-CN" sz="3200" b="0" i="0" u="none" strike="noStrike" cap="none" normalizeH="0" baseline="0" noProof="1" smtClean="0">
              <a:ln>
                <a:noFill/>
              </a:ln>
              <a:solidFill>
                <a:schemeClr val="accent2"/>
              </a:solidFill>
              <a:effectLst/>
              <a:latin typeface="Arial" panose="020B0604020202020204" pitchFamily="34" charset="0"/>
              <a:ea typeface="华文行楷" panose="02010800040101010101" pitchFamily="2" charset="-122"/>
            </a:endParaRPr>
          </a:p>
        </p:txBody>
      </p:sp>
      <p:sp>
        <p:nvSpPr>
          <p:cNvPr id="4" name="流程图: 过程 3"/>
          <p:cNvSpPr/>
          <p:nvPr/>
        </p:nvSpPr>
        <p:spPr>
          <a:xfrm>
            <a:off x="2130425" y="2244725"/>
            <a:ext cx="1595438" cy="584200"/>
          </a:xfrm>
          <a:prstGeom prst="flowChartProcess">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ctr" anchorCtr="0" compatLnSpc="1">
            <a:spAutoFit/>
          </a:bodyPr>
          <a:p>
            <a:pPr marL="0" marR="0" indent="0" algn="l" defTabSz="914400" rtl="0" eaLnBrk="1" fontAlgn="base" latinLnBrk="0" hangingPunct="1">
              <a:lnSpc>
                <a:spcPct val="100000"/>
              </a:lnSpc>
              <a:spcBef>
                <a:spcPct val="0"/>
              </a:spcBef>
              <a:spcAft>
                <a:spcPct val="0"/>
              </a:spcAft>
              <a:buClrTx/>
              <a:buSzTx/>
              <a:buFontTx/>
              <a:buNone/>
            </a:pPr>
            <a:endParaRPr kumimoji="0" lang="en-US" altLang="zh-CN" sz="3200" b="0" i="0" u="none" strike="noStrike" cap="none" normalizeH="0" baseline="0" noProof="1" smtClean="0">
              <a:ln>
                <a:noFill/>
              </a:ln>
              <a:solidFill>
                <a:schemeClr val="accent2"/>
              </a:solidFill>
              <a:effectLst/>
              <a:latin typeface="Arial" panose="020B0604020202020204" pitchFamily="34" charset="0"/>
              <a:ea typeface="华文行楷" panose="02010800040101010101" pitchFamily="2" charset="-122"/>
            </a:endParaRPr>
          </a:p>
        </p:txBody>
      </p:sp>
      <p:sp>
        <p:nvSpPr>
          <p:cNvPr id="5" name="流程图: 过程 4"/>
          <p:cNvSpPr/>
          <p:nvPr/>
        </p:nvSpPr>
        <p:spPr>
          <a:xfrm>
            <a:off x="3741738" y="2255838"/>
            <a:ext cx="719138" cy="582613"/>
          </a:xfrm>
          <a:prstGeom prst="flowChartProcess">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spAutoFit/>
          </a:bodyPr>
          <a:p>
            <a:pPr marL="0" marR="0" indent="0" algn="l" defTabSz="914400" rtl="0" eaLnBrk="1" fontAlgn="base" latinLnBrk="0" hangingPunct="1">
              <a:lnSpc>
                <a:spcPct val="100000"/>
              </a:lnSpc>
              <a:spcBef>
                <a:spcPct val="0"/>
              </a:spcBef>
              <a:spcAft>
                <a:spcPct val="0"/>
              </a:spcAft>
              <a:buClrTx/>
              <a:buSzTx/>
              <a:buFontTx/>
              <a:buNone/>
            </a:pPr>
            <a:endParaRPr kumimoji="0" lang="en-US" altLang="zh-CN" sz="3200" b="0" i="0" u="none" strike="noStrike" cap="none" normalizeH="0" baseline="0" noProof="1" smtClean="0">
              <a:ln>
                <a:noFill/>
              </a:ln>
              <a:solidFill>
                <a:schemeClr val="accent2"/>
              </a:solidFill>
              <a:effectLst/>
              <a:latin typeface="Arial" panose="020B0604020202020204" pitchFamily="34" charset="0"/>
              <a:ea typeface="华文行楷" panose="02010800040101010101" pitchFamily="2" charset="-122"/>
            </a:endParaRPr>
          </a:p>
        </p:txBody>
      </p:sp>
      <p:sp>
        <p:nvSpPr>
          <p:cNvPr id="6" name="流程图: 过程 5"/>
          <p:cNvSpPr/>
          <p:nvPr/>
        </p:nvSpPr>
        <p:spPr>
          <a:xfrm>
            <a:off x="4468813" y="2263775"/>
            <a:ext cx="1595438" cy="584200"/>
          </a:xfrm>
          <a:prstGeom prst="flowChartProcess">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spAutoFit/>
          </a:bodyPr>
          <a:p>
            <a:pPr marL="0" marR="0" indent="0" algn="l" defTabSz="914400" rtl="0" eaLnBrk="1" fontAlgn="base" latinLnBrk="0" hangingPunct="1">
              <a:lnSpc>
                <a:spcPct val="100000"/>
              </a:lnSpc>
              <a:spcBef>
                <a:spcPct val="0"/>
              </a:spcBef>
              <a:spcAft>
                <a:spcPct val="0"/>
              </a:spcAft>
              <a:buClrTx/>
              <a:buSzTx/>
              <a:buFontTx/>
              <a:buNone/>
            </a:pPr>
            <a:endParaRPr kumimoji="0" lang="en-US" altLang="zh-CN" sz="3200" b="0" i="0" u="none" strike="noStrike" cap="none" normalizeH="0" baseline="0" noProof="1" smtClean="0">
              <a:ln>
                <a:noFill/>
              </a:ln>
              <a:solidFill>
                <a:schemeClr val="accent2"/>
              </a:solidFill>
              <a:effectLst/>
              <a:latin typeface="Arial" panose="020B0604020202020204" pitchFamily="34" charset="0"/>
              <a:ea typeface="华文行楷" panose="02010800040101010101" pitchFamily="2" charset="-122"/>
            </a:endParaRPr>
          </a:p>
        </p:txBody>
      </p:sp>
      <p:cxnSp>
        <p:nvCxnSpPr>
          <p:cNvPr id="7" name="直接箭头连接符 6"/>
          <p:cNvCxnSpPr>
            <a:endCxn id="3" idx="2"/>
          </p:cNvCxnSpPr>
          <p:nvPr/>
        </p:nvCxnSpPr>
        <p:spPr>
          <a:xfrm flipH="1" flipV="1">
            <a:off x="1763713" y="2820988"/>
            <a:ext cx="58738" cy="1204913"/>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cxnSp>
        <p:nvCxnSpPr>
          <p:cNvPr id="8" name="直接箭头连接符 7"/>
          <p:cNvCxnSpPr>
            <a:endCxn id="3" idx="2"/>
          </p:cNvCxnSpPr>
          <p:nvPr/>
        </p:nvCxnSpPr>
        <p:spPr>
          <a:xfrm flipH="1" flipV="1">
            <a:off x="2759075" y="2820988"/>
            <a:ext cx="58738" cy="1204913"/>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cxnSp>
        <p:nvCxnSpPr>
          <p:cNvPr id="9" name="直接箭头连接符 8"/>
          <p:cNvCxnSpPr>
            <a:endCxn id="3" idx="2"/>
          </p:cNvCxnSpPr>
          <p:nvPr/>
        </p:nvCxnSpPr>
        <p:spPr>
          <a:xfrm flipH="1" flipV="1">
            <a:off x="3997325" y="2847975"/>
            <a:ext cx="58738" cy="1204913"/>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cxnSp>
        <p:nvCxnSpPr>
          <p:cNvPr id="10" name="直接箭头连接符 9"/>
          <p:cNvCxnSpPr>
            <a:endCxn id="3" idx="2"/>
          </p:cNvCxnSpPr>
          <p:nvPr/>
        </p:nvCxnSpPr>
        <p:spPr>
          <a:xfrm flipH="1" flipV="1">
            <a:off x="5373688" y="2838450"/>
            <a:ext cx="58738" cy="1206500"/>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sp>
        <p:nvSpPr>
          <p:cNvPr id="75786" name="文本框 10"/>
          <p:cNvSpPr txBox="1"/>
          <p:nvPr/>
        </p:nvSpPr>
        <p:spPr>
          <a:xfrm>
            <a:off x="1320800" y="3922713"/>
            <a:ext cx="1154113" cy="582612"/>
          </a:xfrm>
          <a:prstGeom prst="rect">
            <a:avLst/>
          </a:prstGeom>
          <a:noFill/>
          <a:ln w="9525">
            <a:noFill/>
          </a:ln>
        </p:spPr>
        <p:txBody>
          <a:bodyPr wrap="square" anchor="t" anchorCtr="0">
            <a:spAutoFit/>
          </a:bodyPr>
          <a:p>
            <a:r>
              <a:rPr lang="zh-CN" altLang="en-US">
                <a:latin typeface="Arial" panose="020B0604020202020204" pitchFamily="34" charset="0"/>
              </a:rPr>
              <a:t>阶符</a:t>
            </a:r>
            <a:endParaRPr lang="zh-CN" altLang="en-US">
              <a:latin typeface="Arial" panose="020B0604020202020204" pitchFamily="34" charset="0"/>
            </a:endParaRPr>
          </a:p>
        </p:txBody>
      </p:sp>
      <p:sp>
        <p:nvSpPr>
          <p:cNvPr id="75787" name="文本框 11"/>
          <p:cNvSpPr txBox="1"/>
          <p:nvPr/>
        </p:nvSpPr>
        <p:spPr>
          <a:xfrm>
            <a:off x="2586038" y="3948113"/>
            <a:ext cx="1155700" cy="584200"/>
          </a:xfrm>
          <a:prstGeom prst="rect">
            <a:avLst/>
          </a:prstGeom>
          <a:noFill/>
          <a:ln w="9525">
            <a:noFill/>
          </a:ln>
        </p:spPr>
        <p:txBody>
          <a:bodyPr wrap="square" anchor="t" anchorCtr="0">
            <a:spAutoFit/>
          </a:bodyPr>
          <a:p>
            <a:r>
              <a:rPr lang="zh-CN" altLang="en-US">
                <a:latin typeface="Arial" panose="020B0604020202020204" pitchFamily="34" charset="0"/>
              </a:rPr>
              <a:t>阶值</a:t>
            </a:r>
            <a:endParaRPr lang="zh-CN" altLang="en-US">
              <a:latin typeface="Arial" panose="020B0604020202020204" pitchFamily="34" charset="0"/>
            </a:endParaRPr>
          </a:p>
        </p:txBody>
      </p:sp>
      <p:sp>
        <p:nvSpPr>
          <p:cNvPr id="75788" name="文本框 12"/>
          <p:cNvSpPr txBox="1"/>
          <p:nvPr/>
        </p:nvSpPr>
        <p:spPr>
          <a:xfrm>
            <a:off x="3865563" y="4052888"/>
            <a:ext cx="1155700" cy="582612"/>
          </a:xfrm>
          <a:prstGeom prst="rect">
            <a:avLst/>
          </a:prstGeom>
          <a:noFill/>
          <a:ln w="9525">
            <a:noFill/>
          </a:ln>
        </p:spPr>
        <p:txBody>
          <a:bodyPr wrap="square" anchor="t" anchorCtr="0">
            <a:spAutoFit/>
          </a:bodyPr>
          <a:p>
            <a:r>
              <a:rPr lang="zh-CN" altLang="en-US">
                <a:latin typeface="Arial" panose="020B0604020202020204" pitchFamily="34" charset="0"/>
              </a:rPr>
              <a:t>尾符</a:t>
            </a:r>
            <a:endParaRPr lang="zh-CN" altLang="en-US">
              <a:latin typeface="Arial" panose="020B0604020202020204" pitchFamily="34" charset="0"/>
            </a:endParaRPr>
          </a:p>
        </p:txBody>
      </p:sp>
      <p:sp>
        <p:nvSpPr>
          <p:cNvPr id="75789" name="文本框 13"/>
          <p:cNvSpPr txBox="1"/>
          <p:nvPr/>
        </p:nvSpPr>
        <p:spPr>
          <a:xfrm>
            <a:off x="5021263" y="4025900"/>
            <a:ext cx="1154112" cy="584200"/>
          </a:xfrm>
          <a:prstGeom prst="rect">
            <a:avLst/>
          </a:prstGeom>
          <a:noFill/>
          <a:ln w="9525">
            <a:noFill/>
          </a:ln>
        </p:spPr>
        <p:txBody>
          <a:bodyPr wrap="square" anchor="t" anchorCtr="0">
            <a:spAutoFit/>
          </a:bodyPr>
          <a:p>
            <a:r>
              <a:rPr lang="zh-CN" altLang="en-US">
                <a:latin typeface="Arial" panose="020B0604020202020204" pitchFamily="34" charset="0"/>
              </a:rPr>
              <a:t>尾值</a:t>
            </a:r>
            <a:endParaRPr lang="zh-CN" altLang="en-US">
              <a:latin typeface="Arial" panose="020B060402020202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文本框 1"/>
          <p:cNvSpPr txBox="1"/>
          <p:nvPr/>
        </p:nvSpPr>
        <p:spPr>
          <a:xfrm>
            <a:off x="1035050" y="857250"/>
            <a:ext cx="6702425" cy="1076325"/>
          </a:xfrm>
          <a:prstGeom prst="rect">
            <a:avLst/>
          </a:prstGeom>
          <a:noFill/>
          <a:ln w="9525">
            <a:noFill/>
          </a:ln>
        </p:spPr>
        <p:txBody>
          <a:bodyPr wrap="square" anchor="t" anchorCtr="0">
            <a:spAutoFit/>
          </a:bodyPr>
          <a:p>
            <a:r>
              <a:rPr lang="zh-CN" altLang="en-US">
                <a:latin typeface="Arial" panose="020B0604020202020204" pitchFamily="34" charset="0"/>
              </a:rPr>
              <a:t>例：从键盘输入</a:t>
            </a:r>
            <a:r>
              <a:rPr lang="en-US" altLang="zh-CN">
                <a:latin typeface="Arial" panose="020B0604020202020204" pitchFamily="34" charset="0"/>
              </a:rPr>
              <a:t>-236.375</a:t>
            </a:r>
            <a:r>
              <a:rPr lang="zh-CN" altLang="en-US">
                <a:latin typeface="Arial" panose="020B0604020202020204" pitchFamily="34" charset="0"/>
              </a:rPr>
              <a:t>，请机器值是什么？用</a:t>
            </a:r>
            <a:r>
              <a:rPr lang="en-US" altLang="zh-CN">
                <a:latin typeface="Arial" panose="020B0604020202020204" pitchFamily="34" charset="0"/>
              </a:rPr>
              <a:t>16</a:t>
            </a:r>
            <a:r>
              <a:rPr lang="zh-CN" altLang="en-US">
                <a:latin typeface="Arial" panose="020B0604020202020204" pitchFamily="34" charset="0"/>
              </a:rPr>
              <a:t>位机，阶</a:t>
            </a:r>
            <a:r>
              <a:rPr lang="en-US" altLang="zh-CN">
                <a:latin typeface="Arial" panose="020B0604020202020204" pitchFamily="34" charset="0"/>
              </a:rPr>
              <a:t>6</a:t>
            </a:r>
            <a:r>
              <a:rPr lang="zh-CN" altLang="en-US">
                <a:latin typeface="Arial" panose="020B0604020202020204" pitchFamily="34" charset="0"/>
              </a:rPr>
              <a:t>位，尾</a:t>
            </a:r>
            <a:r>
              <a:rPr lang="en-US" altLang="zh-CN">
                <a:latin typeface="Arial" panose="020B0604020202020204" pitchFamily="34" charset="0"/>
              </a:rPr>
              <a:t>10</a:t>
            </a:r>
            <a:r>
              <a:rPr lang="zh-CN" altLang="en-US">
                <a:latin typeface="Arial" panose="020B0604020202020204" pitchFamily="34" charset="0"/>
              </a:rPr>
              <a:t>位</a:t>
            </a:r>
            <a:endParaRPr lang="zh-CN" altLang="en-US">
              <a:latin typeface="Arial" panose="020B0604020202020204" pitchFamily="34" charset="0"/>
            </a:endParaRPr>
          </a:p>
        </p:txBody>
      </p:sp>
      <p:sp>
        <p:nvSpPr>
          <p:cNvPr id="76802" name="文本框 2"/>
          <p:cNvSpPr txBox="1"/>
          <p:nvPr/>
        </p:nvSpPr>
        <p:spPr>
          <a:xfrm>
            <a:off x="1025525" y="1827213"/>
            <a:ext cx="6704013" cy="2062162"/>
          </a:xfrm>
          <a:prstGeom prst="rect">
            <a:avLst/>
          </a:prstGeom>
          <a:noFill/>
          <a:ln w="9525">
            <a:noFill/>
          </a:ln>
        </p:spPr>
        <p:txBody>
          <a:bodyPr wrap="square" anchor="t" anchorCtr="0">
            <a:spAutoFit/>
          </a:bodyPr>
          <a:p>
            <a:r>
              <a:rPr lang="en-US" altLang="zh-CN">
                <a:latin typeface="Arial" panose="020B0604020202020204" pitchFamily="34" charset="0"/>
                <a:sym typeface="宋体" panose="02010600030101010101" pitchFamily="2" charset="-122"/>
              </a:rPr>
              <a:t>-236.375=-11101100.011B</a:t>
            </a:r>
            <a:endParaRPr lang="en-US" altLang="zh-CN">
              <a:latin typeface="Arial" panose="020B0604020202020204" pitchFamily="34" charset="0"/>
              <a:sym typeface="宋体" panose="02010600030101010101" pitchFamily="2" charset="-122"/>
            </a:endParaRPr>
          </a:p>
          <a:p>
            <a:r>
              <a:rPr lang="en-US" altLang="zh-CN">
                <a:latin typeface="Arial" panose="020B0604020202020204" pitchFamily="34" charset="0"/>
                <a:sym typeface="宋体" panose="02010600030101010101" pitchFamily="2" charset="-122"/>
              </a:rPr>
              <a:t>              =-.11101100011*2</a:t>
            </a:r>
            <a:r>
              <a:rPr lang="en-US" altLang="zh-CN" baseline="30000">
                <a:latin typeface="Arial" panose="020B0604020202020204" pitchFamily="34" charset="0"/>
                <a:sym typeface="宋体" panose="02010600030101010101" pitchFamily="2" charset="-122"/>
              </a:rPr>
              <a:t>+8</a:t>
            </a:r>
            <a:endParaRPr lang="en-US" altLang="zh-CN">
              <a:latin typeface="Arial" panose="020B0604020202020204" pitchFamily="34" charset="0"/>
              <a:sym typeface="宋体" panose="02010600030101010101" pitchFamily="2" charset="-122"/>
            </a:endParaRPr>
          </a:p>
          <a:p>
            <a:r>
              <a:rPr lang="en-US" altLang="zh-CN">
                <a:latin typeface="Arial" panose="020B0604020202020204" pitchFamily="34" charset="0"/>
                <a:sym typeface="宋体" panose="02010600030101010101" pitchFamily="2" charset="-122"/>
              </a:rPr>
              <a:t>              =-.11101100011*2</a:t>
            </a:r>
            <a:r>
              <a:rPr lang="en-US" altLang="zh-CN" baseline="30000">
                <a:latin typeface="Arial" panose="020B0604020202020204" pitchFamily="34" charset="0"/>
                <a:sym typeface="宋体" panose="02010600030101010101" pitchFamily="2" charset="-122"/>
              </a:rPr>
              <a:t>+1000</a:t>
            </a:r>
            <a:r>
              <a:rPr lang="en-US" altLang="zh-CN">
                <a:latin typeface="Arial" panose="020B0604020202020204" pitchFamily="34" charset="0"/>
                <a:sym typeface="宋体" panose="02010600030101010101" pitchFamily="2" charset="-122"/>
              </a:rPr>
              <a:t>B</a:t>
            </a:r>
            <a:endParaRPr lang="en-US" altLang="zh-CN">
              <a:latin typeface="Arial" panose="020B0604020202020204" pitchFamily="34" charset="0"/>
              <a:sym typeface="宋体" panose="02010600030101010101" pitchFamily="2" charset="-122"/>
            </a:endParaRPr>
          </a:p>
          <a:p>
            <a:endParaRPr lang="en-US" altLang="zh-CN">
              <a:latin typeface="Arial" panose="020B0604020202020204" pitchFamily="34" charset="0"/>
              <a:sym typeface="宋体" panose="02010600030101010101" pitchFamily="2" charset="-122"/>
            </a:endParaRPr>
          </a:p>
        </p:txBody>
      </p:sp>
      <p:graphicFrame>
        <p:nvGraphicFramePr>
          <p:cNvPr id="4" name="表格 3"/>
          <p:cNvGraphicFramePr/>
          <p:nvPr/>
        </p:nvGraphicFramePr>
        <p:xfrm>
          <a:off x="1190625" y="3889375"/>
          <a:ext cx="7458075" cy="554355"/>
        </p:xfrm>
        <a:graphic>
          <a:graphicData uri="http://schemas.openxmlformats.org/drawingml/2006/table">
            <a:tbl>
              <a:tblPr firstRow="1" bandRow="1">
                <a:tableStyleId>{5C22544A-7EE6-4342-B048-85BDC9FD1C3A}</a:tableStyleId>
              </a:tblPr>
              <a:tblGrid>
                <a:gridCol w="466090"/>
                <a:gridCol w="466090"/>
                <a:gridCol w="466090"/>
                <a:gridCol w="466090"/>
                <a:gridCol w="466090"/>
                <a:gridCol w="466090"/>
                <a:gridCol w="466090"/>
                <a:gridCol w="466090"/>
                <a:gridCol w="466090"/>
                <a:gridCol w="466090"/>
                <a:gridCol w="466090"/>
                <a:gridCol w="466090"/>
                <a:gridCol w="466090"/>
                <a:gridCol w="466090"/>
                <a:gridCol w="466090"/>
                <a:gridCol w="466090"/>
              </a:tblGrid>
              <a:tr h="554355">
                <a:tc>
                  <a:txBody>
                    <a:bodyPr/>
                    <a:p>
                      <a:pPr>
                        <a:buNone/>
                      </a:pPr>
                      <a:r>
                        <a:rPr lang="en-US" altLang="zh-CN" sz="2000">
                          <a:solidFill>
                            <a:srgbClr val="FF0000"/>
                          </a:solidFill>
                        </a:rPr>
                        <a:t>0</a:t>
                      </a:r>
                      <a:endParaRPr lang="en-US" altLang="zh-CN" sz="2000">
                        <a:solidFill>
                          <a:srgbClr val="FF0000"/>
                        </a:solidFill>
                      </a:endParaRPr>
                    </a:p>
                  </a:txBody>
                  <a:tcPr/>
                </a:tc>
                <a:tc>
                  <a:txBody>
                    <a:bodyPr/>
                    <a:p>
                      <a:pPr>
                        <a:buNone/>
                      </a:pPr>
                      <a:r>
                        <a:rPr lang="en-US" altLang="zh-CN" sz="2000">
                          <a:solidFill>
                            <a:srgbClr val="FF0000"/>
                          </a:solidFill>
                        </a:rPr>
                        <a:t>0</a:t>
                      </a:r>
                      <a:endParaRPr lang="en-US" altLang="zh-CN" sz="2000">
                        <a:solidFill>
                          <a:srgbClr val="FF0000"/>
                        </a:solidFill>
                      </a:endParaRPr>
                    </a:p>
                  </a:txBody>
                  <a:tcPr/>
                </a:tc>
                <a:tc>
                  <a:txBody>
                    <a:bodyPr/>
                    <a:p>
                      <a:pPr>
                        <a:buNone/>
                      </a:pPr>
                      <a:r>
                        <a:rPr lang="en-US" altLang="zh-CN" sz="2000">
                          <a:solidFill>
                            <a:srgbClr val="FF0000"/>
                          </a:solidFill>
                        </a:rPr>
                        <a:t>1</a:t>
                      </a:r>
                      <a:endParaRPr lang="en-US" altLang="zh-CN" sz="2000">
                        <a:solidFill>
                          <a:srgbClr val="FF0000"/>
                        </a:solidFill>
                      </a:endParaRPr>
                    </a:p>
                  </a:txBody>
                  <a:tcPr/>
                </a:tc>
                <a:tc>
                  <a:txBody>
                    <a:bodyPr/>
                    <a:p>
                      <a:pPr>
                        <a:buNone/>
                      </a:pPr>
                      <a:r>
                        <a:rPr lang="en-US" altLang="zh-CN" sz="2000">
                          <a:solidFill>
                            <a:srgbClr val="FF0000"/>
                          </a:solidFill>
                        </a:rPr>
                        <a:t>0</a:t>
                      </a:r>
                      <a:endParaRPr lang="en-US" altLang="zh-CN" sz="2000">
                        <a:solidFill>
                          <a:srgbClr val="FF0000"/>
                        </a:solidFill>
                      </a:endParaRPr>
                    </a:p>
                  </a:txBody>
                  <a:tcPr/>
                </a:tc>
                <a:tc>
                  <a:txBody>
                    <a:bodyPr/>
                    <a:p>
                      <a:pPr>
                        <a:buNone/>
                      </a:pPr>
                      <a:r>
                        <a:rPr lang="en-US" altLang="zh-CN" sz="2000">
                          <a:solidFill>
                            <a:srgbClr val="FF0000"/>
                          </a:solidFill>
                        </a:rPr>
                        <a:t>0</a:t>
                      </a:r>
                      <a:endParaRPr lang="en-US" altLang="zh-CN" sz="2000">
                        <a:solidFill>
                          <a:srgbClr val="FF0000"/>
                        </a:solidFill>
                      </a:endParaRPr>
                    </a:p>
                  </a:txBody>
                  <a:tcPr/>
                </a:tc>
                <a:tc>
                  <a:txBody>
                    <a:bodyPr/>
                    <a:p>
                      <a:pPr>
                        <a:buNone/>
                      </a:pPr>
                      <a:r>
                        <a:rPr lang="en-US" altLang="zh-CN" sz="2000">
                          <a:solidFill>
                            <a:srgbClr val="FF0000"/>
                          </a:solidFill>
                        </a:rPr>
                        <a:t>0</a:t>
                      </a:r>
                      <a:endParaRPr lang="en-US" altLang="zh-CN" sz="2000">
                        <a:solidFill>
                          <a:srgbClr val="FF0000"/>
                        </a:solidFill>
                      </a:endParaRPr>
                    </a:p>
                  </a:txBody>
                  <a:tcPr/>
                </a:tc>
                <a:tc>
                  <a:txBody>
                    <a:bodyPr/>
                    <a:p>
                      <a:pPr>
                        <a:buNone/>
                      </a:pPr>
                      <a:r>
                        <a:rPr lang="en-US" altLang="zh-CN" sz="2000">
                          <a:solidFill>
                            <a:schemeClr val="accent2"/>
                          </a:solidFill>
                        </a:rPr>
                        <a:t>1</a:t>
                      </a:r>
                      <a:endParaRPr lang="en-US" altLang="zh-CN" sz="2000">
                        <a:solidFill>
                          <a:schemeClr val="accent2"/>
                        </a:solidFill>
                      </a:endParaRPr>
                    </a:p>
                  </a:txBody>
                  <a:tcPr/>
                </a:tc>
                <a:tc>
                  <a:txBody>
                    <a:bodyPr/>
                    <a:p>
                      <a:pPr>
                        <a:buNone/>
                      </a:pPr>
                      <a:r>
                        <a:rPr lang="en-US" altLang="zh-CN" sz="2000">
                          <a:solidFill>
                            <a:schemeClr val="accent2"/>
                          </a:solidFill>
                        </a:rPr>
                        <a:t>1</a:t>
                      </a:r>
                      <a:endParaRPr lang="en-US" altLang="zh-CN" sz="2000">
                        <a:solidFill>
                          <a:schemeClr val="accent2"/>
                        </a:solidFill>
                      </a:endParaRPr>
                    </a:p>
                  </a:txBody>
                  <a:tcPr/>
                </a:tc>
                <a:tc>
                  <a:txBody>
                    <a:bodyPr/>
                    <a:p>
                      <a:pPr>
                        <a:buNone/>
                      </a:pPr>
                      <a:r>
                        <a:rPr lang="en-US" altLang="zh-CN" sz="2000">
                          <a:solidFill>
                            <a:schemeClr val="accent2"/>
                          </a:solidFill>
                        </a:rPr>
                        <a:t>1</a:t>
                      </a:r>
                      <a:endParaRPr lang="en-US" altLang="zh-CN" sz="2000">
                        <a:solidFill>
                          <a:schemeClr val="accent2"/>
                        </a:solidFill>
                      </a:endParaRPr>
                    </a:p>
                  </a:txBody>
                  <a:tcPr/>
                </a:tc>
                <a:tc>
                  <a:txBody>
                    <a:bodyPr/>
                    <a:p>
                      <a:pPr>
                        <a:buNone/>
                      </a:pPr>
                      <a:r>
                        <a:rPr lang="en-US" altLang="zh-CN" sz="2000">
                          <a:solidFill>
                            <a:schemeClr val="accent2"/>
                          </a:solidFill>
                        </a:rPr>
                        <a:t>1</a:t>
                      </a:r>
                      <a:endParaRPr lang="en-US" altLang="zh-CN" sz="2000">
                        <a:solidFill>
                          <a:schemeClr val="accent2"/>
                        </a:solidFill>
                      </a:endParaRPr>
                    </a:p>
                  </a:txBody>
                  <a:tcPr/>
                </a:tc>
                <a:tc>
                  <a:txBody>
                    <a:bodyPr/>
                    <a:p>
                      <a:pPr>
                        <a:buNone/>
                      </a:pPr>
                      <a:r>
                        <a:rPr lang="en-US" altLang="zh-CN" sz="2000">
                          <a:solidFill>
                            <a:schemeClr val="accent2"/>
                          </a:solidFill>
                        </a:rPr>
                        <a:t>0</a:t>
                      </a:r>
                      <a:endParaRPr lang="en-US" altLang="zh-CN" sz="2000">
                        <a:solidFill>
                          <a:schemeClr val="accent2"/>
                        </a:solidFill>
                      </a:endParaRPr>
                    </a:p>
                  </a:txBody>
                  <a:tcPr/>
                </a:tc>
                <a:tc>
                  <a:txBody>
                    <a:bodyPr/>
                    <a:p>
                      <a:pPr>
                        <a:buNone/>
                      </a:pPr>
                      <a:r>
                        <a:rPr lang="en-US" altLang="zh-CN" sz="2000">
                          <a:solidFill>
                            <a:schemeClr val="accent2"/>
                          </a:solidFill>
                        </a:rPr>
                        <a:t>1</a:t>
                      </a:r>
                      <a:endParaRPr lang="en-US" altLang="zh-CN" sz="2000">
                        <a:solidFill>
                          <a:schemeClr val="accent2"/>
                        </a:solidFill>
                      </a:endParaRPr>
                    </a:p>
                  </a:txBody>
                  <a:tcPr/>
                </a:tc>
                <a:tc>
                  <a:txBody>
                    <a:bodyPr/>
                    <a:p>
                      <a:pPr>
                        <a:buNone/>
                      </a:pPr>
                      <a:r>
                        <a:rPr lang="en-US" altLang="zh-CN" sz="2000">
                          <a:solidFill>
                            <a:schemeClr val="accent2"/>
                          </a:solidFill>
                        </a:rPr>
                        <a:t>1</a:t>
                      </a:r>
                      <a:endParaRPr lang="en-US" altLang="zh-CN" sz="2000">
                        <a:solidFill>
                          <a:schemeClr val="accent2"/>
                        </a:solidFill>
                      </a:endParaRPr>
                    </a:p>
                  </a:txBody>
                  <a:tcPr/>
                </a:tc>
                <a:tc>
                  <a:txBody>
                    <a:bodyPr/>
                    <a:p>
                      <a:pPr>
                        <a:buNone/>
                      </a:pPr>
                      <a:r>
                        <a:rPr lang="en-US" altLang="zh-CN" sz="2000">
                          <a:solidFill>
                            <a:schemeClr val="accent2"/>
                          </a:solidFill>
                        </a:rPr>
                        <a:t>0</a:t>
                      </a:r>
                      <a:endParaRPr lang="en-US" altLang="zh-CN" sz="2000">
                        <a:solidFill>
                          <a:schemeClr val="accent2"/>
                        </a:solidFill>
                      </a:endParaRPr>
                    </a:p>
                  </a:txBody>
                  <a:tcPr/>
                </a:tc>
                <a:tc>
                  <a:txBody>
                    <a:bodyPr/>
                    <a:p>
                      <a:pPr>
                        <a:buNone/>
                      </a:pPr>
                      <a:r>
                        <a:rPr lang="en-US" altLang="zh-CN" sz="2000">
                          <a:solidFill>
                            <a:schemeClr val="accent2"/>
                          </a:solidFill>
                        </a:rPr>
                        <a:t>0</a:t>
                      </a:r>
                      <a:endParaRPr lang="en-US" altLang="zh-CN" sz="2000">
                        <a:solidFill>
                          <a:schemeClr val="accent2"/>
                        </a:solidFill>
                      </a:endParaRPr>
                    </a:p>
                  </a:txBody>
                  <a:tcPr/>
                </a:tc>
                <a:tc>
                  <a:txBody>
                    <a:bodyPr/>
                    <a:p>
                      <a:pPr>
                        <a:buNone/>
                      </a:pPr>
                      <a:r>
                        <a:rPr lang="en-US" altLang="zh-CN" sz="2000">
                          <a:solidFill>
                            <a:schemeClr val="accent2"/>
                          </a:solidFill>
                        </a:rPr>
                        <a:t>0</a:t>
                      </a:r>
                      <a:endParaRPr lang="en-US" altLang="zh-CN" sz="2000">
                        <a:solidFill>
                          <a:schemeClr val="accent2"/>
                        </a:solidFill>
                      </a:endParaRPr>
                    </a:p>
                  </a:txBody>
                  <a:tcPr/>
                </a:tc>
              </a:tr>
            </a:tbl>
          </a:graphicData>
        </a:graphic>
      </p:graphicFrame>
      <p:sp>
        <p:nvSpPr>
          <p:cNvPr id="76839" name="文本框 4"/>
          <p:cNvSpPr txBox="1"/>
          <p:nvPr/>
        </p:nvSpPr>
        <p:spPr>
          <a:xfrm>
            <a:off x="8247063" y="3514725"/>
            <a:ext cx="430212" cy="276225"/>
          </a:xfrm>
          <a:prstGeom prst="rect">
            <a:avLst/>
          </a:prstGeom>
          <a:noFill/>
          <a:ln w="9525">
            <a:noFill/>
          </a:ln>
        </p:spPr>
        <p:txBody>
          <a:bodyPr wrap="square" anchor="t" anchorCtr="0">
            <a:spAutoFit/>
          </a:bodyPr>
          <a:p>
            <a:r>
              <a:rPr lang="en-US" altLang="zh-CN" sz="1200">
                <a:latin typeface="Arial" panose="020B0604020202020204" pitchFamily="34" charset="0"/>
              </a:rPr>
              <a:t>D0</a:t>
            </a:r>
            <a:endParaRPr lang="en-US" altLang="zh-CN" sz="1200">
              <a:latin typeface="Arial" panose="020B0604020202020204" pitchFamily="34" charset="0"/>
            </a:endParaRPr>
          </a:p>
        </p:txBody>
      </p:sp>
      <p:sp>
        <p:nvSpPr>
          <p:cNvPr id="76840" name="文本框 5"/>
          <p:cNvSpPr txBox="1"/>
          <p:nvPr/>
        </p:nvSpPr>
        <p:spPr>
          <a:xfrm>
            <a:off x="7729538" y="3541713"/>
            <a:ext cx="428625" cy="274637"/>
          </a:xfrm>
          <a:prstGeom prst="rect">
            <a:avLst/>
          </a:prstGeom>
          <a:noFill/>
          <a:ln w="9525">
            <a:noFill/>
          </a:ln>
        </p:spPr>
        <p:txBody>
          <a:bodyPr wrap="square" anchor="t" anchorCtr="0">
            <a:spAutoFit/>
          </a:bodyPr>
          <a:p>
            <a:r>
              <a:rPr lang="en-US" altLang="zh-CN" sz="1200">
                <a:latin typeface="Arial" panose="020B0604020202020204" pitchFamily="34" charset="0"/>
              </a:rPr>
              <a:t>D1</a:t>
            </a:r>
            <a:endParaRPr lang="en-US" altLang="zh-CN" sz="1200">
              <a:latin typeface="Arial" panose="020B0604020202020204" pitchFamily="34" charset="0"/>
            </a:endParaRPr>
          </a:p>
        </p:txBody>
      </p:sp>
      <p:sp>
        <p:nvSpPr>
          <p:cNvPr id="76841" name="文本框 6"/>
          <p:cNvSpPr txBox="1"/>
          <p:nvPr/>
        </p:nvSpPr>
        <p:spPr>
          <a:xfrm>
            <a:off x="7372350" y="3514725"/>
            <a:ext cx="428625" cy="276225"/>
          </a:xfrm>
          <a:prstGeom prst="rect">
            <a:avLst/>
          </a:prstGeom>
          <a:noFill/>
          <a:ln w="9525">
            <a:noFill/>
          </a:ln>
        </p:spPr>
        <p:txBody>
          <a:bodyPr wrap="square" anchor="t" anchorCtr="0">
            <a:spAutoFit/>
          </a:bodyPr>
          <a:p>
            <a:r>
              <a:rPr lang="en-US" altLang="zh-CN" sz="1200">
                <a:latin typeface="Arial" panose="020B0604020202020204" pitchFamily="34" charset="0"/>
              </a:rPr>
              <a:t>D2</a:t>
            </a:r>
            <a:endParaRPr lang="en-US" altLang="zh-CN" sz="1200">
              <a:latin typeface="Arial" panose="020B0604020202020204" pitchFamily="34" charset="0"/>
            </a:endParaRPr>
          </a:p>
        </p:txBody>
      </p:sp>
      <p:sp>
        <p:nvSpPr>
          <p:cNvPr id="76842" name="文本框 7"/>
          <p:cNvSpPr txBox="1"/>
          <p:nvPr/>
        </p:nvSpPr>
        <p:spPr>
          <a:xfrm>
            <a:off x="6818313" y="3498850"/>
            <a:ext cx="430212" cy="274638"/>
          </a:xfrm>
          <a:prstGeom prst="rect">
            <a:avLst/>
          </a:prstGeom>
          <a:noFill/>
          <a:ln w="9525">
            <a:noFill/>
          </a:ln>
        </p:spPr>
        <p:txBody>
          <a:bodyPr wrap="square" anchor="t" anchorCtr="0">
            <a:spAutoFit/>
          </a:bodyPr>
          <a:p>
            <a:r>
              <a:rPr lang="en-US" altLang="zh-CN" sz="1200">
                <a:latin typeface="Arial" panose="020B0604020202020204" pitchFamily="34" charset="0"/>
              </a:rPr>
              <a:t>D3</a:t>
            </a:r>
            <a:endParaRPr lang="en-US" altLang="zh-CN" sz="1200">
              <a:latin typeface="Arial" panose="020B0604020202020204" pitchFamily="34" charset="0"/>
            </a:endParaRPr>
          </a:p>
        </p:txBody>
      </p:sp>
      <p:sp>
        <p:nvSpPr>
          <p:cNvPr id="76843" name="文本框 8"/>
          <p:cNvSpPr txBox="1"/>
          <p:nvPr/>
        </p:nvSpPr>
        <p:spPr>
          <a:xfrm>
            <a:off x="6372225" y="3524250"/>
            <a:ext cx="428625" cy="276225"/>
          </a:xfrm>
          <a:prstGeom prst="rect">
            <a:avLst/>
          </a:prstGeom>
          <a:noFill/>
          <a:ln w="9525">
            <a:noFill/>
          </a:ln>
        </p:spPr>
        <p:txBody>
          <a:bodyPr wrap="square" anchor="t" anchorCtr="0">
            <a:spAutoFit/>
          </a:bodyPr>
          <a:p>
            <a:r>
              <a:rPr lang="en-US" altLang="zh-CN" sz="1200">
                <a:latin typeface="Arial" panose="020B0604020202020204" pitchFamily="34" charset="0"/>
              </a:rPr>
              <a:t>D4</a:t>
            </a:r>
            <a:endParaRPr lang="en-US" altLang="zh-CN" sz="1200">
              <a:latin typeface="Arial" panose="020B0604020202020204" pitchFamily="34" charset="0"/>
            </a:endParaRPr>
          </a:p>
        </p:txBody>
      </p:sp>
      <p:sp>
        <p:nvSpPr>
          <p:cNvPr id="76844" name="文本框 10"/>
          <p:cNvSpPr txBox="1"/>
          <p:nvPr/>
        </p:nvSpPr>
        <p:spPr>
          <a:xfrm>
            <a:off x="5848350" y="3497263"/>
            <a:ext cx="430213" cy="276225"/>
          </a:xfrm>
          <a:prstGeom prst="rect">
            <a:avLst/>
          </a:prstGeom>
          <a:noFill/>
          <a:ln w="9525">
            <a:noFill/>
          </a:ln>
        </p:spPr>
        <p:txBody>
          <a:bodyPr wrap="square" anchor="t" anchorCtr="0">
            <a:spAutoFit/>
          </a:bodyPr>
          <a:p>
            <a:r>
              <a:rPr lang="en-US" altLang="zh-CN" sz="1200">
                <a:latin typeface="Arial" panose="020B0604020202020204" pitchFamily="34" charset="0"/>
              </a:rPr>
              <a:t>D5</a:t>
            </a:r>
            <a:endParaRPr lang="en-US" altLang="zh-CN" sz="1200">
              <a:latin typeface="Arial" panose="020B0604020202020204" pitchFamily="34" charset="0"/>
            </a:endParaRPr>
          </a:p>
        </p:txBody>
      </p:sp>
      <p:sp>
        <p:nvSpPr>
          <p:cNvPr id="76845" name="文本框 11"/>
          <p:cNvSpPr txBox="1"/>
          <p:nvPr/>
        </p:nvSpPr>
        <p:spPr>
          <a:xfrm>
            <a:off x="5330825" y="3524250"/>
            <a:ext cx="428625" cy="274638"/>
          </a:xfrm>
          <a:prstGeom prst="rect">
            <a:avLst/>
          </a:prstGeom>
          <a:noFill/>
          <a:ln w="9525">
            <a:noFill/>
          </a:ln>
        </p:spPr>
        <p:txBody>
          <a:bodyPr wrap="square" anchor="t" anchorCtr="0">
            <a:spAutoFit/>
          </a:bodyPr>
          <a:p>
            <a:r>
              <a:rPr lang="en-US" altLang="zh-CN" sz="1200">
                <a:latin typeface="Arial" panose="020B0604020202020204" pitchFamily="34" charset="0"/>
              </a:rPr>
              <a:t>D6</a:t>
            </a:r>
            <a:endParaRPr lang="en-US" altLang="zh-CN" sz="1200">
              <a:latin typeface="Arial" panose="020B0604020202020204" pitchFamily="34" charset="0"/>
            </a:endParaRPr>
          </a:p>
        </p:txBody>
      </p:sp>
      <p:sp>
        <p:nvSpPr>
          <p:cNvPr id="76846" name="文本框 12"/>
          <p:cNvSpPr txBox="1"/>
          <p:nvPr/>
        </p:nvSpPr>
        <p:spPr>
          <a:xfrm>
            <a:off x="4973638" y="3497263"/>
            <a:ext cx="428625" cy="276225"/>
          </a:xfrm>
          <a:prstGeom prst="rect">
            <a:avLst/>
          </a:prstGeom>
          <a:noFill/>
          <a:ln w="9525">
            <a:noFill/>
          </a:ln>
        </p:spPr>
        <p:txBody>
          <a:bodyPr wrap="square" anchor="t" anchorCtr="0">
            <a:spAutoFit/>
          </a:bodyPr>
          <a:p>
            <a:r>
              <a:rPr lang="en-US" altLang="zh-CN" sz="1200">
                <a:latin typeface="Arial" panose="020B0604020202020204" pitchFamily="34" charset="0"/>
              </a:rPr>
              <a:t>D7</a:t>
            </a:r>
            <a:endParaRPr lang="en-US" altLang="zh-CN" sz="1200">
              <a:latin typeface="Arial" panose="020B0604020202020204" pitchFamily="34" charset="0"/>
            </a:endParaRPr>
          </a:p>
        </p:txBody>
      </p:sp>
      <p:sp>
        <p:nvSpPr>
          <p:cNvPr id="76847" name="文本框 13"/>
          <p:cNvSpPr txBox="1"/>
          <p:nvPr/>
        </p:nvSpPr>
        <p:spPr>
          <a:xfrm>
            <a:off x="4419600" y="3479800"/>
            <a:ext cx="430213" cy="276225"/>
          </a:xfrm>
          <a:prstGeom prst="rect">
            <a:avLst/>
          </a:prstGeom>
          <a:noFill/>
          <a:ln w="9525">
            <a:noFill/>
          </a:ln>
        </p:spPr>
        <p:txBody>
          <a:bodyPr wrap="square" anchor="t" anchorCtr="0">
            <a:spAutoFit/>
          </a:bodyPr>
          <a:p>
            <a:r>
              <a:rPr lang="en-US" altLang="zh-CN" sz="1200">
                <a:latin typeface="Arial" panose="020B0604020202020204" pitchFamily="34" charset="0"/>
              </a:rPr>
              <a:t>D8</a:t>
            </a:r>
            <a:endParaRPr lang="en-US" altLang="zh-CN" sz="1200">
              <a:latin typeface="Arial" panose="020B0604020202020204" pitchFamily="34" charset="0"/>
            </a:endParaRPr>
          </a:p>
        </p:txBody>
      </p:sp>
      <p:sp>
        <p:nvSpPr>
          <p:cNvPr id="76848" name="文本框 14"/>
          <p:cNvSpPr txBox="1"/>
          <p:nvPr/>
        </p:nvSpPr>
        <p:spPr>
          <a:xfrm>
            <a:off x="3973513" y="3506788"/>
            <a:ext cx="430212" cy="274637"/>
          </a:xfrm>
          <a:prstGeom prst="rect">
            <a:avLst/>
          </a:prstGeom>
          <a:noFill/>
          <a:ln w="9525">
            <a:noFill/>
          </a:ln>
        </p:spPr>
        <p:txBody>
          <a:bodyPr wrap="square" anchor="t" anchorCtr="0">
            <a:spAutoFit/>
          </a:bodyPr>
          <a:p>
            <a:r>
              <a:rPr lang="en-US" altLang="zh-CN" sz="1200">
                <a:latin typeface="Arial" panose="020B0604020202020204" pitchFamily="34" charset="0"/>
              </a:rPr>
              <a:t>D9</a:t>
            </a:r>
            <a:endParaRPr lang="en-US" altLang="zh-CN" sz="1200">
              <a:latin typeface="Arial" panose="020B0604020202020204" pitchFamily="34" charset="0"/>
            </a:endParaRPr>
          </a:p>
        </p:txBody>
      </p:sp>
      <p:sp>
        <p:nvSpPr>
          <p:cNvPr id="76849" name="文本框 15"/>
          <p:cNvSpPr txBox="1"/>
          <p:nvPr/>
        </p:nvSpPr>
        <p:spPr>
          <a:xfrm>
            <a:off x="3600450" y="3517900"/>
            <a:ext cx="481013" cy="276225"/>
          </a:xfrm>
          <a:prstGeom prst="rect">
            <a:avLst/>
          </a:prstGeom>
          <a:noFill/>
          <a:ln w="9525">
            <a:noFill/>
          </a:ln>
        </p:spPr>
        <p:txBody>
          <a:bodyPr wrap="square" anchor="t" anchorCtr="0">
            <a:spAutoFit/>
          </a:bodyPr>
          <a:p>
            <a:r>
              <a:rPr lang="en-US" altLang="zh-CN" sz="1200">
                <a:latin typeface="Arial" panose="020B0604020202020204" pitchFamily="34" charset="0"/>
              </a:rPr>
              <a:t>D10</a:t>
            </a:r>
            <a:endParaRPr lang="en-US" altLang="zh-CN" sz="1200">
              <a:latin typeface="Arial" panose="020B0604020202020204" pitchFamily="34" charset="0"/>
            </a:endParaRPr>
          </a:p>
        </p:txBody>
      </p:sp>
      <p:sp>
        <p:nvSpPr>
          <p:cNvPr id="76850" name="文本框 16"/>
          <p:cNvSpPr txBox="1"/>
          <p:nvPr/>
        </p:nvSpPr>
        <p:spPr>
          <a:xfrm>
            <a:off x="3081338" y="3543300"/>
            <a:ext cx="517525" cy="276225"/>
          </a:xfrm>
          <a:prstGeom prst="rect">
            <a:avLst/>
          </a:prstGeom>
          <a:noFill/>
          <a:ln w="9525">
            <a:noFill/>
          </a:ln>
        </p:spPr>
        <p:txBody>
          <a:bodyPr wrap="square" anchor="t" anchorCtr="0">
            <a:spAutoFit/>
          </a:bodyPr>
          <a:p>
            <a:r>
              <a:rPr lang="en-US" altLang="zh-CN" sz="1200">
                <a:latin typeface="Arial" panose="020B0604020202020204" pitchFamily="34" charset="0"/>
              </a:rPr>
              <a:t>D11</a:t>
            </a:r>
            <a:endParaRPr lang="en-US" altLang="zh-CN" sz="1200">
              <a:latin typeface="Arial" panose="020B0604020202020204" pitchFamily="34" charset="0"/>
            </a:endParaRPr>
          </a:p>
        </p:txBody>
      </p:sp>
      <p:sp>
        <p:nvSpPr>
          <p:cNvPr id="76851" name="文本框 17"/>
          <p:cNvSpPr txBox="1"/>
          <p:nvPr/>
        </p:nvSpPr>
        <p:spPr>
          <a:xfrm>
            <a:off x="2724150" y="3517900"/>
            <a:ext cx="541338" cy="276225"/>
          </a:xfrm>
          <a:prstGeom prst="rect">
            <a:avLst/>
          </a:prstGeom>
          <a:noFill/>
          <a:ln w="9525">
            <a:noFill/>
          </a:ln>
        </p:spPr>
        <p:txBody>
          <a:bodyPr wrap="square" anchor="t" anchorCtr="0">
            <a:spAutoFit/>
          </a:bodyPr>
          <a:p>
            <a:r>
              <a:rPr lang="en-US" altLang="zh-CN" sz="1200">
                <a:latin typeface="Arial" panose="020B0604020202020204" pitchFamily="34" charset="0"/>
              </a:rPr>
              <a:t>D12</a:t>
            </a:r>
            <a:endParaRPr lang="en-US" altLang="zh-CN" sz="1200">
              <a:latin typeface="Arial" panose="020B0604020202020204" pitchFamily="34" charset="0"/>
            </a:endParaRPr>
          </a:p>
        </p:txBody>
      </p:sp>
      <p:sp>
        <p:nvSpPr>
          <p:cNvPr id="76852" name="文本框 18"/>
          <p:cNvSpPr txBox="1"/>
          <p:nvPr/>
        </p:nvSpPr>
        <p:spPr>
          <a:xfrm>
            <a:off x="2171700" y="3500438"/>
            <a:ext cx="552450" cy="276225"/>
          </a:xfrm>
          <a:prstGeom prst="rect">
            <a:avLst/>
          </a:prstGeom>
          <a:noFill/>
          <a:ln w="9525">
            <a:noFill/>
          </a:ln>
        </p:spPr>
        <p:txBody>
          <a:bodyPr wrap="square" anchor="t" anchorCtr="0">
            <a:spAutoFit/>
          </a:bodyPr>
          <a:p>
            <a:r>
              <a:rPr lang="en-US" altLang="zh-CN" sz="1200">
                <a:latin typeface="Arial" panose="020B0604020202020204" pitchFamily="34" charset="0"/>
              </a:rPr>
              <a:t>D13</a:t>
            </a:r>
            <a:endParaRPr lang="en-US" altLang="zh-CN" sz="1200">
              <a:latin typeface="Arial" panose="020B0604020202020204" pitchFamily="34" charset="0"/>
            </a:endParaRPr>
          </a:p>
        </p:txBody>
      </p:sp>
      <p:sp>
        <p:nvSpPr>
          <p:cNvPr id="76853" name="文本框 19"/>
          <p:cNvSpPr txBox="1"/>
          <p:nvPr/>
        </p:nvSpPr>
        <p:spPr>
          <a:xfrm>
            <a:off x="1724025" y="3527425"/>
            <a:ext cx="523875" cy="274638"/>
          </a:xfrm>
          <a:prstGeom prst="rect">
            <a:avLst/>
          </a:prstGeom>
          <a:noFill/>
          <a:ln w="9525">
            <a:noFill/>
          </a:ln>
        </p:spPr>
        <p:txBody>
          <a:bodyPr wrap="square" anchor="t" anchorCtr="0">
            <a:spAutoFit/>
          </a:bodyPr>
          <a:p>
            <a:r>
              <a:rPr lang="en-US" altLang="zh-CN" sz="1200">
                <a:latin typeface="Arial" panose="020B0604020202020204" pitchFamily="34" charset="0"/>
              </a:rPr>
              <a:t>D14</a:t>
            </a:r>
            <a:endParaRPr lang="en-US" altLang="zh-CN" sz="1200">
              <a:latin typeface="Arial" panose="020B0604020202020204" pitchFamily="34" charset="0"/>
            </a:endParaRPr>
          </a:p>
        </p:txBody>
      </p:sp>
      <p:sp>
        <p:nvSpPr>
          <p:cNvPr id="76854" name="文本框 20"/>
          <p:cNvSpPr txBox="1"/>
          <p:nvPr/>
        </p:nvSpPr>
        <p:spPr>
          <a:xfrm>
            <a:off x="1201738" y="3500438"/>
            <a:ext cx="661987" cy="274637"/>
          </a:xfrm>
          <a:prstGeom prst="rect">
            <a:avLst/>
          </a:prstGeom>
          <a:noFill/>
          <a:ln w="9525">
            <a:noFill/>
          </a:ln>
        </p:spPr>
        <p:txBody>
          <a:bodyPr wrap="square" anchor="t" anchorCtr="0">
            <a:spAutoFit/>
          </a:bodyPr>
          <a:p>
            <a:r>
              <a:rPr lang="en-US" altLang="zh-CN" sz="1200">
                <a:latin typeface="Arial" panose="020B0604020202020204" pitchFamily="34" charset="0"/>
              </a:rPr>
              <a:t>D15</a:t>
            </a:r>
            <a:endParaRPr lang="en-US" altLang="zh-CN" sz="1200">
              <a:latin typeface="Arial" panose="020B0604020202020204" pitchFamily="34" charset="0"/>
            </a:endParaRPr>
          </a:p>
        </p:txBody>
      </p:sp>
      <p:sp>
        <p:nvSpPr>
          <p:cNvPr id="76855" name="文本框 21"/>
          <p:cNvSpPr txBox="1"/>
          <p:nvPr/>
        </p:nvSpPr>
        <p:spPr>
          <a:xfrm>
            <a:off x="1501775" y="4918075"/>
            <a:ext cx="5662613" cy="584200"/>
          </a:xfrm>
          <a:prstGeom prst="rect">
            <a:avLst/>
          </a:prstGeom>
          <a:noFill/>
          <a:ln w="9525">
            <a:noFill/>
          </a:ln>
        </p:spPr>
        <p:txBody>
          <a:bodyPr wrap="square" anchor="t" anchorCtr="0">
            <a:spAutoFit/>
          </a:bodyPr>
          <a:p>
            <a:r>
              <a:rPr lang="zh-CN" altLang="en-US">
                <a:latin typeface="Arial" panose="020B0604020202020204" pitchFamily="34" charset="0"/>
              </a:rPr>
              <a:t>机器数：</a:t>
            </a:r>
            <a:r>
              <a:rPr lang="en-US" altLang="zh-CN">
                <a:latin typeface="Arial" panose="020B0604020202020204" pitchFamily="34" charset="0"/>
              </a:rPr>
              <a:t>0010001111011000</a:t>
            </a:r>
            <a:endParaRPr lang="en-US" altLang="zh-CN">
              <a:latin typeface="Arial" panose="020B060402020202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文本框 1"/>
          <p:cNvSpPr txBox="1"/>
          <p:nvPr/>
        </p:nvSpPr>
        <p:spPr>
          <a:xfrm>
            <a:off x="1293813" y="1255713"/>
            <a:ext cx="7269162" cy="1076325"/>
          </a:xfrm>
          <a:prstGeom prst="rect">
            <a:avLst/>
          </a:prstGeom>
          <a:noFill/>
          <a:ln w="9525">
            <a:noFill/>
          </a:ln>
        </p:spPr>
        <p:txBody>
          <a:bodyPr wrap="square" anchor="t" anchorCtr="0">
            <a:spAutoFit/>
          </a:bodyPr>
          <a:p>
            <a:r>
              <a:rPr lang="zh-CN" altLang="en-US">
                <a:latin typeface="Arial" panose="020B0604020202020204" pitchFamily="34" charset="0"/>
              </a:rPr>
              <a:t>练习：用</a:t>
            </a:r>
            <a:r>
              <a:rPr lang="en-US" altLang="zh-CN">
                <a:latin typeface="Arial" panose="020B0604020202020204" pitchFamily="34" charset="0"/>
              </a:rPr>
              <a:t>16</a:t>
            </a:r>
            <a:r>
              <a:rPr lang="zh-CN" altLang="en-US">
                <a:latin typeface="Arial" panose="020B0604020202020204" pitchFamily="34" charset="0"/>
              </a:rPr>
              <a:t>位机表示：</a:t>
            </a:r>
            <a:r>
              <a:rPr lang="zh-CN" altLang="en-US">
                <a:latin typeface="Arial" panose="020B0604020202020204" pitchFamily="34" charset="0"/>
                <a:sym typeface="宋体" panose="02010600030101010101" pitchFamily="2" charset="-122"/>
              </a:rPr>
              <a:t>阶</a:t>
            </a:r>
            <a:r>
              <a:rPr lang="en-US" altLang="zh-CN">
                <a:latin typeface="Arial" panose="020B0604020202020204" pitchFamily="34" charset="0"/>
                <a:sym typeface="宋体" panose="02010600030101010101" pitchFamily="2" charset="-122"/>
              </a:rPr>
              <a:t>6</a:t>
            </a:r>
            <a:r>
              <a:rPr lang="zh-CN" altLang="en-US">
                <a:latin typeface="Arial" panose="020B0604020202020204" pitchFamily="34" charset="0"/>
                <a:sym typeface="宋体" panose="02010600030101010101" pitchFamily="2" charset="-122"/>
              </a:rPr>
              <a:t>位，尾</a:t>
            </a:r>
            <a:r>
              <a:rPr lang="en-US" altLang="zh-CN">
                <a:latin typeface="Arial" panose="020B0604020202020204" pitchFamily="34" charset="0"/>
                <a:sym typeface="宋体" panose="02010600030101010101" pitchFamily="2" charset="-122"/>
              </a:rPr>
              <a:t>10</a:t>
            </a:r>
            <a:r>
              <a:rPr lang="zh-CN" altLang="en-US">
                <a:latin typeface="Arial" panose="020B0604020202020204" pitchFamily="34" charset="0"/>
                <a:sym typeface="宋体" panose="02010600030101010101" pitchFamily="2" charset="-122"/>
              </a:rPr>
              <a:t>位</a:t>
            </a:r>
            <a:endParaRPr lang="zh-CN" altLang="en-US">
              <a:latin typeface="Arial" panose="020B0604020202020204" pitchFamily="34" charset="0"/>
            </a:endParaRPr>
          </a:p>
          <a:p>
            <a:endParaRPr lang="zh-CN" altLang="en-US">
              <a:latin typeface="Arial" panose="020B0604020202020204" pitchFamily="34" charset="0"/>
            </a:endParaRPr>
          </a:p>
        </p:txBody>
      </p:sp>
      <p:sp>
        <p:nvSpPr>
          <p:cNvPr id="77826" name="文本框 2"/>
          <p:cNvSpPr txBox="1"/>
          <p:nvPr/>
        </p:nvSpPr>
        <p:spPr>
          <a:xfrm>
            <a:off x="1165225" y="2416175"/>
            <a:ext cx="7269163" cy="2060575"/>
          </a:xfrm>
          <a:prstGeom prst="rect">
            <a:avLst/>
          </a:prstGeom>
          <a:noFill/>
          <a:ln w="9525">
            <a:noFill/>
          </a:ln>
        </p:spPr>
        <p:txBody>
          <a:bodyPr wrap="square" anchor="t" anchorCtr="0">
            <a:spAutoFit/>
          </a:bodyPr>
          <a:p>
            <a:r>
              <a:rPr lang="zh-CN" altLang="zh-CN">
                <a:latin typeface="Arial" panose="020B0604020202020204" pitchFamily="34" charset="0"/>
              </a:rPr>
              <a:t>（</a:t>
            </a:r>
            <a:r>
              <a:rPr lang="en-US" altLang="zh-CN">
                <a:latin typeface="Arial" panose="020B0604020202020204" pitchFamily="34" charset="0"/>
              </a:rPr>
              <a:t>1</a:t>
            </a:r>
            <a:r>
              <a:rPr lang="zh-CN" altLang="en-US">
                <a:latin typeface="Arial" panose="020B0604020202020204" pitchFamily="34" charset="0"/>
              </a:rPr>
              <a:t>）</a:t>
            </a:r>
            <a:r>
              <a:rPr lang="en-US" altLang="zh-CN">
                <a:latin typeface="Arial" panose="020B0604020202020204" pitchFamily="34" charset="0"/>
              </a:rPr>
              <a:t>-175.625</a:t>
            </a:r>
            <a:endParaRPr lang="en-US" altLang="zh-CN">
              <a:latin typeface="Arial" panose="020B0604020202020204" pitchFamily="34" charset="0"/>
            </a:endParaRPr>
          </a:p>
          <a:p>
            <a:r>
              <a:rPr lang="zh-CN" altLang="en-US">
                <a:latin typeface="Arial" panose="020B0604020202020204" pitchFamily="34" charset="0"/>
              </a:rPr>
              <a:t>（</a:t>
            </a:r>
            <a:r>
              <a:rPr lang="en-US" altLang="zh-CN">
                <a:latin typeface="Arial" panose="020B0604020202020204" pitchFamily="34" charset="0"/>
              </a:rPr>
              <a:t>2</a:t>
            </a:r>
            <a:r>
              <a:rPr lang="zh-CN" altLang="en-US">
                <a:latin typeface="Arial" panose="020B0604020202020204" pitchFamily="34" charset="0"/>
              </a:rPr>
              <a:t>）</a:t>
            </a:r>
            <a:r>
              <a:rPr lang="en-US" altLang="zh-CN">
                <a:latin typeface="Arial" panose="020B0604020202020204" pitchFamily="34" charset="0"/>
              </a:rPr>
              <a:t>+0.0000000000110101B</a:t>
            </a:r>
            <a:endParaRPr lang="en-US" altLang="zh-CN">
              <a:latin typeface="Arial" panose="020B0604020202020204" pitchFamily="34" charset="0"/>
            </a:endParaRPr>
          </a:p>
          <a:p>
            <a:r>
              <a:rPr lang="zh-CN" altLang="en-US">
                <a:latin typeface="Arial" panose="020B0604020202020204" pitchFamily="34" charset="0"/>
              </a:rPr>
              <a:t>（</a:t>
            </a:r>
            <a:r>
              <a:rPr lang="en-US" altLang="zh-CN">
                <a:latin typeface="Arial" panose="020B0604020202020204" pitchFamily="34" charset="0"/>
              </a:rPr>
              <a:t>3</a:t>
            </a:r>
            <a:r>
              <a:rPr lang="zh-CN" altLang="en-US">
                <a:latin typeface="Arial" panose="020B0604020202020204" pitchFamily="34" charset="0"/>
              </a:rPr>
              <a:t>）</a:t>
            </a:r>
            <a:r>
              <a:rPr lang="en-US" altLang="zh-CN">
                <a:latin typeface="Arial" panose="020B0604020202020204" pitchFamily="34" charset="0"/>
              </a:rPr>
              <a:t>-AC.2BH</a:t>
            </a:r>
            <a:endParaRPr lang="en-US" altLang="zh-CN">
              <a:latin typeface="Arial" panose="020B0604020202020204" pitchFamily="34" charset="0"/>
            </a:endParaRPr>
          </a:p>
          <a:p>
            <a:r>
              <a:rPr lang="zh-CN" altLang="en-US">
                <a:latin typeface="Arial" panose="020B0604020202020204" pitchFamily="34" charset="0"/>
              </a:rPr>
              <a:t>（</a:t>
            </a:r>
            <a:r>
              <a:rPr lang="en-US" altLang="zh-CN">
                <a:latin typeface="Arial" panose="020B0604020202020204" pitchFamily="34" charset="0"/>
              </a:rPr>
              <a:t>4</a:t>
            </a:r>
            <a:r>
              <a:rPr lang="zh-CN" altLang="en-US">
                <a:latin typeface="Arial" panose="020B0604020202020204" pitchFamily="34" charset="0"/>
              </a:rPr>
              <a:t>）</a:t>
            </a:r>
            <a:r>
              <a:rPr lang="en-US" altLang="zh-CN">
                <a:latin typeface="Arial" panose="020B0604020202020204" pitchFamily="34" charset="0"/>
              </a:rPr>
              <a:t>+503.42Q</a:t>
            </a:r>
            <a:endParaRPr lang="en-US" altLang="zh-CN">
              <a:latin typeface="Arial" panose="020B060402020202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78850" name="Rectangle 3"/>
          <p:cNvSpPr>
            <a:spLocks noGrp="1"/>
          </p:cNvSpPr>
          <p:nvPr>
            <p:ph type="body" idx="4294967295"/>
          </p:nvPr>
        </p:nvSpPr>
        <p:spPr>
          <a:xfrm>
            <a:off x="533400" y="1143000"/>
            <a:ext cx="8001000" cy="5046663"/>
          </a:xfrm>
        </p:spPr>
        <p:txBody>
          <a:bodyPr vert="horz" wrap="square" lIns="91440" tIns="45720" rIns="91440" bIns="45720" anchor="t" anchorCtr="0"/>
          <a:p>
            <a:pPr marL="0" algn="just" eaLnBrk="1" hangingPunct="1">
              <a:buNone/>
            </a:pPr>
            <a:r>
              <a:rPr lang="zh-CN" altLang="en-US" b="1" dirty="0">
                <a:ea typeface="楷体_GB2312" pitchFamily="49" charset="-122"/>
              </a:rPr>
              <a:t>⑶数的运算</a:t>
            </a:r>
            <a:endParaRPr lang="zh-CN" altLang="en-US" b="1" dirty="0">
              <a:ea typeface="楷体_GB2312" pitchFamily="49" charset="-122"/>
            </a:endParaRPr>
          </a:p>
          <a:p>
            <a:pPr marL="0" algn="just" eaLnBrk="1" hangingPunct="1">
              <a:buNone/>
            </a:pPr>
            <a:r>
              <a:rPr lang="zh-CN" altLang="en-US" b="1" dirty="0">
                <a:ea typeface="楷体_GB2312" pitchFamily="49" charset="-122"/>
              </a:rPr>
              <a:t>        浮点运算要比定点运算复杂得多。</a:t>
            </a:r>
            <a:endParaRPr lang="zh-CN" altLang="en-US" b="1" dirty="0">
              <a:ea typeface="楷体_GB2312" pitchFamily="49" charset="-122"/>
            </a:endParaRPr>
          </a:p>
          <a:p>
            <a:pPr marL="0" algn="just" eaLnBrk="1" hangingPunct="1">
              <a:buNone/>
            </a:pPr>
            <a:r>
              <a:rPr lang="zh-CN" altLang="en-US" b="1" dirty="0">
                <a:ea typeface="楷体_GB2312" pitchFamily="49" charset="-122"/>
              </a:rPr>
              <a:t>⑷溢出处理</a:t>
            </a:r>
            <a:endParaRPr lang="zh-CN" altLang="en-US" b="1" dirty="0">
              <a:ea typeface="楷体_GB2312" pitchFamily="49" charset="-122"/>
            </a:endParaRPr>
          </a:p>
          <a:p>
            <a:pPr marL="0" algn="just" eaLnBrk="1" hangingPunct="1">
              <a:buNone/>
            </a:pPr>
            <a:r>
              <a:rPr lang="zh-CN" altLang="en-US" b="1" dirty="0">
                <a:ea typeface="楷体_GB2312" pitchFamily="49" charset="-122"/>
              </a:rPr>
              <a:t>        在定点运算时，当运算结果超出数的表示范围，就发生溢出。而在浮点运算时，运算结果超出尾数的表示范围却并不一定溢出，只有当阶码超出所能表示的范围时，才发生溢出。</a:t>
            </a:r>
            <a:endParaRPr lang="zh-CN" altLang="en-US" b="1" dirty="0">
              <a:ea typeface="楷体_GB2312" pitchFamily="49" charset="-122"/>
            </a:endParaRPr>
          </a:p>
        </p:txBody>
      </p:sp>
      <p:sp>
        <p:nvSpPr>
          <p:cNvPr id="78851" name="Rectangle 4"/>
          <p:cNvSpPr>
            <a:spLocks noGrp="1"/>
          </p:cNvSpPr>
          <p:nvPr>
            <p:ph type="title" idx="4294967295"/>
          </p:nvPr>
        </p:nvSpPr>
        <p:spPr>
          <a:xfrm>
            <a:off x="685800" y="3048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1.定点、浮点表示法的区别（续）</a:t>
            </a:r>
            <a:endParaRPr lang="zh-CN" altLang="en-US" sz="3200" dirty="0"/>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79874" name="Rectangle 2"/>
          <p:cNvSpPr>
            <a:spLocks noGrp="1"/>
          </p:cNvSpPr>
          <p:nvPr>
            <p:ph type="title"/>
          </p:nvPr>
        </p:nvSpPr>
        <p:spPr>
          <a:xfrm>
            <a:off x="685800" y="3810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2.定点机与浮点机</a:t>
            </a:r>
            <a:endParaRPr lang="zh-CN" altLang="en-US" sz="3200" dirty="0">
              <a:solidFill>
                <a:schemeClr val="accent2"/>
              </a:solidFill>
              <a:ea typeface="楷体_GB2312" pitchFamily="49" charset="-122"/>
            </a:endParaRPr>
          </a:p>
        </p:txBody>
      </p:sp>
      <p:sp>
        <p:nvSpPr>
          <p:cNvPr id="79875" name="Rectangle 3"/>
          <p:cNvSpPr>
            <a:spLocks noGrp="1"/>
          </p:cNvSpPr>
          <p:nvPr>
            <p:ph idx="1"/>
          </p:nvPr>
        </p:nvSpPr>
        <p:spPr>
          <a:xfrm>
            <a:off x="533400" y="1219200"/>
            <a:ext cx="8001000" cy="5124450"/>
          </a:xfrm>
        </p:spPr>
        <p:txBody>
          <a:bodyPr vert="horz" wrap="square" lIns="91440" tIns="45720" rIns="91440" bIns="45720" anchor="t" anchorCtr="0"/>
          <a:p>
            <a:pPr marL="0" algn="just" eaLnBrk="1" hangingPunct="1">
              <a:lnSpc>
                <a:spcPct val="90000"/>
              </a:lnSpc>
              <a:buNone/>
            </a:pPr>
            <a:r>
              <a:rPr lang="zh-CN" altLang="en-US" b="1" dirty="0">
                <a:ea typeface="楷体_GB2312" pitchFamily="49" charset="-122"/>
              </a:rPr>
              <a:t>通常可以将计算机分为几档：</a:t>
            </a:r>
            <a:endParaRPr lang="zh-CN" altLang="en-US" b="1" dirty="0">
              <a:ea typeface="楷体_GB2312" pitchFamily="49" charset="-122"/>
            </a:endParaRPr>
          </a:p>
          <a:p>
            <a:pPr marL="0" algn="just" eaLnBrk="1" hangingPunct="1">
              <a:lnSpc>
                <a:spcPct val="90000"/>
              </a:lnSpc>
              <a:buNone/>
            </a:pPr>
            <a:r>
              <a:rPr lang="zh-CN" altLang="en-US" b="1" dirty="0">
                <a:ea typeface="楷体_GB2312" pitchFamily="49" charset="-122"/>
              </a:rPr>
              <a:t>⑴定点机</a:t>
            </a:r>
            <a:endParaRPr lang="zh-CN" altLang="en-US" b="1" dirty="0">
              <a:ea typeface="楷体_GB2312" pitchFamily="49" charset="-122"/>
            </a:endParaRPr>
          </a:p>
          <a:p>
            <a:pPr marL="0" algn="just" eaLnBrk="1" hangingPunct="1">
              <a:lnSpc>
                <a:spcPct val="90000"/>
              </a:lnSpc>
              <a:buNone/>
            </a:pPr>
            <a:r>
              <a:rPr lang="zh-CN" altLang="en-US" b="1" dirty="0">
                <a:ea typeface="楷体_GB2312" pitchFamily="49" charset="-122"/>
              </a:rPr>
              <a:t>        以定点运算为主，浮点运算是通过软件来实现的。</a:t>
            </a:r>
            <a:endParaRPr lang="zh-CN" altLang="en-US" b="1" dirty="0">
              <a:ea typeface="楷体_GB2312" pitchFamily="49" charset="-122"/>
            </a:endParaRPr>
          </a:p>
          <a:p>
            <a:pPr marL="0" algn="just" eaLnBrk="1" hangingPunct="1">
              <a:lnSpc>
                <a:spcPct val="90000"/>
              </a:lnSpc>
              <a:buNone/>
            </a:pPr>
            <a:r>
              <a:rPr lang="zh-CN" altLang="en-US" b="1" dirty="0">
                <a:ea typeface="楷体_GB2312" pitchFamily="49" charset="-122"/>
              </a:rPr>
              <a:t>⑵定点机＋浮点运算部件</a:t>
            </a:r>
            <a:endParaRPr lang="zh-CN" altLang="en-US" b="1" dirty="0">
              <a:ea typeface="楷体_GB2312" pitchFamily="49" charset="-122"/>
            </a:endParaRPr>
          </a:p>
          <a:p>
            <a:pPr marL="0" algn="just" eaLnBrk="1" hangingPunct="1">
              <a:lnSpc>
                <a:spcPct val="90000"/>
              </a:lnSpc>
              <a:buNone/>
            </a:pPr>
            <a:r>
              <a:rPr lang="zh-CN" altLang="en-US" b="1" dirty="0">
                <a:ea typeface="楷体_GB2312" pitchFamily="49" charset="-122"/>
              </a:rPr>
              <a:t>        浮点运算部件是专门用于对浮点数进行运算的部件。</a:t>
            </a:r>
            <a:endParaRPr lang="zh-CN" altLang="en-US" b="1" dirty="0">
              <a:ea typeface="楷体_GB2312" pitchFamily="49" charset="-122"/>
            </a:endParaRPr>
          </a:p>
          <a:p>
            <a:pPr marL="0" algn="just" eaLnBrk="1" hangingPunct="1">
              <a:lnSpc>
                <a:spcPct val="90000"/>
              </a:lnSpc>
              <a:buNone/>
            </a:pPr>
            <a:r>
              <a:rPr lang="zh-CN" altLang="en-US" b="1" dirty="0">
                <a:ea typeface="楷体_GB2312" pitchFamily="49" charset="-122"/>
              </a:rPr>
              <a:t>⑶浮点机</a:t>
            </a:r>
            <a:endParaRPr lang="zh-CN" altLang="en-US" b="1" dirty="0">
              <a:ea typeface="楷体_GB2312" pitchFamily="49" charset="-122"/>
            </a:endParaRPr>
          </a:p>
          <a:p>
            <a:pPr marL="0" algn="just" eaLnBrk="1" hangingPunct="1">
              <a:lnSpc>
                <a:spcPct val="90000"/>
              </a:lnSpc>
              <a:buNone/>
            </a:pPr>
            <a:r>
              <a:rPr lang="zh-CN" altLang="en-US" b="1" dirty="0">
                <a:ea typeface="楷体_GB2312" pitchFamily="49" charset="-122"/>
              </a:rPr>
              <a:t>        具有浮点运算指令和基本的浮点运算器。</a:t>
            </a:r>
            <a:endParaRPr lang="zh-CN" altLang="en-US" b="1" dirty="0">
              <a:ea typeface="楷体_GB2312" pitchFamily="49" charset="-122"/>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80898" name="Rectangle 2"/>
          <p:cNvSpPr>
            <a:spLocks noGrp="1"/>
          </p:cNvSpPr>
          <p:nvPr>
            <p:ph type="title"/>
          </p:nvPr>
        </p:nvSpPr>
        <p:spPr>
          <a:xfrm>
            <a:off x="457200" y="381000"/>
            <a:ext cx="8001000" cy="1143000"/>
          </a:xfrm>
        </p:spPr>
        <p:txBody>
          <a:bodyPr vert="horz" wrap="square" lIns="91440" tIns="45720" rIns="91440" bIns="45720" anchor="ctr" anchorCtr="0"/>
          <a:p>
            <a:pPr algn="l" eaLnBrk="1" hangingPunct="1"/>
            <a:r>
              <a:rPr lang="zh-CN" altLang="en-US" sz="4000" dirty="0">
                <a:solidFill>
                  <a:srgbClr val="0000FF"/>
                </a:solidFill>
                <a:latin typeface="华文新魏" panose="02010800040101010101" pitchFamily="2" charset="-122"/>
                <a:ea typeface="华文新魏" panose="02010800040101010101" pitchFamily="2" charset="-122"/>
              </a:rPr>
              <a:t>2.3  非数值数据的表示</a:t>
            </a:r>
            <a:endParaRPr lang="en-US" altLang="zh-CN" sz="4000" dirty="0">
              <a:solidFill>
                <a:srgbClr val="0000FF"/>
              </a:solidFill>
              <a:latin typeface="华文新魏" panose="02010800040101010101" pitchFamily="2" charset="-122"/>
              <a:ea typeface="华文新魏" panose="02010800040101010101" pitchFamily="2" charset="-122"/>
            </a:endParaRPr>
          </a:p>
        </p:txBody>
      </p:sp>
      <p:sp>
        <p:nvSpPr>
          <p:cNvPr id="80899" name="Rectangle 3"/>
          <p:cNvSpPr>
            <a:spLocks noGrp="1"/>
          </p:cNvSpPr>
          <p:nvPr>
            <p:ph idx="1"/>
          </p:nvPr>
        </p:nvSpPr>
        <p:spPr>
          <a:xfrm>
            <a:off x="533400" y="1600200"/>
            <a:ext cx="8001000" cy="4800600"/>
          </a:xfrm>
        </p:spPr>
        <p:txBody>
          <a:bodyPr vert="horz" wrap="square" lIns="91440" tIns="45720" rIns="91440" bIns="45720" anchor="t" anchorCtr="0"/>
          <a:p>
            <a:pPr eaLnBrk="1" hangingPunct="1">
              <a:buNone/>
            </a:pPr>
            <a:r>
              <a:rPr lang="zh-CN" altLang="en-US" b="1" dirty="0">
                <a:latin typeface="宋体" panose="02010600030101010101" pitchFamily="2" charset="-122"/>
                <a:ea typeface="楷体_GB2312" pitchFamily="49" charset="-122"/>
              </a:rPr>
              <a:t>      </a:t>
            </a:r>
            <a:r>
              <a:rPr lang="zh-CN" altLang="en-US" b="1" dirty="0">
                <a:ea typeface="楷体_GB2312" pitchFamily="49" charset="-122"/>
              </a:rPr>
              <a:t>非数值数据，又称为字符数据，通常是指字符、字符串、图形符号和汉字等各种数据，它们不用来表示数值的大小，一般情况下不对它们进行算术运算。</a:t>
            </a:r>
            <a:endParaRPr lang="zh-CN" altLang="en-US" b="1" dirty="0">
              <a:ea typeface="楷体_GB2312" pitchFamily="49"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81922" name="Rectangle 2"/>
          <p:cNvSpPr>
            <a:spLocks noGrp="1"/>
          </p:cNvSpPr>
          <p:nvPr>
            <p:ph type="title"/>
          </p:nvPr>
        </p:nvSpPr>
        <p:spPr>
          <a:xfrm>
            <a:off x="457200" y="457200"/>
            <a:ext cx="80010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2.3.1 字符和字符串的表示</a:t>
            </a:r>
            <a:endParaRPr lang="en-US" altLang="zh-CN" sz="3600" dirty="0">
              <a:solidFill>
                <a:srgbClr val="0000FF"/>
              </a:solidFill>
              <a:latin typeface="楷体_GB2312" pitchFamily="49" charset="-122"/>
              <a:ea typeface="楷体_GB2312" pitchFamily="49" charset="-122"/>
            </a:endParaRPr>
          </a:p>
        </p:txBody>
      </p:sp>
      <p:sp>
        <p:nvSpPr>
          <p:cNvPr id="81923" name="Rectangle 3"/>
          <p:cNvSpPr>
            <a:spLocks noGrp="1"/>
          </p:cNvSpPr>
          <p:nvPr>
            <p:ph idx="1"/>
          </p:nvPr>
        </p:nvSpPr>
        <p:spPr>
          <a:xfrm>
            <a:off x="533400" y="1295400"/>
            <a:ext cx="8001000" cy="5410200"/>
          </a:xfrm>
        </p:spPr>
        <p:txBody>
          <a:bodyPr vert="horz" wrap="square" lIns="91440" tIns="45720" rIns="91440" bIns="45720" anchor="t" anchorCtr="0"/>
          <a:p>
            <a:pPr eaLnBrk="1" hangingPunct="1">
              <a:buNone/>
            </a:pPr>
            <a:r>
              <a:rPr lang="zh-CN" altLang="en-US" sz="2800" b="1" dirty="0">
                <a:solidFill>
                  <a:schemeClr val="accent2"/>
                </a:solidFill>
                <a:ea typeface="楷体_GB2312" pitchFamily="49" charset="-122"/>
              </a:rPr>
              <a:t>1.</a:t>
            </a:r>
            <a:r>
              <a:rPr lang="en-US" altLang="zh-CN" sz="2800" b="1" dirty="0">
                <a:solidFill>
                  <a:schemeClr val="accent2"/>
                </a:solidFill>
                <a:ea typeface="楷体_GB2312" pitchFamily="49" charset="-122"/>
              </a:rPr>
              <a:t>ASCII</a:t>
            </a:r>
            <a:r>
              <a:rPr lang="zh-CN" altLang="en-US" sz="2800" b="1" dirty="0">
                <a:solidFill>
                  <a:schemeClr val="accent2"/>
                </a:solidFill>
                <a:ea typeface="楷体_GB2312" pitchFamily="49" charset="-122"/>
              </a:rPr>
              <a:t>字符编码</a:t>
            </a:r>
            <a:endParaRPr lang="zh-CN" altLang="en-US" sz="2800" b="1" dirty="0">
              <a:solidFill>
                <a:schemeClr val="accent2"/>
              </a:solidFill>
              <a:ea typeface="楷体_GB2312" pitchFamily="49" charset="-122"/>
            </a:endParaRPr>
          </a:p>
          <a:p>
            <a:pPr eaLnBrk="1" hangingPunct="1">
              <a:buNone/>
            </a:pPr>
            <a:r>
              <a:rPr lang="zh-CN" altLang="en-US" sz="2800" b="1" dirty="0">
                <a:ea typeface="楷体_GB2312" pitchFamily="49" charset="-122"/>
              </a:rPr>
              <a:t>            常见的</a:t>
            </a:r>
            <a:r>
              <a:rPr lang="en-US" altLang="zh-CN" sz="2800" b="1" dirty="0">
                <a:ea typeface="楷体_GB2312" pitchFamily="49" charset="-122"/>
              </a:rPr>
              <a:t>ASCII</a:t>
            </a:r>
            <a:r>
              <a:rPr lang="zh-CN" altLang="en-US" sz="2800" b="1" dirty="0">
                <a:ea typeface="楷体_GB2312" pitchFamily="49" charset="-122"/>
              </a:rPr>
              <a:t>码用七位二进制表示一个字符，它包括10个十进制数字（0～9）、52个英文大写和小写字母（</a:t>
            </a:r>
            <a:r>
              <a:rPr lang="en-US" altLang="zh-CN" sz="2800" b="1" dirty="0">
                <a:ea typeface="楷体_GB2312" pitchFamily="49" charset="-122"/>
              </a:rPr>
              <a:t>A～Z，a～z）、34</a:t>
            </a:r>
            <a:r>
              <a:rPr lang="zh-CN" altLang="en-US" sz="2800" b="1" dirty="0">
                <a:ea typeface="楷体_GB2312" pitchFamily="49" charset="-122"/>
              </a:rPr>
              <a:t>个专用符号和32个控制符号，共计128个字符。</a:t>
            </a:r>
            <a:endParaRPr lang="zh-CN" altLang="en-US" sz="2800" b="1" dirty="0">
              <a:ea typeface="楷体_GB2312" pitchFamily="49" charset="-122"/>
            </a:endParaRPr>
          </a:p>
          <a:p>
            <a:pPr eaLnBrk="1" hangingPunct="1">
              <a:buNone/>
            </a:pPr>
            <a:r>
              <a:rPr lang="zh-CN" altLang="en-US" sz="2800" b="1" dirty="0">
                <a:ea typeface="楷体_GB2312" pitchFamily="49" charset="-122"/>
              </a:rPr>
              <a:t>            在计算机中，通常用一个字节来存放一个字符。</a:t>
            </a:r>
            <a:endParaRPr lang="zh-CN" altLang="en-US" sz="2800" b="1" dirty="0">
              <a:ea typeface="楷体_GB2312" pitchFamily="49" charset="-122"/>
            </a:endParaRPr>
          </a:p>
          <a:p>
            <a:pPr eaLnBrk="1" hangingPunct="1">
              <a:buNone/>
            </a:pPr>
            <a:r>
              <a:rPr lang="zh-CN" altLang="en-US" sz="2800" b="1" dirty="0">
                <a:ea typeface="楷体_GB2312" pitchFamily="49" charset="-122"/>
              </a:rPr>
              <a:t>            在</a:t>
            </a:r>
            <a:r>
              <a:rPr lang="en-US" altLang="zh-CN" sz="2800" b="1" dirty="0">
                <a:ea typeface="楷体_GB2312" pitchFamily="49" charset="-122"/>
              </a:rPr>
              <a:t>ASCII</a:t>
            </a:r>
            <a:r>
              <a:rPr lang="zh-CN" altLang="en-US" sz="2800" b="1" dirty="0">
                <a:ea typeface="楷体_GB2312" pitchFamily="49" charset="-122"/>
              </a:rPr>
              <a:t>码表中，数字和英文字母都是按顺序排列的，只要知道其中一个的二进制代码，不要查表就可以推导出其他数字或字母的二进制代码。</a:t>
            </a:r>
            <a:endParaRPr lang="zh-CN" altLang="en-US" sz="2800" b="1" dirty="0">
              <a:ea typeface="楷体_GB2312" pitchFamily="49"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82946" name="Rectangle 2"/>
          <p:cNvSpPr>
            <a:spLocks noGrp="1"/>
          </p:cNvSpPr>
          <p:nvPr>
            <p:ph type="title" idx="4294967295"/>
          </p:nvPr>
        </p:nvSpPr>
        <p:spPr>
          <a:xfrm>
            <a:off x="685800" y="304800"/>
            <a:ext cx="7772400" cy="1143000"/>
          </a:xfrm>
        </p:spPr>
        <p:txBody>
          <a:bodyPr vert="horz" wrap="square" lIns="91440" tIns="45720" rIns="91440" bIns="45720" anchor="ctr" anchorCtr="0"/>
          <a:p>
            <a:pPr algn="l" eaLnBrk="1" hangingPunct="1"/>
            <a:r>
              <a:rPr lang="en-US" altLang="zh-CN" sz="3200" dirty="0">
                <a:solidFill>
                  <a:srgbClr val="0000FF"/>
                </a:solidFill>
                <a:ea typeface="楷体_GB2312" pitchFamily="49" charset="-122"/>
              </a:rPr>
              <a:t>ASCII</a:t>
            </a:r>
            <a:r>
              <a:rPr lang="zh-CN" altLang="en-US" sz="3200" dirty="0">
                <a:solidFill>
                  <a:srgbClr val="0000FF"/>
                </a:solidFill>
                <a:ea typeface="楷体_GB2312" pitchFamily="49" charset="-122"/>
              </a:rPr>
              <a:t>字符编码表</a:t>
            </a:r>
            <a:endParaRPr lang="zh-CN" altLang="en-US" sz="3200" dirty="0">
              <a:solidFill>
                <a:srgbClr val="0000FF"/>
              </a:solidFill>
              <a:ea typeface="楷体_GB2312" pitchFamily="49" charset="-122"/>
            </a:endParaRPr>
          </a:p>
        </p:txBody>
      </p:sp>
      <p:pic>
        <p:nvPicPr>
          <p:cNvPr id="82947" name="Picture 3" descr="E:\Temp\ASCII.jpg"/>
          <p:cNvPicPr>
            <a:picLocks noChangeAspect="1"/>
          </p:cNvPicPr>
          <p:nvPr/>
        </p:nvPicPr>
        <p:blipFill>
          <a:blip r:embed="rId1"/>
          <a:stretch>
            <a:fillRect/>
          </a:stretch>
        </p:blipFill>
        <p:spPr>
          <a:xfrm>
            <a:off x="1371600" y="1066800"/>
            <a:ext cx="6705600" cy="5380038"/>
          </a:xfrm>
          <a:prstGeom prst="rect">
            <a:avLst/>
          </a:prstGeom>
          <a:noFill/>
          <a:ln w="9525">
            <a:noFill/>
          </a:ln>
        </p:spPr>
      </p:pic>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83970" name="Rectangle 2"/>
          <p:cNvSpPr>
            <a:spLocks noGrp="1"/>
          </p:cNvSpPr>
          <p:nvPr>
            <p:ph type="title"/>
          </p:nvPr>
        </p:nvSpPr>
        <p:spPr>
          <a:xfrm>
            <a:off x="685800" y="3810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2.字符串的存放</a:t>
            </a:r>
            <a:endParaRPr lang="zh-CN" altLang="en-US" sz="3200" dirty="0">
              <a:solidFill>
                <a:schemeClr val="accent2"/>
              </a:solidFill>
              <a:ea typeface="楷体_GB2312" pitchFamily="49" charset="-122"/>
            </a:endParaRPr>
          </a:p>
        </p:txBody>
      </p:sp>
      <p:sp>
        <p:nvSpPr>
          <p:cNvPr id="83971" name="Rectangle 3"/>
          <p:cNvSpPr>
            <a:spLocks noGrp="1"/>
          </p:cNvSpPr>
          <p:nvPr>
            <p:ph idx="1"/>
          </p:nvPr>
        </p:nvSpPr>
        <p:spPr>
          <a:xfrm>
            <a:off x="457200" y="1219200"/>
            <a:ext cx="8077200" cy="4818063"/>
          </a:xfrm>
        </p:spPr>
        <p:txBody>
          <a:bodyPr vert="horz" wrap="square" lIns="91440" tIns="45720" rIns="91440" bIns="45720" anchor="t" anchorCtr="0"/>
          <a:p>
            <a:pPr eaLnBrk="1" hangingPunct="1">
              <a:buNone/>
            </a:pPr>
            <a:r>
              <a:rPr lang="zh-CN" altLang="en-US" b="1" dirty="0">
                <a:ea typeface="楷体_GB2312" pitchFamily="49" charset="-122"/>
              </a:rPr>
              <a:t>            字符串是指一串连续的字符。例如，字符串</a:t>
            </a:r>
            <a:r>
              <a:rPr lang="en-US" altLang="zh-CN" b="1" dirty="0">
                <a:ea typeface="楷体_GB2312" pitchFamily="49" charset="-122"/>
              </a:rPr>
              <a:t>IF X&gt;0 THEN READ (C)。</a:t>
            </a:r>
            <a:endParaRPr lang="en-US" altLang="zh-CN" b="1" dirty="0">
              <a:ea typeface="楷体_GB2312" pitchFamily="49" charset="-122"/>
            </a:endParaRPr>
          </a:p>
          <a:p>
            <a:pPr eaLnBrk="1" hangingPunct="1">
              <a:buNone/>
            </a:pPr>
            <a:r>
              <a:rPr lang="zh-CN" altLang="en-US" b="1" dirty="0">
                <a:ea typeface="楷体_GB2312" pitchFamily="49" charset="-122"/>
              </a:rPr>
              <a:t>            向量存放法在存储器中占用一片连续的空间，每个字节存放一个字符代码，字符串的所有元素（字符）在物理上是邻接的。在字长为32位的存储器，每一个主存单元可存放4个字符，整个字符串需5个主存单元。在每个字节中实际存放的是相应字符的</a:t>
            </a:r>
            <a:r>
              <a:rPr lang="en-US" altLang="zh-CN" b="1" dirty="0">
                <a:ea typeface="楷体_GB2312" pitchFamily="49" charset="-122"/>
              </a:rPr>
              <a:t>ASCII</a:t>
            </a:r>
            <a:r>
              <a:rPr lang="zh-CN" altLang="en-US" b="1" dirty="0">
                <a:ea typeface="楷体_GB2312" pitchFamily="49" charset="-122"/>
              </a:rPr>
              <a:t>码。</a:t>
            </a:r>
            <a:endParaRPr lang="zh-CN" altLang="en-US" b="1" dirty="0">
              <a:ea typeface="楷体_GB2312" pitchFamily="49" charset="-122"/>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grpSp>
        <p:nvGrpSpPr>
          <p:cNvPr id="84994" name="Group 2"/>
          <p:cNvGrpSpPr/>
          <p:nvPr/>
        </p:nvGrpSpPr>
        <p:grpSpPr>
          <a:xfrm>
            <a:off x="2762250" y="1295400"/>
            <a:ext cx="4162425" cy="4648200"/>
            <a:chOff x="1776" y="816"/>
            <a:chExt cx="2622" cy="2928"/>
          </a:xfrm>
        </p:grpSpPr>
        <p:grpSp>
          <p:nvGrpSpPr>
            <p:cNvPr id="84995" name="Group 3"/>
            <p:cNvGrpSpPr/>
            <p:nvPr/>
          </p:nvGrpSpPr>
          <p:grpSpPr>
            <a:xfrm>
              <a:off x="1776" y="816"/>
              <a:ext cx="2622" cy="2928"/>
              <a:chOff x="1776" y="816"/>
              <a:chExt cx="2622" cy="2928"/>
            </a:xfrm>
          </p:grpSpPr>
          <p:sp>
            <p:nvSpPr>
              <p:cNvPr id="84996" name="Line 4"/>
              <p:cNvSpPr/>
              <p:nvPr/>
            </p:nvSpPr>
            <p:spPr>
              <a:xfrm>
                <a:off x="1776" y="978"/>
                <a:ext cx="0" cy="2620"/>
              </a:xfrm>
              <a:prstGeom prst="line">
                <a:avLst/>
              </a:prstGeom>
              <a:ln w="9525" cap="flat" cmpd="sng">
                <a:solidFill>
                  <a:schemeClr val="tx1"/>
                </a:solidFill>
                <a:prstDash val="solid"/>
                <a:round/>
                <a:headEnd type="none" w="med" len="med"/>
                <a:tailEnd type="none" w="med" len="med"/>
              </a:ln>
            </p:spPr>
          </p:sp>
          <p:sp>
            <p:nvSpPr>
              <p:cNvPr id="84997" name="Line 5"/>
              <p:cNvSpPr/>
              <p:nvPr/>
            </p:nvSpPr>
            <p:spPr>
              <a:xfrm>
                <a:off x="3863" y="978"/>
                <a:ext cx="0" cy="2620"/>
              </a:xfrm>
              <a:prstGeom prst="line">
                <a:avLst/>
              </a:prstGeom>
              <a:ln w="9525" cap="flat" cmpd="sng">
                <a:solidFill>
                  <a:schemeClr val="tx1"/>
                </a:solidFill>
                <a:prstDash val="solid"/>
                <a:round/>
                <a:headEnd type="none" w="med" len="med"/>
                <a:tailEnd type="none" w="med" len="med"/>
              </a:ln>
            </p:spPr>
          </p:sp>
          <p:sp>
            <p:nvSpPr>
              <p:cNvPr id="84998" name="Line 6"/>
              <p:cNvSpPr/>
              <p:nvPr/>
            </p:nvSpPr>
            <p:spPr>
              <a:xfrm>
                <a:off x="1776" y="1339"/>
                <a:ext cx="2087" cy="0"/>
              </a:xfrm>
              <a:prstGeom prst="line">
                <a:avLst/>
              </a:prstGeom>
              <a:ln w="9525" cap="flat" cmpd="sng">
                <a:solidFill>
                  <a:schemeClr val="tx1"/>
                </a:solidFill>
                <a:prstDash val="solid"/>
                <a:round/>
                <a:headEnd type="none" w="med" len="med"/>
                <a:tailEnd type="none" w="med" len="med"/>
              </a:ln>
            </p:spPr>
          </p:sp>
          <p:sp>
            <p:nvSpPr>
              <p:cNvPr id="84999" name="Line 7"/>
              <p:cNvSpPr/>
              <p:nvPr/>
            </p:nvSpPr>
            <p:spPr>
              <a:xfrm>
                <a:off x="1776" y="1715"/>
                <a:ext cx="2087" cy="0"/>
              </a:xfrm>
              <a:prstGeom prst="line">
                <a:avLst/>
              </a:prstGeom>
              <a:ln w="9525" cap="flat" cmpd="sng">
                <a:solidFill>
                  <a:schemeClr val="tx1"/>
                </a:solidFill>
                <a:prstDash val="solid"/>
                <a:round/>
                <a:headEnd type="none" w="med" len="med"/>
                <a:tailEnd type="none" w="med" len="med"/>
              </a:ln>
            </p:spPr>
          </p:sp>
          <p:sp>
            <p:nvSpPr>
              <p:cNvPr id="85000" name="Line 8"/>
              <p:cNvSpPr/>
              <p:nvPr/>
            </p:nvSpPr>
            <p:spPr>
              <a:xfrm>
                <a:off x="1776" y="2092"/>
                <a:ext cx="2087" cy="0"/>
              </a:xfrm>
              <a:prstGeom prst="line">
                <a:avLst/>
              </a:prstGeom>
              <a:ln w="9525" cap="flat" cmpd="sng">
                <a:solidFill>
                  <a:schemeClr val="tx1"/>
                </a:solidFill>
                <a:prstDash val="solid"/>
                <a:round/>
                <a:headEnd type="none" w="med" len="med"/>
                <a:tailEnd type="none" w="med" len="med"/>
              </a:ln>
            </p:spPr>
          </p:sp>
          <p:sp>
            <p:nvSpPr>
              <p:cNvPr id="85001" name="Line 9"/>
              <p:cNvSpPr/>
              <p:nvPr/>
            </p:nvSpPr>
            <p:spPr>
              <a:xfrm>
                <a:off x="1776" y="2468"/>
                <a:ext cx="2087" cy="0"/>
              </a:xfrm>
              <a:prstGeom prst="line">
                <a:avLst/>
              </a:prstGeom>
              <a:ln w="9525" cap="flat" cmpd="sng">
                <a:solidFill>
                  <a:schemeClr val="tx1"/>
                </a:solidFill>
                <a:prstDash val="solid"/>
                <a:round/>
                <a:headEnd type="none" w="med" len="med"/>
                <a:tailEnd type="none" w="med" len="med"/>
              </a:ln>
            </p:spPr>
          </p:sp>
          <p:sp>
            <p:nvSpPr>
              <p:cNvPr id="85002" name="Line 10"/>
              <p:cNvSpPr/>
              <p:nvPr/>
            </p:nvSpPr>
            <p:spPr>
              <a:xfrm>
                <a:off x="1776" y="2845"/>
                <a:ext cx="2087" cy="0"/>
              </a:xfrm>
              <a:prstGeom prst="line">
                <a:avLst/>
              </a:prstGeom>
              <a:ln w="9525" cap="flat" cmpd="sng">
                <a:solidFill>
                  <a:schemeClr val="tx1"/>
                </a:solidFill>
                <a:prstDash val="solid"/>
                <a:round/>
                <a:headEnd type="none" w="med" len="med"/>
                <a:tailEnd type="none" w="med" len="med"/>
              </a:ln>
            </p:spPr>
          </p:sp>
          <p:sp>
            <p:nvSpPr>
              <p:cNvPr id="85003" name="Line 11"/>
              <p:cNvSpPr/>
              <p:nvPr/>
            </p:nvSpPr>
            <p:spPr>
              <a:xfrm>
                <a:off x="1776" y="3221"/>
                <a:ext cx="2087" cy="0"/>
              </a:xfrm>
              <a:prstGeom prst="line">
                <a:avLst/>
              </a:prstGeom>
              <a:ln w="9525" cap="flat" cmpd="sng">
                <a:solidFill>
                  <a:schemeClr val="tx1"/>
                </a:solidFill>
                <a:prstDash val="solid"/>
                <a:round/>
                <a:headEnd type="none" w="med" len="med"/>
                <a:tailEnd type="none" w="med" len="med"/>
              </a:ln>
            </p:spPr>
          </p:sp>
          <p:sp>
            <p:nvSpPr>
              <p:cNvPr id="85004" name="Line 12"/>
              <p:cNvSpPr/>
              <p:nvPr/>
            </p:nvSpPr>
            <p:spPr>
              <a:xfrm>
                <a:off x="2820" y="1339"/>
                <a:ext cx="0" cy="1882"/>
              </a:xfrm>
              <a:prstGeom prst="line">
                <a:avLst/>
              </a:prstGeom>
              <a:ln w="9525" cap="flat" cmpd="sng">
                <a:solidFill>
                  <a:schemeClr val="tx1"/>
                </a:solidFill>
                <a:prstDash val="solid"/>
                <a:round/>
                <a:headEnd type="none" w="med" len="med"/>
                <a:tailEnd type="none" w="med" len="med"/>
              </a:ln>
            </p:spPr>
          </p:sp>
          <p:sp>
            <p:nvSpPr>
              <p:cNvPr id="85005" name="Line 13"/>
              <p:cNvSpPr/>
              <p:nvPr/>
            </p:nvSpPr>
            <p:spPr>
              <a:xfrm>
                <a:off x="2298" y="1339"/>
                <a:ext cx="0" cy="1882"/>
              </a:xfrm>
              <a:prstGeom prst="line">
                <a:avLst/>
              </a:prstGeom>
              <a:ln w="9525" cap="flat" cmpd="sng">
                <a:solidFill>
                  <a:schemeClr val="tx1"/>
                </a:solidFill>
                <a:prstDash val="solid"/>
                <a:round/>
                <a:headEnd type="none" w="med" len="med"/>
                <a:tailEnd type="none" w="med" len="med"/>
              </a:ln>
            </p:spPr>
          </p:sp>
          <p:sp>
            <p:nvSpPr>
              <p:cNvPr id="85006" name="Line 14"/>
              <p:cNvSpPr/>
              <p:nvPr/>
            </p:nvSpPr>
            <p:spPr>
              <a:xfrm>
                <a:off x="3342" y="1339"/>
                <a:ext cx="0" cy="1882"/>
              </a:xfrm>
              <a:prstGeom prst="line">
                <a:avLst/>
              </a:prstGeom>
              <a:ln w="9525" cap="flat" cmpd="sng">
                <a:solidFill>
                  <a:schemeClr val="tx1"/>
                </a:solidFill>
                <a:prstDash val="solid"/>
                <a:round/>
                <a:headEnd type="none" w="med" len="med"/>
                <a:tailEnd type="none" w="med" len="med"/>
              </a:ln>
            </p:spPr>
          </p:sp>
          <p:sp>
            <p:nvSpPr>
              <p:cNvPr id="85007" name="Freeform 15"/>
              <p:cNvSpPr/>
              <p:nvPr/>
            </p:nvSpPr>
            <p:spPr>
              <a:xfrm>
                <a:off x="1776" y="816"/>
                <a:ext cx="2087" cy="316"/>
              </a:xfrm>
              <a:custGeom>
                <a:avLst/>
                <a:gdLst/>
                <a:ahLst/>
                <a:cxnLst>
                  <a:cxn ang="0">
                    <a:pos x="0" y="52986"/>
                  </a:cxn>
                  <a:cxn ang="0">
                    <a:pos x="262579" y="6699"/>
                  </a:cxn>
                  <a:cxn ang="0">
                    <a:pos x="577936" y="92708"/>
                  </a:cxn>
                  <a:cxn ang="0">
                    <a:pos x="840387" y="52986"/>
                  </a:cxn>
                </a:cxnLst>
                <a:pathLst>
                  <a:path w="768" h="121">
                    <a:moveTo>
                      <a:pt x="0" y="64"/>
                    </a:moveTo>
                    <a:cubicBezTo>
                      <a:pt x="40" y="55"/>
                      <a:pt x="152" y="0"/>
                      <a:pt x="240" y="8"/>
                    </a:cubicBezTo>
                    <a:cubicBezTo>
                      <a:pt x="328" y="16"/>
                      <a:pt x="440" y="103"/>
                      <a:pt x="528" y="112"/>
                    </a:cubicBezTo>
                    <a:cubicBezTo>
                      <a:pt x="616" y="121"/>
                      <a:pt x="728" y="72"/>
                      <a:pt x="768" y="64"/>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5008" name="Freeform 16"/>
              <p:cNvSpPr/>
              <p:nvPr/>
            </p:nvSpPr>
            <p:spPr>
              <a:xfrm>
                <a:off x="1776" y="3451"/>
                <a:ext cx="2087" cy="293"/>
              </a:xfrm>
              <a:custGeom>
                <a:avLst/>
                <a:gdLst/>
                <a:ahLst/>
                <a:cxnLst>
                  <a:cxn ang="0">
                    <a:pos x="0" y="47160"/>
                  </a:cxn>
                  <a:cxn ang="0">
                    <a:pos x="262579" y="6747"/>
                  </a:cxn>
                  <a:cxn ang="0">
                    <a:pos x="577936" y="87267"/>
                  </a:cxn>
                  <a:cxn ang="0">
                    <a:pos x="840387" y="47160"/>
                  </a:cxn>
                </a:cxnLst>
                <a:pathLst>
                  <a:path w="768" h="112">
                    <a:moveTo>
                      <a:pt x="0" y="56"/>
                    </a:moveTo>
                    <a:cubicBezTo>
                      <a:pt x="76" y="28"/>
                      <a:pt x="152" y="0"/>
                      <a:pt x="240" y="8"/>
                    </a:cubicBezTo>
                    <a:cubicBezTo>
                      <a:pt x="328" y="16"/>
                      <a:pt x="440" y="96"/>
                      <a:pt x="528" y="104"/>
                    </a:cubicBezTo>
                    <a:cubicBezTo>
                      <a:pt x="616" y="112"/>
                      <a:pt x="728" y="64"/>
                      <a:pt x="768" y="56"/>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5009" name="Text Box 17"/>
              <p:cNvSpPr txBox="1"/>
              <p:nvPr/>
            </p:nvSpPr>
            <p:spPr>
              <a:xfrm>
                <a:off x="1956" y="1390"/>
                <a:ext cx="913" cy="288"/>
              </a:xfrm>
              <a:prstGeom prst="rect">
                <a:avLst/>
              </a:prstGeom>
              <a:noFill/>
              <a:ln w="9525">
                <a:noFill/>
              </a:ln>
            </p:spPr>
            <p:txBody>
              <a:bodyPr anchor="t" anchorCtr="0">
                <a:spAutoFit/>
              </a:bodyPr>
              <a:p>
                <a:pPr eaLnBrk="0" hangingPunct="0">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I</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85010" name="Text Box 18"/>
              <p:cNvSpPr txBox="1"/>
              <p:nvPr/>
            </p:nvSpPr>
            <p:spPr>
              <a:xfrm>
                <a:off x="2494" y="1390"/>
                <a:ext cx="914" cy="288"/>
              </a:xfrm>
              <a:prstGeom prst="rect">
                <a:avLst/>
              </a:prstGeom>
              <a:noFill/>
              <a:ln w="9525">
                <a:noFill/>
              </a:ln>
            </p:spPr>
            <p:txBody>
              <a:bodyPr anchor="t" anchorCtr="0">
                <a:spAutoFit/>
              </a:bodyPr>
              <a:p>
                <a:pPr eaLnBrk="0" hangingPunct="0">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F</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85011" name="Text Box 19"/>
              <p:cNvSpPr txBox="1"/>
              <p:nvPr/>
            </p:nvSpPr>
            <p:spPr>
              <a:xfrm>
                <a:off x="3485" y="1392"/>
                <a:ext cx="913" cy="288"/>
              </a:xfrm>
              <a:prstGeom prst="rect">
                <a:avLst/>
              </a:prstGeom>
              <a:noFill/>
              <a:ln w="9525">
                <a:noFill/>
              </a:ln>
            </p:spPr>
            <p:txBody>
              <a:bodyPr anchor="t" anchorCtr="0">
                <a:spAutoFit/>
              </a:bodyPr>
              <a:p>
                <a:pPr eaLnBrk="0" hangingPunct="0">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X</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85012" name="Text Box 20"/>
              <p:cNvSpPr txBox="1"/>
              <p:nvPr/>
            </p:nvSpPr>
            <p:spPr>
              <a:xfrm>
                <a:off x="1956" y="1766"/>
                <a:ext cx="913" cy="288"/>
              </a:xfrm>
              <a:prstGeom prst="rect">
                <a:avLst/>
              </a:prstGeom>
              <a:noFill/>
              <a:ln w="9525">
                <a:noFill/>
              </a:ln>
            </p:spPr>
            <p:txBody>
              <a:bodyPr anchor="t" anchorCtr="0">
                <a:spAutoFit/>
              </a:bodyPr>
              <a:p>
                <a:pPr eaLnBrk="0" hangingPunct="0">
                  <a:spcBef>
                    <a:spcPct val="50000"/>
                  </a:spcBef>
                </a:pPr>
                <a:r>
                  <a:rPr lang="zh-CN" altLang="en-US" sz="2400" b="1" dirty="0">
                    <a:solidFill>
                      <a:schemeClr val="tx1"/>
                    </a:solidFill>
                    <a:latin typeface="Times New Roman" panose="02020603050405020304" pitchFamily="18" charset="0"/>
                    <a:ea typeface="宋体" panose="02010600030101010101" pitchFamily="2" charset="-122"/>
                  </a:rPr>
                  <a:t>&gt;</a:t>
                </a:r>
                <a:endParaRPr lang="zh-CN" altLang="en-US" sz="2400" b="1" dirty="0">
                  <a:solidFill>
                    <a:schemeClr val="tx1"/>
                  </a:solidFill>
                  <a:latin typeface="Times New Roman" panose="02020603050405020304" pitchFamily="18" charset="0"/>
                  <a:ea typeface="宋体" panose="02010600030101010101" pitchFamily="2" charset="-122"/>
                </a:endParaRPr>
              </a:p>
            </p:txBody>
          </p:sp>
          <p:sp>
            <p:nvSpPr>
              <p:cNvPr id="85013" name="Text Box 21"/>
              <p:cNvSpPr txBox="1"/>
              <p:nvPr/>
            </p:nvSpPr>
            <p:spPr>
              <a:xfrm>
                <a:off x="2496" y="1776"/>
                <a:ext cx="914" cy="288"/>
              </a:xfrm>
              <a:prstGeom prst="rect">
                <a:avLst/>
              </a:prstGeom>
              <a:noFill/>
              <a:ln w="9525">
                <a:noFill/>
              </a:ln>
            </p:spPr>
            <p:txBody>
              <a:bodyPr anchor="t" anchorCtr="0">
                <a:spAutoFit/>
              </a:bodyPr>
              <a:p>
                <a:pPr eaLnBrk="0" hangingPunct="0">
                  <a:spcBef>
                    <a:spcPct val="50000"/>
                  </a:spcBef>
                </a:pPr>
                <a:r>
                  <a:rPr lang="zh-CN" altLang="en-US" sz="2400" b="1" dirty="0">
                    <a:solidFill>
                      <a:schemeClr val="tx1"/>
                    </a:solidFill>
                    <a:latin typeface="Times New Roman" panose="02020603050405020304" pitchFamily="18" charset="0"/>
                    <a:ea typeface="宋体" panose="02010600030101010101" pitchFamily="2" charset="-122"/>
                  </a:rPr>
                  <a:t>0</a:t>
                </a:r>
                <a:endParaRPr lang="zh-CN" altLang="en-US" sz="2400" b="1" dirty="0">
                  <a:solidFill>
                    <a:schemeClr val="tx1"/>
                  </a:solidFill>
                  <a:latin typeface="Times New Roman" panose="02020603050405020304" pitchFamily="18" charset="0"/>
                  <a:ea typeface="宋体" panose="02010600030101010101" pitchFamily="2" charset="-122"/>
                </a:endParaRPr>
              </a:p>
            </p:txBody>
          </p:sp>
          <p:sp>
            <p:nvSpPr>
              <p:cNvPr id="85014" name="Text Box 22"/>
              <p:cNvSpPr txBox="1"/>
              <p:nvPr/>
            </p:nvSpPr>
            <p:spPr>
              <a:xfrm>
                <a:off x="3485" y="1768"/>
                <a:ext cx="913" cy="288"/>
              </a:xfrm>
              <a:prstGeom prst="rect">
                <a:avLst/>
              </a:prstGeom>
              <a:noFill/>
              <a:ln w="9525">
                <a:noFill/>
              </a:ln>
            </p:spPr>
            <p:txBody>
              <a:bodyPr anchor="t" anchorCtr="0">
                <a:spAutoFit/>
              </a:bodyPr>
              <a:p>
                <a:pPr eaLnBrk="0" hangingPunct="0">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T</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85015" name="Text Box 23"/>
              <p:cNvSpPr txBox="1"/>
              <p:nvPr/>
            </p:nvSpPr>
            <p:spPr>
              <a:xfrm>
                <a:off x="1920" y="2148"/>
                <a:ext cx="913" cy="288"/>
              </a:xfrm>
              <a:prstGeom prst="rect">
                <a:avLst/>
              </a:prstGeom>
              <a:noFill/>
              <a:ln w="9525">
                <a:noFill/>
              </a:ln>
            </p:spPr>
            <p:txBody>
              <a:bodyPr anchor="t" anchorCtr="0">
                <a:spAutoFit/>
              </a:bodyPr>
              <a:p>
                <a:pPr eaLnBrk="0" hangingPunct="0">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H</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85016" name="Text Box 24"/>
              <p:cNvSpPr txBox="1"/>
              <p:nvPr/>
            </p:nvSpPr>
            <p:spPr>
              <a:xfrm>
                <a:off x="2457" y="2144"/>
                <a:ext cx="914" cy="288"/>
              </a:xfrm>
              <a:prstGeom prst="rect">
                <a:avLst/>
              </a:prstGeom>
              <a:noFill/>
              <a:ln w="9525">
                <a:noFill/>
              </a:ln>
            </p:spPr>
            <p:txBody>
              <a:bodyPr anchor="t" anchorCtr="0">
                <a:spAutoFit/>
              </a:bodyPr>
              <a:p>
                <a:pPr eaLnBrk="0" hangingPunct="0">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E</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85017" name="Text Box 25"/>
              <p:cNvSpPr txBox="1"/>
              <p:nvPr/>
            </p:nvSpPr>
            <p:spPr>
              <a:xfrm>
                <a:off x="2963" y="2144"/>
                <a:ext cx="913" cy="288"/>
              </a:xfrm>
              <a:prstGeom prst="rect">
                <a:avLst/>
              </a:prstGeom>
              <a:noFill/>
              <a:ln w="9525">
                <a:noFill/>
              </a:ln>
            </p:spPr>
            <p:txBody>
              <a:bodyPr anchor="t" anchorCtr="0">
                <a:spAutoFit/>
              </a:bodyPr>
              <a:p>
                <a:pPr eaLnBrk="0" hangingPunct="0">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N</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85018" name="Text Box 26"/>
              <p:cNvSpPr txBox="1"/>
              <p:nvPr/>
            </p:nvSpPr>
            <p:spPr>
              <a:xfrm>
                <a:off x="1920" y="2531"/>
                <a:ext cx="913" cy="288"/>
              </a:xfrm>
              <a:prstGeom prst="rect">
                <a:avLst/>
              </a:prstGeom>
              <a:noFill/>
              <a:ln w="9525">
                <a:noFill/>
              </a:ln>
            </p:spPr>
            <p:txBody>
              <a:bodyPr anchor="t" anchorCtr="0">
                <a:spAutoFit/>
              </a:bodyPr>
              <a:p>
                <a:pPr eaLnBrk="0" hangingPunct="0">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R</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85019" name="Text Box 27"/>
              <p:cNvSpPr txBox="1"/>
              <p:nvPr/>
            </p:nvSpPr>
            <p:spPr>
              <a:xfrm>
                <a:off x="2458" y="2531"/>
                <a:ext cx="914" cy="288"/>
              </a:xfrm>
              <a:prstGeom prst="rect">
                <a:avLst/>
              </a:prstGeom>
              <a:noFill/>
              <a:ln w="9525">
                <a:noFill/>
              </a:ln>
            </p:spPr>
            <p:txBody>
              <a:bodyPr anchor="t" anchorCtr="0">
                <a:spAutoFit/>
              </a:bodyPr>
              <a:p>
                <a:pPr eaLnBrk="0" hangingPunct="0">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E</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85020" name="Text Box 28"/>
              <p:cNvSpPr txBox="1"/>
              <p:nvPr/>
            </p:nvSpPr>
            <p:spPr>
              <a:xfrm>
                <a:off x="2937" y="2542"/>
                <a:ext cx="1044" cy="288"/>
              </a:xfrm>
              <a:prstGeom prst="rect">
                <a:avLst/>
              </a:prstGeom>
              <a:noFill/>
              <a:ln w="9525">
                <a:noFill/>
              </a:ln>
            </p:spPr>
            <p:txBody>
              <a:bodyPr anchor="t" anchorCtr="0">
                <a:spAutoFit/>
              </a:bodyPr>
              <a:p>
                <a:pPr eaLnBrk="0" hangingPunct="0">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A</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85021" name="Text Box 29"/>
              <p:cNvSpPr txBox="1"/>
              <p:nvPr/>
            </p:nvSpPr>
            <p:spPr>
              <a:xfrm>
                <a:off x="1920" y="2880"/>
                <a:ext cx="1044" cy="288"/>
              </a:xfrm>
              <a:prstGeom prst="rect">
                <a:avLst/>
              </a:prstGeom>
              <a:noFill/>
              <a:ln w="9525">
                <a:noFill/>
              </a:ln>
            </p:spPr>
            <p:txBody>
              <a:bodyPr anchor="t" anchorCtr="0">
                <a:spAutoFit/>
              </a:bodyPr>
              <a:p>
                <a:pPr eaLnBrk="0" hangingPunct="0">
                  <a:spcBef>
                    <a:spcPct val="50000"/>
                  </a:spcBef>
                </a:pPr>
                <a:r>
                  <a:rPr lang="zh-CN" altLang="en-US" sz="2400" b="1" dirty="0">
                    <a:solidFill>
                      <a:schemeClr val="tx1"/>
                    </a:solidFill>
                    <a:latin typeface="Times New Roman" panose="02020603050405020304" pitchFamily="18" charset="0"/>
                    <a:ea typeface="宋体" panose="02010600030101010101" pitchFamily="2" charset="-122"/>
                  </a:rPr>
                  <a:t>(</a:t>
                </a:r>
                <a:endParaRPr lang="zh-CN" altLang="en-US" sz="2400" b="1" dirty="0">
                  <a:solidFill>
                    <a:schemeClr val="tx1"/>
                  </a:solidFill>
                  <a:latin typeface="Times New Roman" panose="02020603050405020304" pitchFamily="18" charset="0"/>
                  <a:ea typeface="宋体" panose="02010600030101010101" pitchFamily="2" charset="-122"/>
                </a:endParaRPr>
              </a:p>
            </p:txBody>
          </p:sp>
          <p:sp>
            <p:nvSpPr>
              <p:cNvPr id="85022" name="Text Box 30"/>
              <p:cNvSpPr txBox="1"/>
              <p:nvPr/>
            </p:nvSpPr>
            <p:spPr>
              <a:xfrm>
                <a:off x="2458" y="2907"/>
                <a:ext cx="1044" cy="288"/>
              </a:xfrm>
              <a:prstGeom prst="rect">
                <a:avLst/>
              </a:prstGeom>
              <a:noFill/>
              <a:ln w="9525">
                <a:noFill/>
              </a:ln>
            </p:spPr>
            <p:txBody>
              <a:bodyPr anchor="t" anchorCtr="0">
                <a:spAutoFit/>
              </a:bodyPr>
              <a:p>
                <a:pPr eaLnBrk="0" hangingPunct="0">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C</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85023" name="Text Box 31"/>
              <p:cNvSpPr txBox="1"/>
              <p:nvPr/>
            </p:nvSpPr>
            <p:spPr>
              <a:xfrm>
                <a:off x="2988" y="2880"/>
                <a:ext cx="1044" cy="288"/>
              </a:xfrm>
              <a:prstGeom prst="rect">
                <a:avLst/>
              </a:prstGeom>
              <a:noFill/>
              <a:ln w="9525">
                <a:noFill/>
              </a:ln>
            </p:spPr>
            <p:txBody>
              <a:bodyPr anchor="t" anchorCtr="0">
                <a:spAutoFit/>
              </a:bodyPr>
              <a:p>
                <a:pPr eaLnBrk="0" hangingPunct="0">
                  <a:spcBef>
                    <a:spcPct val="50000"/>
                  </a:spcBef>
                </a:pPr>
                <a:r>
                  <a:rPr lang="zh-CN" altLang="en-US" sz="2400" b="1" dirty="0">
                    <a:solidFill>
                      <a:schemeClr val="tx1"/>
                    </a:solidFill>
                    <a:latin typeface="Times New Roman" panose="02020603050405020304" pitchFamily="18" charset="0"/>
                    <a:ea typeface="宋体" panose="02010600030101010101" pitchFamily="2" charset="-122"/>
                  </a:rPr>
                  <a:t>)</a:t>
                </a:r>
                <a:endParaRPr lang="zh-CN" altLang="en-US" sz="2400" b="1" dirty="0">
                  <a:solidFill>
                    <a:schemeClr val="tx1"/>
                  </a:solidFill>
                  <a:latin typeface="Times New Roman" panose="02020603050405020304" pitchFamily="18" charset="0"/>
                  <a:ea typeface="宋体" panose="02010600030101010101" pitchFamily="2" charset="-122"/>
                </a:endParaRPr>
              </a:p>
            </p:txBody>
          </p:sp>
        </p:grpSp>
        <p:sp>
          <p:nvSpPr>
            <p:cNvPr id="85024" name="Text Box 32"/>
            <p:cNvSpPr txBox="1"/>
            <p:nvPr/>
          </p:nvSpPr>
          <p:spPr>
            <a:xfrm>
              <a:off x="3276" y="2544"/>
              <a:ext cx="636" cy="288"/>
            </a:xfrm>
            <a:prstGeom prst="rect">
              <a:avLst/>
            </a:prstGeom>
            <a:noFill/>
            <a:ln w="57150">
              <a:noFill/>
            </a:ln>
          </p:spPr>
          <p:txBody>
            <a:bodyPr anchor="t" anchorCtr="0">
              <a:spAutoFit/>
            </a:bodyPr>
            <a:p>
              <a:pPr algn="ctr" eaLnBrk="0" hangingPunct="0">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D</a:t>
              </a:r>
              <a:endParaRPr lang="en-US" altLang="zh-CN" sz="2400" b="1" dirty="0">
                <a:solidFill>
                  <a:schemeClr val="tx1"/>
                </a:solidFill>
                <a:latin typeface="Times New Roman" panose="02020603050405020304" pitchFamily="18" charset="0"/>
                <a:ea typeface="宋体" panose="02010600030101010101" pitchFamily="2" charset="-122"/>
              </a:endParaRPr>
            </a:p>
          </p:txBody>
        </p:sp>
      </p:grpSp>
      <p:sp>
        <p:nvSpPr>
          <p:cNvPr id="85025" name="Rectangle 33"/>
          <p:cNvSpPr>
            <a:spLocks noGrp="1"/>
          </p:cNvSpPr>
          <p:nvPr>
            <p:ph type="title"/>
          </p:nvPr>
        </p:nvSpPr>
        <p:spPr>
          <a:xfrm>
            <a:off x="685800" y="304800"/>
            <a:ext cx="7772400" cy="1143000"/>
          </a:xfrm>
        </p:spPr>
        <p:txBody>
          <a:bodyPr vert="horz" wrap="square" lIns="91440" tIns="45720" rIns="91440" bIns="45720" anchor="ctr" anchorCtr="0"/>
          <a:p>
            <a:pPr algn="l" eaLnBrk="1" hangingPunct="1"/>
            <a:r>
              <a:rPr lang="zh-CN" altLang="en-US" sz="3200" u="sng" dirty="0">
                <a:solidFill>
                  <a:srgbClr val="0000FF"/>
                </a:solidFill>
                <a:latin typeface="楷体_GB2312" pitchFamily="49" charset="-122"/>
                <a:ea typeface="楷体_GB2312" pitchFamily="49" charset="-122"/>
              </a:rPr>
              <a:t>字符串的向量存放方案</a:t>
            </a:r>
            <a:endParaRPr lang="zh-CN" altLang="en-US" sz="3200" u="sng" dirty="0">
              <a:solidFill>
                <a:srgbClr val="0000FF"/>
              </a:solidFill>
              <a:latin typeface="楷体_GB2312" pitchFamily="49" charset="-122"/>
              <a:ea typeface="楷体_GB2312" pitchFamily="49" charset="-122"/>
            </a:endParaRPr>
          </a:p>
        </p:txBody>
      </p:sp>
      <p:grpSp>
        <p:nvGrpSpPr>
          <p:cNvPr id="4" name="Group 34"/>
          <p:cNvGrpSpPr/>
          <p:nvPr/>
        </p:nvGrpSpPr>
        <p:grpSpPr>
          <a:xfrm>
            <a:off x="2781300" y="1314450"/>
            <a:ext cx="4343400" cy="4648200"/>
            <a:chOff x="3264" y="816"/>
            <a:chExt cx="2736" cy="2928"/>
          </a:xfrm>
        </p:grpSpPr>
        <p:sp>
          <p:nvSpPr>
            <p:cNvPr id="85027" name="Line 35"/>
            <p:cNvSpPr/>
            <p:nvPr/>
          </p:nvSpPr>
          <p:spPr>
            <a:xfrm>
              <a:off x="3264" y="979"/>
              <a:ext cx="0" cy="2618"/>
            </a:xfrm>
            <a:prstGeom prst="line">
              <a:avLst/>
            </a:prstGeom>
            <a:ln w="9525" cap="flat" cmpd="sng">
              <a:solidFill>
                <a:schemeClr val="tx1"/>
              </a:solidFill>
              <a:prstDash val="solid"/>
              <a:round/>
              <a:headEnd type="none" w="med" len="med"/>
              <a:tailEnd type="none" w="med" len="med"/>
            </a:ln>
          </p:spPr>
        </p:sp>
        <p:sp>
          <p:nvSpPr>
            <p:cNvPr id="85028" name="Line 36"/>
            <p:cNvSpPr/>
            <p:nvPr/>
          </p:nvSpPr>
          <p:spPr>
            <a:xfrm>
              <a:off x="5337" y="979"/>
              <a:ext cx="0" cy="2618"/>
            </a:xfrm>
            <a:prstGeom prst="line">
              <a:avLst/>
            </a:prstGeom>
            <a:ln w="9525" cap="flat" cmpd="sng">
              <a:solidFill>
                <a:schemeClr val="tx1"/>
              </a:solidFill>
              <a:prstDash val="solid"/>
              <a:round/>
              <a:headEnd type="none" w="med" len="med"/>
              <a:tailEnd type="none" w="med" len="med"/>
            </a:ln>
          </p:spPr>
        </p:sp>
        <p:sp>
          <p:nvSpPr>
            <p:cNvPr id="85029" name="Line 37"/>
            <p:cNvSpPr/>
            <p:nvPr/>
          </p:nvSpPr>
          <p:spPr>
            <a:xfrm>
              <a:off x="3264" y="1332"/>
              <a:ext cx="2073" cy="0"/>
            </a:xfrm>
            <a:prstGeom prst="line">
              <a:avLst/>
            </a:prstGeom>
            <a:ln w="9525" cap="flat" cmpd="sng">
              <a:solidFill>
                <a:schemeClr val="tx1"/>
              </a:solidFill>
              <a:prstDash val="solid"/>
              <a:round/>
              <a:headEnd type="none" w="med" len="med"/>
              <a:tailEnd type="none" w="med" len="med"/>
            </a:ln>
          </p:spPr>
        </p:sp>
        <p:sp>
          <p:nvSpPr>
            <p:cNvPr id="85030" name="Line 38"/>
            <p:cNvSpPr/>
            <p:nvPr/>
          </p:nvSpPr>
          <p:spPr>
            <a:xfrm>
              <a:off x="3264" y="1710"/>
              <a:ext cx="2073" cy="0"/>
            </a:xfrm>
            <a:prstGeom prst="line">
              <a:avLst/>
            </a:prstGeom>
            <a:ln w="9525" cap="flat" cmpd="sng">
              <a:solidFill>
                <a:schemeClr val="tx1"/>
              </a:solidFill>
              <a:prstDash val="solid"/>
              <a:round/>
              <a:headEnd type="none" w="med" len="med"/>
              <a:tailEnd type="none" w="med" len="med"/>
            </a:ln>
          </p:spPr>
        </p:sp>
        <p:sp>
          <p:nvSpPr>
            <p:cNvPr id="85031" name="Line 39"/>
            <p:cNvSpPr/>
            <p:nvPr/>
          </p:nvSpPr>
          <p:spPr>
            <a:xfrm>
              <a:off x="3264" y="2087"/>
              <a:ext cx="2073" cy="0"/>
            </a:xfrm>
            <a:prstGeom prst="line">
              <a:avLst/>
            </a:prstGeom>
            <a:ln w="9525" cap="flat" cmpd="sng">
              <a:solidFill>
                <a:schemeClr val="tx1"/>
              </a:solidFill>
              <a:prstDash val="solid"/>
              <a:round/>
              <a:headEnd type="none" w="med" len="med"/>
              <a:tailEnd type="none" w="med" len="med"/>
            </a:ln>
          </p:spPr>
        </p:sp>
        <p:sp>
          <p:nvSpPr>
            <p:cNvPr id="85032" name="Line 40"/>
            <p:cNvSpPr/>
            <p:nvPr/>
          </p:nvSpPr>
          <p:spPr>
            <a:xfrm>
              <a:off x="3264" y="2465"/>
              <a:ext cx="2073" cy="0"/>
            </a:xfrm>
            <a:prstGeom prst="line">
              <a:avLst/>
            </a:prstGeom>
            <a:ln w="9525" cap="flat" cmpd="sng">
              <a:solidFill>
                <a:schemeClr val="tx1"/>
              </a:solidFill>
              <a:prstDash val="solid"/>
              <a:round/>
              <a:headEnd type="none" w="med" len="med"/>
              <a:tailEnd type="none" w="med" len="med"/>
            </a:ln>
          </p:spPr>
        </p:sp>
        <p:sp>
          <p:nvSpPr>
            <p:cNvPr id="85033" name="Line 41"/>
            <p:cNvSpPr/>
            <p:nvPr/>
          </p:nvSpPr>
          <p:spPr>
            <a:xfrm>
              <a:off x="3264" y="2842"/>
              <a:ext cx="2073" cy="0"/>
            </a:xfrm>
            <a:prstGeom prst="line">
              <a:avLst/>
            </a:prstGeom>
            <a:ln w="9525" cap="flat" cmpd="sng">
              <a:solidFill>
                <a:schemeClr val="tx1"/>
              </a:solidFill>
              <a:prstDash val="solid"/>
              <a:round/>
              <a:headEnd type="none" w="med" len="med"/>
              <a:tailEnd type="none" w="med" len="med"/>
            </a:ln>
          </p:spPr>
        </p:sp>
        <p:sp>
          <p:nvSpPr>
            <p:cNvPr id="85034" name="Line 42"/>
            <p:cNvSpPr/>
            <p:nvPr/>
          </p:nvSpPr>
          <p:spPr>
            <a:xfrm>
              <a:off x="3264" y="3220"/>
              <a:ext cx="2073" cy="0"/>
            </a:xfrm>
            <a:prstGeom prst="line">
              <a:avLst/>
            </a:prstGeom>
            <a:ln w="9525" cap="flat" cmpd="sng">
              <a:solidFill>
                <a:schemeClr val="tx1"/>
              </a:solidFill>
              <a:prstDash val="solid"/>
              <a:round/>
              <a:headEnd type="none" w="med" len="med"/>
              <a:tailEnd type="none" w="med" len="med"/>
            </a:ln>
          </p:spPr>
        </p:sp>
        <p:sp>
          <p:nvSpPr>
            <p:cNvPr id="85035" name="Line 43"/>
            <p:cNvSpPr/>
            <p:nvPr/>
          </p:nvSpPr>
          <p:spPr>
            <a:xfrm>
              <a:off x="4301" y="1332"/>
              <a:ext cx="0" cy="1888"/>
            </a:xfrm>
            <a:prstGeom prst="line">
              <a:avLst/>
            </a:prstGeom>
            <a:ln w="9525" cap="flat" cmpd="sng">
              <a:solidFill>
                <a:schemeClr val="tx1"/>
              </a:solidFill>
              <a:prstDash val="solid"/>
              <a:round/>
              <a:headEnd type="none" w="med" len="med"/>
              <a:tailEnd type="none" w="med" len="med"/>
            </a:ln>
          </p:spPr>
        </p:sp>
        <p:sp>
          <p:nvSpPr>
            <p:cNvPr id="85036" name="Line 44"/>
            <p:cNvSpPr/>
            <p:nvPr/>
          </p:nvSpPr>
          <p:spPr>
            <a:xfrm>
              <a:off x="3782" y="1332"/>
              <a:ext cx="0" cy="1888"/>
            </a:xfrm>
            <a:prstGeom prst="line">
              <a:avLst/>
            </a:prstGeom>
            <a:ln w="9525" cap="flat" cmpd="sng">
              <a:solidFill>
                <a:schemeClr val="tx1"/>
              </a:solidFill>
              <a:prstDash val="solid"/>
              <a:round/>
              <a:headEnd type="none" w="med" len="med"/>
              <a:tailEnd type="none" w="med" len="med"/>
            </a:ln>
          </p:spPr>
        </p:sp>
        <p:sp>
          <p:nvSpPr>
            <p:cNvPr id="85037" name="Line 45"/>
            <p:cNvSpPr/>
            <p:nvPr/>
          </p:nvSpPr>
          <p:spPr>
            <a:xfrm>
              <a:off x="4819" y="1332"/>
              <a:ext cx="0" cy="1888"/>
            </a:xfrm>
            <a:prstGeom prst="line">
              <a:avLst/>
            </a:prstGeom>
            <a:ln w="9525" cap="flat" cmpd="sng">
              <a:solidFill>
                <a:schemeClr val="tx1"/>
              </a:solidFill>
              <a:prstDash val="solid"/>
              <a:round/>
              <a:headEnd type="none" w="med" len="med"/>
              <a:tailEnd type="none" w="med" len="med"/>
            </a:ln>
          </p:spPr>
        </p:sp>
        <p:sp>
          <p:nvSpPr>
            <p:cNvPr id="85038" name="Freeform 46"/>
            <p:cNvSpPr/>
            <p:nvPr/>
          </p:nvSpPr>
          <p:spPr>
            <a:xfrm>
              <a:off x="3264" y="816"/>
              <a:ext cx="2073" cy="317"/>
            </a:xfrm>
            <a:custGeom>
              <a:avLst/>
              <a:gdLst/>
              <a:ahLst/>
              <a:cxnLst>
                <a:cxn ang="0">
                  <a:pos x="0" y="54325"/>
                </a:cxn>
                <a:cxn ang="0">
                  <a:pos x="250601" y="6780"/>
                </a:cxn>
                <a:cxn ang="0">
                  <a:pos x="551059" y="94778"/>
                </a:cxn>
                <a:cxn ang="0">
                  <a:pos x="801663" y="54325"/>
                </a:cxn>
              </a:cxnLst>
              <a:pathLst>
                <a:path w="768" h="121">
                  <a:moveTo>
                    <a:pt x="0" y="64"/>
                  </a:moveTo>
                  <a:cubicBezTo>
                    <a:pt x="40" y="55"/>
                    <a:pt x="152" y="0"/>
                    <a:pt x="240" y="8"/>
                  </a:cubicBezTo>
                  <a:cubicBezTo>
                    <a:pt x="328" y="16"/>
                    <a:pt x="440" y="103"/>
                    <a:pt x="528" y="112"/>
                  </a:cubicBezTo>
                  <a:cubicBezTo>
                    <a:pt x="616" y="121"/>
                    <a:pt x="728" y="72"/>
                    <a:pt x="768" y="64"/>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5039" name="Freeform 47"/>
            <p:cNvSpPr/>
            <p:nvPr/>
          </p:nvSpPr>
          <p:spPr>
            <a:xfrm>
              <a:off x="3264" y="3450"/>
              <a:ext cx="2073" cy="294"/>
            </a:xfrm>
            <a:custGeom>
              <a:avLst/>
              <a:gdLst/>
              <a:ahLst/>
              <a:cxnLst>
                <a:cxn ang="0">
                  <a:pos x="0" y="48098"/>
                </a:cxn>
                <a:cxn ang="0">
                  <a:pos x="250601" y="6836"/>
                </a:cxn>
                <a:cxn ang="0">
                  <a:pos x="551059" y="89358"/>
                </a:cxn>
                <a:cxn ang="0">
                  <a:pos x="801663" y="48098"/>
                </a:cxn>
              </a:cxnLst>
              <a:pathLst>
                <a:path w="768" h="112">
                  <a:moveTo>
                    <a:pt x="0" y="56"/>
                  </a:moveTo>
                  <a:cubicBezTo>
                    <a:pt x="76" y="28"/>
                    <a:pt x="152" y="0"/>
                    <a:pt x="240" y="8"/>
                  </a:cubicBezTo>
                  <a:cubicBezTo>
                    <a:pt x="328" y="16"/>
                    <a:pt x="440" y="96"/>
                    <a:pt x="528" y="104"/>
                  </a:cubicBezTo>
                  <a:cubicBezTo>
                    <a:pt x="616" y="112"/>
                    <a:pt x="728" y="64"/>
                    <a:pt x="768" y="56"/>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5040" name="Rectangle 48"/>
            <p:cNvSpPr/>
            <p:nvPr/>
          </p:nvSpPr>
          <p:spPr>
            <a:xfrm>
              <a:off x="3264" y="1320"/>
              <a:ext cx="2088" cy="1896"/>
            </a:xfrm>
            <a:prstGeom prst="rect">
              <a:avLst/>
            </a:prstGeom>
            <a:solidFill>
              <a:srgbClr val="FFFF00"/>
            </a:solidFill>
            <a:ln w="12700" cap="sq" cmpd="sng">
              <a:solidFill>
                <a:srgbClr val="7A48C4"/>
              </a:solidFill>
              <a:prstDash val="solid"/>
              <a:miter/>
              <a:headEnd type="none" w="sm" len="sm"/>
              <a:tailEnd type="none" w="sm" len="sm"/>
            </a:ln>
          </p:spPr>
          <p:txBody>
            <a:bodyPr wrap="none" anchor="ctr" anchorCtr="0"/>
            <a:p>
              <a:pPr algn="ctr" eaLnBrk="0" hangingPunct="0"/>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85041" name="Line 49"/>
            <p:cNvSpPr/>
            <p:nvPr/>
          </p:nvSpPr>
          <p:spPr>
            <a:xfrm>
              <a:off x="3264" y="1716"/>
              <a:ext cx="2088" cy="0"/>
            </a:xfrm>
            <a:prstGeom prst="line">
              <a:avLst/>
            </a:prstGeom>
            <a:ln w="12700" cap="sq" cmpd="sng">
              <a:solidFill>
                <a:srgbClr val="7A48C4"/>
              </a:solidFill>
              <a:prstDash val="solid"/>
              <a:round/>
              <a:headEnd type="none" w="sm" len="sm"/>
              <a:tailEnd type="none" w="sm" len="sm"/>
            </a:ln>
          </p:spPr>
        </p:sp>
        <p:sp>
          <p:nvSpPr>
            <p:cNvPr id="85042" name="Line 50"/>
            <p:cNvSpPr/>
            <p:nvPr/>
          </p:nvSpPr>
          <p:spPr>
            <a:xfrm>
              <a:off x="3264" y="2076"/>
              <a:ext cx="2088" cy="0"/>
            </a:xfrm>
            <a:prstGeom prst="line">
              <a:avLst/>
            </a:prstGeom>
            <a:ln w="12700" cap="sq" cmpd="sng">
              <a:solidFill>
                <a:srgbClr val="7A48C4"/>
              </a:solidFill>
              <a:prstDash val="solid"/>
              <a:round/>
              <a:headEnd type="none" w="sm" len="sm"/>
              <a:tailEnd type="none" w="sm" len="sm"/>
            </a:ln>
          </p:spPr>
        </p:sp>
        <p:sp>
          <p:nvSpPr>
            <p:cNvPr id="85043" name="Line 51"/>
            <p:cNvSpPr/>
            <p:nvPr/>
          </p:nvSpPr>
          <p:spPr>
            <a:xfrm>
              <a:off x="3264" y="2472"/>
              <a:ext cx="2088" cy="0"/>
            </a:xfrm>
            <a:prstGeom prst="line">
              <a:avLst/>
            </a:prstGeom>
            <a:ln w="12700" cap="sq" cmpd="sng">
              <a:solidFill>
                <a:srgbClr val="7A48C4"/>
              </a:solidFill>
              <a:prstDash val="solid"/>
              <a:round/>
              <a:headEnd type="none" w="sm" len="sm"/>
              <a:tailEnd type="none" w="sm" len="sm"/>
            </a:ln>
          </p:spPr>
        </p:sp>
        <p:sp>
          <p:nvSpPr>
            <p:cNvPr id="85044" name="Line 52"/>
            <p:cNvSpPr/>
            <p:nvPr/>
          </p:nvSpPr>
          <p:spPr>
            <a:xfrm>
              <a:off x="3264" y="2844"/>
              <a:ext cx="2088" cy="0"/>
            </a:xfrm>
            <a:prstGeom prst="line">
              <a:avLst/>
            </a:prstGeom>
            <a:ln w="12700" cap="sq" cmpd="sng">
              <a:solidFill>
                <a:srgbClr val="7A48C4"/>
              </a:solidFill>
              <a:prstDash val="solid"/>
              <a:round/>
              <a:headEnd type="none" w="sm" len="sm"/>
              <a:tailEnd type="none" w="sm" len="sm"/>
            </a:ln>
          </p:spPr>
        </p:sp>
        <p:sp>
          <p:nvSpPr>
            <p:cNvPr id="85045" name="Line 53"/>
            <p:cNvSpPr/>
            <p:nvPr/>
          </p:nvSpPr>
          <p:spPr>
            <a:xfrm>
              <a:off x="4308" y="1308"/>
              <a:ext cx="0" cy="1908"/>
            </a:xfrm>
            <a:prstGeom prst="line">
              <a:avLst/>
            </a:prstGeom>
            <a:ln w="12700" cap="sq" cmpd="sng">
              <a:solidFill>
                <a:srgbClr val="7A48C4"/>
              </a:solidFill>
              <a:prstDash val="solid"/>
              <a:round/>
              <a:headEnd type="none" w="sm" len="sm"/>
              <a:tailEnd type="none" w="sm" len="sm"/>
            </a:ln>
          </p:spPr>
        </p:sp>
        <p:sp>
          <p:nvSpPr>
            <p:cNvPr id="85046" name="Line 54"/>
            <p:cNvSpPr/>
            <p:nvPr/>
          </p:nvSpPr>
          <p:spPr>
            <a:xfrm>
              <a:off x="4836" y="1308"/>
              <a:ext cx="0" cy="1908"/>
            </a:xfrm>
            <a:prstGeom prst="line">
              <a:avLst/>
            </a:prstGeom>
            <a:ln w="12700" cap="sq" cmpd="sng">
              <a:solidFill>
                <a:srgbClr val="7A48C4"/>
              </a:solidFill>
              <a:prstDash val="solid"/>
              <a:round/>
              <a:headEnd type="none" w="sm" len="sm"/>
              <a:tailEnd type="none" w="sm" len="sm"/>
            </a:ln>
          </p:spPr>
        </p:sp>
        <p:sp>
          <p:nvSpPr>
            <p:cNvPr id="85047" name="Line 55"/>
            <p:cNvSpPr/>
            <p:nvPr/>
          </p:nvSpPr>
          <p:spPr>
            <a:xfrm>
              <a:off x="3804" y="1320"/>
              <a:ext cx="0" cy="1908"/>
            </a:xfrm>
            <a:prstGeom prst="line">
              <a:avLst/>
            </a:prstGeom>
            <a:ln w="12700" cap="sq" cmpd="sng">
              <a:solidFill>
                <a:srgbClr val="7A48C4"/>
              </a:solidFill>
              <a:prstDash val="solid"/>
              <a:round/>
              <a:headEnd type="none" w="sm" len="sm"/>
              <a:tailEnd type="none" w="sm" len="sm"/>
            </a:ln>
          </p:spPr>
        </p:sp>
        <p:sp>
          <p:nvSpPr>
            <p:cNvPr id="85048" name="Text Box 56"/>
            <p:cNvSpPr txBox="1"/>
            <p:nvPr/>
          </p:nvSpPr>
          <p:spPr>
            <a:xfrm>
              <a:off x="4947" y="1773"/>
              <a:ext cx="1053"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54</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49" name="Text Box 57"/>
            <p:cNvSpPr txBox="1"/>
            <p:nvPr/>
          </p:nvSpPr>
          <p:spPr>
            <a:xfrm>
              <a:off x="3360" y="1408"/>
              <a:ext cx="1053"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49</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50" name="Text Box 58"/>
            <p:cNvSpPr txBox="1"/>
            <p:nvPr/>
          </p:nvSpPr>
          <p:spPr>
            <a:xfrm>
              <a:off x="3895" y="1408"/>
              <a:ext cx="1052"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46</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51" name="Text Box 59"/>
            <p:cNvSpPr txBox="1"/>
            <p:nvPr/>
          </p:nvSpPr>
          <p:spPr>
            <a:xfrm>
              <a:off x="4429" y="1395"/>
              <a:ext cx="1053"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20</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52" name="Text Box 60"/>
            <p:cNvSpPr txBox="1"/>
            <p:nvPr/>
          </p:nvSpPr>
          <p:spPr>
            <a:xfrm>
              <a:off x="4429" y="1773"/>
              <a:ext cx="1053"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20</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53" name="Text Box 61"/>
            <p:cNvSpPr txBox="1"/>
            <p:nvPr/>
          </p:nvSpPr>
          <p:spPr>
            <a:xfrm>
              <a:off x="4947" y="2138"/>
              <a:ext cx="1053"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20</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54" name="Text Box 62"/>
            <p:cNvSpPr txBox="1"/>
            <p:nvPr/>
          </p:nvSpPr>
          <p:spPr>
            <a:xfrm>
              <a:off x="4947" y="2906"/>
              <a:ext cx="1053"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20</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55" name="Text Box 63"/>
            <p:cNvSpPr txBox="1"/>
            <p:nvPr/>
          </p:nvSpPr>
          <p:spPr>
            <a:xfrm>
              <a:off x="3895" y="1786"/>
              <a:ext cx="1052"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30</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56" name="Text Box 64"/>
            <p:cNvSpPr txBox="1"/>
            <p:nvPr/>
          </p:nvSpPr>
          <p:spPr>
            <a:xfrm>
              <a:off x="3895" y="2163"/>
              <a:ext cx="1052"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45</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57" name="Text Box 65"/>
            <p:cNvSpPr txBox="1"/>
            <p:nvPr/>
          </p:nvSpPr>
          <p:spPr>
            <a:xfrm>
              <a:off x="3888" y="2534"/>
              <a:ext cx="1052"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45</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58" name="Text Box 66"/>
            <p:cNvSpPr txBox="1"/>
            <p:nvPr/>
          </p:nvSpPr>
          <p:spPr>
            <a:xfrm>
              <a:off x="4429" y="2525"/>
              <a:ext cx="1053"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41</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59" name="Text Box 67"/>
            <p:cNvSpPr txBox="1"/>
            <p:nvPr/>
          </p:nvSpPr>
          <p:spPr>
            <a:xfrm>
              <a:off x="4947" y="2525"/>
              <a:ext cx="1053"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44</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60" name="Text Box 68"/>
            <p:cNvSpPr txBox="1"/>
            <p:nvPr/>
          </p:nvSpPr>
          <p:spPr>
            <a:xfrm>
              <a:off x="3376" y="2163"/>
              <a:ext cx="1053"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48</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61" name="Text Box 69"/>
            <p:cNvSpPr txBox="1"/>
            <p:nvPr/>
          </p:nvSpPr>
          <p:spPr>
            <a:xfrm>
              <a:off x="3360" y="2544"/>
              <a:ext cx="1053"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52</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62" name="Text Box 70"/>
            <p:cNvSpPr txBox="1"/>
            <p:nvPr/>
          </p:nvSpPr>
          <p:spPr>
            <a:xfrm>
              <a:off x="3911" y="2918"/>
              <a:ext cx="1052"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43</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63" name="Text Box 71"/>
            <p:cNvSpPr txBox="1"/>
            <p:nvPr/>
          </p:nvSpPr>
          <p:spPr>
            <a:xfrm>
              <a:off x="3360" y="1786"/>
              <a:ext cx="1053"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3</a:t>
              </a:r>
              <a:r>
                <a:rPr lang="en-US" altLang="zh-CN" sz="2400" b="1" dirty="0">
                  <a:solidFill>
                    <a:srgbClr val="FF0000"/>
                  </a:solidFill>
                  <a:latin typeface="Times New Roman" panose="02020603050405020304" pitchFamily="18" charset="0"/>
                  <a:ea typeface="宋体" panose="02010600030101010101" pitchFamily="2" charset="-122"/>
                </a:rPr>
                <a:t>E</a:t>
              </a:r>
              <a:endParaRPr lang="en-US" altLang="zh-CN" sz="2400" b="1" dirty="0">
                <a:solidFill>
                  <a:srgbClr val="FF0000"/>
                </a:solidFill>
                <a:latin typeface="Times New Roman" panose="02020603050405020304" pitchFamily="18" charset="0"/>
                <a:ea typeface="宋体" panose="02010600030101010101" pitchFamily="2" charset="-122"/>
              </a:endParaRPr>
            </a:p>
          </p:txBody>
        </p:sp>
        <p:sp>
          <p:nvSpPr>
            <p:cNvPr id="85064" name="Text Box 72"/>
            <p:cNvSpPr txBox="1"/>
            <p:nvPr/>
          </p:nvSpPr>
          <p:spPr>
            <a:xfrm>
              <a:off x="4429" y="2918"/>
              <a:ext cx="1053"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29</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65" name="Text Box 73"/>
            <p:cNvSpPr txBox="1"/>
            <p:nvPr/>
          </p:nvSpPr>
          <p:spPr>
            <a:xfrm>
              <a:off x="3360" y="2918"/>
              <a:ext cx="1053"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28</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66" name="Text Box 74"/>
            <p:cNvSpPr txBox="1"/>
            <p:nvPr/>
          </p:nvSpPr>
          <p:spPr>
            <a:xfrm>
              <a:off x="4947" y="1396"/>
              <a:ext cx="1053"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58</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85067" name="Text Box 75"/>
            <p:cNvSpPr txBox="1"/>
            <p:nvPr/>
          </p:nvSpPr>
          <p:spPr>
            <a:xfrm>
              <a:off x="4429" y="2150"/>
              <a:ext cx="1053" cy="288"/>
            </a:xfrm>
            <a:prstGeom prst="rect">
              <a:avLst/>
            </a:prstGeom>
            <a:noFill/>
            <a:ln w="9525">
              <a:noFill/>
            </a:ln>
          </p:spPr>
          <p:txBody>
            <a:bodyPr anchor="t" anchorCtr="0">
              <a:spAutoFit/>
            </a:bodyPr>
            <a:p>
              <a:pPr eaLnBrk="0" hangingPunct="0">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4</a:t>
              </a:r>
              <a:r>
                <a:rPr lang="en-US" altLang="zh-CN" sz="2400" b="1" dirty="0">
                  <a:solidFill>
                    <a:srgbClr val="FF0000"/>
                  </a:solidFill>
                  <a:latin typeface="Times New Roman" panose="02020603050405020304" pitchFamily="18" charset="0"/>
                  <a:ea typeface="宋体" panose="02010600030101010101" pitchFamily="2" charset="-122"/>
                </a:rPr>
                <a:t>E</a:t>
              </a:r>
              <a:endParaRPr lang="en-US" altLang="zh-CN" sz="2400" b="1" dirty="0">
                <a:solidFill>
                  <a:srgbClr val="FF0000"/>
                </a:solidFill>
                <a:latin typeface="Times New Roman" panose="02020603050405020304" pitchFamily="18" charset="0"/>
                <a:ea typeface="宋体" panose="02010600030101010101" pitchFamily="2" charset="-122"/>
              </a:endParaRPr>
            </a:p>
          </p:txBody>
        </p:sp>
      </p:grpSp>
      <p:sp>
        <p:nvSpPr>
          <p:cNvPr id="85068" name="Rectangle 76"/>
          <p:cNvSpPr>
            <a:spLocks noGrp="1"/>
          </p:cNvSpPr>
          <p:nvPr>
            <p:ph idx="1"/>
          </p:nvPr>
        </p:nvSpPr>
        <p:spPr>
          <a:xfrm>
            <a:off x="685800" y="6019800"/>
            <a:ext cx="7772400" cy="685800"/>
          </a:xfrm>
        </p:spPr>
        <p:txBody>
          <a:bodyPr vert="horz" wrap="square" lIns="91440" tIns="45720" rIns="91440" bIns="45720" anchor="t" anchorCtr="0"/>
          <a:p>
            <a:pPr algn="ctr" eaLnBrk="1" hangingPunct="1">
              <a:buNone/>
            </a:pPr>
            <a:r>
              <a:rPr lang="zh-CN" altLang="en-US" sz="2400" b="1" dirty="0"/>
              <a:t>图2-7 字符串的向量存放方案</a:t>
            </a:r>
            <a:endParaRPr lang="zh-CN" altLang="en-US" sz="24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86018" name="Rectangle 2"/>
          <p:cNvSpPr>
            <a:spLocks noGrp="1"/>
          </p:cNvSpPr>
          <p:nvPr>
            <p:ph type="body" idx="4294967295"/>
          </p:nvPr>
        </p:nvSpPr>
        <p:spPr>
          <a:xfrm>
            <a:off x="533400" y="1295400"/>
            <a:ext cx="7924800" cy="5257800"/>
          </a:xfrm>
        </p:spPr>
        <p:txBody>
          <a:bodyPr vert="horz" wrap="square" lIns="91440" tIns="45720" rIns="91440" bIns="45720" anchor="t" anchorCtr="0"/>
          <a:p>
            <a:pPr eaLnBrk="1" hangingPunct="1">
              <a:buNone/>
            </a:pPr>
            <a:r>
              <a:rPr lang="zh-CN" altLang="en-US" b="1" dirty="0">
                <a:solidFill>
                  <a:schemeClr val="accent2"/>
                </a:solidFill>
                <a:ea typeface="楷体_GB2312" pitchFamily="49" charset="-122"/>
              </a:rPr>
              <a:t>1.汉字国标码</a:t>
            </a:r>
            <a:endParaRPr lang="zh-CN" altLang="en-US" b="1" dirty="0">
              <a:solidFill>
                <a:schemeClr val="accent2"/>
              </a:solidFill>
              <a:ea typeface="楷体_GB2312" pitchFamily="49" charset="-122"/>
            </a:endParaRPr>
          </a:p>
          <a:p>
            <a:pPr eaLnBrk="1" hangingPunct="1">
              <a:buNone/>
            </a:pPr>
            <a:r>
              <a:rPr lang="zh-CN" altLang="en-US" b="1" dirty="0">
                <a:ea typeface="楷体_GB2312" pitchFamily="49" charset="-122"/>
              </a:rPr>
              <a:t>            汉字国标码亦可称为汉字交换码，主要用于汉字信息处理系统之间或者通信系统之间交换信息使用，简称</a:t>
            </a:r>
            <a:r>
              <a:rPr lang="en-US" altLang="zh-CN" b="1" dirty="0">
                <a:ea typeface="楷体_GB2312" pitchFamily="49" charset="-122"/>
              </a:rPr>
              <a:t>GB</a:t>
            </a:r>
            <a:r>
              <a:rPr lang="zh-CN" altLang="en-US" b="1" dirty="0">
                <a:ea typeface="楷体_GB2312" pitchFamily="49" charset="-122"/>
              </a:rPr>
              <a:t>码。该标准共收集</a:t>
            </a:r>
            <a:r>
              <a:rPr lang="zh-CN" altLang="en-US" b="1" dirty="0">
                <a:solidFill>
                  <a:srgbClr val="FF0000"/>
                </a:solidFill>
                <a:ea typeface="楷体_GB2312" pitchFamily="49" charset="-122"/>
              </a:rPr>
              <a:t>常用汉字6 763个，另外还有各种图形符号682个，共计7 445个</a:t>
            </a:r>
            <a:r>
              <a:rPr lang="zh-CN" altLang="en-US" b="1" dirty="0">
                <a:ea typeface="楷体_GB2312" pitchFamily="49" charset="-122"/>
              </a:rPr>
              <a:t>。</a:t>
            </a:r>
            <a:endParaRPr lang="zh-CN" altLang="en-US" b="1" dirty="0">
              <a:ea typeface="楷体_GB2312" pitchFamily="49" charset="-122"/>
            </a:endParaRPr>
          </a:p>
          <a:p>
            <a:pPr eaLnBrk="1" hangingPunct="1">
              <a:buNone/>
            </a:pPr>
            <a:r>
              <a:rPr lang="en-US" altLang="zh-CN" b="1" dirty="0">
                <a:ea typeface="楷体_GB2312" pitchFamily="49" charset="-122"/>
              </a:rPr>
              <a:t>            GB</a:t>
            </a:r>
            <a:r>
              <a:rPr lang="zh-CN" altLang="en-US" b="1" dirty="0">
                <a:ea typeface="楷体_GB2312" pitchFamily="49" charset="-122"/>
              </a:rPr>
              <a:t>码规定每个汉字、图形符号都用两个字节表示，每个字节只使用低七位编码，因此最多能表示出128×128=16 384个汉字。 </a:t>
            </a:r>
            <a:endParaRPr lang="en-US" altLang="zh-CN" b="1" dirty="0">
              <a:ea typeface="楷体_GB2312" pitchFamily="49" charset="-122"/>
            </a:endParaRPr>
          </a:p>
        </p:txBody>
      </p:sp>
      <p:sp>
        <p:nvSpPr>
          <p:cNvPr id="86019" name="Rectangle 3"/>
          <p:cNvSpPr>
            <a:spLocks noGrp="1"/>
          </p:cNvSpPr>
          <p:nvPr>
            <p:ph type="title" idx="4294967295"/>
          </p:nvPr>
        </p:nvSpPr>
        <p:spPr>
          <a:xfrm>
            <a:off x="685800" y="381000"/>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2.3.2  汉字的表示</a:t>
            </a:r>
            <a:endParaRPr lang="zh-CN" altLang="en-US" sz="3600" dirty="0"/>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87042" name="Rectangle 2"/>
          <p:cNvSpPr>
            <a:spLocks noGrp="1"/>
          </p:cNvSpPr>
          <p:nvPr>
            <p:ph type="body" idx="4294967295"/>
          </p:nvPr>
        </p:nvSpPr>
        <p:spPr>
          <a:xfrm>
            <a:off x="533400" y="1295400"/>
            <a:ext cx="7924800" cy="4953000"/>
          </a:xfrm>
        </p:spPr>
        <p:txBody>
          <a:bodyPr vert="horz" wrap="square" lIns="91440" tIns="45720" rIns="91440" bIns="45720" anchor="t" anchorCtr="0"/>
          <a:p>
            <a:pPr eaLnBrk="1" hangingPunct="1">
              <a:lnSpc>
                <a:spcPct val="90000"/>
              </a:lnSpc>
              <a:buNone/>
            </a:pPr>
            <a:r>
              <a:rPr lang="zh-CN" altLang="en-US" b="1" dirty="0">
                <a:ea typeface="楷体_GB2312" pitchFamily="49" charset="-122"/>
              </a:rPr>
              <a:t>            区位码将汉字编码码中的6 763个汉字分为94个区，每个区中包含94个汉字（位），区和位组成一个二维数组，每个汉字在数组中对应一个唯一的区位码。汉字的区位码定长4位，前2位表示区号，后2位表示位号，区号和位号用十进制数表示，区号从01到94，位号也从01到94。例如，“中”字在54区的48位上，其区位码为“54-48”，“国”字在25区的90位上，其区位码为“25-90”。 </a:t>
            </a:r>
            <a:endParaRPr lang="en-US" altLang="zh-CN" b="1" dirty="0">
              <a:ea typeface="楷体_GB2312" pitchFamily="49" charset="-122"/>
            </a:endParaRPr>
          </a:p>
        </p:txBody>
      </p:sp>
      <p:sp>
        <p:nvSpPr>
          <p:cNvPr id="87043" name="Rectangle 3"/>
          <p:cNvSpPr>
            <a:spLocks noGrp="1"/>
          </p:cNvSpPr>
          <p:nvPr>
            <p:ph type="title" idx="4294967295"/>
          </p:nvPr>
        </p:nvSpPr>
        <p:spPr>
          <a:xfrm>
            <a:off x="685800" y="3810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2.汉字</a:t>
            </a:r>
            <a:endParaRPr lang="zh-CN" altLang="en-US" sz="3200" dirty="0">
              <a:solidFill>
                <a:schemeClr val="accent2"/>
              </a:solidFill>
              <a:ea typeface="楷体_GB2312" pitchFamily="49" charset="-122"/>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88066" name="Rectangle 2"/>
          <p:cNvSpPr>
            <a:spLocks noGrp="1"/>
          </p:cNvSpPr>
          <p:nvPr>
            <p:ph type="body" idx="4294967295"/>
          </p:nvPr>
        </p:nvSpPr>
        <p:spPr>
          <a:xfrm>
            <a:off x="533400" y="1143000"/>
            <a:ext cx="7924800" cy="5334000"/>
          </a:xfrm>
        </p:spPr>
        <p:txBody>
          <a:bodyPr vert="horz" wrap="square" lIns="91440" tIns="45720" rIns="91440" bIns="45720" anchor="t" anchorCtr="0"/>
          <a:p>
            <a:pPr eaLnBrk="1" hangingPunct="1">
              <a:lnSpc>
                <a:spcPct val="90000"/>
              </a:lnSpc>
              <a:buNone/>
            </a:pPr>
            <a:r>
              <a:rPr lang="zh-CN" altLang="en-US" sz="2800" b="1" dirty="0">
                <a:ea typeface="楷体_GB2312" pitchFamily="49" charset="-122"/>
              </a:rPr>
              <a:t>            需要注意的是：汉字区位码并不等于汉字国标码，它们两者之间的关系可用以下公式表示：</a:t>
            </a:r>
            <a:endParaRPr lang="zh-CN" altLang="en-US" sz="2800" b="1" dirty="0">
              <a:ea typeface="楷体_GB2312" pitchFamily="49" charset="-122"/>
            </a:endParaRPr>
          </a:p>
          <a:p>
            <a:pPr algn="just" eaLnBrk="1" hangingPunct="1">
              <a:lnSpc>
                <a:spcPct val="90000"/>
              </a:lnSpc>
              <a:buNone/>
            </a:pPr>
            <a:r>
              <a:rPr lang="zh-CN" altLang="en-US" sz="2800" b="1" dirty="0">
                <a:ea typeface="楷体_GB2312" pitchFamily="49" charset="-122"/>
              </a:rPr>
              <a:t>            </a:t>
            </a:r>
            <a:r>
              <a:rPr lang="zh-CN" altLang="en-US" sz="2800" b="1" dirty="0">
                <a:solidFill>
                  <a:srgbClr val="FF3300"/>
                </a:solidFill>
                <a:ea typeface="楷体_GB2312" pitchFamily="49" charset="-122"/>
              </a:rPr>
              <a:t>国标码＝区位码（十六进制）＋2020</a:t>
            </a:r>
            <a:r>
              <a:rPr lang="en-US" altLang="zh-CN" sz="2800" b="1" dirty="0">
                <a:solidFill>
                  <a:srgbClr val="FF3300"/>
                </a:solidFill>
                <a:ea typeface="楷体_GB2312" pitchFamily="49" charset="-122"/>
              </a:rPr>
              <a:t>H</a:t>
            </a:r>
            <a:endParaRPr lang="en-US" altLang="zh-CN" sz="2800" b="1" dirty="0">
              <a:solidFill>
                <a:srgbClr val="FF3300"/>
              </a:solidFill>
              <a:ea typeface="楷体_GB2312" pitchFamily="49" charset="-122"/>
            </a:endParaRPr>
          </a:p>
          <a:p>
            <a:pPr algn="just" eaLnBrk="1" hangingPunct="1">
              <a:lnSpc>
                <a:spcPct val="90000"/>
              </a:lnSpc>
              <a:buNone/>
            </a:pPr>
            <a:r>
              <a:rPr lang="zh-CN" altLang="en-US" sz="2800" b="1" dirty="0">
                <a:ea typeface="楷体_GB2312" pitchFamily="49" charset="-122"/>
              </a:rPr>
              <a:t>    例15：已知汉字“春”的区位码为“20-26”，计算它的国标码。</a:t>
            </a:r>
            <a:endParaRPr lang="zh-CN" altLang="en-US" sz="2800" b="1" dirty="0">
              <a:ea typeface="楷体_GB2312" pitchFamily="49" charset="-122"/>
            </a:endParaRPr>
          </a:p>
          <a:p>
            <a:pPr algn="just" eaLnBrk="1" hangingPunct="1">
              <a:lnSpc>
                <a:spcPct val="90000"/>
              </a:lnSpc>
              <a:buNone/>
            </a:pPr>
            <a:r>
              <a:rPr lang="zh-CN" altLang="en-US" sz="2800" b="1" dirty="0">
                <a:ea typeface="楷体_GB2312" pitchFamily="49" charset="-122"/>
              </a:rPr>
              <a:t>            区位码：第1字节    第2字节</a:t>
            </a:r>
            <a:endParaRPr lang="zh-CN" altLang="en-US" sz="2800" b="1" dirty="0">
              <a:ea typeface="楷体_GB2312" pitchFamily="49" charset="-122"/>
            </a:endParaRPr>
          </a:p>
          <a:p>
            <a:pPr algn="just" eaLnBrk="1" hangingPunct="1">
              <a:lnSpc>
                <a:spcPct val="90000"/>
              </a:lnSpc>
              <a:buNone/>
            </a:pPr>
            <a:r>
              <a:rPr lang="zh-CN" altLang="en-US" sz="2800" b="1" dirty="0">
                <a:ea typeface="楷体_GB2312" pitchFamily="49" charset="-122"/>
              </a:rPr>
              <a:t>                                   20            26        十进制</a:t>
            </a:r>
            <a:endParaRPr lang="zh-CN" altLang="en-US" sz="2800" b="1" dirty="0">
              <a:ea typeface="楷体_GB2312" pitchFamily="49" charset="-122"/>
            </a:endParaRPr>
          </a:p>
          <a:p>
            <a:pPr algn="just" eaLnBrk="1" hangingPunct="1">
              <a:lnSpc>
                <a:spcPct val="90000"/>
              </a:lnSpc>
              <a:buNone/>
            </a:pPr>
            <a:r>
              <a:rPr lang="zh-CN" altLang="en-US" sz="2800" b="1" dirty="0">
                <a:ea typeface="楷体_GB2312" pitchFamily="49" charset="-122"/>
              </a:rPr>
              <a:t>                                   ↓            ↓</a:t>
            </a:r>
            <a:endParaRPr lang="zh-CN" altLang="en-US" sz="2800" b="1" dirty="0">
              <a:ea typeface="楷体_GB2312" pitchFamily="49" charset="-122"/>
            </a:endParaRPr>
          </a:p>
          <a:p>
            <a:pPr algn="just" eaLnBrk="1" hangingPunct="1">
              <a:lnSpc>
                <a:spcPct val="90000"/>
              </a:lnSpc>
              <a:buNone/>
            </a:pPr>
            <a:r>
              <a:rPr lang="zh-CN" altLang="en-US" sz="2800" b="1" dirty="0">
                <a:ea typeface="楷体_GB2312" pitchFamily="49" charset="-122"/>
              </a:rPr>
              <a:t>                                  14</a:t>
            </a:r>
            <a:r>
              <a:rPr lang="en-US" altLang="zh-CN" sz="2800" b="1" dirty="0">
                <a:ea typeface="楷体_GB2312" pitchFamily="49" charset="-122"/>
              </a:rPr>
              <a:t>H         1AH     </a:t>
            </a:r>
            <a:r>
              <a:rPr lang="zh-CN" altLang="en-US" sz="2800" b="1" dirty="0">
                <a:ea typeface="楷体_GB2312" pitchFamily="49" charset="-122"/>
              </a:rPr>
              <a:t>十六进制</a:t>
            </a:r>
            <a:endParaRPr lang="zh-CN" altLang="en-US" sz="2800" b="1" dirty="0">
              <a:ea typeface="楷体_GB2312" pitchFamily="49" charset="-122"/>
            </a:endParaRPr>
          </a:p>
          <a:p>
            <a:pPr algn="just" eaLnBrk="1" hangingPunct="1">
              <a:lnSpc>
                <a:spcPct val="90000"/>
              </a:lnSpc>
              <a:buNone/>
            </a:pPr>
            <a:r>
              <a:rPr lang="zh-CN" altLang="en-US" sz="2800" b="1" dirty="0">
                <a:ea typeface="楷体_GB2312" pitchFamily="49" charset="-122"/>
              </a:rPr>
              <a:t>                                +20</a:t>
            </a:r>
            <a:r>
              <a:rPr lang="en-US" altLang="zh-CN" sz="2800" b="1" dirty="0">
                <a:ea typeface="楷体_GB2312" pitchFamily="49" charset="-122"/>
              </a:rPr>
              <a:t>H       +20H</a:t>
            </a:r>
            <a:endParaRPr lang="en-US" altLang="zh-CN" sz="2800" b="1" dirty="0">
              <a:ea typeface="楷体_GB2312" pitchFamily="49" charset="-122"/>
            </a:endParaRPr>
          </a:p>
          <a:p>
            <a:pPr algn="just" eaLnBrk="1" hangingPunct="1">
              <a:lnSpc>
                <a:spcPct val="90000"/>
              </a:lnSpc>
              <a:buNone/>
            </a:pPr>
            <a:r>
              <a:rPr lang="en-US" altLang="zh-CN" sz="2800" b="1" dirty="0">
                <a:ea typeface="楷体_GB2312" pitchFamily="49" charset="-122"/>
              </a:rPr>
              <a:t>            </a:t>
            </a:r>
            <a:r>
              <a:rPr lang="zh-CN" altLang="en-US" sz="2800" b="1" dirty="0">
                <a:ea typeface="楷体_GB2312" pitchFamily="49" charset="-122"/>
              </a:rPr>
              <a:t>国标码：      34</a:t>
            </a:r>
            <a:r>
              <a:rPr lang="en-US" altLang="zh-CN" sz="2800" b="1" dirty="0">
                <a:ea typeface="楷体_GB2312" pitchFamily="49" charset="-122"/>
              </a:rPr>
              <a:t>H         3AH</a:t>
            </a:r>
            <a:endParaRPr lang="en-US" altLang="zh-CN" sz="2800" b="1" dirty="0">
              <a:ea typeface="楷体_GB2312" pitchFamily="49" charset="-122"/>
            </a:endParaRPr>
          </a:p>
        </p:txBody>
      </p:sp>
      <p:sp>
        <p:nvSpPr>
          <p:cNvPr id="88067" name="Rectangle 3"/>
          <p:cNvSpPr>
            <a:spLocks noGrp="1"/>
          </p:cNvSpPr>
          <p:nvPr>
            <p:ph type="title" idx="4294967295"/>
          </p:nvPr>
        </p:nvSpPr>
        <p:spPr>
          <a:xfrm>
            <a:off x="685800" y="3810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2.汉字区位码（续）</a:t>
            </a:r>
            <a:endParaRPr lang="zh-CN" altLang="en-US" sz="3200" dirty="0">
              <a:solidFill>
                <a:schemeClr val="accent2"/>
              </a:solidFill>
              <a:ea typeface="楷体_GB2312" pitchFamily="49" charset="-122"/>
            </a:endParaRPr>
          </a:p>
        </p:txBody>
      </p:sp>
      <p:sp>
        <p:nvSpPr>
          <p:cNvPr id="88068" name="Line 4"/>
          <p:cNvSpPr/>
          <p:nvPr/>
        </p:nvSpPr>
        <p:spPr>
          <a:xfrm>
            <a:off x="3048000" y="6019800"/>
            <a:ext cx="1295400" cy="0"/>
          </a:xfrm>
          <a:prstGeom prst="line">
            <a:avLst/>
          </a:prstGeom>
          <a:ln w="6350" cap="flat" cmpd="sng">
            <a:solidFill>
              <a:schemeClr val="tx1"/>
            </a:solidFill>
            <a:prstDash val="solid"/>
            <a:round/>
            <a:headEnd type="none" w="med" len="med"/>
            <a:tailEnd type="none" w="med" len="med"/>
          </a:ln>
        </p:spPr>
      </p:sp>
      <p:sp>
        <p:nvSpPr>
          <p:cNvPr id="88069" name="Line 5"/>
          <p:cNvSpPr/>
          <p:nvPr/>
        </p:nvSpPr>
        <p:spPr>
          <a:xfrm>
            <a:off x="4648200" y="6019800"/>
            <a:ext cx="1295400" cy="0"/>
          </a:xfrm>
          <a:prstGeom prst="line">
            <a:avLst/>
          </a:prstGeom>
          <a:ln w="6350" cap="flat" cmpd="sng">
            <a:solidFill>
              <a:schemeClr val="tx1"/>
            </a:solidFill>
            <a:prstDash val="solid"/>
            <a:round/>
            <a:headEnd type="none" w="med" len="med"/>
            <a:tailEnd type="none" w="med" len="med"/>
          </a:ln>
        </p:spPr>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89090" name="Rectangle 2"/>
          <p:cNvSpPr>
            <a:spLocks noGrp="1"/>
          </p:cNvSpPr>
          <p:nvPr>
            <p:ph type="body" idx="4294967295"/>
          </p:nvPr>
        </p:nvSpPr>
        <p:spPr>
          <a:xfrm>
            <a:off x="533400" y="1066800"/>
            <a:ext cx="7924800" cy="5791200"/>
          </a:xfrm>
        </p:spPr>
        <p:txBody>
          <a:bodyPr vert="horz" wrap="square" lIns="91440" tIns="45720" rIns="91440" bIns="45720" anchor="t" anchorCtr="0"/>
          <a:p>
            <a:pPr eaLnBrk="1" hangingPunct="1">
              <a:buNone/>
            </a:pPr>
            <a:r>
              <a:rPr lang="zh-CN" altLang="en-US" sz="2800" b="1" dirty="0">
                <a:ea typeface="楷体_GB2312" pitchFamily="49" charset="-122"/>
              </a:rPr>
              <a:t>            汉字在计算机内部其内码是唯一的。因为汉字处理系统要保证中西文的兼容，当系统中同时存在</a:t>
            </a:r>
            <a:r>
              <a:rPr lang="en-US" altLang="zh-CN" sz="2800" b="1" dirty="0">
                <a:ea typeface="楷体_GB2312" pitchFamily="49" charset="-122"/>
              </a:rPr>
              <a:t>ASCII</a:t>
            </a:r>
            <a:r>
              <a:rPr lang="zh-CN" altLang="en-US" sz="2800" b="1" dirty="0">
                <a:ea typeface="楷体_GB2312" pitchFamily="49" charset="-122"/>
              </a:rPr>
              <a:t>码和汉字国标码时，将会产生二义性。例如：有两个字节的内容为30</a:t>
            </a:r>
            <a:r>
              <a:rPr lang="en-US" altLang="zh-CN" sz="2800" b="1" dirty="0">
                <a:ea typeface="楷体_GB2312" pitchFamily="49" charset="-122"/>
              </a:rPr>
              <a:t>H</a:t>
            </a:r>
            <a:r>
              <a:rPr lang="zh-CN" altLang="en-US" sz="2800" b="1" dirty="0">
                <a:ea typeface="楷体_GB2312" pitchFamily="49" charset="-122"/>
              </a:rPr>
              <a:t>和21</a:t>
            </a:r>
            <a:r>
              <a:rPr lang="en-US" altLang="zh-CN" sz="2800" b="1" dirty="0">
                <a:ea typeface="楷体_GB2312" pitchFamily="49" charset="-122"/>
              </a:rPr>
              <a:t>H，</a:t>
            </a:r>
            <a:r>
              <a:rPr lang="zh-CN" altLang="en-US" sz="2800" b="1" dirty="0">
                <a:ea typeface="楷体_GB2312" pitchFamily="49" charset="-122"/>
              </a:rPr>
              <a:t>它既可表示汉字“啊”的国标码，又可表示西文“0”和“!”的</a:t>
            </a:r>
            <a:r>
              <a:rPr lang="en-US" altLang="zh-CN" sz="2800" b="1" dirty="0">
                <a:ea typeface="楷体_GB2312" pitchFamily="49" charset="-122"/>
              </a:rPr>
              <a:t>ASCII</a:t>
            </a:r>
            <a:r>
              <a:rPr lang="zh-CN" altLang="en-US" sz="2800" b="1" dirty="0">
                <a:ea typeface="楷体_GB2312" pitchFamily="49" charset="-122"/>
              </a:rPr>
              <a:t>码。为此，汉字机内码应对国标码加以适当处理和变换。</a:t>
            </a:r>
            <a:endParaRPr lang="zh-CN" altLang="en-US" sz="2800" b="1" dirty="0">
              <a:ea typeface="楷体_GB2312" pitchFamily="49" charset="-122"/>
            </a:endParaRPr>
          </a:p>
          <a:p>
            <a:pPr eaLnBrk="1" hangingPunct="1">
              <a:buNone/>
            </a:pPr>
            <a:r>
              <a:rPr lang="en-US" altLang="zh-CN" sz="2800" b="1" dirty="0">
                <a:ea typeface="楷体_GB2312" pitchFamily="49" charset="-122"/>
              </a:rPr>
              <a:t>            GB</a:t>
            </a:r>
            <a:r>
              <a:rPr lang="zh-CN" altLang="en-US" sz="2800" b="1" dirty="0">
                <a:ea typeface="楷体_GB2312" pitchFamily="49" charset="-122"/>
              </a:rPr>
              <a:t>码的机内码为二字节长的代码，它是在相应</a:t>
            </a:r>
            <a:r>
              <a:rPr lang="en-US" altLang="zh-CN" sz="2800" b="1" dirty="0">
                <a:ea typeface="楷体_GB2312" pitchFamily="49" charset="-122"/>
              </a:rPr>
              <a:t>GB</a:t>
            </a:r>
            <a:r>
              <a:rPr lang="zh-CN" altLang="en-US" sz="2800" b="1" dirty="0">
                <a:ea typeface="楷体_GB2312" pitchFamily="49" charset="-122"/>
              </a:rPr>
              <a:t>码的每个字节最高位上加“1”，即</a:t>
            </a:r>
            <a:endParaRPr lang="zh-CN" altLang="en-US" sz="2800" b="1" dirty="0">
              <a:ea typeface="楷体_GB2312" pitchFamily="49" charset="-122"/>
            </a:endParaRPr>
          </a:p>
          <a:p>
            <a:pPr eaLnBrk="1" hangingPunct="1">
              <a:buNone/>
            </a:pPr>
            <a:r>
              <a:rPr lang="zh-CN" altLang="en-US" sz="2800" b="1" dirty="0">
                <a:ea typeface="楷体_GB2312" pitchFamily="49" charset="-122"/>
              </a:rPr>
              <a:t>        啊</a:t>
            </a:r>
            <a:r>
              <a:rPr lang="en-US" altLang="zh-CN" sz="2800" b="1" dirty="0">
                <a:ea typeface="楷体_GB2312" pitchFamily="49" charset="-122"/>
              </a:rPr>
              <a:t>——</a:t>
            </a:r>
            <a:r>
              <a:rPr lang="en-US" altLang="zh-CN" sz="2800" b="1" dirty="0">
                <a:solidFill>
                  <a:srgbClr val="FF0000"/>
                </a:solidFill>
                <a:ea typeface="楷体_GB2312" pitchFamily="49" charset="-122"/>
              </a:rPr>
              <a:t>1</a:t>
            </a:r>
            <a:r>
              <a:rPr lang="en-US" altLang="zh-CN" sz="2800" b="1" dirty="0">
                <a:ea typeface="楷体_GB2312" pitchFamily="49" charset="-122"/>
              </a:rPr>
              <a:t>0110000 </a:t>
            </a:r>
            <a:r>
              <a:rPr lang="en-US" altLang="zh-CN" sz="2800" b="1" dirty="0">
                <a:solidFill>
                  <a:srgbClr val="FF0000"/>
                </a:solidFill>
                <a:ea typeface="楷体_GB2312" pitchFamily="49" charset="-122"/>
              </a:rPr>
              <a:t>1</a:t>
            </a:r>
            <a:r>
              <a:rPr lang="en-US" altLang="zh-CN" sz="2800" b="1" dirty="0">
                <a:ea typeface="楷体_GB2312" pitchFamily="49" charset="-122"/>
              </a:rPr>
              <a:t>0100001</a:t>
            </a:r>
            <a:endParaRPr lang="en-US" altLang="zh-CN" sz="2800" b="1" dirty="0">
              <a:ea typeface="楷体_GB2312" pitchFamily="49" charset="-122"/>
            </a:endParaRPr>
          </a:p>
          <a:p>
            <a:pPr eaLnBrk="1" hangingPunct="1">
              <a:buNone/>
            </a:pPr>
            <a:r>
              <a:rPr lang="zh-CN" altLang="en-US" sz="2800" b="1" dirty="0">
                <a:ea typeface="楷体_GB2312" pitchFamily="49" charset="-122"/>
              </a:rPr>
              <a:t>           </a:t>
            </a:r>
            <a:r>
              <a:rPr lang="zh-CN" altLang="en-US" sz="2800" b="1" dirty="0">
                <a:solidFill>
                  <a:srgbClr val="FF3300"/>
                </a:solidFill>
                <a:ea typeface="楷体_GB2312" pitchFamily="49" charset="-122"/>
              </a:rPr>
              <a:t>汉字机内码＝汉字国标码</a:t>
            </a:r>
            <a:r>
              <a:rPr lang="en-US" altLang="zh-CN" sz="2800" b="1" dirty="0">
                <a:solidFill>
                  <a:srgbClr val="FF3300"/>
                </a:solidFill>
                <a:ea typeface="楷体_GB2312" pitchFamily="49" charset="-122"/>
              </a:rPr>
              <a:t>H</a:t>
            </a:r>
            <a:r>
              <a:rPr lang="zh-CN" altLang="en-US" sz="2800" b="1" dirty="0">
                <a:solidFill>
                  <a:srgbClr val="FF3300"/>
                </a:solidFill>
                <a:ea typeface="楷体_GB2312" pitchFamily="49" charset="-122"/>
              </a:rPr>
              <a:t>＋8080</a:t>
            </a:r>
            <a:r>
              <a:rPr lang="en-US" altLang="zh-CN" sz="2800" b="1" dirty="0">
                <a:solidFill>
                  <a:srgbClr val="FF3300"/>
                </a:solidFill>
                <a:ea typeface="楷体_GB2312" pitchFamily="49" charset="-122"/>
              </a:rPr>
              <a:t>H</a:t>
            </a:r>
            <a:endParaRPr lang="en-US" altLang="zh-CN" sz="2800" b="1" dirty="0">
              <a:solidFill>
                <a:srgbClr val="FF3300"/>
              </a:solidFill>
              <a:ea typeface="楷体_GB2312" pitchFamily="49" charset="-122"/>
            </a:endParaRPr>
          </a:p>
          <a:p>
            <a:pPr eaLnBrk="1" hangingPunct="1">
              <a:buNone/>
            </a:pPr>
            <a:r>
              <a:rPr lang="zh-CN" altLang="en-US" sz="2800" b="1" dirty="0">
                <a:ea typeface="楷体_GB2312" pitchFamily="49" charset="-122"/>
              </a:rPr>
              <a:t>            例如，上述“啊”字的国标码是3021</a:t>
            </a:r>
            <a:r>
              <a:rPr lang="en-US" altLang="zh-CN" sz="2800" b="1" dirty="0">
                <a:ea typeface="楷体_GB2312" pitchFamily="49" charset="-122"/>
              </a:rPr>
              <a:t>H，</a:t>
            </a:r>
            <a:r>
              <a:rPr lang="zh-CN" altLang="en-US" sz="2800" b="1" dirty="0">
                <a:ea typeface="楷体_GB2312" pitchFamily="49" charset="-122"/>
              </a:rPr>
              <a:t>其汉字机内码则是</a:t>
            </a:r>
            <a:r>
              <a:rPr lang="en-US" altLang="zh-CN" sz="2800" b="1" dirty="0">
                <a:ea typeface="楷体_GB2312" pitchFamily="49" charset="-122"/>
              </a:rPr>
              <a:t>B0A1H。 </a:t>
            </a:r>
            <a:endParaRPr lang="en-US" altLang="zh-CN" sz="2800" b="1" dirty="0">
              <a:ea typeface="楷体_GB2312" pitchFamily="49" charset="-122"/>
            </a:endParaRPr>
          </a:p>
        </p:txBody>
      </p:sp>
      <p:sp>
        <p:nvSpPr>
          <p:cNvPr id="89091" name="Rectangle 3"/>
          <p:cNvSpPr>
            <a:spLocks noGrp="1"/>
          </p:cNvSpPr>
          <p:nvPr>
            <p:ph type="title" idx="4294967295"/>
          </p:nvPr>
        </p:nvSpPr>
        <p:spPr>
          <a:xfrm>
            <a:off x="685800" y="3048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3.汉字机内码 </a:t>
            </a:r>
            <a:endParaRPr lang="zh-CN" altLang="en-US" sz="3200" dirty="0">
              <a:solidFill>
                <a:schemeClr val="accent2"/>
              </a:solidFill>
              <a:ea typeface="楷体_GB2312" pitchFamily="49" charset="-122"/>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90114" name="Rectangle 2"/>
          <p:cNvSpPr>
            <a:spLocks noGrp="1"/>
          </p:cNvSpPr>
          <p:nvPr>
            <p:ph type="body" idx="4294967295"/>
          </p:nvPr>
        </p:nvSpPr>
        <p:spPr>
          <a:xfrm>
            <a:off x="533400" y="1066800"/>
            <a:ext cx="7924800" cy="5791200"/>
          </a:xfrm>
        </p:spPr>
        <p:txBody>
          <a:bodyPr vert="horz" wrap="square" lIns="91440" tIns="45720" rIns="91440" bIns="45720" anchor="t" anchorCtr="0"/>
          <a:p>
            <a:pPr marL="0" indent="0">
              <a:buNone/>
            </a:pPr>
            <a:r>
              <a:rPr lang="en-US" altLang="zh-CN" sz="2800" b="1" dirty="0"/>
              <a:t>         </a:t>
            </a:r>
            <a:r>
              <a:rPr lang="zh-CN" altLang="zh-CN" sz="2800" b="1" dirty="0"/>
              <a:t>汉字字形码是指确定一个汉字字形点阵的代码，又叫汉字字模码或汉字输出码。在一个汉字点阵中，凡笔画所到之处，记为“</a:t>
            </a:r>
            <a:r>
              <a:rPr lang="en-US" altLang="zh-CN" sz="2800" b="1" dirty="0"/>
              <a:t>1</a:t>
            </a:r>
            <a:r>
              <a:rPr lang="zh-CN" altLang="zh-CN" sz="2800" b="1" dirty="0"/>
              <a:t>”，否则记为“</a:t>
            </a:r>
            <a:r>
              <a:rPr lang="en-US" altLang="zh-CN" sz="2800" b="1" dirty="0"/>
              <a:t>0</a:t>
            </a:r>
            <a:r>
              <a:rPr lang="zh-CN" altLang="zh-CN" sz="2800" b="1" dirty="0"/>
              <a:t>”。</a:t>
            </a:r>
            <a:endParaRPr lang="zh-CN" altLang="zh-CN" sz="2800" b="1" dirty="0"/>
          </a:p>
          <a:p>
            <a:pPr marL="0" indent="0">
              <a:buNone/>
            </a:pPr>
            <a:r>
              <a:rPr lang="en-US" altLang="zh-CN" sz="2800" b="1" dirty="0"/>
              <a:t>         </a:t>
            </a:r>
            <a:r>
              <a:rPr lang="zh-CN" altLang="zh-CN" sz="2800" b="1" dirty="0"/>
              <a:t>根据对汉字质量的不同要求，可有</a:t>
            </a:r>
            <a:r>
              <a:rPr lang="en-US" altLang="zh-CN" sz="2800" b="1" dirty="0"/>
              <a:t>16</a:t>
            </a:r>
            <a:r>
              <a:rPr lang="zh-CN" altLang="zh-CN" sz="2800" b="1" dirty="0"/>
              <a:t>×</a:t>
            </a:r>
            <a:r>
              <a:rPr lang="en-US" altLang="zh-CN" sz="2800" b="1" dirty="0"/>
              <a:t>16</a:t>
            </a:r>
            <a:r>
              <a:rPr lang="zh-CN" altLang="zh-CN" sz="2800" b="1" dirty="0"/>
              <a:t>、</a:t>
            </a:r>
            <a:r>
              <a:rPr lang="en-US" altLang="zh-CN" sz="2800" b="1" dirty="0"/>
              <a:t>24</a:t>
            </a:r>
            <a:r>
              <a:rPr lang="zh-CN" altLang="zh-CN" sz="2800" b="1" dirty="0"/>
              <a:t>×</a:t>
            </a:r>
            <a:r>
              <a:rPr lang="en-US" altLang="zh-CN" sz="2800" b="1" dirty="0"/>
              <a:t>24</a:t>
            </a:r>
            <a:r>
              <a:rPr lang="zh-CN" altLang="zh-CN" sz="2800" b="1" dirty="0"/>
              <a:t>、</a:t>
            </a:r>
            <a:r>
              <a:rPr lang="en-US" altLang="zh-CN" sz="2800" b="1" dirty="0"/>
              <a:t>32</a:t>
            </a:r>
            <a:r>
              <a:rPr lang="zh-CN" altLang="zh-CN" sz="2800" b="1" dirty="0"/>
              <a:t>×</a:t>
            </a:r>
            <a:r>
              <a:rPr lang="en-US" altLang="zh-CN" sz="2800" b="1" dirty="0"/>
              <a:t>32</a:t>
            </a:r>
            <a:r>
              <a:rPr lang="zh-CN" altLang="zh-CN" sz="2800" b="1" dirty="0"/>
              <a:t>或</a:t>
            </a:r>
            <a:r>
              <a:rPr lang="en-US" altLang="zh-CN" sz="2800" b="1" dirty="0"/>
              <a:t>48</a:t>
            </a:r>
            <a:r>
              <a:rPr lang="zh-CN" altLang="zh-CN" sz="2800" b="1" dirty="0"/>
              <a:t>×</a:t>
            </a:r>
            <a:r>
              <a:rPr lang="en-US" altLang="zh-CN" sz="2800" b="1" dirty="0"/>
              <a:t>48</a:t>
            </a:r>
            <a:r>
              <a:rPr lang="zh-CN" altLang="zh-CN" sz="2800" b="1" dirty="0"/>
              <a:t>的点阵结构。显然点阵越大，输出汉字的质量越高，每个汉字所占用的字节数也越高</a:t>
            </a:r>
            <a:r>
              <a:rPr lang="zh-CN" altLang="en-US" sz="2800" b="1" dirty="0"/>
              <a:t>。</a:t>
            </a:r>
            <a:endParaRPr lang="en-US" altLang="zh-CN" sz="2800" b="1" dirty="0">
              <a:ea typeface="楷体_GB2312" pitchFamily="49" charset="-122"/>
            </a:endParaRPr>
          </a:p>
        </p:txBody>
      </p:sp>
      <p:sp>
        <p:nvSpPr>
          <p:cNvPr id="90115" name="Rectangle 3"/>
          <p:cNvSpPr>
            <a:spLocks noGrp="1"/>
          </p:cNvSpPr>
          <p:nvPr>
            <p:ph type="title" idx="4294967295"/>
          </p:nvPr>
        </p:nvSpPr>
        <p:spPr>
          <a:xfrm>
            <a:off x="685800" y="304800"/>
            <a:ext cx="7772400" cy="1143000"/>
          </a:xfrm>
        </p:spPr>
        <p:txBody>
          <a:bodyPr vert="horz" wrap="square" lIns="91440" tIns="45720" rIns="91440" bIns="45720" anchor="ctr" anchorCtr="0"/>
          <a:p>
            <a:pPr algn="l" eaLnBrk="1" hangingPunct="1"/>
            <a:r>
              <a:rPr lang="en-US" altLang="zh-CN" sz="3200" dirty="0">
                <a:solidFill>
                  <a:schemeClr val="accent2"/>
                </a:solidFill>
                <a:ea typeface="楷体_GB2312" pitchFamily="49" charset="-122"/>
              </a:rPr>
              <a:t>4</a:t>
            </a:r>
            <a:r>
              <a:rPr lang="zh-CN" altLang="en-US" sz="3200" dirty="0">
                <a:solidFill>
                  <a:schemeClr val="accent2"/>
                </a:solidFill>
                <a:ea typeface="楷体_GB2312" pitchFamily="49" charset="-122"/>
              </a:rPr>
              <a:t>.汉字字形码 </a:t>
            </a:r>
            <a:endParaRPr lang="zh-CN" altLang="en-US" sz="3200" dirty="0">
              <a:solidFill>
                <a:schemeClr val="accent2"/>
              </a:solidFill>
              <a:ea typeface="楷体_GB2312" pitchFamily="49" charset="-122"/>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91138" name="Rectangle 2"/>
          <p:cNvSpPr>
            <a:spLocks noGrp="1"/>
          </p:cNvSpPr>
          <p:nvPr>
            <p:ph type="body" idx="4294967295"/>
          </p:nvPr>
        </p:nvSpPr>
        <p:spPr>
          <a:xfrm>
            <a:off x="533400" y="1268413"/>
            <a:ext cx="7924800" cy="4800600"/>
          </a:xfrm>
        </p:spPr>
        <p:txBody>
          <a:bodyPr vert="horz" wrap="square" lIns="91440" tIns="45720" rIns="91440" bIns="45720" anchor="t" anchorCtr="0"/>
          <a:p>
            <a:pPr marL="0" indent="0">
              <a:buNone/>
            </a:pPr>
            <a:r>
              <a:rPr lang="en-US" altLang="zh-CN" b="1" dirty="0"/>
              <a:t>        </a:t>
            </a:r>
            <a:r>
              <a:rPr lang="zh-CN" altLang="zh-CN" b="1" dirty="0"/>
              <a:t>信息处理应用对字符集提出了多文种、大字量、多用途的要求，解决问题的最佳方案是设计一种全新的编码方法，这就是统一代码（Unicode）。</a:t>
            </a:r>
            <a:endParaRPr lang="zh-CN" altLang="zh-CN" b="1" dirty="0"/>
          </a:p>
          <a:p>
            <a:pPr marL="0" indent="0">
              <a:buNone/>
            </a:pPr>
            <a:r>
              <a:rPr lang="en-US" altLang="zh-CN" b="1" dirty="0"/>
              <a:t>        </a:t>
            </a:r>
            <a:r>
              <a:rPr lang="zh-CN" altLang="zh-CN" b="1" dirty="0"/>
              <a:t>Unicode的基本方法是用一个16位来表示每个符号，这意味着允许表示65 536个不同的字符或符号。这种符号集被称为基本多语言平面（BMP），基本多语言平面的字符编码为</a:t>
            </a:r>
            <a:r>
              <a:rPr lang="en-US" altLang="zh-CN" b="1" dirty="0"/>
              <a:t>U+hhhh</a:t>
            </a:r>
            <a:r>
              <a:rPr lang="zh-CN" altLang="zh-CN" b="1" dirty="0"/>
              <a:t>，其中每个</a:t>
            </a:r>
            <a:r>
              <a:rPr lang="en-US" altLang="zh-CN" b="1" dirty="0"/>
              <a:t>h </a:t>
            </a:r>
            <a:r>
              <a:rPr lang="zh-CN" altLang="zh-CN" b="1" dirty="0"/>
              <a:t>代表一个十六进制数字，与</a:t>
            </a:r>
            <a:r>
              <a:rPr lang="en-US" altLang="zh-CN" b="1" dirty="0"/>
              <a:t>UCS-2</a:t>
            </a:r>
            <a:r>
              <a:rPr lang="zh-CN" altLang="zh-CN" b="1" dirty="0"/>
              <a:t>编码完全相同。</a:t>
            </a:r>
            <a:endParaRPr lang="zh-CN" altLang="zh-CN" b="1" dirty="0"/>
          </a:p>
        </p:txBody>
      </p:sp>
      <p:sp>
        <p:nvSpPr>
          <p:cNvPr id="91139" name="Rectangle 3"/>
          <p:cNvSpPr>
            <a:spLocks noGrp="1"/>
          </p:cNvSpPr>
          <p:nvPr>
            <p:ph type="title" idx="4294967295"/>
          </p:nvPr>
        </p:nvSpPr>
        <p:spPr>
          <a:xfrm>
            <a:off x="685800" y="381000"/>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2.3.3  统一代码</a:t>
            </a:r>
            <a:endParaRPr lang="zh-CN" altLang="en-US" sz="3600" dirty="0"/>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92162" name="Rectangle 2"/>
          <p:cNvSpPr>
            <a:spLocks noGrp="1"/>
          </p:cNvSpPr>
          <p:nvPr>
            <p:ph type="body" idx="4294967295"/>
          </p:nvPr>
        </p:nvSpPr>
        <p:spPr>
          <a:xfrm>
            <a:off x="533400" y="1295400"/>
            <a:ext cx="7924800" cy="5410200"/>
          </a:xfrm>
        </p:spPr>
        <p:txBody>
          <a:bodyPr vert="horz" wrap="square" lIns="91440" tIns="45720" rIns="91440" bIns="45720" anchor="t" anchorCtr="0"/>
          <a:p>
            <a:pPr marL="0" indent="0">
              <a:buNone/>
            </a:pPr>
            <a:r>
              <a:rPr lang="zh-CN" altLang="en-US" b="1" dirty="0">
                <a:ea typeface="楷体_GB2312" pitchFamily="49" charset="-122"/>
              </a:rPr>
              <a:t>         </a:t>
            </a:r>
            <a:r>
              <a:rPr lang="en-US" altLang="zh-CN" b="1" dirty="0"/>
              <a:t>UCS-4</a:t>
            </a:r>
            <a:r>
              <a:rPr lang="zh-CN" altLang="zh-CN" b="1" dirty="0"/>
              <a:t>是一个更大的尚未填充完全的</a:t>
            </a:r>
            <a:r>
              <a:rPr lang="en-US" altLang="zh-CN" b="1" dirty="0"/>
              <a:t>31</a:t>
            </a:r>
            <a:r>
              <a:rPr lang="zh-CN" altLang="zh-CN" b="1" dirty="0"/>
              <a:t>位字符集，加上恒为</a:t>
            </a:r>
            <a:r>
              <a:rPr lang="en-US" altLang="zh-CN" b="1" dirty="0"/>
              <a:t>0</a:t>
            </a:r>
            <a:r>
              <a:rPr lang="zh-CN" altLang="zh-CN" b="1" dirty="0"/>
              <a:t>的首位，共需占据</a:t>
            </a:r>
            <a:r>
              <a:rPr lang="en-US" altLang="zh-CN" b="1" dirty="0"/>
              <a:t>32</a:t>
            </a:r>
            <a:r>
              <a:rPr lang="zh-CN" altLang="zh-CN" b="1" dirty="0"/>
              <a:t>位，即</a:t>
            </a:r>
            <a:r>
              <a:rPr lang="en-US" altLang="zh-CN" b="1" dirty="0"/>
              <a:t>4</a:t>
            </a:r>
            <a:r>
              <a:rPr lang="zh-CN" altLang="zh-CN" b="1" dirty="0"/>
              <a:t>字节。理论上最多能表示</a:t>
            </a:r>
            <a:r>
              <a:rPr lang="en-US" altLang="zh-CN" b="1" dirty="0"/>
              <a:t>2</a:t>
            </a:r>
            <a:r>
              <a:rPr lang="en-US" altLang="zh-CN" b="1" baseline="30000" dirty="0"/>
              <a:t>31</a:t>
            </a:r>
            <a:r>
              <a:rPr lang="zh-CN" altLang="zh-CN" b="1" dirty="0"/>
              <a:t>个字符，完全可以涵盖一切语言所用的符号。目前，</a:t>
            </a:r>
            <a:r>
              <a:rPr lang="en-US" altLang="zh-CN" b="1" dirty="0"/>
              <a:t>Unicode</a:t>
            </a:r>
            <a:r>
              <a:rPr lang="zh-CN" altLang="zh-CN" b="1" dirty="0"/>
              <a:t>计划使用了</a:t>
            </a:r>
            <a:r>
              <a:rPr lang="en-US" altLang="zh-CN" b="1" dirty="0"/>
              <a:t>17</a:t>
            </a:r>
            <a:r>
              <a:rPr lang="zh-CN" altLang="zh-CN" b="1" dirty="0"/>
              <a:t>个平面（</a:t>
            </a:r>
            <a:r>
              <a:rPr lang="en-US" altLang="zh-CN" b="1" dirty="0"/>
              <a:t>1</a:t>
            </a:r>
            <a:r>
              <a:rPr lang="zh-CN" altLang="zh-CN" b="1" dirty="0"/>
              <a:t>个基本语言平面和</a:t>
            </a:r>
            <a:r>
              <a:rPr lang="en-US" altLang="zh-CN" b="1" dirty="0"/>
              <a:t>16</a:t>
            </a:r>
            <a:r>
              <a:rPr lang="zh-CN" altLang="zh-CN" b="1" dirty="0"/>
              <a:t>个辅助平面，一共有</a:t>
            </a:r>
            <a:r>
              <a:rPr lang="en-US" altLang="zh-CN" b="1" dirty="0"/>
              <a:t>17×65 536=1 114 112</a:t>
            </a:r>
            <a:r>
              <a:rPr lang="zh-CN" altLang="zh-CN" b="1" dirty="0"/>
              <a:t>个码位。</a:t>
            </a:r>
            <a:endParaRPr lang="zh-CN" altLang="en-US" b="1" dirty="0">
              <a:ea typeface="楷体_GB2312" pitchFamily="49" charset="-122"/>
            </a:endParaRPr>
          </a:p>
        </p:txBody>
      </p:sp>
      <p:sp>
        <p:nvSpPr>
          <p:cNvPr id="92163" name="Rectangle 3"/>
          <p:cNvSpPr>
            <a:spLocks noGrp="1"/>
          </p:cNvSpPr>
          <p:nvPr>
            <p:ph type="title" idx="4294967295"/>
          </p:nvPr>
        </p:nvSpPr>
        <p:spPr>
          <a:xfrm>
            <a:off x="685800" y="381000"/>
            <a:ext cx="77724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2.3.3  统一代码（续）</a:t>
            </a:r>
            <a:endParaRPr lang="en-US" altLang="zh-CN" sz="3600" dirty="0"/>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93186" name="Rectangle 33"/>
          <p:cNvSpPr>
            <a:spLocks noGrp="1"/>
          </p:cNvSpPr>
          <p:nvPr>
            <p:ph type="title"/>
          </p:nvPr>
        </p:nvSpPr>
        <p:spPr>
          <a:xfrm>
            <a:off x="685800" y="304800"/>
            <a:ext cx="7772400" cy="1143000"/>
          </a:xfrm>
        </p:spPr>
        <p:txBody>
          <a:bodyPr vert="horz" wrap="square" lIns="91440" tIns="45720" rIns="91440" bIns="45720" anchor="ctr" anchorCtr="0"/>
          <a:p>
            <a:pPr algn="l" eaLnBrk="1" hangingPunct="1"/>
            <a:r>
              <a:rPr lang="zh-CN" altLang="en-US" sz="3200" u="sng" dirty="0">
                <a:solidFill>
                  <a:srgbClr val="0000FF"/>
                </a:solidFill>
                <a:ea typeface="楷体_GB2312" pitchFamily="49" charset="-122"/>
              </a:rPr>
              <a:t>微机中表示字符的3种方法</a:t>
            </a:r>
            <a:endParaRPr lang="zh-CN" altLang="en-US" sz="3200" u="sng" dirty="0">
              <a:solidFill>
                <a:srgbClr val="0000FF"/>
              </a:solidFill>
              <a:ea typeface="楷体_GB2312" pitchFamily="49" charset="-122"/>
            </a:endParaRPr>
          </a:p>
        </p:txBody>
      </p:sp>
      <p:sp>
        <p:nvSpPr>
          <p:cNvPr id="93187" name="Rectangle 76"/>
          <p:cNvSpPr>
            <a:spLocks noGrp="1"/>
          </p:cNvSpPr>
          <p:nvPr>
            <p:ph idx="1"/>
          </p:nvPr>
        </p:nvSpPr>
        <p:spPr>
          <a:xfrm>
            <a:off x="685800" y="5486400"/>
            <a:ext cx="7772400" cy="685800"/>
          </a:xfrm>
        </p:spPr>
        <p:txBody>
          <a:bodyPr vert="horz" wrap="square" lIns="91440" tIns="45720" rIns="91440" bIns="45720" anchor="t" anchorCtr="0"/>
          <a:p>
            <a:pPr algn="ctr" eaLnBrk="1" hangingPunct="1">
              <a:buNone/>
            </a:pPr>
            <a:r>
              <a:rPr lang="zh-CN" altLang="en-US" sz="2400" b="1" dirty="0"/>
              <a:t>图2-8  微机中表示字符的3种方法</a:t>
            </a:r>
            <a:endParaRPr lang="zh-CN" altLang="en-US" sz="2400" b="1" dirty="0"/>
          </a:p>
        </p:txBody>
      </p:sp>
      <p:graphicFrame>
        <p:nvGraphicFramePr>
          <p:cNvPr id="93188" name="Object 77"/>
          <p:cNvGraphicFramePr>
            <a:graphicFrameLocks noChangeAspect="1"/>
          </p:cNvGraphicFramePr>
          <p:nvPr/>
        </p:nvGraphicFramePr>
        <p:xfrm>
          <a:off x="990600" y="1676400"/>
          <a:ext cx="7239000" cy="3224213"/>
        </p:xfrm>
        <a:graphic>
          <a:graphicData uri="http://schemas.openxmlformats.org/presentationml/2006/ole">
            <mc:AlternateContent xmlns:mc="http://schemas.openxmlformats.org/markup-compatibility/2006">
              <mc:Choice xmlns:v="urn:schemas-microsoft-com:vml" Requires="v">
                <p:oleObj spid="_x0000_s3090" name="" r:id="rId1" imgW="3116580" imgH="1389380" progId="Visio.Drawing.6">
                  <p:embed/>
                </p:oleObj>
              </mc:Choice>
              <mc:Fallback>
                <p:oleObj name="" r:id="rId1" imgW="3116580" imgH="1389380" progId="Visio.Drawing.6">
                  <p:embed/>
                  <p:pic>
                    <p:nvPicPr>
                      <p:cNvPr id="0" name="图片 3089"/>
                      <p:cNvPicPr/>
                      <p:nvPr/>
                    </p:nvPicPr>
                    <p:blipFill>
                      <a:blip r:embed="rId2"/>
                      <a:stretch>
                        <a:fillRect/>
                      </a:stretch>
                    </p:blipFill>
                    <p:spPr>
                      <a:xfrm>
                        <a:off x="990600" y="1676400"/>
                        <a:ext cx="7239000" cy="3224213"/>
                      </a:xfrm>
                      <a:prstGeom prst="rect">
                        <a:avLst/>
                      </a:prstGeom>
                      <a:noFill/>
                      <a:ln w="38100">
                        <a:noFill/>
                        <a:miter/>
                      </a:ln>
                    </p:spPr>
                  </p:pic>
                </p:oleObj>
              </mc:Fallback>
            </mc:AlternateContent>
          </a:graphicData>
        </a:graphic>
      </p:graphicFrame>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94210" name="Rectangle 2"/>
          <p:cNvSpPr>
            <a:spLocks noGrp="1"/>
          </p:cNvSpPr>
          <p:nvPr>
            <p:ph type="title"/>
          </p:nvPr>
        </p:nvSpPr>
        <p:spPr>
          <a:xfrm>
            <a:off x="457200" y="304800"/>
            <a:ext cx="8001000" cy="1143000"/>
          </a:xfrm>
        </p:spPr>
        <p:txBody>
          <a:bodyPr vert="horz" wrap="square" lIns="91440" tIns="45720" rIns="91440" bIns="45720" anchor="ctr" anchorCtr="0"/>
          <a:p>
            <a:pPr algn="l" eaLnBrk="1" hangingPunct="1"/>
            <a:r>
              <a:rPr lang="zh-CN" altLang="en-US" sz="4000" dirty="0">
                <a:solidFill>
                  <a:srgbClr val="0000FF"/>
                </a:solidFill>
                <a:latin typeface="华文新魏" panose="02010800040101010101" pitchFamily="2" charset="-122"/>
                <a:ea typeface="华文新魏" panose="02010800040101010101" pitchFamily="2" charset="-122"/>
              </a:rPr>
              <a:t>2.4  十进制数和数串的表示</a:t>
            </a:r>
            <a:endParaRPr lang="en-US" altLang="zh-CN" sz="4000" dirty="0">
              <a:solidFill>
                <a:srgbClr val="0000FF"/>
              </a:solidFill>
              <a:latin typeface="华文新魏" panose="02010800040101010101" pitchFamily="2" charset="-122"/>
              <a:ea typeface="华文新魏" panose="02010800040101010101" pitchFamily="2" charset="-122"/>
            </a:endParaRPr>
          </a:p>
        </p:txBody>
      </p:sp>
      <p:sp>
        <p:nvSpPr>
          <p:cNvPr id="94211" name="Rectangle 3"/>
          <p:cNvSpPr>
            <a:spLocks noGrp="1"/>
          </p:cNvSpPr>
          <p:nvPr>
            <p:ph idx="1"/>
          </p:nvPr>
        </p:nvSpPr>
        <p:spPr>
          <a:xfrm>
            <a:off x="533400" y="1600200"/>
            <a:ext cx="8001000" cy="4800600"/>
          </a:xfrm>
        </p:spPr>
        <p:txBody>
          <a:bodyPr vert="horz" wrap="square" lIns="91440" tIns="45720" rIns="91440" bIns="45720" anchor="t" anchorCtr="0"/>
          <a:p>
            <a:pPr marL="0" algn="just" eaLnBrk="1" hangingPunct="1">
              <a:buNone/>
            </a:pPr>
            <a:r>
              <a:rPr lang="zh-CN" altLang="en-US" b="1" dirty="0">
                <a:ea typeface="楷体_GB2312" pitchFamily="49" charset="-122"/>
              </a:rPr>
              <a:t>        十进制是人们最常用的数据表示方法，一些通用性较强的计算机上设有十进制数据的表示，可以直接对十进制数进行运算和处理。</a:t>
            </a:r>
            <a:endParaRPr lang="zh-CN" altLang="en-US" b="1" dirty="0">
              <a:ea typeface="楷体_GB2312" pitchFamily="49"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95234" name="Rectangle 2"/>
          <p:cNvSpPr>
            <a:spLocks noGrp="1"/>
          </p:cNvSpPr>
          <p:nvPr>
            <p:ph type="title"/>
          </p:nvPr>
        </p:nvSpPr>
        <p:spPr>
          <a:xfrm>
            <a:off x="609600" y="457200"/>
            <a:ext cx="80010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2.4.1 十进制数的编码</a:t>
            </a:r>
            <a:endParaRPr lang="en-US" altLang="zh-CN" sz="3600" dirty="0">
              <a:solidFill>
                <a:srgbClr val="0000FF"/>
              </a:solidFill>
              <a:latin typeface="楷体_GB2312" pitchFamily="49" charset="-122"/>
              <a:ea typeface="楷体_GB2312" pitchFamily="49" charset="-122"/>
            </a:endParaRPr>
          </a:p>
        </p:txBody>
      </p:sp>
      <p:sp>
        <p:nvSpPr>
          <p:cNvPr id="95235" name="Rectangle 3"/>
          <p:cNvSpPr>
            <a:spLocks noGrp="1"/>
          </p:cNvSpPr>
          <p:nvPr>
            <p:ph idx="1"/>
          </p:nvPr>
        </p:nvSpPr>
        <p:spPr>
          <a:xfrm>
            <a:off x="533400" y="1447800"/>
            <a:ext cx="8001000" cy="4800600"/>
          </a:xfrm>
        </p:spPr>
        <p:txBody>
          <a:bodyPr vert="horz" wrap="square" lIns="91440" tIns="45720" rIns="91440" bIns="45720" anchor="t" anchorCtr="0"/>
          <a:p>
            <a:pPr eaLnBrk="1" hangingPunct="1">
              <a:lnSpc>
                <a:spcPct val="90000"/>
              </a:lnSpc>
              <a:buNone/>
            </a:pPr>
            <a:r>
              <a:rPr lang="zh-CN" altLang="en-US" b="1" dirty="0">
                <a:ea typeface="楷体_GB2312" pitchFamily="49" charset="-122"/>
              </a:rPr>
              <a:t>            用四位二进制数来表示一位十进制数，称为</a:t>
            </a:r>
            <a:r>
              <a:rPr lang="zh-CN" altLang="en-US" b="1" dirty="0">
                <a:solidFill>
                  <a:srgbClr val="FF3300"/>
                </a:solidFill>
                <a:ea typeface="楷体_GB2312" pitchFamily="49" charset="-122"/>
              </a:rPr>
              <a:t>二进制编码的十进制数，简称</a:t>
            </a:r>
            <a:r>
              <a:rPr lang="en-US" altLang="zh-CN" b="1" dirty="0">
                <a:solidFill>
                  <a:srgbClr val="FF3300"/>
                </a:solidFill>
                <a:ea typeface="楷体_GB2312" pitchFamily="49" charset="-122"/>
              </a:rPr>
              <a:t>BCD</a:t>
            </a:r>
            <a:r>
              <a:rPr lang="zh-CN" altLang="en-US" b="1" dirty="0">
                <a:solidFill>
                  <a:srgbClr val="FF3300"/>
                </a:solidFill>
                <a:ea typeface="楷体_GB2312" pitchFamily="49" charset="-122"/>
              </a:rPr>
              <a:t>码</a:t>
            </a:r>
            <a:r>
              <a:rPr lang="zh-CN" altLang="en-US" b="1" dirty="0">
                <a:ea typeface="楷体_GB2312" pitchFamily="49" charset="-122"/>
              </a:rPr>
              <a:t>。</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四位二进制数可以组合出16种代码，能表示16种不同的状态，我们只需要使用其中的10种状态，就可以表示十进制数的0～9十个数码，而其他的六种状态为冗余状态。由于可以取任意的10种代码来表示十个数码，所以就可能产生多种</a:t>
            </a:r>
            <a:r>
              <a:rPr lang="en-US" altLang="zh-CN" b="1" dirty="0">
                <a:ea typeface="楷体_GB2312" pitchFamily="49" charset="-122"/>
              </a:rPr>
              <a:t>BCD</a:t>
            </a:r>
            <a:r>
              <a:rPr lang="zh-CN" altLang="en-US" b="1" dirty="0">
                <a:ea typeface="楷体_GB2312" pitchFamily="49" charset="-122"/>
              </a:rPr>
              <a:t>编码。</a:t>
            </a:r>
            <a:r>
              <a:rPr lang="en-US" altLang="zh-CN" b="1" dirty="0">
                <a:ea typeface="楷体_GB2312" pitchFamily="49" charset="-122"/>
              </a:rPr>
              <a:t>BCD</a:t>
            </a:r>
            <a:r>
              <a:rPr lang="zh-CN" altLang="en-US" b="1" dirty="0">
                <a:ea typeface="楷体_GB2312" pitchFamily="49" charset="-122"/>
              </a:rPr>
              <a:t>编码既具有二进制数的形式，又保持了十进制数的特点。</a:t>
            </a:r>
            <a:endParaRPr lang="zh-CN" altLang="en-US" b="1" dirty="0">
              <a:ea typeface="楷体_GB2312" pitchFamily="49"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96258" name="Rectangle 2"/>
          <p:cNvSpPr>
            <a:spLocks noGrp="1"/>
          </p:cNvSpPr>
          <p:nvPr>
            <p:ph type="title" idx="4294967295"/>
          </p:nvPr>
        </p:nvSpPr>
        <p:spPr>
          <a:xfrm>
            <a:off x="685800" y="228600"/>
            <a:ext cx="7772400" cy="1143000"/>
          </a:xfrm>
        </p:spPr>
        <p:txBody>
          <a:bodyPr vert="horz" wrap="square" lIns="91440" tIns="45720" rIns="91440" bIns="45720" anchor="ctr" anchorCtr="0"/>
          <a:p>
            <a:pPr algn="l" eaLnBrk="1" hangingPunct="1"/>
            <a:r>
              <a:rPr lang="zh-CN" altLang="en-US" sz="3200" dirty="0">
                <a:solidFill>
                  <a:srgbClr val="0000FF"/>
                </a:solidFill>
                <a:ea typeface="楷体_GB2312" pitchFamily="49" charset="-122"/>
              </a:rPr>
              <a:t>几种常见的</a:t>
            </a:r>
            <a:r>
              <a:rPr lang="en-US" altLang="zh-CN" sz="3200" dirty="0">
                <a:solidFill>
                  <a:srgbClr val="0000FF"/>
                </a:solidFill>
                <a:ea typeface="楷体_GB2312" pitchFamily="49" charset="-122"/>
              </a:rPr>
              <a:t>BCD</a:t>
            </a:r>
            <a:r>
              <a:rPr lang="zh-CN" altLang="en-US" sz="3200" dirty="0">
                <a:solidFill>
                  <a:srgbClr val="0000FF"/>
                </a:solidFill>
                <a:ea typeface="楷体_GB2312" pitchFamily="49" charset="-122"/>
              </a:rPr>
              <a:t>码</a:t>
            </a:r>
            <a:endParaRPr lang="zh-CN" altLang="en-US" sz="3200" dirty="0">
              <a:solidFill>
                <a:srgbClr val="0000FF"/>
              </a:solidFill>
              <a:ea typeface="楷体_GB2312" pitchFamily="49" charset="-122"/>
            </a:endParaRPr>
          </a:p>
        </p:txBody>
      </p:sp>
      <p:graphicFrame>
        <p:nvGraphicFramePr>
          <p:cNvPr id="96259" name="Object 4"/>
          <p:cNvGraphicFramePr>
            <a:graphicFrameLocks noChangeAspect="1"/>
          </p:cNvGraphicFramePr>
          <p:nvPr/>
        </p:nvGraphicFramePr>
        <p:xfrm>
          <a:off x="1143000" y="1371600"/>
          <a:ext cx="6305550" cy="4743450"/>
        </p:xfrm>
        <a:graphic>
          <a:graphicData uri="http://schemas.openxmlformats.org/presentationml/2006/ole">
            <mc:AlternateContent xmlns:mc="http://schemas.openxmlformats.org/markup-compatibility/2006">
              <mc:Choice xmlns:v="urn:schemas-microsoft-com:vml" Requires="v">
                <p:oleObj spid="_x0000_s3089" name="" r:id="rId1" imgW="6319520" imgH="4747260" progId="Word.Document.8">
                  <p:embed/>
                </p:oleObj>
              </mc:Choice>
              <mc:Fallback>
                <p:oleObj name="" r:id="rId1" imgW="6319520" imgH="4747260" progId="Word.Document.8">
                  <p:embed/>
                  <p:pic>
                    <p:nvPicPr>
                      <p:cNvPr id="0" name="图片 3088"/>
                      <p:cNvPicPr/>
                      <p:nvPr/>
                    </p:nvPicPr>
                    <p:blipFill>
                      <a:blip r:embed="rId2"/>
                      <a:stretch>
                        <a:fillRect/>
                      </a:stretch>
                    </p:blipFill>
                    <p:spPr>
                      <a:xfrm>
                        <a:off x="1143000" y="1371600"/>
                        <a:ext cx="6305550" cy="4743450"/>
                      </a:xfrm>
                      <a:prstGeom prst="rect">
                        <a:avLst/>
                      </a:prstGeom>
                      <a:noFill/>
                      <a:ln w="38100">
                        <a:noFill/>
                        <a:miter/>
                      </a:ln>
                    </p:spPr>
                  </p:pic>
                </p:oleObj>
              </mc:Fallback>
            </mc:AlternateContent>
          </a:graphicData>
        </a:graphic>
      </p:graphicFrame>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97282" name="Rectangle 2"/>
          <p:cNvSpPr>
            <a:spLocks noGrp="1"/>
          </p:cNvSpPr>
          <p:nvPr>
            <p:ph type="title" idx="4294967295"/>
          </p:nvPr>
        </p:nvSpPr>
        <p:spPr>
          <a:xfrm>
            <a:off x="685800" y="4572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1.8421码</a:t>
            </a:r>
            <a:endParaRPr lang="zh-CN" altLang="en-US" sz="3200" dirty="0">
              <a:solidFill>
                <a:schemeClr val="accent2"/>
              </a:solidFill>
              <a:ea typeface="楷体_GB2312" pitchFamily="49" charset="-122"/>
            </a:endParaRPr>
          </a:p>
        </p:txBody>
      </p:sp>
      <p:sp>
        <p:nvSpPr>
          <p:cNvPr id="97283" name="Rectangle 3"/>
          <p:cNvSpPr>
            <a:spLocks noGrp="1"/>
          </p:cNvSpPr>
          <p:nvPr>
            <p:ph type="body" idx="4294967295"/>
          </p:nvPr>
        </p:nvSpPr>
        <p:spPr>
          <a:xfrm>
            <a:off x="457200" y="1295400"/>
            <a:ext cx="8153400" cy="4876800"/>
          </a:xfrm>
        </p:spPr>
        <p:txBody>
          <a:bodyPr vert="horz" wrap="square" lIns="91440" tIns="45720" rIns="91440" bIns="45720" anchor="t" anchorCtr="0"/>
          <a:p>
            <a:pPr eaLnBrk="1" hangingPunct="1">
              <a:buNone/>
            </a:pPr>
            <a:r>
              <a:rPr lang="zh-CN" altLang="en-US" b="1" dirty="0">
                <a:ea typeface="楷体_GB2312" pitchFamily="49" charset="-122"/>
              </a:rPr>
              <a:t>            8421码又称为</a:t>
            </a:r>
            <a:r>
              <a:rPr lang="en-US" altLang="zh-CN" b="1" dirty="0">
                <a:ea typeface="楷体_GB2312" pitchFamily="49" charset="-122"/>
              </a:rPr>
              <a:t>NBCD</a:t>
            </a:r>
            <a:r>
              <a:rPr lang="zh-CN" altLang="en-US" b="1" dirty="0">
                <a:ea typeface="楷体_GB2312" pitchFamily="49" charset="-122"/>
              </a:rPr>
              <a:t>码，其主要特点是：</a:t>
            </a:r>
            <a:endParaRPr lang="zh-CN" altLang="en-US" b="1" dirty="0">
              <a:ea typeface="楷体_GB2312" pitchFamily="49" charset="-122"/>
            </a:endParaRPr>
          </a:p>
          <a:p>
            <a:pPr eaLnBrk="1" hangingPunct="1">
              <a:buNone/>
            </a:pPr>
            <a:r>
              <a:rPr lang="zh-CN" altLang="en-US" b="1" dirty="0">
                <a:ea typeface="楷体_GB2312" pitchFamily="49" charset="-122"/>
              </a:rPr>
              <a:t>            ⑴ 它是一种有权码，四位二进制代码的位权从高到低分别为</a:t>
            </a:r>
            <a:r>
              <a:rPr lang="zh-CN" altLang="en-US" b="1" dirty="0">
                <a:solidFill>
                  <a:srgbClr val="FF0000"/>
                </a:solidFill>
                <a:ea typeface="楷体_GB2312" pitchFamily="49" charset="-122"/>
              </a:rPr>
              <a:t>8、4、2、1</a:t>
            </a:r>
            <a:r>
              <a:rPr lang="zh-CN" altLang="en-US" b="1" dirty="0">
                <a:ea typeface="楷体_GB2312" pitchFamily="49" charset="-122"/>
              </a:rPr>
              <a:t>。</a:t>
            </a:r>
            <a:endParaRPr lang="zh-CN" altLang="en-US" b="1" dirty="0">
              <a:ea typeface="楷体_GB2312" pitchFamily="49" charset="-122"/>
            </a:endParaRPr>
          </a:p>
          <a:p>
            <a:pPr eaLnBrk="1" hangingPunct="1">
              <a:buNone/>
            </a:pPr>
            <a:r>
              <a:rPr lang="zh-CN" altLang="en-US" b="1" dirty="0">
                <a:ea typeface="楷体_GB2312" pitchFamily="49" charset="-122"/>
              </a:rPr>
              <a:t>            ⑵ 简单直观。每个代码与它所代表的十进制数之间符合二进制数和十进制数相互转换的规则。</a:t>
            </a:r>
            <a:endParaRPr lang="zh-CN" altLang="en-US" b="1" dirty="0">
              <a:ea typeface="楷体_GB2312" pitchFamily="49" charset="-122"/>
            </a:endParaRPr>
          </a:p>
          <a:p>
            <a:pPr eaLnBrk="1" hangingPunct="1">
              <a:buNone/>
            </a:pPr>
            <a:r>
              <a:rPr lang="zh-CN" altLang="en-US" b="1" dirty="0">
                <a:ea typeface="楷体_GB2312" pitchFamily="49" charset="-122"/>
              </a:rPr>
              <a:t>            ⑶ 不允许出现</a:t>
            </a:r>
            <a:r>
              <a:rPr lang="zh-CN" altLang="en-US" b="1" dirty="0">
                <a:solidFill>
                  <a:srgbClr val="FF0000"/>
                </a:solidFill>
                <a:ea typeface="楷体_GB2312" pitchFamily="49" charset="-122"/>
              </a:rPr>
              <a:t>1010～1111</a:t>
            </a:r>
            <a:r>
              <a:rPr lang="zh-CN" altLang="en-US" b="1" dirty="0">
                <a:ea typeface="楷体_GB2312" pitchFamily="49" charset="-122"/>
              </a:rPr>
              <a:t>。这6个代码在8421码中是非法码。</a:t>
            </a:r>
            <a:endParaRPr lang="zh-CN" altLang="en-US" b="1" dirty="0">
              <a:ea typeface="楷体_GB2312" pitchFamily="49" charset="-122"/>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98306" name="Rectangle 2"/>
          <p:cNvSpPr>
            <a:spLocks noGrp="1"/>
          </p:cNvSpPr>
          <p:nvPr>
            <p:ph type="title" idx="4294967295"/>
          </p:nvPr>
        </p:nvSpPr>
        <p:spPr>
          <a:xfrm>
            <a:off x="685800" y="4572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2.2421码</a:t>
            </a:r>
            <a:endParaRPr lang="zh-CN" altLang="en-US" sz="3200" dirty="0">
              <a:solidFill>
                <a:schemeClr val="accent2"/>
              </a:solidFill>
              <a:ea typeface="楷体_GB2312" pitchFamily="49" charset="-122"/>
            </a:endParaRPr>
          </a:p>
        </p:txBody>
      </p:sp>
      <p:sp>
        <p:nvSpPr>
          <p:cNvPr id="98307" name="Rectangle 3"/>
          <p:cNvSpPr>
            <a:spLocks noGrp="1"/>
          </p:cNvSpPr>
          <p:nvPr>
            <p:ph type="body" idx="4294967295"/>
          </p:nvPr>
        </p:nvSpPr>
        <p:spPr>
          <a:xfrm>
            <a:off x="685800" y="1219200"/>
            <a:ext cx="7848600" cy="5029200"/>
          </a:xfrm>
        </p:spPr>
        <p:txBody>
          <a:bodyPr vert="horz" wrap="square" lIns="91440" tIns="45720" rIns="91440" bIns="45720" anchor="t" anchorCtr="0"/>
          <a:p>
            <a:pPr eaLnBrk="1" hangingPunct="1">
              <a:lnSpc>
                <a:spcPct val="90000"/>
              </a:lnSpc>
              <a:buNone/>
            </a:pPr>
            <a:r>
              <a:rPr lang="zh-CN" altLang="en-US" b="1" dirty="0">
                <a:solidFill>
                  <a:schemeClr val="accent2"/>
                </a:solidFill>
                <a:ea typeface="楷体_GB2312" pitchFamily="49" charset="-122"/>
              </a:rPr>
              <a:t>            </a:t>
            </a:r>
            <a:r>
              <a:rPr lang="zh-CN" altLang="en-US" b="1" dirty="0">
                <a:ea typeface="楷体_GB2312" pitchFamily="49" charset="-122"/>
              </a:rPr>
              <a:t>2421码的主要特点是：</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⑴ 它也是一种有权码，四位二进制代码的位权从高到低分别为</a:t>
            </a:r>
            <a:r>
              <a:rPr lang="zh-CN" altLang="en-US" b="1" dirty="0">
                <a:solidFill>
                  <a:srgbClr val="FF0000"/>
                </a:solidFill>
                <a:ea typeface="楷体_GB2312" pitchFamily="49" charset="-122"/>
              </a:rPr>
              <a:t>2、4、2、1</a:t>
            </a:r>
            <a:r>
              <a:rPr lang="zh-CN" altLang="en-US" b="1" dirty="0">
                <a:ea typeface="楷体_GB2312" pitchFamily="49" charset="-122"/>
              </a:rPr>
              <a:t>。</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⑵ 它又是一种对9的</a:t>
            </a:r>
            <a:r>
              <a:rPr lang="zh-CN" altLang="en-US" b="1" dirty="0">
                <a:solidFill>
                  <a:srgbClr val="FF0000"/>
                </a:solidFill>
                <a:ea typeface="楷体_GB2312" pitchFamily="49" charset="-122"/>
              </a:rPr>
              <a:t>自补码</a:t>
            </a:r>
            <a:r>
              <a:rPr lang="zh-CN" altLang="en-US" b="1" dirty="0">
                <a:ea typeface="楷体_GB2312" pitchFamily="49" charset="-122"/>
              </a:rPr>
              <a:t>。即某数的2421码，只要自身按位取反，就能得到该数对9之补的2421码。例如：</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3的2421码是0011。3对9之补是6，而6的2421码是1100。</a:t>
            </a:r>
            <a:endParaRPr lang="zh-CN" altLang="en-US" b="1" dirty="0">
              <a:ea typeface="楷体_GB2312" pitchFamily="49" charset="-122"/>
            </a:endParaRPr>
          </a:p>
          <a:p>
            <a:pPr eaLnBrk="1" hangingPunct="1">
              <a:lnSpc>
                <a:spcPct val="80000"/>
              </a:lnSpc>
              <a:buNone/>
            </a:pPr>
            <a:r>
              <a:rPr lang="zh-CN" altLang="en-US" b="1" dirty="0">
                <a:ea typeface="楷体_GB2312" pitchFamily="49" charset="-122"/>
              </a:rPr>
              <a:t>            ⑶ 不允许出现</a:t>
            </a:r>
            <a:r>
              <a:rPr lang="zh-CN" altLang="en-US" b="1" dirty="0">
                <a:solidFill>
                  <a:srgbClr val="FF0000"/>
                </a:solidFill>
                <a:ea typeface="楷体_GB2312" pitchFamily="49" charset="-122"/>
              </a:rPr>
              <a:t>0101～1010</a:t>
            </a:r>
            <a:r>
              <a:rPr lang="zh-CN" altLang="en-US" b="1" dirty="0">
                <a:ea typeface="楷体_GB2312" pitchFamily="49" charset="-122"/>
              </a:rPr>
              <a:t>。这6个代码在2421码中是非法码。</a:t>
            </a:r>
            <a:endParaRPr lang="zh-CN" altLang="en-US" b="1" dirty="0">
              <a:ea typeface="楷体_GB2312" pitchFamily="49" charset="-122"/>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99330" name="Rectangle 2"/>
          <p:cNvSpPr>
            <a:spLocks noGrp="1"/>
          </p:cNvSpPr>
          <p:nvPr>
            <p:ph type="title" idx="4294967295"/>
          </p:nvPr>
        </p:nvSpPr>
        <p:spPr>
          <a:xfrm>
            <a:off x="685800" y="3810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3.余3码</a:t>
            </a:r>
            <a:endParaRPr lang="zh-CN" altLang="en-US" sz="3200" dirty="0">
              <a:solidFill>
                <a:schemeClr val="accent2"/>
              </a:solidFill>
              <a:ea typeface="楷体_GB2312" pitchFamily="49" charset="-122"/>
            </a:endParaRPr>
          </a:p>
        </p:txBody>
      </p:sp>
      <p:sp>
        <p:nvSpPr>
          <p:cNvPr id="99331" name="Rectangle 3"/>
          <p:cNvSpPr>
            <a:spLocks noGrp="1"/>
          </p:cNvSpPr>
          <p:nvPr>
            <p:ph type="body" idx="4294967295"/>
          </p:nvPr>
        </p:nvSpPr>
        <p:spPr>
          <a:xfrm>
            <a:off x="609600" y="1143000"/>
            <a:ext cx="7772400" cy="5257800"/>
          </a:xfrm>
        </p:spPr>
        <p:txBody>
          <a:bodyPr vert="horz" wrap="square" lIns="91440" tIns="45720" rIns="91440" bIns="45720" anchor="t" anchorCtr="0"/>
          <a:p>
            <a:pPr eaLnBrk="1" hangingPunct="1">
              <a:buNone/>
            </a:pPr>
            <a:r>
              <a:rPr lang="zh-CN" altLang="en-US" b="1" dirty="0">
                <a:ea typeface="楷体_GB2312" pitchFamily="49" charset="-122"/>
              </a:rPr>
              <a:t>            余3码的主要特点是：</a:t>
            </a:r>
            <a:endParaRPr lang="zh-CN" altLang="en-US" b="1" dirty="0">
              <a:ea typeface="楷体_GB2312" pitchFamily="49" charset="-122"/>
            </a:endParaRPr>
          </a:p>
          <a:p>
            <a:pPr eaLnBrk="1" hangingPunct="1">
              <a:lnSpc>
                <a:spcPct val="110000"/>
              </a:lnSpc>
              <a:buNone/>
            </a:pPr>
            <a:r>
              <a:rPr lang="zh-CN" altLang="en-US" b="1" dirty="0">
                <a:ea typeface="楷体_GB2312" pitchFamily="49" charset="-122"/>
              </a:rPr>
              <a:t>            ⑴ 这是一种无权码，但也可看作是一种特殊的有权码，即在8421码的基础上加</a:t>
            </a:r>
            <a:r>
              <a:rPr lang="zh-CN" altLang="en-US" b="1" dirty="0">
                <a:solidFill>
                  <a:srgbClr val="FF0000"/>
                </a:solidFill>
                <a:ea typeface="楷体_GB2312" pitchFamily="49" charset="-122"/>
              </a:rPr>
              <a:t>+3</a:t>
            </a:r>
            <a:r>
              <a:rPr lang="zh-CN" altLang="en-US" b="1" dirty="0">
                <a:ea typeface="楷体_GB2312" pitchFamily="49" charset="-122"/>
              </a:rPr>
              <a:t>（+0011）形成的，故称余3码。在这种编码中各位的“1”不表示一个固定的十进制数值，因而不直观。</a:t>
            </a:r>
            <a:endParaRPr lang="zh-CN" altLang="en-US" b="1" dirty="0">
              <a:ea typeface="楷体_GB2312" pitchFamily="49" charset="-122"/>
            </a:endParaRPr>
          </a:p>
          <a:p>
            <a:pPr eaLnBrk="1" hangingPunct="1">
              <a:buNone/>
            </a:pPr>
            <a:r>
              <a:rPr lang="zh-CN" altLang="en-US" b="1" dirty="0">
                <a:ea typeface="楷体_GB2312" pitchFamily="49" charset="-122"/>
              </a:rPr>
              <a:t>            ⑵ 它也是一种对9的</a:t>
            </a:r>
            <a:r>
              <a:rPr lang="zh-CN" altLang="en-US" b="1" dirty="0">
                <a:solidFill>
                  <a:srgbClr val="FF0000"/>
                </a:solidFill>
                <a:ea typeface="楷体_GB2312" pitchFamily="49" charset="-122"/>
              </a:rPr>
              <a:t>自补码</a:t>
            </a:r>
            <a:r>
              <a:rPr lang="zh-CN" altLang="en-US" b="1" dirty="0">
                <a:ea typeface="楷体_GB2312" pitchFamily="49" charset="-122"/>
              </a:rPr>
              <a:t>。</a:t>
            </a:r>
            <a:endParaRPr lang="zh-CN" altLang="en-US" b="1" dirty="0">
              <a:ea typeface="楷体_GB2312" pitchFamily="49" charset="-122"/>
            </a:endParaRPr>
          </a:p>
          <a:p>
            <a:pPr eaLnBrk="1" hangingPunct="1">
              <a:buNone/>
            </a:pPr>
            <a:r>
              <a:rPr lang="zh-CN" altLang="en-US" b="1" dirty="0">
                <a:ea typeface="楷体_GB2312" pitchFamily="49" charset="-122"/>
              </a:rPr>
              <a:t>            ⑶ 不允许出现</a:t>
            </a:r>
            <a:r>
              <a:rPr lang="zh-CN" altLang="en-US" b="1" dirty="0">
                <a:solidFill>
                  <a:srgbClr val="FF0000"/>
                </a:solidFill>
                <a:ea typeface="楷体_GB2312" pitchFamily="49" charset="-122"/>
              </a:rPr>
              <a:t>0000～0010、1101～1111</a:t>
            </a:r>
            <a:r>
              <a:rPr lang="zh-CN" altLang="en-US" b="1" dirty="0">
                <a:ea typeface="楷体_GB2312" pitchFamily="49" charset="-122"/>
              </a:rPr>
              <a:t>。这6个代码在余3码中是非法码。</a:t>
            </a:r>
            <a:endParaRPr lang="zh-CN" altLang="en-US" b="1" dirty="0">
              <a:ea typeface="楷体_GB2312" pitchFamily="49" charset="-122"/>
            </a:endParaRP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00354" name="Rectangle 2"/>
          <p:cNvSpPr>
            <a:spLocks noGrp="1"/>
          </p:cNvSpPr>
          <p:nvPr>
            <p:ph type="title" idx="4294967295"/>
          </p:nvPr>
        </p:nvSpPr>
        <p:spPr>
          <a:xfrm>
            <a:off x="685800" y="381000"/>
            <a:ext cx="7772400" cy="1143000"/>
          </a:xfrm>
        </p:spPr>
        <p:txBody>
          <a:bodyPr vert="horz" wrap="square" lIns="91440" tIns="45720" rIns="91440" bIns="45720" anchor="ctr" anchorCtr="0"/>
          <a:p>
            <a:pPr algn="l" eaLnBrk="1" hangingPunct="1"/>
            <a:r>
              <a:rPr lang="en-US" altLang="zh-CN" sz="3200" dirty="0">
                <a:solidFill>
                  <a:schemeClr val="accent2"/>
                </a:solidFill>
                <a:ea typeface="楷体_GB2312" pitchFamily="49" charset="-122"/>
              </a:rPr>
              <a:t>4</a:t>
            </a:r>
            <a:r>
              <a:rPr lang="zh-CN" altLang="en-US" sz="3200" dirty="0">
                <a:solidFill>
                  <a:schemeClr val="accent2"/>
                </a:solidFill>
                <a:ea typeface="楷体_GB2312" pitchFamily="49" charset="-122"/>
              </a:rPr>
              <a:t>.格雷码</a:t>
            </a:r>
            <a:endParaRPr lang="zh-CN" altLang="en-US" sz="3200" dirty="0">
              <a:solidFill>
                <a:schemeClr val="accent2"/>
              </a:solidFill>
              <a:ea typeface="楷体_GB2312" pitchFamily="49" charset="-122"/>
            </a:endParaRPr>
          </a:p>
        </p:txBody>
      </p:sp>
      <p:sp>
        <p:nvSpPr>
          <p:cNvPr id="100355" name="Rectangle 3"/>
          <p:cNvSpPr>
            <a:spLocks noGrp="1"/>
          </p:cNvSpPr>
          <p:nvPr>
            <p:ph type="body" idx="4294967295"/>
          </p:nvPr>
        </p:nvSpPr>
        <p:spPr>
          <a:xfrm>
            <a:off x="609600" y="1143000"/>
            <a:ext cx="8066088" cy="5257800"/>
          </a:xfrm>
        </p:spPr>
        <p:txBody>
          <a:bodyPr vert="horz" wrap="square" lIns="91440" tIns="45720" rIns="91440" bIns="45720" anchor="t" anchorCtr="0"/>
          <a:p>
            <a:pPr marL="0" indent="0" eaLnBrk="1" hangingPunct="1">
              <a:buNone/>
            </a:pPr>
            <a:r>
              <a:rPr lang="en-US" altLang="zh-CN" b="1" dirty="0"/>
              <a:t>        Gray</a:t>
            </a:r>
            <a:r>
              <a:rPr lang="zh-CN" altLang="zh-CN" b="1" dirty="0"/>
              <a:t>码</a:t>
            </a:r>
            <a:r>
              <a:rPr lang="zh-CN" altLang="en-US" b="1" dirty="0"/>
              <a:t>的</a:t>
            </a:r>
            <a:r>
              <a:rPr lang="zh-CN" altLang="zh-CN" b="1" dirty="0"/>
              <a:t>主要特点是：</a:t>
            </a:r>
            <a:endParaRPr lang="zh-CN" altLang="zh-CN" b="1" dirty="0"/>
          </a:p>
          <a:p>
            <a:pPr marL="0" indent="0">
              <a:buNone/>
            </a:pPr>
            <a:r>
              <a:rPr lang="en-US" altLang="zh-CN" b="1" dirty="0"/>
              <a:t>	</a:t>
            </a:r>
            <a:r>
              <a:rPr lang="zh-CN" altLang="en-US" b="1" dirty="0"/>
              <a:t>⑴</a:t>
            </a:r>
            <a:r>
              <a:rPr lang="zh-CN" altLang="zh-CN" b="1" dirty="0"/>
              <a:t>它也是一种无权码。</a:t>
            </a:r>
            <a:endParaRPr lang="zh-CN" altLang="zh-CN" b="1" dirty="0"/>
          </a:p>
          <a:p>
            <a:pPr marL="0" indent="0">
              <a:buNone/>
            </a:pPr>
            <a:r>
              <a:rPr lang="en-US" altLang="zh-CN" b="1" dirty="0"/>
              <a:t>	</a:t>
            </a:r>
            <a:r>
              <a:rPr lang="zh-CN" altLang="zh-CN" b="1" dirty="0"/>
              <a:t>⑵从一种代码变到相邻的下一种代码时，只有一个二进制位的状态在发生变化。</a:t>
            </a:r>
            <a:endParaRPr lang="zh-CN" altLang="zh-CN" b="1" dirty="0"/>
          </a:p>
          <a:p>
            <a:pPr marL="0" indent="0">
              <a:buNone/>
            </a:pPr>
            <a:r>
              <a:rPr lang="en-US" altLang="zh-CN" b="1" dirty="0"/>
              <a:t>	</a:t>
            </a:r>
            <a:r>
              <a:rPr lang="zh-CN" altLang="zh-CN" b="1" dirty="0"/>
              <a:t>⑶具有循环特性，即首尾两个数的</a:t>
            </a:r>
            <a:r>
              <a:rPr lang="en-US" altLang="zh-CN" b="1" dirty="0"/>
              <a:t>Gray</a:t>
            </a:r>
            <a:r>
              <a:rPr lang="zh-CN" altLang="zh-CN" b="1" dirty="0"/>
              <a:t>码也只有一个二进制位不同，因此</a:t>
            </a:r>
            <a:r>
              <a:rPr lang="en-US" altLang="zh-CN" b="1" dirty="0"/>
              <a:t>Gray</a:t>
            </a:r>
            <a:r>
              <a:rPr lang="zh-CN" altLang="zh-CN" b="1" dirty="0"/>
              <a:t>码又称为循环码。</a:t>
            </a:r>
            <a:endParaRPr lang="zh-CN" altLang="zh-CN" b="1" dirty="0"/>
          </a:p>
          <a:p>
            <a:pPr marL="0" indent="0">
              <a:buNone/>
            </a:pPr>
            <a:r>
              <a:rPr lang="en-US" altLang="zh-CN" b="1" dirty="0"/>
              <a:t>	</a:t>
            </a:r>
            <a:r>
              <a:rPr lang="zh-CN" altLang="zh-CN" b="1" dirty="0"/>
              <a:t>⑷十进制</a:t>
            </a:r>
            <a:r>
              <a:rPr lang="en-US" altLang="zh-CN" b="1" dirty="0"/>
              <a:t>Gray</a:t>
            </a:r>
            <a:r>
              <a:rPr lang="zh-CN" altLang="zh-CN" b="1" dirty="0"/>
              <a:t>码也有</a:t>
            </a:r>
            <a:r>
              <a:rPr lang="en-US" altLang="zh-CN" b="1" dirty="0"/>
              <a:t>6</a:t>
            </a:r>
            <a:r>
              <a:rPr lang="zh-CN" altLang="zh-CN" b="1" dirty="0"/>
              <a:t>个代码为非法码，视具体方案而定。</a:t>
            </a:r>
            <a:endParaRPr lang="zh-CN" altLang="zh-CN" b="1" dirty="0"/>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01378" name="Rectangle 2"/>
          <p:cNvSpPr>
            <a:spLocks noGrp="1"/>
          </p:cNvSpPr>
          <p:nvPr>
            <p:ph type="title"/>
          </p:nvPr>
        </p:nvSpPr>
        <p:spPr>
          <a:xfrm>
            <a:off x="457200" y="304800"/>
            <a:ext cx="80010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2.4.2 十进制数串</a:t>
            </a:r>
            <a:endParaRPr lang="en-US" altLang="zh-CN" sz="3600" dirty="0">
              <a:solidFill>
                <a:srgbClr val="0000FF"/>
              </a:solidFill>
              <a:latin typeface="楷体_GB2312" pitchFamily="49" charset="-122"/>
              <a:ea typeface="楷体_GB2312" pitchFamily="49" charset="-122"/>
            </a:endParaRPr>
          </a:p>
        </p:txBody>
      </p:sp>
      <p:sp>
        <p:nvSpPr>
          <p:cNvPr id="101379" name="Rectangle 3"/>
          <p:cNvSpPr>
            <a:spLocks noGrp="1"/>
          </p:cNvSpPr>
          <p:nvPr>
            <p:ph idx="1"/>
          </p:nvPr>
        </p:nvSpPr>
        <p:spPr>
          <a:xfrm>
            <a:off x="533400" y="1143000"/>
            <a:ext cx="8001000" cy="5181600"/>
          </a:xfrm>
        </p:spPr>
        <p:txBody>
          <a:bodyPr vert="horz" wrap="square" lIns="91440" tIns="45720" rIns="91440" bIns="45720" anchor="t" anchorCtr="0"/>
          <a:p>
            <a:pPr eaLnBrk="1" hangingPunct="1">
              <a:lnSpc>
                <a:spcPct val="90000"/>
              </a:lnSpc>
              <a:buNone/>
            </a:pPr>
            <a:r>
              <a:rPr lang="zh-CN" altLang="en-US" sz="2800" b="1" dirty="0">
                <a:solidFill>
                  <a:schemeClr val="accent2"/>
                </a:solidFill>
                <a:ea typeface="楷体_GB2312" pitchFamily="49" charset="-122"/>
              </a:rPr>
              <a:t>1.非压缩的十进制数串</a:t>
            </a:r>
            <a:endParaRPr lang="zh-CN" altLang="en-US" sz="2800" b="1" dirty="0">
              <a:solidFill>
                <a:schemeClr val="accent2"/>
              </a:solidFill>
              <a:ea typeface="楷体_GB2312" pitchFamily="49" charset="-122"/>
            </a:endParaRPr>
          </a:p>
          <a:p>
            <a:pPr eaLnBrk="1" hangingPunct="1">
              <a:lnSpc>
                <a:spcPct val="90000"/>
              </a:lnSpc>
              <a:buNone/>
            </a:pPr>
            <a:r>
              <a:rPr lang="zh-CN" altLang="en-US" sz="2800" b="1" dirty="0">
                <a:ea typeface="楷体_GB2312" pitchFamily="49" charset="-122"/>
              </a:rPr>
              <a:t>            非压缩的十进制数串中一个字节存放一个十进制数或符号的</a:t>
            </a:r>
            <a:r>
              <a:rPr lang="en-US" altLang="zh-CN" sz="2800" b="1" dirty="0">
                <a:ea typeface="楷体_GB2312" pitchFamily="49" charset="-122"/>
              </a:rPr>
              <a:t>ASCII-7</a:t>
            </a:r>
            <a:r>
              <a:rPr lang="zh-CN" altLang="en-US" sz="2800" b="1" dirty="0">
                <a:ea typeface="楷体_GB2312" pitchFamily="49" charset="-122"/>
              </a:rPr>
              <a:t>码。</a:t>
            </a:r>
            <a:endParaRPr lang="zh-CN" altLang="en-US" sz="2800" b="1" dirty="0">
              <a:ea typeface="楷体_GB2312" pitchFamily="49" charset="-122"/>
            </a:endParaRPr>
          </a:p>
          <a:p>
            <a:pPr eaLnBrk="1" hangingPunct="1">
              <a:lnSpc>
                <a:spcPct val="90000"/>
              </a:lnSpc>
              <a:buNone/>
            </a:pPr>
            <a:r>
              <a:rPr lang="zh-CN" altLang="en-US" sz="2800" b="1" dirty="0">
                <a:ea typeface="楷体_GB2312" pitchFamily="49" charset="-122"/>
              </a:rPr>
              <a:t>            非压缩的十进制数串又分成前分隔式数字串和后嵌入式数字串两种格式。在前分隔式数字串中，符号位占用单独一个字节，放在数值位之前，正号对应的</a:t>
            </a:r>
            <a:r>
              <a:rPr lang="en-US" altLang="zh-CN" sz="2800" b="1" dirty="0">
                <a:ea typeface="楷体_GB2312" pitchFamily="49" charset="-122"/>
              </a:rPr>
              <a:t>ASCII</a:t>
            </a:r>
            <a:r>
              <a:rPr lang="zh-CN" altLang="en-US" sz="2800" b="1" dirty="0">
                <a:ea typeface="楷体_GB2312" pitchFamily="49" charset="-122"/>
              </a:rPr>
              <a:t>码为</a:t>
            </a:r>
            <a:r>
              <a:rPr lang="zh-CN" altLang="en-US" sz="2800" b="1" dirty="0">
                <a:solidFill>
                  <a:srgbClr val="FF3300"/>
                </a:solidFill>
                <a:ea typeface="楷体_GB2312" pitchFamily="49" charset="-122"/>
              </a:rPr>
              <a:t>2</a:t>
            </a:r>
            <a:r>
              <a:rPr lang="en-US" altLang="zh-CN" sz="2800" b="1" dirty="0">
                <a:solidFill>
                  <a:srgbClr val="FF3300"/>
                </a:solidFill>
                <a:ea typeface="楷体_GB2312" pitchFamily="49" charset="-122"/>
              </a:rPr>
              <a:t>BH</a:t>
            </a:r>
            <a:r>
              <a:rPr lang="en-US" altLang="zh-CN" sz="2800" b="1" dirty="0">
                <a:ea typeface="楷体_GB2312" pitchFamily="49" charset="-122"/>
              </a:rPr>
              <a:t>，</a:t>
            </a:r>
            <a:r>
              <a:rPr lang="zh-CN" altLang="en-US" sz="2800" b="1" dirty="0">
                <a:ea typeface="楷体_GB2312" pitchFamily="49" charset="-122"/>
              </a:rPr>
              <a:t>负号对应的</a:t>
            </a:r>
            <a:r>
              <a:rPr lang="en-US" altLang="zh-CN" sz="2800" b="1" dirty="0">
                <a:ea typeface="楷体_GB2312" pitchFamily="49" charset="-122"/>
              </a:rPr>
              <a:t>ASCII</a:t>
            </a:r>
            <a:r>
              <a:rPr lang="zh-CN" altLang="en-US" sz="2800" b="1" dirty="0">
                <a:ea typeface="楷体_GB2312" pitchFamily="49" charset="-122"/>
              </a:rPr>
              <a:t>码为</a:t>
            </a:r>
            <a:r>
              <a:rPr lang="zh-CN" altLang="en-US" sz="2800" b="1" dirty="0">
                <a:solidFill>
                  <a:srgbClr val="FF3300"/>
                </a:solidFill>
                <a:ea typeface="楷体_GB2312" pitchFamily="49" charset="-122"/>
              </a:rPr>
              <a:t>2</a:t>
            </a:r>
            <a:r>
              <a:rPr lang="en-US" altLang="zh-CN" sz="2800" b="1" dirty="0">
                <a:solidFill>
                  <a:srgbClr val="FF3300"/>
                </a:solidFill>
                <a:ea typeface="楷体_GB2312" pitchFamily="49" charset="-122"/>
              </a:rPr>
              <a:t>DH</a:t>
            </a:r>
            <a:r>
              <a:rPr lang="en-US" altLang="zh-CN" sz="2800" b="1" dirty="0">
                <a:ea typeface="楷体_GB2312" pitchFamily="49" charset="-122"/>
              </a:rPr>
              <a:t>。</a:t>
            </a:r>
            <a:r>
              <a:rPr lang="zh-CN" altLang="en-US" sz="2800" b="1" dirty="0">
                <a:ea typeface="楷体_GB2312" pitchFamily="49" charset="-122"/>
              </a:rPr>
              <a:t>在后嵌入式数字串中，符号位不单独占用一个字节，而是嵌入到最低一位数字里边去。若数串为正，则最低一位数字0～9的</a:t>
            </a:r>
            <a:r>
              <a:rPr lang="en-US" altLang="zh-CN" sz="2800" b="1" dirty="0">
                <a:ea typeface="楷体_GB2312" pitchFamily="49" charset="-122"/>
              </a:rPr>
              <a:t>ASCII</a:t>
            </a:r>
            <a:r>
              <a:rPr lang="zh-CN" altLang="en-US" sz="2800" b="1" dirty="0">
                <a:ea typeface="楷体_GB2312" pitchFamily="49" charset="-122"/>
              </a:rPr>
              <a:t>码不变（30</a:t>
            </a:r>
            <a:r>
              <a:rPr lang="en-US" altLang="zh-CN" sz="2800" b="1" dirty="0">
                <a:ea typeface="楷体_GB2312" pitchFamily="49" charset="-122"/>
              </a:rPr>
              <a:t>H～39H）；</a:t>
            </a:r>
            <a:r>
              <a:rPr lang="zh-CN" altLang="en-US" sz="2800" b="1" dirty="0">
                <a:ea typeface="楷体_GB2312" pitchFamily="49" charset="-122"/>
              </a:rPr>
              <a:t>若数串为负，把负号变为40</a:t>
            </a:r>
            <a:r>
              <a:rPr lang="en-US" altLang="zh-CN" sz="2800" b="1" dirty="0">
                <a:ea typeface="楷体_GB2312" pitchFamily="49" charset="-122"/>
              </a:rPr>
              <a:t>H，</a:t>
            </a:r>
            <a:r>
              <a:rPr lang="zh-CN" altLang="en-US" sz="2800" b="1" dirty="0">
                <a:ea typeface="楷体_GB2312" pitchFamily="49" charset="-122"/>
              </a:rPr>
              <a:t>并将其与最低数值位相加，此时数字0～9的</a:t>
            </a:r>
            <a:r>
              <a:rPr lang="en-US" altLang="zh-CN" sz="2800" b="1" dirty="0">
                <a:ea typeface="楷体_GB2312" pitchFamily="49" charset="-122"/>
              </a:rPr>
              <a:t>ASCII</a:t>
            </a:r>
            <a:r>
              <a:rPr lang="zh-CN" altLang="en-US" sz="2800" b="1" dirty="0">
                <a:ea typeface="楷体_GB2312" pitchFamily="49" charset="-122"/>
              </a:rPr>
              <a:t>码变为70</a:t>
            </a:r>
            <a:r>
              <a:rPr lang="en-US" altLang="zh-CN" sz="2800" b="1" dirty="0">
                <a:ea typeface="楷体_GB2312" pitchFamily="49" charset="-122"/>
              </a:rPr>
              <a:t>H～79H。 </a:t>
            </a:r>
            <a:r>
              <a:rPr lang="zh-CN" altLang="en-US" sz="2800" b="1" dirty="0">
                <a:ea typeface="楷体_GB2312" pitchFamily="49" charset="-122"/>
              </a:rPr>
              <a:t> </a:t>
            </a:r>
            <a:endParaRPr lang="zh-CN" altLang="en-US" sz="2800" b="1" dirty="0">
              <a:ea typeface="楷体_GB2312" pitchFamily="49"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02402" name="Rectangle 2"/>
          <p:cNvSpPr>
            <a:spLocks noGrp="1"/>
          </p:cNvSpPr>
          <p:nvPr>
            <p:ph type="title"/>
          </p:nvPr>
        </p:nvSpPr>
        <p:spPr>
          <a:xfrm>
            <a:off x="457200" y="304800"/>
            <a:ext cx="80010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2.压缩的十进制数串</a:t>
            </a:r>
            <a:endParaRPr lang="en-US" altLang="zh-CN" sz="3200" dirty="0">
              <a:solidFill>
                <a:schemeClr val="accent2"/>
              </a:solidFill>
              <a:ea typeface="楷体_GB2312" pitchFamily="49" charset="-122"/>
            </a:endParaRPr>
          </a:p>
        </p:txBody>
      </p:sp>
      <p:sp>
        <p:nvSpPr>
          <p:cNvPr id="102403" name="Rectangle 3"/>
          <p:cNvSpPr>
            <a:spLocks noGrp="1"/>
          </p:cNvSpPr>
          <p:nvPr>
            <p:ph idx="1"/>
          </p:nvPr>
        </p:nvSpPr>
        <p:spPr>
          <a:xfrm>
            <a:off x="533400" y="1219200"/>
            <a:ext cx="8001000" cy="5638800"/>
          </a:xfrm>
        </p:spPr>
        <p:txBody>
          <a:bodyPr vert="horz" wrap="square" lIns="91440" tIns="45720" rIns="91440" bIns="45720" anchor="t" anchorCtr="0"/>
          <a:p>
            <a:pPr eaLnBrk="1" hangingPunct="1">
              <a:lnSpc>
                <a:spcPct val="90000"/>
              </a:lnSpc>
              <a:buNone/>
            </a:pPr>
            <a:r>
              <a:rPr lang="zh-CN" altLang="en-US" b="1" dirty="0">
                <a:ea typeface="楷体_GB2312" pitchFamily="49" charset="-122"/>
              </a:rPr>
              <a:t>            压缩的十进制数串，一个字节可存放两位</a:t>
            </a:r>
            <a:r>
              <a:rPr lang="en-US" altLang="zh-CN" b="1" dirty="0">
                <a:ea typeface="楷体_GB2312" pitchFamily="49" charset="-122"/>
              </a:rPr>
              <a:t>BCD</a:t>
            </a:r>
            <a:r>
              <a:rPr lang="zh-CN" altLang="en-US" b="1" dirty="0">
                <a:ea typeface="楷体_GB2312" pitchFamily="49" charset="-122"/>
              </a:rPr>
              <a:t>码表示的十进制数，既节省了存储空间，又便于直接进行十进制算术运算。 </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在主存中，一个压缩的十进制数串占用连续的多个字节，每位数字仅占半个字节，其值常用8421码表示。符号位也占半个字节，并存放在最低数值位之后，通常用</a:t>
            </a:r>
            <a:r>
              <a:rPr lang="en-US" altLang="zh-CN" b="1" dirty="0">
                <a:solidFill>
                  <a:srgbClr val="FF3300"/>
                </a:solidFill>
                <a:ea typeface="楷体_GB2312" pitchFamily="49" charset="-122"/>
              </a:rPr>
              <a:t>CH</a:t>
            </a:r>
            <a:r>
              <a:rPr lang="zh-CN" altLang="en-US" b="1" dirty="0">
                <a:ea typeface="楷体_GB2312" pitchFamily="49" charset="-122"/>
              </a:rPr>
              <a:t>表示正号，</a:t>
            </a:r>
            <a:r>
              <a:rPr lang="en-US" altLang="zh-CN" b="1" dirty="0">
                <a:solidFill>
                  <a:srgbClr val="FF3300"/>
                </a:solidFill>
                <a:ea typeface="楷体_GB2312" pitchFamily="49" charset="-122"/>
              </a:rPr>
              <a:t>DH</a:t>
            </a:r>
            <a:r>
              <a:rPr lang="zh-CN" altLang="en-US" b="1" dirty="0">
                <a:ea typeface="楷体_GB2312" pitchFamily="49" charset="-122"/>
              </a:rPr>
              <a:t>表示负号。在这种表示中，规定数字的个数加符号位之和必须为偶数；当和为奇数时，应在最高数值位之前补0</a:t>
            </a:r>
            <a:r>
              <a:rPr lang="en-US" altLang="zh-CN" b="1" dirty="0">
                <a:ea typeface="楷体_GB2312" pitchFamily="49" charset="-122"/>
              </a:rPr>
              <a:t>H（</a:t>
            </a:r>
            <a:r>
              <a:rPr lang="zh-CN" altLang="en-US" b="1" dirty="0">
                <a:ea typeface="楷体_GB2312" pitchFamily="49" charset="-122"/>
              </a:rPr>
              <a:t>即第一个字节的高半字节为“0000”）。 </a:t>
            </a:r>
            <a:endParaRPr lang="zh-CN" altLang="en-US" b="1" dirty="0">
              <a:ea typeface="楷体_GB2312" pitchFamily="49"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03426" name="Rectangle 2"/>
          <p:cNvSpPr>
            <a:spLocks noGrp="1"/>
          </p:cNvSpPr>
          <p:nvPr>
            <p:ph type="title"/>
          </p:nvPr>
        </p:nvSpPr>
        <p:spPr>
          <a:xfrm>
            <a:off x="381000" y="381000"/>
            <a:ext cx="8305800" cy="1143000"/>
          </a:xfrm>
        </p:spPr>
        <p:txBody>
          <a:bodyPr vert="horz" wrap="square" lIns="91440" tIns="45720" rIns="91440" bIns="45720" anchor="ctr" anchorCtr="0"/>
          <a:p>
            <a:pPr algn="l" eaLnBrk="1" hangingPunct="1"/>
            <a:r>
              <a:rPr lang="zh-CN" altLang="en-US" sz="4000" dirty="0">
                <a:solidFill>
                  <a:srgbClr val="0000FF"/>
                </a:solidFill>
                <a:latin typeface="华文新魏" panose="02010800040101010101" pitchFamily="2" charset="-122"/>
                <a:ea typeface="华文新魏" panose="02010800040101010101" pitchFamily="2" charset="-122"/>
              </a:rPr>
              <a:t>2.5  不同类型的数据表示举例 </a:t>
            </a:r>
            <a:endParaRPr lang="en-US" altLang="zh-CN" sz="4000" dirty="0">
              <a:solidFill>
                <a:srgbClr val="0000FF"/>
              </a:solidFill>
              <a:latin typeface="华文新魏" panose="02010800040101010101" pitchFamily="2" charset="-122"/>
              <a:ea typeface="华文新魏" panose="02010800040101010101" pitchFamily="2" charset="-122"/>
            </a:endParaRPr>
          </a:p>
        </p:txBody>
      </p:sp>
      <p:sp>
        <p:nvSpPr>
          <p:cNvPr id="103427" name="Rectangle 3"/>
          <p:cNvSpPr>
            <a:spLocks noGrp="1"/>
          </p:cNvSpPr>
          <p:nvPr>
            <p:ph idx="1"/>
          </p:nvPr>
        </p:nvSpPr>
        <p:spPr>
          <a:xfrm>
            <a:off x="533400" y="1371600"/>
            <a:ext cx="8001000" cy="5029200"/>
          </a:xfrm>
        </p:spPr>
        <p:txBody>
          <a:bodyPr vert="horz" wrap="square" lIns="91440" tIns="45720" rIns="91440" bIns="45720" anchor="t" anchorCtr="0"/>
          <a:p>
            <a:pPr eaLnBrk="1" hangingPunct="1">
              <a:buNone/>
            </a:pPr>
            <a:r>
              <a:rPr lang="en-US" altLang="zh-CN" b="1" dirty="0"/>
              <a:t>            </a:t>
            </a:r>
            <a:r>
              <a:rPr lang="zh-CN" altLang="zh-CN" b="1" dirty="0"/>
              <a:t>前面已经讨论了许多种不同类型的数据表示，这里将以实际应用广泛的</a:t>
            </a:r>
            <a:r>
              <a:rPr lang="en-US" altLang="zh-CN" b="1" dirty="0"/>
              <a:t>C</a:t>
            </a:r>
            <a:r>
              <a:rPr lang="zh-CN" altLang="zh-CN" b="1" dirty="0"/>
              <a:t>语言中的数据类型和现代微机中的数据表示作为实例进行介绍。</a:t>
            </a:r>
            <a:endParaRPr lang="zh-CN" altLang="en-US" b="1" dirty="0">
              <a:ea typeface="楷体_GB2312" pitchFamily="49"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04450" name="Rectangle 2"/>
          <p:cNvSpPr>
            <a:spLocks noGrp="1"/>
          </p:cNvSpPr>
          <p:nvPr>
            <p:ph type="title"/>
          </p:nvPr>
        </p:nvSpPr>
        <p:spPr>
          <a:xfrm>
            <a:off x="381000" y="381000"/>
            <a:ext cx="8305800" cy="1143000"/>
          </a:xfrm>
        </p:spPr>
        <p:txBody>
          <a:bodyPr vert="horz" wrap="square" lIns="91440" tIns="45720" rIns="91440" bIns="45720" anchor="ctr" anchorCtr="0"/>
          <a:p>
            <a:pPr algn="l" eaLnBrk="1" hangingPunct="1"/>
            <a:r>
              <a:rPr lang="zh-CN" altLang="en-US" sz="3600" dirty="0">
                <a:solidFill>
                  <a:srgbClr val="0000FF"/>
                </a:solidFill>
                <a:ea typeface="华文新魏" panose="02010800040101010101" pitchFamily="2" charset="-122"/>
              </a:rPr>
              <a:t>2.5</a:t>
            </a:r>
            <a:r>
              <a:rPr lang="en-US" altLang="zh-CN" sz="3600" dirty="0">
                <a:solidFill>
                  <a:srgbClr val="0000FF"/>
                </a:solidFill>
                <a:ea typeface="华文新魏" panose="02010800040101010101" pitchFamily="2" charset="-122"/>
              </a:rPr>
              <a:t>.1</a:t>
            </a:r>
            <a:r>
              <a:rPr lang="zh-CN" altLang="en-US" sz="3600" dirty="0">
                <a:solidFill>
                  <a:srgbClr val="0000FF"/>
                </a:solidFill>
                <a:latin typeface="华文新魏" panose="02010800040101010101" pitchFamily="2" charset="-122"/>
                <a:ea typeface="华文新魏" panose="02010800040101010101" pitchFamily="2" charset="-122"/>
              </a:rPr>
              <a:t>  </a:t>
            </a:r>
            <a:r>
              <a:rPr lang="en-US" altLang="zh-CN" sz="3600" dirty="0">
                <a:solidFill>
                  <a:srgbClr val="0000FF"/>
                </a:solidFill>
                <a:latin typeface="华文新魏" panose="02010800040101010101" pitchFamily="2" charset="-122"/>
                <a:ea typeface="华文新魏" panose="02010800040101010101" pitchFamily="2" charset="-122"/>
              </a:rPr>
              <a:t>C</a:t>
            </a:r>
            <a:r>
              <a:rPr lang="zh-CN" altLang="en-US" sz="3600" dirty="0">
                <a:solidFill>
                  <a:srgbClr val="0000FF"/>
                </a:solidFill>
                <a:latin typeface="华文新魏" panose="02010800040101010101" pitchFamily="2" charset="-122"/>
                <a:ea typeface="华文新魏" panose="02010800040101010101" pitchFamily="2" charset="-122"/>
              </a:rPr>
              <a:t>语言中的数据表示 </a:t>
            </a:r>
            <a:endParaRPr lang="en-US" altLang="zh-CN" sz="3600" dirty="0">
              <a:solidFill>
                <a:srgbClr val="0000FF"/>
              </a:solidFill>
              <a:latin typeface="华文新魏" panose="02010800040101010101" pitchFamily="2" charset="-122"/>
              <a:ea typeface="华文新魏" panose="02010800040101010101" pitchFamily="2" charset="-122"/>
            </a:endParaRPr>
          </a:p>
        </p:txBody>
      </p:sp>
      <p:sp>
        <p:nvSpPr>
          <p:cNvPr id="104451" name="Rectangle 3"/>
          <p:cNvSpPr>
            <a:spLocks noGrp="1"/>
          </p:cNvSpPr>
          <p:nvPr>
            <p:ph idx="1"/>
          </p:nvPr>
        </p:nvSpPr>
        <p:spPr>
          <a:xfrm>
            <a:off x="533400" y="1371600"/>
            <a:ext cx="8001000" cy="5029200"/>
          </a:xfrm>
        </p:spPr>
        <p:txBody>
          <a:bodyPr vert="horz" wrap="square" lIns="91440" tIns="45720" rIns="91440" bIns="45720" anchor="t" anchorCtr="0"/>
          <a:p>
            <a:pPr eaLnBrk="1" hangingPunct="1">
              <a:buNone/>
            </a:pPr>
            <a:r>
              <a:rPr lang="zh-CN" altLang="en-US" b="1" dirty="0">
                <a:ea typeface="楷体_GB2312" pitchFamily="49" charset="-122"/>
              </a:rPr>
              <a:t>            </a:t>
            </a:r>
            <a:r>
              <a:rPr lang="en-US" altLang="zh-CN" b="1" dirty="0"/>
              <a:t>C</a:t>
            </a:r>
            <a:r>
              <a:rPr lang="zh-CN" altLang="zh-CN" b="1" dirty="0"/>
              <a:t>语言的基本数据类型有整型数据、实</a:t>
            </a:r>
            <a:r>
              <a:rPr lang="en-US" altLang="zh-CN" b="1" dirty="0"/>
              <a:t>   </a:t>
            </a:r>
            <a:r>
              <a:rPr lang="zh-CN" altLang="zh-CN" b="1" dirty="0"/>
              <a:t>型数据、字符型数据</a:t>
            </a:r>
            <a:r>
              <a:rPr lang="zh-CN" altLang="en-US" b="1" dirty="0"/>
              <a:t>等。</a:t>
            </a:r>
            <a:endParaRPr lang="en-US" altLang="zh-CN" b="1" dirty="0"/>
          </a:p>
          <a:p>
            <a:pPr eaLnBrk="1" hangingPunct="1">
              <a:buNone/>
            </a:pPr>
            <a:r>
              <a:rPr lang="en-US" altLang="zh-CN" b="1" dirty="0"/>
              <a:t>            C</a:t>
            </a:r>
            <a:r>
              <a:rPr lang="zh-CN" altLang="zh-CN" b="1" dirty="0"/>
              <a:t>语言中支持多种整数类型，二进制整数分为无符号整数和带符号整数。</a:t>
            </a:r>
            <a:endParaRPr lang="en-US" altLang="zh-CN" b="1" dirty="0"/>
          </a:p>
          <a:p>
            <a:pPr eaLnBrk="1" hangingPunct="1">
              <a:buNone/>
            </a:pPr>
            <a:r>
              <a:rPr lang="en-US" altLang="zh-CN" b="1" dirty="0"/>
              <a:t>            C</a:t>
            </a:r>
            <a:r>
              <a:rPr lang="zh-CN" altLang="zh-CN" b="1" dirty="0"/>
              <a:t>语言中有</a:t>
            </a:r>
            <a:r>
              <a:rPr lang="en-US" altLang="zh-CN" b="1" dirty="0"/>
              <a:t>float</a:t>
            </a:r>
            <a:r>
              <a:rPr lang="zh-CN" altLang="zh-CN" b="1" dirty="0"/>
              <a:t>和</a:t>
            </a:r>
            <a:r>
              <a:rPr lang="en-US" altLang="zh-CN" b="1" dirty="0"/>
              <a:t>double</a:t>
            </a:r>
            <a:r>
              <a:rPr lang="zh-CN" altLang="zh-CN" b="1" dirty="0"/>
              <a:t>两种不同浮点数类型，分别对应</a:t>
            </a:r>
            <a:r>
              <a:rPr lang="en-US" altLang="zh-CN" b="1" dirty="0"/>
              <a:t>IEEE 754</a:t>
            </a:r>
            <a:r>
              <a:rPr lang="zh-CN" altLang="zh-CN" b="1" dirty="0"/>
              <a:t>单精度浮点数格式（</a:t>
            </a:r>
            <a:r>
              <a:rPr lang="en-US" altLang="zh-CN" b="1" dirty="0"/>
              <a:t>32</a:t>
            </a:r>
            <a:r>
              <a:rPr lang="zh-CN" altLang="zh-CN" b="1" dirty="0"/>
              <a:t>位）和双精度浮点数格式（</a:t>
            </a:r>
            <a:r>
              <a:rPr lang="en-US" altLang="zh-CN" b="1" dirty="0"/>
              <a:t>64</a:t>
            </a:r>
            <a:r>
              <a:rPr lang="zh-CN" altLang="zh-CN" b="1" dirty="0"/>
              <a:t>位）</a:t>
            </a:r>
            <a:r>
              <a:rPr lang="zh-CN" altLang="en-US" b="1" dirty="0"/>
              <a:t>。</a:t>
            </a:r>
            <a:endParaRPr lang="zh-CN" altLang="en-US" b="1" dirty="0">
              <a:ea typeface="楷体_GB2312" pitchFamily="49"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05474" name="Rectangle 2"/>
          <p:cNvSpPr>
            <a:spLocks noGrp="1"/>
          </p:cNvSpPr>
          <p:nvPr>
            <p:ph type="title"/>
          </p:nvPr>
        </p:nvSpPr>
        <p:spPr>
          <a:xfrm>
            <a:off x="381000" y="381000"/>
            <a:ext cx="83058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2.5</a:t>
            </a:r>
            <a:r>
              <a:rPr lang="en-US" altLang="zh-CN" sz="3600" dirty="0">
                <a:solidFill>
                  <a:srgbClr val="0000FF"/>
                </a:solidFill>
                <a:latin typeface="华文新魏" panose="02010800040101010101" pitchFamily="2" charset="-122"/>
                <a:ea typeface="华文新魏" panose="02010800040101010101" pitchFamily="2" charset="-122"/>
              </a:rPr>
              <a:t>.2</a:t>
            </a:r>
            <a:r>
              <a:rPr lang="zh-CN" altLang="en-US" sz="3600" dirty="0">
                <a:solidFill>
                  <a:srgbClr val="0000FF"/>
                </a:solidFill>
                <a:latin typeface="华文新魏" panose="02010800040101010101" pitchFamily="2" charset="-122"/>
                <a:ea typeface="华文新魏" panose="02010800040101010101" pitchFamily="2" charset="-122"/>
              </a:rPr>
              <a:t>  现代微机系统中的数据表示举例 </a:t>
            </a:r>
            <a:endParaRPr lang="en-US" altLang="zh-CN" sz="3600" dirty="0">
              <a:solidFill>
                <a:srgbClr val="0000FF"/>
              </a:solidFill>
              <a:latin typeface="华文新魏" panose="02010800040101010101" pitchFamily="2" charset="-122"/>
              <a:ea typeface="华文新魏" panose="02010800040101010101" pitchFamily="2" charset="-122"/>
            </a:endParaRPr>
          </a:p>
        </p:txBody>
      </p:sp>
      <p:sp>
        <p:nvSpPr>
          <p:cNvPr id="105475" name="Rectangle 3"/>
          <p:cNvSpPr>
            <a:spLocks noGrp="1"/>
          </p:cNvSpPr>
          <p:nvPr>
            <p:ph idx="1"/>
          </p:nvPr>
        </p:nvSpPr>
        <p:spPr>
          <a:xfrm>
            <a:off x="533400" y="1371600"/>
            <a:ext cx="8001000" cy="5029200"/>
          </a:xfrm>
        </p:spPr>
        <p:txBody>
          <a:bodyPr vert="horz" wrap="square" lIns="91440" tIns="45720" rIns="91440" bIns="45720" anchor="t" anchorCtr="0"/>
          <a:p>
            <a:pPr eaLnBrk="1" hangingPunct="1">
              <a:buNone/>
            </a:pPr>
            <a:r>
              <a:rPr lang="zh-CN" altLang="en-US" b="1" dirty="0">
                <a:ea typeface="楷体_GB2312" pitchFamily="49" charset="-122"/>
              </a:rPr>
              <a:t>         现代的微机系统大多采用</a:t>
            </a:r>
            <a:r>
              <a:rPr lang="en-US" altLang="zh-CN" b="1" dirty="0">
                <a:solidFill>
                  <a:srgbClr val="000000"/>
                </a:solidFill>
                <a:ea typeface="楷体_GB2312" pitchFamily="49" charset="-122"/>
              </a:rPr>
              <a:t>Intel</a:t>
            </a:r>
            <a:r>
              <a:rPr lang="zh-CN" altLang="en-US" b="1" dirty="0">
                <a:solidFill>
                  <a:srgbClr val="000000"/>
                </a:solidFill>
                <a:ea typeface="楷体_GB2312" pitchFamily="49" charset="-122"/>
              </a:rPr>
              <a:t>系列的微处理器，</a:t>
            </a:r>
            <a:r>
              <a:rPr lang="zh-CN" altLang="en-US" b="1" dirty="0">
                <a:ea typeface="楷体_GB2312" pitchFamily="49" charset="-122"/>
              </a:rPr>
              <a:t>近年来</a:t>
            </a:r>
            <a:r>
              <a:rPr lang="zh-CN" altLang="en-US" b="1" dirty="0">
                <a:solidFill>
                  <a:srgbClr val="000000"/>
                </a:solidFill>
                <a:ea typeface="楷体_GB2312" pitchFamily="49" charset="-122"/>
              </a:rPr>
              <a:t>，</a:t>
            </a:r>
            <a:r>
              <a:rPr lang="en-US" altLang="zh-CN" b="1" dirty="0">
                <a:solidFill>
                  <a:srgbClr val="000000"/>
                </a:solidFill>
                <a:ea typeface="楷体_GB2312" pitchFamily="49" charset="-122"/>
              </a:rPr>
              <a:t>Intel</a:t>
            </a:r>
            <a:r>
              <a:rPr lang="zh-CN" altLang="en-US" b="1" dirty="0">
                <a:solidFill>
                  <a:srgbClr val="000000"/>
                </a:solidFill>
                <a:ea typeface="楷体_GB2312" pitchFamily="49" charset="-122"/>
              </a:rPr>
              <a:t>的微处理器有了极大的发展，形成了</a:t>
            </a:r>
            <a:r>
              <a:rPr lang="en-US" altLang="zh-CN" b="1" dirty="0">
                <a:solidFill>
                  <a:srgbClr val="000000"/>
                </a:solidFill>
                <a:ea typeface="楷体_GB2312" pitchFamily="49" charset="-122"/>
              </a:rPr>
              <a:t>IA-32</a:t>
            </a:r>
            <a:r>
              <a:rPr lang="zh-CN" altLang="en-US" b="1" dirty="0">
                <a:solidFill>
                  <a:srgbClr val="000000"/>
                </a:solidFill>
                <a:ea typeface="楷体_GB2312" pitchFamily="49" charset="-122"/>
              </a:rPr>
              <a:t>结构。</a:t>
            </a:r>
            <a:endParaRPr lang="zh-CN" altLang="en-US" b="1" dirty="0">
              <a:solidFill>
                <a:srgbClr val="000000"/>
              </a:solidFill>
              <a:ea typeface="楷体_GB2312" pitchFamily="49" charset="-122"/>
            </a:endParaRPr>
          </a:p>
          <a:p>
            <a:pPr eaLnBrk="1" hangingPunct="1">
              <a:buNone/>
            </a:pPr>
            <a:r>
              <a:rPr lang="zh-CN" altLang="en-US" b="1" dirty="0">
                <a:solidFill>
                  <a:srgbClr val="000000"/>
                </a:solidFill>
                <a:ea typeface="楷体_GB2312" pitchFamily="49" charset="-122"/>
              </a:rPr>
              <a:t>         </a:t>
            </a:r>
            <a:r>
              <a:rPr lang="en-US" altLang="zh-CN" b="1" dirty="0">
                <a:solidFill>
                  <a:srgbClr val="000000"/>
                </a:solidFill>
                <a:ea typeface="楷体_GB2312" pitchFamily="49" charset="-122"/>
              </a:rPr>
              <a:t>IA-32</a:t>
            </a:r>
            <a:r>
              <a:rPr lang="zh-CN" altLang="en-US" b="1" dirty="0">
                <a:solidFill>
                  <a:srgbClr val="000000"/>
                </a:solidFill>
                <a:ea typeface="楷体_GB2312" pitchFamily="49" charset="-122"/>
              </a:rPr>
              <a:t>结构的基本数据类型是字节、字、双字</a:t>
            </a:r>
            <a:r>
              <a:rPr lang="en-US" altLang="zh-CN" b="1" dirty="0">
                <a:solidFill>
                  <a:srgbClr val="000000"/>
                </a:solidFill>
                <a:ea typeface="楷体_GB2312" pitchFamily="49" charset="-122"/>
              </a:rPr>
              <a:t>、</a:t>
            </a:r>
            <a:r>
              <a:rPr lang="zh-CN" altLang="en-US" b="1" dirty="0">
                <a:solidFill>
                  <a:srgbClr val="000000"/>
                </a:solidFill>
                <a:ea typeface="楷体_GB2312" pitchFamily="49" charset="-122"/>
              </a:rPr>
              <a:t>四字和双四字。</a:t>
            </a:r>
            <a:r>
              <a:rPr lang="zh-CN" altLang="en-US" b="1" dirty="0">
                <a:ea typeface="楷体_GB2312" pitchFamily="49" charset="-122"/>
              </a:rPr>
              <a:t> </a:t>
            </a:r>
            <a:endParaRPr lang="zh-CN" altLang="en-US" b="1" dirty="0">
              <a:ea typeface="楷体_GB2312" pitchFamily="49"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graphicFrame>
        <p:nvGraphicFramePr>
          <p:cNvPr id="106498" name="Object 3"/>
          <p:cNvGraphicFramePr>
            <a:graphicFrameLocks noChangeAspect="1"/>
          </p:cNvGraphicFramePr>
          <p:nvPr/>
        </p:nvGraphicFramePr>
        <p:xfrm>
          <a:off x="228600" y="1482725"/>
          <a:ext cx="8610600" cy="4152900"/>
        </p:xfrm>
        <a:graphic>
          <a:graphicData uri="http://schemas.openxmlformats.org/presentationml/2006/ole">
            <mc:AlternateContent xmlns:mc="http://schemas.openxmlformats.org/markup-compatibility/2006">
              <mc:Choice xmlns:v="urn:schemas-microsoft-com:vml" Requires="v">
                <p:oleObj spid="_x0000_s3091" name="" r:id="rId1" imgW="4229100" imgH="2042160" progId="Visio.Drawing.6">
                  <p:embed/>
                </p:oleObj>
              </mc:Choice>
              <mc:Fallback>
                <p:oleObj name="" r:id="rId1" imgW="4229100" imgH="2042160" progId="Visio.Drawing.6">
                  <p:embed/>
                  <p:pic>
                    <p:nvPicPr>
                      <p:cNvPr id="0" name="图片 3090"/>
                      <p:cNvPicPr/>
                      <p:nvPr/>
                    </p:nvPicPr>
                    <p:blipFill>
                      <a:blip r:embed="rId2"/>
                      <a:stretch>
                        <a:fillRect/>
                      </a:stretch>
                    </p:blipFill>
                    <p:spPr>
                      <a:xfrm>
                        <a:off x="228600" y="1482725"/>
                        <a:ext cx="8610600" cy="4152900"/>
                      </a:xfrm>
                      <a:prstGeom prst="rect">
                        <a:avLst/>
                      </a:prstGeom>
                      <a:noFill/>
                      <a:ln w="38100">
                        <a:noFill/>
                        <a:miter/>
                      </a:ln>
                    </p:spPr>
                  </p:pic>
                </p:oleObj>
              </mc:Fallback>
            </mc:AlternateContent>
          </a:graphicData>
        </a:graphic>
      </p:graphicFrame>
      <p:sp>
        <p:nvSpPr>
          <p:cNvPr id="106499" name="Rectangle 5"/>
          <p:cNvSpPr>
            <a:spLocks noGrp="1"/>
          </p:cNvSpPr>
          <p:nvPr>
            <p:ph type="title"/>
          </p:nvPr>
        </p:nvSpPr>
        <p:spPr>
          <a:xfrm>
            <a:off x="685800" y="381000"/>
            <a:ext cx="7772400" cy="1143000"/>
          </a:xfrm>
        </p:spPr>
        <p:txBody>
          <a:bodyPr vert="horz" wrap="square" lIns="91440" tIns="45720" rIns="91440" bIns="45720" anchor="ctr" anchorCtr="0"/>
          <a:p>
            <a:pPr algn="l" eaLnBrk="1" hangingPunct="1"/>
            <a:r>
              <a:rPr lang="en-US" altLang="zh-CN" sz="3200" u="sng" dirty="0">
                <a:solidFill>
                  <a:srgbClr val="0000FF"/>
                </a:solidFill>
                <a:ea typeface="楷体_GB2312" pitchFamily="49" charset="-122"/>
              </a:rPr>
              <a:t>IA-32</a:t>
            </a:r>
            <a:r>
              <a:rPr lang="zh-CN" altLang="en-US" sz="3200" u="sng" dirty="0">
                <a:solidFill>
                  <a:srgbClr val="0000FF"/>
                </a:solidFill>
                <a:ea typeface="楷体_GB2312" pitchFamily="49" charset="-122"/>
              </a:rPr>
              <a:t>结构的基本数据类型</a:t>
            </a:r>
            <a:endParaRPr lang="zh-CN" altLang="en-US" sz="3200" u="sng" dirty="0">
              <a:solidFill>
                <a:srgbClr val="0000FF"/>
              </a:solidFill>
              <a:ea typeface="楷体_GB2312" pitchFamily="49" charset="-122"/>
            </a:endParaRPr>
          </a:p>
        </p:txBody>
      </p:sp>
      <p:sp>
        <p:nvSpPr>
          <p:cNvPr id="106500" name="Rectangle 6"/>
          <p:cNvSpPr>
            <a:spLocks noGrp="1"/>
          </p:cNvSpPr>
          <p:nvPr>
            <p:ph idx="1"/>
          </p:nvPr>
        </p:nvSpPr>
        <p:spPr>
          <a:xfrm>
            <a:off x="685800" y="5791200"/>
            <a:ext cx="7772400" cy="838200"/>
          </a:xfrm>
        </p:spPr>
        <p:txBody>
          <a:bodyPr vert="horz" wrap="square" lIns="91440" tIns="45720" rIns="91440" bIns="45720" anchor="t" anchorCtr="0"/>
          <a:p>
            <a:pPr algn="ctr" eaLnBrk="1" hangingPunct="1">
              <a:buNone/>
            </a:pPr>
            <a:r>
              <a:rPr lang="zh-CN" altLang="en-US" sz="2400" b="1" dirty="0"/>
              <a:t>图2-9  </a:t>
            </a:r>
            <a:r>
              <a:rPr lang="en-US" altLang="zh-CN" sz="2400" b="1" dirty="0"/>
              <a:t>IA-32</a:t>
            </a:r>
            <a:r>
              <a:rPr lang="zh-CN" altLang="en-US" sz="2400" b="1" dirty="0"/>
              <a:t>结构的基本数据类型</a:t>
            </a:r>
            <a:endParaRPr lang="zh-CN" altLang="en-US" sz="2400" b="1" dirty="0"/>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07522" name="Rectangle 2"/>
          <p:cNvSpPr>
            <a:spLocks noGrp="1"/>
          </p:cNvSpPr>
          <p:nvPr>
            <p:ph type="title"/>
          </p:nvPr>
        </p:nvSpPr>
        <p:spPr>
          <a:xfrm>
            <a:off x="533400" y="457200"/>
            <a:ext cx="7620000" cy="446088"/>
          </a:xfrm>
        </p:spPr>
        <p:txBody>
          <a:bodyPr vert="horz" wrap="square" lIns="91440" tIns="45720" rIns="91440" bIns="45720" anchor="ctr" anchorCtr="0"/>
          <a:p>
            <a:pPr algn="just" eaLnBrk="1" hangingPunct="1"/>
            <a:r>
              <a:rPr lang="zh-CN" altLang="en-US" sz="3200" dirty="0">
                <a:solidFill>
                  <a:schemeClr val="accent2"/>
                </a:solidFill>
                <a:ea typeface="楷体_GB2312" pitchFamily="49" charset="-122"/>
              </a:rPr>
              <a:t>1.无</a:t>
            </a:r>
            <a:r>
              <a:rPr lang="zh-CN" altLang="en-US" sz="3200" dirty="0">
                <a:solidFill>
                  <a:schemeClr val="accent2"/>
                </a:solidFill>
                <a:latin typeface="楷体_GB2312" pitchFamily="49" charset="-122"/>
                <a:ea typeface="楷体_GB2312" pitchFamily="49" charset="-122"/>
              </a:rPr>
              <a:t>符号整数</a:t>
            </a:r>
            <a:endParaRPr lang="zh-CN" altLang="en-US" sz="3200" dirty="0">
              <a:solidFill>
                <a:schemeClr val="accent2"/>
              </a:solidFill>
              <a:latin typeface="楷体_GB2312" pitchFamily="49" charset="-122"/>
              <a:ea typeface="楷体_GB2312" pitchFamily="49" charset="-122"/>
            </a:endParaRPr>
          </a:p>
        </p:txBody>
      </p:sp>
      <p:sp>
        <p:nvSpPr>
          <p:cNvPr id="107523" name="Rectangle 3"/>
          <p:cNvSpPr>
            <a:spLocks noGrp="1"/>
          </p:cNvSpPr>
          <p:nvPr>
            <p:ph idx="1"/>
          </p:nvPr>
        </p:nvSpPr>
        <p:spPr>
          <a:xfrm>
            <a:off x="609600" y="990600"/>
            <a:ext cx="7848600" cy="5867400"/>
          </a:xfrm>
        </p:spPr>
        <p:txBody>
          <a:bodyPr vert="horz" wrap="square" lIns="91440" tIns="45720" rIns="91440" bIns="45720" anchor="t" anchorCtr="0"/>
          <a:p>
            <a:pPr eaLnBrk="1" hangingPunct="1">
              <a:lnSpc>
                <a:spcPct val="90000"/>
              </a:lnSpc>
              <a:buNone/>
            </a:pPr>
            <a:r>
              <a:rPr lang="zh-CN" altLang="en-US" b="1" dirty="0">
                <a:solidFill>
                  <a:srgbClr val="000000"/>
                </a:solidFill>
                <a:ea typeface="楷体_GB2312" pitchFamily="49" charset="-122"/>
              </a:rPr>
              <a:t>            无符号整数是包含字节、字、双字和四字的无符号的二进制数。无符号整数的范围，对于字节，从</a:t>
            </a:r>
            <a:r>
              <a:rPr lang="zh-CN" altLang="en-US" b="1" dirty="0">
                <a:solidFill>
                  <a:srgbClr val="FF3300"/>
                </a:solidFill>
                <a:ea typeface="楷体_GB2312" pitchFamily="49" charset="-122"/>
              </a:rPr>
              <a:t>0～255</a:t>
            </a:r>
            <a:r>
              <a:rPr lang="zh-CN" altLang="en-US" b="1" dirty="0">
                <a:solidFill>
                  <a:srgbClr val="000000"/>
                </a:solidFill>
                <a:ea typeface="楷体_GB2312" pitchFamily="49" charset="-122"/>
              </a:rPr>
              <a:t>；对于字，从</a:t>
            </a:r>
            <a:r>
              <a:rPr lang="zh-CN" altLang="en-US" b="1" dirty="0">
                <a:solidFill>
                  <a:srgbClr val="FF3300"/>
                </a:solidFill>
                <a:ea typeface="楷体_GB2312" pitchFamily="49" charset="-122"/>
              </a:rPr>
              <a:t>0～65535</a:t>
            </a:r>
            <a:r>
              <a:rPr lang="zh-CN" altLang="en-US" b="1" dirty="0">
                <a:solidFill>
                  <a:srgbClr val="000000"/>
                </a:solidFill>
                <a:ea typeface="楷体_GB2312" pitchFamily="49" charset="-122"/>
              </a:rPr>
              <a:t>；对于双字，从</a:t>
            </a:r>
            <a:r>
              <a:rPr lang="zh-CN" altLang="en-US" b="1" dirty="0">
                <a:solidFill>
                  <a:srgbClr val="FF3300"/>
                </a:solidFill>
                <a:ea typeface="楷体_GB2312" pitchFamily="49" charset="-122"/>
              </a:rPr>
              <a:t>0～2</a:t>
            </a:r>
            <a:r>
              <a:rPr lang="zh-CN" altLang="en-US" b="1" baseline="30000" dirty="0">
                <a:solidFill>
                  <a:srgbClr val="FF3300"/>
                </a:solidFill>
                <a:ea typeface="楷体_GB2312" pitchFamily="49" charset="-122"/>
              </a:rPr>
              <a:t>32 </a:t>
            </a:r>
            <a:r>
              <a:rPr lang="zh-CN" altLang="en-US" b="1" dirty="0">
                <a:solidFill>
                  <a:srgbClr val="FF3300"/>
                </a:solidFill>
                <a:ea typeface="楷体_GB2312" pitchFamily="49" charset="-122"/>
              </a:rPr>
              <a:t>-1</a:t>
            </a:r>
            <a:r>
              <a:rPr lang="zh-CN" altLang="en-US" b="1" dirty="0">
                <a:solidFill>
                  <a:srgbClr val="000000"/>
                </a:solidFill>
                <a:ea typeface="楷体_GB2312" pitchFamily="49" charset="-122"/>
              </a:rPr>
              <a:t>；对于四字，从</a:t>
            </a:r>
            <a:r>
              <a:rPr lang="zh-CN" altLang="en-US" b="1" dirty="0">
                <a:solidFill>
                  <a:srgbClr val="FF3300"/>
                </a:solidFill>
                <a:ea typeface="楷体_GB2312" pitchFamily="49" charset="-122"/>
              </a:rPr>
              <a:t>0～2</a:t>
            </a:r>
            <a:r>
              <a:rPr lang="zh-CN" altLang="en-US" b="1" baseline="30000" dirty="0">
                <a:solidFill>
                  <a:srgbClr val="FF3300"/>
                </a:solidFill>
                <a:ea typeface="楷体_GB2312" pitchFamily="49" charset="-122"/>
              </a:rPr>
              <a:t>64</a:t>
            </a:r>
            <a:r>
              <a:rPr lang="zh-CN" altLang="en-US" b="1" dirty="0">
                <a:solidFill>
                  <a:srgbClr val="FF3300"/>
                </a:solidFill>
                <a:ea typeface="楷体_GB2312" pitchFamily="49" charset="-122"/>
              </a:rPr>
              <a:t>-1</a:t>
            </a:r>
            <a:r>
              <a:rPr lang="zh-CN" altLang="en-US" b="1" dirty="0">
                <a:ea typeface="楷体_GB2312" pitchFamily="49" charset="-122"/>
              </a:rPr>
              <a:t>。</a:t>
            </a:r>
            <a:endParaRPr lang="zh-CN" altLang="en-US" b="1" dirty="0">
              <a:ea typeface="楷体_GB2312" pitchFamily="49" charset="-122"/>
            </a:endParaRPr>
          </a:p>
          <a:p>
            <a:pPr eaLnBrk="1" hangingPunct="1">
              <a:lnSpc>
                <a:spcPct val="90000"/>
              </a:lnSpc>
              <a:buNone/>
            </a:pPr>
            <a:r>
              <a:rPr lang="zh-CN" altLang="en-US" b="1" dirty="0">
                <a:solidFill>
                  <a:srgbClr val="000000"/>
                </a:solidFill>
                <a:ea typeface="楷体_GB2312" pitchFamily="49" charset="-122"/>
              </a:rPr>
              <a:t> </a:t>
            </a:r>
            <a:r>
              <a:rPr lang="zh-CN" altLang="en-US" b="1" dirty="0">
                <a:solidFill>
                  <a:schemeClr val="accent2"/>
                </a:solidFill>
                <a:ea typeface="楷体_GB2312" pitchFamily="49" charset="-122"/>
              </a:rPr>
              <a:t>2.带符号整数</a:t>
            </a:r>
            <a:endParaRPr lang="zh-CN" altLang="en-US" b="1" dirty="0">
              <a:solidFill>
                <a:schemeClr val="accent2"/>
              </a:solidFill>
              <a:ea typeface="楷体_GB2312" pitchFamily="49" charset="-122"/>
            </a:endParaRPr>
          </a:p>
          <a:p>
            <a:pPr eaLnBrk="1" hangingPunct="1">
              <a:lnSpc>
                <a:spcPct val="90000"/>
              </a:lnSpc>
              <a:buNone/>
            </a:pPr>
            <a:r>
              <a:rPr lang="zh-CN" altLang="en-US" b="1" dirty="0">
                <a:solidFill>
                  <a:srgbClr val="000000"/>
                </a:solidFill>
                <a:ea typeface="楷体_GB2312" pitchFamily="49" charset="-122"/>
              </a:rPr>
              <a:t>            带符号整数是包含字节、字、双字和四字的带符号的二进制定点整数。正数的符号位为0，负数的符号位为1。对于字节，从</a:t>
            </a:r>
            <a:r>
              <a:rPr lang="zh-CN" altLang="en-US" b="1" dirty="0">
                <a:solidFill>
                  <a:srgbClr val="FF3300"/>
                </a:solidFill>
                <a:ea typeface="楷体_GB2312" pitchFamily="49" charset="-122"/>
              </a:rPr>
              <a:t>-128～+127</a:t>
            </a:r>
            <a:r>
              <a:rPr lang="zh-CN" altLang="en-US" b="1" dirty="0">
                <a:solidFill>
                  <a:srgbClr val="000000"/>
                </a:solidFill>
                <a:ea typeface="楷体_GB2312" pitchFamily="49" charset="-122"/>
              </a:rPr>
              <a:t>；对于字，从</a:t>
            </a:r>
            <a:endParaRPr lang="zh-CN" altLang="en-US" b="1" dirty="0">
              <a:solidFill>
                <a:srgbClr val="000000"/>
              </a:solidFill>
              <a:ea typeface="楷体_GB2312" pitchFamily="49" charset="-122"/>
            </a:endParaRPr>
          </a:p>
          <a:p>
            <a:pPr eaLnBrk="1" hangingPunct="1">
              <a:lnSpc>
                <a:spcPct val="90000"/>
              </a:lnSpc>
              <a:buNone/>
            </a:pPr>
            <a:r>
              <a:rPr lang="zh-CN" altLang="en-US" b="1" dirty="0">
                <a:solidFill>
                  <a:srgbClr val="000000"/>
                </a:solidFill>
                <a:ea typeface="楷体_GB2312" pitchFamily="49" charset="-122"/>
              </a:rPr>
              <a:t>    </a:t>
            </a:r>
            <a:r>
              <a:rPr lang="zh-CN" altLang="en-US" b="1" dirty="0">
                <a:solidFill>
                  <a:srgbClr val="FF3300"/>
                </a:solidFill>
                <a:ea typeface="楷体_GB2312" pitchFamily="49" charset="-122"/>
              </a:rPr>
              <a:t>-32768～+32767</a:t>
            </a:r>
            <a:r>
              <a:rPr lang="zh-CN" altLang="en-US" b="1" dirty="0">
                <a:solidFill>
                  <a:srgbClr val="000000"/>
                </a:solidFill>
                <a:ea typeface="楷体_GB2312" pitchFamily="49" charset="-122"/>
              </a:rPr>
              <a:t>；对于双字，从</a:t>
            </a:r>
            <a:r>
              <a:rPr lang="zh-CN" altLang="en-US" b="1" dirty="0">
                <a:solidFill>
                  <a:srgbClr val="FF3300"/>
                </a:solidFill>
                <a:ea typeface="楷体_GB2312" pitchFamily="49" charset="-122"/>
              </a:rPr>
              <a:t>-2</a:t>
            </a:r>
            <a:r>
              <a:rPr lang="zh-CN" altLang="en-US" b="1" baseline="30000" dirty="0">
                <a:solidFill>
                  <a:srgbClr val="FF3300"/>
                </a:solidFill>
                <a:ea typeface="楷体_GB2312" pitchFamily="49" charset="-122"/>
              </a:rPr>
              <a:t>31</a:t>
            </a:r>
            <a:r>
              <a:rPr lang="zh-CN" altLang="en-US" b="1" dirty="0">
                <a:solidFill>
                  <a:srgbClr val="FF3300"/>
                </a:solidFill>
                <a:ea typeface="楷体_GB2312" pitchFamily="49" charset="-122"/>
              </a:rPr>
              <a:t>～+2</a:t>
            </a:r>
            <a:r>
              <a:rPr lang="zh-CN" altLang="en-US" b="1" baseline="30000" dirty="0">
                <a:solidFill>
                  <a:srgbClr val="FF3300"/>
                </a:solidFill>
                <a:ea typeface="楷体_GB2312" pitchFamily="49" charset="-122"/>
              </a:rPr>
              <a:t>31</a:t>
            </a:r>
            <a:r>
              <a:rPr lang="zh-CN" altLang="en-US" b="1" dirty="0">
                <a:solidFill>
                  <a:srgbClr val="FF3300"/>
                </a:solidFill>
                <a:ea typeface="楷体_GB2312" pitchFamily="49" charset="-122"/>
              </a:rPr>
              <a:t>-1</a:t>
            </a:r>
            <a:r>
              <a:rPr lang="zh-CN" altLang="en-US" b="1" dirty="0">
                <a:solidFill>
                  <a:srgbClr val="000000"/>
                </a:solidFill>
                <a:ea typeface="楷体_GB2312" pitchFamily="49" charset="-122"/>
              </a:rPr>
              <a:t>；对于四字，从</a:t>
            </a:r>
            <a:r>
              <a:rPr lang="zh-CN" altLang="en-US" b="1" dirty="0">
                <a:solidFill>
                  <a:srgbClr val="FF3300"/>
                </a:solidFill>
                <a:ea typeface="楷体_GB2312" pitchFamily="49" charset="-122"/>
              </a:rPr>
              <a:t>-2</a:t>
            </a:r>
            <a:r>
              <a:rPr lang="zh-CN" altLang="en-US" b="1" baseline="30000" dirty="0">
                <a:solidFill>
                  <a:srgbClr val="FF3300"/>
                </a:solidFill>
                <a:ea typeface="楷体_GB2312" pitchFamily="49" charset="-122"/>
              </a:rPr>
              <a:t>63</a:t>
            </a:r>
            <a:r>
              <a:rPr lang="zh-CN" altLang="en-US" b="1" dirty="0">
                <a:solidFill>
                  <a:srgbClr val="FF3300"/>
                </a:solidFill>
                <a:ea typeface="楷体_GB2312" pitchFamily="49" charset="-122"/>
              </a:rPr>
              <a:t>～+2</a:t>
            </a:r>
            <a:r>
              <a:rPr lang="zh-CN" altLang="en-US" b="1" baseline="30000" dirty="0">
                <a:solidFill>
                  <a:srgbClr val="FF3300"/>
                </a:solidFill>
                <a:ea typeface="楷体_GB2312" pitchFamily="49" charset="-122"/>
              </a:rPr>
              <a:t>63</a:t>
            </a:r>
            <a:r>
              <a:rPr lang="zh-CN" altLang="en-US" b="1" dirty="0">
                <a:solidFill>
                  <a:srgbClr val="FF3300"/>
                </a:solidFill>
                <a:ea typeface="楷体_GB2312" pitchFamily="49" charset="-122"/>
              </a:rPr>
              <a:t>-1</a:t>
            </a:r>
            <a:r>
              <a:rPr lang="zh-CN" altLang="en-US" b="1" dirty="0">
                <a:solidFill>
                  <a:srgbClr val="000000"/>
                </a:solidFill>
                <a:ea typeface="楷体_GB2312" pitchFamily="49" charset="-122"/>
              </a:rPr>
              <a:t>。</a:t>
            </a:r>
            <a:endParaRPr lang="zh-CN" altLang="en-US" b="1" dirty="0">
              <a:solidFill>
                <a:srgbClr val="000000"/>
              </a:solidFill>
              <a:ea typeface="楷体_GB2312" pitchFamily="49" charset="-122"/>
            </a:endParaRP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08546" name="Rectangle 2"/>
          <p:cNvSpPr>
            <a:spLocks noGrp="1"/>
          </p:cNvSpPr>
          <p:nvPr>
            <p:ph type="title"/>
          </p:nvPr>
        </p:nvSpPr>
        <p:spPr>
          <a:xfrm>
            <a:off x="609600" y="685800"/>
            <a:ext cx="7924800" cy="446088"/>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3.浮点数</a:t>
            </a:r>
            <a:endParaRPr lang="zh-CN" altLang="en-US" sz="3200" dirty="0">
              <a:solidFill>
                <a:schemeClr val="accent2"/>
              </a:solidFill>
              <a:ea typeface="楷体_GB2312" pitchFamily="49" charset="-122"/>
            </a:endParaRPr>
          </a:p>
        </p:txBody>
      </p:sp>
      <p:sp>
        <p:nvSpPr>
          <p:cNvPr id="108547" name="Rectangle 3"/>
          <p:cNvSpPr>
            <a:spLocks noGrp="1"/>
          </p:cNvSpPr>
          <p:nvPr>
            <p:ph idx="1"/>
          </p:nvPr>
        </p:nvSpPr>
        <p:spPr>
          <a:xfrm>
            <a:off x="533400" y="1219200"/>
            <a:ext cx="7886700" cy="5334000"/>
          </a:xfrm>
        </p:spPr>
        <p:txBody>
          <a:bodyPr vert="horz" wrap="square" lIns="91440" tIns="45720" rIns="91440" bIns="45720" anchor="t" anchorCtr="0"/>
          <a:p>
            <a:pPr eaLnBrk="1" hangingPunct="1">
              <a:buNone/>
            </a:pPr>
            <a:r>
              <a:rPr lang="zh-CN" altLang="en-US" b="1" dirty="0">
                <a:solidFill>
                  <a:srgbClr val="000000"/>
                </a:solidFill>
                <a:ea typeface="楷体_GB2312" pitchFamily="49" charset="-122"/>
              </a:rPr>
              <a:t>           与</a:t>
            </a:r>
            <a:r>
              <a:rPr lang="en-US" altLang="zh-CN" b="1" dirty="0">
                <a:solidFill>
                  <a:srgbClr val="000000"/>
                </a:solidFill>
                <a:ea typeface="楷体_GB2312" pitchFamily="49" charset="-122"/>
              </a:rPr>
              <a:t>IEEE 754</a:t>
            </a:r>
            <a:r>
              <a:rPr lang="zh-CN" altLang="en-US" b="1" dirty="0">
                <a:solidFill>
                  <a:srgbClr val="000000"/>
                </a:solidFill>
                <a:ea typeface="楷体_GB2312" pitchFamily="49" charset="-122"/>
              </a:rPr>
              <a:t>标准所规定的格式直接对应。</a:t>
            </a:r>
            <a:endParaRPr lang="zh-CN" altLang="en-US" b="1" dirty="0">
              <a:ea typeface="楷体_GB2312" pitchFamily="49" charset="-122"/>
            </a:endParaRPr>
          </a:p>
          <a:p>
            <a:pPr eaLnBrk="1" hangingPunct="1">
              <a:buNone/>
            </a:pPr>
            <a:r>
              <a:rPr lang="zh-CN" altLang="en-US" b="1" dirty="0">
                <a:solidFill>
                  <a:schemeClr val="accent2"/>
                </a:solidFill>
                <a:ea typeface="楷体_GB2312" pitchFamily="49" charset="-122"/>
              </a:rPr>
              <a:t>4.指针数据</a:t>
            </a:r>
            <a:endParaRPr lang="zh-CN" altLang="en-US" b="1" dirty="0">
              <a:solidFill>
                <a:schemeClr val="accent2"/>
              </a:solidFill>
              <a:ea typeface="楷体_GB2312" pitchFamily="49" charset="-122"/>
            </a:endParaRPr>
          </a:p>
          <a:p>
            <a:pPr eaLnBrk="1" hangingPunct="1">
              <a:buNone/>
            </a:pPr>
            <a:r>
              <a:rPr lang="zh-CN" altLang="en-US" b="1" dirty="0">
                <a:solidFill>
                  <a:srgbClr val="000000"/>
                </a:solidFill>
                <a:ea typeface="楷体_GB2312" pitchFamily="49" charset="-122"/>
              </a:rPr>
              <a:t>            指针是主存单元的地址，</a:t>
            </a:r>
            <a:r>
              <a:rPr lang="en-US" altLang="zh-CN" b="1" dirty="0">
                <a:solidFill>
                  <a:srgbClr val="000000"/>
                </a:solidFill>
                <a:ea typeface="楷体_GB2312" pitchFamily="49" charset="-122"/>
              </a:rPr>
              <a:t>IA-32 </a:t>
            </a:r>
            <a:r>
              <a:rPr lang="zh-CN" altLang="en-US" b="1" dirty="0">
                <a:solidFill>
                  <a:srgbClr val="000000"/>
                </a:solidFill>
                <a:ea typeface="楷体_GB2312" pitchFamily="49" charset="-122"/>
              </a:rPr>
              <a:t>结构定义了两种类型的指针：近指针（32位）和远指针（48位）。</a:t>
            </a:r>
            <a:endParaRPr lang="zh-CN" altLang="en-US" b="1" dirty="0">
              <a:solidFill>
                <a:srgbClr val="000000"/>
              </a:solidFill>
              <a:ea typeface="楷体_GB2312" pitchFamily="49" charset="-122"/>
            </a:endParaRPr>
          </a:p>
          <a:p>
            <a:pPr eaLnBrk="1" hangingPunct="1">
              <a:buNone/>
            </a:pPr>
            <a:r>
              <a:rPr lang="zh-CN" altLang="en-US" b="1" dirty="0">
                <a:solidFill>
                  <a:schemeClr val="accent2"/>
                </a:solidFill>
                <a:ea typeface="楷体_GB2312" pitchFamily="49" charset="-122"/>
              </a:rPr>
              <a:t>5.串数据</a:t>
            </a:r>
            <a:br>
              <a:rPr lang="zh-CN" altLang="en-US" b="1" dirty="0">
                <a:ea typeface="楷体_GB2312" pitchFamily="49" charset="-122"/>
              </a:rPr>
            </a:br>
            <a:r>
              <a:rPr lang="zh-CN" altLang="en-US" b="1" dirty="0">
                <a:ea typeface="楷体_GB2312" pitchFamily="49" charset="-122"/>
              </a:rPr>
              <a:t>        包括位串、字节串、字串和双字串。一个串可以包含从一个字节到4</a:t>
            </a:r>
            <a:r>
              <a:rPr lang="en-US" altLang="zh-CN" b="1" dirty="0">
                <a:ea typeface="楷体_GB2312" pitchFamily="49" charset="-122"/>
              </a:rPr>
              <a:t>GB</a:t>
            </a:r>
            <a:r>
              <a:rPr lang="zh-CN" altLang="en-US" b="1" dirty="0">
                <a:ea typeface="楷体_GB2312" pitchFamily="49" charset="-122"/>
              </a:rPr>
              <a:t>的内容。</a:t>
            </a:r>
            <a:endParaRPr lang="zh-CN" altLang="en-US" b="1" dirty="0">
              <a:ea typeface="楷体_GB2312" pitchFamily="49" charset="-122"/>
            </a:endParaRP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09570" name="Rectangle 2"/>
          <p:cNvSpPr>
            <a:spLocks noGrp="1"/>
          </p:cNvSpPr>
          <p:nvPr>
            <p:ph type="title"/>
          </p:nvPr>
        </p:nvSpPr>
        <p:spPr>
          <a:xfrm>
            <a:off x="762000" y="685800"/>
            <a:ext cx="6629400" cy="446088"/>
          </a:xfrm>
        </p:spPr>
        <p:txBody>
          <a:bodyPr vert="horz" wrap="square" lIns="91440" tIns="45720" rIns="91440" bIns="45720" anchor="ctr" anchorCtr="0"/>
          <a:p>
            <a:pPr algn="l" eaLnBrk="1" hangingPunct="1"/>
            <a:r>
              <a:rPr lang="zh-CN" altLang="en-US" sz="3200" dirty="0">
                <a:solidFill>
                  <a:schemeClr val="tx1"/>
                </a:solidFill>
                <a:ea typeface="楷体_GB2312" pitchFamily="49" charset="-122"/>
              </a:rPr>
              <a:t> </a:t>
            </a:r>
            <a:r>
              <a:rPr lang="zh-CN" altLang="en-US" sz="3200" dirty="0">
                <a:solidFill>
                  <a:schemeClr val="accent2"/>
                </a:solidFill>
                <a:ea typeface="楷体_GB2312" pitchFamily="49" charset="-122"/>
              </a:rPr>
              <a:t>6.</a:t>
            </a:r>
            <a:r>
              <a:rPr lang="en-US" altLang="zh-CN" sz="3200" dirty="0">
                <a:solidFill>
                  <a:schemeClr val="accent2"/>
                </a:solidFill>
                <a:ea typeface="楷体_GB2312" pitchFamily="49" charset="-122"/>
              </a:rPr>
              <a:t>BCD</a:t>
            </a:r>
            <a:r>
              <a:rPr lang="zh-CN" altLang="en-US" sz="3200" dirty="0">
                <a:solidFill>
                  <a:schemeClr val="accent2"/>
                </a:solidFill>
                <a:ea typeface="楷体_GB2312" pitchFamily="49" charset="-122"/>
              </a:rPr>
              <a:t>数</a:t>
            </a:r>
            <a:endParaRPr lang="zh-CN" altLang="en-US" sz="3200" dirty="0">
              <a:solidFill>
                <a:schemeClr val="accent2"/>
              </a:solidFill>
              <a:ea typeface="楷体_GB2312" pitchFamily="49" charset="-122"/>
            </a:endParaRPr>
          </a:p>
        </p:txBody>
      </p:sp>
      <p:sp>
        <p:nvSpPr>
          <p:cNvPr id="109571" name="Rectangle 3"/>
          <p:cNvSpPr>
            <a:spLocks noGrp="1"/>
          </p:cNvSpPr>
          <p:nvPr>
            <p:ph idx="1"/>
          </p:nvPr>
        </p:nvSpPr>
        <p:spPr>
          <a:xfrm>
            <a:off x="685800" y="1143000"/>
            <a:ext cx="7734300" cy="5257800"/>
          </a:xfrm>
        </p:spPr>
        <p:txBody>
          <a:bodyPr vert="horz" wrap="square" lIns="91440" tIns="45720" rIns="91440" bIns="45720" anchor="t" anchorCtr="0"/>
          <a:p>
            <a:pPr eaLnBrk="1" hangingPunct="1">
              <a:buNone/>
            </a:pPr>
            <a:r>
              <a:rPr lang="en-US" altLang="zh-CN" b="1" dirty="0">
                <a:solidFill>
                  <a:srgbClr val="000000"/>
                </a:solidFill>
                <a:ea typeface="楷体_GB2312" pitchFamily="49" charset="-122"/>
              </a:rPr>
              <a:t>           IA-32 </a:t>
            </a:r>
            <a:r>
              <a:rPr lang="zh-CN" altLang="en-US" b="1" dirty="0">
                <a:solidFill>
                  <a:srgbClr val="000000"/>
                </a:solidFill>
                <a:ea typeface="楷体_GB2312" pitchFamily="49" charset="-122"/>
              </a:rPr>
              <a:t>结构</a:t>
            </a:r>
            <a:r>
              <a:rPr lang="zh-CN" altLang="en-US" b="1" dirty="0">
                <a:ea typeface="楷体_GB2312" pitchFamily="49" charset="-122"/>
              </a:rPr>
              <a:t>中所指的</a:t>
            </a:r>
            <a:r>
              <a:rPr lang="en-US" altLang="zh-CN" b="1" dirty="0">
                <a:ea typeface="楷体_GB2312" pitchFamily="49" charset="-122"/>
              </a:rPr>
              <a:t>BCD</a:t>
            </a:r>
            <a:r>
              <a:rPr lang="zh-CN" altLang="en-US" b="1" dirty="0">
                <a:ea typeface="楷体_GB2312" pitchFamily="49" charset="-122"/>
              </a:rPr>
              <a:t>码实际上是指8421码。</a:t>
            </a:r>
            <a:r>
              <a:rPr lang="en-US" altLang="zh-CN" b="1" dirty="0">
                <a:ea typeface="楷体_GB2312" pitchFamily="49" charset="-122"/>
              </a:rPr>
              <a:t>BCD</a:t>
            </a:r>
            <a:r>
              <a:rPr lang="zh-CN" altLang="en-US" b="1" dirty="0">
                <a:ea typeface="楷体_GB2312" pitchFamily="49" charset="-122"/>
              </a:rPr>
              <a:t>数又分成未拼装的</a:t>
            </a:r>
            <a:r>
              <a:rPr lang="en-US" altLang="zh-CN" b="1" dirty="0">
                <a:ea typeface="楷体_GB2312" pitchFamily="49" charset="-122"/>
              </a:rPr>
              <a:t>BCD（UBCD）</a:t>
            </a:r>
            <a:r>
              <a:rPr lang="zh-CN" altLang="en-US" b="1" dirty="0">
                <a:ea typeface="楷体_GB2312" pitchFamily="49" charset="-122"/>
              </a:rPr>
              <a:t>数和拼装的</a:t>
            </a:r>
            <a:r>
              <a:rPr lang="en-US" altLang="zh-CN" b="1" dirty="0">
                <a:ea typeface="楷体_GB2312" pitchFamily="49" charset="-122"/>
              </a:rPr>
              <a:t>BCD</a:t>
            </a:r>
            <a:r>
              <a:rPr lang="zh-CN" altLang="en-US" b="1" dirty="0">
                <a:ea typeface="楷体_GB2312" pitchFamily="49" charset="-122"/>
              </a:rPr>
              <a:t>数两种。</a:t>
            </a:r>
            <a:r>
              <a:rPr lang="en-US" altLang="zh-CN" b="1" dirty="0">
                <a:ea typeface="楷体_GB2312" pitchFamily="49" charset="-122"/>
              </a:rPr>
              <a:t>UBCD</a:t>
            </a:r>
            <a:r>
              <a:rPr lang="zh-CN" altLang="en-US" b="1" dirty="0">
                <a:ea typeface="楷体_GB2312" pitchFamily="49" charset="-122"/>
              </a:rPr>
              <a:t>数的一个字节仅包含一位十进制数，在3～0位上；而经过拼装的</a:t>
            </a:r>
            <a:r>
              <a:rPr lang="en-US" altLang="zh-CN" b="1" dirty="0">
                <a:ea typeface="楷体_GB2312" pitchFamily="49" charset="-122"/>
              </a:rPr>
              <a:t>BCD</a:t>
            </a:r>
            <a:r>
              <a:rPr lang="zh-CN" altLang="en-US" b="1" dirty="0">
                <a:ea typeface="楷体_GB2312" pitchFamily="49" charset="-122"/>
              </a:rPr>
              <a:t>数，一个字节包含两位十进制数，其低位在3～0位上，高位在7～4位上。 </a:t>
            </a:r>
            <a:endParaRPr lang="zh-CN" altLang="en-US" b="1" dirty="0">
              <a:ea typeface="楷体_GB2312" pitchFamily="49" charset="-122"/>
            </a:endParaRP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标题 1"/>
          <p:cNvSpPr>
            <a:spLocks noGrp="1"/>
          </p:cNvSpPr>
          <p:nvPr>
            <p:ph type="title"/>
          </p:nvPr>
        </p:nvSpPr>
        <p:spPr/>
        <p:txBody>
          <a:bodyPr anchor="ctr" anchorCtr="0"/>
          <a:p>
            <a:r>
              <a:rPr lang="zh-CN" altLang="en-US"/>
              <a:t>练习</a:t>
            </a:r>
            <a:endParaRPr lang="zh-CN" altLang="en-US"/>
          </a:p>
        </p:txBody>
      </p:sp>
      <p:sp>
        <p:nvSpPr>
          <p:cNvPr id="3" name="内容占位符 2"/>
          <p:cNvSpPr>
            <a:spLocks noGrp="1"/>
          </p:cNvSpPr>
          <p:nvPr>
            <p:ph idx="1"/>
          </p:nvPr>
        </p:nvSpPr>
        <p:spPr/>
        <p:txBody>
          <a:bodyPr/>
          <a:p>
            <a:pPr marL="342900" marR="0" indent="-342900" algn="l" defTabSz="914400" rtl="0" eaLnBrk="0" fontAlgn="base" latinLnBrk="0" hangingPunct="0">
              <a:lnSpc>
                <a:spcPct val="100000"/>
              </a:lnSpc>
              <a:spcBef>
                <a:spcPct val="20000"/>
              </a:spcBef>
              <a:spcAft>
                <a:spcPct val="0"/>
              </a:spcAft>
              <a:buClrTx/>
              <a:buSzTx/>
              <a:buFontTx/>
              <a:buChar char="•"/>
            </a:pPr>
            <a:r>
              <a:rPr kumimoji="1" lang="en-US" altLang="zh-CN" sz="3200" b="0" i="0" u="none" strike="noStrike" kern="0" cap="none" spc="0" normalizeH="0" baseline="0" noProof="1">
                <a:solidFill>
                  <a:schemeClr val="tx1"/>
                </a:solidFill>
                <a:latin typeface="+mn-lt"/>
                <a:ea typeface="+mn-ea"/>
                <a:cs typeface="+mn-cs"/>
              </a:rPr>
              <a:t>1</a:t>
            </a:r>
            <a:r>
              <a:rPr kumimoji="1" lang="zh-CN" altLang="en-US" sz="3200" b="0" i="0" u="none" strike="noStrike" kern="0" cap="none" spc="0" normalizeH="0" baseline="0" noProof="1">
                <a:solidFill>
                  <a:schemeClr val="tx1"/>
                </a:solidFill>
                <a:latin typeface="+mn-lt"/>
                <a:ea typeface="+mn-ea"/>
                <a:cs typeface="+mn-cs"/>
              </a:rPr>
              <a:t>、写出</a:t>
            </a:r>
            <a:endParaRPr kumimoji="1" lang="zh-CN" altLang="en-US" sz="3200" b="0" i="0" u="none" strike="noStrike" kern="0" cap="none" spc="0" normalizeH="0" baseline="0" noProof="1">
              <a:solidFill>
                <a:schemeClr val="tx1"/>
              </a:solidFill>
              <a:latin typeface="+mn-lt"/>
              <a:ea typeface="+mn-ea"/>
              <a:cs typeface="+mn-cs"/>
            </a:endParaRPr>
          </a:p>
          <a:p>
            <a:pPr marL="0" marR="0" indent="0" algn="l" defTabSz="914400" rtl="0" eaLnBrk="0" fontAlgn="base" latinLnBrk="0" hangingPunct="0">
              <a:lnSpc>
                <a:spcPct val="100000"/>
              </a:lnSpc>
              <a:spcBef>
                <a:spcPct val="20000"/>
              </a:spcBef>
              <a:spcAft>
                <a:spcPct val="0"/>
              </a:spcAft>
              <a:buClrTx/>
              <a:buSzTx/>
              <a:buFontTx/>
              <a:buNone/>
            </a:pPr>
            <a:r>
              <a:rPr kumimoji="1" lang="en-US" altLang="zh-CN" sz="3200" b="0" i="0" u="none" strike="noStrike" kern="0" cap="none" spc="0" normalizeH="0" baseline="0" noProof="1">
                <a:solidFill>
                  <a:schemeClr val="tx1"/>
                </a:solidFill>
                <a:latin typeface="+mn-lt"/>
                <a:ea typeface="+mn-ea"/>
                <a:cs typeface="+mn-cs"/>
              </a:rPr>
              <a:t>“9” </a:t>
            </a:r>
            <a:r>
              <a:rPr kumimoji="1" lang="zh-CN" altLang="en-US" sz="3200" b="0" i="0" u="none" strike="noStrike" kern="0" cap="none" spc="0" normalizeH="0" baseline="0" noProof="1">
                <a:solidFill>
                  <a:schemeClr val="tx1"/>
                </a:solidFill>
                <a:latin typeface="+mn-lt"/>
                <a:ea typeface="+mn-ea"/>
                <a:cs typeface="+mn-cs"/>
              </a:rPr>
              <a:t>、</a:t>
            </a:r>
            <a:r>
              <a:rPr kumimoji="1" lang="en-US" altLang="zh-CN" sz="3200" b="0" i="0" u="none" strike="noStrike" kern="0" cap="none" spc="0" normalizeH="0" baseline="0" noProof="1">
                <a:solidFill>
                  <a:schemeClr val="tx1"/>
                </a:solidFill>
                <a:latin typeface="+mn-lt"/>
                <a:ea typeface="+mn-ea"/>
                <a:cs typeface="+mn-cs"/>
              </a:rPr>
              <a:t>”Hello”</a:t>
            </a:r>
            <a:r>
              <a:rPr kumimoji="1" lang="zh-CN" altLang="en-US" sz="3200" b="0" i="0" u="none" strike="noStrike" kern="0" cap="none" spc="0" normalizeH="0" baseline="0" noProof="1">
                <a:solidFill>
                  <a:schemeClr val="tx1"/>
                </a:solidFill>
                <a:latin typeface="+mn-lt"/>
                <a:ea typeface="+mn-ea"/>
                <a:cs typeface="+mn-cs"/>
              </a:rPr>
              <a:t>机器值？</a:t>
            </a:r>
            <a:endParaRPr kumimoji="1" lang="en-US" altLang="zh-CN" sz="3200" b="0" i="0" u="none" strike="noStrike" kern="0" cap="none" spc="0" normalizeH="0" baseline="0" noProof="1">
              <a:solidFill>
                <a:schemeClr val="tx1"/>
              </a:solidFill>
              <a:latin typeface="+mn-lt"/>
              <a:ea typeface="+mn-ea"/>
              <a:cs typeface="+mn-cs"/>
            </a:endParaRPr>
          </a:p>
          <a:p>
            <a:pPr marL="342900" marR="0" indent="-342900" algn="l" defTabSz="914400" rtl="0" eaLnBrk="0" fontAlgn="base" latinLnBrk="0" hangingPunct="0">
              <a:lnSpc>
                <a:spcPct val="100000"/>
              </a:lnSpc>
              <a:spcBef>
                <a:spcPct val="20000"/>
              </a:spcBef>
              <a:spcAft>
                <a:spcPct val="0"/>
              </a:spcAft>
              <a:buClrTx/>
              <a:buSzTx/>
              <a:buFontTx/>
              <a:buChar char="•"/>
            </a:pPr>
            <a:r>
              <a:rPr kumimoji="1" lang="en-US" altLang="zh-CN" sz="3200" b="0" i="0" u="none" strike="noStrike" kern="0" cap="none" spc="0" normalizeH="0" baseline="0" noProof="1">
                <a:solidFill>
                  <a:schemeClr val="tx1"/>
                </a:solidFill>
                <a:latin typeface="+mn-lt"/>
                <a:ea typeface="+mn-ea"/>
                <a:cs typeface="+mn-cs"/>
              </a:rPr>
              <a:t>2</a:t>
            </a:r>
            <a:r>
              <a:rPr kumimoji="1" lang="zh-CN" altLang="en-US" sz="3200" b="0" i="0" u="none" strike="noStrike" kern="0" cap="none" spc="0" normalizeH="0" baseline="0" noProof="1">
                <a:solidFill>
                  <a:schemeClr val="tx1"/>
                </a:solidFill>
                <a:latin typeface="+mn-lt"/>
                <a:ea typeface="+mn-ea"/>
                <a:cs typeface="+mn-cs"/>
              </a:rPr>
              <a:t>、</a:t>
            </a:r>
            <a:r>
              <a:rPr kumimoji="1" lang="zh-CN" altLang="en-US" sz="3200" b="1" i="0" u="none" strike="noStrike" kern="0" cap="none" spc="0" normalizeH="0" baseline="0" noProof="1" dirty="0">
                <a:solidFill>
                  <a:schemeClr val="tx1"/>
                </a:solidFill>
                <a:latin typeface="+mn-lt"/>
                <a:ea typeface="楷体_GB2312" pitchFamily="49" charset="-122"/>
                <a:cs typeface="+mn-cs"/>
                <a:sym typeface="+mn-ea"/>
              </a:rPr>
              <a:t>“中”字在54区的48位上，其区位码为“54-48”，“国”字在25区的90位上，其区位码为“25-90”</a:t>
            </a:r>
            <a:endParaRPr kumimoji="1" lang="zh-CN" altLang="en-US" sz="3200" b="1" i="0" u="none" strike="noStrike" kern="0" cap="none" spc="0" normalizeH="0" baseline="0" noProof="1" dirty="0">
              <a:solidFill>
                <a:schemeClr val="tx1"/>
              </a:solidFill>
              <a:latin typeface="+mn-lt"/>
              <a:ea typeface="楷体_GB2312" pitchFamily="49" charset="-122"/>
              <a:cs typeface="+mn-cs"/>
              <a:sym typeface="+mn-ea"/>
            </a:endParaRPr>
          </a:p>
          <a:p>
            <a:pPr marL="0" marR="0" indent="0" algn="l" defTabSz="914400" rtl="0" eaLnBrk="0" fontAlgn="base" latinLnBrk="0" hangingPunct="0">
              <a:lnSpc>
                <a:spcPct val="100000"/>
              </a:lnSpc>
              <a:spcBef>
                <a:spcPct val="20000"/>
              </a:spcBef>
              <a:spcAft>
                <a:spcPct val="0"/>
              </a:spcAft>
              <a:buClrTx/>
              <a:buSzTx/>
              <a:buFontTx/>
              <a:buNone/>
            </a:pPr>
            <a:r>
              <a:rPr kumimoji="1" lang="zh-CN" altLang="en-US" sz="3200" b="0" i="0" u="none" strike="noStrike" kern="0" cap="none" spc="0" normalizeH="0" baseline="0" noProof="1">
                <a:solidFill>
                  <a:schemeClr val="tx1"/>
                </a:solidFill>
                <a:latin typeface="+mn-lt"/>
                <a:ea typeface="+mn-ea"/>
                <a:cs typeface="+mn-cs"/>
              </a:rPr>
              <a:t>求国标码、机内码？</a:t>
            </a:r>
            <a:endParaRPr kumimoji="1" lang="zh-CN" altLang="en-US" sz="3200" b="0" i="0" u="none" strike="noStrike" kern="0" cap="none" spc="0" normalizeH="0" baseline="0" noProof="1">
              <a:solidFill>
                <a:schemeClr val="tx1"/>
              </a:solidFill>
              <a:latin typeface="+mn-lt"/>
              <a:ea typeface="+mn-ea"/>
              <a:cs typeface="+mn-cs"/>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11618" name="Rectangle 2"/>
          <p:cNvSpPr>
            <a:spLocks noGrp="1"/>
          </p:cNvSpPr>
          <p:nvPr>
            <p:ph type="title"/>
          </p:nvPr>
        </p:nvSpPr>
        <p:spPr>
          <a:xfrm>
            <a:off x="457200" y="381000"/>
            <a:ext cx="8001000" cy="1143000"/>
          </a:xfrm>
        </p:spPr>
        <p:txBody>
          <a:bodyPr vert="horz" wrap="square" lIns="91440" tIns="45720" rIns="91440" bIns="45720" anchor="ctr" anchorCtr="0"/>
          <a:p>
            <a:pPr algn="l" eaLnBrk="1" hangingPunct="1"/>
            <a:r>
              <a:rPr lang="zh-CN" altLang="en-US" sz="4000" dirty="0">
                <a:solidFill>
                  <a:srgbClr val="0000FF"/>
                </a:solidFill>
                <a:latin typeface="华文新魏" panose="02010800040101010101" pitchFamily="2" charset="-122"/>
                <a:ea typeface="华文新魏" panose="02010800040101010101" pitchFamily="2" charset="-122"/>
              </a:rPr>
              <a:t>2.6  数据校验码 </a:t>
            </a:r>
            <a:endParaRPr lang="en-US" altLang="zh-CN" sz="4000" dirty="0">
              <a:solidFill>
                <a:srgbClr val="0000FF"/>
              </a:solidFill>
              <a:latin typeface="华文新魏" panose="02010800040101010101" pitchFamily="2" charset="-122"/>
              <a:ea typeface="华文新魏" panose="02010800040101010101" pitchFamily="2" charset="-122"/>
            </a:endParaRPr>
          </a:p>
        </p:txBody>
      </p:sp>
      <p:sp>
        <p:nvSpPr>
          <p:cNvPr id="111619" name="Rectangle 3"/>
          <p:cNvSpPr>
            <a:spLocks noGrp="1"/>
          </p:cNvSpPr>
          <p:nvPr>
            <p:ph idx="1"/>
          </p:nvPr>
        </p:nvSpPr>
        <p:spPr>
          <a:xfrm>
            <a:off x="533400" y="1219200"/>
            <a:ext cx="8001000" cy="5181600"/>
          </a:xfrm>
        </p:spPr>
        <p:txBody>
          <a:bodyPr vert="horz" wrap="square" lIns="91440" tIns="45720" rIns="91440" bIns="45720" anchor="t" anchorCtr="0"/>
          <a:p>
            <a:pPr eaLnBrk="1" hangingPunct="1">
              <a:lnSpc>
                <a:spcPct val="90000"/>
              </a:lnSpc>
              <a:buNone/>
            </a:pPr>
            <a:r>
              <a:rPr lang="zh-CN" altLang="en-US" b="1" dirty="0">
                <a:ea typeface="楷体_GB2312" pitchFamily="49" charset="-122"/>
              </a:rPr>
              <a:t>            数据校验码是指那些能够发现错误或能够自动纠正错误的数据编码，又称之为“检错纠错编码”。任何一种编码都由许多码字构成，任意两个码字之间最少变化的二进制位数，被称为数据校验码的码距。例如，用四位二进制表示16种状态，则有16个不同的码字，此时码距为1，即两个码字之间最少仅有一个二进制位不同（如0000与0001之间）。这种编码没有检错能力，因为当某一个合法码字中有一位或几位出错，就变成为另一个合法码字了。</a:t>
            </a:r>
            <a:endParaRPr lang="zh-CN" altLang="en-US" b="1" dirty="0">
              <a:ea typeface="楷体_GB2312" pitchFamily="49"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12642" name="Rectangle 2"/>
          <p:cNvSpPr>
            <a:spLocks noGrp="1"/>
          </p:cNvSpPr>
          <p:nvPr>
            <p:ph type="title"/>
          </p:nvPr>
        </p:nvSpPr>
        <p:spPr>
          <a:xfrm>
            <a:off x="457200" y="228600"/>
            <a:ext cx="8001000" cy="1143000"/>
          </a:xfrm>
        </p:spPr>
        <p:txBody>
          <a:bodyPr vert="horz" wrap="square" lIns="91440" tIns="45720" rIns="91440" bIns="45720" anchor="ctr" anchorCtr="0"/>
          <a:p>
            <a:pPr algn="l" eaLnBrk="1" hangingPunct="1"/>
            <a:r>
              <a:rPr lang="zh-CN" altLang="en-US" sz="3600" dirty="0">
                <a:solidFill>
                  <a:srgbClr val="0000FF"/>
                </a:solidFill>
                <a:latin typeface="华文新魏" panose="02010800040101010101" pitchFamily="2" charset="-122"/>
                <a:ea typeface="华文新魏" panose="02010800040101010101" pitchFamily="2" charset="-122"/>
              </a:rPr>
              <a:t>2.6.1 奇偶校验码</a:t>
            </a:r>
            <a:endParaRPr lang="en-US" altLang="zh-CN" sz="3600" dirty="0">
              <a:solidFill>
                <a:srgbClr val="0000FF"/>
              </a:solidFill>
              <a:latin typeface="楷体_GB2312" pitchFamily="49" charset="-122"/>
              <a:ea typeface="楷体_GB2312" pitchFamily="49" charset="-122"/>
            </a:endParaRPr>
          </a:p>
        </p:txBody>
      </p:sp>
      <p:sp>
        <p:nvSpPr>
          <p:cNvPr id="112643" name="Rectangle 3"/>
          <p:cNvSpPr>
            <a:spLocks noGrp="1"/>
          </p:cNvSpPr>
          <p:nvPr>
            <p:ph idx="1"/>
          </p:nvPr>
        </p:nvSpPr>
        <p:spPr>
          <a:xfrm>
            <a:off x="533400" y="990600"/>
            <a:ext cx="8001000" cy="5181600"/>
          </a:xfrm>
        </p:spPr>
        <p:txBody>
          <a:bodyPr vert="horz" wrap="square" lIns="91440" tIns="45720" rIns="91440" bIns="45720" anchor="t" anchorCtr="0"/>
          <a:p>
            <a:pPr eaLnBrk="1" hangingPunct="1">
              <a:lnSpc>
                <a:spcPct val="90000"/>
              </a:lnSpc>
              <a:buNone/>
            </a:pPr>
            <a:r>
              <a:rPr lang="zh-CN" altLang="en-US" b="1" dirty="0">
                <a:solidFill>
                  <a:schemeClr val="accent2"/>
                </a:solidFill>
                <a:ea typeface="楷体_GB2312" pitchFamily="49" charset="-122"/>
              </a:rPr>
              <a:t>1.奇偶校验概念</a:t>
            </a:r>
            <a:endParaRPr lang="zh-CN" altLang="en-US" b="1" dirty="0">
              <a:solidFill>
                <a:schemeClr val="accent2"/>
              </a:solidFill>
              <a:ea typeface="楷体_GB2312" pitchFamily="49" charset="-122"/>
            </a:endParaRPr>
          </a:p>
          <a:p>
            <a:pPr eaLnBrk="1" hangingPunct="1">
              <a:lnSpc>
                <a:spcPct val="90000"/>
              </a:lnSpc>
              <a:buNone/>
            </a:pPr>
            <a:r>
              <a:rPr lang="zh-CN" altLang="en-US" b="1" dirty="0">
                <a:ea typeface="楷体_GB2312" pitchFamily="49" charset="-122"/>
              </a:rPr>
              <a:t>            奇偶校验码是一种最简单的数据校验码，它的码距等于2，可以检测出一位错误（或奇数位错误），但不能确定出错的位置，也不能检测出偶数位错误。</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奇偶校验实现方法是：由若干位有效信息（如一个字节），再加上一个二进制位（校验位）组成校验码。  </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a:t>
            </a:r>
            <a:r>
              <a:rPr lang="zh-CN" altLang="en-US" sz="2400" b="1" dirty="0"/>
              <a:t>图2-11 奇偶校验码</a:t>
            </a:r>
            <a:endParaRPr lang="en-US" altLang="zh-CN" sz="2400" b="1" dirty="0"/>
          </a:p>
        </p:txBody>
      </p:sp>
      <p:graphicFrame>
        <p:nvGraphicFramePr>
          <p:cNvPr id="112644" name="Object 4"/>
          <p:cNvGraphicFramePr>
            <a:graphicFrameLocks noChangeAspect="1"/>
          </p:cNvGraphicFramePr>
          <p:nvPr/>
        </p:nvGraphicFramePr>
        <p:xfrm>
          <a:off x="1066800" y="4724400"/>
          <a:ext cx="4495800" cy="1849438"/>
        </p:xfrm>
        <a:graphic>
          <a:graphicData uri="http://schemas.openxmlformats.org/presentationml/2006/ole">
            <mc:AlternateContent xmlns:mc="http://schemas.openxmlformats.org/markup-compatibility/2006">
              <mc:Choice xmlns:v="urn:schemas-microsoft-com:vml" Requires="v">
                <p:oleObj spid="_x0000_s3092" name="" r:id="rId1" imgW="2359660" imgH="972820" progId="Visio.Drawing.6">
                  <p:embed/>
                </p:oleObj>
              </mc:Choice>
              <mc:Fallback>
                <p:oleObj name="" r:id="rId1" imgW="2359660" imgH="972820" progId="Visio.Drawing.6">
                  <p:embed/>
                  <p:pic>
                    <p:nvPicPr>
                      <p:cNvPr id="0" name="图片 3091"/>
                      <p:cNvPicPr/>
                      <p:nvPr/>
                    </p:nvPicPr>
                    <p:blipFill>
                      <a:blip r:embed="rId2"/>
                      <a:stretch>
                        <a:fillRect/>
                      </a:stretch>
                    </p:blipFill>
                    <p:spPr>
                      <a:xfrm>
                        <a:off x="1066800" y="4724400"/>
                        <a:ext cx="4495800" cy="1849438"/>
                      </a:xfrm>
                      <a:prstGeom prst="rect">
                        <a:avLst/>
                      </a:prstGeom>
                      <a:noFill/>
                      <a:ln w="38100">
                        <a:noFill/>
                        <a:miter/>
                      </a:ln>
                    </p:spPr>
                  </p:pic>
                </p:oleObj>
              </mc:Fallback>
            </mc:AlternateContent>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13666" name="Rectangle 2"/>
          <p:cNvSpPr>
            <a:spLocks noGrp="1"/>
          </p:cNvSpPr>
          <p:nvPr>
            <p:ph type="title"/>
          </p:nvPr>
        </p:nvSpPr>
        <p:spPr>
          <a:xfrm>
            <a:off x="609600" y="304800"/>
            <a:ext cx="7848600" cy="1143000"/>
          </a:xfrm>
        </p:spPr>
        <p:txBody>
          <a:bodyPr vert="horz" wrap="square" lIns="91440" tIns="45720" rIns="91440" bIns="45720" anchor="ctr" anchorCtr="0"/>
          <a:p>
            <a:pPr algn="l" eaLnBrk="1" hangingPunct="1"/>
            <a:r>
              <a:rPr lang="zh-CN" altLang="en-US" sz="3200" dirty="0">
                <a:solidFill>
                  <a:schemeClr val="tx1"/>
                </a:solidFill>
                <a:ea typeface="楷体_GB2312" pitchFamily="49" charset="-122"/>
              </a:rPr>
              <a:t>奇偶校验规律</a:t>
            </a:r>
            <a:endParaRPr lang="en-US" altLang="zh-CN" sz="3200" dirty="0">
              <a:solidFill>
                <a:schemeClr val="tx1"/>
              </a:solidFill>
              <a:latin typeface="华文新魏" panose="02010800040101010101" pitchFamily="2" charset="-122"/>
              <a:ea typeface="华文新魏" panose="02010800040101010101" pitchFamily="2" charset="-122"/>
            </a:endParaRPr>
          </a:p>
        </p:txBody>
      </p:sp>
      <p:sp>
        <p:nvSpPr>
          <p:cNvPr id="113667" name="Rectangle 3"/>
          <p:cNvSpPr>
            <a:spLocks noGrp="1"/>
          </p:cNvSpPr>
          <p:nvPr>
            <p:ph idx="1"/>
          </p:nvPr>
        </p:nvSpPr>
        <p:spPr>
          <a:xfrm>
            <a:off x="533400" y="1219200"/>
            <a:ext cx="8001000" cy="3927475"/>
          </a:xfrm>
        </p:spPr>
        <p:txBody>
          <a:bodyPr vert="horz" wrap="square" lIns="91440" tIns="45720" rIns="91440" bIns="45720" anchor="t" anchorCtr="0"/>
          <a:p>
            <a:pPr eaLnBrk="1" hangingPunct="1">
              <a:buNone/>
            </a:pPr>
            <a:r>
              <a:rPr lang="zh-CN" altLang="en-US" b="1" dirty="0">
                <a:ea typeface="楷体_GB2312" pitchFamily="49" charset="-122"/>
              </a:rPr>
              <a:t>            校验位的取值（0或1）将使整个校验码中“1”的个数为奇数或偶数，所以有两种可供选择的校验规律：</a:t>
            </a:r>
            <a:endParaRPr lang="zh-CN" altLang="en-US" b="1" dirty="0">
              <a:ea typeface="楷体_GB2312" pitchFamily="49" charset="-122"/>
            </a:endParaRPr>
          </a:p>
          <a:p>
            <a:pPr eaLnBrk="1" hangingPunct="1">
              <a:buNone/>
            </a:pPr>
            <a:r>
              <a:rPr lang="zh-CN" altLang="en-US" b="1" dirty="0">
                <a:solidFill>
                  <a:srgbClr val="FF3300"/>
                </a:solidFill>
                <a:ea typeface="楷体_GB2312" pitchFamily="49" charset="-122"/>
              </a:rPr>
              <a:t>            奇校验</a:t>
            </a:r>
            <a:r>
              <a:rPr lang="zh-CN" altLang="en-US" b="1" dirty="0">
                <a:ea typeface="楷体_GB2312" pitchFamily="49" charset="-122"/>
              </a:rPr>
              <a:t>──</a:t>
            </a:r>
            <a:r>
              <a:rPr lang="zh-CN" altLang="en-US" b="1" dirty="0">
                <a:solidFill>
                  <a:srgbClr val="FF0000"/>
                </a:solidFill>
                <a:ea typeface="楷体_GB2312" pitchFamily="49" charset="-122"/>
              </a:rPr>
              <a:t>整个校验码（有效信息位和校验位）中“1”的个数为奇数。</a:t>
            </a:r>
            <a:endParaRPr lang="zh-CN" altLang="en-US" b="1" dirty="0">
              <a:ea typeface="楷体_GB2312" pitchFamily="49" charset="-122"/>
            </a:endParaRPr>
          </a:p>
          <a:p>
            <a:pPr eaLnBrk="1" hangingPunct="1">
              <a:buNone/>
            </a:pPr>
            <a:r>
              <a:rPr lang="zh-CN" altLang="en-US" b="1" dirty="0">
                <a:ea typeface="楷体_GB2312" pitchFamily="49" charset="-122"/>
              </a:rPr>
              <a:t>            </a:t>
            </a:r>
            <a:r>
              <a:rPr lang="zh-CN" altLang="en-US" b="1" dirty="0">
                <a:solidFill>
                  <a:srgbClr val="FF3300"/>
                </a:solidFill>
                <a:ea typeface="楷体_GB2312" pitchFamily="49" charset="-122"/>
              </a:rPr>
              <a:t>偶校验</a:t>
            </a:r>
            <a:r>
              <a:rPr lang="zh-CN" altLang="en-US" b="1" dirty="0">
                <a:ea typeface="楷体_GB2312" pitchFamily="49" charset="-122"/>
              </a:rPr>
              <a:t>──</a:t>
            </a:r>
            <a:r>
              <a:rPr lang="zh-CN" altLang="en-US" b="1" dirty="0">
                <a:solidFill>
                  <a:srgbClr val="FF0000"/>
                </a:solidFill>
                <a:ea typeface="楷体_GB2312" pitchFamily="49" charset="-122"/>
              </a:rPr>
              <a:t>整个校验码中“1”的个数为偶数。 </a:t>
            </a:r>
            <a:endParaRPr lang="zh-CN" altLang="en-US" b="1" dirty="0">
              <a:solidFill>
                <a:srgbClr val="FF0000"/>
              </a:solidFill>
              <a:ea typeface="楷体_GB2312" pitchFamily="49" charset="-122"/>
            </a:endParaRPr>
          </a:p>
        </p:txBody>
      </p:sp>
      <p:sp>
        <p:nvSpPr>
          <p:cNvPr id="113668" name="文本框 1"/>
          <p:cNvSpPr txBox="1"/>
          <p:nvPr/>
        </p:nvSpPr>
        <p:spPr>
          <a:xfrm>
            <a:off x="1258888" y="5172075"/>
            <a:ext cx="7199312" cy="1076325"/>
          </a:xfrm>
          <a:prstGeom prst="rect">
            <a:avLst/>
          </a:prstGeom>
          <a:noFill/>
          <a:ln w="9525">
            <a:noFill/>
          </a:ln>
        </p:spPr>
        <p:txBody>
          <a:bodyPr wrap="square" anchor="t" anchorCtr="0">
            <a:spAutoFit/>
          </a:bodyPr>
          <a:p>
            <a:r>
              <a:rPr lang="zh-CN" altLang="en-US">
                <a:latin typeface="Arial" panose="020B0604020202020204" pitchFamily="34" charset="0"/>
              </a:rPr>
              <a:t>信号：</a:t>
            </a:r>
            <a:r>
              <a:rPr lang="en-US" altLang="zh-CN">
                <a:latin typeface="Arial" panose="020B0604020202020204" pitchFamily="34" charset="0"/>
              </a:rPr>
              <a:t>1001101    </a:t>
            </a:r>
            <a:r>
              <a:rPr lang="zh-CN" altLang="en-US" dirty="0">
                <a:solidFill>
                  <a:schemeClr val="tx1"/>
                </a:solidFill>
                <a:latin typeface="Arial" panose="020B0604020202020204" pitchFamily="34" charset="0"/>
                <a:ea typeface="楷体_GB2312" pitchFamily="49" charset="-122"/>
              </a:rPr>
              <a:t>奇校验：</a:t>
            </a:r>
            <a:r>
              <a:rPr lang="en-US" altLang="zh-CN" dirty="0">
                <a:solidFill>
                  <a:srgbClr val="FF0000"/>
                </a:solidFill>
                <a:latin typeface="Arial" panose="020B0604020202020204" pitchFamily="34" charset="0"/>
                <a:ea typeface="楷体_GB2312" pitchFamily="49" charset="-122"/>
              </a:rPr>
              <a:t>1</a:t>
            </a:r>
            <a:r>
              <a:rPr lang="en-US" altLang="zh-CN" dirty="0">
                <a:solidFill>
                  <a:schemeClr val="tx1"/>
                </a:solidFill>
                <a:latin typeface="Arial" panose="020B0604020202020204" pitchFamily="34" charset="0"/>
                <a:ea typeface="楷体_GB2312" pitchFamily="49" charset="-122"/>
              </a:rPr>
              <a:t>1001101</a:t>
            </a:r>
            <a:r>
              <a:rPr lang="en-US" altLang="zh-CN">
                <a:latin typeface="Arial" panose="020B0604020202020204" pitchFamily="34" charset="0"/>
              </a:rPr>
              <a:t>  </a:t>
            </a:r>
            <a:endParaRPr lang="en-US" altLang="zh-CN">
              <a:latin typeface="Arial" panose="020B0604020202020204" pitchFamily="34" charset="0"/>
            </a:endParaRPr>
          </a:p>
          <a:p>
            <a:r>
              <a:rPr lang="en-US" altLang="zh-CN">
                <a:latin typeface="Arial" panose="020B0604020202020204" pitchFamily="34" charset="0"/>
              </a:rPr>
              <a:t>                             </a:t>
            </a:r>
            <a:r>
              <a:rPr lang="zh-CN" altLang="en-US" dirty="0">
                <a:solidFill>
                  <a:schemeClr val="tx1"/>
                </a:solidFill>
                <a:latin typeface="Arial" panose="020B0604020202020204" pitchFamily="34" charset="0"/>
                <a:ea typeface="楷体_GB2312" pitchFamily="49" charset="-122"/>
              </a:rPr>
              <a:t>偶校验：</a:t>
            </a:r>
            <a:r>
              <a:rPr lang="en-US" altLang="zh-CN" dirty="0">
                <a:solidFill>
                  <a:srgbClr val="FF0000"/>
                </a:solidFill>
                <a:latin typeface="Arial" panose="020B0604020202020204" pitchFamily="34" charset="0"/>
                <a:ea typeface="楷体_GB2312" pitchFamily="49" charset="-122"/>
              </a:rPr>
              <a:t>0</a:t>
            </a:r>
            <a:r>
              <a:rPr lang="en-US" altLang="zh-CN" dirty="0">
                <a:solidFill>
                  <a:schemeClr val="tx1"/>
                </a:solidFill>
                <a:latin typeface="Arial" panose="020B0604020202020204" pitchFamily="34" charset="0"/>
                <a:ea typeface="楷体_GB2312" pitchFamily="49" charset="-122"/>
              </a:rPr>
              <a:t>1001101</a:t>
            </a:r>
            <a:endParaRPr lang="en-US" altLang="zh-CN" dirty="0">
              <a:solidFill>
                <a:schemeClr val="tx1"/>
              </a:solidFill>
              <a:latin typeface="华文新魏" panose="02010800040101010101" pitchFamily="2" charset="-122"/>
              <a:ea typeface="楷体_GB2312" pitchFamily="49" charset="-122"/>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14690" name="Rectangle 2"/>
          <p:cNvSpPr>
            <a:spLocks noGrp="1"/>
          </p:cNvSpPr>
          <p:nvPr>
            <p:ph type="title"/>
          </p:nvPr>
        </p:nvSpPr>
        <p:spPr>
          <a:xfrm>
            <a:off x="685800" y="3048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2.简单奇偶校验</a:t>
            </a:r>
            <a:endParaRPr lang="zh-CN" altLang="en-US" sz="3200" dirty="0">
              <a:solidFill>
                <a:schemeClr val="accent2"/>
              </a:solidFill>
              <a:ea typeface="楷体_GB2312" pitchFamily="49" charset="-122"/>
            </a:endParaRPr>
          </a:p>
        </p:txBody>
      </p:sp>
      <p:sp>
        <p:nvSpPr>
          <p:cNvPr id="114691" name="Rectangle 3"/>
          <p:cNvSpPr>
            <a:spLocks noGrp="1"/>
          </p:cNvSpPr>
          <p:nvPr>
            <p:ph idx="1"/>
          </p:nvPr>
        </p:nvSpPr>
        <p:spPr>
          <a:xfrm>
            <a:off x="609600" y="1066800"/>
            <a:ext cx="7924800" cy="5275263"/>
          </a:xfrm>
        </p:spPr>
        <p:txBody>
          <a:bodyPr vert="horz" wrap="square" lIns="91440" tIns="45720" rIns="91440" bIns="45720" anchor="t" anchorCtr="0"/>
          <a:p>
            <a:pPr eaLnBrk="1" hangingPunct="1">
              <a:buNone/>
            </a:pPr>
            <a:r>
              <a:rPr lang="zh-CN" altLang="en-US" b="1" dirty="0">
                <a:ea typeface="楷体_GB2312" pitchFamily="49" charset="-122"/>
              </a:rPr>
              <a:t>         简单奇偶校验仅实现横向的奇偶校验，下表给出几个字节的奇偶校验码的编码结果。最高一位为校验位，其余8位为信息位。在实际应用中，多采用奇校验，因为奇校验中不存在全“0”代码，在某些场合下更便于判别。 </a:t>
            </a:r>
            <a:endParaRPr lang="zh-CN" altLang="en-US" b="1" dirty="0">
              <a:ea typeface="楷体_GB2312" pitchFamily="49" charset="-122"/>
            </a:endParaRPr>
          </a:p>
        </p:txBody>
      </p:sp>
      <p:grpSp>
        <p:nvGrpSpPr>
          <p:cNvPr id="114692" name="Group 51"/>
          <p:cNvGrpSpPr/>
          <p:nvPr/>
        </p:nvGrpSpPr>
        <p:grpSpPr>
          <a:xfrm>
            <a:off x="1447800" y="4038600"/>
            <a:ext cx="6705600" cy="2368550"/>
            <a:chOff x="-2" y="-2"/>
            <a:chExt cx="2518" cy="1924"/>
          </a:xfrm>
        </p:grpSpPr>
        <p:grpSp>
          <p:nvGrpSpPr>
            <p:cNvPr id="114693" name="Group 49"/>
            <p:cNvGrpSpPr/>
            <p:nvPr/>
          </p:nvGrpSpPr>
          <p:grpSpPr>
            <a:xfrm>
              <a:off x="0" y="0"/>
              <a:ext cx="2514" cy="1920"/>
              <a:chOff x="0" y="0"/>
              <a:chExt cx="2514" cy="1920"/>
            </a:xfrm>
          </p:grpSpPr>
          <p:grpSp>
            <p:nvGrpSpPr>
              <p:cNvPr id="114694" name="Group 20"/>
              <p:cNvGrpSpPr/>
              <p:nvPr/>
            </p:nvGrpSpPr>
            <p:grpSpPr>
              <a:xfrm>
                <a:off x="0" y="0"/>
                <a:ext cx="854" cy="384"/>
                <a:chOff x="0" y="0"/>
                <a:chExt cx="854" cy="384"/>
              </a:xfrm>
            </p:grpSpPr>
            <p:sp>
              <p:nvSpPr>
                <p:cNvPr id="114695" name="Rectangle 4"/>
                <p:cNvSpPr/>
                <p:nvPr/>
              </p:nvSpPr>
              <p:spPr>
                <a:xfrm>
                  <a:off x="43" y="0"/>
                  <a:ext cx="768" cy="384"/>
                </a:xfrm>
                <a:prstGeom prst="rect">
                  <a:avLst/>
                </a:prstGeom>
                <a:noFill/>
                <a:ln w="6350">
                  <a:noFill/>
                </a:ln>
              </p:spPr>
              <p:txBody>
                <a:bodyPr anchor="t" anchorCtr="0"/>
                <a:p>
                  <a:pPr algn="ctr"/>
                  <a:r>
                    <a:rPr lang="zh-CN" altLang="en-US" sz="2000" b="1" dirty="0">
                      <a:solidFill>
                        <a:schemeClr val="tx1"/>
                      </a:solidFill>
                      <a:latin typeface="Times New Roman" panose="02020603050405020304" pitchFamily="18" charset="0"/>
                      <a:ea typeface="楷体_GB2312" pitchFamily="49" charset="-122"/>
                    </a:rPr>
                    <a:t>有效信息（</a:t>
                  </a:r>
                  <a:r>
                    <a:rPr lang="zh-CN" altLang="en-US" sz="2000" b="1" dirty="0">
                      <a:solidFill>
                        <a:schemeClr val="tx1"/>
                      </a:solidFill>
                      <a:latin typeface="宋体" panose="02010600030101010101" pitchFamily="2" charset="-122"/>
                      <a:ea typeface="楷体_GB2312" pitchFamily="49" charset="-122"/>
                    </a:rPr>
                    <a:t>8</a:t>
                  </a:r>
                  <a:r>
                    <a:rPr lang="zh-CN" altLang="en-US" sz="2000" b="1" dirty="0">
                      <a:solidFill>
                        <a:schemeClr val="tx1"/>
                      </a:solidFill>
                      <a:latin typeface="Times New Roman" panose="02020603050405020304" pitchFamily="18" charset="0"/>
                      <a:ea typeface="楷体_GB2312" pitchFamily="49" charset="-122"/>
                    </a:rPr>
                    <a:t>位）</a:t>
                  </a:r>
                  <a:endParaRPr lang="zh-CN" altLang="en-US" sz="2000" dirty="0">
                    <a:solidFill>
                      <a:schemeClr val="tx1"/>
                    </a:solidFill>
                    <a:latin typeface="宋体" panose="02010600030101010101" pitchFamily="2" charset="-122"/>
                    <a:ea typeface="宋体" panose="02010600030101010101" pitchFamily="2" charset="-122"/>
                  </a:endParaRPr>
                </a:p>
                <a:p>
                  <a:pPr algn="ctr" eaLnBrk="0" hangingPunct="0"/>
                  <a:endParaRPr lang="zh-CN" altLang="en-US" sz="2000" dirty="0">
                    <a:solidFill>
                      <a:schemeClr val="tx1"/>
                    </a:solidFill>
                    <a:latin typeface="Times New Roman" panose="02020603050405020304" pitchFamily="18" charset="0"/>
                    <a:ea typeface="宋体" panose="02010600030101010101" pitchFamily="2" charset="-122"/>
                  </a:endParaRPr>
                </a:p>
              </p:txBody>
            </p:sp>
            <p:sp>
              <p:nvSpPr>
                <p:cNvPr id="114696" name="Rectangle 19"/>
                <p:cNvSpPr/>
                <p:nvPr/>
              </p:nvSpPr>
              <p:spPr>
                <a:xfrm>
                  <a:off x="0" y="0"/>
                  <a:ext cx="854" cy="384"/>
                </a:xfrm>
                <a:prstGeom prst="rect">
                  <a:avLst/>
                </a:prstGeom>
                <a:noFill/>
                <a:ln w="7" cap="flat" cmpd="sng">
                  <a:solidFill>
                    <a:srgbClr val="A0A0A0"/>
                  </a:solidFill>
                  <a:prstDash val="solid"/>
                  <a:miter/>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114697" name="Group 22"/>
              <p:cNvGrpSpPr/>
              <p:nvPr/>
            </p:nvGrpSpPr>
            <p:grpSpPr>
              <a:xfrm>
                <a:off x="854" y="0"/>
                <a:ext cx="854" cy="384"/>
                <a:chOff x="854" y="0"/>
                <a:chExt cx="854" cy="384"/>
              </a:xfrm>
            </p:grpSpPr>
            <p:sp>
              <p:nvSpPr>
                <p:cNvPr id="114698" name="Rectangle 5"/>
                <p:cNvSpPr/>
                <p:nvPr/>
              </p:nvSpPr>
              <p:spPr>
                <a:xfrm>
                  <a:off x="897" y="0"/>
                  <a:ext cx="768" cy="384"/>
                </a:xfrm>
                <a:prstGeom prst="rect">
                  <a:avLst/>
                </a:prstGeom>
                <a:noFill/>
                <a:ln w="6350">
                  <a:noFill/>
                </a:ln>
              </p:spPr>
              <p:txBody>
                <a:bodyPr anchor="t" anchorCtr="0"/>
                <a:p>
                  <a:pPr algn="ctr"/>
                  <a:r>
                    <a:rPr lang="zh-CN" altLang="en-US" sz="2000" b="1" dirty="0">
                      <a:solidFill>
                        <a:schemeClr val="tx1"/>
                      </a:solidFill>
                      <a:latin typeface="Times New Roman" panose="02020603050405020304" pitchFamily="18" charset="0"/>
                      <a:ea typeface="楷体_GB2312" pitchFamily="49" charset="-122"/>
                    </a:rPr>
                    <a:t>奇校验码（</a:t>
                  </a:r>
                  <a:r>
                    <a:rPr lang="zh-CN" altLang="en-US" sz="2000" b="1" dirty="0">
                      <a:solidFill>
                        <a:schemeClr val="tx1"/>
                      </a:solidFill>
                      <a:latin typeface="宋体" panose="02010600030101010101" pitchFamily="2" charset="-122"/>
                      <a:ea typeface="楷体_GB2312" pitchFamily="49" charset="-122"/>
                    </a:rPr>
                    <a:t>9</a:t>
                  </a:r>
                  <a:r>
                    <a:rPr lang="zh-CN" altLang="en-US" sz="2000" b="1" dirty="0">
                      <a:solidFill>
                        <a:schemeClr val="tx1"/>
                      </a:solidFill>
                      <a:latin typeface="Times New Roman" panose="02020603050405020304" pitchFamily="18" charset="0"/>
                      <a:ea typeface="楷体_GB2312" pitchFamily="49" charset="-122"/>
                    </a:rPr>
                    <a:t>位）</a:t>
                  </a:r>
                  <a:endParaRPr lang="zh-CN" altLang="en-US" sz="2000" dirty="0">
                    <a:solidFill>
                      <a:schemeClr val="tx1"/>
                    </a:solidFill>
                    <a:latin typeface="宋体" panose="02010600030101010101" pitchFamily="2" charset="-122"/>
                    <a:ea typeface="宋体" panose="02010600030101010101" pitchFamily="2" charset="-122"/>
                  </a:endParaRPr>
                </a:p>
                <a:p>
                  <a:pPr algn="ctr" eaLnBrk="0" hangingPunct="0"/>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14699" name="Rectangle 21"/>
                <p:cNvSpPr/>
                <p:nvPr/>
              </p:nvSpPr>
              <p:spPr>
                <a:xfrm>
                  <a:off x="854" y="0"/>
                  <a:ext cx="854" cy="384"/>
                </a:xfrm>
                <a:prstGeom prst="rect">
                  <a:avLst/>
                </a:prstGeom>
                <a:noFill/>
                <a:ln w="7" cap="flat" cmpd="sng">
                  <a:solidFill>
                    <a:srgbClr val="A0A0A0"/>
                  </a:solidFill>
                  <a:prstDash val="solid"/>
                  <a:miter/>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114700" name="Group 24"/>
              <p:cNvGrpSpPr/>
              <p:nvPr/>
            </p:nvGrpSpPr>
            <p:grpSpPr>
              <a:xfrm>
                <a:off x="1708" y="0"/>
                <a:ext cx="806" cy="384"/>
                <a:chOff x="1708" y="0"/>
                <a:chExt cx="806" cy="384"/>
              </a:xfrm>
            </p:grpSpPr>
            <p:sp>
              <p:nvSpPr>
                <p:cNvPr id="114701" name="Rectangle 6"/>
                <p:cNvSpPr/>
                <p:nvPr/>
              </p:nvSpPr>
              <p:spPr>
                <a:xfrm>
                  <a:off x="1751" y="0"/>
                  <a:ext cx="720" cy="384"/>
                </a:xfrm>
                <a:prstGeom prst="rect">
                  <a:avLst/>
                </a:prstGeom>
                <a:noFill/>
                <a:ln w="6350">
                  <a:noFill/>
                </a:ln>
              </p:spPr>
              <p:txBody>
                <a:bodyPr anchor="t" anchorCtr="0"/>
                <a:p>
                  <a:pPr algn="ctr"/>
                  <a:r>
                    <a:rPr lang="zh-CN" altLang="en-US" sz="2000" b="1" dirty="0">
                      <a:solidFill>
                        <a:schemeClr val="tx1"/>
                      </a:solidFill>
                      <a:latin typeface="Times New Roman" panose="02020603050405020304" pitchFamily="18" charset="0"/>
                      <a:ea typeface="楷体_GB2312" pitchFamily="49" charset="-122"/>
                    </a:rPr>
                    <a:t>偶校验码（</a:t>
                  </a:r>
                  <a:r>
                    <a:rPr lang="zh-CN" altLang="en-US" sz="2000" b="1" dirty="0">
                      <a:solidFill>
                        <a:schemeClr val="tx1"/>
                      </a:solidFill>
                      <a:latin typeface="宋体" panose="02010600030101010101" pitchFamily="2" charset="-122"/>
                      <a:ea typeface="楷体_GB2312" pitchFamily="49" charset="-122"/>
                    </a:rPr>
                    <a:t>9</a:t>
                  </a:r>
                  <a:r>
                    <a:rPr lang="zh-CN" altLang="en-US" sz="2000" b="1" dirty="0">
                      <a:solidFill>
                        <a:schemeClr val="tx1"/>
                      </a:solidFill>
                      <a:latin typeface="Times New Roman" panose="02020603050405020304" pitchFamily="18" charset="0"/>
                      <a:ea typeface="楷体_GB2312" pitchFamily="49" charset="-122"/>
                    </a:rPr>
                    <a:t>位）</a:t>
                  </a:r>
                  <a:endParaRPr lang="zh-CN" altLang="en-US" sz="2000" dirty="0">
                    <a:solidFill>
                      <a:schemeClr val="tx1"/>
                    </a:solidFill>
                    <a:latin typeface="宋体" panose="02010600030101010101" pitchFamily="2" charset="-122"/>
                    <a:ea typeface="宋体" panose="02010600030101010101" pitchFamily="2" charset="-122"/>
                  </a:endParaRPr>
                </a:p>
                <a:p>
                  <a:pPr algn="ctr" eaLnBrk="0" hangingPunct="0"/>
                  <a:endParaRPr lang="zh-CN" altLang="en-US" sz="2000" dirty="0">
                    <a:solidFill>
                      <a:schemeClr val="tx1"/>
                    </a:solidFill>
                    <a:latin typeface="Times New Roman" panose="02020603050405020304" pitchFamily="18" charset="0"/>
                    <a:ea typeface="宋体" panose="02010600030101010101" pitchFamily="2" charset="-122"/>
                  </a:endParaRPr>
                </a:p>
              </p:txBody>
            </p:sp>
            <p:sp>
              <p:nvSpPr>
                <p:cNvPr id="114702" name="Rectangle 23"/>
                <p:cNvSpPr/>
                <p:nvPr/>
              </p:nvSpPr>
              <p:spPr>
                <a:xfrm>
                  <a:off x="1708" y="0"/>
                  <a:ext cx="806" cy="384"/>
                </a:xfrm>
                <a:prstGeom prst="rect">
                  <a:avLst/>
                </a:prstGeom>
                <a:noFill/>
                <a:ln w="7" cap="flat" cmpd="sng">
                  <a:solidFill>
                    <a:srgbClr val="A0A0A0"/>
                  </a:solidFill>
                  <a:prstDash val="solid"/>
                  <a:miter/>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114703" name="Group 26"/>
              <p:cNvGrpSpPr/>
              <p:nvPr/>
            </p:nvGrpSpPr>
            <p:grpSpPr>
              <a:xfrm>
                <a:off x="0" y="384"/>
                <a:ext cx="854" cy="384"/>
                <a:chOff x="0" y="384"/>
                <a:chExt cx="854" cy="384"/>
              </a:xfrm>
            </p:grpSpPr>
            <p:sp>
              <p:nvSpPr>
                <p:cNvPr id="114704" name="Rectangle 7"/>
                <p:cNvSpPr/>
                <p:nvPr/>
              </p:nvSpPr>
              <p:spPr>
                <a:xfrm>
                  <a:off x="43" y="384"/>
                  <a:ext cx="768" cy="384"/>
                </a:xfrm>
                <a:prstGeom prst="rect">
                  <a:avLst/>
                </a:prstGeom>
                <a:noFill/>
                <a:ln w="6350">
                  <a:noFill/>
                </a:ln>
              </p:spPr>
              <p:txBody>
                <a:bodyPr anchor="t" anchorCtr="0"/>
                <a:p>
                  <a:pPr algn="ctr"/>
                  <a:r>
                    <a:rPr lang="zh-CN" altLang="en-US" sz="2400" b="1" dirty="0">
                      <a:solidFill>
                        <a:schemeClr val="tx1"/>
                      </a:solidFill>
                      <a:latin typeface="宋体" panose="02010600030101010101" pitchFamily="2" charset="-122"/>
                      <a:ea typeface="楷体_GB2312" pitchFamily="49" charset="-122"/>
                    </a:rPr>
                    <a:t>00000000</a:t>
                  </a:r>
                  <a:endParaRPr lang="zh-CN" altLang="en-US" sz="2400" dirty="0">
                    <a:solidFill>
                      <a:schemeClr val="tx1"/>
                    </a:solidFill>
                    <a:latin typeface="宋体" panose="02010600030101010101" pitchFamily="2" charset="-122"/>
                    <a:ea typeface="宋体" panose="02010600030101010101" pitchFamily="2" charset="-122"/>
                  </a:endParaRPr>
                </a:p>
                <a:p>
                  <a:pPr algn="ctr" eaLnBrk="0" hangingPunct="0"/>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14705" name="Rectangle 25"/>
                <p:cNvSpPr/>
                <p:nvPr/>
              </p:nvSpPr>
              <p:spPr>
                <a:xfrm>
                  <a:off x="0" y="384"/>
                  <a:ext cx="854" cy="384"/>
                </a:xfrm>
                <a:prstGeom prst="rect">
                  <a:avLst/>
                </a:prstGeom>
                <a:noFill/>
                <a:ln w="7" cap="flat" cmpd="sng">
                  <a:solidFill>
                    <a:srgbClr val="A0A0A0"/>
                  </a:solidFill>
                  <a:prstDash val="solid"/>
                  <a:miter/>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114706" name="Group 28"/>
              <p:cNvGrpSpPr/>
              <p:nvPr/>
            </p:nvGrpSpPr>
            <p:grpSpPr>
              <a:xfrm>
                <a:off x="854" y="384"/>
                <a:ext cx="854" cy="384"/>
                <a:chOff x="854" y="384"/>
                <a:chExt cx="854" cy="384"/>
              </a:xfrm>
            </p:grpSpPr>
            <p:sp>
              <p:nvSpPr>
                <p:cNvPr id="114707" name="Rectangle 8"/>
                <p:cNvSpPr/>
                <p:nvPr/>
              </p:nvSpPr>
              <p:spPr>
                <a:xfrm>
                  <a:off x="897" y="384"/>
                  <a:ext cx="768" cy="384"/>
                </a:xfrm>
                <a:prstGeom prst="rect">
                  <a:avLst/>
                </a:prstGeom>
                <a:noFill/>
                <a:ln w="6350">
                  <a:noFill/>
                </a:ln>
              </p:spPr>
              <p:txBody>
                <a:bodyPr anchor="t" anchorCtr="0"/>
                <a:p>
                  <a:pPr algn="ctr"/>
                  <a:r>
                    <a:rPr lang="zh-CN" altLang="en-US" sz="2400" b="1" dirty="0">
                      <a:solidFill>
                        <a:srgbClr val="FF3300"/>
                      </a:solidFill>
                      <a:latin typeface="宋体" panose="02010600030101010101" pitchFamily="2" charset="-122"/>
                      <a:ea typeface="楷体_GB2312" pitchFamily="49" charset="-122"/>
                    </a:rPr>
                    <a:t>1</a:t>
                  </a:r>
                  <a:r>
                    <a:rPr lang="zh-CN" altLang="en-US" sz="2400" b="1" dirty="0">
                      <a:solidFill>
                        <a:schemeClr val="tx1"/>
                      </a:solidFill>
                      <a:latin typeface="宋体" panose="02010600030101010101" pitchFamily="2" charset="-122"/>
                      <a:ea typeface="楷体_GB2312" pitchFamily="49" charset="-122"/>
                    </a:rPr>
                    <a:t>00000000</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14708" name="Rectangle 27"/>
                <p:cNvSpPr/>
                <p:nvPr/>
              </p:nvSpPr>
              <p:spPr>
                <a:xfrm>
                  <a:off x="854" y="384"/>
                  <a:ext cx="854" cy="384"/>
                </a:xfrm>
                <a:prstGeom prst="rect">
                  <a:avLst/>
                </a:prstGeom>
                <a:noFill/>
                <a:ln w="7" cap="flat" cmpd="sng">
                  <a:solidFill>
                    <a:srgbClr val="A0A0A0"/>
                  </a:solidFill>
                  <a:prstDash val="solid"/>
                  <a:miter/>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114709" name="Group 30"/>
              <p:cNvGrpSpPr/>
              <p:nvPr/>
            </p:nvGrpSpPr>
            <p:grpSpPr>
              <a:xfrm>
                <a:off x="1708" y="384"/>
                <a:ext cx="806" cy="384"/>
                <a:chOff x="1708" y="384"/>
                <a:chExt cx="806" cy="384"/>
              </a:xfrm>
            </p:grpSpPr>
            <p:sp>
              <p:nvSpPr>
                <p:cNvPr id="114710" name="Rectangle 9"/>
                <p:cNvSpPr/>
                <p:nvPr/>
              </p:nvSpPr>
              <p:spPr>
                <a:xfrm>
                  <a:off x="1751" y="384"/>
                  <a:ext cx="720" cy="384"/>
                </a:xfrm>
                <a:prstGeom prst="rect">
                  <a:avLst/>
                </a:prstGeom>
                <a:noFill/>
                <a:ln w="6350">
                  <a:noFill/>
                </a:ln>
              </p:spPr>
              <p:txBody>
                <a:bodyPr anchor="t" anchorCtr="0"/>
                <a:p>
                  <a:pPr algn="ctr"/>
                  <a:r>
                    <a:rPr lang="zh-CN" altLang="en-US" sz="2400" b="1" dirty="0">
                      <a:solidFill>
                        <a:srgbClr val="FF3300"/>
                      </a:solidFill>
                      <a:latin typeface="宋体" panose="02010600030101010101" pitchFamily="2" charset="-122"/>
                      <a:ea typeface="楷体_GB2312" pitchFamily="49" charset="-122"/>
                    </a:rPr>
                    <a:t>0</a:t>
                  </a:r>
                  <a:r>
                    <a:rPr lang="zh-CN" altLang="en-US" sz="2400" b="1" dirty="0">
                      <a:solidFill>
                        <a:schemeClr val="tx1"/>
                      </a:solidFill>
                      <a:latin typeface="宋体" panose="02010600030101010101" pitchFamily="2" charset="-122"/>
                      <a:ea typeface="楷体_GB2312" pitchFamily="49" charset="-122"/>
                    </a:rPr>
                    <a:t>00000000</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14711" name="Rectangle 29"/>
                <p:cNvSpPr/>
                <p:nvPr/>
              </p:nvSpPr>
              <p:spPr>
                <a:xfrm>
                  <a:off x="1708" y="384"/>
                  <a:ext cx="806" cy="384"/>
                </a:xfrm>
                <a:prstGeom prst="rect">
                  <a:avLst/>
                </a:prstGeom>
                <a:noFill/>
                <a:ln w="7" cap="flat" cmpd="sng">
                  <a:solidFill>
                    <a:srgbClr val="A0A0A0"/>
                  </a:solidFill>
                  <a:prstDash val="solid"/>
                  <a:miter/>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114712" name="Group 32"/>
              <p:cNvGrpSpPr/>
              <p:nvPr/>
            </p:nvGrpSpPr>
            <p:grpSpPr>
              <a:xfrm>
                <a:off x="0" y="768"/>
                <a:ext cx="854" cy="384"/>
                <a:chOff x="0" y="768"/>
                <a:chExt cx="854" cy="384"/>
              </a:xfrm>
            </p:grpSpPr>
            <p:sp>
              <p:nvSpPr>
                <p:cNvPr id="114713" name="Rectangle 10"/>
                <p:cNvSpPr/>
                <p:nvPr/>
              </p:nvSpPr>
              <p:spPr>
                <a:xfrm>
                  <a:off x="43" y="768"/>
                  <a:ext cx="768" cy="384"/>
                </a:xfrm>
                <a:prstGeom prst="rect">
                  <a:avLst/>
                </a:prstGeom>
                <a:noFill/>
                <a:ln w="6350">
                  <a:noFill/>
                </a:ln>
              </p:spPr>
              <p:txBody>
                <a:bodyPr anchor="t" anchorCtr="0"/>
                <a:p>
                  <a:pPr algn="ctr"/>
                  <a:r>
                    <a:rPr lang="zh-CN" altLang="en-US" sz="2400" b="1" dirty="0">
                      <a:solidFill>
                        <a:schemeClr val="tx1"/>
                      </a:solidFill>
                      <a:latin typeface="宋体" panose="02010600030101010101" pitchFamily="2" charset="-122"/>
                      <a:ea typeface="楷体_GB2312" pitchFamily="49" charset="-122"/>
                    </a:rPr>
                    <a:t>01010100</a:t>
                  </a:r>
                  <a:endParaRPr lang="zh-CN" altLang="en-US" sz="2400" dirty="0">
                    <a:solidFill>
                      <a:schemeClr val="tx1"/>
                    </a:solidFill>
                    <a:latin typeface="宋体" panose="02010600030101010101" pitchFamily="2" charset="-122"/>
                    <a:ea typeface="宋体" panose="02010600030101010101" pitchFamily="2" charset="-122"/>
                  </a:endParaRPr>
                </a:p>
                <a:p>
                  <a:pPr algn="ctr" eaLnBrk="0" hangingPunct="0"/>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14714" name="Rectangle 31"/>
                <p:cNvSpPr/>
                <p:nvPr/>
              </p:nvSpPr>
              <p:spPr>
                <a:xfrm>
                  <a:off x="0" y="768"/>
                  <a:ext cx="854" cy="384"/>
                </a:xfrm>
                <a:prstGeom prst="rect">
                  <a:avLst/>
                </a:prstGeom>
                <a:noFill/>
                <a:ln w="7" cap="flat" cmpd="sng">
                  <a:solidFill>
                    <a:srgbClr val="A0A0A0"/>
                  </a:solidFill>
                  <a:prstDash val="solid"/>
                  <a:miter/>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114715" name="Group 34"/>
              <p:cNvGrpSpPr/>
              <p:nvPr/>
            </p:nvGrpSpPr>
            <p:grpSpPr>
              <a:xfrm>
                <a:off x="854" y="768"/>
                <a:ext cx="854" cy="384"/>
                <a:chOff x="854" y="768"/>
                <a:chExt cx="854" cy="384"/>
              </a:xfrm>
            </p:grpSpPr>
            <p:sp>
              <p:nvSpPr>
                <p:cNvPr id="114716" name="Rectangle 11"/>
                <p:cNvSpPr/>
                <p:nvPr/>
              </p:nvSpPr>
              <p:spPr>
                <a:xfrm>
                  <a:off x="897" y="768"/>
                  <a:ext cx="768" cy="384"/>
                </a:xfrm>
                <a:prstGeom prst="rect">
                  <a:avLst/>
                </a:prstGeom>
                <a:noFill/>
                <a:ln w="6350">
                  <a:noFill/>
                </a:ln>
              </p:spPr>
              <p:txBody>
                <a:bodyPr anchor="t" anchorCtr="0"/>
                <a:p>
                  <a:pPr algn="ctr"/>
                  <a:r>
                    <a:rPr lang="zh-CN" altLang="en-US" sz="2400" b="1" dirty="0">
                      <a:solidFill>
                        <a:srgbClr val="FF3300"/>
                      </a:solidFill>
                      <a:latin typeface="宋体" panose="02010600030101010101" pitchFamily="2" charset="-122"/>
                      <a:ea typeface="楷体_GB2312" pitchFamily="49" charset="-122"/>
                    </a:rPr>
                    <a:t>0</a:t>
                  </a:r>
                  <a:r>
                    <a:rPr lang="zh-CN" altLang="en-US" sz="2400" b="1" dirty="0">
                      <a:solidFill>
                        <a:schemeClr val="tx1"/>
                      </a:solidFill>
                      <a:latin typeface="宋体" panose="02010600030101010101" pitchFamily="2" charset="-122"/>
                      <a:ea typeface="楷体_GB2312" pitchFamily="49" charset="-122"/>
                    </a:rPr>
                    <a:t>01010100</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14717" name="Rectangle 33"/>
                <p:cNvSpPr/>
                <p:nvPr/>
              </p:nvSpPr>
              <p:spPr>
                <a:xfrm>
                  <a:off x="854" y="768"/>
                  <a:ext cx="854" cy="384"/>
                </a:xfrm>
                <a:prstGeom prst="rect">
                  <a:avLst/>
                </a:prstGeom>
                <a:noFill/>
                <a:ln w="7" cap="flat" cmpd="sng">
                  <a:solidFill>
                    <a:srgbClr val="A0A0A0"/>
                  </a:solidFill>
                  <a:prstDash val="solid"/>
                  <a:miter/>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114718" name="Group 36"/>
              <p:cNvGrpSpPr/>
              <p:nvPr/>
            </p:nvGrpSpPr>
            <p:grpSpPr>
              <a:xfrm>
                <a:off x="1708" y="768"/>
                <a:ext cx="806" cy="384"/>
                <a:chOff x="1708" y="768"/>
                <a:chExt cx="806" cy="384"/>
              </a:xfrm>
            </p:grpSpPr>
            <p:sp>
              <p:nvSpPr>
                <p:cNvPr id="114719" name="Rectangle 12"/>
                <p:cNvSpPr/>
                <p:nvPr/>
              </p:nvSpPr>
              <p:spPr>
                <a:xfrm>
                  <a:off x="1751" y="768"/>
                  <a:ext cx="720" cy="384"/>
                </a:xfrm>
                <a:prstGeom prst="rect">
                  <a:avLst/>
                </a:prstGeom>
                <a:noFill/>
                <a:ln w="6350">
                  <a:noFill/>
                </a:ln>
              </p:spPr>
              <p:txBody>
                <a:bodyPr anchor="t" anchorCtr="0"/>
                <a:p>
                  <a:pPr algn="ctr"/>
                  <a:r>
                    <a:rPr lang="zh-CN" altLang="en-US" sz="2400" b="1" dirty="0">
                      <a:solidFill>
                        <a:srgbClr val="FF3300"/>
                      </a:solidFill>
                      <a:latin typeface="宋体" panose="02010600030101010101" pitchFamily="2" charset="-122"/>
                      <a:ea typeface="楷体_GB2312" pitchFamily="49" charset="-122"/>
                    </a:rPr>
                    <a:t>1</a:t>
                  </a:r>
                  <a:r>
                    <a:rPr lang="zh-CN" altLang="en-US" sz="2400" b="1" dirty="0">
                      <a:solidFill>
                        <a:schemeClr val="tx1"/>
                      </a:solidFill>
                      <a:latin typeface="宋体" panose="02010600030101010101" pitchFamily="2" charset="-122"/>
                      <a:ea typeface="楷体_GB2312" pitchFamily="49" charset="-122"/>
                    </a:rPr>
                    <a:t>01010100</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14720" name="Rectangle 35"/>
                <p:cNvSpPr/>
                <p:nvPr/>
              </p:nvSpPr>
              <p:spPr>
                <a:xfrm>
                  <a:off x="1708" y="768"/>
                  <a:ext cx="806" cy="384"/>
                </a:xfrm>
                <a:prstGeom prst="rect">
                  <a:avLst/>
                </a:prstGeom>
                <a:noFill/>
                <a:ln w="7" cap="flat" cmpd="sng">
                  <a:solidFill>
                    <a:srgbClr val="A0A0A0"/>
                  </a:solidFill>
                  <a:prstDash val="solid"/>
                  <a:miter/>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114721" name="Group 38"/>
              <p:cNvGrpSpPr/>
              <p:nvPr/>
            </p:nvGrpSpPr>
            <p:grpSpPr>
              <a:xfrm>
                <a:off x="0" y="1152"/>
                <a:ext cx="854" cy="384"/>
                <a:chOff x="0" y="1152"/>
                <a:chExt cx="854" cy="384"/>
              </a:xfrm>
            </p:grpSpPr>
            <p:sp>
              <p:nvSpPr>
                <p:cNvPr id="114722" name="Rectangle 13"/>
                <p:cNvSpPr/>
                <p:nvPr/>
              </p:nvSpPr>
              <p:spPr>
                <a:xfrm>
                  <a:off x="43" y="1152"/>
                  <a:ext cx="768" cy="384"/>
                </a:xfrm>
                <a:prstGeom prst="rect">
                  <a:avLst/>
                </a:prstGeom>
                <a:noFill/>
                <a:ln w="6350">
                  <a:noFill/>
                </a:ln>
              </p:spPr>
              <p:txBody>
                <a:bodyPr anchor="t" anchorCtr="0"/>
                <a:p>
                  <a:pPr algn="ctr"/>
                  <a:r>
                    <a:rPr lang="zh-CN" altLang="en-US" sz="2400" b="1" dirty="0">
                      <a:solidFill>
                        <a:schemeClr val="tx1"/>
                      </a:solidFill>
                      <a:latin typeface="宋体" panose="02010600030101010101" pitchFamily="2" charset="-122"/>
                      <a:ea typeface="楷体_GB2312" pitchFamily="49" charset="-122"/>
                    </a:rPr>
                    <a:t>01111111</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14723" name="Rectangle 37"/>
                <p:cNvSpPr/>
                <p:nvPr/>
              </p:nvSpPr>
              <p:spPr>
                <a:xfrm>
                  <a:off x="0" y="1152"/>
                  <a:ext cx="854" cy="384"/>
                </a:xfrm>
                <a:prstGeom prst="rect">
                  <a:avLst/>
                </a:prstGeom>
                <a:noFill/>
                <a:ln w="7" cap="flat" cmpd="sng">
                  <a:solidFill>
                    <a:srgbClr val="A0A0A0"/>
                  </a:solidFill>
                  <a:prstDash val="solid"/>
                  <a:miter/>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114724" name="Group 40"/>
              <p:cNvGrpSpPr/>
              <p:nvPr/>
            </p:nvGrpSpPr>
            <p:grpSpPr>
              <a:xfrm>
                <a:off x="854" y="1152"/>
                <a:ext cx="854" cy="384"/>
                <a:chOff x="854" y="1152"/>
                <a:chExt cx="854" cy="384"/>
              </a:xfrm>
            </p:grpSpPr>
            <p:sp>
              <p:nvSpPr>
                <p:cNvPr id="114725" name="Rectangle 14"/>
                <p:cNvSpPr/>
                <p:nvPr/>
              </p:nvSpPr>
              <p:spPr>
                <a:xfrm>
                  <a:off x="897" y="1152"/>
                  <a:ext cx="768" cy="384"/>
                </a:xfrm>
                <a:prstGeom prst="rect">
                  <a:avLst/>
                </a:prstGeom>
                <a:noFill/>
                <a:ln w="6350">
                  <a:noFill/>
                </a:ln>
              </p:spPr>
              <p:txBody>
                <a:bodyPr anchor="t" anchorCtr="0"/>
                <a:p>
                  <a:pPr algn="ctr"/>
                  <a:r>
                    <a:rPr lang="zh-CN" altLang="en-US" sz="2400" b="1" dirty="0">
                      <a:solidFill>
                        <a:srgbClr val="FF3300"/>
                      </a:solidFill>
                      <a:latin typeface="宋体" panose="02010600030101010101" pitchFamily="2" charset="-122"/>
                      <a:ea typeface="楷体_GB2312" pitchFamily="49" charset="-122"/>
                    </a:rPr>
                    <a:t>0</a:t>
                  </a:r>
                  <a:r>
                    <a:rPr lang="zh-CN" altLang="en-US" sz="2400" b="1" dirty="0">
                      <a:solidFill>
                        <a:schemeClr val="tx1"/>
                      </a:solidFill>
                      <a:latin typeface="宋体" panose="02010600030101010101" pitchFamily="2" charset="-122"/>
                      <a:ea typeface="楷体_GB2312" pitchFamily="49" charset="-122"/>
                    </a:rPr>
                    <a:t>01111111</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14726" name="Rectangle 39"/>
                <p:cNvSpPr/>
                <p:nvPr/>
              </p:nvSpPr>
              <p:spPr>
                <a:xfrm>
                  <a:off x="854" y="1152"/>
                  <a:ext cx="854" cy="384"/>
                </a:xfrm>
                <a:prstGeom prst="rect">
                  <a:avLst/>
                </a:prstGeom>
                <a:noFill/>
                <a:ln w="7" cap="flat" cmpd="sng">
                  <a:solidFill>
                    <a:srgbClr val="A0A0A0"/>
                  </a:solidFill>
                  <a:prstDash val="solid"/>
                  <a:miter/>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114727" name="Group 42"/>
              <p:cNvGrpSpPr/>
              <p:nvPr/>
            </p:nvGrpSpPr>
            <p:grpSpPr>
              <a:xfrm>
                <a:off x="1708" y="1152"/>
                <a:ext cx="806" cy="384"/>
                <a:chOff x="1708" y="1152"/>
                <a:chExt cx="806" cy="384"/>
              </a:xfrm>
            </p:grpSpPr>
            <p:sp>
              <p:nvSpPr>
                <p:cNvPr id="114728" name="Rectangle 15"/>
                <p:cNvSpPr/>
                <p:nvPr/>
              </p:nvSpPr>
              <p:spPr>
                <a:xfrm>
                  <a:off x="1751" y="1152"/>
                  <a:ext cx="720" cy="384"/>
                </a:xfrm>
                <a:prstGeom prst="rect">
                  <a:avLst/>
                </a:prstGeom>
                <a:noFill/>
                <a:ln w="6350">
                  <a:noFill/>
                </a:ln>
              </p:spPr>
              <p:txBody>
                <a:bodyPr anchor="t" anchorCtr="0"/>
                <a:p>
                  <a:pPr algn="ctr"/>
                  <a:r>
                    <a:rPr lang="zh-CN" altLang="en-US" sz="2400" b="1" dirty="0">
                      <a:solidFill>
                        <a:srgbClr val="FF3300"/>
                      </a:solidFill>
                      <a:latin typeface="宋体" panose="02010600030101010101" pitchFamily="2" charset="-122"/>
                      <a:ea typeface="楷体_GB2312" pitchFamily="49" charset="-122"/>
                    </a:rPr>
                    <a:t>1</a:t>
                  </a:r>
                  <a:r>
                    <a:rPr lang="zh-CN" altLang="en-US" sz="2400" b="1" dirty="0">
                      <a:solidFill>
                        <a:schemeClr val="tx1"/>
                      </a:solidFill>
                      <a:latin typeface="宋体" panose="02010600030101010101" pitchFamily="2" charset="-122"/>
                      <a:ea typeface="楷体_GB2312" pitchFamily="49" charset="-122"/>
                    </a:rPr>
                    <a:t>01111111</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14729" name="Rectangle 41"/>
                <p:cNvSpPr/>
                <p:nvPr/>
              </p:nvSpPr>
              <p:spPr>
                <a:xfrm>
                  <a:off x="1708" y="1152"/>
                  <a:ext cx="806" cy="384"/>
                </a:xfrm>
                <a:prstGeom prst="rect">
                  <a:avLst/>
                </a:prstGeom>
                <a:noFill/>
                <a:ln w="7" cap="flat" cmpd="sng">
                  <a:solidFill>
                    <a:srgbClr val="A0A0A0"/>
                  </a:solidFill>
                  <a:prstDash val="solid"/>
                  <a:miter/>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114730" name="Group 44"/>
              <p:cNvGrpSpPr/>
              <p:nvPr/>
            </p:nvGrpSpPr>
            <p:grpSpPr>
              <a:xfrm>
                <a:off x="0" y="1536"/>
                <a:ext cx="854" cy="384"/>
                <a:chOff x="0" y="1536"/>
                <a:chExt cx="854" cy="384"/>
              </a:xfrm>
            </p:grpSpPr>
            <p:sp>
              <p:nvSpPr>
                <p:cNvPr id="114731" name="Rectangle 16"/>
                <p:cNvSpPr/>
                <p:nvPr/>
              </p:nvSpPr>
              <p:spPr>
                <a:xfrm>
                  <a:off x="43" y="1536"/>
                  <a:ext cx="768" cy="384"/>
                </a:xfrm>
                <a:prstGeom prst="rect">
                  <a:avLst/>
                </a:prstGeom>
                <a:noFill/>
                <a:ln w="6350">
                  <a:noFill/>
                </a:ln>
              </p:spPr>
              <p:txBody>
                <a:bodyPr anchor="t" anchorCtr="0"/>
                <a:p>
                  <a:pPr algn="ctr"/>
                  <a:r>
                    <a:rPr lang="zh-CN" altLang="en-US" sz="2400" b="1" dirty="0">
                      <a:solidFill>
                        <a:schemeClr val="tx1"/>
                      </a:solidFill>
                      <a:latin typeface="宋体" panose="02010600030101010101" pitchFamily="2" charset="-122"/>
                      <a:ea typeface="楷体_GB2312" pitchFamily="49" charset="-122"/>
                    </a:rPr>
                    <a:t>11111111</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14732" name="Rectangle 43"/>
                <p:cNvSpPr/>
                <p:nvPr/>
              </p:nvSpPr>
              <p:spPr>
                <a:xfrm>
                  <a:off x="0" y="1536"/>
                  <a:ext cx="854" cy="384"/>
                </a:xfrm>
                <a:prstGeom prst="rect">
                  <a:avLst/>
                </a:prstGeom>
                <a:noFill/>
                <a:ln w="7" cap="flat" cmpd="sng">
                  <a:solidFill>
                    <a:srgbClr val="A0A0A0"/>
                  </a:solidFill>
                  <a:prstDash val="solid"/>
                  <a:miter/>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114733" name="Group 46"/>
              <p:cNvGrpSpPr/>
              <p:nvPr/>
            </p:nvGrpSpPr>
            <p:grpSpPr>
              <a:xfrm>
                <a:off x="854" y="1536"/>
                <a:ext cx="854" cy="384"/>
                <a:chOff x="854" y="1536"/>
                <a:chExt cx="854" cy="384"/>
              </a:xfrm>
            </p:grpSpPr>
            <p:sp>
              <p:nvSpPr>
                <p:cNvPr id="114734" name="Rectangle 17"/>
                <p:cNvSpPr/>
                <p:nvPr/>
              </p:nvSpPr>
              <p:spPr>
                <a:xfrm>
                  <a:off x="897" y="1536"/>
                  <a:ext cx="768" cy="384"/>
                </a:xfrm>
                <a:prstGeom prst="rect">
                  <a:avLst/>
                </a:prstGeom>
                <a:noFill/>
                <a:ln w="6350">
                  <a:noFill/>
                </a:ln>
              </p:spPr>
              <p:txBody>
                <a:bodyPr anchor="t" anchorCtr="0"/>
                <a:p>
                  <a:pPr algn="ctr"/>
                  <a:r>
                    <a:rPr lang="zh-CN" altLang="en-US" sz="2400" b="1" dirty="0">
                      <a:solidFill>
                        <a:srgbClr val="FF3300"/>
                      </a:solidFill>
                      <a:latin typeface="宋体" panose="02010600030101010101" pitchFamily="2" charset="-122"/>
                      <a:ea typeface="楷体_GB2312" pitchFamily="49" charset="-122"/>
                    </a:rPr>
                    <a:t>1</a:t>
                  </a:r>
                  <a:r>
                    <a:rPr lang="zh-CN" altLang="en-US" sz="2400" b="1" dirty="0">
                      <a:solidFill>
                        <a:schemeClr val="tx1"/>
                      </a:solidFill>
                      <a:latin typeface="宋体" panose="02010600030101010101" pitchFamily="2" charset="-122"/>
                      <a:ea typeface="楷体_GB2312" pitchFamily="49" charset="-122"/>
                    </a:rPr>
                    <a:t>11111111</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14735" name="Rectangle 45"/>
                <p:cNvSpPr/>
                <p:nvPr/>
              </p:nvSpPr>
              <p:spPr>
                <a:xfrm>
                  <a:off x="854" y="1536"/>
                  <a:ext cx="854" cy="384"/>
                </a:xfrm>
                <a:prstGeom prst="rect">
                  <a:avLst/>
                </a:prstGeom>
                <a:noFill/>
                <a:ln w="7" cap="flat" cmpd="sng">
                  <a:solidFill>
                    <a:srgbClr val="A0A0A0"/>
                  </a:solidFill>
                  <a:prstDash val="solid"/>
                  <a:miter/>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114736" name="Group 48"/>
              <p:cNvGrpSpPr/>
              <p:nvPr/>
            </p:nvGrpSpPr>
            <p:grpSpPr>
              <a:xfrm>
                <a:off x="1708" y="1536"/>
                <a:ext cx="806" cy="384"/>
                <a:chOff x="1708" y="1536"/>
                <a:chExt cx="806" cy="384"/>
              </a:xfrm>
            </p:grpSpPr>
            <p:sp>
              <p:nvSpPr>
                <p:cNvPr id="114737" name="Rectangle 18"/>
                <p:cNvSpPr/>
                <p:nvPr/>
              </p:nvSpPr>
              <p:spPr>
                <a:xfrm>
                  <a:off x="1751" y="1536"/>
                  <a:ext cx="720" cy="384"/>
                </a:xfrm>
                <a:prstGeom prst="rect">
                  <a:avLst/>
                </a:prstGeom>
                <a:noFill/>
                <a:ln w="6350">
                  <a:noFill/>
                </a:ln>
              </p:spPr>
              <p:txBody>
                <a:bodyPr anchor="t" anchorCtr="0"/>
                <a:p>
                  <a:pPr algn="ctr"/>
                  <a:r>
                    <a:rPr lang="zh-CN" altLang="en-US" sz="2400" b="1" dirty="0">
                      <a:solidFill>
                        <a:srgbClr val="FF3300"/>
                      </a:solidFill>
                      <a:latin typeface="宋体" panose="02010600030101010101" pitchFamily="2" charset="-122"/>
                      <a:ea typeface="楷体_GB2312" pitchFamily="49" charset="-122"/>
                    </a:rPr>
                    <a:t>0</a:t>
                  </a:r>
                  <a:r>
                    <a:rPr lang="zh-CN" altLang="en-US" sz="2400" b="1" dirty="0">
                      <a:solidFill>
                        <a:schemeClr val="tx1"/>
                      </a:solidFill>
                      <a:latin typeface="宋体" panose="02010600030101010101" pitchFamily="2" charset="-122"/>
                      <a:ea typeface="楷体_GB2312" pitchFamily="49" charset="-122"/>
                    </a:rPr>
                    <a:t>11111111</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14738" name="Rectangle 47"/>
                <p:cNvSpPr/>
                <p:nvPr/>
              </p:nvSpPr>
              <p:spPr>
                <a:xfrm>
                  <a:off x="1708" y="1536"/>
                  <a:ext cx="806" cy="384"/>
                </a:xfrm>
                <a:prstGeom prst="rect">
                  <a:avLst/>
                </a:prstGeom>
                <a:noFill/>
                <a:ln w="7" cap="flat" cmpd="sng">
                  <a:solidFill>
                    <a:srgbClr val="A0A0A0"/>
                  </a:solidFill>
                  <a:prstDash val="solid"/>
                  <a:miter/>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sp>
          <p:nvSpPr>
            <p:cNvPr id="114739" name="Rectangle 50"/>
            <p:cNvSpPr/>
            <p:nvPr/>
          </p:nvSpPr>
          <p:spPr>
            <a:xfrm>
              <a:off x="-2" y="-2"/>
              <a:ext cx="2518" cy="1924"/>
            </a:xfrm>
            <a:prstGeom prst="rect">
              <a:avLst/>
            </a:prstGeom>
            <a:noFill/>
            <a:ln w="7937" cap="flat" cmpd="sng">
              <a:solidFill>
                <a:srgbClr val="A0A0A0"/>
              </a:solidFill>
              <a:prstDash val="solid"/>
              <a:miter/>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15714" name="Rectangle 2"/>
          <p:cNvSpPr>
            <a:spLocks noGrp="1"/>
          </p:cNvSpPr>
          <p:nvPr>
            <p:ph type="title"/>
          </p:nvPr>
        </p:nvSpPr>
        <p:spPr>
          <a:xfrm>
            <a:off x="685800" y="3048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2.简单奇偶校验（续）</a:t>
            </a:r>
            <a:endParaRPr lang="zh-CN" altLang="en-US" sz="3200" dirty="0">
              <a:solidFill>
                <a:schemeClr val="accent2"/>
              </a:solidFill>
              <a:ea typeface="楷体_GB2312" pitchFamily="49" charset="-122"/>
            </a:endParaRPr>
          </a:p>
        </p:txBody>
      </p:sp>
      <p:sp>
        <p:nvSpPr>
          <p:cNvPr id="115715" name="Rectangle 3"/>
          <p:cNvSpPr>
            <a:spLocks noGrp="1"/>
          </p:cNvSpPr>
          <p:nvPr>
            <p:ph idx="1"/>
          </p:nvPr>
        </p:nvSpPr>
        <p:spPr>
          <a:xfrm>
            <a:off x="609600" y="1143000"/>
            <a:ext cx="7924800" cy="5275263"/>
          </a:xfrm>
        </p:spPr>
        <p:txBody>
          <a:bodyPr vert="horz" wrap="square" lIns="91440" tIns="45720" rIns="91440" bIns="45720" anchor="t" anchorCtr="0"/>
          <a:p>
            <a:pPr eaLnBrk="1" hangingPunct="1">
              <a:buNone/>
            </a:pPr>
            <a:r>
              <a:rPr lang="zh-CN" altLang="en-US" b="1" dirty="0">
                <a:ea typeface="楷体_GB2312" pitchFamily="49" charset="-122"/>
              </a:rPr>
              <a:t> ⑴ 校验位形成</a:t>
            </a:r>
            <a:endParaRPr lang="zh-CN" altLang="en-US" b="1" dirty="0">
              <a:ea typeface="楷体_GB2312" pitchFamily="49" charset="-122"/>
            </a:endParaRPr>
          </a:p>
          <a:p>
            <a:pPr eaLnBrk="1" hangingPunct="1">
              <a:buNone/>
            </a:pPr>
            <a:r>
              <a:rPr lang="zh-CN" altLang="en-US" b="1" dirty="0">
                <a:ea typeface="楷体_GB2312" pitchFamily="49" charset="-122"/>
              </a:rPr>
              <a:t>           当要把一个字节的代码</a:t>
            </a:r>
            <a:r>
              <a:rPr lang="en-US" altLang="zh-CN" b="1" dirty="0">
                <a:ea typeface="楷体_GB2312" pitchFamily="49" charset="-122"/>
              </a:rPr>
              <a:t>D</a:t>
            </a:r>
            <a:r>
              <a:rPr lang="en-US" altLang="zh-CN" b="1" baseline="-30000" dirty="0">
                <a:ea typeface="楷体_GB2312" pitchFamily="49" charset="-122"/>
              </a:rPr>
              <a:t>7</a:t>
            </a:r>
            <a:r>
              <a:rPr lang="en-US" altLang="zh-CN" b="1" dirty="0">
                <a:ea typeface="楷体_GB2312" pitchFamily="49" charset="-122"/>
              </a:rPr>
              <a:t>～D</a:t>
            </a:r>
            <a:r>
              <a:rPr lang="en-US" altLang="zh-CN" b="1" baseline="-30000" dirty="0">
                <a:ea typeface="楷体_GB2312" pitchFamily="49" charset="-122"/>
              </a:rPr>
              <a:t>0</a:t>
            </a:r>
            <a:r>
              <a:rPr lang="zh-CN" altLang="en-US" b="1" dirty="0">
                <a:ea typeface="楷体_GB2312" pitchFamily="49" charset="-122"/>
              </a:rPr>
              <a:t>写入主存时，就同时将它们送往奇偶校验逻辑电路，该电路产生的“奇形成”信号就是校验位。它将与8位代码一起作为奇校验码写入主存。</a:t>
            </a:r>
            <a:endParaRPr lang="zh-CN" altLang="en-US" b="1" dirty="0">
              <a:ea typeface="楷体_GB2312" pitchFamily="49" charset="-122"/>
            </a:endParaRPr>
          </a:p>
          <a:p>
            <a:pPr eaLnBrk="1" hangingPunct="1">
              <a:buNone/>
            </a:pPr>
            <a:r>
              <a:rPr lang="zh-CN" altLang="en-US" b="1" dirty="0">
                <a:ea typeface="楷体_GB2312" pitchFamily="49" charset="-122"/>
              </a:rPr>
              <a:t>            若</a:t>
            </a:r>
            <a:r>
              <a:rPr lang="en-US" altLang="zh-CN" b="1" dirty="0">
                <a:ea typeface="楷体_GB2312" pitchFamily="49" charset="-122"/>
              </a:rPr>
              <a:t>D</a:t>
            </a:r>
            <a:r>
              <a:rPr lang="en-US" altLang="zh-CN" b="1" baseline="-30000" dirty="0">
                <a:ea typeface="楷体_GB2312" pitchFamily="49" charset="-122"/>
              </a:rPr>
              <a:t>7</a:t>
            </a:r>
            <a:r>
              <a:rPr lang="en-US" altLang="zh-CN" b="1" dirty="0">
                <a:ea typeface="楷体_GB2312" pitchFamily="49" charset="-122"/>
              </a:rPr>
              <a:t>～D</a:t>
            </a:r>
            <a:r>
              <a:rPr lang="en-US" altLang="zh-CN" b="1" baseline="-30000" dirty="0">
                <a:ea typeface="楷体_GB2312" pitchFamily="49" charset="-122"/>
              </a:rPr>
              <a:t>0</a:t>
            </a:r>
            <a:r>
              <a:rPr lang="zh-CN" altLang="en-US" b="1" dirty="0">
                <a:ea typeface="楷体_GB2312" pitchFamily="49" charset="-122"/>
              </a:rPr>
              <a:t>中有</a:t>
            </a:r>
            <a:r>
              <a:rPr lang="zh-CN" altLang="en-US" b="1" dirty="0">
                <a:solidFill>
                  <a:srgbClr val="FF0000"/>
                </a:solidFill>
                <a:ea typeface="楷体_GB2312" pitchFamily="49" charset="-122"/>
              </a:rPr>
              <a:t>偶数</a:t>
            </a:r>
            <a:r>
              <a:rPr lang="zh-CN" altLang="en-US" b="1" dirty="0">
                <a:ea typeface="楷体_GB2312" pitchFamily="49" charset="-122"/>
              </a:rPr>
              <a:t>个“1”，则</a:t>
            </a:r>
            <a:r>
              <a:rPr lang="zh-CN" altLang="en-US" b="1" dirty="0">
                <a:solidFill>
                  <a:srgbClr val="FF0000"/>
                </a:solidFill>
                <a:ea typeface="楷体_GB2312" pitchFamily="49" charset="-122"/>
              </a:rPr>
              <a:t>“奇形成”=1，</a:t>
            </a:r>
            <a:br>
              <a:rPr lang="zh-CN" altLang="en-US" b="1" dirty="0">
                <a:ea typeface="楷体_GB2312" pitchFamily="49" charset="-122"/>
              </a:rPr>
            </a:br>
            <a:r>
              <a:rPr lang="zh-CN" altLang="en-US" b="1" dirty="0">
                <a:ea typeface="楷体_GB2312" pitchFamily="49" charset="-122"/>
              </a:rPr>
              <a:t>         若</a:t>
            </a:r>
            <a:r>
              <a:rPr lang="en-US" altLang="zh-CN" b="1" dirty="0">
                <a:ea typeface="楷体_GB2312" pitchFamily="49" charset="-122"/>
              </a:rPr>
              <a:t>D</a:t>
            </a:r>
            <a:r>
              <a:rPr lang="en-US" altLang="zh-CN" b="1" baseline="-30000" dirty="0">
                <a:ea typeface="楷体_GB2312" pitchFamily="49" charset="-122"/>
              </a:rPr>
              <a:t>7</a:t>
            </a:r>
            <a:r>
              <a:rPr lang="en-US" altLang="zh-CN" b="1" dirty="0">
                <a:ea typeface="楷体_GB2312" pitchFamily="49" charset="-122"/>
              </a:rPr>
              <a:t>～D</a:t>
            </a:r>
            <a:r>
              <a:rPr lang="en-US" altLang="zh-CN" b="1" baseline="-30000" dirty="0">
                <a:ea typeface="楷体_GB2312" pitchFamily="49" charset="-122"/>
              </a:rPr>
              <a:t>0</a:t>
            </a:r>
            <a:r>
              <a:rPr lang="zh-CN" altLang="en-US" b="1" dirty="0">
                <a:ea typeface="楷体_GB2312" pitchFamily="49" charset="-122"/>
              </a:rPr>
              <a:t>中有</a:t>
            </a:r>
            <a:r>
              <a:rPr lang="zh-CN" altLang="en-US" b="1" dirty="0">
                <a:solidFill>
                  <a:srgbClr val="FF0000"/>
                </a:solidFill>
                <a:ea typeface="楷体_GB2312" pitchFamily="49" charset="-122"/>
              </a:rPr>
              <a:t>奇数</a:t>
            </a:r>
            <a:r>
              <a:rPr lang="zh-CN" altLang="en-US" b="1" dirty="0">
                <a:ea typeface="楷体_GB2312" pitchFamily="49" charset="-122"/>
              </a:rPr>
              <a:t>个“1”，则</a:t>
            </a:r>
            <a:r>
              <a:rPr lang="zh-CN" altLang="en-US" b="1" dirty="0">
                <a:solidFill>
                  <a:srgbClr val="FF0000"/>
                </a:solidFill>
                <a:ea typeface="楷体_GB2312" pitchFamily="49" charset="-122"/>
              </a:rPr>
              <a:t>“奇形成”=0</a:t>
            </a:r>
            <a:r>
              <a:rPr lang="zh-CN" altLang="en-US" b="1" dirty="0">
                <a:ea typeface="楷体_GB2312" pitchFamily="49" charset="-122"/>
              </a:rPr>
              <a:t>。</a:t>
            </a:r>
            <a:endParaRPr lang="zh-CN" altLang="en-US" b="1" dirty="0">
              <a:ea typeface="楷体_GB2312" pitchFamily="49" charset="-122"/>
            </a:endParaRP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16738" name="Rectangle 2"/>
          <p:cNvSpPr>
            <a:spLocks noGrp="1"/>
          </p:cNvSpPr>
          <p:nvPr>
            <p:ph type="title"/>
          </p:nvPr>
        </p:nvSpPr>
        <p:spPr>
          <a:xfrm>
            <a:off x="685800" y="152400"/>
            <a:ext cx="7772400" cy="1143000"/>
          </a:xfrm>
        </p:spPr>
        <p:txBody>
          <a:bodyPr vert="horz" wrap="square" lIns="91440" tIns="45720" rIns="91440" bIns="45720" anchor="ctr" anchorCtr="0"/>
          <a:p>
            <a:pPr algn="l" eaLnBrk="1" hangingPunct="1"/>
            <a:r>
              <a:rPr lang="zh-CN" altLang="en-US" sz="3200" u="sng" dirty="0">
                <a:solidFill>
                  <a:srgbClr val="0000FF"/>
                </a:solidFill>
                <a:latin typeface="宋体" panose="02010600030101010101" pitchFamily="2" charset="-122"/>
                <a:ea typeface="楷体_GB2312" pitchFamily="49" charset="-122"/>
              </a:rPr>
              <a:t>奇偶校验位的形成及校验电路</a:t>
            </a:r>
            <a:endParaRPr lang="zh-CN" altLang="en-US" sz="3200" u="sng" dirty="0">
              <a:solidFill>
                <a:srgbClr val="0000FF"/>
              </a:solidFill>
              <a:latin typeface="宋体" panose="02010600030101010101" pitchFamily="2" charset="-122"/>
              <a:ea typeface="楷体_GB2312" pitchFamily="49" charset="-122"/>
            </a:endParaRPr>
          </a:p>
        </p:txBody>
      </p:sp>
      <p:graphicFrame>
        <p:nvGraphicFramePr>
          <p:cNvPr id="116739" name="Object 4"/>
          <p:cNvGraphicFramePr>
            <a:graphicFrameLocks noChangeAspect="1"/>
          </p:cNvGraphicFramePr>
          <p:nvPr/>
        </p:nvGraphicFramePr>
        <p:xfrm>
          <a:off x="2438400" y="914400"/>
          <a:ext cx="4097338" cy="5334000"/>
        </p:xfrm>
        <a:graphic>
          <a:graphicData uri="http://schemas.openxmlformats.org/presentationml/2006/ole">
            <mc:AlternateContent xmlns:mc="http://schemas.openxmlformats.org/markup-compatibility/2006">
              <mc:Choice xmlns:v="urn:schemas-microsoft-com:vml" Requires="v">
                <p:oleObj spid="_x0000_s3093" name="" r:id="rId1" imgW="2014855" imgH="2622550" progId="Visio.Drawing.6">
                  <p:embed/>
                </p:oleObj>
              </mc:Choice>
              <mc:Fallback>
                <p:oleObj name="" r:id="rId1" imgW="2014855" imgH="2622550" progId="Visio.Drawing.6">
                  <p:embed/>
                  <p:pic>
                    <p:nvPicPr>
                      <p:cNvPr id="0" name="图片 3092"/>
                      <p:cNvPicPr/>
                      <p:nvPr/>
                    </p:nvPicPr>
                    <p:blipFill>
                      <a:blip r:embed="rId2"/>
                      <a:stretch>
                        <a:fillRect/>
                      </a:stretch>
                    </p:blipFill>
                    <p:spPr>
                      <a:xfrm>
                        <a:off x="2438400" y="914400"/>
                        <a:ext cx="4097338" cy="5334000"/>
                      </a:xfrm>
                      <a:prstGeom prst="rect">
                        <a:avLst/>
                      </a:prstGeom>
                      <a:noFill/>
                      <a:ln w="38100">
                        <a:noFill/>
                        <a:miter/>
                      </a:ln>
                    </p:spPr>
                  </p:pic>
                </p:oleObj>
              </mc:Fallback>
            </mc:AlternateContent>
          </a:graphicData>
        </a:graphic>
      </p:graphicFrame>
      <p:sp>
        <p:nvSpPr>
          <p:cNvPr id="116740" name="Rectangle 5"/>
          <p:cNvSpPr>
            <a:spLocks noGrp="1"/>
          </p:cNvSpPr>
          <p:nvPr>
            <p:ph idx="1"/>
          </p:nvPr>
        </p:nvSpPr>
        <p:spPr>
          <a:xfrm>
            <a:off x="685800" y="6172200"/>
            <a:ext cx="7772400" cy="457200"/>
          </a:xfrm>
        </p:spPr>
        <p:txBody>
          <a:bodyPr vert="horz" wrap="square" lIns="91440" tIns="45720" rIns="91440" bIns="45720" anchor="t" anchorCtr="0"/>
          <a:p>
            <a:pPr algn="ctr" eaLnBrk="1" hangingPunct="1">
              <a:buNone/>
            </a:pPr>
            <a:r>
              <a:rPr lang="zh-CN" altLang="en-US" sz="2400" b="1" dirty="0"/>
              <a:t>图2-12 奇偶校验位的形成及校验电路</a:t>
            </a:r>
            <a:endParaRPr lang="zh-CN" altLang="en-US" sz="2400" b="1" dirty="0"/>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17762" name="Rectangle 2"/>
          <p:cNvSpPr>
            <a:spLocks noGrp="1"/>
          </p:cNvSpPr>
          <p:nvPr>
            <p:ph type="title"/>
          </p:nvPr>
        </p:nvSpPr>
        <p:spPr>
          <a:xfrm>
            <a:off x="685800" y="3810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2.简单奇偶校验（续）</a:t>
            </a:r>
            <a:endParaRPr lang="zh-CN" altLang="en-US" sz="3200" dirty="0">
              <a:solidFill>
                <a:schemeClr val="tx1"/>
              </a:solidFill>
              <a:ea typeface="楷体_GB2312" pitchFamily="49" charset="-122"/>
            </a:endParaRPr>
          </a:p>
        </p:txBody>
      </p:sp>
      <p:sp>
        <p:nvSpPr>
          <p:cNvPr id="117763" name="Rectangle 3"/>
          <p:cNvSpPr>
            <a:spLocks noGrp="1"/>
          </p:cNvSpPr>
          <p:nvPr>
            <p:ph idx="1"/>
          </p:nvPr>
        </p:nvSpPr>
        <p:spPr>
          <a:xfrm>
            <a:off x="609600" y="1371600"/>
            <a:ext cx="7889875" cy="5122863"/>
          </a:xfrm>
        </p:spPr>
        <p:txBody>
          <a:bodyPr vert="horz" wrap="square" lIns="91440" tIns="45720" rIns="91440" bIns="45720" anchor="t" anchorCtr="0"/>
          <a:p>
            <a:pPr eaLnBrk="1" hangingPunct="1">
              <a:buNone/>
            </a:pPr>
            <a:r>
              <a:rPr lang="zh-CN" altLang="en-US" b="1" dirty="0">
                <a:ea typeface="楷体_GB2312" pitchFamily="49" charset="-122"/>
              </a:rPr>
              <a:t> ⑵校验检测</a:t>
            </a:r>
            <a:endParaRPr lang="zh-CN" altLang="en-US" b="1" dirty="0">
              <a:ea typeface="楷体_GB2312" pitchFamily="49" charset="-122"/>
            </a:endParaRPr>
          </a:p>
          <a:p>
            <a:pPr eaLnBrk="1" hangingPunct="1">
              <a:buNone/>
            </a:pPr>
            <a:r>
              <a:rPr lang="zh-CN" altLang="en-US" b="1" dirty="0">
                <a:ea typeface="楷体_GB2312" pitchFamily="49" charset="-122"/>
              </a:rPr>
              <a:t>            读出时，将读出的9位代码（8位信息位和1位校验位）同时送入奇偶校验电路检测。若读出代码无错，则“奇校验出错”=0；若读出代码中的某一位上出现错误，则“奇校验出错”=1，从而指示这个9位代码中一定有某一位出现了错误，但具体的错误位置是不能确定的。</a:t>
            </a:r>
            <a:endParaRPr lang="zh-CN" altLang="en-US" b="1" dirty="0">
              <a:ea typeface="楷体_GB2312" pitchFamily="49" charset="-122"/>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18786" name="Rectangle 2"/>
          <p:cNvSpPr>
            <a:spLocks noGrp="1"/>
          </p:cNvSpPr>
          <p:nvPr>
            <p:ph type="title"/>
          </p:nvPr>
        </p:nvSpPr>
        <p:spPr>
          <a:xfrm>
            <a:off x="609600" y="4572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3.交叉奇偶校验</a:t>
            </a:r>
            <a:endParaRPr lang="zh-CN" altLang="en-US" sz="3200" dirty="0">
              <a:solidFill>
                <a:schemeClr val="accent2"/>
              </a:solidFill>
              <a:ea typeface="楷体_GB2312" pitchFamily="49" charset="-122"/>
            </a:endParaRPr>
          </a:p>
        </p:txBody>
      </p:sp>
      <p:sp>
        <p:nvSpPr>
          <p:cNvPr id="118787" name="Rectangle 3"/>
          <p:cNvSpPr>
            <a:spLocks noGrp="1"/>
          </p:cNvSpPr>
          <p:nvPr>
            <p:ph idx="1"/>
          </p:nvPr>
        </p:nvSpPr>
        <p:spPr>
          <a:xfrm>
            <a:off x="762000" y="1295400"/>
            <a:ext cx="7813675" cy="5562600"/>
          </a:xfrm>
        </p:spPr>
        <p:txBody>
          <a:bodyPr vert="horz" wrap="square" lIns="91440" tIns="45720" rIns="91440" bIns="45720" anchor="t" anchorCtr="0"/>
          <a:p>
            <a:pPr eaLnBrk="1" hangingPunct="1">
              <a:lnSpc>
                <a:spcPct val="90000"/>
              </a:lnSpc>
              <a:buNone/>
            </a:pPr>
            <a:r>
              <a:rPr lang="zh-CN" altLang="en-US" b="1" dirty="0">
                <a:ea typeface="楷体_GB2312" pitchFamily="49" charset="-122"/>
              </a:rPr>
              <a:t>            计算机在进行大量字节（数据块）传送时，不仅每一个字节有一个奇偶校验位做横向校验，而且全部字节的同一位也设置一个奇偶校验位做纵向校验，这种横向、纵向同时校验的方法称为交叉校验。</a:t>
            </a:r>
            <a:endParaRPr lang="zh-CN" altLang="en-US" b="1" dirty="0">
              <a:ea typeface="楷体_GB2312" pitchFamily="49" charset="-122"/>
            </a:endParaRPr>
          </a:p>
          <a:p>
            <a:pPr eaLnBrk="1" hangingPunct="1">
              <a:lnSpc>
                <a:spcPct val="90000"/>
              </a:lnSpc>
              <a:buNone/>
            </a:pPr>
            <a:r>
              <a:rPr lang="zh-CN" altLang="en-US" b="1" dirty="0">
                <a:ea typeface="楷体_GB2312" pitchFamily="49" charset="-122"/>
              </a:rPr>
              <a:t>    第1字节      1   1   0   0   1   0   1   1  →   1</a:t>
            </a:r>
            <a:endParaRPr lang="zh-CN" altLang="en-US" b="1" dirty="0">
              <a:ea typeface="楷体_GB2312" pitchFamily="49" charset="-122"/>
            </a:endParaRPr>
          </a:p>
          <a:p>
            <a:pPr eaLnBrk="1" hangingPunct="1">
              <a:lnSpc>
                <a:spcPct val="70000"/>
              </a:lnSpc>
              <a:buNone/>
            </a:pPr>
            <a:r>
              <a:rPr lang="zh-CN" altLang="en-US" b="1" dirty="0">
                <a:ea typeface="楷体_GB2312" pitchFamily="49" charset="-122"/>
              </a:rPr>
              <a:t>    第2字节      0   1   0   1   1   1   0   0  →   0</a:t>
            </a:r>
            <a:endParaRPr lang="zh-CN" altLang="en-US" b="1" dirty="0">
              <a:ea typeface="楷体_GB2312" pitchFamily="49" charset="-122"/>
            </a:endParaRPr>
          </a:p>
          <a:p>
            <a:pPr eaLnBrk="1" hangingPunct="1">
              <a:lnSpc>
                <a:spcPct val="70000"/>
              </a:lnSpc>
              <a:buNone/>
            </a:pPr>
            <a:r>
              <a:rPr lang="zh-CN" altLang="en-US" b="1" dirty="0">
                <a:ea typeface="楷体_GB2312" pitchFamily="49" charset="-122"/>
              </a:rPr>
              <a:t>    第3字节      1   0   0   1   1   0   1   0  →   0</a:t>
            </a:r>
            <a:endParaRPr lang="zh-CN" altLang="en-US" b="1" dirty="0">
              <a:ea typeface="楷体_GB2312" pitchFamily="49" charset="-122"/>
            </a:endParaRPr>
          </a:p>
          <a:p>
            <a:pPr eaLnBrk="1" hangingPunct="1">
              <a:lnSpc>
                <a:spcPct val="70000"/>
              </a:lnSpc>
              <a:buNone/>
            </a:pPr>
            <a:r>
              <a:rPr lang="zh-CN" altLang="en-US" b="1" dirty="0">
                <a:ea typeface="楷体_GB2312" pitchFamily="49" charset="-122"/>
              </a:rPr>
              <a:t>    第4字节      1   0   0   1   0   1   0   1  →   0</a:t>
            </a:r>
            <a:endParaRPr lang="zh-CN" altLang="en-US" b="1" dirty="0">
              <a:ea typeface="楷体_GB2312" pitchFamily="49" charset="-122"/>
            </a:endParaRPr>
          </a:p>
          <a:p>
            <a:pPr eaLnBrk="1" hangingPunct="1">
              <a:lnSpc>
                <a:spcPct val="70000"/>
              </a:lnSpc>
              <a:buNone/>
            </a:pPr>
            <a:r>
              <a:rPr lang="zh-CN" altLang="en-US" b="1" dirty="0">
                <a:ea typeface="楷体_GB2312" pitchFamily="49" charset="-122"/>
              </a:rPr>
              <a:t>                        ↓   ↓   ↓   ↓   ↓   ↓   ↓   ↓</a:t>
            </a:r>
            <a:endParaRPr lang="zh-CN" altLang="en-US" b="1" dirty="0">
              <a:ea typeface="楷体_GB2312" pitchFamily="49" charset="-122"/>
            </a:endParaRPr>
          </a:p>
          <a:p>
            <a:pPr eaLnBrk="1" hangingPunct="1">
              <a:lnSpc>
                <a:spcPct val="60000"/>
              </a:lnSpc>
              <a:buNone/>
            </a:pPr>
            <a:r>
              <a:rPr lang="zh-CN" altLang="en-US" b="1" dirty="0">
                <a:ea typeface="楷体_GB2312" pitchFamily="49" charset="-122"/>
              </a:rPr>
              <a:t>                        1   0   0   1   1   0   0   0</a:t>
            </a:r>
            <a:endParaRPr lang="zh-CN" altLang="en-US" b="1" dirty="0">
              <a:ea typeface="楷体_GB2312" pitchFamily="49" charset="-122"/>
            </a:endParaRP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19810" name="Rectangle 2"/>
          <p:cNvSpPr>
            <a:spLocks noGrp="1"/>
          </p:cNvSpPr>
          <p:nvPr>
            <p:ph type="title"/>
          </p:nvPr>
        </p:nvSpPr>
        <p:spPr>
          <a:xfrm>
            <a:off x="685800" y="457200"/>
            <a:ext cx="77724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3.交叉奇偶校验（续）</a:t>
            </a:r>
            <a:endParaRPr lang="zh-CN" altLang="en-US" sz="3200" dirty="0">
              <a:solidFill>
                <a:schemeClr val="accent2"/>
              </a:solidFill>
              <a:ea typeface="楷体_GB2312" pitchFamily="49" charset="-122"/>
            </a:endParaRPr>
          </a:p>
        </p:txBody>
      </p:sp>
      <p:sp>
        <p:nvSpPr>
          <p:cNvPr id="119811" name="Rectangle 3"/>
          <p:cNvSpPr>
            <a:spLocks noGrp="1"/>
          </p:cNvSpPr>
          <p:nvPr>
            <p:ph idx="1"/>
          </p:nvPr>
        </p:nvSpPr>
        <p:spPr>
          <a:xfrm>
            <a:off x="609600" y="1295400"/>
            <a:ext cx="7924800" cy="5199063"/>
          </a:xfrm>
        </p:spPr>
        <p:txBody>
          <a:bodyPr vert="horz" wrap="square" lIns="91440" tIns="45720" rIns="91440" bIns="45720" anchor="t" anchorCtr="0"/>
          <a:p>
            <a:pPr eaLnBrk="1" hangingPunct="1">
              <a:lnSpc>
                <a:spcPct val="110000"/>
              </a:lnSpc>
              <a:buNone/>
            </a:pPr>
            <a:r>
              <a:rPr lang="zh-CN" altLang="en-US" b="1" dirty="0">
                <a:ea typeface="楷体_GB2312" pitchFamily="49" charset="-122"/>
              </a:rPr>
              <a:t>            交叉校验可以发现两位同时出错的情况，假设第2字节的</a:t>
            </a:r>
            <a:r>
              <a:rPr lang="en-US" altLang="zh-CN" b="1" dirty="0">
                <a:ea typeface="楷体_GB2312" pitchFamily="49" charset="-122"/>
              </a:rPr>
              <a:t>A</a:t>
            </a:r>
            <a:r>
              <a:rPr lang="en-US" altLang="zh-CN" b="1" baseline="-30000" dirty="0">
                <a:ea typeface="楷体_GB2312" pitchFamily="49" charset="-122"/>
              </a:rPr>
              <a:t>6</a:t>
            </a:r>
            <a:r>
              <a:rPr lang="en-US" altLang="zh-CN" b="1" dirty="0">
                <a:ea typeface="楷体_GB2312" pitchFamily="49" charset="-122"/>
              </a:rPr>
              <a:t>、A</a:t>
            </a:r>
            <a:r>
              <a:rPr lang="en-US" altLang="zh-CN" b="1" baseline="-30000" dirty="0">
                <a:ea typeface="楷体_GB2312" pitchFamily="49" charset="-122"/>
              </a:rPr>
              <a:t>4</a:t>
            </a:r>
            <a:r>
              <a:rPr lang="zh-CN" altLang="en-US" b="1" dirty="0">
                <a:ea typeface="楷体_GB2312" pitchFamily="49" charset="-122"/>
              </a:rPr>
              <a:t>两位均出错，横向校验位无法检出错误，但是第</a:t>
            </a:r>
            <a:r>
              <a:rPr lang="en-US" altLang="zh-CN" b="1" dirty="0">
                <a:ea typeface="楷体_GB2312" pitchFamily="49" charset="-122"/>
              </a:rPr>
              <a:t>A</a:t>
            </a:r>
            <a:r>
              <a:rPr lang="en-US" altLang="zh-CN" b="1" baseline="-30000" dirty="0">
                <a:ea typeface="楷体_GB2312" pitchFamily="49" charset="-122"/>
              </a:rPr>
              <a:t>6</a:t>
            </a:r>
            <a:r>
              <a:rPr lang="en-US" altLang="zh-CN" b="1" dirty="0">
                <a:ea typeface="楷体_GB2312" pitchFamily="49" charset="-122"/>
              </a:rPr>
              <a:t>、A</a:t>
            </a:r>
            <a:r>
              <a:rPr lang="en-US" altLang="zh-CN" b="1" baseline="-30000" dirty="0">
                <a:ea typeface="楷体_GB2312" pitchFamily="49" charset="-122"/>
              </a:rPr>
              <a:t>4</a:t>
            </a:r>
            <a:r>
              <a:rPr lang="zh-CN" altLang="en-US" b="1" dirty="0">
                <a:ea typeface="楷体_GB2312" pitchFamily="49" charset="-122"/>
              </a:rPr>
              <a:t>位所在列的纵向校验位会显示出错，这与前述的简单奇偶校验相比要保险多了。 </a:t>
            </a:r>
            <a:endParaRPr lang="zh-CN" altLang="en-US" b="1" dirty="0">
              <a:ea typeface="楷体_GB2312" pitchFamily="49" charset="-122"/>
            </a:endParaRP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20834" name="Rectangle 2"/>
          <p:cNvSpPr>
            <a:spLocks noGrp="1"/>
          </p:cNvSpPr>
          <p:nvPr>
            <p:ph type="title"/>
          </p:nvPr>
        </p:nvSpPr>
        <p:spPr>
          <a:xfrm>
            <a:off x="457200" y="228600"/>
            <a:ext cx="8001000" cy="1143000"/>
          </a:xfrm>
        </p:spPr>
        <p:txBody>
          <a:bodyPr vert="horz" wrap="square" lIns="91440" tIns="45720" rIns="91440" bIns="45720" anchor="ctr" anchorCtr="0"/>
          <a:p>
            <a:pPr algn="l" eaLnBrk="1" hangingPunct="1"/>
            <a:r>
              <a:rPr lang="en-US" altLang="zh-CN" sz="3600" dirty="0">
                <a:solidFill>
                  <a:srgbClr val="0000FF"/>
                </a:solidFill>
                <a:latin typeface="华文新魏" panose="02010800040101010101" pitchFamily="2" charset="-122"/>
                <a:ea typeface="华文新魏" panose="02010800040101010101" pitchFamily="2" charset="-122"/>
              </a:rPr>
              <a:t>2.6.2 </a:t>
            </a:r>
            <a:r>
              <a:rPr lang="zh-CN" altLang="en-US" sz="3600" dirty="0">
                <a:solidFill>
                  <a:srgbClr val="0000FF"/>
                </a:solidFill>
                <a:latin typeface="华文新魏" panose="02010800040101010101" pitchFamily="2" charset="-122"/>
                <a:ea typeface="华文新魏" panose="02010800040101010101" pitchFamily="2" charset="-122"/>
              </a:rPr>
              <a:t>汉明校验码 </a:t>
            </a:r>
            <a:endParaRPr lang="en-US" altLang="zh-CN" sz="3600" dirty="0">
              <a:solidFill>
                <a:srgbClr val="0000FF"/>
              </a:solidFill>
              <a:latin typeface="华文新魏" panose="02010800040101010101" pitchFamily="2" charset="-122"/>
              <a:ea typeface="华文新魏" panose="02010800040101010101" pitchFamily="2" charset="-122"/>
            </a:endParaRPr>
          </a:p>
        </p:txBody>
      </p:sp>
      <p:sp>
        <p:nvSpPr>
          <p:cNvPr id="120835" name="Rectangle 3"/>
          <p:cNvSpPr>
            <a:spLocks noGrp="1"/>
          </p:cNvSpPr>
          <p:nvPr>
            <p:ph idx="1"/>
          </p:nvPr>
        </p:nvSpPr>
        <p:spPr>
          <a:xfrm>
            <a:off x="533400" y="1143000"/>
            <a:ext cx="8001000" cy="5181600"/>
          </a:xfrm>
        </p:spPr>
        <p:txBody>
          <a:bodyPr vert="horz" wrap="square" lIns="91440" tIns="45720" rIns="91440" bIns="45720" anchor="t" anchorCtr="0"/>
          <a:p>
            <a:pPr eaLnBrk="1" hangingPunct="1">
              <a:buNone/>
            </a:pPr>
            <a:r>
              <a:rPr lang="zh-CN" altLang="en-US" b="1" dirty="0">
                <a:ea typeface="楷体_GB2312" pitchFamily="49" charset="-122"/>
              </a:rPr>
              <a:t>            汉明码实际上是一种多重奇偶校验，其实现原理是：在有效信息位中加入几个校验位形成汉明码，使码距比较均匀地拉大，并把汉明码的每一个二进制位分配到几个奇偶校验组中。当某一位出错后，就会引起有关的几个校验位的值发生变化，这不但可以发现错误，还能指出错误的位置，为自动纠错提供了依据。 </a:t>
            </a:r>
            <a:endParaRPr lang="en-US" altLang="zh-CN" b="1" dirty="0">
              <a:ea typeface="楷体_GB2312" pitchFamily="49" charset="-122"/>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21858" name="Rectangle 2"/>
          <p:cNvSpPr>
            <a:spLocks noGrp="1"/>
          </p:cNvSpPr>
          <p:nvPr>
            <p:ph type="title"/>
          </p:nvPr>
        </p:nvSpPr>
        <p:spPr>
          <a:xfrm>
            <a:off x="457200" y="228600"/>
            <a:ext cx="8001000" cy="1143000"/>
          </a:xfrm>
        </p:spPr>
        <p:txBody>
          <a:bodyPr vert="horz" wrap="square" lIns="91440" tIns="45720" rIns="91440" bIns="45720" anchor="ctr" anchorCtr="0"/>
          <a:p>
            <a:pPr algn="l" eaLnBrk="1" hangingPunct="1"/>
            <a:r>
              <a:rPr lang="en-US" altLang="zh-CN" sz="3600" dirty="0">
                <a:solidFill>
                  <a:srgbClr val="0000FF"/>
                </a:solidFill>
                <a:latin typeface="华文新魏" panose="02010800040101010101" pitchFamily="2" charset="-122"/>
                <a:ea typeface="华文新魏" panose="02010800040101010101" pitchFamily="2" charset="-122"/>
              </a:rPr>
              <a:t>2.6.2 </a:t>
            </a:r>
            <a:r>
              <a:rPr lang="zh-CN" altLang="en-US" sz="3600" dirty="0">
                <a:solidFill>
                  <a:srgbClr val="0000FF"/>
                </a:solidFill>
                <a:latin typeface="华文新魏" panose="02010800040101010101" pitchFamily="2" charset="-122"/>
                <a:ea typeface="华文新魏" panose="02010800040101010101" pitchFamily="2" charset="-122"/>
              </a:rPr>
              <a:t>汉明校验码（续） </a:t>
            </a:r>
            <a:endParaRPr lang="en-US" altLang="zh-CN" sz="3600" dirty="0">
              <a:solidFill>
                <a:srgbClr val="0000FF"/>
              </a:solidFill>
              <a:latin typeface="华文新魏" panose="02010800040101010101" pitchFamily="2" charset="-122"/>
              <a:ea typeface="华文新魏" panose="02010800040101010101" pitchFamily="2" charset="-122"/>
            </a:endParaRPr>
          </a:p>
        </p:txBody>
      </p:sp>
      <p:sp>
        <p:nvSpPr>
          <p:cNvPr id="121859" name="Rectangle 3"/>
          <p:cNvSpPr>
            <a:spLocks noGrp="1"/>
          </p:cNvSpPr>
          <p:nvPr>
            <p:ph idx="1"/>
          </p:nvPr>
        </p:nvSpPr>
        <p:spPr>
          <a:xfrm>
            <a:off x="533400" y="1143000"/>
            <a:ext cx="8001000" cy="5181600"/>
          </a:xfrm>
        </p:spPr>
        <p:txBody>
          <a:bodyPr vert="horz" wrap="square" lIns="91440" tIns="45720" rIns="91440" bIns="45720" anchor="t" anchorCtr="0"/>
          <a:p>
            <a:pPr eaLnBrk="1" hangingPunct="1">
              <a:lnSpc>
                <a:spcPct val="90000"/>
              </a:lnSpc>
              <a:buNone/>
            </a:pPr>
            <a:r>
              <a:rPr lang="en-US" altLang="zh-CN" b="1" dirty="0">
                <a:ea typeface="楷体_GB2312" pitchFamily="49" charset="-122"/>
              </a:rPr>
              <a:t>⑴</a:t>
            </a:r>
            <a:r>
              <a:rPr lang="zh-CN" altLang="en-US" b="1" dirty="0">
                <a:ea typeface="楷体_GB2312" pitchFamily="49" charset="-122"/>
              </a:rPr>
              <a:t>编码</a:t>
            </a:r>
            <a:endParaRPr lang="zh-CN" altLang="en-US" b="1" dirty="0"/>
          </a:p>
          <a:p>
            <a:pPr eaLnBrk="1" hangingPunct="1">
              <a:lnSpc>
                <a:spcPct val="90000"/>
              </a:lnSpc>
              <a:buNone/>
            </a:pPr>
            <a:r>
              <a:rPr lang="zh-CN" altLang="en-US" b="1" dirty="0">
                <a:ea typeface="楷体_GB2312" pitchFamily="49" charset="-122"/>
              </a:rPr>
              <a:t>            一个字节由8位二进制位组成，故汉明码的总位数为13位，可表示为：</a:t>
            </a:r>
            <a:endParaRPr lang="zh-CN" altLang="en-US" b="1" dirty="0"/>
          </a:p>
          <a:p>
            <a:pPr eaLnBrk="1" hangingPunct="1">
              <a:lnSpc>
                <a:spcPct val="90000"/>
              </a:lnSpc>
              <a:buNone/>
            </a:pPr>
            <a:r>
              <a:rPr lang="zh-CN" altLang="en-US" b="1" dirty="0">
                <a:ea typeface="楷体_GB2312" pitchFamily="49" charset="-122"/>
              </a:rPr>
              <a:t>            </a:t>
            </a:r>
            <a:r>
              <a:rPr lang="en-US" altLang="zh-CN" b="1" dirty="0">
                <a:ea typeface="楷体_GB2312" pitchFamily="49" charset="-122"/>
              </a:rPr>
              <a:t>H</a:t>
            </a:r>
            <a:r>
              <a:rPr lang="en-US" altLang="zh-CN" b="1" baseline="-30000" dirty="0">
                <a:ea typeface="楷体_GB2312" pitchFamily="49" charset="-122"/>
              </a:rPr>
              <a:t>13</a:t>
            </a:r>
            <a:r>
              <a:rPr lang="en-US" altLang="zh-CN" b="1" dirty="0">
                <a:ea typeface="楷体_GB2312" pitchFamily="49" charset="-122"/>
              </a:rPr>
              <a:t> H</a:t>
            </a:r>
            <a:r>
              <a:rPr lang="en-US" altLang="zh-CN" b="1" baseline="-30000" dirty="0">
                <a:ea typeface="楷体_GB2312" pitchFamily="49" charset="-122"/>
              </a:rPr>
              <a:t>12</a:t>
            </a:r>
            <a:r>
              <a:rPr lang="en-US" altLang="zh-CN" b="1" dirty="0">
                <a:ea typeface="楷体_GB2312" pitchFamily="49" charset="-122"/>
              </a:rPr>
              <a:t>…H</a:t>
            </a:r>
            <a:r>
              <a:rPr lang="en-US" altLang="zh-CN" b="1" baseline="-30000" dirty="0">
                <a:ea typeface="楷体_GB2312" pitchFamily="49" charset="-122"/>
              </a:rPr>
              <a:t>2</a:t>
            </a:r>
            <a:r>
              <a:rPr lang="en-US" altLang="zh-CN" b="1" dirty="0">
                <a:ea typeface="楷体_GB2312" pitchFamily="49" charset="-122"/>
              </a:rPr>
              <a:t> H</a:t>
            </a:r>
            <a:r>
              <a:rPr lang="en-US" altLang="zh-CN" b="1" baseline="-30000" dirty="0">
                <a:ea typeface="楷体_GB2312" pitchFamily="49" charset="-122"/>
              </a:rPr>
              <a:t>1</a:t>
            </a:r>
            <a:r>
              <a:rPr lang="en-US" altLang="zh-CN" b="1" dirty="0">
                <a:ea typeface="楷体_GB2312" pitchFamily="49" charset="-122"/>
              </a:rPr>
              <a:t> </a:t>
            </a:r>
            <a:endParaRPr lang="en-US" altLang="zh-CN" b="1" dirty="0"/>
          </a:p>
          <a:p>
            <a:pPr eaLnBrk="1" hangingPunct="1">
              <a:lnSpc>
                <a:spcPct val="90000"/>
              </a:lnSpc>
              <a:buNone/>
            </a:pPr>
            <a:r>
              <a:rPr lang="en-US" altLang="zh-CN" b="1" dirty="0">
                <a:ea typeface="楷体_GB2312" pitchFamily="49" charset="-122"/>
              </a:rPr>
              <a:t>            </a:t>
            </a:r>
            <a:r>
              <a:rPr lang="zh-CN" altLang="en-US" b="1" dirty="0">
                <a:ea typeface="楷体_GB2312" pitchFamily="49" charset="-122"/>
              </a:rPr>
              <a:t>五个校验位</a:t>
            </a:r>
            <a:r>
              <a:rPr lang="en-US" altLang="zh-CN" b="1" dirty="0">
                <a:ea typeface="楷体_GB2312" pitchFamily="49" charset="-122"/>
              </a:rPr>
              <a:t>P</a:t>
            </a:r>
            <a:r>
              <a:rPr lang="en-US" altLang="zh-CN" b="1" baseline="-30000" dirty="0">
                <a:ea typeface="楷体_GB2312" pitchFamily="49" charset="-122"/>
              </a:rPr>
              <a:t>5</a:t>
            </a:r>
            <a:r>
              <a:rPr lang="en-US" altLang="zh-CN" b="1" dirty="0">
                <a:ea typeface="楷体_GB2312" pitchFamily="49" charset="-122"/>
              </a:rPr>
              <a:t>～P</a:t>
            </a:r>
            <a:r>
              <a:rPr lang="en-US" altLang="zh-CN" b="1" baseline="-30000" dirty="0">
                <a:ea typeface="楷体_GB2312" pitchFamily="49" charset="-122"/>
              </a:rPr>
              <a:t>1</a:t>
            </a:r>
            <a:r>
              <a:rPr lang="zh-CN" altLang="en-US" b="1" dirty="0">
                <a:ea typeface="楷体_GB2312" pitchFamily="49" charset="-122"/>
              </a:rPr>
              <a:t>对应的汉明码位号应分别为：</a:t>
            </a:r>
            <a:r>
              <a:rPr lang="en-US" altLang="zh-CN" b="1" dirty="0">
                <a:ea typeface="楷体_GB2312" pitchFamily="49" charset="-122"/>
              </a:rPr>
              <a:t>H</a:t>
            </a:r>
            <a:r>
              <a:rPr lang="en-US" altLang="zh-CN" b="1" baseline="-30000" dirty="0">
                <a:ea typeface="楷体_GB2312" pitchFamily="49" charset="-122"/>
              </a:rPr>
              <a:t>13</a:t>
            </a:r>
            <a:r>
              <a:rPr lang="en-US" altLang="zh-CN" b="1" dirty="0">
                <a:ea typeface="楷体_GB2312" pitchFamily="49" charset="-122"/>
              </a:rPr>
              <a:t>、H</a:t>
            </a:r>
            <a:r>
              <a:rPr lang="en-US" altLang="zh-CN" b="1" baseline="-30000" dirty="0">
                <a:ea typeface="楷体_GB2312" pitchFamily="49" charset="-122"/>
              </a:rPr>
              <a:t>8</a:t>
            </a:r>
            <a:r>
              <a:rPr lang="en-US" altLang="zh-CN" b="1" dirty="0">
                <a:ea typeface="楷体_GB2312" pitchFamily="49" charset="-122"/>
              </a:rPr>
              <a:t>、H</a:t>
            </a:r>
            <a:r>
              <a:rPr lang="en-US" altLang="zh-CN" b="1" baseline="-30000" dirty="0">
                <a:ea typeface="楷体_GB2312" pitchFamily="49" charset="-122"/>
              </a:rPr>
              <a:t>4</a:t>
            </a:r>
            <a:r>
              <a:rPr lang="en-US" altLang="zh-CN" b="1" dirty="0">
                <a:ea typeface="楷体_GB2312" pitchFamily="49" charset="-122"/>
              </a:rPr>
              <a:t>、H</a:t>
            </a:r>
            <a:r>
              <a:rPr lang="en-US" altLang="zh-CN" b="1" baseline="-30000" dirty="0">
                <a:ea typeface="楷体_GB2312" pitchFamily="49" charset="-122"/>
              </a:rPr>
              <a:t>2</a:t>
            </a:r>
            <a:r>
              <a:rPr lang="en-US" altLang="zh-CN" b="1" dirty="0">
                <a:ea typeface="楷体_GB2312" pitchFamily="49" charset="-122"/>
              </a:rPr>
              <a:t>、H</a:t>
            </a:r>
            <a:r>
              <a:rPr lang="en-US" altLang="zh-CN" b="1" baseline="-30000" dirty="0">
                <a:ea typeface="楷体_GB2312" pitchFamily="49" charset="-122"/>
              </a:rPr>
              <a:t>1</a:t>
            </a:r>
            <a:r>
              <a:rPr lang="en-US" altLang="zh-CN" b="1" dirty="0">
                <a:ea typeface="楷体_GB2312" pitchFamily="49" charset="-122"/>
              </a:rPr>
              <a:t>，</a:t>
            </a:r>
            <a:r>
              <a:rPr lang="zh-CN" altLang="en-US" b="1" dirty="0">
                <a:ea typeface="楷体_GB2312" pitchFamily="49" charset="-122"/>
              </a:rPr>
              <a:t>除</a:t>
            </a:r>
            <a:r>
              <a:rPr lang="en-US" altLang="zh-CN" b="1" dirty="0">
                <a:ea typeface="楷体_GB2312" pitchFamily="49" charset="-122"/>
              </a:rPr>
              <a:t>P</a:t>
            </a:r>
            <a:r>
              <a:rPr lang="en-US" altLang="zh-CN" b="1" baseline="-30000" dirty="0">
                <a:ea typeface="楷体_GB2312" pitchFamily="49" charset="-122"/>
              </a:rPr>
              <a:t>5</a:t>
            </a:r>
            <a:r>
              <a:rPr lang="zh-CN" altLang="en-US" b="1" dirty="0">
                <a:ea typeface="楷体_GB2312" pitchFamily="49" charset="-122"/>
              </a:rPr>
              <a:t>外，其余四位都满足</a:t>
            </a:r>
            <a:r>
              <a:rPr lang="en-US" altLang="zh-CN" b="1" dirty="0">
                <a:ea typeface="楷体_GB2312" pitchFamily="49" charset="-122"/>
              </a:rPr>
              <a:t>P</a:t>
            </a:r>
            <a:r>
              <a:rPr lang="en-US" altLang="zh-CN" b="1" baseline="-30000" dirty="0">
                <a:ea typeface="楷体_GB2312" pitchFamily="49" charset="-122"/>
              </a:rPr>
              <a:t>i</a:t>
            </a:r>
            <a:r>
              <a:rPr lang="zh-CN" altLang="en-US" b="1" dirty="0">
                <a:ea typeface="楷体_GB2312" pitchFamily="49" charset="-122"/>
              </a:rPr>
              <a:t>的位号等于2</a:t>
            </a:r>
            <a:r>
              <a:rPr lang="en-US" altLang="zh-CN" b="1" baseline="30000" dirty="0">
                <a:ea typeface="楷体_GB2312" pitchFamily="49" charset="-122"/>
              </a:rPr>
              <a:t>i-1</a:t>
            </a:r>
            <a:r>
              <a:rPr lang="zh-CN" altLang="en-US" b="1" dirty="0">
                <a:ea typeface="楷体_GB2312" pitchFamily="49" charset="-122"/>
              </a:rPr>
              <a:t>的关系，而</a:t>
            </a:r>
            <a:r>
              <a:rPr lang="en-US" altLang="zh-CN" b="1" dirty="0">
                <a:ea typeface="楷体_GB2312" pitchFamily="49" charset="-122"/>
              </a:rPr>
              <a:t>P</a:t>
            </a:r>
            <a:r>
              <a:rPr lang="en-US" altLang="zh-CN" b="1" baseline="-30000" dirty="0">
                <a:ea typeface="楷体_GB2312" pitchFamily="49" charset="-122"/>
              </a:rPr>
              <a:t>5</a:t>
            </a:r>
            <a:r>
              <a:rPr lang="zh-CN" altLang="en-US" b="1" dirty="0">
                <a:ea typeface="楷体_GB2312" pitchFamily="49" charset="-122"/>
              </a:rPr>
              <a:t>只能放在</a:t>
            </a:r>
            <a:r>
              <a:rPr lang="en-US" altLang="zh-CN" b="1" dirty="0">
                <a:ea typeface="楷体_GB2312" pitchFamily="49" charset="-122"/>
              </a:rPr>
              <a:t>H</a:t>
            </a:r>
            <a:r>
              <a:rPr lang="en-US" altLang="zh-CN" b="1" baseline="-30000" dirty="0">
                <a:ea typeface="楷体_GB2312" pitchFamily="49" charset="-122"/>
              </a:rPr>
              <a:t>13</a:t>
            </a:r>
            <a:r>
              <a:rPr lang="zh-CN" altLang="en-US" b="1" dirty="0">
                <a:ea typeface="楷体_GB2312" pitchFamily="49" charset="-122"/>
              </a:rPr>
              <a:t>上，因为它已经是汉明码的最高位了。</a:t>
            </a:r>
            <a:endParaRPr lang="zh-CN" altLang="en-US" b="1" dirty="0">
              <a:ea typeface="楷体_GB2312" pitchFamily="49" charset="-122"/>
            </a:endParaRPr>
          </a:p>
          <a:p>
            <a:pPr eaLnBrk="1" hangingPunct="1">
              <a:lnSpc>
                <a:spcPct val="90000"/>
              </a:lnSpc>
              <a:buNone/>
            </a:pPr>
            <a:r>
              <a:rPr lang="zh-CN" altLang="en-US" sz="2800" b="1" dirty="0"/>
              <a:t>       </a:t>
            </a:r>
            <a:r>
              <a:rPr lang="en-US" altLang="zh-CN" sz="2800" b="1" dirty="0"/>
              <a:t>P</a:t>
            </a:r>
            <a:r>
              <a:rPr lang="en-US" altLang="zh-CN" sz="2800" b="1" baseline="-30000" dirty="0"/>
              <a:t>5</a:t>
            </a:r>
            <a:r>
              <a:rPr lang="en-US" altLang="zh-CN" sz="2800" b="1" dirty="0"/>
              <a:t>  D</a:t>
            </a:r>
            <a:r>
              <a:rPr lang="en-US" altLang="zh-CN" sz="2800" b="1" baseline="-30000" dirty="0"/>
              <a:t>8</a:t>
            </a:r>
            <a:r>
              <a:rPr lang="en-US" altLang="zh-CN" sz="2800" b="1" dirty="0"/>
              <a:t>  D</a:t>
            </a:r>
            <a:r>
              <a:rPr lang="en-US" altLang="zh-CN" sz="2800" b="1" baseline="-30000" dirty="0"/>
              <a:t>7</a:t>
            </a:r>
            <a:r>
              <a:rPr lang="en-US" altLang="zh-CN" sz="2800" b="1" dirty="0"/>
              <a:t>  D</a:t>
            </a:r>
            <a:r>
              <a:rPr lang="en-US" altLang="zh-CN" sz="2800" b="1" baseline="-30000" dirty="0"/>
              <a:t>6</a:t>
            </a:r>
            <a:r>
              <a:rPr lang="en-US" altLang="zh-CN" sz="2800" b="1" dirty="0"/>
              <a:t>  D</a:t>
            </a:r>
            <a:r>
              <a:rPr lang="en-US" altLang="zh-CN" sz="2800" b="1" baseline="-30000" dirty="0"/>
              <a:t>5</a:t>
            </a:r>
            <a:r>
              <a:rPr lang="en-US" altLang="zh-CN" sz="2800" b="1" dirty="0"/>
              <a:t>  P</a:t>
            </a:r>
            <a:r>
              <a:rPr lang="en-US" altLang="zh-CN" sz="2800" b="1" baseline="-30000" dirty="0"/>
              <a:t>4</a:t>
            </a:r>
            <a:r>
              <a:rPr lang="en-US" altLang="zh-CN" sz="2800" b="1" dirty="0"/>
              <a:t>  D</a:t>
            </a:r>
            <a:r>
              <a:rPr lang="en-US" altLang="zh-CN" sz="2800" b="1" baseline="-30000" dirty="0"/>
              <a:t>4</a:t>
            </a:r>
            <a:r>
              <a:rPr lang="en-US" altLang="zh-CN" sz="2800" b="1" dirty="0"/>
              <a:t>  D</a:t>
            </a:r>
            <a:r>
              <a:rPr lang="en-US" altLang="zh-CN" sz="2800" b="1" baseline="-30000" dirty="0"/>
              <a:t>3</a:t>
            </a:r>
            <a:r>
              <a:rPr lang="en-US" altLang="zh-CN" sz="2800" b="1" dirty="0"/>
              <a:t>  D</a:t>
            </a:r>
            <a:r>
              <a:rPr lang="en-US" altLang="zh-CN" sz="2800" b="1" baseline="-30000" dirty="0"/>
              <a:t>2</a:t>
            </a:r>
            <a:r>
              <a:rPr lang="en-US" altLang="zh-CN" sz="2800" b="1" dirty="0"/>
              <a:t>  P</a:t>
            </a:r>
            <a:r>
              <a:rPr lang="en-US" altLang="zh-CN" sz="2800" b="1" baseline="-30000" dirty="0"/>
              <a:t>3</a:t>
            </a:r>
            <a:r>
              <a:rPr lang="en-US" altLang="zh-CN" sz="2800" b="1" dirty="0"/>
              <a:t>  D</a:t>
            </a:r>
            <a:r>
              <a:rPr lang="en-US" altLang="zh-CN" sz="2800" b="1" baseline="-30000" dirty="0"/>
              <a:t>1</a:t>
            </a:r>
            <a:r>
              <a:rPr lang="en-US" altLang="zh-CN" sz="2800" b="1" dirty="0"/>
              <a:t>  P</a:t>
            </a:r>
            <a:r>
              <a:rPr lang="en-US" altLang="zh-CN" sz="2800" b="1" baseline="-30000" dirty="0"/>
              <a:t>2</a:t>
            </a:r>
            <a:r>
              <a:rPr lang="en-US" altLang="zh-CN" sz="2800" b="1" dirty="0"/>
              <a:t>  P</a:t>
            </a:r>
            <a:r>
              <a:rPr lang="en-US" altLang="zh-CN" sz="2800" b="1" baseline="-30000" dirty="0"/>
              <a:t>1</a:t>
            </a:r>
            <a:r>
              <a:rPr lang="en-US" altLang="zh-CN" sz="2800" b="1" dirty="0"/>
              <a:t> </a:t>
            </a:r>
            <a:endParaRPr lang="zh-CN" altLang="en-US" sz="2800" b="1"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检验</a:t>
            </a:r>
            <a:endParaRPr lang="zh-CN" altLang="en-US"/>
          </a:p>
        </p:txBody>
      </p:sp>
      <p:pic>
        <p:nvPicPr>
          <p:cNvPr id="122884" name="图片 5"/>
          <p:cNvPicPr>
            <a:picLocks noChangeAspect="1"/>
          </p:cNvPicPr>
          <p:nvPr>
            <p:ph idx="1"/>
            <p:custDataLst>
              <p:tags r:id="rId1"/>
            </p:custDataLst>
          </p:nvPr>
        </p:nvPicPr>
        <p:blipFill>
          <a:blip r:embed="rId2"/>
          <a:srcRect l="20003" t="45074" r="44017" b="32828"/>
          <a:stretch>
            <a:fillRect/>
          </a:stretch>
        </p:blipFill>
        <p:spPr>
          <a:xfrm>
            <a:off x="914400" y="1981200"/>
            <a:ext cx="7314565" cy="4114800"/>
          </a:xfrm>
          <a:prstGeom prst="rect">
            <a:avLst/>
          </a:prstGeom>
          <a:noFill/>
          <a:ln w="9525">
            <a:no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rcRect l="27891" t="24054" r="31809" b="14866"/>
          <a:stretch>
            <a:fillRect/>
          </a:stretch>
        </p:blipFill>
        <p:spPr>
          <a:xfrm>
            <a:off x="130175" y="342900"/>
            <a:ext cx="9014460" cy="6514465"/>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22882" name="Rectangle 2"/>
          <p:cNvSpPr>
            <a:spLocks noGrp="1"/>
          </p:cNvSpPr>
          <p:nvPr>
            <p:ph type="title"/>
          </p:nvPr>
        </p:nvSpPr>
        <p:spPr>
          <a:xfrm>
            <a:off x="457200" y="228600"/>
            <a:ext cx="8001000" cy="1143000"/>
          </a:xfrm>
        </p:spPr>
        <p:txBody>
          <a:bodyPr vert="horz" wrap="square" lIns="91440" tIns="45720" rIns="91440" bIns="45720" anchor="ctr" anchorCtr="0"/>
          <a:p>
            <a:pPr algn="l" eaLnBrk="1" hangingPunct="1"/>
            <a:r>
              <a:rPr lang="en-US" altLang="zh-CN" sz="3600" dirty="0">
                <a:solidFill>
                  <a:srgbClr val="0000FF"/>
                </a:solidFill>
                <a:latin typeface="华文新魏" panose="02010800040101010101" pitchFamily="2" charset="-122"/>
                <a:ea typeface="华文新魏" panose="02010800040101010101" pitchFamily="2" charset="-122"/>
              </a:rPr>
              <a:t>2.6.2 </a:t>
            </a:r>
            <a:r>
              <a:rPr lang="zh-CN" altLang="en-US" sz="3600" dirty="0">
                <a:solidFill>
                  <a:srgbClr val="0000FF"/>
                </a:solidFill>
                <a:latin typeface="华文新魏" panose="02010800040101010101" pitchFamily="2" charset="-122"/>
                <a:ea typeface="华文新魏" panose="02010800040101010101" pitchFamily="2" charset="-122"/>
              </a:rPr>
              <a:t>汉明校验码（续）</a:t>
            </a:r>
            <a:endParaRPr lang="en-US" altLang="zh-CN" sz="3600" dirty="0">
              <a:solidFill>
                <a:srgbClr val="0000FF"/>
              </a:solidFill>
              <a:latin typeface="华文新魏" panose="02010800040101010101" pitchFamily="2" charset="-122"/>
              <a:ea typeface="华文新魏" panose="02010800040101010101" pitchFamily="2" charset="-122"/>
            </a:endParaRPr>
          </a:p>
        </p:txBody>
      </p:sp>
      <p:sp>
        <p:nvSpPr>
          <p:cNvPr id="122883" name="Rectangle 3"/>
          <p:cNvSpPr>
            <a:spLocks noGrp="1"/>
          </p:cNvSpPr>
          <p:nvPr>
            <p:ph idx="1"/>
          </p:nvPr>
        </p:nvSpPr>
        <p:spPr>
          <a:xfrm>
            <a:off x="533400" y="1143000"/>
            <a:ext cx="8001000" cy="5181600"/>
          </a:xfrm>
        </p:spPr>
        <p:txBody>
          <a:bodyPr vert="horz" wrap="square" lIns="91440" tIns="45720" rIns="91440" bIns="45720" anchor="t" anchorCtr="0"/>
          <a:p>
            <a:pPr eaLnBrk="1" hangingPunct="1">
              <a:lnSpc>
                <a:spcPct val="90000"/>
              </a:lnSpc>
              <a:buNone/>
            </a:pPr>
            <a:r>
              <a:rPr lang="en-US" altLang="zh-CN" b="1" dirty="0">
                <a:ea typeface="楷体_GB2312" pitchFamily="49" charset="-122"/>
              </a:rPr>
              <a:t>⑵</a:t>
            </a:r>
            <a:r>
              <a:rPr lang="zh-CN" altLang="en-US" b="1" dirty="0">
                <a:ea typeface="楷体_GB2312" pitchFamily="49" charset="-122"/>
              </a:rPr>
              <a:t>校验</a:t>
            </a:r>
            <a:endParaRPr lang="zh-CN" altLang="en-US" b="1" dirty="0"/>
          </a:p>
          <a:p>
            <a:pPr eaLnBrk="1" hangingPunct="1">
              <a:lnSpc>
                <a:spcPct val="90000"/>
              </a:lnSpc>
              <a:buNone/>
            </a:pPr>
            <a:r>
              <a:rPr lang="zh-CN" altLang="en-US" b="1" dirty="0">
                <a:ea typeface="楷体_GB2312" pitchFamily="49" charset="-122"/>
              </a:rPr>
              <a:t>           将接收到的汉明码进行偶校验，校验得到的结果值</a:t>
            </a:r>
            <a:r>
              <a:rPr lang="en-US" altLang="zh-CN" b="1" dirty="0">
                <a:ea typeface="楷体_GB2312" pitchFamily="49" charset="-122"/>
              </a:rPr>
              <a:t>S</a:t>
            </a:r>
            <a:r>
              <a:rPr lang="en-US" altLang="zh-CN" b="1" baseline="-30000" dirty="0">
                <a:ea typeface="楷体_GB2312" pitchFamily="49" charset="-122"/>
              </a:rPr>
              <a:t>5</a:t>
            </a:r>
            <a:r>
              <a:rPr lang="en-US" altLang="zh-CN" b="1" dirty="0">
                <a:ea typeface="楷体_GB2312" pitchFamily="49" charset="-122"/>
              </a:rPr>
              <a:t>～S</a:t>
            </a:r>
            <a:r>
              <a:rPr lang="en-US" altLang="zh-CN" b="1" baseline="-30000" dirty="0">
                <a:ea typeface="楷体_GB2312" pitchFamily="49" charset="-122"/>
              </a:rPr>
              <a:t>1</a:t>
            </a:r>
            <a:r>
              <a:rPr lang="en-US" altLang="zh-CN" b="1" dirty="0">
                <a:ea typeface="楷体_GB2312" pitchFamily="49" charset="-122"/>
              </a:rPr>
              <a:t>（</a:t>
            </a:r>
            <a:r>
              <a:rPr lang="zh-CN" altLang="en-US" b="1" dirty="0">
                <a:ea typeface="楷体_GB2312" pitchFamily="49" charset="-122"/>
              </a:rPr>
              <a:t>指误字）能反映13位汉明码的出错情况：</a:t>
            </a:r>
            <a:endParaRPr lang="zh-CN" altLang="en-US" b="1" dirty="0"/>
          </a:p>
          <a:p>
            <a:pPr eaLnBrk="1" hangingPunct="1">
              <a:lnSpc>
                <a:spcPct val="90000"/>
              </a:lnSpc>
              <a:buNone/>
            </a:pPr>
            <a:r>
              <a:rPr lang="zh-CN" altLang="en-US" b="1" dirty="0">
                <a:ea typeface="楷体_GB2312" pitchFamily="49" charset="-122"/>
              </a:rPr>
              <a:t>           ①当</a:t>
            </a:r>
            <a:r>
              <a:rPr lang="en-US" altLang="zh-CN" b="1" dirty="0">
                <a:ea typeface="楷体_GB2312" pitchFamily="49" charset="-122"/>
              </a:rPr>
              <a:t>S</a:t>
            </a:r>
            <a:r>
              <a:rPr lang="en-US" altLang="zh-CN" b="1" baseline="-30000" dirty="0">
                <a:ea typeface="楷体_GB2312" pitchFamily="49" charset="-122"/>
              </a:rPr>
              <a:t>5</a:t>
            </a:r>
            <a:r>
              <a:rPr lang="en-US" altLang="zh-CN" b="1" dirty="0">
                <a:ea typeface="楷体_GB2312" pitchFamily="49" charset="-122"/>
              </a:rPr>
              <a:t>～S</a:t>
            </a:r>
            <a:r>
              <a:rPr lang="en-US" altLang="zh-CN" b="1" baseline="-30000" dirty="0">
                <a:ea typeface="楷体_GB2312" pitchFamily="49" charset="-122"/>
              </a:rPr>
              <a:t>1</a:t>
            </a:r>
            <a:r>
              <a:rPr lang="zh-CN" altLang="en-US" b="1" dirty="0">
                <a:ea typeface="楷体_GB2312" pitchFamily="49" charset="-122"/>
              </a:rPr>
              <a:t>为00000时，表明无错。</a:t>
            </a:r>
            <a:endParaRPr lang="zh-CN" altLang="en-US" b="1" dirty="0"/>
          </a:p>
          <a:p>
            <a:pPr eaLnBrk="1" hangingPunct="1">
              <a:lnSpc>
                <a:spcPct val="90000"/>
              </a:lnSpc>
              <a:buNone/>
            </a:pPr>
            <a:r>
              <a:rPr lang="zh-CN" altLang="en-US" b="1" dirty="0">
                <a:ea typeface="楷体_GB2312" pitchFamily="49" charset="-122"/>
              </a:rPr>
              <a:t>           ②当</a:t>
            </a:r>
            <a:r>
              <a:rPr lang="en-US" altLang="zh-CN" b="1" dirty="0">
                <a:ea typeface="楷体_GB2312" pitchFamily="49" charset="-122"/>
              </a:rPr>
              <a:t>S</a:t>
            </a:r>
            <a:r>
              <a:rPr lang="en-US" altLang="zh-CN" b="1" baseline="-30000" dirty="0">
                <a:ea typeface="楷体_GB2312" pitchFamily="49" charset="-122"/>
              </a:rPr>
              <a:t>5</a:t>
            </a:r>
            <a:r>
              <a:rPr lang="en-US" altLang="zh-CN" b="1" dirty="0">
                <a:ea typeface="楷体_GB2312" pitchFamily="49" charset="-122"/>
              </a:rPr>
              <a:t>～S</a:t>
            </a:r>
            <a:r>
              <a:rPr lang="en-US" altLang="zh-CN" b="1" baseline="-30000" dirty="0">
                <a:ea typeface="楷体_GB2312" pitchFamily="49" charset="-122"/>
              </a:rPr>
              <a:t>1</a:t>
            </a:r>
            <a:r>
              <a:rPr lang="zh-CN" altLang="en-US" b="1" dirty="0">
                <a:ea typeface="楷体_GB2312" pitchFamily="49" charset="-122"/>
              </a:rPr>
              <a:t>中仅有一位不为0，表明是某一校验位出错或三位汉明码（包括信息位和校验位）同时出错。由于后一种出错的可能性很小，故认为是前一种错，出错位是该</a:t>
            </a:r>
            <a:r>
              <a:rPr lang="en-US" altLang="zh-CN" b="1" dirty="0">
                <a:ea typeface="楷体_GB2312" pitchFamily="49" charset="-122"/>
              </a:rPr>
              <a:t>S</a:t>
            </a:r>
            <a:r>
              <a:rPr lang="en-US" altLang="zh-CN" b="1" baseline="-30000" dirty="0">
                <a:ea typeface="楷体_GB2312" pitchFamily="49" charset="-122"/>
              </a:rPr>
              <a:t>i</a:t>
            </a:r>
            <a:r>
              <a:rPr lang="zh-CN" altLang="en-US" b="1" dirty="0">
                <a:ea typeface="楷体_GB2312" pitchFamily="49" charset="-122"/>
              </a:rPr>
              <a:t>对应的</a:t>
            </a:r>
            <a:r>
              <a:rPr lang="en-US" altLang="zh-CN" b="1" dirty="0">
                <a:ea typeface="楷体_GB2312" pitchFamily="49" charset="-122"/>
              </a:rPr>
              <a:t>P</a:t>
            </a:r>
            <a:r>
              <a:rPr lang="en-US" altLang="zh-CN" b="1" baseline="-30000" dirty="0">
                <a:ea typeface="楷体_GB2312" pitchFamily="49" charset="-122"/>
              </a:rPr>
              <a:t>i</a:t>
            </a:r>
            <a:r>
              <a:rPr lang="zh-CN" altLang="en-US" b="1" dirty="0">
                <a:ea typeface="楷体_GB2312" pitchFamily="49" charset="-122"/>
              </a:rPr>
              <a:t>位。</a:t>
            </a:r>
            <a:endParaRPr lang="zh-CN" altLang="en-US" b="1" dirty="0">
              <a:ea typeface="楷体_GB2312" pitchFamily="49" charset="-122"/>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24930" name="Rectangle 1026"/>
          <p:cNvSpPr>
            <a:spLocks noGrp="1"/>
          </p:cNvSpPr>
          <p:nvPr>
            <p:ph type="title"/>
          </p:nvPr>
        </p:nvSpPr>
        <p:spPr>
          <a:xfrm>
            <a:off x="457200" y="228600"/>
            <a:ext cx="8001000" cy="1143000"/>
          </a:xfrm>
        </p:spPr>
        <p:txBody>
          <a:bodyPr vert="horz" wrap="square" lIns="91440" tIns="45720" rIns="91440" bIns="45720" anchor="ctr" anchorCtr="0"/>
          <a:p>
            <a:pPr algn="l" eaLnBrk="1" hangingPunct="1"/>
            <a:r>
              <a:rPr lang="en-US" altLang="zh-CN" sz="3600" dirty="0">
                <a:solidFill>
                  <a:srgbClr val="0000FF"/>
                </a:solidFill>
                <a:latin typeface="华文新魏" panose="02010800040101010101" pitchFamily="2" charset="-122"/>
                <a:ea typeface="华文新魏" panose="02010800040101010101" pitchFamily="2" charset="-122"/>
              </a:rPr>
              <a:t>2.6.2 </a:t>
            </a:r>
            <a:r>
              <a:rPr lang="zh-CN" altLang="en-US" sz="3600" dirty="0">
                <a:solidFill>
                  <a:srgbClr val="0000FF"/>
                </a:solidFill>
                <a:latin typeface="华文新魏" panose="02010800040101010101" pitchFamily="2" charset="-122"/>
                <a:ea typeface="华文新魏" panose="02010800040101010101" pitchFamily="2" charset="-122"/>
              </a:rPr>
              <a:t>海明校验码（续）</a:t>
            </a:r>
            <a:endParaRPr lang="en-US" altLang="zh-CN" sz="3600" dirty="0">
              <a:solidFill>
                <a:srgbClr val="0000FF"/>
              </a:solidFill>
              <a:latin typeface="华文新魏" panose="02010800040101010101" pitchFamily="2" charset="-122"/>
              <a:ea typeface="华文新魏" panose="02010800040101010101" pitchFamily="2" charset="-122"/>
            </a:endParaRPr>
          </a:p>
        </p:txBody>
      </p:sp>
      <p:sp>
        <p:nvSpPr>
          <p:cNvPr id="124931" name="Rectangle 1027"/>
          <p:cNvSpPr>
            <a:spLocks noGrp="1"/>
          </p:cNvSpPr>
          <p:nvPr>
            <p:ph idx="1"/>
          </p:nvPr>
        </p:nvSpPr>
        <p:spPr>
          <a:xfrm>
            <a:off x="533400" y="990600"/>
            <a:ext cx="8001000" cy="5562600"/>
          </a:xfrm>
        </p:spPr>
        <p:txBody>
          <a:bodyPr vert="horz" wrap="square" lIns="91440" tIns="45720" rIns="91440" bIns="45720" anchor="t" anchorCtr="0"/>
          <a:p>
            <a:pPr eaLnBrk="1" hangingPunct="1">
              <a:lnSpc>
                <a:spcPct val="90000"/>
              </a:lnSpc>
              <a:buNone/>
            </a:pPr>
            <a:r>
              <a:rPr lang="zh-CN" altLang="en-US" b="1" dirty="0">
                <a:ea typeface="楷体_GB2312" pitchFamily="49" charset="-122"/>
              </a:rPr>
              <a:t>            ③当</a:t>
            </a:r>
            <a:r>
              <a:rPr lang="en-US" altLang="zh-CN" b="1" dirty="0">
                <a:ea typeface="楷体_GB2312" pitchFamily="49" charset="-122"/>
              </a:rPr>
              <a:t>S</a:t>
            </a:r>
            <a:r>
              <a:rPr lang="en-US" altLang="zh-CN" b="1" baseline="-30000" dirty="0">
                <a:ea typeface="楷体_GB2312" pitchFamily="49" charset="-122"/>
              </a:rPr>
              <a:t>5</a:t>
            </a:r>
            <a:r>
              <a:rPr lang="en-US" altLang="zh-CN" b="1" dirty="0">
                <a:ea typeface="楷体_GB2312" pitchFamily="49" charset="-122"/>
              </a:rPr>
              <a:t>～S</a:t>
            </a:r>
            <a:r>
              <a:rPr lang="en-US" altLang="zh-CN" b="1" baseline="-30000" dirty="0">
                <a:ea typeface="楷体_GB2312" pitchFamily="49" charset="-122"/>
              </a:rPr>
              <a:t>1</a:t>
            </a:r>
            <a:r>
              <a:rPr lang="zh-CN" altLang="en-US" b="1" dirty="0">
                <a:ea typeface="楷体_GB2312" pitchFamily="49" charset="-122"/>
              </a:rPr>
              <a:t>中有两位不为0，表明是两位汉明码同时出错，此时只能发现错误，而无法确定出错的位置。</a:t>
            </a:r>
            <a:endParaRPr lang="zh-CN" altLang="en-US" b="1" dirty="0"/>
          </a:p>
          <a:p>
            <a:pPr eaLnBrk="1" hangingPunct="1">
              <a:lnSpc>
                <a:spcPct val="90000"/>
              </a:lnSpc>
              <a:buNone/>
            </a:pPr>
            <a:r>
              <a:rPr lang="zh-CN" altLang="en-US" b="1" dirty="0">
                <a:ea typeface="楷体_GB2312" pitchFamily="49" charset="-122"/>
              </a:rPr>
              <a:t>            ④当</a:t>
            </a:r>
            <a:r>
              <a:rPr lang="en-US" altLang="zh-CN" b="1" dirty="0">
                <a:ea typeface="楷体_GB2312" pitchFamily="49" charset="-122"/>
              </a:rPr>
              <a:t>S</a:t>
            </a:r>
            <a:r>
              <a:rPr lang="en-US" altLang="zh-CN" b="1" baseline="-30000" dirty="0">
                <a:ea typeface="楷体_GB2312" pitchFamily="49" charset="-122"/>
              </a:rPr>
              <a:t>5</a:t>
            </a:r>
            <a:r>
              <a:rPr lang="en-US" altLang="zh-CN" b="1" dirty="0">
                <a:ea typeface="楷体_GB2312" pitchFamily="49" charset="-122"/>
              </a:rPr>
              <a:t>～S</a:t>
            </a:r>
            <a:r>
              <a:rPr lang="en-US" altLang="zh-CN" b="1" baseline="-30000" dirty="0">
                <a:ea typeface="楷体_GB2312" pitchFamily="49" charset="-122"/>
              </a:rPr>
              <a:t>1</a:t>
            </a:r>
            <a:r>
              <a:rPr lang="zh-CN" altLang="en-US" b="1" dirty="0">
                <a:ea typeface="楷体_GB2312" pitchFamily="49" charset="-122"/>
              </a:rPr>
              <a:t>中有三位不为0，表明是一位信息位出错或三位校验位同时出错。出错位的位号由</a:t>
            </a:r>
            <a:r>
              <a:rPr lang="en-US" altLang="zh-CN" b="1" dirty="0">
                <a:ea typeface="楷体_GB2312" pitchFamily="49" charset="-122"/>
              </a:rPr>
              <a:t>S</a:t>
            </a:r>
            <a:r>
              <a:rPr lang="en-US" altLang="zh-CN" b="1" baseline="-30000" dirty="0">
                <a:ea typeface="楷体_GB2312" pitchFamily="49" charset="-122"/>
              </a:rPr>
              <a:t>4</a:t>
            </a:r>
            <a:r>
              <a:rPr lang="en-US" altLang="zh-CN" b="1" dirty="0">
                <a:ea typeface="楷体_GB2312" pitchFamily="49" charset="-122"/>
              </a:rPr>
              <a:t>～S</a:t>
            </a:r>
            <a:r>
              <a:rPr lang="en-US" altLang="zh-CN" b="1" baseline="-30000" dirty="0">
                <a:ea typeface="楷体_GB2312" pitchFamily="49" charset="-122"/>
              </a:rPr>
              <a:t>1</a:t>
            </a:r>
            <a:r>
              <a:rPr lang="zh-CN" altLang="en-US" b="1" dirty="0">
                <a:ea typeface="楷体_GB2312" pitchFamily="49" charset="-122"/>
              </a:rPr>
              <a:t>四位代码值指明，此时不仅能检查出一位错，而且能准确地定位，因此可以纠正这个错误（将该位变反）。</a:t>
            </a:r>
            <a:endParaRPr lang="zh-CN" altLang="en-US" b="1" dirty="0"/>
          </a:p>
          <a:p>
            <a:pPr eaLnBrk="1" hangingPunct="1">
              <a:lnSpc>
                <a:spcPct val="90000"/>
              </a:lnSpc>
              <a:buNone/>
            </a:pPr>
            <a:r>
              <a:rPr lang="zh-CN" altLang="en-US" b="1" dirty="0">
                <a:ea typeface="楷体_GB2312" pitchFamily="49" charset="-122"/>
              </a:rPr>
              <a:t>            ⑤当</a:t>
            </a:r>
            <a:r>
              <a:rPr lang="en-US" altLang="zh-CN" b="1" dirty="0">
                <a:ea typeface="楷体_GB2312" pitchFamily="49" charset="-122"/>
              </a:rPr>
              <a:t>S</a:t>
            </a:r>
            <a:r>
              <a:rPr lang="en-US" altLang="zh-CN" b="1" baseline="-30000" dirty="0">
                <a:ea typeface="楷体_GB2312" pitchFamily="49" charset="-122"/>
              </a:rPr>
              <a:t>5</a:t>
            </a:r>
            <a:r>
              <a:rPr lang="en-US" altLang="zh-CN" b="1" dirty="0">
                <a:ea typeface="楷体_GB2312" pitchFamily="49" charset="-122"/>
              </a:rPr>
              <a:t>～S</a:t>
            </a:r>
            <a:r>
              <a:rPr lang="en-US" altLang="zh-CN" b="1" baseline="-30000" dirty="0">
                <a:ea typeface="楷体_GB2312" pitchFamily="49" charset="-122"/>
              </a:rPr>
              <a:t>1</a:t>
            </a:r>
            <a:r>
              <a:rPr lang="zh-CN" altLang="en-US" b="1" dirty="0">
                <a:ea typeface="楷体_GB2312" pitchFamily="49" charset="-122"/>
              </a:rPr>
              <a:t>中有四位或五位不为0时，表明出错情况严重，系统工作可能出现故障，应检查系统硬件的正确性。</a:t>
            </a:r>
            <a:endParaRPr lang="zh-CN" altLang="en-US" b="1" dirty="0">
              <a:ea typeface="楷体_GB2312" pitchFamily="49" charset="-12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25954" name="Rectangle 2"/>
          <p:cNvSpPr>
            <a:spLocks noGrp="1"/>
          </p:cNvSpPr>
          <p:nvPr>
            <p:ph type="title"/>
          </p:nvPr>
        </p:nvSpPr>
        <p:spPr>
          <a:xfrm>
            <a:off x="457200" y="228600"/>
            <a:ext cx="8001000" cy="1143000"/>
          </a:xfrm>
        </p:spPr>
        <p:txBody>
          <a:bodyPr vert="horz" wrap="square" lIns="91440" tIns="45720" rIns="91440" bIns="45720" anchor="ctr" anchorCtr="0"/>
          <a:p>
            <a:pPr algn="l" eaLnBrk="1" hangingPunct="1"/>
            <a:r>
              <a:rPr lang="en-US" altLang="zh-CN" sz="3600" dirty="0">
                <a:solidFill>
                  <a:srgbClr val="0000FF"/>
                </a:solidFill>
                <a:latin typeface="华文新魏" panose="02010800040101010101" pitchFamily="2" charset="-122"/>
                <a:ea typeface="华文新魏" panose="02010800040101010101" pitchFamily="2" charset="-122"/>
              </a:rPr>
              <a:t>2.6.3 </a:t>
            </a:r>
            <a:r>
              <a:rPr lang="zh-CN" altLang="en-US" sz="3600" dirty="0">
                <a:solidFill>
                  <a:srgbClr val="0000FF"/>
                </a:solidFill>
                <a:latin typeface="华文新魏" panose="02010800040101010101" pitchFamily="2" charset="-122"/>
                <a:ea typeface="华文新魏" panose="02010800040101010101" pitchFamily="2" charset="-122"/>
              </a:rPr>
              <a:t>循环冗余校验码</a:t>
            </a:r>
            <a:endParaRPr lang="en-US" altLang="zh-CN" sz="3600" dirty="0">
              <a:solidFill>
                <a:srgbClr val="0000FF"/>
              </a:solidFill>
              <a:latin typeface="华文新魏" panose="02010800040101010101" pitchFamily="2" charset="-122"/>
              <a:ea typeface="华文新魏" panose="02010800040101010101" pitchFamily="2" charset="-122"/>
            </a:endParaRPr>
          </a:p>
        </p:txBody>
      </p:sp>
      <p:sp>
        <p:nvSpPr>
          <p:cNvPr id="125955" name="Rectangle 3"/>
          <p:cNvSpPr>
            <a:spLocks noGrp="1"/>
          </p:cNvSpPr>
          <p:nvPr>
            <p:ph idx="1"/>
          </p:nvPr>
        </p:nvSpPr>
        <p:spPr>
          <a:xfrm>
            <a:off x="533400" y="1066800"/>
            <a:ext cx="8001000" cy="5562600"/>
          </a:xfrm>
        </p:spPr>
        <p:txBody>
          <a:bodyPr vert="horz" wrap="square" lIns="91440" tIns="45720" rIns="91440" bIns="45720" anchor="t" anchorCtr="0"/>
          <a:p>
            <a:pPr eaLnBrk="1" hangingPunct="1">
              <a:buNone/>
            </a:pPr>
            <a:r>
              <a:rPr lang="zh-CN" altLang="en-US" sz="2800" b="1" dirty="0">
                <a:ea typeface="楷体_GB2312" pitchFamily="49" charset="-122"/>
              </a:rPr>
              <a:t>            在计算机网络、同步通信以及磁表面存储器中广泛使用循环冗余校验码</a:t>
            </a:r>
            <a:r>
              <a:rPr lang="en-US" altLang="zh-CN" sz="2800" b="1" dirty="0">
                <a:ea typeface="楷体_GB2312" pitchFamily="49" charset="-122"/>
              </a:rPr>
              <a:t>，</a:t>
            </a:r>
            <a:r>
              <a:rPr lang="zh-CN" altLang="en-US" sz="2800" b="1" dirty="0">
                <a:ea typeface="楷体_GB2312" pitchFamily="49" charset="-122"/>
              </a:rPr>
              <a:t>简称</a:t>
            </a:r>
            <a:r>
              <a:rPr lang="en-US" altLang="zh-CN" sz="2800" b="1" dirty="0">
                <a:ea typeface="楷体_GB2312" pitchFamily="49" charset="-122"/>
              </a:rPr>
              <a:t>CRC</a:t>
            </a:r>
            <a:r>
              <a:rPr lang="zh-CN" altLang="en-US" sz="2800" b="1" dirty="0">
                <a:ea typeface="楷体_GB2312" pitchFamily="49" charset="-122"/>
              </a:rPr>
              <a:t>码。</a:t>
            </a:r>
            <a:endParaRPr lang="zh-CN" altLang="en-US" sz="2800" b="1" dirty="0"/>
          </a:p>
          <a:p>
            <a:pPr eaLnBrk="1" hangingPunct="1">
              <a:buNone/>
            </a:pPr>
            <a:r>
              <a:rPr lang="zh-CN" altLang="en-US" sz="2800" b="1" dirty="0">
                <a:ea typeface="楷体_GB2312" pitchFamily="49" charset="-122"/>
              </a:rPr>
              <a:t>            循环冗余校验码是通过除法运算来建立有效信息位和校验位之间的约定关系的。假设，待编码的有效信息以多项式</a:t>
            </a:r>
            <a:r>
              <a:rPr lang="en-US" altLang="zh-CN" sz="2800" b="1" dirty="0">
                <a:ea typeface="楷体_GB2312" pitchFamily="49" charset="-122"/>
              </a:rPr>
              <a:t>M(X)</a:t>
            </a:r>
            <a:r>
              <a:rPr lang="zh-CN" altLang="en-US" sz="2800" b="1" dirty="0">
                <a:ea typeface="楷体_GB2312" pitchFamily="49" charset="-122"/>
              </a:rPr>
              <a:t>表示，将它左移若干位后，用另一个约定的多项式</a:t>
            </a:r>
            <a:r>
              <a:rPr lang="en-US" altLang="zh-CN" sz="2800" b="1" dirty="0">
                <a:ea typeface="楷体_GB2312" pitchFamily="49" charset="-122"/>
              </a:rPr>
              <a:t>G(X)</a:t>
            </a:r>
            <a:r>
              <a:rPr lang="zh-CN" altLang="en-US" sz="2800" b="1" dirty="0">
                <a:ea typeface="楷体_GB2312" pitchFamily="49" charset="-122"/>
              </a:rPr>
              <a:t>去除，所产生的余数</a:t>
            </a:r>
            <a:r>
              <a:rPr lang="en-US" altLang="zh-CN" sz="2800" b="1" dirty="0">
                <a:ea typeface="楷体_GB2312" pitchFamily="49" charset="-122"/>
              </a:rPr>
              <a:t>R(X)</a:t>
            </a:r>
            <a:r>
              <a:rPr lang="zh-CN" altLang="en-US" sz="2800" b="1" dirty="0">
                <a:ea typeface="楷体_GB2312" pitchFamily="49" charset="-122"/>
              </a:rPr>
              <a:t>就是检验位。有效信息和检验位相拼接就构成了</a:t>
            </a:r>
            <a:r>
              <a:rPr lang="en-US" altLang="zh-CN" sz="2800" b="1" dirty="0">
                <a:ea typeface="楷体_GB2312" pitchFamily="49" charset="-122"/>
              </a:rPr>
              <a:t>CRC</a:t>
            </a:r>
            <a:r>
              <a:rPr lang="zh-CN" altLang="en-US" sz="2800" b="1" dirty="0">
                <a:ea typeface="楷体_GB2312" pitchFamily="49" charset="-122"/>
              </a:rPr>
              <a:t>码。当整个</a:t>
            </a:r>
            <a:r>
              <a:rPr lang="en-US" altLang="zh-CN" sz="2800" b="1" dirty="0">
                <a:ea typeface="楷体_GB2312" pitchFamily="49" charset="-122"/>
              </a:rPr>
              <a:t>CRC</a:t>
            </a:r>
            <a:r>
              <a:rPr lang="zh-CN" altLang="en-US" sz="2800" b="1" dirty="0">
                <a:ea typeface="楷体_GB2312" pitchFamily="49" charset="-122"/>
              </a:rPr>
              <a:t>码被接收后，仍用约定的多项式</a:t>
            </a:r>
            <a:r>
              <a:rPr lang="en-US" altLang="zh-CN" sz="2800" b="1" dirty="0">
                <a:ea typeface="楷体_GB2312" pitchFamily="49" charset="-122"/>
              </a:rPr>
              <a:t>G(X)</a:t>
            </a:r>
            <a:r>
              <a:rPr lang="zh-CN" altLang="en-US" sz="2800" b="1" dirty="0">
                <a:ea typeface="楷体_GB2312" pitchFamily="49" charset="-122"/>
              </a:rPr>
              <a:t>去除，若余数为0表明该代码是正确的；若余数不为0表明某一位出错，再进一步由余数值确定出错的位置，以便进行纠正。</a:t>
            </a:r>
            <a:endParaRPr lang="zh-CN" altLang="en-US" sz="2800" b="1" dirty="0">
              <a:ea typeface="楷体_GB2312" pitchFamily="49" charset="-122"/>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26978" name="Rectangle 2"/>
          <p:cNvSpPr>
            <a:spLocks noGrp="1"/>
          </p:cNvSpPr>
          <p:nvPr>
            <p:ph type="title"/>
          </p:nvPr>
        </p:nvSpPr>
        <p:spPr>
          <a:xfrm>
            <a:off x="457200" y="381000"/>
            <a:ext cx="80010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1.循环冗余校验码的编码方法</a:t>
            </a:r>
            <a:endParaRPr lang="en-US" altLang="zh-CN" sz="3200" dirty="0">
              <a:solidFill>
                <a:schemeClr val="accent2"/>
              </a:solidFill>
              <a:ea typeface="华文新魏" panose="02010800040101010101" pitchFamily="2" charset="-122"/>
            </a:endParaRPr>
          </a:p>
        </p:txBody>
      </p:sp>
      <p:sp>
        <p:nvSpPr>
          <p:cNvPr id="126979" name="Rectangle 3"/>
          <p:cNvSpPr>
            <a:spLocks noGrp="1"/>
          </p:cNvSpPr>
          <p:nvPr>
            <p:ph idx="1"/>
          </p:nvPr>
        </p:nvSpPr>
        <p:spPr>
          <a:xfrm>
            <a:off x="533400" y="1219200"/>
            <a:ext cx="8001000" cy="5181600"/>
          </a:xfrm>
        </p:spPr>
        <p:txBody>
          <a:bodyPr vert="horz" wrap="square" lIns="91440" tIns="45720" rIns="91440" bIns="45720" anchor="t" anchorCtr="0"/>
          <a:p>
            <a:pPr eaLnBrk="1" hangingPunct="1">
              <a:buNone/>
            </a:pPr>
            <a:r>
              <a:rPr lang="zh-CN" altLang="en-US" b="1" dirty="0">
                <a:ea typeface="楷体_GB2312" pitchFamily="49" charset="-122"/>
              </a:rPr>
              <a:t>            循环冗余校验码是由两部分组成的，左边为信息位，右边为校验位。若信息位为</a:t>
            </a:r>
            <a:r>
              <a:rPr lang="en-US" altLang="zh-CN" b="1" dirty="0">
                <a:ea typeface="楷体_GB2312" pitchFamily="49" charset="-122"/>
              </a:rPr>
              <a:t>N</a:t>
            </a:r>
            <a:r>
              <a:rPr lang="zh-CN" altLang="en-US" b="1" dirty="0">
                <a:ea typeface="楷体_GB2312" pitchFamily="49" charset="-122"/>
              </a:rPr>
              <a:t>位，校验位为</a:t>
            </a:r>
            <a:r>
              <a:rPr lang="en-US" altLang="zh-CN" b="1" dirty="0">
                <a:ea typeface="楷体_GB2312" pitchFamily="49" charset="-122"/>
              </a:rPr>
              <a:t>K</a:t>
            </a:r>
            <a:r>
              <a:rPr lang="zh-CN" altLang="en-US" b="1" dirty="0">
                <a:ea typeface="楷体_GB2312" pitchFamily="49" charset="-122"/>
              </a:rPr>
              <a:t>位，则该校验码被称为（</a:t>
            </a:r>
            <a:r>
              <a:rPr lang="en-US" altLang="zh-CN" b="1" dirty="0">
                <a:ea typeface="楷体_GB2312" pitchFamily="49" charset="-122"/>
              </a:rPr>
              <a:t>N+K,N）</a:t>
            </a:r>
            <a:r>
              <a:rPr lang="zh-CN" altLang="en-US" b="1" dirty="0">
                <a:ea typeface="楷体_GB2312" pitchFamily="49" charset="-122"/>
              </a:rPr>
              <a:t>码。</a:t>
            </a:r>
            <a:endParaRPr lang="zh-CN" altLang="en-US" b="1" dirty="0">
              <a:ea typeface="楷体_GB2312" pitchFamily="49" charset="-122"/>
            </a:endParaRPr>
          </a:p>
          <a:p>
            <a:pPr eaLnBrk="1" hangingPunct="1">
              <a:buNone/>
            </a:pPr>
            <a:endParaRPr lang="zh-CN" altLang="en-US" b="1" dirty="0">
              <a:ea typeface="楷体_GB2312" pitchFamily="49" charset="-122"/>
            </a:endParaRPr>
          </a:p>
          <a:p>
            <a:pPr eaLnBrk="1" hangingPunct="1">
              <a:buNone/>
            </a:pPr>
            <a:endParaRPr lang="zh-CN" altLang="en-US" b="1" dirty="0">
              <a:ea typeface="楷体_GB2312" pitchFamily="49" charset="-122"/>
            </a:endParaRPr>
          </a:p>
          <a:p>
            <a:pPr algn="ctr" eaLnBrk="1" hangingPunct="1">
              <a:buNone/>
            </a:pPr>
            <a:endParaRPr lang="zh-CN" altLang="en-US" sz="2400" b="1" dirty="0"/>
          </a:p>
          <a:p>
            <a:pPr algn="ctr" eaLnBrk="1" hangingPunct="1">
              <a:buNone/>
            </a:pPr>
            <a:r>
              <a:rPr lang="zh-CN" altLang="en-US" sz="2400" b="1" dirty="0"/>
              <a:t>图2-13 循环冗余校验码的格式</a:t>
            </a:r>
            <a:endParaRPr lang="zh-CN" altLang="en-US" sz="2400" b="1" dirty="0"/>
          </a:p>
        </p:txBody>
      </p:sp>
      <p:graphicFrame>
        <p:nvGraphicFramePr>
          <p:cNvPr id="126980" name="Object 4"/>
          <p:cNvGraphicFramePr>
            <a:graphicFrameLocks noChangeAspect="1"/>
          </p:cNvGraphicFramePr>
          <p:nvPr/>
        </p:nvGraphicFramePr>
        <p:xfrm>
          <a:off x="2438400" y="3657600"/>
          <a:ext cx="4114800" cy="860425"/>
        </p:xfrm>
        <a:graphic>
          <a:graphicData uri="http://schemas.openxmlformats.org/presentationml/2006/ole">
            <mc:AlternateContent xmlns:mc="http://schemas.openxmlformats.org/markup-compatibility/2006">
              <mc:Choice xmlns:v="urn:schemas-microsoft-com:vml" Requires="v">
                <p:oleObj spid="_x0000_s3096" name="" r:id="rId1" imgW="2042160" imgH="424180" progId="Visio.Drawing.6">
                  <p:embed/>
                </p:oleObj>
              </mc:Choice>
              <mc:Fallback>
                <p:oleObj name="" r:id="rId1" imgW="2042160" imgH="424180" progId="Visio.Drawing.6">
                  <p:embed/>
                  <p:pic>
                    <p:nvPicPr>
                      <p:cNvPr id="0" name="图片 3095"/>
                      <p:cNvPicPr/>
                      <p:nvPr/>
                    </p:nvPicPr>
                    <p:blipFill>
                      <a:blip r:embed="rId2"/>
                      <a:stretch>
                        <a:fillRect/>
                      </a:stretch>
                    </p:blipFill>
                    <p:spPr>
                      <a:xfrm>
                        <a:off x="2438400" y="3657600"/>
                        <a:ext cx="4114800" cy="860425"/>
                      </a:xfrm>
                      <a:prstGeom prst="rect">
                        <a:avLst/>
                      </a:prstGeom>
                      <a:noFill/>
                      <a:ln w="38100">
                        <a:noFill/>
                        <a:miter/>
                      </a:ln>
                    </p:spPr>
                  </p:pic>
                </p:oleObj>
              </mc:Fallback>
            </mc:AlternateContent>
          </a:graphicData>
        </a:graphic>
      </p:graphicFrame>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1"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28002" name="Rectangle 2"/>
          <p:cNvSpPr>
            <a:spLocks noGrp="1"/>
          </p:cNvSpPr>
          <p:nvPr>
            <p:ph type="title"/>
          </p:nvPr>
        </p:nvSpPr>
        <p:spPr>
          <a:xfrm>
            <a:off x="457200" y="381000"/>
            <a:ext cx="80010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1.循环冗余校验码的编码方法（续）</a:t>
            </a:r>
            <a:endParaRPr lang="en-US" altLang="zh-CN" sz="3200" dirty="0">
              <a:solidFill>
                <a:schemeClr val="accent2"/>
              </a:solidFill>
              <a:ea typeface="华文新魏" panose="02010800040101010101" pitchFamily="2" charset="-122"/>
            </a:endParaRPr>
          </a:p>
        </p:txBody>
      </p:sp>
      <p:sp>
        <p:nvSpPr>
          <p:cNvPr id="128003" name="Rectangle 3"/>
          <p:cNvSpPr>
            <a:spLocks noGrp="1"/>
          </p:cNvSpPr>
          <p:nvPr>
            <p:ph idx="1"/>
          </p:nvPr>
        </p:nvSpPr>
        <p:spPr>
          <a:xfrm>
            <a:off x="533400" y="1219200"/>
            <a:ext cx="8001000" cy="5257800"/>
          </a:xfrm>
        </p:spPr>
        <p:txBody>
          <a:bodyPr vert="horz" wrap="square" lIns="91440" tIns="45720" rIns="91440" bIns="45720" anchor="t" anchorCtr="0"/>
          <a:p>
            <a:pPr eaLnBrk="1" hangingPunct="1">
              <a:buNone/>
            </a:pPr>
            <a:r>
              <a:rPr lang="zh-CN" altLang="en-US" sz="2800" b="1" dirty="0">
                <a:ea typeface="楷体_GB2312" pitchFamily="49" charset="-122"/>
              </a:rPr>
              <a:t>循环冗余校验码编码规律</a:t>
            </a:r>
            <a:endParaRPr lang="zh-CN" altLang="en-US" sz="2800" b="1" dirty="0"/>
          </a:p>
          <a:p>
            <a:pPr eaLnBrk="1" hangingPunct="1">
              <a:buNone/>
            </a:pPr>
            <a:r>
              <a:rPr lang="zh-CN" altLang="en-US" sz="2800" b="1" dirty="0">
                <a:ea typeface="楷体_GB2312" pitchFamily="49" charset="-122"/>
              </a:rPr>
              <a:t>            ⑴把待编码的</a:t>
            </a:r>
            <a:r>
              <a:rPr lang="en-US" altLang="zh-CN" sz="2800" b="1" dirty="0">
                <a:ea typeface="楷体_GB2312" pitchFamily="49" charset="-122"/>
              </a:rPr>
              <a:t>N</a:t>
            </a:r>
            <a:r>
              <a:rPr lang="zh-CN" altLang="en-US" sz="2800" b="1" dirty="0">
                <a:ea typeface="楷体_GB2312" pitchFamily="49" charset="-122"/>
              </a:rPr>
              <a:t>位有效信息表示为多项式</a:t>
            </a:r>
            <a:r>
              <a:rPr lang="en-US" altLang="zh-CN" sz="2800" b="1" dirty="0">
                <a:ea typeface="楷体_GB2312" pitchFamily="49" charset="-122"/>
              </a:rPr>
              <a:t>M(X)。</a:t>
            </a:r>
            <a:endParaRPr lang="en-US" altLang="zh-CN" sz="2800" b="1" dirty="0"/>
          </a:p>
          <a:p>
            <a:pPr eaLnBrk="1" hangingPunct="1">
              <a:buNone/>
            </a:pPr>
            <a:r>
              <a:rPr lang="en-US" altLang="zh-CN" sz="2800" b="1" dirty="0">
                <a:ea typeface="楷体_GB2312" pitchFamily="49" charset="-122"/>
              </a:rPr>
              <a:t>            ⑵</a:t>
            </a:r>
            <a:r>
              <a:rPr lang="zh-CN" altLang="en-US" sz="2800" b="1" dirty="0">
                <a:ea typeface="楷体_GB2312" pitchFamily="49" charset="-122"/>
              </a:rPr>
              <a:t>把</a:t>
            </a:r>
            <a:r>
              <a:rPr lang="en-US" altLang="zh-CN" sz="2800" b="1" dirty="0">
                <a:ea typeface="楷体_GB2312" pitchFamily="49" charset="-122"/>
              </a:rPr>
              <a:t>M(X)</a:t>
            </a:r>
            <a:r>
              <a:rPr lang="zh-CN" altLang="en-US" sz="2800" b="1" dirty="0">
                <a:ea typeface="楷体_GB2312" pitchFamily="49" charset="-122"/>
              </a:rPr>
              <a:t>左移</a:t>
            </a:r>
            <a:r>
              <a:rPr lang="en-US" altLang="zh-CN" sz="2800" b="1" dirty="0">
                <a:ea typeface="楷体_GB2312" pitchFamily="49" charset="-122"/>
              </a:rPr>
              <a:t>K</a:t>
            </a:r>
            <a:r>
              <a:rPr lang="zh-CN" altLang="en-US" sz="2800" b="1" dirty="0">
                <a:ea typeface="楷体_GB2312" pitchFamily="49" charset="-122"/>
              </a:rPr>
              <a:t>位，得到</a:t>
            </a:r>
            <a:r>
              <a:rPr lang="en-US" altLang="zh-CN" sz="2800" b="1" dirty="0">
                <a:ea typeface="楷体_GB2312" pitchFamily="49" charset="-122"/>
              </a:rPr>
              <a:t>M(X)×X</a:t>
            </a:r>
            <a:r>
              <a:rPr lang="en-US" altLang="zh-CN" sz="2800" b="1" baseline="30000" dirty="0">
                <a:ea typeface="楷体_GB2312" pitchFamily="49" charset="-122"/>
              </a:rPr>
              <a:t>K</a:t>
            </a:r>
            <a:r>
              <a:rPr lang="en-US" altLang="zh-CN" sz="2800" b="1" dirty="0">
                <a:ea typeface="楷体_GB2312" pitchFamily="49" charset="-122"/>
              </a:rPr>
              <a:t>，</a:t>
            </a:r>
            <a:r>
              <a:rPr lang="zh-CN" altLang="en-US" sz="2800" b="1" dirty="0">
                <a:ea typeface="楷体_GB2312" pitchFamily="49" charset="-122"/>
              </a:rPr>
              <a:t>这样空出了</a:t>
            </a:r>
            <a:r>
              <a:rPr lang="en-US" altLang="zh-CN" sz="2800" b="1" dirty="0">
                <a:ea typeface="楷体_GB2312" pitchFamily="49" charset="-122"/>
              </a:rPr>
              <a:t>K</a:t>
            </a:r>
            <a:r>
              <a:rPr lang="zh-CN" altLang="en-US" sz="2800" b="1" dirty="0">
                <a:ea typeface="楷体_GB2312" pitchFamily="49" charset="-122"/>
              </a:rPr>
              <a:t>位，以便拼装</a:t>
            </a:r>
            <a:r>
              <a:rPr lang="en-US" altLang="zh-CN" sz="2800" b="1" dirty="0">
                <a:ea typeface="楷体_GB2312" pitchFamily="49" charset="-122"/>
              </a:rPr>
              <a:t>K</a:t>
            </a:r>
            <a:r>
              <a:rPr lang="zh-CN" altLang="en-US" sz="2800" b="1" dirty="0">
                <a:ea typeface="楷体_GB2312" pitchFamily="49" charset="-122"/>
              </a:rPr>
              <a:t>位余数（即校验位）。</a:t>
            </a:r>
            <a:endParaRPr lang="zh-CN" altLang="en-US" sz="2800" b="1" dirty="0"/>
          </a:p>
          <a:p>
            <a:pPr eaLnBrk="1" hangingPunct="1">
              <a:buNone/>
            </a:pPr>
            <a:r>
              <a:rPr lang="zh-CN" altLang="en-US" sz="2800" b="1" dirty="0">
                <a:ea typeface="楷体_GB2312" pitchFamily="49" charset="-122"/>
              </a:rPr>
              <a:t>            ⑶选取一个</a:t>
            </a:r>
            <a:r>
              <a:rPr lang="en-US" altLang="zh-CN" sz="2800" b="1" dirty="0">
                <a:ea typeface="楷体_GB2312" pitchFamily="49" charset="-122"/>
              </a:rPr>
              <a:t>K+1</a:t>
            </a:r>
            <a:r>
              <a:rPr lang="zh-CN" altLang="en-US" sz="2800" b="1" dirty="0">
                <a:ea typeface="楷体_GB2312" pitchFamily="49" charset="-122"/>
              </a:rPr>
              <a:t>位的产生多项式</a:t>
            </a:r>
            <a:r>
              <a:rPr lang="en-US" altLang="zh-CN" sz="2800" b="1" dirty="0">
                <a:ea typeface="楷体_GB2312" pitchFamily="49" charset="-122"/>
              </a:rPr>
              <a:t>G(X)，</a:t>
            </a:r>
            <a:r>
              <a:rPr lang="zh-CN" altLang="en-US" sz="2800" b="1" dirty="0">
                <a:ea typeface="楷体_GB2312" pitchFamily="49" charset="-122"/>
              </a:rPr>
              <a:t>对</a:t>
            </a:r>
            <a:r>
              <a:rPr lang="en-US" altLang="zh-CN" sz="2800" b="1" dirty="0">
                <a:ea typeface="楷体_GB2312" pitchFamily="49" charset="-122"/>
              </a:rPr>
              <a:t>M(X)×X</a:t>
            </a:r>
            <a:r>
              <a:rPr lang="en-US" altLang="zh-CN" sz="2800" b="1" baseline="30000" dirty="0">
                <a:ea typeface="楷体_GB2312" pitchFamily="49" charset="-122"/>
              </a:rPr>
              <a:t>K</a:t>
            </a:r>
            <a:r>
              <a:rPr lang="zh-CN" altLang="en-US" sz="2800" b="1" dirty="0">
                <a:ea typeface="楷体_GB2312" pitchFamily="49" charset="-122"/>
              </a:rPr>
              <a:t>作模2除。</a:t>
            </a:r>
            <a:endParaRPr lang="zh-CN" altLang="en-US" sz="2800" b="1" dirty="0"/>
          </a:p>
          <a:p>
            <a:pPr eaLnBrk="1" hangingPunct="1">
              <a:buNone/>
            </a:pPr>
            <a:r>
              <a:rPr lang="zh-CN" altLang="en-US" sz="2800" b="1" dirty="0">
                <a:ea typeface="楷体_GB2312" pitchFamily="49" charset="-122"/>
              </a:rPr>
              <a:t>                             =</a:t>
            </a:r>
            <a:r>
              <a:rPr lang="en-US" altLang="zh-CN" sz="2800" b="1" dirty="0">
                <a:ea typeface="楷体_GB2312" pitchFamily="49" charset="-122"/>
              </a:rPr>
              <a:t>Q(X)+</a:t>
            </a:r>
            <a:endParaRPr lang="en-US" altLang="zh-CN" sz="2800" b="1" dirty="0"/>
          </a:p>
          <a:p>
            <a:pPr eaLnBrk="1" hangingPunct="1">
              <a:buNone/>
            </a:pPr>
            <a:r>
              <a:rPr lang="en-US" altLang="zh-CN" sz="2800" b="1" dirty="0">
                <a:ea typeface="楷体_GB2312" pitchFamily="49" charset="-122"/>
              </a:rPr>
              <a:t>            ⑷</a:t>
            </a:r>
            <a:r>
              <a:rPr lang="zh-CN" altLang="en-US" sz="2800" b="1" dirty="0">
                <a:ea typeface="楷体_GB2312" pitchFamily="49" charset="-122"/>
              </a:rPr>
              <a:t>把左移</a:t>
            </a:r>
            <a:r>
              <a:rPr lang="en-US" altLang="zh-CN" sz="2800" b="1" dirty="0">
                <a:ea typeface="楷体_GB2312" pitchFamily="49" charset="-122"/>
              </a:rPr>
              <a:t>K</a:t>
            </a:r>
            <a:r>
              <a:rPr lang="zh-CN" altLang="en-US" sz="2800" b="1" dirty="0">
                <a:ea typeface="楷体_GB2312" pitchFamily="49" charset="-122"/>
              </a:rPr>
              <a:t>位以后的有效信息与余数</a:t>
            </a:r>
            <a:r>
              <a:rPr lang="en-US" altLang="zh-CN" sz="2800" b="1" dirty="0">
                <a:ea typeface="楷体_GB2312" pitchFamily="49" charset="-122"/>
              </a:rPr>
              <a:t>R(X)</a:t>
            </a:r>
            <a:r>
              <a:rPr lang="zh-CN" altLang="en-US" sz="2800" b="1" dirty="0">
                <a:ea typeface="楷体_GB2312" pitchFamily="49" charset="-122"/>
              </a:rPr>
              <a:t>作模2加减，拼接为</a:t>
            </a:r>
            <a:r>
              <a:rPr lang="en-US" altLang="zh-CN" sz="2800" b="1" dirty="0">
                <a:ea typeface="楷体_GB2312" pitchFamily="49" charset="-122"/>
              </a:rPr>
              <a:t>CRC</a:t>
            </a:r>
            <a:r>
              <a:rPr lang="zh-CN" altLang="en-US" sz="2800" b="1" dirty="0">
                <a:ea typeface="楷体_GB2312" pitchFamily="49" charset="-122"/>
              </a:rPr>
              <a:t>码，此时的</a:t>
            </a:r>
            <a:r>
              <a:rPr lang="en-US" altLang="zh-CN" sz="2800" b="1" dirty="0">
                <a:ea typeface="楷体_GB2312" pitchFamily="49" charset="-122"/>
              </a:rPr>
              <a:t>CRC</a:t>
            </a:r>
            <a:r>
              <a:rPr lang="zh-CN" altLang="en-US" sz="2800" b="1" dirty="0">
                <a:ea typeface="楷体_GB2312" pitchFamily="49" charset="-122"/>
              </a:rPr>
              <a:t>码共有</a:t>
            </a:r>
            <a:r>
              <a:rPr lang="en-US" altLang="zh-CN" sz="2800" b="1" dirty="0">
                <a:ea typeface="楷体_GB2312" pitchFamily="49" charset="-122"/>
              </a:rPr>
              <a:t>N+K</a:t>
            </a:r>
            <a:r>
              <a:rPr lang="zh-CN" altLang="en-US" sz="2800" b="1" dirty="0">
                <a:ea typeface="楷体_GB2312" pitchFamily="49" charset="-122"/>
              </a:rPr>
              <a:t>位。</a:t>
            </a:r>
            <a:endParaRPr lang="zh-CN" altLang="en-US" sz="2800" b="1" dirty="0">
              <a:ea typeface="楷体_GB2312" pitchFamily="49" charset="-122"/>
            </a:endParaRPr>
          </a:p>
        </p:txBody>
      </p:sp>
      <p:graphicFrame>
        <p:nvGraphicFramePr>
          <p:cNvPr id="128004" name="Object 4"/>
          <p:cNvGraphicFramePr>
            <a:graphicFrameLocks noChangeAspect="1"/>
          </p:cNvGraphicFramePr>
          <p:nvPr/>
        </p:nvGraphicFramePr>
        <p:xfrm>
          <a:off x="1649413" y="4419600"/>
          <a:ext cx="1447800" cy="900113"/>
        </p:xfrm>
        <a:graphic>
          <a:graphicData uri="http://schemas.openxmlformats.org/presentationml/2006/ole">
            <mc:AlternateContent xmlns:mc="http://schemas.openxmlformats.org/markup-compatibility/2006">
              <mc:Choice xmlns:v="urn:schemas-microsoft-com:vml" Requires="v">
                <p:oleObj spid="_x0000_s3095" name="" r:id="rId1" imgW="647700" imgH="406400" progId="Equation.3">
                  <p:embed/>
                </p:oleObj>
              </mc:Choice>
              <mc:Fallback>
                <p:oleObj name="" r:id="rId1" imgW="647700" imgH="406400" progId="Equation.3">
                  <p:embed/>
                  <p:pic>
                    <p:nvPicPr>
                      <p:cNvPr id="0" name="图片 3094"/>
                      <p:cNvPicPr/>
                      <p:nvPr/>
                    </p:nvPicPr>
                    <p:blipFill>
                      <a:blip r:embed="rId2"/>
                      <a:stretch>
                        <a:fillRect/>
                      </a:stretch>
                    </p:blipFill>
                    <p:spPr>
                      <a:xfrm>
                        <a:off x="1649413" y="4419600"/>
                        <a:ext cx="1447800" cy="900113"/>
                      </a:xfrm>
                      <a:prstGeom prst="rect">
                        <a:avLst/>
                      </a:prstGeom>
                      <a:noFill/>
                      <a:ln w="38100">
                        <a:noFill/>
                        <a:miter/>
                      </a:ln>
                    </p:spPr>
                  </p:pic>
                </p:oleObj>
              </mc:Fallback>
            </mc:AlternateContent>
          </a:graphicData>
        </a:graphic>
      </p:graphicFrame>
      <p:graphicFrame>
        <p:nvGraphicFramePr>
          <p:cNvPr id="128005" name="Object 6"/>
          <p:cNvGraphicFramePr>
            <a:graphicFrameLocks noChangeAspect="1"/>
          </p:cNvGraphicFramePr>
          <p:nvPr/>
        </p:nvGraphicFramePr>
        <p:xfrm>
          <a:off x="4316413" y="4419600"/>
          <a:ext cx="788987" cy="838200"/>
        </p:xfrm>
        <a:graphic>
          <a:graphicData uri="http://schemas.openxmlformats.org/presentationml/2006/ole">
            <mc:AlternateContent xmlns:mc="http://schemas.openxmlformats.org/markup-compatibility/2006">
              <mc:Choice xmlns:v="urn:schemas-microsoft-com:vml" Requires="v">
                <p:oleObj spid="_x0000_s3094" name="" r:id="rId3" imgW="355600" imgH="381000" progId="Equation.3">
                  <p:embed/>
                </p:oleObj>
              </mc:Choice>
              <mc:Fallback>
                <p:oleObj name="" r:id="rId3" imgW="355600" imgH="381000" progId="Equation.3">
                  <p:embed/>
                  <p:pic>
                    <p:nvPicPr>
                      <p:cNvPr id="0" name="图片 3093"/>
                      <p:cNvPicPr/>
                      <p:nvPr/>
                    </p:nvPicPr>
                    <p:blipFill>
                      <a:blip r:embed="rId4"/>
                      <a:stretch>
                        <a:fillRect/>
                      </a:stretch>
                    </p:blipFill>
                    <p:spPr>
                      <a:xfrm>
                        <a:off x="4316413" y="4419600"/>
                        <a:ext cx="788987" cy="838200"/>
                      </a:xfrm>
                      <a:prstGeom prst="rect">
                        <a:avLst/>
                      </a:prstGeom>
                      <a:noFill/>
                      <a:ln w="38100">
                        <a:noFill/>
                        <a:miter/>
                      </a:ln>
                    </p:spPr>
                  </p:pic>
                </p:oleObj>
              </mc:Fallback>
            </mc:AlternateContent>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5"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29026" name="Rectangle 2"/>
          <p:cNvSpPr>
            <a:spLocks noGrp="1"/>
          </p:cNvSpPr>
          <p:nvPr>
            <p:ph type="title"/>
          </p:nvPr>
        </p:nvSpPr>
        <p:spPr>
          <a:xfrm>
            <a:off x="457200" y="228600"/>
            <a:ext cx="80010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2.循环冗余校验码的校验与纠错</a:t>
            </a:r>
            <a:endParaRPr lang="en-US" altLang="zh-CN" sz="3200" dirty="0">
              <a:solidFill>
                <a:schemeClr val="accent2"/>
              </a:solidFill>
              <a:ea typeface="华文新魏" panose="02010800040101010101" pitchFamily="2" charset="-122"/>
            </a:endParaRPr>
          </a:p>
        </p:txBody>
      </p:sp>
      <p:sp>
        <p:nvSpPr>
          <p:cNvPr id="129027" name="Rectangle 3"/>
          <p:cNvSpPr>
            <a:spLocks noGrp="1"/>
          </p:cNvSpPr>
          <p:nvPr>
            <p:ph idx="1"/>
          </p:nvPr>
        </p:nvSpPr>
        <p:spPr>
          <a:xfrm>
            <a:off x="533400" y="1143000"/>
            <a:ext cx="8001000" cy="5181600"/>
          </a:xfrm>
        </p:spPr>
        <p:txBody>
          <a:bodyPr vert="horz" wrap="square" lIns="91440" tIns="45720" rIns="91440" bIns="45720" anchor="t" anchorCtr="0"/>
          <a:p>
            <a:pPr eaLnBrk="1" hangingPunct="1">
              <a:buNone/>
            </a:pPr>
            <a:r>
              <a:rPr lang="zh-CN" altLang="en-US" b="1" dirty="0">
                <a:ea typeface="楷体_GB2312" pitchFamily="49" charset="-122"/>
              </a:rPr>
              <a:t>            把接收到的</a:t>
            </a:r>
            <a:r>
              <a:rPr lang="en-US" altLang="zh-CN" b="1" dirty="0">
                <a:ea typeface="楷体_GB2312" pitchFamily="49" charset="-122"/>
              </a:rPr>
              <a:t>CRC</a:t>
            </a:r>
            <a:r>
              <a:rPr lang="zh-CN" altLang="en-US" b="1" dirty="0">
                <a:ea typeface="楷体_GB2312" pitchFamily="49" charset="-122"/>
              </a:rPr>
              <a:t>码用约定的生成多项式</a:t>
            </a:r>
            <a:r>
              <a:rPr lang="en-US" altLang="zh-CN" b="1" dirty="0">
                <a:ea typeface="楷体_GB2312" pitchFamily="49" charset="-122"/>
              </a:rPr>
              <a:t>G(X)</a:t>
            </a:r>
            <a:r>
              <a:rPr lang="zh-CN" altLang="en-US" b="1" dirty="0">
                <a:ea typeface="楷体_GB2312" pitchFamily="49" charset="-122"/>
              </a:rPr>
              <a:t>去除，如果正确，则余数为0；如果某一位出错，则余数不为0。不同的位数出错其余数不同，余数和出错位序号之间有唯一的对应关系。</a:t>
            </a:r>
            <a:endParaRPr lang="zh-CN" altLang="en-US" b="1" dirty="0">
              <a:ea typeface="楷体_GB2312" pitchFamily="49"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4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30050" name="Rectangle 2"/>
          <p:cNvSpPr>
            <a:spLocks noGrp="1"/>
          </p:cNvSpPr>
          <p:nvPr>
            <p:ph type="title"/>
          </p:nvPr>
        </p:nvSpPr>
        <p:spPr>
          <a:xfrm>
            <a:off x="457200" y="228600"/>
            <a:ext cx="8001000" cy="1143000"/>
          </a:xfrm>
        </p:spPr>
        <p:txBody>
          <a:bodyPr vert="horz" wrap="square" lIns="91440" tIns="45720" rIns="91440" bIns="45720" anchor="ctr" anchorCtr="0"/>
          <a:p>
            <a:pPr algn="l" eaLnBrk="1" hangingPunct="1"/>
            <a:r>
              <a:rPr lang="zh-CN" altLang="en-US" sz="3200" dirty="0">
                <a:solidFill>
                  <a:schemeClr val="accent2"/>
                </a:solidFill>
                <a:ea typeface="楷体_GB2312" pitchFamily="49" charset="-122"/>
              </a:rPr>
              <a:t>3.生成多项式的选择</a:t>
            </a:r>
            <a:endParaRPr lang="en-US" altLang="zh-CN" sz="3200" dirty="0">
              <a:solidFill>
                <a:schemeClr val="accent2"/>
              </a:solidFill>
              <a:ea typeface="楷体_GB2312" pitchFamily="49" charset="-122"/>
            </a:endParaRPr>
          </a:p>
        </p:txBody>
      </p:sp>
      <p:sp>
        <p:nvSpPr>
          <p:cNvPr id="130051" name="Rectangle 3"/>
          <p:cNvSpPr>
            <a:spLocks noGrp="1"/>
          </p:cNvSpPr>
          <p:nvPr>
            <p:ph idx="1"/>
          </p:nvPr>
        </p:nvSpPr>
        <p:spPr>
          <a:xfrm>
            <a:off x="533400" y="914400"/>
            <a:ext cx="8001000" cy="5943600"/>
          </a:xfrm>
        </p:spPr>
        <p:txBody>
          <a:bodyPr vert="horz" wrap="square" lIns="91440" tIns="45720" rIns="91440" bIns="45720" anchor="t" anchorCtr="0"/>
          <a:p>
            <a:pPr eaLnBrk="1" hangingPunct="1">
              <a:buNone/>
            </a:pPr>
            <a:r>
              <a:rPr lang="zh-CN" altLang="en-US" b="1" dirty="0">
                <a:ea typeface="楷体_GB2312" pitchFamily="49" charset="-122"/>
              </a:rPr>
              <a:t>            生成多项式被用来生成</a:t>
            </a:r>
            <a:r>
              <a:rPr lang="en-US" altLang="zh-CN" b="1" dirty="0">
                <a:ea typeface="楷体_GB2312" pitchFamily="49" charset="-122"/>
              </a:rPr>
              <a:t>CRC</a:t>
            </a:r>
            <a:r>
              <a:rPr lang="zh-CN" altLang="en-US" b="1" dirty="0">
                <a:ea typeface="楷体_GB2312" pitchFamily="49" charset="-122"/>
              </a:rPr>
              <a:t>码，并不是任何一个</a:t>
            </a:r>
            <a:r>
              <a:rPr lang="en-US" altLang="zh-CN" b="1" dirty="0">
                <a:ea typeface="楷体_GB2312" pitchFamily="49" charset="-122"/>
              </a:rPr>
              <a:t>K+1</a:t>
            </a:r>
            <a:r>
              <a:rPr lang="zh-CN" altLang="en-US" b="1" dirty="0">
                <a:ea typeface="楷体_GB2312" pitchFamily="49" charset="-122"/>
              </a:rPr>
              <a:t>位多项式都可以作生成多项式用的，它应满足下列要求：</a:t>
            </a:r>
            <a:endParaRPr lang="zh-CN" altLang="en-US" b="1" dirty="0"/>
          </a:p>
          <a:p>
            <a:pPr eaLnBrk="1" hangingPunct="1">
              <a:lnSpc>
                <a:spcPct val="90000"/>
              </a:lnSpc>
              <a:buNone/>
            </a:pPr>
            <a:r>
              <a:rPr lang="zh-CN" altLang="en-US" b="1" dirty="0">
                <a:ea typeface="楷体_GB2312" pitchFamily="49" charset="-122"/>
              </a:rPr>
              <a:t>            ⑴任何一位发生错误都应使余数不为0。</a:t>
            </a:r>
            <a:endParaRPr lang="zh-CN" altLang="en-US" b="1" dirty="0"/>
          </a:p>
          <a:p>
            <a:pPr eaLnBrk="1" hangingPunct="1">
              <a:lnSpc>
                <a:spcPct val="90000"/>
              </a:lnSpc>
              <a:buNone/>
            </a:pPr>
            <a:r>
              <a:rPr lang="zh-CN" altLang="en-US" b="1" dirty="0">
                <a:ea typeface="楷体_GB2312" pitchFamily="49" charset="-122"/>
              </a:rPr>
              <a:t>            ⑵不同位发生错误应当使余数不同。</a:t>
            </a:r>
            <a:endParaRPr lang="zh-CN" altLang="en-US" b="1" dirty="0"/>
          </a:p>
          <a:p>
            <a:pPr eaLnBrk="1" hangingPunct="1">
              <a:lnSpc>
                <a:spcPct val="90000"/>
              </a:lnSpc>
              <a:buNone/>
            </a:pPr>
            <a:r>
              <a:rPr lang="zh-CN" altLang="en-US" b="1" dirty="0">
                <a:ea typeface="楷体_GB2312" pitchFamily="49" charset="-122"/>
              </a:rPr>
              <a:t>            ⑶对余数作模2除法，应使余数循环。</a:t>
            </a:r>
            <a:endParaRPr lang="zh-CN" altLang="en-US" b="1" dirty="0"/>
          </a:p>
          <a:p>
            <a:pPr eaLnBrk="1" hangingPunct="1">
              <a:lnSpc>
                <a:spcPct val="90000"/>
              </a:lnSpc>
              <a:buNone/>
            </a:pPr>
            <a:r>
              <a:rPr lang="zh-CN" altLang="en-US" b="1" dirty="0">
                <a:ea typeface="楷体_GB2312" pitchFamily="49" charset="-122"/>
              </a:rPr>
              <a:t>           在计算机和通信系统中广泛使用下述两个生成多项式，它们是：</a:t>
            </a:r>
            <a:endParaRPr lang="zh-CN" altLang="en-US" b="1" dirty="0"/>
          </a:p>
          <a:p>
            <a:pPr eaLnBrk="1" hangingPunct="1">
              <a:buNone/>
            </a:pPr>
            <a:r>
              <a:rPr lang="zh-CN" altLang="en-US" b="1" dirty="0">
                <a:ea typeface="楷体_GB2312" pitchFamily="49" charset="-122"/>
              </a:rPr>
              <a:t>            </a:t>
            </a:r>
            <a:r>
              <a:rPr lang="en-US" altLang="zh-CN" b="1" dirty="0">
                <a:ea typeface="楷体_GB2312" pitchFamily="49" charset="-122"/>
              </a:rPr>
              <a:t>G(X)=X</a:t>
            </a:r>
            <a:r>
              <a:rPr lang="en-US" altLang="zh-CN" b="1" baseline="30000" dirty="0">
                <a:ea typeface="楷体_GB2312" pitchFamily="49" charset="-122"/>
              </a:rPr>
              <a:t>16</a:t>
            </a:r>
            <a:r>
              <a:rPr lang="en-US" altLang="zh-CN" b="1" dirty="0">
                <a:ea typeface="楷体_GB2312" pitchFamily="49" charset="-122"/>
              </a:rPr>
              <a:t>+X</a:t>
            </a:r>
            <a:r>
              <a:rPr lang="en-US" altLang="zh-CN" b="1" baseline="30000" dirty="0">
                <a:ea typeface="楷体_GB2312" pitchFamily="49" charset="-122"/>
              </a:rPr>
              <a:t>15</a:t>
            </a:r>
            <a:r>
              <a:rPr lang="en-US" altLang="zh-CN" b="1" dirty="0">
                <a:ea typeface="楷体_GB2312" pitchFamily="49" charset="-122"/>
              </a:rPr>
              <a:t>+X</a:t>
            </a:r>
            <a:r>
              <a:rPr lang="en-US" altLang="zh-CN" b="1" baseline="30000" dirty="0">
                <a:ea typeface="楷体_GB2312" pitchFamily="49" charset="-122"/>
              </a:rPr>
              <a:t>2</a:t>
            </a:r>
            <a:r>
              <a:rPr lang="en-US" altLang="zh-CN" b="1" dirty="0">
                <a:ea typeface="楷体_GB2312" pitchFamily="49" charset="-122"/>
              </a:rPr>
              <a:t>+1</a:t>
            </a:r>
            <a:endParaRPr lang="en-US" altLang="zh-CN" b="1" dirty="0"/>
          </a:p>
          <a:p>
            <a:pPr eaLnBrk="1" hangingPunct="1">
              <a:lnSpc>
                <a:spcPct val="60000"/>
              </a:lnSpc>
              <a:buNone/>
            </a:pPr>
            <a:r>
              <a:rPr lang="en-US" altLang="zh-CN" b="1" dirty="0">
                <a:ea typeface="楷体_GB2312" pitchFamily="49" charset="-122"/>
              </a:rPr>
              <a:t>            G(X)=X</a:t>
            </a:r>
            <a:r>
              <a:rPr lang="en-US" altLang="zh-CN" b="1" baseline="30000" dirty="0">
                <a:ea typeface="楷体_GB2312" pitchFamily="49" charset="-122"/>
              </a:rPr>
              <a:t>16</a:t>
            </a:r>
            <a:r>
              <a:rPr lang="en-US" altLang="zh-CN" b="1" dirty="0">
                <a:ea typeface="楷体_GB2312" pitchFamily="49" charset="-122"/>
              </a:rPr>
              <a:t>+X</a:t>
            </a:r>
            <a:r>
              <a:rPr lang="en-US" altLang="zh-CN" b="1" baseline="30000" dirty="0">
                <a:ea typeface="楷体_GB2312" pitchFamily="49" charset="-122"/>
              </a:rPr>
              <a:t>12</a:t>
            </a:r>
            <a:r>
              <a:rPr lang="en-US" altLang="zh-CN" b="1" dirty="0">
                <a:ea typeface="楷体_GB2312" pitchFamily="49" charset="-122"/>
              </a:rPr>
              <a:t>+X</a:t>
            </a:r>
            <a:r>
              <a:rPr lang="en-US" altLang="zh-CN" b="1" baseline="30000" dirty="0">
                <a:ea typeface="楷体_GB2312" pitchFamily="49" charset="-122"/>
              </a:rPr>
              <a:t>6</a:t>
            </a:r>
            <a:r>
              <a:rPr lang="en-US" altLang="zh-CN" b="1" dirty="0">
                <a:ea typeface="楷体_GB2312" pitchFamily="49" charset="-122"/>
              </a:rPr>
              <a:t>+1</a:t>
            </a:r>
            <a:endParaRPr lang="en-US" altLang="zh-CN" b="1" dirty="0">
              <a:ea typeface="楷体_GB2312" pitchFamily="49" charset="-122"/>
            </a:endParaRPr>
          </a:p>
        </p:txBody>
      </p:sp>
    </p:spTree>
  </p:cSld>
  <p:clrMapOvr>
    <a:masterClrMapping/>
  </p:clrMapOvr>
</p:sld>
</file>

<file path=ppt/tags/tag1.xml><?xml version="1.0" encoding="utf-8"?>
<p:tagLst xmlns:p="http://schemas.openxmlformats.org/presentationml/2006/main">
  <p:tag name="KSO_WM_UNIT_PLACING_PICTURE_USER_VIEWPORT" val="{&quot;height&quot;:6480,&quot;width&quot;:8264}"/>
</p:tagLst>
</file>

<file path=ppt/tags/tag2.xml><?xml version="1.0" encoding="utf-8"?>
<p:tagLst xmlns:p="http://schemas.openxmlformats.org/presentationml/2006/main">
  <p:tag name="KSO_WM_UNIT_PLACING_PICTURE_USER_VIEWPORT" val="{&quot;height&quot;:6480,&quot;width&quot;:11519}"/>
</p:tagLst>
</file>

<file path=ppt/tags/tag3.xml><?xml version="1.0" encoding="utf-8"?>
<p:tagLst xmlns:p="http://schemas.openxmlformats.org/presentationml/2006/main">
  <p:tag name="COMMONDATA" val="eyJoZGlkIjoiNWYxY2QxNDYyMTFmMjc4MmI1MmNmMTE5ZWU5YjEyNDEifQ=="/>
</p:tagLst>
</file>

<file path=ppt/theme/theme1.xml><?xml version="1.0" encoding="utf-8"?>
<a:theme xmlns:a="http://schemas.openxmlformats.org/drawingml/2006/main" name="清华版教材展示">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3300"/>
      </a:hlink>
      <a:folHlink>
        <a:srgbClr val="FFCC00"/>
      </a:folHlink>
    </a:clrScheme>
    <a:fontScheme name="清华版教材展示">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6350" cap="flat" cmpd="sng" algn="ctr">
          <a:solidFill>
            <a:srgbClr val="00FFFF"/>
          </a:solidFill>
          <a:prstDash val="solid"/>
          <a:round/>
          <a:headEnd type="none" w="med" len="med"/>
          <a:tailEnd type="none" w="med" len="med"/>
        </a:ln>
      </a:spPr>
      <a:bodyPr vert="horz" wrap="non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200" b="0" i="0" u="none" strike="noStrike" cap="none" normalizeH="0" baseline="0" smtClean="0">
            <a:ln>
              <a:noFill/>
            </a:ln>
            <a:solidFill>
              <a:schemeClr val="accent2"/>
            </a:solidFill>
            <a:effectLst/>
            <a:latin typeface="Arial" panose="020B0604020202020204" pitchFamily="34" charset="0"/>
            <a:ea typeface="华文行楷" panose="02010800040101010101" pitchFamily="2" charset="-122"/>
          </a:defRPr>
        </a:defPPr>
      </a:lstStyle>
    </a:spDef>
    <a:lnDef>
      <a:spPr bwMode="auto">
        <a:xfrm>
          <a:off x="0" y="0"/>
          <a:ext cx="1" cy="1"/>
        </a:xfrm>
        <a:custGeom>
          <a:avLst/>
          <a:gdLst/>
          <a:ahLst/>
          <a:cxnLst/>
          <a:rect l="0" t="0" r="0" b="0"/>
          <a:pathLst/>
        </a:custGeom>
        <a:solidFill>
          <a:schemeClr val="accent1"/>
        </a:solidFill>
        <a:ln w="6350" cap="flat" cmpd="sng" algn="ctr">
          <a:solidFill>
            <a:srgbClr val="00FFFF"/>
          </a:solidFill>
          <a:prstDash val="solid"/>
          <a:round/>
          <a:headEnd type="none" w="med" len="med"/>
          <a:tailEnd type="none" w="med" len="med"/>
        </a:ln>
      </a:spPr>
      <a:bodyPr vert="horz" wrap="non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200" b="0" i="0" u="none" strike="noStrike" cap="none" normalizeH="0" baseline="0" smtClean="0">
            <a:ln>
              <a:noFill/>
            </a:ln>
            <a:solidFill>
              <a:schemeClr val="accent2"/>
            </a:solidFill>
            <a:effectLst/>
            <a:latin typeface="Arial" panose="020B0604020202020204" pitchFamily="34" charset="0"/>
            <a:ea typeface="华文行楷" panose="02010800040101010101" pitchFamily="2" charset="-122"/>
          </a:defRPr>
        </a:defPPr>
      </a:lstStyle>
    </a:lnDef>
  </a:objectDefaults>
  <a:extraClrSchemeLst>
    <a:extraClrScheme>
      <a:clrScheme name="清华版教材展示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清华版教材展示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清华版教材展示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清华版教材展示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清华版教材展示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清华版教材展示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清华版教材展示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清华版教材展示">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3300"/>
      </a:hlink>
      <a:folHlink>
        <a:srgbClr val="FFCC00"/>
      </a:folHlink>
    </a:clrScheme>
    <a:fontScheme name="清华版教材展示">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6350" cap="flat" cmpd="sng" algn="ctr">
          <a:solidFill>
            <a:srgbClr val="00FFFF"/>
          </a:solidFill>
          <a:prstDash val="solid"/>
          <a:round/>
          <a:headEnd type="none" w="med" len="med"/>
          <a:tailEnd type="none" w="med" len="med"/>
        </a:ln>
      </a:spPr>
      <a:bodyPr vert="horz" wrap="non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200" b="0" i="0" u="none" strike="noStrike" cap="none" normalizeH="0" baseline="0" smtClean="0">
            <a:ln>
              <a:noFill/>
            </a:ln>
            <a:solidFill>
              <a:schemeClr val="accent2"/>
            </a:solidFill>
            <a:effectLst/>
            <a:latin typeface="Arial" panose="020B0604020202020204" pitchFamily="34" charset="0"/>
            <a:ea typeface="华文行楷" panose="02010800040101010101" pitchFamily="2" charset="-122"/>
          </a:defRPr>
        </a:defPPr>
      </a:lstStyle>
    </a:spDef>
    <a:lnDef>
      <a:spPr bwMode="auto">
        <a:xfrm>
          <a:off x="0" y="0"/>
          <a:ext cx="1" cy="1"/>
        </a:xfrm>
        <a:custGeom>
          <a:avLst/>
          <a:gdLst/>
          <a:ahLst/>
          <a:cxnLst/>
          <a:rect l="0" t="0" r="0" b="0"/>
          <a:pathLst/>
        </a:custGeom>
        <a:solidFill>
          <a:schemeClr val="accent1"/>
        </a:solidFill>
        <a:ln w="6350" cap="flat" cmpd="sng" algn="ctr">
          <a:solidFill>
            <a:srgbClr val="00FFFF"/>
          </a:solidFill>
          <a:prstDash val="solid"/>
          <a:round/>
          <a:headEnd type="none" w="med" len="med"/>
          <a:tailEnd type="none" w="med" len="med"/>
        </a:ln>
      </a:spPr>
      <a:bodyPr vert="horz" wrap="non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200" b="0" i="0" u="none" strike="noStrike" cap="none" normalizeH="0" baseline="0" smtClean="0">
            <a:ln>
              <a:noFill/>
            </a:ln>
            <a:solidFill>
              <a:schemeClr val="accent2"/>
            </a:solidFill>
            <a:effectLst/>
            <a:latin typeface="Arial" panose="020B0604020202020204" pitchFamily="34" charset="0"/>
            <a:ea typeface="华文行楷" panose="02010800040101010101" pitchFamily="2" charset="-122"/>
          </a:defRPr>
        </a:defPPr>
      </a:lstStyle>
    </a:lnDef>
  </a:objectDefaults>
  <a:extraClrSchemeLst>
    <a:extraClrScheme>
      <a:clrScheme name="清华版教材展示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清华版教材展示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清华版教材展示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清华版教材展示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清华版教材展示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清华版教材展示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清华版教材展示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清华版教材展示">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3300"/>
      </a:hlink>
      <a:folHlink>
        <a:srgbClr val="FFCC00"/>
      </a:folHlink>
    </a:clrScheme>
    <a:fontScheme name="清华版教材展示">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6350" cap="flat" cmpd="sng" algn="ctr">
          <a:solidFill>
            <a:srgbClr val="00FFFF"/>
          </a:solidFill>
          <a:prstDash val="solid"/>
          <a:round/>
          <a:headEnd type="none" w="med" len="med"/>
          <a:tailEnd type="none" w="med" len="med"/>
        </a:ln>
      </a:spPr>
      <a:bodyPr vert="horz" wrap="non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200" b="0" i="0" u="none" strike="noStrike" cap="none" normalizeH="0" baseline="0" smtClean="0">
            <a:ln>
              <a:noFill/>
            </a:ln>
            <a:solidFill>
              <a:schemeClr val="accent2"/>
            </a:solidFill>
            <a:effectLst/>
            <a:latin typeface="Arial" panose="020B0604020202020204" pitchFamily="34" charset="0"/>
            <a:ea typeface="华文行楷" panose="02010800040101010101" pitchFamily="2" charset="-122"/>
          </a:defRPr>
        </a:defPPr>
      </a:lstStyle>
    </a:spDef>
    <a:lnDef>
      <a:spPr bwMode="auto">
        <a:xfrm>
          <a:off x="0" y="0"/>
          <a:ext cx="1" cy="1"/>
        </a:xfrm>
        <a:custGeom>
          <a:avLst/>
          <a:gdLst/>
          <a:ahLst/>
          <a:cxnLst/>
          <a:rect l="0" t="0" r="0" b="0"/>
          <a:pathLst/>
        </a:custGeom>
        <a:solidFill>
          <a:schemeClr val="accent1"/>
        </a:solidFill>
        <a:ln w="6350" cap="flat" cmpd="sng" algn="ctr">
          <a:solidFill>
            <a:srgbClr val="00FFFF"/>
          </a:solidFill>
          <a:prstDash val="solid"/>
          <a:round/>
          <a:headEnd type="none" w="med" len="med"/>
          <a:tailEnd type="none" w="med" len="med"/>
        </a:ln>
      </a:spPr>
      <a:bodyPr vert="horz" wrap="non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200" b="0" i="0" u="none" strike="noStrike" cap="none" normalizeH="0" baseline="0" smtClean="0">
            <a:ln>
              <a:noFill/>
            </a:ln>
            <a:solidFill>
              <a:schemeClr val="accent2"/>
            </a:solidFill>
            <a:effectLst/>
            <a:latin typeface="Arial" panose="020B0604020202020204" pitchFamily="34" charset="0"/>
            <a:ea typeface="华文行楷" panose="02010800040101010101" pitchFamily="2" charset="-122"/>
          </a:defRPr>
        </a:defPPr>
      </a:lstStyle>
    </a:lnDef>
  </a:objectDefaults>
  <a:extraClrSchemeLst>
    <a:extraClrScheme>
      <a:clrScheme name="清华版教材展示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清华版教材展示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清华版教材展示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清华版教材展示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清华版教材展示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清华版教材展示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清华版教材展示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清华版教材展示">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3300"/>
      </a:hlink>
      <a:folHlink>
        <a:srgbClr val="FFCC00"/>
      </a:folHlink>
    </a:clrScheme>
    <a:fontScheme name="清华版教材展示">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6350" cap="flat" cmpd="sng" algn="ctr">
          <a:solidFill>
            <a:srgbClr val="00FFFF"/>
          </a:solidFill>
          <a:prstDash val="solid"/>
          <a:round/>
          <a:headEnd type="none" w="med" len="med"/>
          <a:tailEnd type="none" w="med" len="med"/>
        </a:ln>
      </a:spPr>
      <a:bodyPr vert="horz" wrap="non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200" b="0" i="0" u="none" strike="noStrike" cap="none" normalizeH="0" baseline="0" smtClean="0">
            <a:ln>
              <a:noFill/>
            </a:ln>
            <a:solidFill>
              <a:schemeClr val="accent2"/>
            </a:solidFill>
            <a:effectLst/>
            <a:latin typeface="Arial" panose="020B0604020202020204" pitchFamily="34" charset="0"/>
            <a:ea typeface="华文行楷" panose="02010800040101010101" pitchFamily="2" charset="-122"/>
          </a:defRPr>
        </a:defPPr>
      </a:lstStyle>
    </a:spDef>
    <a:lnDef>
      <a:spPr bwMode="auto">
        <a:xfrm>
          <a:off x="0" y="0"/>
          <a:ext cx="1" cy="1"/>
        </a:xfrm>
        <a:custGeom>
          <a:avLst/>
          <a:gdLst/>
          <a:ahLst/>
          <a:cxnLst/>
          <a:rect l="0" t="0" r="0" b="0"/>
          <a:pathLst/>
        </a:custGeom>
        <a:solidFill>
          <a:schemeClr val="accent1"/>
        </a:solidFill>
        <a:ln w="6350" cap="flat" cmpd="sng" algn="ctr">
          <a:solidFill>
            <a:srgbClr val="00FFFF"/>
          </a:solidFill>
          <a:prstDash val="solid"/>
          <a:round/>
          <a:headEnd type="none" w="med" len="med"/>
          <a:tailEnd type="none" w="med" len="med"/>
        </a:ln>
      </a:spPr>
      <a:bodyPr vert="horz" wrap="non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200" b="0" i="0" u="none" strike="noStrike" cap="none" normalizeH="0" baseline="0" smtClean="0">
            <a:ln>
              <a:noFill/>
            </a:ln>
            <a:solidFill>
              <a:schemeClr val="accent2"/>
            </a:solidFill>
            <a:effectLst/>
            <a:latin typeface="Arial" panose="020B0604020202020204" pitchFamily="34" charset="0"/>
            <a:ea typeface="华文行楷" panose="02010800040101010101" pitchFamily="2" charset="-122"/>
          </a:defRPr>
        </a:defPPr>
      </a:lstStyle>
    </a:lnDef>
  </a:objectDefaults>
  <a:extraClrSchemeLst>
    <a:extraClrScheme>
      <a:clrScheme name="清华版教材展示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清华版教材展示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清华版教材展示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清华版教材展示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清华版教材展示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清华版教材展示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清华版教材展示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C:\WINDOWS\Application Data\Microsoft\Templates\清华版教材展示.pot</Template>
  <TotalTime>0</TotalTime>
  <Words>19071</Words>
  <Application>WPS 演示</Application>
  <PresentationFormat>全屏显示(4:3)</PresentationFormat>
  <Paragraphs>1380</Paragraphs>
  <Slides>122</Slides>
  <Notes>1</Notes>
  <HiddenSlides>0</HiddenSlides>
  <MMClips>0</MMClips>
  <ScaleCrop>false</ScaleCrop>
  <HeadingPairs>
    <vt:vector size="8" baseType="variant">
      <vt:variant>
        <vt:lpstr>已用的字体</vt:lpstr>
      </vt:variant>
      <vt:variant>
        <vt:i4>11</vt:i4>
      </vt:variant>
      <vt:variant>
        <vt:lpstr>主题</vt:lpstr>
      </vt:variant>
      <vt:variant>
        <vt:i4>4</vt:i4>
      </vt:variant>
      <vt:variant>
        <vt:lpstr>嵌入 OLE 服务器</vt:lpstr>
      </vt:variant>
      <vt:variant>
        <vt:i4>21</vt:i4>
      </vt:variant>
      <vt:variant>
        <vt:lpstr>幻灯片标题</vt:lpstr>
      </vt:variant>
      <vt:variant>
        <vt:i4>122</vt:i4>
      </vt:variant>
    </vt:vector>
  </HeadingPairs>
  <TitlesOfParts>
    <vt:vector size="158" baseType="lpstr">
      <vt:lpstr>Arial</vt:lpstr>
      <vt:lpstr>宋体</vt:lpstr>
      <vt:lpstr>Wingdings</vt:lpstr>
      <vt:lpstr>华文行楷</vt:lpstr>
      <vt:lpstr>Times New Roman</vt:lpstr>
      <vt:lpstr>华文新魏</vt:lpstr>
      <vt:lpstr>楷体_GB2312</vt:lpstr>
      <vt:lpstr>新宋体</vt:lpstr>
      <vt:lpstr>微软雅黑</vt:lpstr>
      <vt:lpstr>Arial Unicode MS</vt:lpstr>
      <vt:lpstr>Symbol</vt:lpstr>
      <vt:lpstr>清华版教材展示</vt:lpstr>
      <vt:lpstr>1_清华版教材展示</vt:lpstr>
      <vt:lpstr>2_清华版教材展示</vt:lpstr>
      <vt:lpstr>3_清华版教材展示</vt:lpstr>
      <vt:lpstr>Word.Document.8</vt:lpstr>
      <vt:lpstr>Equation.3</vt:lpstr>
      <vt:lpstr>Equation.3</vt:lpstr>
      <vt:lpstr>Word.Document.8</vt:lpstr>
      <vt:lpstr>Visio.Drawing.6</vt:lpstr>
      <vt:lpstr>Visio.Drawing.6</vt:lpstr>
      <vt:lpstr>Word.Document.8</vt:lpstr>
      <vt:lpstr>Visio.Drawing.6</vt:lpstr>
      <vt:lpstr>Visio.Drawing.6</vt:lpstr>
      <vt:lpstr>Visio.Drawing.6</vt:lpstr>
      <vt:lpstr>Visio.Drawing.6</vt:lpstr>
      <vt:lpstr>Visio.Drawing.6</vt:lpstr>
      <vt:lpstr>Equation.3</vt:lpstr>
      <vt:lpstr>Equation.3</vt:lpstr>
      <vt:lpstr>Equation.3</vt:lpstr>
      <vt:lpstr>Equation.3</vt:lpstr>
      <vt:lpstr>Equation.3</vt:lpstr>
      <vt:lpstr>Visio.Drawing.6</vt:lpstr>
      <vt:lpstr>Visio.Drawing.6</vt:lpstr>
      <vt:lpstr>Equation.3</vt:lpstr>
      <vt:lpstr>Equation.3</vt:lpstr>
      <vt:lpstr>第2章 数据的机器层次表示</vt:lpstr>
      <vt:lpstr>PowerPoint 演示文稿</vt:lpstr>
      <vt:lpstr>本章学习内容</vt:lpstr>
      <vt:lpstr>本章学习要求</vt:lpstr>
      <vt:lpstr>数据表示</vt:lpstr>
      <vt:lpstr>2.1  数值数据的表示</vt:lpstr>
      <vt:lpstr>数制</vt:lpstr>
      <vt:lpstr>2.1.1 计算机中的数值数据</vt:lpstr>
      <vt:lpstr>计算机为什么应用二进制？</vt:lpstr>
      <vt:lpstr>2.1.2  无符号数和带符号数 </vt:lpstr>
      <vt:lpstr>2.1.2  无符号数和带符号数（续）</vt:lpstr>
      <vt:lpstr>2.1.2  无符号数和带符号数（续）</vt:lpstr>
      <vt:lpstr>数符表示</vt:lpstr>
      <vt:lpstr>PowerPoint 演示文稿</vt:lpstr>
      <vt:lpstr>符号处理</vt:lpstr>
      <vt:lpstr>数据的大小</vt:lpstr>
      <vt:lpstr>二进制与十进制</vt:lpstr>
      <vt:lpstr>PowerPoint 演示文稿</vt:lpstr>
      <vt:lpstr>PowerPoint 演示文稿</vt:lpstr>
      <vt:lpstr>二进制与十进制</vt:lpstr>
      <vt:lpstr>二进制与八进制</vt:lpstr>
      <vt:lpstr>二进制与十六进制</vt:lpstr>
      <vt:lpstr>综合练习</vt:lpstr>
      <vt:lpstr>2.1.3  原码表示法</vt:lpstr>
      <vt:lpstr>2.1.3  原码表示法（续）</vt:lpstr>
      <vt:lpstr>原码</vt:lpstr>
      <vt:lpstr>2.1.4  补码表示法</vt:lpstr>
      <vt:lpstr>时钟正拨和倒拨</vt:lpstr>
      <vt:lpstr>2.补码表示</vt:lpstr>
      <vt:lpstr>补码</vt:lpstr>
      <vt:lpstr>2.补码表示（续）</vt:lpstr>
      <vt:lpstr>3.由真值、原码转换为补码</vt:lpstr>
      <vt:lpstr>2.1.5  反码表示法</vt:lpstr>
      <vt:lpstr>反码</vt:lpstr>
      <vt:lpstr>2.1.5  反码表示法（续）</vt:lpstr>
      <vt:lpstr>反码</vt:lpstr>
      <vt:lpstr>练习</vt:lpstr>
      <vt:lpstr>2.1.6  三种码制的比较与转换</vt:lpstr>
      <vt:lpstr>真值与3种机器数间的对照</vt:lpstr>
      <vt:lpstr>2.转换</vt:lpstr>
      <vt:lpstr>2.2  机器数的定点表示与浮点表示</vt:lpstr>
      <vt:lpstr>2.2.1 定点表示法</vt:lpstr>
      <vt:lpstr>定点小数表示范围</vt:lpstr>
      <vt:lpstr>定点小数表示范围（续）</vt:lpstr>
      <vt:lpstr>定点小数表示范围（续）</vt:lpstr>
      <vt:lpstr>2.定点整数</vt:lpstr>
      <vt:lpstr>定点整数表示范围</vt:lpstr>
      <vt:lpstr>2.2.2  浮点表示法 </vt:lpstr>
      <vt:lpstr>PowerPoint 演示文稿</vt:lpstr>
      <vt:lpstr>浮点数的一般格式</vt:lpstr>
      <vt:lpstr>1.浮点数的表示范围</vt:lpstr>
      <vt:lpstr>1.浮点数的表示范围（续）</vt:lpstr>
      <vt:lpstr>2.规格化浮点数</vt:lpstr>
      <vt:lpstr>2.规格化浮点数（续）</vt:lpstr>
      <vt:lpstr>2.规格化浮点数（续）</vt:lpstr>
      <vt:lpstr>浮点数的典型值      </vt:lpstr>
      <vt:lpstr>2.2.3 浮点数阶码的移码表示法</vt:lpstr>
      <vt:lpstr>偏置值为27的移码、补码和真值之间的关系 </vt:lpstr>
      <vt:lpstr>偏置值为2n的移码的特点</vt:lpstr>
      <vt:lpstr>浮点数的阶码采用移码的原因</vt:lpstr>
      <vt:lpstr>2.2.4 浮点数尾数的基数</vt:lpstr>
      <vt:lpstr>2.2.5  IEEE754标准浮点数</vt:lpstr>
      <vt:lpstr>PowerPoint 演示文稿</vt:lpstr>
      <vt:lpstr>PowerPoint 演示文稿</vt:lpstr>
      <vt:lpstr>PowerPoint 演示文稿</vt:lpstr>
      <vt:lpstr>PowerPoint 演示文稿</vt:lpstr>
      <vt:lpstr>2.2.6  定点、浮点表示法和定点、浮点计算机</vt:lpstr>
      <vt:lpstr>PowerPoint 演示文稿</vt:lpstr>
      <vt:lpstr>PowerPoint 演示文稿</vt:lpstr>
      <vt:lpstr>PowerPoint 演示文稿</vt:lpstr>
      <vt:lpstr>1.定点、浮点表示法的区别（续）</vt:lpstr>
      <vt:lpstr>2.定点机与浮点机</vt:lpstr>
      <vt:lpstr>2.3  非数值数据的表示</vt:lpstr>
      <vt:lpstr>2.3.1 字符和字符串的表示</vt:lpstr>
      <vt:lpstr>ASCII字符编码表</vt:lpstr>
      <vt:lpstr>2.字符串的存放</vt:lpstr>
      <vt:lpstr>字符串的向量存放方案</vt:lpstr>
      <vt:lpstr>2.3.2  汉字的表示</vt:lpstr>
      <vt:lpstr>2.汉字</vt:lpstr>
      <vt:lpstr>2.汉字区位码（续）</vt:lpstr>
      <vt:lpstr>3.汉字机内码 </vt:lpstr>
      <vt:lpstr>4.汉字字形码 </vt:lpstr>
      <vt:lpstr>2.3.3  统一代码</vt:lpstr>
      <vt:lpstr>2.3.3  统一代码（续）</vt:lpstr>
      <vt:lpstr>微机中表示字符的3种方法</vt:lpstr>
      <vt:lpstr>2.4  十进制数和数串的表示</vt:lpstr>
      <vt:lpstr>2.4.1 十进制数的编码</vt:lpstr>
      <vt:lpstr>几种常见的BCD码</vt:lpstr>
      <vt:lpstr>1.8421码</vt:lpstr>
      <vt:lpstr>2.2421码</vt:lpstr>
      <vt:lpstr>3.余3码</vt:lpstr>
      <vt:lpstr>4.格雷码</vt:lpstr>
      <vt:lpstr>2.4.2 十进制数串</vt:lpstr>
      <vt:lpstr>2.压缩的十进制数串</vt:lpstr>
      <vt:lpstr>2.5  不同类型的数据表示举例 </vt:lpstr>
      <vt:lpstr>2.5.1  C语言中的数据表示 </vt:lpstr>
      <vt:lpstr>2.5.2  现代微机系统中的数据表示举例 </vt:lpstr>
      <vt:lpstr>IA-32结构的基本数据类型</vt:lpstr>
      <vt:lpstr>1.无符号整数</vt:lpstr>
      <vt:lpstr>3.浮点数</vt:lpstr>
      <vt:lpstr> 6.BCD数</vt:lpstr>
      <vt:lpstr>练习</vt:lpstr>
      <vt:lpstr>2.6  数据校验码 </vt:lpstr>
      <vt:lpstr>2.6.1 奇偶校验码</vt:lpstr>
      <vt:lpstr>奇偶校验规律</vt:lpstr>
      <vt:lpstr>2.简单奇偶校验</vt:lpstr>
      <vt:lpstr>2.简单奇偶校验（续）</vt:lpstr>
      <vt:lpstr>奇偶校验位的形成及校验电路</vt:lpstr>
      <vt:lpstr>2.简单奇偶校验（续）</vt:lpstr>
      <vt:lpstr>3.交叉奇偶校验</vt:lpstr>
      <vt:lpstr>3.交叉奇偶校验（续）</vt:lpstr>
      <vt:lpstr>2.6.2 汉明校验码 </vt:lpstr>
      <vt:lpstr>2.6.2 汉明校验码（续） </vt:lpstr>
      <vt:lpstr>PowerPoint 演示文稿</vt:lpstr>
      <vt:lpstr>PowerPoint 演示文稿</vt:lpstr>
      <vt:lpstr>2.6.2 汉明校验码（续）</vt:lpstr>
      <vt:lpstr>2.6.2 海明校验码（续）</vt:lpstr>
      <vt:lpstr>2.6.3 循环冗余校验码</vt:lpstr>
      <vt:lpstr>1.循环冗余校验码的编码方法</vt:lpstr>
      <vt:lpstr>1.循环冗余校验码的编码方法（续）</vt:lpstr>
      <vt:lpstr>2.循环冗余校验码的校验与纠错</vt:lpstr>
      <vt:lpstr>3.生成多项式的选择</vt:lpstr>
    </vt:vector>
  </TitlesOfParts>
  <Company>北京理工大学计算机系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数据的机器层次表示</dc:title>
  <dc:creator>蒋本珊</dc:creator>
  <cp:lastModifiedBy>admin</cp:lastModifiedBy>
  <cp:revision>128</cp:revision>
  <dcterms:created xsi:type="dcterms:W3CDTF">2003-05-27T06:14:00Z</dcterms:created>
  <dcterms:modified xsi:type="dcterms:W3CDTF">2022-10-18T00:51:59Z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y fmtid="{D5CDD505-2E9C-101B-9397-08002B2CF9AE}" pid="3" name="ICV">
    <vt:lpwstr>FE36EFF800934A5CA3EEF2A4E4E8BF6C</vt:lpwstr>
  </property>
</Properties>
</file>