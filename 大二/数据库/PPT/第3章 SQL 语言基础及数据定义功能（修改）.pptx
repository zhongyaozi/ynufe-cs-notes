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51"/>
  </p:handoutMasterIdLst>
  <p:sldIdLst>
    <p:sldId id="256" r:id="rId2"/>
    <p:sldId id="257" r:id="rId3"/>
    <p:sldId id="502" r:id="rId4"/>
    <p:sldId id="360" r:id="rId5"/>
    <p:sldId id="258" r:id="rId6"/>
    <p:sldId id="361" r:id="rId7"/>
    <p:sldId id="260" r:id="rId8"/>
    <p:sldId id="365" r:id="rId9"/>
    <p:sldId id="475" r:id="rId10"/>
    <p:sldId id="525" r:id="rId11"/>
    <p:sldId id="476" r:id="rId12"/>
    <p:sldId id="551" r:id="rId13"/>
    <p:sldId id="552" r:id="rId14"/>
    <p:sldId id="480" r:id="rId15"/>
    <p:sldId id="526" r:id="rId16"/>
    <p:sldId id="527" r:id="rId17"/>
    <p:sldId id="528" r:id="rId18"/>
    <p:sldId id="529" r:id="rId19"/>
    <p:sldId id="530" r:id="rId20"/>
    <p:sldId id="531" r:id="rId21"/>
    <p:sldId id="532" r:id="rId22"/>
    <p:sldId id="533" r:id="rId23"/>
    <p:sldId id="534" r:id="rId24"/>
    <p:sldId id="535" r:id="rId25"/>
    <p:sldId id="536" r:id="rId26"/>
    <p:sldId id="537" r:id="rId27"/>
    <p:sldId id="539" r:id="rId28"/>
    <p:sldId id="540" r:id="rId29"/>
    <p:sldId id="541" r:id="rId30"/>
    <p:sldId id="542" r:id="rId31"/>
    <p:sldId id="370" r:id="rId32"/>
    <p:sldId id="543" r:id="rId33"/>
    <p:sldId id="371" r:id="rId34"/>
    <p:sldId id="372" r:id="rId35"/>
    <p:sldId id="544" r:id="rId36"/>
    <p:sldId id="545" r:id="rId37"/>
    <p:sldId id="546" r:id="rId38"/>
    <p:sldId id="547" r:id="rId39"/>
    <p:sldId id="548" r:id="rId40"/>
    <p:sldId id="504" r:id="rId41"/>
    <p:sldId id="506" r:id="rId42"/>
    <p:sldId id="505" r:id="rId43"/>
    <p:sldId id="507" r:id="rId44"/>
    <p:sldId id="508" r:id="rId45"/>
    <p:sldId id="509" r:id="rId46"/>
    <p:sldId id="384" r:id="rId47"/>
    <p:sldId id="549" r:id="rId48"/>
    <p:sldId id="550" r:id="rId49"/>
    <p:sldId id="383" r:id="rId50"/>
  </p:sldIdLst>
  <p:sldSz cx="9144000" cy="6858000" type="screen4x3"/>
  <p:notesSz cx="6858000" cy="9144000"/>
  <p:embeddedFontLst>
    <p:embeddedFont>
      <p:font typeface="Verdana" pitchFamily="34" charset="0"/>
      <p:regular r:id="rId52"/>
      <p:bold r:id="rId53"/>
      <p:italic r:id="rId54"/>
      <p:boldItalic r:id="rId55"/>
    </p:embeddedFont>
    <p:embeddedFont>
      <p:font typeface="等线" pitchFamily="2" charset="-122"/>
      <p:regular r:id="rId56"/>
      <p:bold r:id="rId57"/>
    </p:embeddedFont>
    <p:embeddedFont>
      <p:font typeface="仿宋_GB2312" charset="-122"/>
      <p:regular r:id="rId58"/>
    </p:embeddedFont>
    <p:embeddedFont>
      <p:font typeface="Gulim" charset="-127"/>
      <p:regular r:id="rId59"/>
    </p:embeddedFont>
    <p:embeddedFont>
      <p:font typeface="Calibri" pitchFamily="34" charset="0"/>
      <p:regular r:id="rId60"/>
      <p:bold r:id="rId61"/>
      <p:italic r:id="rId62"/>
      <p:boldItalic r:id="rId63"/>
    </p:embeddedFont>
    <p:embeddedFont>
      <p:font typeface="黑体" pitchFamily="49" charset="-122"/>
      <p:regular r:id="rId64"/>
    </p:embeddedFont>
  </p:embeddedFontLst>
  <p:defaultTextStyle>
    <a:defPPr>
      <a:defRPr lang="ko-KR"/>
    </a:defPPr>
    <a:lvl1pPr marL="0" lvl="0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1pPr>
    <a:lvl2pPr marL="457200" lvl="1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2pPr>
    <a:lvl3pPr marL="914400" lvl="2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3pPr>
    <a:lvl4pPr marL="1371600" lvl="3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4pPr>
    <a:lvl5pPr marL="1828800" lvl="4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5pPr>
    <a:lvl6pPr marL="2286000" lvl="5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6pPr>
    <a:lvl7pPr marL="2743200" lvl="6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7pPr>
    <a:lvl8pPr marL="3200400" lvl="7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8pPr>
    <a:lvl9pPr marL="3657600" lvl="8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D60093"/>
    <a:srgbClr val="000000"/>
    <a:srgbClr val="FF66CC"/>
    <a:srgbClr val="00CC00"/>
    <a:srgbClr val="00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32"/>
    <p:restoredTop sz="94603"/>
  </p:normalViewPr>
  <p:slideViewPr>
    <p:cSldViewPr showGuides="1">
      <p:cViewPr>
        <p:scale>
          <a:sx n="80" d="100"/>
          <a:sy n="80" d="100"/>
        </p:scale>
        <p:origin x="-2466" y="-744"/>
      </p:cViewPr>
      <p:guideLst>
        <p:guide orient="horz" pos="2160"/>
        <p:guide pos="29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63" Type="http://schemas.openxmlformats.org/officeDocument/2006/relationships/font" Target="fonts/font12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61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79A812D-3E61-410D-867B-9015FB4E1ED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anose="020B0600000101010101" pitchFamily="34" charset="-127"/>
                <a:cs typeface="+mn-cs"/>
              </a:rPr>
              <a:t>2023/10/8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eaLnBrk="1" hangingPunct="1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44393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"/>
          <p:cNvSpPr/>
          <p:nvPr/>
        </p:nvSpPr>
        <p:spPr bwMode="gray">
          <a:xfrm>
            <a:off x="0" y="3810000"/>
            <a:ext cx="9144000" cy="3048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920"/>
              </a:cxn>
              <a:cxn ang="0">
                <a:pos x="5760" y="1920"/>
              </a:cxn>
              <a:cxn ang="0">
                <a:pos x="5760" y="0"/>
              </a:cxn>
              <a:cxn ang="0">
                <a:pos x="0" y="0"/>
              </a:cxn>
            </a:cxnLst>
            <a:rect l="0" t="0" r="r" b="b"/>
            <a:pathLst>
              <a:path w="5760" h="1920">
                <a:moveTo>
                  <a:pt x="0" y="0"/>
                </a:moveTo>
                <a:lnTo>
                  <a:pt x="0" y="1920"/>
                </a:lnTo>
                <a:lnTo>
                  <a:pt x="5760" y="1920"/>
                </a:lnTo>
                <a:lnTo>
                  <a:pt x="57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gray">
          <a:xfrm>
            <a:off x="0" y="3429000"/>
            <a:ext cx="5045075" cy="390525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11" name="Freeform 4"/>
          <p:cNvSpPr/>
          <p:nvPr/>
        </p:nvSpPr>
        <p:spPr bwMode="gray">
          <a:xfrm>
            <a:off x="5043488" y="3429000"/>
            <a:ext cx="2195513" cy="3905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41" y="0"/>
              </a:cxn>
              <a:cxn ang="0">
                <a:pos x="1159" y="246"/>
              </a:cxn>
              <a:cxn ang="0">
                <a:pos x="0" y="246"/>
              </a:cxn>
              <a:cxn ang="0">
                <a:pos x="0" y="0"/>
              </a:cxn>
            </a:cxnLst>
            <a:rect l="0" t="0" r="r" b="b"/>
            <a:pathLst>
              <a:path w="1341" h="246">
                <a:moveTo>
                  <a:pt x="0" y="0"/>
                </a:moveTo>
                <a:lnTo>
                  <a:pt x="1341" y="0"/>
                </a:lnTo>
                <a:lnTo>
                  <a:pt x="1159" y="246"/>
                </a:lnTo>
                <a:lnTo>
                  <a:pt x="0" y="2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12" name="Freeform 9"/>
          <p:cNvSpPr/>
          <p:nvPr/>
        </p:nvSpPr>
        <p:spPr bwMode="gray">
          <a:xfrm>
            <a:off x="6862763" y="3429000"/>
            <a:ext cx="2281238" cy="390525"/>
          </a:xfrm>
          <a:custGeom>
            <a:avLst/>
            <a:gdLst/>
            <a:ahLst/>
            <a:cxnLst>
              <a:cxn ang="0">
                <a:pos x="189" y="0"/>
              </a:cxn>
              <a:cxn ang="0">
                <a:pos x="0" y="243"/>
              </a:cxn>
              <a:cxn ang="0">
                <a:pos x="1437" y="246"/>
              </a:cxn>
              <a:cxn ang="0">
                <a:pos x="1436" y="0"/>
              </a:cxn>
              <a:cxn ang="0">
                <a:pos x="189" y="0"/>
              </a:cxn>
            </a:cxnLst>
            <a:rect l="0" t="0" r="r" b="b"/>
            <a:pathLst>
              <a:path w="1437" h="246">
                <a:moveTo>
                  <a:pt x="189" y="0"/>
                </a:moveTo>
                <a:lnTo>
                  <a:pt x="0" y="243"/>
                </a:lnTo>
                <a:lnTo>
                  <a:pt x="1437" y="246"/>
                </a:lnTo>
                <a:lnTo>
                  <a:pt x="1436" y="0"/>
                </a:lnTo>
                <a:lnTo>
                  <a:pt x="189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13" name="Freeform 10" descr="2"/>
          <p:cNvSpPr/>
          <p:nvPr/>
        </p:nvSpPr>
        <p:spPr bwMode="gray">
          <a:xfrm>
            <a:off x="0" y="3810000"/>
            <a:ext cx="6865938" cy="1447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337" y="2"/>
              </a:cxn>
              <a:cxn ang="0">
                <a:pos x="3658" y="906"/>
              </a:cxn>
              <a:cxn ang="0">
                <a:pos x="0" y="912"/>
              </a:cxn>
              <a:cxn ang="0">
                <a:pos x="0" y="0"/>
              </a:cxn>
            </a:cxnLst>
            <a:rect l="0" t="0" r="r" b="b"/>
            <a:pathLst>
              <a:path w="4337" h="912">
                <a:moveTo>
                  <a:pt x="0" y="0"/>
                </a:moveTo>
                <a:lnTo>
                  <a:pt x="4337" y="2"/>
                </a:lnTo>
                <a:lnTo>
                  <a:pt x="3658" y="906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14" name="Freeform 11"/>
          <p:cNvSpPr/>
          <p:nvPr/>
        </p:nvSpPr>
        <p:spPr bwMode="gray">
          <a:xfrm>
            <a:off x="7162800" y="762000"/>
            <a:ext cx="1981200" cy="2667000"/>
          </a:xfrm>
          <a:custGeom>
            <a:avLst/>
            <a:gdLst/>
            <a:ahLst/>
            <a:cxnLst>
              <a:cxn ang="0">
                <a:pos x="0" y="1680"/>
              </a:cxn>
              <a:cxn ang="0">
                <a:pos x="1248" y="0"/>
              </a:cxn>
              <a:cxn ang="0">
                <a:pos x="1248" y="1680"/>
              </a:cxn>
              <a:cxn ang="0">
                <a:pos x="0" y="1680"/>
              </a:cxn>
            </a:cxnLst>
            <a:rect l="0" t="0" r="r" b="b"/>
            <a:pathLst>
              <a:path w="1248" h="1680">
                <a:moveTo>
                  <a:pt x="0" y="1680"/>
                </a:moveTo>
                <a:lnTo>
                  <a:pt x="1248" y="0"/>
                </a:lnTo>
                <a:lnTo>
                  <a:pt x="1248" y="1680"/>
                </a:lnTo>
                <a:lnTo>
                  <a:pt x="0" y="168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gray">
          <a:xfrm>
            <a:off x="4724400" y="3429000"/>
            <a:ext cx="914400" cy="381000"/>
          </a:xfrm>
          <a:prstGeom prst="parallelogram">
            <a:avLst>
              <a:gd name="adj" fmla="val 77089"/>
            </a:avLst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57139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5791200"/>
            <a:ext cx="46482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71405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190500" y="2590800"/>
            <a:ext cx="7124700" cy="762000"/>
          </a:xfrm>
        </p:spPr>
        <p:txBody>
          <a:bodyPr/>
          <a:lstStyle>
            <a:lvl1pPr>
              <a:defRPr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5976938" y="6594475"/>
            <a:ext cx="28956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000" smtClean="0">
                <a:solidFill>
                  <a:schemeClr val="bg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465513" y="6613525"/>
            <a:ext cx="21336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ctr">
              <a:buNone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‹#›</a:t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8" name="Rectangle 8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274638" y="6605588"/>
            <a:ext cx="21336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>
              <a:defRPr sz="1000" smtClean="0">
                <a:solidFill>
                  <a:schemeClr val="bg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8190" y="152400"/>
            <a:ext cx="7762900" cy="685800"/>
          </a:xfrm>
        </p:spPr>
        <p:txBody>
          <a:bodyPr/>
          <a:lstStyle>
            <a:lvl1pPr algn="ctr">
              <a:defRPr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400"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  <a:lvl2pPr>
              <a:defRPr sz="3200"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2pPr>
            <a:lvl3pPr>
              <a:defRPr sz="3000"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3pPr>
            <a:lvl4pPr>
              <a:defRPr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4pPr>
            <a:lvl5pPr>
              <a:defRPr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152400"/>
            <a:ext cx="2076450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076950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6781800" cy="685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295400"/>
            <a:ext cx="8229600" cy="4876800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Freeform 2"/>
          <p:cNvSpPr/>
          <p:nvPr/>
        </p:nvSpPr>
        <p:spPr bwMode="gray">
          <a:xfrm>
            <a:off x="0" y="5638800"/>
            <a:ext cx="9144000" cy="1219200"/>
          </a:xfrm>
          <a:custGeom>
            <a:avLst/>
            <a:gdLst/>
            <a:ahLst/>
            <a:cxnLst>
              <a:cxn ang="0">
                <a:pos x="0" y="512"/>
              </a:cxn>
              <a:cxn ang="0">
                <a:pos x="5120" y="512"/>
              </a:cxn>
              <a:cxn ang="0">
                <a:pos x="5760" y="0"/>
              </a:cxn>
              <a:cxn ang="0">
                <a:pos x="5760" y="768"/>
              </a:cxn>
              <a:cxn ang="0">
                <a:pos x="0" y="768"/>
              </a:cxn>
              <a:cxn ang="0">
                <a:pos x="0" y="512"/>
              </a:cxn>
            </a:cxnLst>
            <a:rect l="0" t="0" r="r" b="b"/>
            <a:pathLst>
              <a:path w="5760" h="768">
                <a:moveTo>
                  <a:pt x="0" y="512"/>
                </a:moveTo>
                <a:lnTo>
                  <a:pt x="5120" y="512"/>
                </a:lnTo>
                <a:lnTo>
                  <a:pt x="5760" y="0"/>
                </a:lnTo>
                <a:lnTo>
                  <a:pt x="5760" y="768"/>
                </a:lnTo>
                <a:lnTo>
                  <a:pt x="0" y="768"/>
                </a:lnTo>
                <a:lnTo>
                  <a:pt x="0" y="51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570371" name="Freeform 3"/>
          <p:cNvSpPr/>
          <p:nvPr/>
        </p:nvSpPr>
        <p:spPr bwMode="gray">
          <a:xfrm>
            <a:off x="-3175" y="-3175"/>
            <a:ext cx="9147175" cy="11334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790" y="0"/>
              </a:cxn>
              <a:cxn ang="0">
                <a:pos x="3790" y="232"/>
              </a:cxn>
              <a:cxn ang="0">
                <a:pos x="3380" y="712"/>
              </a:cxn>
              <a:cxn ang="0">
                <a:pos x="2" y="714"/>
              </a:cxn>
              <a:cxn ang="0">
                <a:pos x="0" y="0"/>
              </a:cxn>
            </a:cxnLst>
            <a:rect l="0" t="0" r="r" b="b"/>
            <a:pathLst>
              <a:path w="3790" h="714">
                <a:moveTo>
                  <a:pt x="0" y="0"/>
                </a:moveTo>
                <a:lnTo>
                  <a:pt x="3790" y="0"/>
                </a:lnTo>
                <a:lnTo>
                  <a:pt x="3790" y="232"/>
                </a:lnTo>
                <a:lnTo>
                  <a:pt x="3380" y="712"/>
                </a:lnTo>
                <a:lnTo>
                  <a:pt x="2" y="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570372" name="Rectangle 4"/>
          <p:cNvSpPr>
            <a:spLocks noChangeArrowheads="1"/>
          </p:cNvSpPr>
          <p:nvPr/>
        </p:nvSpPr>
        <p:spPr bwMode="gray">
          <a:xfrm>
            <a:off x="0" y="882650"/>
            <a:ext cx="7721600" cy="26035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2053" name="Rectangle 5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70374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810000" y="6483350"/>
            <a:ext cx="18288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  <p:sp>
        <p:nvSpPr>
          <p:cNvPr id="2055" name="Rectangle 7"/>
          <p:cNvSpPr>
            <a:spLocks noGrp="1"/>
          </p:cNvSpPr>
          <p:nvPr>
            <p:ph type="title"/>
          </p:nvPr>
        </p:nvSpPr>
        <p:spPr>
          <a:xfrm>
            <a:off x="381000" y="152400"/>
            <a:ext cx="67818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570376" name="Freeform 8"/>
          <p:cNvSpPr/>
          <p:nvPr/>
        </p:nvSpPr>
        <p:spPr bwMode="gray">
          <a:xfrm>
            <a:off x="6215063" y="881063"/>
            <a:ext cx="2260600" cy="261938"/>
          </a:xfrm>
          <a:custGeom>
            <a:avLst/>
            <a:gdLst/>
            <a:ahLst/>
            <a:cxnLst>
              <a:cxn ang="0">
                <a:pos x="0" y="165"/>
              </a:cxn>
              <a:cxn ang="0">
                <a:pos x="1221" y="164"/>
              </a:cxn>
              <a:cxn ang="0">
                <a:pos x="1424" y="0"/>
              </a:cxn>
              <a:cxn ang="0">
                <a:pos x="189" y="0"/>
              </a:cxn>
              <a:cxn ang="0">
                <a:pos x="0" y="165"/>
              </a:cxn>
            </a:cxnLst>
            <a:rect l="0" t="0" r="r" b="b"/>
            <a:pathLst>
              <a:path w="1424" h="165">
                <a:moveTo>
                  <a:pt x="0" y="165"/>
                </a:moveTo>
                <a:lnTo>
                  <a:pt x="1221" y="164"/>
                </a:lnTo>
                <a:lnTo>
                  <a:pt x="1424" y="0"/>
                </a:lnTo>
                <a:lnTo>
                  <a:pt x="189" y="0"/>
                </a:lnTo>
                <a:lnTo>
                  <a:pt x="0" y="165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v"/>
        <a:defRPr sz="3200" b="1">
          <a:solidFill>
            <a:schemeClr val="tx2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 b="1">
          <a:solidFill>
            <a:schemeClr val="tx2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400" b="1">
          <a:solidFill>
            <a:schemeClr val="tx2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2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2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Arial" panose="020B0604020202020204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Arial" panose="020B0604020202020204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Arial" panose="020B0604020202020204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ctrTitle"/>
          </p:nvPr>
        </p:nvSpPr>
        <p:spPr>
          <a:xfrm>
            <a:off x="827088" y="1428750"/>
            <a:ext cx="7345362" cy="1682750"/>
          </a:xfrm>
          <a:ln/>
        </p:spPr>
        <p:txBody>
          <a:bodyPr vert="horz" wrap="square" lIns="91440" tIns="45720" rIns="91440" bIns="45720" anchor="ctr" anchorCtr="0"/>
          <a:lstStyle/>
          <a:p>
            <a:pPr algn="ctr" eaLnBrk="1" hangingPunct="1">
              <a:buClrTx/>
              <a:buSzTx/>
              <a:buFontTx/>
            </a:pPr>
            <a:r>
              <a:rPr lang="zh-CN" altLang="en-US" sz="5400" dirty="0"/>
              <a:t>数据库原理与应用</a:t>
            </a:r>
            <a:r>
              <a:rPr lang="en-US" altLang="zh-CN" sz="5400" dirty="0"/>
              <a:t/>
            </a:r>
            <a:br>
              <a:rPr lang="en-US" altLang="zh-CN" sz="5400" dirty="0"/>
            </a:br>
            <a:r>
              <a:rPr lang="zh-CN" altLang="en-US" sz="5400" dirty="0"/>
              <a:t>（第</a:t>
            </a:r>
            <a:r>
              <a:rPr lang="en-US" altLang="zh-CN" sz="5400" dirty="0"/>
              <a:t>3</a:t>
            </a:r>
            <a:r>
              <a:rPr lang="zh-CN" altLang="en-US" sz="5400" dirty="0"/>
              <a:t>版）</a:t>
            </a:r>
          </a:p>
        </p:txBody>
      </p:sp>
      <p:sp>
        <p:nvSpPr>
          <p:cNvPr id="4099" name="Rectangle 6"/>
          <p:cNvSpPr>
            <a:spLocks noGrp="1"/>
          </p:cNvSpPr>
          <p:nvPr>
            <p:ph type="subTitle" idx="1"/>
          </p:nvPr>
        </p:nvSpPr>
        <p:spPr>
          <a:xfrm>
            <a:off x="2268538" y="5661025"/>
            <a:ext cx="4824412" cy="576263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SzTx/>
            </a:pPr>
            <a:r>
              <a:rPr lang="zh-CN" altLang="en-US" sz="3200" dirty="0">
                <a:latin typeface="宋体" pitchFamily="2" charset="-122"/>
                <a:cs typeface="+mn-cs"/>
              </a:rPr>
              <a:t>人民邮电出版社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273050" y="152400"/>
            <a:ext cx="8260080" cy="685800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第</a:t>
            </a: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3</a:t>
            </a: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章 </a:t>
            </a:r>
            <a:r>
              <a:rPr lang="en-US" altLang="zh-CN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SQL</a:t>
            </a: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语言基础及数据定义功能 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1403648" y="1844824"/>
            <a:ext cx="6347866" cy="324036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800"/>
              </a:spcBef>
            </a:pPr>
            <a:r>
              <a:rPr lang="en-US" altLang="zh-CN" sz="3600" dirty="0"/>
              <a:t>3.1 SQL</a:t>
            </a:r>
            <a:r>
              <a:rPr lang="zh-CN" altLang="en-US" sz="3600" dirty="0"/>
              <a:t>语言概述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zh-CN" sz="3600" dirty="0"/>
              <a:t>3.2 </a:t>
            </a:r>
            <a:r>
              <a:rPr lang="zh-CN" altLang="en-US" sz="3600" dirty="0"/>
              <a:t>数据类型 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zh-CN" sz="3600" dirty="0"/>
              <a:t>3.3 </a:t>
            </a:r>
            <a:r>
              <a:rPr lang="zh-CN" altLang="en-US" sz="3600" dirty="0"/>
              <a:t>创建数据库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zh-CN" sz="3600" dirty="0"/>
              <a:t>3.4 </a:t>
            </a:r>
            <a:r>
              <a:rPr lang="zh-CN" altLang="en-US" sz="3600" dirty="0"/>
              <a:t>创建与维护关系表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概述</a:t>
            </a: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457200" y="1295400"/>
            <a:ext cx="8143875" cy="4876800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lvl="0" algn="just" eaLnBrk="1" hangingPunct="1">
              <a:spcBef>
                <a:spcPts val="3000"/>
              </a:spcBef>
              <a:buSzTx/>
            </a:pPr>
            <a:r>
              <a:rPr lang="en-US" altLang="zh-CN" dirty="0">
                <a:sym typeface="+mn-ea"/>
              </a:rPr>
              <a:t>SQL（Structured Query Language）是用户操作关系数据库的通用语言。</a:t>
            </a:r>
          </a:p>
          <a:p>
            <a:pPr lvl="0" algn="just" eaLnBrk="1" hangingPunct="1">
              <a:spcBef>
                <a:spcPts val="3000"/>
              </a:spcBef>
              <a:buSzTx/>
            </a:pPr>
            <a:r>
              <a:rPr lang="en-US" altLang="zh-CN" dirty="0">
                <a:sym typeface="+mn-ea"/>
              </a:rPr>
              <a:t>包含数据定义、数据查询、数据操作和数据控制等与数据库有关的全部功能。</a:t>
            </a:r>
          </a:p>
          <a:p>
            <a:pPr lvl="0" algn="just" eaLnBrk="1" hangingPunct="1">
              <a:spcBef>
                <a:spcPts val="3000"/>
              </a:spcBef>
              <a:buSzTx/>
            </a:pPr>
            <a:r>
              <a:rPr lang="en-US" altLang="zh-CN" dirty="0" err="1" smtClean="0">
                <a:sym typeface="+mn-ea"/>
              </a:rPr>
              <a:t>关系数据库的标准语言</a:t>
            </a:r>
            <a:r>
              <a:rPr lang="en-US" altLang="zh-CN" dirty="0" smtClean="0">
                <a:sym typeface="+mn-ea"/>
              </a:rPr>
              <a:t>--</a:t>
            </a:r>
            <a:r>
              <a:rPr lang="en-US" altLang="zh-CN" dirty="0" err="1" smtClean="0">
                <a:sym typeface="+mn-ea"/>
              </a:rPr>
              <a:t>所有的关系数据库管理系统都支持</a:t>
            </a:r>
            <a:r>
              <a:rPr lang="en-US" altLang="zh-CN" dirty="0" err="1">
                <a:sym typeface="+mn-ea"/>
              </a:rPr>
              <a:t>SQL</a:t>
            </a:r>
            <a:r>
              <a:rPr lang="en-US" altLang="zh-CN" dirty="0">
                <a:sym typeface="+mn-ea"/>
              </a:rPr>
              <a:t>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7935913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3.1 SQL语言概述 </a:t>
            </a:r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xfrm>
            <a:off x="1259632" y="1628800"/>
            <a:ext cx="6193060" cy="2613025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dirty="0">
                <a:sym typeface="+mn-ea"/>
              </a:rPr>
              <a:t>3.1.1 SQL语言的发展 </a:t>
            </a:r>
          </a:p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dirty="0">
                <a:sym typeface="+mn-ea"/>
              </a:rPr>
              <a:t>3.1.2 SQL语言的特点</a:t>
            </a:r>
          </a:p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dirty="0">
                <a:sym typeface="+mn-ea"/>
              </a:rPr>
              <a:t>3.1.3 SQL语言功能概述 </a:t>
            </a:r>
          </a:p>
        </p:txBody>
      </p:sp>
      <p:pic>
        <p:nvPicPr>
          <p:cNvPr id="7172" name="Picture 5" descr="j01577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488" y="4508500"/>
            <a:ext cx="1724025" cy="173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800735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3.1.1 SQL语言的发展</a:t>
            </a:r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251520" y="1340768"/>
            <a:ext cx="8784976" cy="5052060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sz="3200" dirty="0">
                <a:sym typeface="+mn-ea"/>
              </a:rPr>
              <a:t>1986年10月美国ANSI公布最早的SQL标准。 </a:t>
            </a:r>
          </a:p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sz="3200" dirty="0">
                <a:sym typeface="+mn-ea"/>
              </a:rPr>
              <a:t>1989年4月，ISO提出了具备完整性特征的SQL，称为SQL-89（SQL1)。</a:t>
            </a:r>
          </a:p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sz="3200" dirty="0">
                <a:sym typeface="+mn-ea"/>
              </a:rPr>
              <a:t>1992年11月，ISO又公布了新的SQL标准，称为SQL-92（SQL2) （以上均为关系形式）。</a:t>
            </a:r>
          </a:p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sz="3200" dirty="0">
                <a:sym typeface="+mn-ea"/>
              </a:rPr>
              <a:t>1999年颁布SQL-99（SQL3)，是SQL92的扩展。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8078788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3.1.2 SQL语言的特点</a:t>
            </a:r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1835696" y="1556792"/>
            <a:ext cx="5688682" cy="3956050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dirty="0">
                <a:sym typeface="+mn-ea"/>
              </a:rPr>
              <a:t>1. 一体化</a:t>
            </a:r>
          </a:p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dirty="0">
                <a:sym typeface="+mn-ea"/>
              </a:rPr>
              <a:t>2. 高度非过程化</a:t>
            </a:r>
          </a:p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dirty="0">
                <a:sym typeface="+mn-ea"/>
              </a:rPr>
              <a:t>3. 简洁</a:t>
            </a:r>
          </a:p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dirty="0">
                <a:sym typeface="+mn-ea"/>
              </a:rPr>
              <a:t>4. 使用方式多样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800735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3.1.3 SQL语言功能概述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1042988" y="2492375"/>
            <a:ext cx="7200900" cy="3744913"/>
            <a:chOff x="-3" y="-3"/>
            <a:chExt cx="1719" cy="1876"/>
          </a:xfrm>
        </p:grpSpPr>
        <p:grpSp>
          <p:nvGrpSpPr>
            <p:cNvPr id="10245" name="Group 6"/>
            <p:cNvGrpSpPr/>
            <p:nvPr/>
          </p:nvGrpSpPr>
          <p:grpSpPr>
            <a:xfrm>
              <a:off x="0" y="0"/>
              <a:ext cx="1713" cy="1870"/>
              <a:chOff x="0" y="0"/>
              <a:chExt cx="1713" cy="1870"/>
            </a:xfrm>
          </p:grpSpPr>
          <p:grpSp>
            <p:nvGrpSpPr>
              <p:cNvPr id="10247" name="Group 7"/>
              <p:cNvGrpSpPr/>
              <p:nvPr/>
            </p:nvGrpSpPr>
            <p:grpSpPr>
              <a:xfrm>
                <a:off x="0" y="0"/>
                <a:ext cx="539" cy="374"/>
                <a:chOff x="0" y="0"/>
                <a:chExt cx="539" cy="374"/>
              </a:xfrm>
            </p:grpSpPr>
            <p:sp>
              <p:nvSpPr>
                <p:cNvPr id="10275" name="Rectangle 8"/>
                <p:cNvSpPr/>
                <p:nvPr/>
              </p:nvSpPr>
              <p:spPr>
                <a:xfrm>
                  <a:off x="43" y="0"/>
                  <a:ext cx="453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/>
                <a:p>
                  <a:pPr algn="ctr"/>
                  <a:r>
                    <a:rPr lang="en-US" altLang="zh-CN" sz="3200" b="1" dirty="0">
                      <a:solidFill>
                        <a:srgbClr val="D60093"/>
                      </a:solidFill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SQL</a:t>
                  </a:r>
                  <a:r>
                    <a:rPr lang="zh-CN" altLang="en-US" sz="3200" b="1" dirty="0">
                      <a:solidFill>
                        <a:srgbClr val="D60093"/>
                      </a:solidFill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功能</a:t>
                  </a:r>
                  <a:endParaRPr lang="zh-CN" altLang="en-US" sz="2400" b="1" dirty="0">
                    <a:solidFill>
                      <a:srgbClr val="D60093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276" name="Rectangle 9"/>
                <p:cNvSpPr/>
                <p:nvPr/>
              </p:nvSpPr>
              <p:spPr>
                <a:xfrm>
                  <a:off x="0" y="0"/>
                  <a:ext cx="539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0248" name="Group 10"/>
              <p:cNvGrpSpPr/>
              <p:nvPr/>
            </p:nvGrpSpPr>
            <p:grpSpPr>
              <a:xfrm>
                <a:off x="539" y="0"/>
                <a:ext cx="1174" cy="374"/>
                <a:chOff x="539" y="0"/>
                <a:chExt cx="1174" cy="374"/>
              </a:xfrm>
            </p:grpSpPr>
            <p:sp>
              <p:nvSpPr>
                <p:cNvPr id="10273" name="Rectangle 11"/>
                <p:cNvSpPr/>
                <p:nvPr/>
              </p:nvSpPr>
              <p:spPr>
                <a:xfrm>
                  <a:off x="582" y="0"/>
                  <a:ext cx="1088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/>
                <a:p>
                  <a:pPr algn="ctr"/>
                  <a:r>
                    <a:rPr lang="zh-CN" altLang="en-US" sz="3200" b="1" dirty="0">
                      <a:solidFill>
                        <a:srgbClr val="D60093"/>
                      </a:solidFill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命令动词</a:t>
                  </a:r>
                  <a:endParaRPr lang="zh-CN" altLang="en-US" sz="2400" b="1" dirty="0">
                    <a:solidFill>
                      <a:srgbClr val="D60093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274" name="Rectangle 12"/>
                <p:cNvSpPr/>
                <p:nvPr/>
              </p:nvSpPr>
              <p:spPr>
                <a:xfrm>
                  <a:off x="539" y="0"/>
                  <a:ext cx="1174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0249" name="Group 13"/>
              <p:cNvGrpSpPr/>
              <p:nvPr/>
            </p:nvGrpSpPr>
            <p:grpSpPr>
              <a:xfrm>
                <a:off x="0" y="374"/>
                <a:ext cx="539" cy="374"/>
                <a:chOff x="0" y="374"/>
                <a:chExt cx="539" cy="374"/>
              </a:xfrm>
            </p:grpSpPr>
            <p:sp>
              <p:nvSpPr>
                <p:cNvPr id="10271" name="Rectangle 14"/>
                <p:cNvSpPr/>
                <p:nvPr/>
              </p:nvSpPr>
              <p:spPr>
                <a:xfrm>
                  <a:off x="43" y="374"/>
                  <a:ext cx="453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/>
                <a:p>
                  <a:pPr algn="ctr"/>
                  <a:r>
                    <a:rPr lang="zh-CN" altLang="en-US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数据查询</a:t>
                  </a:r>
                </a:p>
                <a:p>
                  <a:pPr algn="ctr" eaLnBrk="0" hangingPunct="0"/>
                  <a:endParaRPr lang="zh-CN" altLang="en-US" sz="2400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272" name="Rectangle 15"/>
                <p:cNvSpPr/>
                <p:nvPr/>
              </p:nvSpPr>
              <p:spPr>
                <a:xfrm>
                  <a:off x="0" y="374"/>
                  <a:ext cx="539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0250" name="Group 16"/>
              <p:cNvGrpSpPr/>
              <p:nvPr/>
            </p:nvGrpSpPr>
            <p:grpSpPr>
              <a:xfrm>
                <a:off x="539" y="374"/>
                <a:ext cx="1174" cy="374"/>
                <a:chOff x="539" y="374"/>
                <a:chExt cx="1174" cy="374"/>
              </a:xfrm>
            </p:grpSpPr>
            <p:sp>
              <p:nvSpPr>
                <p:cNvPr id="10269" name="Rectangle 17"/>
                <p:cNvSpPr/>
                <p:nvPr/>
              </p:nvSpPr>
              <p:spPr>
                <a:xfrm>
                  <a:off x="582" y="374"/>
                  <a:ext cx="1088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/>
                <a:p>
                  <a:pPr algn="just"/>
                  <a:r>
                    <a:rPr lang="en-US" altLang="zh-CN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SELECT</a:t>
                  </a:r>
                </a:p>
                <a:p>
                  <a:pPr algn="just" eaLnBrk="0" hangingPunct="0"/>
                  <a:endParaRPr lang="zh-CN" altLang="en-US" sz="2400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270" name="Rectangle 18"/>
                <p:cNvSpPr/>
                <p:nvPr/>
              </p:nvSpPr>
              <p:spPr>
                <a:xfrm>
                  <a:off x="539" y="374"/>
                  <a:ext cx="1174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0251" name="Group 19"/>
              <p:cNvGrpSpPr/>
              <p:nvPr/>
            </p:nvGrpSpPr>
            <p:grpSpPr>
              <a:xfrm>
                <a:off x="0" y="748"/>
                <a:ext cx="539" cy="374"/>
                <a:chOff x="0" y="748"/>
                <a:chExt cx="539" cy="374"/>
              </a:xfrm>
            </p:grpSpPr>
            <p:sp>
              <p:nvSpPr>
                <p:cNvPr id="10267" name="Rectangle 20"/>
                <p:cNvSpPr/>
                <p:nvPr/>
              </p:nvSpPr>
              <p:spPr>
                <a:xfrm>
                  <a:off x="43" y="748"/>
                  <a:ext cx="453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/>
                <a:p>
                  <a:pPr algn="ctr"/>
                  <a:r>
                    <a:rPr lang="zh-CN" altLang="en-US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数据定义</a:t>
                  </a:r>
                </a:p>
                <a:p>
                  <a:pPr algn="ctr" eaLnBrk="0" hangingPunct="0"/>
                  <a:endParaRPr lang="zh-CN" altLang="en-US" sz="2400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268" name="Rectangle 21"/>
                <p:cNvSpPr/>
                <p:nvPr/>
              </p:nvSpPr>
              <p:spPr>
                <a:xfrm>
                  <a:off x="0" y="748"/>
                  <a:ext cx="539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0252" name="Group 22"/>
              <p:cNvGrpSpPr/>
              <p:nvPr/>
            </p:nvGrpSpPr>
            <p:grpSpPr>
              <a:xfrm>
                <a:off x="539" y="748"/>
                <a:ext cx="1174" cy="374"/>
                <a:chOff x="539" y="748"/>
                <a:chExt cx="1174" cy="374"/>
              </a:xfrm>
            </p:grpSpPr>
            <p:sp>
              <p:nvSpPr>
                <p:cNvPr id="10265" name="Rectangle 23"/>
                <p:cNvSpPr/>
                <p:nvPr/>
              </p:nvSpPr>
              <p:spPr>
                <a:xfrm>
                  <a:off x="582" y="748"/>
                  <a:ext cx="1088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/>
                <a:p>
                  <a:pPr algn="just"/>
                  <a:r>
                    <a:rPr lang="en-US" altLang="zh-CN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CREATE</a:t>
                  </a:r>
                  <a:r>
                    <a:rPr lang="zh-CN" altLang="en-US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、</a:t>
                  </a:r>
                  <a:r>
                    <a:rPr lang="en-US" altLang="zh-CN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DROP</a:t>
                  </a:r>
                  <a:r>
                    <a:rPr lang="zh-CN" altLang="en-US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、</a:t>
                  </a:r>
                  <a:r>
                    <a:rPr lang="en-US" altLang="zh-CN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ALTER</a:t>
                  </a:r>
                </a:p>
                <a:p>
                  <a:pPr algn="just" eaLnBrk="0" hangingPunct="0"/>
                  <a:endParaRPr lang="zh-CN" altLang="en-US" sz="2400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266" name="Rectangle 24"/>
                <p:cNvSpPr/>
                <p:nvPr/>
              </p:nvSpPr>
              <p:spPr>
                <a:xfrm>
                  <a:off x="539" y="748"/>
                  <a:ext cx="1174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0253" name="Group 25"/>
              <p:cNvGrpSpPr/>
              <p:nvPr/>
            </p:nvGrpSpPr>
            <p:grpSpPr>
              <a:xfrm>
                <a:off x="0" y="1122"/>
                <a:ext cx="539" cy="374"/>
                <a:chOff x="0" y="1122"/>
                <a:chExt cx="539" cy="374"/>
              </a:xfrm>
            </p:grpSpPr>
            <p:sp>
              <p:nvSpPr>
                <p:cNvPr id="10263" name="Rectangle 26"/>
                <p:cNvSpPr/>
                <p:nvPr/>
              </p:nvSpPr>
              <p:spPr>
                <a:xfrm>
                  <a:off x="43" y="1122"/>
                  <a:ext cx="453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/>
                <a:p>
                  <a:pPr algn="ctr"/>
                  <a:r>
                    <a:rPr lang="zh-CN" altLang="en-US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数据操纵</a:t>
                  </a:r>
                </a:p>
                <a:p>
                  <a:pPr algn="ctr" eaLnBrk="0" hangingPunct="0"/>
                  <a:endParaRPr lang="zh-CN" altLang="en-US" sz="2400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264" name="Rectangle 27"/>
                <p:cNvSpPr/>
                <p:nvPr/>
              </p:nvSpPr>
              <p:spPr>
                <a:xfrm>
                  <a:off x="0" y="1122"/>
                  <a:ext cx="539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0254" name="Group 28"/>
              <p:cNvGrpSpPr/>
              <p:nvPr/>
            </p:nvGrpSpPr>
            <p:grpSpPr>
              <a:xfrm>
                <a:off x="539" y="1122"/>
                <a:ext cx="1174" cy="374"/>
                <a:chOff x="539" y="1122"/>
                <a:chExt cx="1174" cy="374"/>
              </a:xfrm>
            </p:grpSpPr>
            <p:sp>
              <p:nvSpPr>
                <p:cNvPr id="10261" name="Rectangle 29"/>
                <p:cNvSpPr/>
                <p:nvPr/>
              </p:nvSpPr>
              <p:spPr>
                <a:xfrm>
                  <a:off x="582" y="1122"/>
                  <a:ext cx="1088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/>
                <a:p>
                  <a:pPr algn="just"/>
                  <a:r>
                    <a:rPr lang="en-US" altLang="zh-CN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INSERT</a:t>
                  </a:r>
                  <a:r>
                    <a:rPr lang="zh-CN" altLang="en-US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、</a:t>
                  </a:r>
                  <a:r>
                    <a:rPr lang="en-US" altLang="zh-CN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UPDATE</a:t>
                  </a:r>
                  <a:r>
                    <a:rPr lang="zh-CN" altLang="en-US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、</a:t>
                  </a:r>
                  <a:r>
                    <a:rPr lang="en-US" altLang="zh-CN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DELETE</a:t>
                  </a:r>
                </a:p>
                <a:p>
                  <a:pPr algn="just" eaLnBrk="0" hangingPunct="0"/>
                  <a:endParaRPr lang="zh-CN" altLang="en-US" sz="2400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262" name="Rectangle 30"/>
                <p:cNvSpPr/>
                <p:nvPr/>
              </p:nvSpPr>
              <p:spPr>
                <a:xfrm>
                  <a:off x="539" y="1122"/>
                  <a:ext cx="1174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0255" name="Group 31"/>
              <p:cNvGrpSpPr/>
              <p:nvPr/>
            </p:nvGrpSpPr>
            <p:grpSpPr>
              <a:xfrm>
                <a:off x="0" y="1496"/>
                <a:ext cx="539" cy="374"/>
                <a:chOff x="0" y="1496"/>
                <a:chExt cx="539" cy="374"/>
              </a:xfrm>
            </p:grpSpPr>
            <p:sp>
              <p:nvSpPr>
                <p:cNvPr id="10259" name="Rectangle 32"/>
                <p:cNvSpPr/>
                <p:nvPr/>
              </p:nvSpPr>
              <p:spPr>
                <a:xfrm>
                  <a:off x="43" y="1496"/>
                  <a:ext cx="453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/>
                <a:p>
                  <a:pPr algn="ctr"/>
                  <a:r>
                    <a:rPr lang="zh-CN" altLang="en-US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数据控制</a:t>
                  </a:r>
                </a:p>
                <a:p>
                  <a:pPr algn="ctr" eaLnBrk="0" hangingPunct="0"/>
                  <a:endParaRPr lang="zh-CN" altLang="en-US" sz="2400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260" name="Rectangle 33"/>
                <p:cNvSpPr/>
                <p:nvPr/>
              </p:nvSpPr>
              <p:spPr>
                <a:xfrm>
                  <a:off x="0" y="1496"/>
                  <a:ext cx="539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0256" name="Group 34"/>
              <p:cNvGrpSpPr/>
              <p:nvPr/>
            </p:nvGrpSpPr>
            <p:grpSpPr>
              <a:xfrm>
                <a:off x="539" y="1496"/>
                <a:ext cx="1174" cy="374"/>
                <a:chOff x="539" y="1496"/>
                <a:chExt cx="1174" cy="374"/>
              </a:xfrm>
            </p:grpSpPr>
            <p:sp>
              <p:nvSpPr>
                <p:cNvPr id="10257" name="Rectangle 35"/>
                <p:cNvSpPr/>
                <p:nvPr/>
              </p:nvSpPr>
              <p:spPr>
                <a:xfrm>
                  <a:off x="582" y="1496"/>
                  <a:ext cx="1088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/>
                <a:p>
                  <a:pPr algn="just"/>
                  <a:r>
                    <a:rPr lang="en-US" altLang="zh-CN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GRANT</a:t>
                  </a:r>
                  <a:r>
                    <a:rPr lang="zh-CN" altLang="en-US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、</a:t>
                  </a:r>
                  <a:r>
                    <a:rPr lang="en-US" altLang="zh-CN" sz="2400" b="1" dirty="0"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REVOKE</a:t>
                  </a:r>
                </a:p>
                <a:p>
                  <a:pPr algn="just" eaLnBrk="0" hangingPunct="0"/>
                  <a:endParaRPr lang="zh-CN" altLang="en-US" sz="2400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258" name="Rectangle 36"/>
                <p:cNvSpPr/>
                <p:nvPr/>
              </p:nvSpPr>
              <p:spPr>
                <a:xfrm>
                  <a:off x="539" y="1496"/>
                  <a:ext cx="1174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10246" name="Rectangle 37"/>
            <p:cNvSpPr/>
            <p:nvPr/>
          </p:nvSpPr>
          <p:spPr>
            <a:xfrm>
              <a:off x="-3" y="-3"/>
              <a:ext cx="1719" cy="1876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b="1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10244" name="Text Box 38"/>
          <p:cNvSpPr txBox="1"/>
          <p:nvPr/>
        </p:nvSpPr>
        <p:spPr>
          <a:xfrm>
            <a:off x="395288" y="1258888"/>
            <a:ext cx="8532812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 latinLnBrk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四部分：数据定义功能、数据控制功能、数据查询功能和数据操纵功能。</a:t>
            </a:r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5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5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85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7862888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3.2 数据类型</a:t>
            </a: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1979712" y="1556792"/>
            <a:ext cx="4918075" cy="3303588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dirty="0">
                <a:sym typeface="+mn-ea"/>
              </a:rPr>
              <a:t>数值类型 </a:t>
            </a:r>
          </a:p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dirty="0">
                <a:sym typeface="+mn-ea"/>
              </a:rPr>
              <a:t>字符串类型</a:t>
            </a:r>
          </a:p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dirty="0">
                <a:sym typeface="+mn-ea"/>
              </a:rPr>
              <a:t>日期时间类型</a:t>
            </a:r>
          </a:p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dirty="0">
                <a:sym typeface="+mn-ea"/>
              </a:rPr>
              <a:t>货币类型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7935913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精确数值类型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1885046"/>
              </p:ext>
            </p:extLst>
          </p:nvPr>
        </p:nvGraphicFramePr>
        <p:xfrm>
          <a:off x="357188" y="1356678"/>
          <a:ext cx="8358245" cy="4528075"/>
        </p:xfrm>
        <a:graphic>
          <a:graphicData uri="http://schemas.openxmlformats.org/drawingml/2006/table">
            <a:tbl>
              <a:tblPr/>
              <a:tblGrid>
                <a:gridCol w="1308246"/>
                <a:gridCol w="5764116"/>
                <a:gridCol w="1285883"/>
              </a:tblGrid>
              <a:tr h="635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精确数值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类型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说明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存储空间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88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bigint</a:t>
                      </a:r>
                      <a:endParaRPr lang="zh-CN" sz="1600" b="1" kern="10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存储从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–2</a:t>
                      </a:r>
                      <a:r>
                        <a:rPr lang="en-US" sz="1600" b="1" kern="100" baseline="300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63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(–9,223,372,036,854,775,808</a:t>
                      </a:r>
                      <a:r>
                        <a:rPr lang="en-US" sz="1600" b="1" kern="100" dirty="0" smtClean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r>
                        <a:rPr lang="zh-CN" sz="1600" b="1" kern="100" dirty="0" smtClean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到</a:t>
                      </a:r>
                      <a:r>
                        <a:rPr lang="en-US" sz="1600" b="1" kern="100" dirty="0" smtClean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en-US" sz="1600" b="1" kern="100" baseline="30000" dirty="0" smtClean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63</a:t>
                      </a:r>
                      <a:r>
                        <a:rPr lang="en-US" sz="1600" b="1" kern="100" dirty="0" smtClean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-1 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(9,223,372,036,854,775,807) </a:t>
                      </a: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范围的整数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</a:t>
                      </a:r>
                      <a:r>
                        <a:rPr lang="zh-CN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4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int</a:t>
                      </a:r>
                      <a:endParaRPr lang="zh-CN" sz="1600" b="1" kern="10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存储从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–2</a:t>
                      </a:r>
                      <a:r>
                        <a:rPr lang="en-US" sz="1600" b="1" kern="100" baseline="300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31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(–2,147,483,648 ) </a:t>
                      </a: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到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2</a:t>
                      </a:r>
                      <a:r>
                        <a:rPr lang="en-US" sz="1600" b="1" kern="100" baseline="300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31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-1 ( 2,147,483,647 ) </a:t>
                      </a: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范围的整数。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4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smallint</a:t>
                      </a:r>
                      <a:endParaRPr lang="zh-CN" sz="1600" b="1" kern="10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存储从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–2</a:t>
                      </a:r>
                      <a:r>
                        <a:rPr lang="en-US" sz="1600" b="1" kern="100" baseline="300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15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(–32,768 ) </a:t>
                      </a: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到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2</a:t>
                      </a:r>
                      <a:r>
                        <a:rPr lang="en-US" sz="1600" b="1" kern="100" baseline="300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15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-1 (32,767 ) </a:t>
                      </a: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范围的整数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29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tinyint</a:t>
                      </a:r>
                      <a:endParaRPr lang="zh-CN" sz="1600" b="1" kern="10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存储从</a:t>
                      </a: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0 </a:t>
                      </a:r>
                      <a:r>
                        <a:rPr lang="zh-CN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到</a:t>
                      </a: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255 </a:t>
                      </a:r>
                      <a:r>
                        <a:rPr lang="zh-CN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之间的整数。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88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bit</a:t>
                      </a:r>
                      <a:endParaRPr lang="zh-CN" sz="1600" b="1" kern="10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存储</a:t>
                      </a: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或</a:t>
                      </a: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r>
                        <a:rPr lang="zh-CN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。如果一个表中有不多于</a:t>
                      </a: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</a:t>
                      </a:r>
                      <a:r>
                        <a:rPr lang="zh-CN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个的</a:t>
                      </a: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bit</a:t>
                      </a:r>
                      <a:r>
                        <a:rPr lang="zh-CN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列，则这些列公用一个字节存储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289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numeric(p,s)</a:t>
                      </a:r>
                      <a:endParaRPr lang="zh-CN" sz="1600" b="1" kern="10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或</a:t>
                      </a:r>
                      <a:r>
                        <a:rPr lang="en-US" sz="16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decimal(p,s)</a:t>
                      </a:r>
                      <a:endParaRPr lang="zh-CN" sz="1600" b="1" kern="10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定点精度和小数位数。使用最大精度时，有效值从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–10</a:t>
                      </a:r>
                      <a:r>
                        <a:rPr lang="en-US" sz="1600" b="1" kern="100" baseline="300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38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+1 </a:t>
                      </a: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到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10</a:t>
                      </a:r>
                      <a:r>
                        <a:rPr lang="en-US" sz="1600" b="1" kern="100" baseline="300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38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-1</a:t>
                      </a: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。其中</a:t>
                      </a:r>
                      <a:r>
                        <a:rPr lang="zh-CN" sz="1600" b="1" kern="100" dirty="0" smtClean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altLang="zh-CN" sz="1600" b="1" kern="100" dirty="0" smtClean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p</a:t>
                      </a:r>
                      <a:r>
                        <a:rPr lang="zh-CN" sz="1600" b="1" kern="100" dirty="0" smtClean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为</a:t>
                      </a: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精度，指定小数点左边和右边可以存储的十进制数字的最大个数。精度必须是从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到最大精度之间的值。最大精度为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38</a:t>
                      </a: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。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</a:t>
                      </a: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为小数位数，指定小数点右边可以存储的十进制数字的最大个数，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 &lt;= s &lt;= p</a:t>
                      </a: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。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</a:t>
                      </a: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的默认值为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1600" b="1" kern="100" dirty="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最多</a:t>
                      </a:r>
                      <a:r>
                        <a:rPr lang="en-US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17</a:t>
                      </a: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近似数值数类型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71500" y="1714500"/>
          <a:ext cx="7929619" cy="3071835"/>
        </p:xfrm>
        <a:graphic>
          <a:graphicData uri="http://schemas.openxmlformats.org/drawingml/2006/table">
            <a:tbl>
              <a:tblPr/>
              <a:tblGrid>
                <a:gridCol w="1482173"/>
                <a:gridCol w="4947247"/>
                <a:gridCol w="1500199"/>
              </a:tblGrid>
              <a:tr h="8572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近似数值</a:t>
                      </a:r>
                      <a:endParaRPr lang="zh-CN" sz="2000" kern="100" dirty="0">
                        <a:solidFill>
                          <a:srgbClr val="FF00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类型</a:t>
                      </a:r>
                      <a:endParaRPr lang="zh-CN" sz="2000" kern="100" dirty="0">
                        <a:solidFill>
                          <a:srgbClr val="FF00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说明</a:t>
                      </a:r>
                      <a:endParaRPr lang="zh-CN" sz="2000" kern="100" dirty="0">
                        <a:solidFill>
                          <a:srgbClr val="FF00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存储空间</a:t>
                      </a:r>
                      <a:endParaRPr lang="zh-CN" sz="2000" kern="100" dirty="0">
                        <a:solidFill>
                          <a:srgbClr val="FF00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16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float[(n)]</a:t>
                      </a:r>
                      <a:endParaRPr lang="zh-CN" sz="1800" b="1" kern="100" dirty="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存储从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-1.79E + 308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至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-2.23E –308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以及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2.23E–308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至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1.79E + 308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范围的浮点数。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有两个值，如果指定的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在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1~24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之间，则使用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24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，占用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字节空间；如果指定的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在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25~53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之间，则使用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53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，占用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字节空间。若省略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(n)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，则默认为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53 </a:t>
                      </a:r>
                      <a:endParaRPr lang="zh-CN" sz="1800" b="1" kern="100" dirty="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字节或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29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real</a:t>
                      </a:r>
                      <a:endParaRPr lang="zh-CN" sz="1800" b="1" kern="10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存储从</a:t>
                      </a:r>
                      <a:r>
                        <a:rPr lang="en-US" sz="18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–3.40E + 38</a:t>
                      </a:r>
                      <a:r>
                        <a:rPr lang="zh-CN" sz="18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到</a:t>
                      </a:r>
                      <a:r>
                        <a:rPr lang="en-US" sz="18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3.40E + 38</a:t>
                      </a:r>
                      <a:r>
                        <a:rPr lang="zh-CN" sz="18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范围的浮点型数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900113" y="79375"/>
            <a:ext cx="678180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字符串类型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971550" y="1617663"/>
            <a:ext cx="6480175" cy="4402137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just" eaLnBrk="1" hangingPunct="1">
              <a:spcBef>
                <a:spcPts val="3000"/>
              </a:spcBef>
            </a:pPr>
            <a:r>
              <a:rPr lang="en-US" altLang="zh-CN" dirty="0" err="1" smtClean="0">
                <a:sym typeface="+mn-ea"/>
              </a:rPr>
              <a:t>普通编码字符串类</a:t>
            </a:r>
            <a:r>
              <a:rPr lang="zh-CN" altLang="en-US" dirty="0" smtClean="0">
                <a:sym typeface="+mn-ea"/>
              </a:rPr>
              <a:t>类型</a:t>
            </a:r>
            <a:endParaRPr lang="en-US" altLang="zh-CN" dirty="0" smtClean="0">
              <a:sym typeface="+mn-ea"/>
            </a:endParaRPr>
          </a:p>
          <a:p>
            <a:pPr marL="800100" lvl="2" indent="0" algn="just" eaLnBrk="1" hangingPunct="1">
              <a:spcBef>
                <a:spcPts val="0"/>
              </a:spcBef>
              <a:buNone/>
            </a:pPr>
            <a:r>
              <a:rPr lang="zh-CN" altLang="en-US" dirty="0" smtClean="0"/>
              <a:t>非</a:t>
            </a:r>
            <a:r>
              <a:rPr lang="en-US" altLang="zh-CN" dirty="0" err="1"/>
              <a:t>unicode</a:t>
            </a:r>
            <a:r>
              <a:rPr lang="zh-CN" altLang="en-US" dirty="0"/>
              <a:t>字符串类型</a:t>
            </a:r>
          </a:p>
          <a:p>
            <a:pPr lvl="0" algn="just" eaLnBrk="1" hangingPunct="1">
              <a:spcBef>
                <a:spcPts val="3000"/>
              </a:spcBef>
              <a:buSzTx/>
            </a:pPr>
            <a:r>
              <a:rPr lang="en-US" altLang="zh-CN" dirty="0" err="1" smtClean="0">
                <a:sym typeface="+mn-ea"/>
              </a:rPr>
              <a:t>统一字符编码字符串类型</a:t>
            </a:r>
            <a:endParaRPr lang="en-US" altLang="zh-CN" dirty="0" smtClean="0">
              <a:sym typeface="+mn-ea"/>
            </a:endParaRPr>
          </a:p>
          <a:p>
            <a:pPr marL="800100" lvl="2" indent="0" algn="just" eaLnBrk="1" hangingPunct="1">
              <a:spcBef>
                <a:spcPts val="0"/>
              </a:spcBef>
              <a:buNone/>
            </a:pPr>
            <a:r>
              <a:rPr lang="en-US" altLang="zh-CN" dirty="0" err="1"/>
              <a:t>unicode</a:t>
            </a:r>
            <a:r>
              <a:rPr lang="zh-CN" altLang="en-US" dirty="0"/>
              <a:t>字符串类型</a:t>
            </a:r>
          </a:p>
          <a:p>
            <a:pPr lvl="0" algn="just" eaLnBrk="1" hangingPunct="1">
              <a:spcBef>
                <a:spcPts val="3000"/>
              </a:spcBef>
              <a:buSzTx/>
            </a:pPr>
            <a:r>
              <a:rPr lang="en-US" altLang="zh-CN" dirty="0" err="1" smtClean="0">
                <a:sym typeface="+mn-ea"/>
              </a:rPr>
              <a:t>二进制字符串类型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200" smtClean="0"/>
              <a:t>非</a:t>
            </a:r>
            <a:r>
              <a:rPr lang="en-US" altLang="zh-CN" sz="4200" smtClean="0"/>
              <a:t>unicode</a:t>
            </a:r>
            <a:r>
              <a:rPr lang="zh-CN" altLang="en-US" sz="4200" smtClean="0"/>
              <a:t>字符串类型</a:t>
            </a:r>
            <a:endParaRPr lang="en-US" altLang="zh-CN" sz="4200" smtClean="0"/>
          </a:p>
        </p:txBody>
      </p:sp>
      <p:sp>
        <p:nvSpPr>
          <p:cNvPr id="13315" name="Rectangle 3"/>
          <p:cNvSpPr txBox="1">
            <a:spLocks noChangeArrowheads="1"/>
          </p:cNvSpPr>
          <p:nvPr/>
        </p:nvSpPr>
        <p:spPr bwMode="auto">
          <a:xfrm>
            <a:off x="395288" y="1557338"/>
            <a:ext cx="8443912" cy="3959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marL="0" indent="0" algn="l" eaLnBrk="1" latinLnBrk="1" hangingPunct="1">
              <a:spcBef>
                <a:spcPct val="50000"/>
              </a:spcBef>
            </a:pPr>
            <a:r>
              <a:rPr lang="en-US" altLang="zh-CN" sz="33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Char(n)</a:t>
            </a:r>
            <a:r>
              <a:rPr lang="en-US" altLang="zh-CN" sz="33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: </a:t>
            </a:r>
            <a:r>
              <a:rPr lang="en-US" altLang="zh-CN" sz="33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lang="zh-CN" altLang="en-US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定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长存储，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n&lt;=8000 </a:t>
            </a:r>
          </a:p>
          <a:p>
            <a:pPr marL="0" indent="0" algn="l" eaLnBrk="1" latinLnBrk="1" hangingPunct="1">
              <a:spcBef>
                <a:spcPts val="3000"/>
              </a:spcBef>
            </a:pPr>
            <a:r>
              <a:rPr lang="en-US" altLang="zh-CN" sz="2800" b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Varchar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(n)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：不定长存储（按实际长度存储</a:t>
            </a:r>
            <a:r>
              <a:rPr lang="zh-CN" altLang="en-US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），</a:t>
            </a:r>
            <a:endParaRPr lang="en-US" altLang="zh-CN" sz="28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 algn="l" eaLnBrk="1" latinLnBrk="1" hangingPunct="1">
              <a:spcBef>
                <a:spcPct val="50000"/>
              </a:spcBef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    </a:t>
            </a:r>
            <a:r>
              <a:rPr lang="zh-CN" altLang="en-US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长度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最大不超过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 , n&lt;=8000 </a:t>
            </a:r>
          </a:p>
          <a:p>
            <a:pPr lvl="1" algn="l" eaLnBrk="1" latinLnBrk="1" hangingPunct="1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00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    注</a:t>
            </a:r>
            <a:r>
              <a:rPr lang="zh-CN" altLang="en-US" sz="2800" b="1" dirty="0">
                <a:solidFill>
                  <a:srgbClr val="00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lang="en-US" altLang="zh-CN" sz="2800" b="1" dirty="0">
                <a:solidFill>
                  <a:srgbClr val="00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</a:t>
            </a:r>
            <a:r>
              <a:rPr lang="zh-CN" altLang="en-US" sz="2800" b="1" dirty="0">
                <a:solidFill>
                  <a:srgbClr val="00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为</a:t>
            </a:r>
            <a:r>
              <a:rPr lang="zh-CN" altLang="en-US" sz="2800" b="1" dirty="0" smtClean="0">
                <a:solidFill>
                  <a:srgbClr val="00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字节个数</a:t>
            </a:r>
            <a:endParaRPr lang="zh-CN" altLang="en-US" sz="2800" b="1" dirty="0">
              <a:solidFill>
                <a:srgbClr val="0099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 algn="l" eaLnBrk="1" latinLnBrk="1" hangingPunct="1">
              <a:spcBef>
                <a:spcPts val="3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Text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：存储大于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8000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字节的文本</a:t>
            </a:r>
          </a:p>
        </p:txBody>
      </p:sp>
    </p:spTree>
    <p:extLst>
      <p:ext uri="{BB962C8B-B14F-4D97-AF65-F5344CB8AC3E}">
        <p14:creationId xmlns:p14="http://schemas.microsoft.com/office/powerpoint/2010/main" val="300467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200" smtClean="0"/>
              <a:t>unicode</a:t>
            </a:r>
            <a:r>
              <a:rPr lang="zh-CN" altLang="en-US" sz="4200" smtClean="0"/>
              <a:t>字符串类型</a:t>
            </a:r>
          </a:p>
        </p:txBody>
      </p:sp>
      <p:sp>
        <p:nvSpPr>
          <p:cNvPr id="14339" name="文本框 4"/>
          <p:cNvSpPr txBox="1">
            <a:spLocks noChangeArrowheads="1"/>
          </p:cNvSpPr>
          <p:nvPr/>
        </p:nvSpPr>
        <p:spPr bwMode="auto">
          <a:xfrm>
            <a:off x="341313" y="4724400"/>
            <a:ext cx="8348662" cy="1363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algn="l"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zh-CN" b="1" dirty="0">
                <a:latin typeface="宋体" pitchFamily="2" charset="-122"/>
                <a:ea typeface="宋体" pitchFamily="2" charset="-122"/>
              </a:rPr>
              <a:t>SQL Server</a:t>
            </a:r>
            <a:r>
              <a:rPr lang="zh-CN" altLang="zh-CN" b="1" dirty="0">
                <a:latin typeface="宋体" pitchFamily="2" charset="-122"/>
                <a:ea typeface="宋体" pitchFamily="2" charset="-122"/>
              </a:rPr>
              <a:t>中的字符串常量用单引号括起来，如</a:t>
            </a:r>
            <a:r>
              <a:rPr lang="en-US" altLang="zh-CN" b="1" dirty="0">
                <a:latin typeface="宋体" pitchFamily="2" charset="-122"/>
                <a:ea typeface="宋体" pitchFamily="2" charset="-122"/>
              </a:rPr>
              <a:t>'</a:t>
            </a:r>
            <a:r>
              <a:rPr lang="zh-CN" altLang="zh-CN" b="1" dirty="0">
                <a:latin typeface="宋体" pitchFamily="2" charset="-122"/>
                <a:ea typeface="宋体" pitchFamily="2" charset="-122"/>
              </a:rPr>
              <a:t>计算机</a:t>
            </a:r>
            <a:r>
              <a:rPr lang="en-US" altLang="zh-CN" b="1" dirty="0">
                <a:latin typeface="宋体" pitchFamily="2" charset="-122"/>
                <a:ea typeface="宋体" pitchFamily="2" charset="-122"/>
              </a:rPr>
              <a:t>'</a:t>
            </a:r>
            <a:endParaRPr lang="zh-CN" altLang="zh-CN" b="1" dirty="0">
              <a:latin typeface="宋体" pitchFamily="2" charset="-122"/>
              <a:ea typeface="宋体" pitchFamily="2" charset="-122"/>
            </a:endParaRPr>
          </a:p>
          <a:p>
            <a:pPr algn="l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zh-CN" b="1" dirty="0">
                <a:latin typeface="宋体" pitchFamily="2" charset="-122"/>
                <a:ea typeface="宋体" pitchFamily="2" charset="-122"/>
              </a:rPr>
              <a:t>对固定长度的字符串数据，系统分配固定的字节数。如果空间未被占满，则系统自动用空格填充。</a:t>
            </a:r>
          </a:p>
        </p:txBody>
      </p:sp>
      <p:sp>
        <p:nvSpPr>
          <p:cNvPr id="14340" name="Rectangle 3"/>
          <p:cNvSpPr txBox="1">
            <a:spLocks noChangeArrowheads="1"/>
          </p:cNvSpPr>
          <p:nvPr/>
        </p:nvSpPr>
        <p:spPr bwMode="auto">
          <a:xfrm>
            <a:off x="468313" y="1196752"/>
            <a:ext cx="8370887" cy="3312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marL="0" indent="0" algn="l" eaLnBrk="1" latinLnBrk="1" hangingPunct="1">
              <a:spcBef>
                <a:spcPct val="20000"/>
              </a:spcBef>
            </a:pPr>
            <a:r>
              <a:rPr lang="en-US" altLang="zh-CN" sz="2800" b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nchar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(n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  <a:r>
              <a:rPr lang="en-US" altLang="zh-CN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:        </a:t>
            </a:r>
            <a:r>
              <a:rPr lang="zh-CN" altLang="en-US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定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长存储，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n&lt;=4000 </a:t>
            </a:r>
          </a:p>
          <a:p>
            <a:pPr marL="0" indent="0" algn="l" eaLnBrk="1" latinLnBrk="1" hangingPunct="1">
              <a:spcBef>
                <a:spcPts val="1800"/>
              </a:spcBef>
            </a:pPr>
            <a:r>
              <a:rPr lang="en-US" altLang="zh-CN" sz="2800" b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nvarchar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(n)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：不定长</a:t>
            </a:r>
            <a:r>
              <a:rPr lang="zh-CN" altLang="en-US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存储</a:t>
            </a:r>
            <a:endParaRPr lang="en-US" altLang="zh-CN" sz="28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 algn="l" eaLnBrk="1" latin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       </a:t>
            </a:r>
            <a:r>
              <a:rPr lang="zh-CN" altLang="en-US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长度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最大不超过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 , n&lt;=</a:t>
            </a:r>
            <a:r>
              <a:rPr lang="en-US" altLang="zh-CN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4000</a:t>
            </a:r>
          </a:p>
          <a:p>
            <a:pPr marL="0" lvl="1" indent="0" algn="l" latinLnBrk="1">
              <a:spcBef>
                <a:spcPct val="20000"/>
              </a:spcBef>
            </a:pPr>
            <a:r>
              <a:rPr lang="zh-CN" altLang="en-US" sz="2800" b="1" dirty="0" smtClean="0">
                <a:solidFill>
                  <a:srgbClr val="00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特点</a:t>
            </a:r>
            <a:r>
              <a:rPr lang="zh-CN" altLang="en-US" sz="2800" b="1" dirty="0">
                <a:solidFill>
                  <a:srgbClr val="00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lang="en-US" altLang="zh-CN" sz="2800" b="1" dirty="0">
                <a:solidFill>
                  <a:srgbClr val="00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</a:t>
            </a:r>
            <a:r>
              <a:rPr lang="zh-CN" altLang="en-US" sz="2800" b="1" dirty="0">
                <a:solidFill>
                  <a:srgbClr val="00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为 字符个数</a:t>
            </a:r>
          </a:p>
          <a:p>
            <a:pPr marL="0" indent="0" algn="l" latinLnBrk="1">
              <a:spcBef>
                <a:spcPct val="20000"/>
              </a:spcBef>
            </a:pPr>
            <a:r>
              <a:rPr lang="en-US" altLang="zh-CN" sz="2800" b="1" dirty="0">
                <a:solidFill>
                  <a:srgbClr val="00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     </a:t>
            </a:r>
            <a:r>
              <a:rPr lang="zh-CN" altLang="en-US" sz="2800" b="1" dirty="0">
                <a:solidFill>
                  <a:srgbClr val="00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每个字符占两个字节</a:t>
            </a:r>
          </a:p>
          <a:p>
            <a:pPr marL="0" indent="0" algn="l" eaLnBrk="1" latinLnBrk="1" hangingPunct="1">
              <a:spcBef>
                <a:spcPts val="1800"/>
              </a:spcBef>
            </a:pPr>
            <a:r>
              <a:rPr lang="en-US" altLang="zh-CN" sz="2800" b="1" dirty="0" err="1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ntext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：存储大于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8000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字节的文本</a:t>
            </a:r>
          </a:p>
          <a:p>
            <a:pPr marL="0" lvl="1" indent="0" algn="l" latinLnBrk="1">
              <a:spcBef>
                <a:spcPct val="20000"/>
              </a:spcBef>
            </a:pPr>
            <a:r>
              <a:rPr lang="zh-CN" altLang="en-US" sz="2800" b="1" dirty="0" smtClean="0">
                <a:solidFill>
                  <a:srgbClr val="00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</a:t>
            </a:r>
            <a:endParaRPr lang="zh-CN" altLang="en-US" sz="2800" b="1" dirty="0">
              <a:solidFill>
                <a:srgbClr val="0099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91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8078788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日期时间类型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71500" y="1285875"/>
          <a:ext cx="7858180" cy="4857784"/>
        </p:xfrm>
        <a:graphic>
          <a:graphicData uri="http://schemas.openxmlformats.org/drawingml/2006/table">
            <a:tbl>
              <a:tblPr/>
              <a:tblGrid>
                <a:gridCol w="1146177"/>
                <a:gridCol w="5750248"/>
                <a:gridCol w="961755"/>
              </a:tblGrid>
              <a:tr h="6429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日期时间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类型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说明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存储空间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18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D60093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date</a:t>
                      </a:r>
                      <a:endParaRPr lang="zh-CN" sz="1800" b="1" kern="100" dirty="0">
                        <a:solidFill>
                          <a:srgbClr val="D60093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 smtClean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定义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一个日期，范围为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到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。字符长度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位，默认格式为：</a:t>
                      </a:r>
                      <a:r>
                        <a:rPr lang="en-US" sz="1800" b="1" kern="0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YYYY-MM-DD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。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YYYY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表示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位年份数字，范围从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0001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到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9999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；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MM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表示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位月份数字，范围从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到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12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；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DD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表示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位日的数字，范围从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01 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到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31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（最大值取决于具体月份）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r>
                        <a:rPr lang="zh-CN" sz="18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021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D60093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time[(n)]</a:t>
                      </a:r>
                      <a:endParaRPr lang="zh-CN" sz="1800" b="1" kern="100" dirty="0">
                        <a:solidFill>
                          <a:srgbClr val="D60093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 smtClean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定义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一天中的某个时间，该时间基于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24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小时制。默认格式为：</a:t>
                      </a:r>
                      <a:r>
                        <a:rPr lang="en-US" sz="1800" b="1" kern="100" dirty="0" err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hh:mm:ss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[.</a:t>
                      </a:r>
                      <a:r>
                        <a:rPr lang="en-US" sz="1800" b="1" kern="100" dirty="0" err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nnnnnnn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]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，范围为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00:00:00.0000000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到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23:59:59.9999999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。精确到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100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纳秒。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为秒的小数位数，取值范围是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到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的整数。默认秒的小数位数是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7(100ns)</a:t>
                      </a:r>
                      <a:endParaRPr lang="zh-CN" sz="1800" b="1" kern="100" dirty="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3~5</a:t>
                      </a:r>
                      <a:r>
                        <a:rPr lang="zh-CN" sz="18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27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datetime</a:t>
                      </a:r>
                      <a:endParaRPr lang="zh-CN" sz="1800" b="1" kern="10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定义一个采用</a:t>
                      </a:r>
                      <a:r>
                        <a:rPr lang="en-US" sz="1800" b="1" kern="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</a:t>
                      </a:r>
                      <a:r>
                        <a:rPr lang="zh-CN" sz="1800" b="1" kern="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小时制并带有秒的小数部分的日期和时间，范围为到</a:t>
                      </a:r>
                      <a:r>
                        <a:rPr lang="en-US" sz="1800" b="1" kern="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r>
                        <a:rPr lang="zh-CN" sz="1800" b="1" kern="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，时间范围是</a:t>
                      </a:r>
                      <a:r>
                        <a:rPr lang="en-US" sz="1800" b="1" kern="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00:00:00</a:t>
                      </a:r>
                      <a:r>
                        <a:rPr lang="zh-CN" sz="1800" b="1" kern="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到</a:t>
                      </a:r>
                      <a:r>
                        <a:rPr lang="en-US" sz="1800" b="1" kern="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23:59:59.997</a:t>
                      </a:r>
                      <a:r>
                        <a:rPr lang="zh-CN" sz="1800" b="1" kern="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。默认格式为：</a:t>
                      </a:r>
                      <a:r>
                        <a:rPr lang="en-US" sz="1800" b="1" kern="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YYYY-MM-DD </a:t>
                      </a:r>
                      <a:r>
                        <a:rPr lang="en-US" sz="1800" b="1" kern="100" dirty="0" err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hh:mm:ss.nnn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zh-CN" sz="1800" b="1" kern="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为数字，表示秒的小数部分（精确到</a:t>
                      </a:r>
                      <a:r>
                        <a:rPr lang="en-US" sz="1800" b="1" kern="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0.00333 </a:t>
                      </a:r>
                      <a:r>
                        <a:rPr lang="zh-CN" sz="1800" b="1" kern="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秒）</a:t>
                      </a:r>
                      <a:endParaRPr lang="zh-CN" sz="1800" b="1" kern="100" dirty="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日期时间类型（续）</a:t>
            </a:r>
          </a:p>
        </p:txBody>
      </p:sp>
      <p:graphicFrame>
        <p:nvGraphicFramePr>
          <p:cNvPr id="19459" name="表格 19458"/>
          <p:cNvGraphicFramePr/>
          <p:nvPr/>
        </p:nvGraphicFramePr>
        <p:xfrm>
          <a:off x="214313" y="1143000"/>
          <a:ext cx="8358188" cy="5214938"/>
        </p:xfrm>
        <a:graphic>
          <a:graphicData uri="http://schemas.openxmlformats.org/drawingml/2006/table">
            <a:tbl>
              <a:tblPr/>
              <a:tblGrid>
                <a:gridCol w="1428750"/>
                <a:gridCol w="5907088"/>
                <a:gridCol w="1022350"/>
              </a:tblGrid>
              <a:tr h="517525">
                <a:tc>
                  <a:txBody>
                    <a:bodyPr/>
                    <a:lstStyle>
                      <a:lvl1pPr marL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</a:defRPr>
                      </a:lvl1pPr>
                      <a:lvl2pPr marL="45720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2pPr>
                      <a:lvl3pPr marL="914400" lvl="2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3pPr>
                      <a:lvl4pPr marL="1371600" lvl="3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4pPr>
                      <a:lvl5pPr marL="1828800" lvl="4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x-none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日期时间</a:t>
                      </a:r>
                    </a:p>
                    <a:p>
                      <a:pPr lvl="0" algn="ctr" eaLnBrk="1" hangingPunct="1">
                        <a:buNone/>
                      </a:pPr>
                      <a:r>
                        <a:rPr lang="zh-CN" altLang="x-none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类型</a:t>
                      </a:r>
                    </a:p>
                  </a:txBody>
                  <a:tcPr marL="67733" marR="67733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</a:defRPr>
                      </a:lvl1pPr>
                      <a:lvl2pPr marL="45720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2pPr>
                      <a:lvl3pPr marL="914400" lvl="2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3pPr>
                      <a:lvl4pPr marL="1371600" lvl="3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4pPr>
                      <a:lvl5pPr marL="1828800" lvl="4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x-none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说明</a:t>
                      </a:r>
                    </a:p>
                  </a:txBody>
                  <a:tcPr marL="67733" marR="67733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</a:defRPr>
                      </a:lvl1pPr>
                      <a:lvl2pPr marL="45720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2pPr>
                      <a:lvl3pPr marL="914400" lvl="2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3pPr>
                      <a:lvl4pPr marL="1371600" lvl="3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4pPr>
                      <a:lvl5pPr marL="1828800" lvl="4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x-none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存储空间</a:t>
                      </a:r>
                    </a:p>
                  </a:txBody>
                  <a:tcPr marL="67733" marR="67733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>
                      <a:lvl1pPr marL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</a:defRPr>
                      </a:lvl1pPr>
                      <a:lvl2pPr marL="45720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2pPr>
                      <a:lvl3pPr marL="914400" lvl="2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3pPr>
                      <a:lvl4pPr marL="1371600" lvl="3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4pPr>
                      <a:lvl5pPr marL="1828800" lvl="4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buNone/>
                      </a:pP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smalldatetime</a:t>
                      </a:r>
                      <a:endParaRPr lang="zh-CN" altLang="zh-CN" sz="1600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733" marR="67733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</a:defRPr>
                      </a:lvl1pPr>
                      <a:lvl2pPr marL="45720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2pPr>
                      <a:lvl3pPr marL="914400" lvl="2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3pPr>
                      <a:lvl4pPr marL="1371600" lvl="3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4pPr>
                      <a:lvl5pPr marL="1828800" lvl="4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buNone/>
                      </a:pP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定义一个采用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小时制并且秒始终为零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(:00)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的日期和时间，范围为到。默认格式为：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YYYY-MM-DD hh:mm:00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。精确到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分钟</a:t>
                      </a:r>
                    </a:p>
                  </a:txBody>
                  <a:tcPr marL="67733" marR="67733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</a:defRPr>
                      </a:lvl1pPr>
                      <a:lvl2pPr marL="45720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2pPr>
                      <a:lvl3pPr marL="914400" lvl="2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3pPr>
                      <a:lvl4pPr marL="1371600" lvl="3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4pPr>
                      <a:lvl5pPr marL="1828800" lvl="4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buNone/>
                      </a:pP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字节</a:t>
                      </a:r>
                    </a:p>
                  </a:txBody>
                  <a:tcPr marL="67733" marR="67733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5938">
                <a:tc>
                  <a:txBody>
                    <a:bodyPr/>
                    <a:lstStyle>
                      <a:lvl1pPr marL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</a:defRPr>
                      </a:lvl1pPr>
                      <a:lvl2pPr marL="45720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2pPr>
                      <a:lvl3pPr marL="914400" lvl="2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3pPr>
                      <a:lvl4pPr marL="1371600" lvl="3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4pPr>
                      <a:lvl5pPr marL="1828800" lvl="4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D60093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datetime2</a:t>
                      </a:r>
                      <a:endParaRPr lang="zh-CN" altLang="zh-CN" sz="1600" b="1" dirty="0">
                        <a:solidFill>
                          <a:srgbClr val="D60093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733" marR="67733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</a:defRPr>
                      </a:lvl1pPr>
                      <a:lvl2pPr marL="45720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2pPr>
                      <a:lvl3pPr marL="914400" lvl="2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3pPr>
                      <a:lvl4pPr marL="1371600" lvl="3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4pPr>
                      <a:lvl5pPr marL="1828800" lvl="4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buNone/>
                      </a:pP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定义一个结合了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24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小时制时间的日期。可将该类型看成是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datetime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类型的扩展，其数据范围更大，默认的小数精度更高，并具有可选的用户定义的精度。默认格式是：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YYYY-MM-DD hh:mm:ss[.nnnnnnn]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为数字，表示秒的小数位数（最多精确到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100 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纳秒），默认精度是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位小数。该类型的字符串长度最少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19 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位（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YYYY-MM-DD hh:mm:ss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），最多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27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(YYYY-MM-DD hh:mm:ss.0000000)</a:t>
                      </a:r>
                      <a:endParaRPr lang="zh-CN" altLang="zh-CN" sz="1600" b="1" dirty="0">
                        <a:solidFill>
                          <a:schemeClr val="tx2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7733" marR="67733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</a:defRPr>
                      </a:lvl1pPr>
                      <a:lvl2pPr marL="45720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2pPr>
                      <a:lvl3pPr marL="914400" lvl="2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3pPr>
                      <a:lvl4pPr marL="1371600" lvl="3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4pPr>
                      <a:lvl5pPr marL="1828800" lvl="4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buNone/>
                      </a:pP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6~8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字节</a:t>
                      </a:r>
                    </a:p>
                  </a:txBody>
                  <a:tcPr marL="67733" marR="67733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0">
                <a:tc>
                  <a:txBody>
                    <a:bodyPr/>
                    <a:lstStyle>
                      <a:lvl1pPr marL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</a:defRPr>
                      </a:lvl1pPr>
                      <a:lvl2pPr marL="45720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2pPr>
                      <a:lvl3pPr marL="914400" lvl="2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3pPr>
                      <a:lvl4pPr marL="1371600" lvl="3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4pPr>
                      <a:lvl5pPr marL="1828800" lvl="4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D60093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datetimeoffset</a:t>
                      </a:r>
                      <a:endParaRPr lang="zh-CN" altLang="zh-CN" sz="1600" b="1" dirty="0">
                        <a:solidFill>
                          <a:srgbClr val="D60093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733" marR="67733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</a:defRPr>
                      </a:lvl1pPr>
                      <a:lvl2pPr marL="45720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2pPr>
                      <a:lvl3pPr marL="914400" lvl="2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3pPr>
                      <a:lvl4pPr marL="1371600" lvl="3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4pPr>
                      <a:lvl5pPr marL="1828800" lvl="4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buNone/>
                      </a:pP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定义一个与采用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24 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小时制并与可识别时区的一日内时间相组合的日期，该数据类型使用户存储的日期和时间（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小时制）是时区一致的。语法格式为：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datetimeoffset [(n)]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为秒的精度，最大为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。默认格式为：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YYYY-MM-DD hh:mm:ss[.nnnnnnn] [{+|-}hh1:mm1]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，其中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hh1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的取值范围为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-14 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到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+14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mm1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的取值范围为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 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到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59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。该类型的日期范围为到，时间范围为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00:00:00 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到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23:59:59.9999999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。时区偏移量范围为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-14:00 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到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+14:00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。该类型的字符串长度为：最少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26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(YYYY-MM-DD hh:mm:ss {+|-}hh:mm)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，最多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34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(YYYY-MM-DD hh:mm:ss.nnnnnnn {+|-}hh:mm)</a:t>
                      </a:r>
                      <a:endParaRPr lang="zh-CN" altLang="zh-CN" sz="1600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733" marR="67733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</a:defRPr>
                      </a:lvl1pPr>
                      <a:lvl2pPr marL="457200" lvl="1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2pPr>
                      <a:lvl3pPr marL="914400" lvl="2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3pPr>
                      <a:lvl4pPr marL="1371600" lvl="3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4pPr>
                      <a:lvl5pPr marL="1828800" lvl="4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ulim" panose="020B0600000101010101" pitchFamily="34" charset="-127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buNone/>
                      </a:pPr>
                      <a:r>
                        <a:rPr lang="en-US" altLang="zh-CN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8~10</a:t>
                      </a:r>
                      <a:r>
                        <a:rPr lang="zh-CN" altLang="x-none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字节</a:t>
                      </a:r>
                    </a:p>
                  </a:txBody>
                  <a:tcPr marL="67733" marR="67733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货币类型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71500" y="1785938"/>
          <a:ext cx="7500989" cy="2643206"/>
        </p:xfrm>
        <a:graphic>
          <a:graphicData uri="http://schemas.openxmlformats.org/drawingml/2006/table">
            <a:tbl>
              <a:tblPr/>
              <a:tblGrid>
                <a:gridCol w="1500198"/>
                <a:gridCol w="4786346"/>
                <a:gridCol w="1214445"/>
              </a:tblGrid>
              <a:tr h="7322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货币类型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说明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存储空间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37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money</a:t>
                      </a:r>
                      <a:endParaRPr lang="zh-CN" sz="1800" b="1" kern="10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存储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–922,337,203,685,477.5808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到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922,337,203,685,477.5807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范围的数值，精确到小数点后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</a:t>
                      </a:r>
                      <a:r>
                        <a:rPr lang="zh-CN" sz="18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72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smallmoney</a:t>
                      </a:r>
                      <a:endParaRPr lang="zh-CN" sz="1800" b="1" kern="100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存储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-214,748.3648 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到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214,748.3647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范围的数值，精确到小数点后</a:t>
                      </a: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3.3 创建数据库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1110482" y="1556792"/>
            <a:ext cx="6845894" cy="3727871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dirty="0">
                <a:sym typeface="+mn-ea"/>
              </a:rPr>
              <a:t>3.3.1 SQL Server数据库分类</a:t>
            </a:r>
          </a:p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dirty="0">
                <a:sym typeface="+mn-ea"/>
              </a:rPr>
              <a:t>3.3.2 数据库基本概念</a:t>
            </a:r>
          </a:p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dirty="0">
                <a:sym typeface="+mn-ea"/>
              </a:rPr>
              <a:t>3.3.3 用图形化方法创建数据库</a:t>
            </a:r>
          </a:p>
          <a:p>
            <a:pPr lvl="0" algn="just" eaLnBrk="1" hangingPunct="1">
              <a:spcBef>
                <a:spcPts val="2400"/>
              </a:spcBef>
              <a:buSzTx/>
            </a:pPr>
            <a:r>
              <a:rPr lang="en-US" altLang="zh-CN" dirty="0">
                <a:sym typeface="+mn-ea"/>
              </a:rPr>
              <a:t>3.3.4 用T-SQL语句创建数据库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3.3.1 SQL Server数据库分类</a:t>
            </a: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539552" y="1772816"/>
            <a:ext cx="8229600" cy="3645768"/>
          </a:xfrm>
          <a:noFill/>
          <a:ln w="9525"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lvl="0" algn="just" eaLnBrk="1" hangingPunct="1">
              <a:buSzTx/>
            </a:pPr>
            <a:r>
              <a:rPr lang="en-US" altLang="zh-CN" dirty="0">
                <a:latin typeface="宋体" pitchFamily="2" charset="-122"/>
                <a:sym typeface="+mn-ea"/>
              </a:rPr>
              <a:t>两大类：</a:t>
            </a:r>
          </a:p>
          <a:p>
            <a:pPr lvl="1" algn="l">
              <a:spcBef>
                <a:spcPts val="2400"/>
              </a:spcBef>
            </a:pPr>
            <a:r>
              <a:rPr dirty="0" err="1">
                <a:latin typeface="宋体" pitchFamily="2" charset="-122"/>
                <a:sym typeface="+mn-ea"/>
              </a:rPr>
              <a:t>系统数据库：存放维护系统正常运行的信息</a:t>
            </a:r>
            <a:r>
              <a:rPr dirty="0">
                <a:latin typeface="宋体" pitchFamily="2" charset="-122"/>
                <a:sym typeface="+mn-ea"/>
              </a:rPr>
              <a:t>。</a:t>
            </a:r>
          </a:p>
          <a:p>
            <a:pPr lvl="1" algn="l">
              <a:spcBef>
                <a:spcPts val="2400"/>
              </a:spcBef>
            </a:pPr>
            <a:r>
              <a:rPr dirty="0" err="1">
                <a:latin typeface="宋体" pitchFamily="2" charset="-122"/>
                <a:sym typeface="+mn-ea"/>
              </a:rPr>
              <a:t>用户数据库:存放用户自己的信息</a:t>
            </a:r>
            <a:r>
              <a:rPr dirty="0">
                <a:latin typeface="宋体" pitchFamily="2" charset="-122"/>
                <a:sym typeface="+mn-ea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系统数据库</a:t>
            </a:r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357505" y="1286510"/>
            <a:ext cx="8333105" cy="4957445"/>
          </a:xfrm>
          <a:ln/>
        </p:spPr>
        <p:txBody>
          <a:bodyPr vert="horz" wrap="square" lIns="91440" tIns="45720" rIns="91440" bIns="45720" anchor="t" anchorCtr="0"/>
          <a:lstStyle/>
          <a:p>
            <a:pPr algn="just">
              <a:spcBef>
                <a:spcPts val="1800"/>
              </a:spcBef>
            </a:pPr>
            <a:r>
              <a:rPr lang="en-US" altLang="zh-CN" sz="3000" dirty="0">
                <a:solidFill>
                  <a:srgbClr val="FF0000"/>
                </a:solidFill>
              </a:rPr>
              <a:t>Master</a:t>
            </a:r>
            <a:r>
              <a:rPr lang="zh-CN" altLang="en-US" sz="3000" dirty="0"/>
              <a:t>：最重要数据库，用于记录所有系统级信息。</a:t>
            </a:r>
          </a:p>
          <a:p>
            <a:pPr algn="just">
              <a:spcBef>
                <a:spcPts val="1800"/>
              </a:spcBef>
            </a:pPr>
            <a:r>
              <a:rPr lang="en-US" altLang="zh-CN" sz="3000" dirty="0">
                <a:solidFill>
                  <a:srgbClr val="FF0000"/>
                </a:solidFill>
              </a:rPr>
              <a:t>Msdb</a:t>
            </a:r>
            <a:r>
              <a:rPr lang="zh-CN" altLang="en-US" sz="3000" dirty="0"/>
              <a:t>：保存关于报警、作业、操作员等信息</a:t>
            </a:r>
          </a:p>
          <a:p>
            <a:pPr algn="just">
              <a:spcBef>
                <a:spcPts val="1800"/>
              </a:spcBef>
            </a:pPr>
            <a:r>
              <a:rPr lang="en-US" altLang="zh-CN" sz="3000" dirty="0">
                <a:solidFill>
                  <a:srgbClr val="FF0000"/>
                </a:solidFill>
              </a:rPr>
              <a:t>Model</a:t>
            </a:r>
            <a:r>
              <a:rPr lang="zh-CN" altLang="en-US" sz="3000" dirty="0"/>
              <a:t>：包含所有用户数据库的共享信息。当用户创建数据库时，系统自动将</a:t>
            </a:r>
            <a:r>
              <a:rPr lang="en-US" altLang="zh-CN" sz="3000" dirty="0"/>
              <a:t>model</a:t>
            </a:r>
            <a:r>
              <a:rPr lang="zh-CN" altLang="en-US" sz="3000" dirty="0"/>
              <a:t>数据库中的内容复制到新建数据库中。</a:t>
            </a:r>
          </a:p>
          <a:p>
            <a:pPr algn="just">
              <a:spcBef>
                <a:spcPts val="1800"/>
              </a:spcBef>
            </a:pPr>
            <a:r>
              <a:rPr lang="en-US" altLang="zh-CN" sz="3000" dirty="0">
                <a:solidFill>
                  <a:srgbClr val="FF0000"/>
                </a:solidFill>
              </a:rPr>
              <a:t>Tempdb</a:t>
            </a:r>
            <a:r>
              <a:rPr lang="zh-CN" altLang="en-US" sz="3000" dirty="0"/>
              <a:t>：临时数据库，用于存储用户创建的临时表、用户声明的变量以及用户定义的游标数据等。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3.3.2 数据库基本概念</a:t>
            </a:r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1259632" y="1700808"/>
            <a:ext cx="7499176" cy="3645768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2400"/>
              </a:spcBef>
            </a:pPr>
            <a:r>
              <a:rPr lang="en-US" altLang="zh-CN" dirty="0"/>
              <a:t>1</a:t>
            </a:r>
            <a:r>
              <a:rPr lang="zh-CN" altLang="en-US" dirty="0"/>
              <a:t>．</a:t>
            </a:r>
            <a:r>
              <a:rPr lang="en-US" altLang="zh-CN" dirty="0"/>
              <a:t>SQL Server</a:t>
            </a:r>
            <a:r>
              <a:rPr lang="zh-CN" altLang="en-US" dirty="0"/>
              <a:t>数据库的组成</a:t>
            </a:r>
            <a:endParaRPr lang="en-US" altLang="zh-CN" dirty="0"/>
          </a:p>
          <a:p>
            <a:pPr>
              <a:spcBef>
                <a:spcPts val="2400"/>
              </a:spcBef>
            </a:pPr>
            <a:r>
              <a:rPr lang="en-US" altLang="zh-CN" dirty="0"/>
              <a:t>2</a:t>
            </a:r>
            <a:r>
              <a:rPr lang="zh-CN" altLang="en-US" dirty="0"/>
              <a:t>．关于数据的存储分配</a:t>
            </a:r>
          </a:p>
          <a:p>
            <a:pPr>
              <a:spcBef>
                <a:spcPts val="2400"/>
              </a:spcBef>
            </a:pPr>
            <a:r>
              <a:rPr lang="en-US" altLang="zh-CN" dirty="0"/>
              <a:t>3</a:t>
            </a:r>
            <a:r>
              <a:rPr lang="zh-CN" altLang="en-US" dirty="0"/>
              <a:t>．数据库文件的属性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1．SQL Server数据库的组成</a:t>
            </a: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323528" y="1484784"/>
            <a:ext cx="8606984" cy="5144348"/>
          </a:xfrm>
          <a:ln/>
        </p:spPr>
        <p:txBody>
          <a:bodyPr vert="horz" wrap="square" lIns="91440" tIns="45720" rIns="91440" bIns="45720" anchor="t" anchorCtr="0"/>
          <a:lstStyle/>
          <a:p>
            <a:pPr algn="just">
              <a:spcBef>
                <a:spcPts val="2400"/>
              </a:spcBef>
            </a:pPr>
            <a:r>
              <a:rPr lang="en-US" altLang="zh-CN" sz="2800" dirty="0"/>
              <a:t>SQL Server</a:t>
            </a:r>
            <a:r>
              <a:rPr lang="zh-CN" altLang="en-US" sz="2800" dirty="0"/>
              <a:t>将数据库映射为一组操作系统文件，这些文件被划分为两</a:t>
            </a:r>
            <a:r>
              <a:rPr lang="zh-CN" altLang="en-US" sz="2800" dirty="0" smtClean="0"/>
              <a:t>类：数据</a:t>
            </a:r>
            <a:r>
              <a:rPr lang="zh-CN" altLang="en-US" sz="2800" dirty="0"/>
              <a:t>文件和</a:t>
            </a:r>
            <a:r>
              <a:rPr lang="zh-CN" altLang="en-US" sz="2800" dirty="0" smtClean="0"/>
              <a:t>日志文件</a:t>
            </a:r>
            <a:endParaRPr lang="en-US" altLang="zh-CN" sz="2800" dirty="0"/>
          </a:p>
          <a:p>
            <a:pPr algn="just">
              <a:spcBef>
                <a:spcPts val="24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数据文件</a:t>
            </a:r>
            <a:r>
              <a:rPr lang="zh-CN" altLang="en-US" sz="2800" dirty="0"/>
              <a:t>包含数据和对象，例如表、索引、存储过程和视图等。</a:t>
            </a:r>
            <a:endParaRPr lang="en-US" altLang="zh-CN" sz="2800" dirty="0"/>
          </a:p>
          <a:p>
            <a:pPr algn="just">
              <a:spcBef>
                <a:spcPts val="24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日志文件</a:t>
            </a:r>
            <a:r>
              <a:rPr lang="zh-CN" altLang="en-US" sz="2800" dirty="0"/>
              <a:t>包含恢复数据库中的所有事务需要的信息。</a:t>
            </a:r>
            <a:endParaRPr lang="en-US" altLang="zh-CN" sz="2800" dirty="0"/>
          </a:p>
          <a:p>
            <a:pPr algn="just">
              <a:spcBef>
                <a:spcPts val="2400"/>
              </a:spcBef>
            </a:pPr>
            <a:r>
              <a:rPr lang="zh-CN" altLang="en-US" sz="2800" dirty="0"/>
              <a:t>数据和日志信息不混合在同一个文件中，一个文件只由一个数据库使用。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数据文件</a:t>
            </a:r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xfrm>
            <a:off x="357188" y="1143000"/>
            <a:ext cx="8429625" cy="528637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200"/>
              </a:spcBef>
            </a:pPr>
            <a:r>
              <a:rPr lang="zh-CN" altLang="en-US" sz="2800" dirty="0"/>
              <a:t>用于存放数据库数据。数据文件又分为：</a:t>
            </a:r>
          </a:p>
          <a:p>
            <a:pPr>
              <a:spcBef>
                <a:spcPts val="2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主要数据文件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lvl="1">
              <a:spcBef>
                <a:spcPts val="200"/>
              </a:spcBef>
            </a:pPr>
            <a:r>
              <a:rPr lang="zh-CN" altLang="en-US" sz="2600" dirty="0"/>
              <a:t>推荐扩展名是</a:t>
            </a:r>
            <a:r>
              <a:rPr lang="en-US" altLang="zh-CN" sz="2600" dirty="0"/>
              <a:t>.mdf</a:t>
            </a:r>
            <a:r>
              <a:rPr lang="zh-CN" altLang="en-US" sz="2600" dirty="0"/>
              <a:t>，</a:t>
            </a:r>
            <a:endParaRPr lang="en-US" altLang="zh-CN" sz="2600" dirty="0"/>
          </a:p>
          <a:p>
            <a:pPr lvl="1">
              <a:spcBef>
                <a:spcPts val="200"/>
              </a:spcBef>
            </a:pPr>
            <a:r>
              <a:rPr lang="zh-CN" altLang="en-US" sz="2600" dirty="0"/>
              <a:t>包含数据库的系统信息，也可存放用户数据。</a:t>
            </a:r>
            <a:endParaRPr lang="en-US" altLang="zh-CN" sz="2600" dirty="0"/>
          </a:p>
          <a:p>
            <a:pPr lvl="1">
              <a:spcBef>
                <a:spcPts val="200"/>
              </a:spcBef>
            </a:pPr>
            <a:r>
              <a:rPr lang="zh-CN" altLang="en-US" sz="2600" dirty="0"/>
              <a:t>每个数据库都有且只能有一个主要数据文件。</a:t>
            </a:r>
            <a:endParaRPr lang="en-US" altLang="zh-CN" sz="2600" dirty="0"/>
          </a:p>
          <a:p>
            <a:pPr lvl="1">
              <a:spcBef>
                <a:spcPts val="200"/>
              </a:spcBef>
            </a:pPr>
            <a:r>
              <a:rPr lang="zh-CN" altLang="en-US" sz="2600" dirty="0"/>
              <a:t>是为数据库创建的第一个数据文件。</a:t>
            </a:r>
            <a:endParaRPr lang="en-US" altLang="zh-CN" sz="2600" dirty="0"/>
          </a:p>
          <a:p>
            <a:pPr lvl="1">
              <a:spcBef>
                <a:spcPts val="200"/>
              </a:spcBef>
            </a:pPr>
            <a:r>
              <a:rPr lang="zh-CN" altLang="en-US" sz="2600" dirty="0"/>
              <a:t>不能小于</a:t>
            </a:r>
            <a:r>
              <a:rPr lang="en-US" altLang="zh-CN" sz="2600" dirty="0"/>
              <a:t>3MB</a:t>
            </a:r>
            <a:r>
              <a:rPr lang="zh-CN" altLang="en-US" sz="2600" dirty="0"/>
              <a:t>。</a:t>
            </a:r>
          </a:p>
          <a:p>
            <a:pPr>
              <a:spcBef>
                <a:spcPts val="2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次要数据文件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lvl="1">
              <a:spcBef>
                <a:spcPts val="200"/>
              </a:spcBef>
            </a:pPr>
            <a:r>
              <a:rPr lang="zh-CN" altLang="en-US" sz="2600" dirty="0"/>
              <a:t>推荐扩展名是</a:t>
            </a:r>
            <a:r>
              <a:rPr lang="en-US" altLang="zh-CN" sz="2600" dirty="0"/>
              <a:t>.ndf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lvl="1">
              <a:spcBef>
                <a:spcPts val="200"/>
              </a:spcBef>
            </a:pPr>
            <a:r>
              <a:rPr lang="zh-CN" altLang="en-US" sz="2600" dirty="0"/>
              <a:t>一个数据库可以包含</a:t>
            </a:r>
            <a:r>
              <a:rPr lang="en-US" altLang="zh-CN" sz="2600" dirty="0"/>
              <a:t>0—n</a:t>
            </a:r>
            <a:r>
              <a:rPr lang="zh-CN" altLang="en-US" sz="2600" dirty="0"/>
              <a:t>个次要数据文件。</a:t>
            </a:r>
            <a:endParaRPr lang="en-US" altLang="zh-CN" sz="2600" dirty="0"/>
          </a:p>
          <a:p>
            <a:pPr lvl="1">
              <a:spcBef>
                <a:spcPts val="200"/>
              </a:spcBef>
            </a:pPr>
            <a:r>
              <a:rPr lang="zh-CN" altLang="en-US" sz="2600" dirty="0"/>
              <a:t>可与主要数据文件存放在不同地方。</a:t>
            </a:r>
            <a:endParaRPr lang="en-US" altLang="zh-CN" sz="2600" dirty="0"/>
          </a:p>
          <a:p>
            <a:pPr>
              <a:spcBef>
                <a:spcPts val="200"/>
              </a:spcBef>
            </a:pPr>
            <a:r>
              <a:rPr lang="zh-CN" altLang="en-US" sz="2800" dirty="0">
                <a:solidFill>
                  <a:srgbClr val="009900"/>
                </a:solidFill>
              </a:rPr>
              <a:t>所有文件的使用对用户也是透明的。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日志文件</a:t>
            </a:r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1619672" y="2204864"/>
            <a:ext cx="6851104" cy="286377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2400"/>
              </a:spcBef>
            </a:pPr>
            <a:r>
              <a:rPr lang="zh-CN" altLang="en-US" sz="2600" dirty="0"/>
              <a:t>推荐扩展名为</a:t>
            </a:r>
            <a:r>
              <a:rPr lang="en-US" altLang="zh-CN" sz="2600" dirty="0"/>
              <a:t>.ldf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>
              <a:spcBef>
                <a:spcPts val="2400"/>
              </a:spcBef>
            </a:pPr>
            <a:r>
              <a:rPr lang="zh-CN" altLang="en-US" sz="2600" dirty="0"/>
              <a:t>用于存放恢复数据库的所有日志信息。</a:t>
            </a:r>
            <a:endParaRPr lang="en-US" altLang="zh-CN" sz="2600" dirty="0"/>
          </a:p>
          <a:p>
            <a:pPr>
              <a:spcBef>
                <a:spcPts val="2400"/>
              </a:spcBef>
            </a:pPr>
            <a:r>
              <a:rPr lang="zh-CN" altLang="en-US" sz="2600" dirty="0"/>
              <a:t>每个数据库有</a:t>
            </a:r>
            <a:r>
              <a:rPr lang="en-US" altLang="zh-CN" sz="2600" dirty="0"/>
              <a:t>1—n</a:t>
            </a:r>
            <a:r>
              <a:rPr lang="zh-CN" altLang="en-US" sz="2600" dirty="0"/>
              <a:t>个日志文件。</a:t>
            </a:r>
          </a:p>
          <a:p>
            <a:endParaRPr lang="zh-CN" altLang="en-US" b="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2．关于数据的存储分配</a:t>
            </a:r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395536" y="1124744"/>
            <a:ext cx="8229600" cy="5085928"/>
          </a:xfrm>
          <a:ln/>
        </p:spPr>
        <p:txBody>
          <a:bodyPr vert="horz" wrap="square" lIns="91440" tIns="45720" rIns="91440" bIns="45720" anchor="t" anchorCtr="0"/>
          <a:lstStyle/>
          <a:p>
            <a:pPr algn="just">
              <a:spcBef>
                <a:spcPts val="1800"/>
              </a:spcBef>
              <a:spcAft>
                <a:spcPts val="1800"/>
              </a:spcAft>
            </a:pPr>
            <a:r>
              <a:rPr lang="zh-CN" altLang="en-US" sz="2800" dirty="0"/>
              <a:t>数据库中数据的存储分配单位是数据页。一页是一块</a:t>
            </a:r>
            <a:r>
              <a:rPr lang="en-US" altLang="zh-CN" sz="2800" dirty="0"/>
              <a:t>8KB</a:t>
            </a:r>
            <a:r>
              <a:rPr lang="zh-CN" altLang="en-US" sz="2800" dirty="0"/>
              <a:t>（其中用</a:t>
            </a:r>
            <a:r>
              <a:rPr lang="en-US" altLang="zh-CN" sz="2800" dirty="0"/>
              <a:t>8060</a:t>
            </a:r>
            <a:r>
              <a:rPr lang="zh-CN" altLang="en-US" sz="2800" dirty="0"/>
              <a:t>个字节存放数据，另外</a:t>
            </a:r>
            <a:r>
              <a:rPr lang="en-US" altLang="zh-CN" sz="2800" dirty="0"/>
              <a:t>132</a:t>
            </a:r>
            <a:r>
              <a:rPr lang="zh-CN" altLang="en-US" sz="2800" dirty="0"/>
              <a:t>个字节存放系统信息）的连续磁盘空间。</a:t>
            </a:r>
            <a:endParaRPr lang="en-US" altLang="zh-CN" sz="2800" dirty="0"/>
          </a:p>
          <a:p>
            <a:pPr algn="just">
              <a:spcBef>
                <a:spcPts val="1800"/>
              </a:spcBef>
              <a:spcAft>
                <a:spcPts val="1800"/>
              </a:spcAft>
            </a:pPr>
            <a:r>
              <a:rPr lang="zh-CN" altLang="en-US" sz="2800" dirty="0"/>
              <a:t>页是存储数据的最小空间分配单位。</a:t>
            </a:r>
          </a:p>
          <a:p>
            <a:pPr algn="just">
              <a:spcBef>
                <a:spcPts val="1800"/>
              </a:spcBef>
              <a:spcAft>
                <a:spcPts val="1800"/>
              </a:spcAft>
            </a:pPr>
            <a:r>
              <a:rPr lang="zh-CN" altLang="en-US" sz="2800" dirty="0"/>
              <a:t>不允许表中的一行数据存储在不同页上（</a:t>
            </a:r>
            <a:r>
              <a:rPr lang="en-US" altLang="zh-CN" sz="2800" dirty="0"/>
              <a:t>varchar(max)</a:t>
            </a:r>
            <a:r>
              <a:rPr lang="zh-CN" altLang="en-US" sz="2800" dirty="0"/>
              <a:t>、</a:t>
            </a:r>
            <a:r>
              <a:rPr lang="en-US" altLang="zh-CN" sz="2800" dirty="0"/>
              <a:t>nvarchar(max)</a:t>
            </a:r>
            <a:r>
              <a:rPr lang="zh-CN" altLang="en-US" sz="2800" dirty="0"/>
              <a:t>、</a:t>
            </a:r>
            <a:r>
              <a:rPr lang="en-US" altLang="zh-CN" sz="2800" dirty="0"/>
              <a:t>text</a:t>
            </a:r>
            <a:r>
              <a:rPr lang="zh-CN" altLang="en-US" sz="2800" dirty="0"/>
              <a:t>、</a:t>
            </a:r>
            <a:r>
              <a:rPr lang="en-US" altLang="zh-CN" sz="2800" dirty="0"/>
              <a:t>ntext</a:t>
            </a:r>
            <a:r>
              <a:rPr lang="zh-CN" altLang="en-US" sz="2800" dirty="0"/>
              <a:t>、</a:t>
            </a:r>
            <a:r>
              <a:rPr lang="en-US" altLang="zh-CN" sz="2800" dirty="0"/>
              <a:t>varbinary(max)</a:t>
            </a:r>
            <a:r>
              <a:rPr lang="zh-CN" altLang="en-US" sz="2800" dirty="0"/>
              <a:t>和</a:t>
            </a:r>
            <a:r>
              <a:rPr lang="en-US" altLang="zh-CN" sz="2800" dirty="0"/>
              <a:t>image</a:t>
            </a:r>
            <a:r>
              <a:rPr lang="zh-CN" altLang="en-US" sz="2800" dirty="0"/>
              <a:t>数据类型除外），即</a:t>
            </a:r>
            <a:r>
              <a:rPr lang="zh-CN" altLang="en-US" sz="2800" dirty="0">
                <a:solidFill>
                  <a:srgbClr val="FF0000"/>
                </a:solidFill>
              </a:rPr>
              <a:t>行不能跨页存储</a:t>
            </a:r>
            <a:r>
              <a:rPr lang="zh-CN" altLang="en-US" sz="2800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示例</a:t>
            </a:r>
          </a:p>
        </p:txBody>
      </p:sp>
      <p:sp>
        <p:nvSpPr>
          <p:cNvPr id="1028" name="内容占位符 2"/>
          <p:cNvSpPr>
            <a:spLocks noGrp="1"/>
          </p:cNvSpPr>
          <p:nvPr>
            <p:ph idx="1"/>
          </p:nvPr>
        </p:nvSpPr>
        <p:spPr>
          <a:xfrm>
            <a:off x="457200" y="1214755"/>
            <a:ext cx="8229600" cy="28575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600"/>
              </a:spcBef>
            </a:pPr>
            <a:r>
              <a:rPr lang="zh-CN" altLang="en-US" sz="2800" dirty="0"/>
              <a:t>假设某数据表有</a:t>
            </a:r>
            <a:r>
              <a:rPr lang="en-US" altLang="zh-CN" sz="2800" dirty="0"/>
              <a:t>10000</a:t>
            </a:r>
            <a:r>
              <a:rPr lang="zh-CN" altLang="en-US" sz="2800" dirty="0"/>
              <a:t>行数据，每行</a:t>
            </a:r>
            <a:r>
              <a:rPr lang="en-US" altLang="zh-CN" sz="2800" dirty="0"/>
              <a:t>3000</a:t>
            </a:r>
            <a:r>
              <a:rPr lang="zh-CN" altLang="en-US" sz="2800" dirty="0"/>
              <a:t>字节，估算其需要的空间</a:t>
            </a:r>
            <a:r>
              <a:rPr lang="en-US" altLang="zh-CN" sz="2800" dirty="0"/>
              <a:t>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  </a:t>
            </a:r>
            <a:r>
              <a:rPr lang="en-US" altLang="zh-CN" sz="2800" dirty="0">
                <a:solidFill>
                  <a:srgbClr val="FF0000"/>
                </a:solidFill>
              </a:rPr>
              <a:t>(10000/2) * 8KB = 40MB</a:t>
            </a:r>
            <a:endParaRPr lang="en-US" altLang="zh-CN" sz="2800" dirty="0"/>
          </a:p>
          <a:p>
            <a:pPr>
              <a:spcBef>
                <a:spcPts val="600"/>
              </a:spcBef>
            </a:pPr>
            <a:r>
              <a:rPr lang="zh-CN" altLang="en-US" sz="2800" dirty="0"/>
              <a:t>其中，每页中有</a:t>
            </a:r>
            <a:r>
              <a:rPr lang="en-US" altLang="zh-CN" sz="2800" dirty="0"/>
              <a:t>6000</a:t>
            </a:r>
            <a:r>
              <a:rPr lang="zh-CN" altLang="en-US" sz="2800" dirty="0"/>
              <a:t>字节用于存储数据，有</a:t>
            </a:r>
            <a:r>
              <a:rPr lang="en-US" altLang="zh-CN" sz="2800" dirty="0"/>
              <a:t>2060</a:t>
            </a:r>
            <a:r>
              <a:rPr lang="zh-CN" altLang="en-US" sz="2800" dirty="0"/>
              <a:t>个字节是浪费的。</a:t>
            </a:r>
          </a:p>
        </p:txBody>
      </p:sp>
      <p:sp>
        <p:nvSpPr>
          <p:cNvPr id="1029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6" name="Object 1"/>
          <p:cNvGraphicFramePr/>
          <p:nvPr/>
        </p:nvGraphicFramePr>
        <p:xfrm>
          <a:off x="1841500" y="3930015"/>
          <a:ext cx="5245100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r:id="rId3" imgW="4057015" imgH="1839595" progId="Visio.Drawing.11">
                  <p:embed/>
                </p:oleObj>
              </mc:Choice>
              <mc:Fallback>
                <p:oleObj r:id="rId3" imgW="4057015" imgH="183959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1500" y="3930015"/>
                        <a:ext cx="5245100" cy="239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3．数据库文件的属性</a:t>
            </a:r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182610" cy="3528392"/>
          </a:xfrm>
          <a:ln/>
        </p:spPr>
        <p:txBody>
          <a:bodyPr vert="horz" wrap="square" lIns="91440" tIns="45720" rIns="91440" bIns="45720" anchor="t" anchorCtr="0"/>
          <a:lstStyle/>
          <a:p>
            <a:pPr algn="just">
              <a:spcBef>
                <a:spcPts val="1800"/>
              </a:spcBef>
            </a:pPr>
            <a:r>
              <a:rPr lang="zh-CN" altLang="en-US" sz="3000" dirty="0">
                <a:solidFill>
                  <a:srgbClr val="FF0000"/>
                </a:solidFill>
              </a:rPr>
              <a:t>文件名及其位置</a:t>
            </a:r>
            <a:r>
              <a:rPr lang="zh-CN" altLang="en-US" sz="3000" dirty="0"/>
              <a:t>：每个文件都有一个逻辑文件名和物理文件名及物理存储位置。</a:t>
            </a:r>
            <a:endParaRPr lang="en-US" altLang="zh-CN" sz="3000" dirty="0"/>
          </a:p>
          <a:p>
            <a:pPr algn="just">
              <a:spcBef>
                <a:spcPts val="1800"/>
              </a:spcBef>
            </a:pPr>
            <a:r>
              <a:rPr lang="zh-CN" altLang="en-US" sz="3000" dirty="0">
                <a:solidFill>
                  <a:srgbClr val="FF0000"/>
                </a:solidFill>
              </a:rPr>
              <a:t>初始大小</a:t>
            </a:r>
            <a:r>
              <a:rPr lang="zh-CN" altLang="en-US" sz="3000" dirty="0"/>
              <a:t>：指定每个文件的初始大小。</a:t>
            </a:r>
          </a:p>
          <a:p>
            <a:pPr algn="just">
              <a:spcBef>
                <a:spcPts val="1800"/>
              </a:spcBef>
            </a:pPr>
            <a:r>
              <a:rPr lang="zh-CN" altLang="en-US" sz="3000" dirty="0">
                <a:solidFill>
                  <a:srgbClr val="FF0000"/>
                </a:solidFill>
              </a:rPr>
              <a:t>增长方式</a:t>
            </a:r>
            <a:r>
              <a:rPr lang="zh-CN" altLang="en-US" sz="3000" dirty="0"/>
              <a:t>：指定文件是否自动增长。</a:t>
            </a:r>
          </a:p>
          <a:p>
            <a:pPr algn="just">
              <a:spcBef>
                <a:spcPts val="1800"/>
              </a:spcBef>
            </a:pPr>
            <a:r>
              <a:rPr lang="zh-CN" altLang="en-US" sz="3000" dirty="0">
                <a:solidFill>
                  <a:srgbClr val="FF0000"/>
                </a:solidFill>
              </a:rPr>
              <a:t>最大大小</a:t>
            </a:r>
            <a:r>
              <a:rPr lang="zh-CN" altLang="en-US" sz="3000" dirty="0"/>
              <a:t>：指定文件增长的最大空间限制。</a:t>
            </a:r>
          </a:p>
          <a:p>
            <a:pPr algn="just">
              <a:spcBef>
                <a:spcPts val="1800"/>
              </a:spcBef>
            </a:pPr>
            <a:endParaRPr lang="zh-CN" altLang="en-US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3.3.4 用T-SQL语句创建数据库</a:t>
            </a:r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>
          <a:xfrm>
            <a:off x="214313" y="1143000"/>
            <a:ext cx="8643937" cy="5214938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CREATE DATABASE database_name </a:t>
            </a:r>
            <a:endParaRPr lang="zh-CN" altLang="en-US" sz="28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   [ ON </a:t>
            </a:r>
            <a:endParaRPr lang="zh-CN" altLang="en-US" sz="28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       [ PRIMARY ] [ &lt;filespec&gt; [ ,...n ] </a:t>
            </a:r>
            <a:endParaRPr lang="zh-CN" altLang="en-US" sz="28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   [ LOG ON { &lt;filespec&gt; [ ,...n ] } ] </a:t>
            </a:r>
            <a:endParaRPr lang="zh-CN" altLang="en-US" sz="28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   ] ]</a:t>
            </a:r>
            <a:endParaRPr lang="zh-CN" altLang="en-US" sz="28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 </a:t>
            </a:r>
            <a:r>
              <a:rPr lang="en-US" altLang="zh-CN" sz="2400" dirty="0"/>
              <a:t>&lt;filespec&gt; ::= {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(   NAME = logical_file_name ,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FILENAME = { 'os_file_name' | 'filestream_path' } 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[ , SIZE = size [ KB | MB | GB | TB ] ] 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[ , MAXSIZE ={max_size[KB|MB|GB|TB]| UNLIMITED } ] 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[ , FILEGROWTH =growth_increment[KB|MB|GB|TB|% ] ]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) [ ,...n ]</a:t>
            </a:r>
            <a:endParaRPr lang="zh-CN" altLang="en-US" sz="24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示例1</a:t>
            </a:r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2925688"/>
          </a:xfrm>
          <a:ln/>
        </p:spPr>
        <p:txBody>
          <a:bodyPr vert="horz" wrap="square" lIns="91440" tIns="45720" rIns="91440" bIns="45720" anchor="t" anchorCtr="0"/>
          <a:lstStyle/>
          <a:p>
            <a:pPr algn="just"/>
            <a:r>
              <a:rPr lang="zh-CN" altLang="en-US" dirty="0" smtClean="0"/>
              <a:t>例</a:t>
            </a:r>
            <a:r>
              <a:rPr lang="en-US" altLang="zh-CN" dirty="0" smtClean="0"/>
              <a:t>3.1 </a:t>
            </a:r>
            <a:r>
              <a:rPr lang="zh-CN" altLang="en-US" dirty="0" smtClean="0"/>
              <a:t>创建</a:t>
            </a:r>
            <a:r>
              <a:rPr lang="zh-CN" altLang="en-US" dirty="0"/>
              <a:t>一个名为“学生管理数据库”的数据库，其他选项均采用默认设置。</a:t>
            </a:r>
          </a:p>
          <a:p>
            <a:pPr algn="just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2060"/>
                </a:solidFill>
              </a:rPr>
              <a:t>	CREATE  DATABASE </a:t>
            </a:r>
            <a:r>
              <a:rPr lang="zh-CN" altLang="en-US" dirty="0">
                <a:solidFill>
                  <a:srgbClr val="002060"/>
                </a:solidFill>
              </a:rPr>
              <a:t>学生管理数据库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eaLnBrk="1" hangingPunct="1"/>
            <a:r>
              <a:rPr lang="zh-CN" altLang="en-US" sz="4000" b="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示例</a:t>
            </a:r>
            <a:r>
              <a:rPr lang="en-US" altLang="zh-CN" dirty="0"/>
              <a:t>3.</a:t>
            </a:r>
            <a:r>
              <a:rPr lang="zh-CN" altLang="en-US" sz="4000" b="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endParaRPr lang="zh-CN" altLang="en-US" sz="40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457200" y="1214438"/>
            <a:ext cx="8229600" cy="5072062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itchFamily="2" charset="-122"/>
                <a:cs typeface="+mn-cs"/>
              </a:rPr>
              <a:t>CREATE DATABASE RShDB</a:t>
            </a:r>
            <a:endParaRPr lang="zh-CN" altLang="en-US" sz="2400" dirty="0">
              <a:latin typeface="宋体" pitchFamily="2" charset="-122"/>
              <a:cs typeface="+mn-cs"/>
            </a:endParaRP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itchFamily="2" charset="-122"/>
                <a:cs typeface="+mn-cs"/>
              </a:rPr>
              <a:t>ON </a:t>
            </a:r>
            <a:endParaRPr lang="zh-CN" altLang="en-US" sz="2400" dirty="0">
              <a:latin typeface="宋体" pitchFamily="2" charset="-122"/>
              <a:cs typeface="+mn-cs"/>
            </a:endParaRP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itchFamily="2" charset="-122"/>
                <a:cs typeface="+mn-cs"/>
              </a:rPr>
              <a:t> ( NAME = RShDB,</a:t>
            </a:r>
            <a:endParaRPr lang="zh-CN" altLang="en-US" sz="2400" dirty="0">
              <a:latin typeface="宋体" pitchFamily="2" charset="-122"/>
              <a:cs typeface="+mn-cs"/>
            </a:endParaRP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itchFamily="2" charset="-122"/>
                <a:cs typeface="+mn-cs"/>
              </a:rPr>
              <a:t>   FILENAME = 'D:\RShDB_Data\RShDB.mdf ',</a:t>
            </a:r>
            <a:endParaRPr lang="zh-CN" altLang="en-US" sz="2400" dirty="0">
              <a:latin typeface="宋体" pitchFamily="2" charset="-122"/>
              <a:cs typeface="+mn-cs"/>
            </a:endParaRP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itchFamily="2" charset="-122"/>
                <a:cs typeface="+mn-cs"/>
              </a:rPr>
              <a:t>   SIZE = 10,</a:t>
            </a:r>
            <a:endParaRPr lang="zh-CN" altLang="en-US" sz="2400" dirty="0">
              <a:latin typeface="宋体" pitchFamily="2" charset="-122"/>
              <a:cs typeface="+mn-cs"/>
            </a:endParaRP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itchFamily="2" charset="-122"/>
                <a:cs typeface="+mn-cs"/>
              </a:rPr>
              <a:t>   MAXSIZE = 30,</a:t>
            </a:r>
            <a:endParaRPr lang="zh-CN" altLang="en-US" sz="2400" dirty="0">
              <a:latin typeface="宋体" pitchFamily="2" charset="-122"/>
              <a:cs typeface="+mn-cs"/>
            </a:endParaRP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itchFamily="2" charset="-122"/>
                <a:cs typeface="+mn-cs"/>
              </a:rPr>
              <a:t>   FILEGROWTH = 5 )</a:t>
            </a:r>
            <a:endParaRPr lang="zh-CN" altLang="en-US" sz="2400" dirty="0">
              <a:latin typeface="宋体" pitchFamily="2" charset="-122"/>
              <a:cs typeface="+mn-cs"/>
            </a:endParaRP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itchFamily="2" charset="-122"/>
                <a:cs typeface="+mn-cs"/>
              </a:rPr>
              <a:t>LOG ON</a:t>
            </a:r>
            <a:endParaRPr lang="zh-CN" altLang="en-US" sz="2400" dirty="0">
              <a:latin typeface="宋体" pitchFamily="2" charset="-122"/>
              <a:cs typeface="+mn-cs"/>
            </a:endParaRP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itchFamily="2" charset="-122"/>
                <a:cs typeface="+mn-cs"/>
              </a:rPr>
              <a:t>( NAME = RShDB_log,</a:t>
            </a:r>
            <a:endParaRPr lang="zh-CN" altLang="en-US" sz="2400" dirty="0">
              <a:latin typeface="宋体" pitchFamily="2" charset="-122"/>
              <a:cs typeface="+mn-cs"/>
            </a:endParaRP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itchFamily="2" charset="-122"/>
                <a:cs typeface="+mn-cs"/>
              </a:rPr>
              <a:t>  FILENAME = 'D:\RShDB_Data\RShDB_log.ldf ',</a:t>
            </a:r>
            <a:endParaRPr lang="zh-CN" altLang="en-US" sz="2400" dirty="0">
              <a:latin typeface="宋体" pitchFamily="2" charset="-122"/>
              <a:cs typeface="+mn-cs"/>
            </a:endParaRP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itchFamily="2" charset="-122"/>
                <a:cs typeface="+mn-cs"/>
              </a:rPr>
              <a:t>  SIZE = 3,</a:t>
            </a:r>
            <a:endParaRPr lang="zh-CN" altLang="en-US" sz="2400" dirty="0">
              <a:latin typeface="宋体" pitchFamily="2" charset="-122"/>
              <a:cs typeface="+mn-cs"/>
            </a:endParaRP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itchFamily="2" charset="-122"/>
                <a:cs typeface="+mn-cs"/>
              </a:rPr>
              <a:t>  MAXSIZE = 12,</a:t>
            </a:r>
            <a:endParaRPr lang="zh-CN" altLang="en-US" sz="2400" dirty="0">
              <a:latin typeface="宋体" pitchFamily="2" charset="-122"/>
              <a:cs typeface="+mn-cs"/>
            </a:endParaRP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itchFamily="2" charset="-122"/>
                <a:cs typeface="+mn-cs"/>
              </a:rPr>
              <a:t>  FILEGROWTH = 2 )</a:t>
            </a:r>
            <a:endParaRPr lang="zh-CN" altLang="en-US" sz="2400" dirty="0">
              <a:latin typeface="宋体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eaLnBrk="1" hangingPunct="1"/>
            <a:r>
              <a:rPr lang="zh-CN" altLang="en-US" sz="4000" b="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示例</a:t>
            </a:r>
            <a:r>
              <a:rPr lang="en-US" altLang="zh-CN" dirty="0"/>
              <a:t>3.</a:t>
            </a:r>
            <a:r>
              <a:rPr lang="zh-CN" altLang="en-US" sz="4000" b="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</a:t>
            </a:r>
            <a:endParaRPr lang="zh-CN" altLang="en-US" sz="4000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>
          <a:xfrm>
            <a:off x="457200" y="1214438"/>
            <a:ext cx="8229600" cy="528637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CREATE DATABASE students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ON PRIMARY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  ( NAME = students,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    FILENAME = 'F:\Data\students.mdf',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    SIZE = 3MB,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    MAXSIZE = UNLIMITED ),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  ( NAME = students_data1,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    FILENAME = 'D:\Data\students_data1.ndf',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    SIZE = 5MB,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    MAXSIZE = 10MB,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    FILEGROWTH = 1MB  )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LOG ON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  ( NAME = students_log,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    FILENAME = 'F:\Data\students_log.ldf',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    SIZE = 2MB,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    MAXSIZE = 6MB,</a:t>
            </a:r>
            <a:endParaRPr lang="zh-CN" altLang="en-US" sz="2000" dirty="0">
              <a:latin typeface="宋体" pitchFamily="2" charset="-122"/>
              <a:cs typeface="+mn-cs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itchFamily="2" charset="-122"/>
                <a:cs typeface="+mn-cs"/>
              </a:rPr>
              <a:t>    FILEGROWTH = 10% )</a:t>
            </a:r>
            <a:endParaRPr lang="zh-CN" altLang="en-US" sz="2000" dirty="0">
              <a:latin typeface="宋体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611188" y="0"/>
            <a:ext cx="7705725" cy="9906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3.4 创建与维护关系表</a:t>
            </a: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1547664" y="1844824"/>
            <a:ext cx="6128097" cy="2674937"/>
          </a:xfrm>
          <a:ln/>
        </p:spPr>
        <p:txBody>
          <a:bodyPr vert="horz" wrap="square" lIns="91440" tIns="45720" rIns="91440" bIns="45720" anchor="t" anchorCtr="0"/>
          <a:lstStyle/>
          <a:p>
            <a:pPr algn="just">
              <a:spcBef>
                <a:spcPts val="3000"/>
              </a:spcBef>
            </a:pPr>
            <a:r>
              <a:rPr lang="en-US" altLang="zh-CN" dirty="0"/>
              <a:t>3.4.1 </a:t>
            </a:r>
            <a:r>
              <a:rPr lang="zh-CN" altLang="en-US" dirty="0"/>
              <a:t>用</a:t>
            </a:r>
            <a:r>
              <a:rPr lang="en-US" altLang="zh-CN" dirty="0"/>
              <a:t>T-SQL</a:t>
            </a:r>
            <a:r>
              <a:rPr lang="zh-CN" altLang="en-US" dirty="0"/>
              <a:t>语句实现</a:t>
            </a:r>
          </a:p>
          <a:p>
            <a:pPr algn="just">
              <a:spcBef>
                <a:spcPts val="3000"/>
              </a:spcBef>
            </a:pPr>
            <a:r>
              <a:rPr lang="en-US" altLang="zh-CN" dirty="0"/>
              <a:t>3.4.2 </a:t>
            </a:r>
            <a:r>
              <a:rPr lang="zh-CN" altLang="en-US" dirty="0"/>
              <a:t>用</a:t>
            </a:r>
            <a:r>
              <a:rPr lang="en-US" altLang="zh-CN" dirty="0"/>
              <a:t>SSMS</a:t>
            </a:r>
            <a:r>
              <a:rPr lang="zh-CN" altLang="en-US" dirty="0"/>
              <a:t>工具实现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3.4.1 用T-SQL语句实现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1619672" y="1628800"/>
            <a:ext cx="6233889" cy="3296394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2400"/>
              </a:spcBef>
            </a:pPr>
            <a:r>
              <a:rPr lang="en-US" altLang="zh-CN" dirty="0"/>
              <a:t>1 </a:t>
            </a:r>
            <a:r>
              <a:rPr lang="zh-CN" altLang="en-US" dirty="0"/>
              <a:t>创建表</a:t>
            </a:r>
            <a:endParaRPr lang="en-US" altLang="zh-CN" dirty="0"/>
          </a:p>
          <a:p>
            <a:pPr>
              <a:spcBef>
                <a:spcPts val="2400"/>
              </a:spcBef>
            </a:pPr>
            <a:r>
              <a:rPr lang="en-US" altLang="zh-CN" dirty="0"/>
              <a:t>2 </a:t>
            </a:r>
            <a:r>
              <a:rPr lang="zh-CN" altLang="en-US" dirty="0"/>
              <a:t>定义完整性约束</a:t>
            </a:r>
            <a:endParaRPr lang="en-US" altLang="zh-CN" dirty="0"/>
          </a:p>
          <a:p>
            <a:pPr>
              <a:spcBef>
                <a:spcPts val="2400"/>
              </a:spcBef>
            </a:pPr>
            <a:r>
              <a:rPr lang="en-US" altLang="zh-CN" dirty="0"/>
              <a:t>3 </a:t>
            </a:r>
            <a:r>
              <a:rPr lang="zh-CN" altLang="en-US" dirty="0"/>
              <a:t>修改表结构</a:t>
            </a:r>
            <a:endParaRPr lang="en-US" altLang="zh-CN" dirty="0"/>
          </a:p>
          <a:p>
            <a:pPr>
              <a:spcBef>
                <a:spcPts val="2400"/>
              </a:spcBef>
            </a:pPr>
            <a:r>
              <a:rPr lang="en-US" altLang="zh-CN" dirty="0"/>
              <a:t>4 </a:t>
            </a:r>
            <a:r>
              <a:rPr lang="zh-CN" altLang="en-US" dirty="0"/>
              <a:t>删除表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 创建表</a:t>
            </a: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179388" y="1341438"/>
            <a:ext cx="8785225" cy="4983162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  <a:cs typeface="+mn-cs"/>
              </a:rPr>
              <a:t>CREATE  TABLE  &lt;</a:t>
            </a:r>
            <a:r>
              <a:rPr lang="zh-CN" altLang="en-US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  <a:cs typeface="+mn-cs"/>
              </a:rPr>
              <a:t>表名</a:t>
            </a: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  <a:cs typeface="+mn-cs"/>
              </a:rPr>
              <a:t>&gt;</a:t>
            </a:r>
            <a:r>
              <a:rPr lang="zh-CN" altLang="en-US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  <a:cs typeface="+mn-cs"/>
              </a:rPr>
              <a:t>（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&lt;</a:t>
            </a:r>
            <a:r>
              <a:rPr lang="zh-CN" altLang="en-US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列名</a:t>
            </a: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&gt;  &lt;</a:t>
            </a:r>
            <a:r>
              <a:rPr lang="zh-CN" altLang="en-US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数据类型</a:t>
            </a: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&gt;  [</a:t>
            </a:r>
            <a:r>
              <a:rPr lang="zh-CN" altLang="en-US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列级完整性约束定义</a:t>
            </a: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]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{,  &lt;</a:t>
            </a:r>
            <a:r>
              <a:rPr lang="zh-CN" altLang="en-US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列名</a:t>
            </a: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&gt;  &lt;</a:t>
            </a:r>
            <a:r>
              <a:rPr lang="zh-CN" altLang="en-US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数据类型</a:t>
            </a: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&gt;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    [</a:t>
            </a:r>
            <a:r>
              <a:rPr lang="zh-CN" altLang="en-US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列级完整性约束定义］ </a:t>
            </a: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… }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[, </a:t>
            </a:r>
            <a:r>
              <a:rPr lang="zh-CN" altLang="en-US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表级完整性约束定义 </a:t>
            </a: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] </a:t>
            </a:r>
            <a:r>
              <a:rPr lang="zh-CN" altLang="en-US" dirty="0">
                <a:solidFill>
                  <a:srgbClr val="FF0000"/>
                </a:solidFill>
                <a:latin typeface="仿宋_GB2312" panose="02010609030101010101" pitchFamily="49" charset="-122"/>
                <a:ea typeface="宋体" panose="02010600030101010101" pitchFamily="2" charset="-122"/>
              </a:rPr>
              <a:t>）</a:t>
            </a:r>
            <a:r>
              <a:rPr lang="zh-CN" altLang="en-US" sz="2400" dirty="0">
                <a:latin typeface="仿宋_GB2312" panose="02010609030101010101" pitchFamily="49" charset="-122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xfrm>
            <a:off x="179388" y="188913"/>
            <a:ext cx="849630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 定义完整性约束</a:t>
            </a:r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285750" y="1299845"/>
            <a:ext cx="8715375" cy="4948555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600"/>
              </a:spcBef>
            </a:pPr>
            <a:r>
              <a:rPr lang="en-US" altLang="zh-CN" sz="3000" dirty="0">
                <a:solidFill>
                  <a:srgbClr val="FF0000"/>
                </a:solidFill>
              </a:rPr>
              <a:t>NOT NULL</a:t>
            </a:r>
            <a:r>
              <a:rPr lang="zh-CN" altLang="en-US" sz="3000" dirty="0"/>
              <a:t>：限制列取值非空。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3000" dirty="0">
                <a:solidFill>
                  <a:srgbClr val="FF0000"/>
                </a:solidFill>
              </a:rPr>
              <a:t>DEFAULT</a:t>
            </a:r>
            <a:r>
              <a:rPr lang="zh-CN" altLang="en-US" sz="3000" dirty="0"/>
              <a:t>：给定列的默认值。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3000" dirty="0">
                <a:solidFill>
                  <a:srgbClr val="FF0000"/>
                </a:solidFill>
              </a:rPr>
              <a:t>UNIQUE</a:t>
            </a:r>
            <a:r>
              <a:rPr lang="zh-CN" altLang="en-US" sz="3000" dirty="0"/>
              <a:t>：限制列取值不重。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3000" dirty="0">
                <a:solidFill>
                  <a:srgbClr val="FF0000"/>
                </a:solidFill>
              </a:rPr>
              <a:t>CHECK</a:t>
            </a:r>
            <a:r>
              <a:rPr lang="zh-CN" altLang="en-US" sz="3000" dirty="0"/>
              <a:t>：限制列的取值范围。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3000" dirty="0">
                <a:solidFill>
                  <a:srgbClr val="FF0000"/>
                </a:solidFill>
              </a:rPr>
              <a:t>PRIMARY KEY</a:t>
            </a:r>
            <a:r>
              <a:rPr lang="zh-CN" altLang="en-US" sz="3000" dirty="0"/>
              <a:t>：定义主码。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3000" dirty="0">
                <a:solidFill>
                  <a:srgbClr val="FF0000"/>
                </a:solidFill>
              </a:rPr>
              <a:t>FOREIGN KEY</a:t>
            </a:r>
            <a:r>
              <a:rPr lang="zh-CN" altLang="en-US" sz="3000" dirty="0"/>
              <a:t>：定义外码。</a:t>
            </a:r>
            <a:endParaRPr lang="en-US" altLang="zh-CN" sz="3000" dirty="0"/>
          </a:p>
          <a:p>
            <a:pPr eaLnBrk="1" hangingPunct="1">
              <a:spcBef>
                <a:spcPts val="600"/>
              </a:spcBef>
            </a:pPr>
            <a:r>
              <a:rPr lang="zh-CN" altLang="en-US" sz="2800" dirty="0">
                <a:solidFill>
                  <a:srgbClr val="009900"/>
                </a:solidFill>
              </a:rPr>
              <a:t>说明：</a:t>
            </a:r>
            <a:endParaRPr lang="en-US" altLang="zh-CN" sz="2800" dirty="0">
              <a:solidFill>
                <a:srgbClr val="009900"/>
              </a:solidFill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CN" sz="2400" dirty="0">
                <a:solidFill>
                  <a:srgbClr val="009900"/>
                </a:solidFill>
              </a:rPr>
              <a:t>NOT NULL</a:t>
            </a:r>
            <a:r>
              <a:rPr lang="zh-CN" altLang="en-US" sz="2400" dirty="0">
                <a:solidFill>
                  <a:srgbClr val="009900"/>
                </a:solidFill>
              </a:rPr>
              <a:t>和</a:t>
            </a:r>
            <a:r>
              <a:rPr lang="en-US" altLang="zh-CN" sz="2400" dirty="0">
                <a:solidFill>
                  <a:srgbClr val="009900"/>
                </a:solidFill>
              </a:rPr>
              <a:t>DEFAULT</a:t>
            </a:r>
            <a:r>
              <a:rPr lang="zh-CN" altLang="en-US" sz="2400" dirty="0">
                <a:solidFill>
                  <a:srgbClr val="009900"/>
                </a:solidFill>
              </a:rPr>
              <a:t>只能定义在</a:t>
            </a:r>
            <a:r>
              <a:rPr lang="zh-CN" altLang="en-US" sz="2400" u="sng" dirty="0">
                <a:solidFill>
                  <a:srgbClr val="009900"/>
                </a:solidFill>
              </a:rPr>
              <a:t>列级完整性约束</a:t>
            </a:r>
            <a:r>
              <a:rPr lang="zh-CN" altLang="en-US" sz="2400" dirty="0">
                <a:solidFill>
                  <a:srgbClr val="009900"/>
                </a:solidFill>
              </a:rPr>
              <a:t>处</a:t>
            </a:r>
            <a:endParaRPr lang="en-US" altLang="zh-CN" sz="2400" dirty="0">
              <a:solidFill>
                <a:srgbClr val="009900"/>
              </a:solidFill>
            </a:endParaRPr>
          </a:p>
          <a:p>
            <a:pPr lvl="1" eaLnBrk="1" hangingPunct="1">
              <a:spcBef>
                <a:spcPts val="600"/>
              </a:spcBef>
            </a:pPr>
            <a:r>
              <a:rPr lang="zh-CN" altLang="en-US" sz="2400" dirty="0">
                <a:solidFill>
                  <a:srgbClr val="009900"/>
                </a:solidFill>
              </a:rPr>
              <a:t>多列的</a:t>
            </a:r>
            <a:r>
              <a:rPr lang="en-US" altLang="zh-CN" sz="2400" dirty="0">
                <a:solidFill>
                  <a:srgbClr val="009900"/>
                </a:solidFill>
              </a:rPr>
              <a:t>CHECK</a:t>
            </a:r>
            <a:r>
              <a:rPr lang="zh-CN" altLang="en-US" sz="2400" dirty="0">
                <a:solidFill>
                  <a:srgbClr val="009900"/>
                </a:solidFill>
              </a:rPr>
              <a:t>约束只能定义在</a:t>
            </a:r>
            <a:r>
              <a:rPr lang="zh-CN" altLang="en-US" sz="2400" u="sng" dirty="0">
                <a:solidFill>
                  <a:srgbClr val="009900"/>
                </a:solidFill>
              </a:rPr>
              <a:t>表级完整性约束</a:t>
            </a:r>
            <a:r>
              <a:rPr lang="zh-CN" altLang="en-US" sz="2400" dirty="0">
                <a:solidFill>
                  <a:srgbClr val="009900"/>
                </a:solidFill>
              </a:rPr>
              <a:t>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主码约束</a:t>
            </a:r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None/>
            </a:pPr>
            <a:r>
              <a:rPr lang="zh-CN" altLang="en-US" sz="2800" dirty="0">
                <a:latin typeface="宋体" pitchFamily="2" charset="-122"/>
              </a:rPr>
              <a:t>如果在列级完整性约束处定义主键，语法格式为：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 &lt;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列名</a:t>
            </a:r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&gt; 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数据类型</a:t>
            </a:r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 PRIMARY KEY [(&lt;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列名</a:t>
            </a:r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&gt; [,…n] )]</a:t>
            </a:r>
          </a:p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rgbClr val="009900"/>
                </a:solidFill>
                <a:latin typeface="宋体" pitchFamily="2" charset="-122"/>
              </a:rPr>
              <a:t> 例：</a:t>
            </a:r>
            <a:r>
              <a:rPr lang="en-US" altLang="zh-CN" sz="2800" dirty="0">
                <a:solidFill>
                  <a:srgbClr val="009900"/>
                </a:solidFill>
                <a:latin typeface="宋体" pitchFamily="2" charset="-122"/>
              </a:rPr>
              <a:t>SNO  char(7) </a:t>
            </a:r>
            <a:r>
              <a:rPr lang="en-US" altLang="zh-CN" sz="2800" dirty="0" smtClean="0">
                <a:solidFill>
                  <a:srgbClr val="009900"/>
                </a:solidFill>
                <a:latin typeface="宋体" pitchFamily="2" charset="-122"/>
              </a:rPr>
              <a:t> PRIMARY </a:t>
            </a:r>
            <a:r>
              <a:rPr lang="en-US" altLang="zh-CN" sz="2800" dirty="0">
                <a:solidFill>
                  <a:srgbClr val="009900"/>
                </a:solidFill>
                <a:latin typeface="宋体" pitchFamily="2" charset="-122"/>
              </a:rPr>
              <a:t>KEY</a:t>
            </a:r>
          </a:p>
          <a:p>
            <a:pPr eaLnBrk="1" hangingPunct="1"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宋体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800" dirty="0">
                <a:latin typeface="宋体" pitchFamily="2" charset="-122"/>
              </a:rPr>
              <a:t>如果在表级完整性约束处定义主键，语法格式为：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 PRIMARY KEY (&lt;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列名</a:t>
            </a:r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&gt; [, … n] )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zh-CN" altLang="en-US" sz="2800" dirty="0">
                <a:solidFill>
                  <a:srgbClr val="009900"/>
                </a:solidFill>
                <a:latin typeface="宋体" pitchFamily="2" charset="-122"/>
              </a:rPr>
              <a:t> 例： </a:t>
            </a:r>
            <a:r>
              <a:rPr lang="en-US" altLang="zh-CN" sz="2800" dirty="0">
                <a:solidFill>
                  <a:srgbClr val="009900"/>
                </a:solidFill>
                <a:latin typeface="宋体" pitchFamily="2" charset="-122"/>
              </a:rPr>
              <a:t>PRIMARY KEY(SNO)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en-US" altLang="zh-CN" sz="2800" dirty="0">
                <a:solidFill>
                  <a:srgbClr val="009900"/>
                </a:solidFill>
                <a:latin typeface="宋体" pitchFamily="2" charset="-122"/>
              </a:rPr>
              <a:t>      </a:t>
            </a:r>
            <a:r>
              <a:rPr lang="en-US" altLang="zh-CN" sz="2800" dirty="0" smtClean="0">
                <a:solidFill>
                  <a:srgbClr val="009900"/>
                </a:solidFill>
                <a:latin typeface="宋体" pitchFamily="2" charset="-122"/>
              </a:rPr>
              <a:t>   PRIMARY </a:t>
            </a:r>
            <a:r>
              <a:rPr lang="en-US" altLang="zh-CN" sz="2800" dirty="0">
                <a:solidFill>
                  <a:srgbClr val="009900"/>
                </a:solidFill>
                <a:latin typeface="宋体" pitchFamily="2" charset="-122"/>
              </a:rPr>
              <a:t>KEY(SNO</a:t>
            </a:r>
            <a:r>
              <a:rPr lang="zh-CN" altLang="en-US" sz="2800" dirty="0">
                <a:solidFill>
                  <a:srgbClr val="009900"/>
                </a:solidFill>
                <a:latin typeface="宋体" pitchFamily="2" charset="-122"/>
              </a:rPr>
              <a:t>，</a:t>
            </a:r>
            <a:r>
              <a:rPr lang="en-US" altLang="zh-CN" sz="2800" dirty="0">
                <a:solidFill>
                  <a:srgbClr val="009900"/>
                </a:solidFill>
                <a:latin typeface="宋体" pitchFamily="2" charset="-122"/>
              </a:rPr>
              <a:t>CNO)</a:t>
            </a:r>
            <a:endParaRPr lang="zh-CN" altLang="en-US" sz="2800" dirty="0">
              <a:solidFill>
                <a:srgbClr val="009900"/>
              </a:solidFill>
              <a:latin typeface="宋体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2800" b="0" dirty="0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外码约束</a:t>
            </a: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8768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sz="3200" dirty="0"/>
              <a:t>语法格式为：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FF0000"/>
                </a:solidFill>
              </a:rPr>
              <a:t>［</a:t>
            </a:r>
            <a:r>
              <a:rPr lang="en-US" altLang="zh-CN" sz="3200" dirty="0">
                <a:solidFill>
                  <a:srgbClr val="FF0000"/>
                </a:solidFill>
              </a:rPr>
              <a:t>FOREIGN KEY </a:t>
            </a:r>
            <a:r>
              <a:rPr lang="zh-CN" altLang="en-US" sz="3200" dirty="0">
                <a:solidFill>
                  <a:srgbClr val="FF0000"/>
                </a:solidFill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</a:rPr>
              <a:t>&lt;</a:t>
            </a:r>
            <a:r>
              <a:rPr lang="zh-CN" altLang="en-US" sz="3200" dirty="0">
                <a:solidFill>
                  <a:srgbClr val="FF0000"/>
                </a:solidFill>
              </a:rPr>
              <a:t>列名</a:t>
            </a:r>
            <a:r>
              <a:rPr lang="en-US" altLang="zh-CN" sz="3200" dirty="0">
                <a:solidFill>
                  <a:srgbClr val="FF0000"/>
                </a:solidFill>
              </a:rPr>
              <a:t>&gt;</a:t>
            </a:r>
            <a:r>
              <a:rPr lang="zh-CN" altLang="en-US" sz="3200" dirty="0">
                <a:solidFill>
                  <a:srgbClr val="FF0000"/>
                </a:solidFill>
              </a:rPr>
              <a:t>）］</a:t>
            </a:r>
            <a:r>
              <a:rPr lang="en-US" altLang="zh-CN" sz="3200" dirty="0">
                <a:solidFill>
                  <a:srgbClr val="FF0000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  REFERENCES &lt;</a:t>
            </a:r>
            <a:r>
              <a:rPr lang="zh-CN" altLang="en-US" sz="3200" dirty="0">
                <a:solidFill>
                  <a:srgbClr val="FF0000"/>
                </a:solidFill>
              </a:rPr>
              <a:t>外表名</a:t>
            </a:r>
            <a:r>
              <a:rPr lang="en-US" altLang="zh-CN" sz="3200" dirty="0">
                <a:solidFill>
                  <a:srgbClr val="FF0000"/>
                </a:solidFill>
              </a:rPr>
              <a:t>&gt;</a:t>
            </a:r>
            <a:r>
              <a:rPr lang="zh-CN" altLang="en-US" sz="3200" dirty="0">
                <a:solidFill>
                  <a:srgbClr val="FF0000"/>
                </a:solidFill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</a:rPr>
              <a:t>&lt;</a:t>
            </a:r>
            <a:r>
              <a:rPr lang="zh-CN" altLang="en-US" sz="3200" dirty="0">
                <a:solidFill>
                  <a:srgbClr val="FF0000"/>
                </a:solidFill>
              </a:rPr>
              <a:t>外表列名</a:t>
            </a:r>
            <a:r>
              <a:rPr lang="en-US" altLang="zh-CN" sz="3200" dirty="0">
                <a:solidFill>
                  <a:srgbClr val="FF0000"/>
                </a:solidFill>
              </a:rPr>
              <a:t>&gt;</a:t>
            </a:r>
            <a:r>
              <a:rPr lang="zh-CN" altLang="en-US" sz="3200" dirty="0">
                <a:solidFill>
                  <a:srgbClr val="FF0000"/>
                </a:solidFill>
              </a:rPr>
              <a:t>）</a:t>
            </a:r>
          </a:p>
          <a:p>
            <a:pPr>
              <a:spcBef>
                <a:spcPts val="3000"/>
              </a:spcBef>
            </a:pPr>
            <a:r>
              <a:rPr lang="zh-CN" altLang="en-US" sz="3200" dirty="0"/>
              <a:t>如果是在列级完整性约束处定义单列的外码，可省略方括号部分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  <a:p>
            <a:pPr marL="0" indent="0">
              <a:spcBef>
                <a:spcPts val="3000"/>
              </a:spcBef>
              <a:buNone/>
            </a:pPr>
            <a:r>
              <a:rPr lang="en-US" altLang="zh-CN" sz="3200" dirty="0"/>
              <a:t> </a:t>
            </a:r>
            <a:r>
              <a:rPr lang="en-US" altLang="zh-CN" sz="3200" dirty="0" smtClean="0"/>
              <a:t>    </a:t>
            </a:r>
            <a:r>
              <a:rPr lang="zh-CN" altLang="en-US" sz="3200" dirty="0" smtClean="0"/>
              <a:t>列级外码、表级外码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UNIQUE约束</a:t>
            </a:r>
          </a:p>
        </p:txBody>
      </p:sp>
      <p:sp>
        <p:nvSpPr>
          <p:cNvPr id="41987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用于限制在一个列中不能有重复的值。</a:t>
            </a:r>
          </a:p>
          <a:p>
            <a:pPr>
              <a:spcBef>
                <a:spcPts val="1200"/>
              </a:spcBef>
            </a:pPr>
            <a:r>
              <a:rPr lang="zh-CN" altLang="en-US" dirty="0"/>
              <a:t>语法格式为：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  &lt;</a:t>
            </a:r>
            <a:r>
              <a:rPr lang="zh-CN" altLang="en-US" sz="3200" dirty="0">
                <a:solidFill>
                  <a:srgbClr val="FF0000"/>
                </a:solidFill>
              </a:rPr>
              <a:t>列名</a:t>
            </a:r>
            <a:r>
              <a:rPr lang="en-US" altLang="zh-CN" sz="3200" dirty="0">
                <a:solidFill>
                  <a:srgbClr val="FF0000"/>
                </a:solidFill>
              </a:rPr>
              <a:t>&gt; </a:t>
            </a:r>
            <a:r>
              <a:rPr lang="zh-CN" altLang="en-US" sz="3200" dirty="0">
                <a:solidFill>
                  <a:srgbClr val="FF0000"/>
                </a:solidFill>
              </a:rPr>
              <a:t>数据类型 </a:t>
            </a:r>
            <a:r>
              <a:rPr lang="en-US" altLang="zh-CN" sz="3200" dirty="0">
                <a:solidFill>
                  <a:srgbClr val="FF0000"/>
                </a:solidFill>
              </a:rPr>
              <a:t>UNIQUE [(&lt;</a:t>
            </a:r>
            <a:r>
              <a:rPr lang="zh-CN" altLang="en-US" sz="3200" dirty="0">
                <a:solidFill>
                  <a:srgbClr val="FF0000"/>
                </a:solidFill>
              </a:rPr>
              <a:t>列名</a:t>
            </a:r>
            <a:r>
              <a:rPr lang="en-US" altLang="zh-CN" sz="3200" dirty="0">
                <a:solidFill>
                  <a:srgbClr val="FF0000"/>
                </a:solidFill>
              </a:rPr>
              <a:t>&gt;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    [, … n] )]</a:t>
            </a:r>
            <a:endParaRPr lang="zh-CN" altLang="en-US" sz="3200" dirty="0">
              <a:solidFill>
                <a:srgbClr val="FF0000"/>
              </a:solidFill>
            </a:endParaRPr>
          </a:p>
          <a:p>
            <a:pPr>
              <a:spcBef>
                <a:spcPts val="1800"/>
              </a:spcBef>
            </a:pPr>
            <a:r>
              <a:rPr lang="zh-CN" altLang="en-US" dirty="0"/>
              <a:t>如果是在列级完整性约束处定义单列的</a:t>
            </a:r>
            <a:r>
              <a:rPr lang="en-US" altLang="zh-CN" dirty="0"/>
              <a:t>UNIQUE</a:t>
            </a:r>
            <a:r>
              <a:rPr lang="zh-CN" altLang="en-US" dirty="0"/>
              <a:t>约束，则可以省略括号部分。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DEFAULT约束</a:t>
            </a:r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2400"/>
              </a:spcBef>
            </a:pPr>
            <a:r>
              <a:rPr lang="zh-CN" altLang="en-US" dirty="0"/>
              <a:t>用于提供列的默认值。</a:t>
            </a:r>
            <a:endParaRPr lang="en-US" altLang="zh-CN" dirty="0"/>
          </a:p>
          <a:p>
            <a:pPr>
              <a:spcBef>
                <a:spcPts val="2400"/>
              </a:spcBef>
            </a:pPr>
            <a:r>
              <a:rPr lang="zh-CN" altLang="en-US" dirty="0"/>
              <a:t>一个列只能有一个默认值约束，而且一个默认值约束只能用在一个列上。</a:t>
            </a:r>
          </a:p>
          <a:p>
            <a:pPr>
              <a:spcBef>
                <a:spcPts val="2400"/>
              </a:spcBef>
            </a:pPr>
            <a:r>
              <a:rPr lang="zh-CN" altLang="en-US" dirty="0"/>
              <a:t>只能定义在列级完整性约束处。</a:t>
            </a:r>
            <a:endParaRPr lang="en-US" altLang="zh-CN" dirty="0"/>
          </a:p>
          <a:p>
            <a:pPr>
              <a:spcBef>
                <a:spcPts val="2400"/>
              </a:spcBef>
            </a:pPr>
            <a:r>
              <a:rPr lang="zh-CN" altLang="en-US" dirty="0"/>
              <a:t>语法格式：</a:t>
            </a:r>
          </a:p>
          <a:p>
            <a:pPr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rgbClr val="FF0000"/>
                </a:solidFill>
              </a:rPr>
              <a:t>&lt;</a:t>
            </a:r>
            <a:r>
              <a:rPr lang="zh-CN" altLang="en-US" dirty="0">
                <a:solidFill>
                  <a:srgbClr val="FF0000"/>
                </a:solidFill>
              </a:rPr>
              <a:t>列名</a:t>
            </a:r>
            <a:r>
              <a:rPr lang="en-US" altLang="zh-CN" dirty="0">
                <a:solidFill>
                  <a:srgbClr val="FF0000"/>
                </a:solidFill>
              </a:rPr>
              <a:t>&gt; DEFAULT </a:t>
            </a:r>
            <a:r>
              <a:rPr lang="zh-CN" altLang="en-US" dirty="0">
                <a:solidFill>
                  <a:srgbClr val="FF0000"/>
                </a:solidFill>
              </a:rPr>
              <a:t>默认值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CHECK约束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814887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2400"/>
              </a:spcBef>
            </a:pPr>
            <a:r>
              <a:rPr lang="zh-CN" altLang="en-US" dirty="0"/>
              <a:t>用于限制列的输入值在指定的范围内。</a:t>
            </a:r>
          </a:p>
          <a:p>
            <a:pPr>
              <a:spcBef>
                <a:spcPts val="2400"/>
              </a:spcBef>
            </a:pPr>
            <a:r>
              <a:rPr lang="zh-CN" altLang="en-US" dirty="0"/>
              <a:t>语法格式：</a:t>
            </a:r>
          </a:p>
          <a:p>
            <a:pPr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  CHECK </a:t>
            </a:r>
            <a:r>
              <a:rPr lang="zh-CN" altLang="en-US" dirty="0">
                <a:solidFill>
                  <a:srgbClr val="FF0000"/>
                </a:solidFill>
              </a:rPr>
              <a:t>（逻辑表达式）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zh-CN" altLang="en-US" dirty="0" smtClean="0"/>
              <a:t>   说明</a:t>
            </a:r>
            <a:r>
              <a:rPr lang="zh-CN" altLang="en-US" dirty="0"/>
              <a:t>：逻辑表达式中不能包含</a:t>
            </a:r>
            <a:r>
              <a:rPr lang="zh-CN" altLang="en-US" dirty="0" smtClean="0"/>
              <a:t>来自</a:t>
            </a:r>
            <a:endParaRPr lang="en-US" altLang="zh-CN" dirty="0" smtClean="0"/>
          </a:p>
          <a:p>
            <a:pPr marL="0" indent="0">
              <a:spcBef>
                <a:spcPts val="240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</a:t>
            </a:r>
            <a:r>
              <a:rPr lang="zh-CN" altLang="en-US" i="1" u="sng" dirty="0" smtClean="0"/>
              <a:t>多</a:t>
            </a:r>
            <a:r>
              <a:rPr lang="zh-CN" altLang="en-US" i="1" u="sng" dirty="0"/>
              <a:t>个表</a:t>
            </a:r>
            <a:r>
              <a:rPr lang="zh-CN" altLang="en-US" dirty="0"/>
              <a:t>的列。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59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Student表结构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952139"/>
              </p:ext>
            </p:extLst>
          </p:nvPr>
        </p:nvGraphicFramePr>
        <p:xfrm>
          <a:off x="655955" y="1509713"/>
          <a:ext cx="7358114" cy="3675397"/>
        </p:xfrm>
        <a:graphic>
          <a:graphicData uri="http://schemas.openxmlformats.org/drawingml/2006/table">
            <a:tbl>
              <a:tblPr/>
              <a:tblGrid>
                <a:gridCol w="1143008"/>
                <a:gridCol w="1500198"/>
                <a:gridCol w="2352959"/>
                <a:gridCol w="2361949"/>
              </a:tblGrid>
              <a:tr h="515620">
                <a:tc>
                  <a:txBody>
                    <a:bodyPr/>
                    <a:lstStyle/>
                    <a:p>
                      <a:pPr indent="227965" algn="ctr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列名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ctr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含义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ctr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数据类型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ctr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约束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585"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Sno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学号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CHAR(7)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主码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585"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Sname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姓名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NCHAR(5)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非空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585"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SID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身份证号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CHAR(18)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取值不重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585"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Ssex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性别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NCHAR(1)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默认值为“男”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852"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Sage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年龄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TINYINT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取值范围为</a:t>
                      </a:r>
                      <a:r>
                        <a:rPr lang="en-US" sz="2000" b="1" kern="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15~45</a:t>
                      </a:r>
                      <a:endParaRPr lang="zh-CN" sz="2000" b="1" kern="100" dirty="0">
                        <a:solidFill>
                          <a:schemeClr val="tx2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585"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Sdept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所在系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0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NVARCHAR(20)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endParaRPr lang="en-US" sz="2000" b="1" kern="0" dirty="0">
                        <a:solidFill>
                          <a:schemeClr val="tx2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定义Student表</a:t>
            </a:r>
          </a:p>
        </p:txBody>
      </p:sp>
      <p:sp>
        <p:nvSpPr>
          <p:cNvPr id="46083" name="Rectangle 3"/>
          <p:cNvSpPr>
            <a:spLocks noGrp="1"/>
          </p:cNvSpPr>
          <p:nvPr>
            <p:ph idx="1"/>
          </p:nvPr>
        </p:nvSpPr>
        <p:spPr>
          <a:xfrm>
            <a:off x="457200" y="1412875"/>
            <a:ext cx="8401050" cy="475932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宋体" pitchFamily="2" charset="-122"/>
              </a:rPr>
              <a:t>CREATE TABLE Student (</a:t>
            </a:r>
            <a:endParaRPr lang="zh-CN" altLang="en-US" sz="3200" dirty="0">
              <a:latin typeface="宋体" pitchFamily="2" charset="-122"/>
            </a:endParaRP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宋体" pitchFamily="2" charset="-122"/>
              </a:rPr>
              <a:t>  Sno   CHAR(7)  PRIMARY KEY,</a:t>
            </a:r>
            <a:endParaRPr lang="zh-CN" altLang="en-US" sz="3200" dirty="0">
              <a:latin typeface="宋体" pitchFamily="2" charset="-122"/>
            </a:endParaRP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宋体" pitchFamily="2" charset="-122"/>
              </a:rPr>
              <a:t>  Sname NCHAR(5) NOT NULL,</a:t>
            </a:r>
            <a:endParaRPr lang="zh-CN" altLang="en-US" sz="3200" dirty="0">
              <a:latin typeface="宋体" pitchFamily="2" charset="-122"/>
            </a:endParaRP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宋体" pitchFamily="2" charset="-122"/>
              </a:rPr>
              <a:t>  SID   CHAR(18) UNIQUE,</a:t>
            </a:r>
            <a:endParaRPr lang="zh-CN" altLang="en-US" sz="3200" dirty="0">
              <a:latin typeface="宋体" pitchFamily="2" charset="-122"/>
            </a:endParaRP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宋体" pitchFamily="2" charset="-122"/>
              </a:rPr>
              <a:t>  Ssex  NCHAR(1) DEFAULT '</a:t>
            </a:r>
            <a:r>
              <a:rPr lang="zh-CN" altLang="en-US" sz="3200" dirty="0">
                <a:latin typeface="宋体" pitchFamily="2" charset="-122"/>
              </a:rPr>
              <a:t>男</a:t>
            </a:r>
            <a:r>
              <a:rPr lang="en-US" altLang="zh-CN" sz="3200" dirty="0">
                <a:latin typeface="宋体" pitchFamily="2" charset="-122"/>
              </a:rPr>
              <a:t>', </a:t>
            </a:r>
            <a:endParaRPr lang="zh-CN" altLang="en-US" sz="3200" dirty="0">
              <a:latin typeface="宋体" pitchFamily="2" charset="-122"/>
            </a:endParaRP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宋体" pitchFamily="2" charset="-122"/>
              </a:rPr>
              <a:t>  Sage  TINYINT  CHECK(Sage&gt;=15 AND 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宋体" pitchFamily="2" charset="-122"/>
              </a:rPr>
              <a:t>                       Sage&lt;=45),</a:t>
            </a:r>
            <a:endParaRPr lang="zh-CN" altLang="en-US" sz="3200" dirty="0">
              <a:latin typeface="宋体" pitchFamily="2" charset="-122"/>
            </a:endParaRP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宋体" pitchFamily="2" charset="-122"/>
              </a:rPr>
              <a:t>  Sdept NVARCHAR(20)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宋体" pitchFamily="2" charset="-122"/>
              </a:rPr>
              <a:t>)</a:t>
            </a:r>
            <a:endParaRPr lang="zh-CN" altLang="en-US" sz="3200" dirty="0">
              <a:latin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33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Course表结构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370224"/>
              </p:ext>
            </p:extLst>
          </p:nvPr>
        </p:nvGraphicFramePr>
        <p:xfrm>
          <a:off x="714375" y="1857375"/>
          <a:ext cx="7458026" cy="3072148"/>
        </p:xfrm>
        <a:graphic>
          <a:graphicData uri="http://schemas.openxmlformats.org/drawingml/2006/table">
            <a:tbl>
              <a:tblPr/>
              <a:tblGrid>
                <a:gridCol w="1772206"/>
                <a:gridCol w="1698362"/>
                <a:gridCol w="2824224"/>
                <a:gridCol w="1163234"/>
              </a:tblGrid>
              <a:tr h="614680">
                <a:tc>
                  <a:txBody>
                    <a:bodyPr/>
                    <a:lstStyle/>
                    <a:p>
                      <a:pPr indent="227965" algn="ctr">
                        <a:spcAft>
                          <a:spcPts val="0"/>
                        </a:spcAft>
                      </a:pPr>
                      <a:r>
                        <a:rPr lang="zh-CN" sz="2400" b="1" kern="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列名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ctr">
                        <a:spcAft>
                          <a:spcPts val="0"/>
                        </a:spcAft>
                      </a:pPr>
                      <a:r>
                        <a:rPr lang="zh-CN" sz="2400" b="1" kern="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含义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ctr">
                        <a:spcAft>
                          <a:spcPts val="0"/>
                        </a:spcAft>
                      </a:pPr>
                      <a:r>
                        <a:rPr lang="zh-CN" sz="2400" b="1" kern="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数据类型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ctr">
                        <a:spcAft>
                          <a:spcPts val="0"/>
                        </a:spcAft>
                      </a:pPr>
                      <a:r>
                        <a:rPr lang="zh-CN" sz="2400" b="1" kern="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约束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367"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Cno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课程号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CHAR(6)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主码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367"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Cname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课程名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NVARCHAR(20)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400" b="1" kern="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非空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367"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Credit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学分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NUMERIC(3,1)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400" b="1" kern="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大于</a:t>
                      </a:r>
                      <a:r>
                        <a:rPr lang="en-US" sz="2400" b="1" kern="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lang="zh-CN" sz="2400" b="1" kern="100" dirty="0">
                        <a:solidFill>
                          <a:schemeClr val="tx2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367"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Semester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学期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TINYINT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endParaRPr lang="en-US" sz="2400" b="1" kern="0" dirty="0">
                        <a:solidFill>
                          <a:schemeClr val="tx2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定义Course表</a:t>
            </a:r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>
          <a:xfrm>
            <a:off x="357188" y="1412875"/>
            <a:ext cx="8501062" cy="475932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latin typeface="宋体" pitchFamily="2" charset="-122"/>
              </a:rPr>
              <a:t>CREATE TABLE Course (</a:t>
            </a:r>
            <a:endParaRPr lang="zh-CN" altLang="en-US" sz="3200" dirty="0">
              <a:latin typeface="宋体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latin typeface="宋体" pitchFamily="2" charset="-122"/>
              </a:rPr>
              <a:t>  Cno      CHAR(6) 	  PRIMARY KEY,</a:t>
            </a:r>
            <a:endParaRPr lang="zh-CN" altLang="en-US" sz="3200" dirty="0">
              <a:latin typeface="宋体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latin typeface="宋体" pitchFamily="2" charset="-122"/>
              </a:rPr>
              <a:t>  Cname    NVARCHAR(20) NOT NULL,</a:t>
            </a:r>
            <a:endParaRPr lang="zh-CN" altLang="en-US" sz="3200" dirty="0">
              <a:latin typeface="宋体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latin typeface="宋体" pitchFamily="2" charset="-122"/>
              </a:rPr>
              <a:t>  Credit   NUMERIC(3,1) CHECK(Credit&gt;0),</a:t>
            </a:r>
            <a:endParaRPr lang="zh-CN" altLang="en-US" sz="3200" dirty="0">
              <a:latin typeface="宋体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latin typeface="宋体" pitchFamily="2" charset="-122"/>
              </a:rPr>
              <a:t>  Semester  TINYINT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latin typeface="宋体" pitchFamily="2" charset="-122"/>
              </a:rPr>
              <a:t>)</a:t>
            </a:r>
            <a:endParaRPr lang="zh-CN" altLang="en-US" sz="3200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SC表结构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7944298"/>
              </p:ext>
            </p:extLst>
          </p:nvPr>
        </p:nvGraphicFramePr>
        <p:xfrm>
          <a:off x="722948" y="2298065"/>
          <a:ext cx="7809492" cy="2315044"/>
        </p:xfrm>
        <a:graphic>
          <a:graphicData uri="http://schemas.openxmlformats.org/drawingml/2006/table">
            <a:tbl>
              <a:tblPr/>
              <a:tblGrid>
                <a:gridCol w="1400780"/>
                <a:gridCol w="1296144"/>
                <a:gridCol w="2056178"/>
                <a:gridCol w="3056390"/>
              </a:tblGrid>
              <a:tr h="698887">
                <a:tc>
                  <a:txBody>
                    <a:bodyPr/>
                    <a:lstStyle/>
                    <a:p>
                      <a:pPr indent="227965" algn="ctr">
                        <a:spcAft>
                          <a:spcPts val="0"/>
                        </a:spcAft>
                      </a:pPr>
                      <a:r>
                        <a:rPr lang="zh-CN" sz="2800" b="1" kern="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列名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ctr">
                        <a:spcAft>
                          <a:spcPts val="0"/>
                        </a:spcAft>
                      </a:pPr>
                      <a:r>
                        <a:rPr lang="zh-CN" sz="2800" b="1" kern="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含义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ctr">
                        <a:spcAft>
                          <a:spcPts val="0"/>
                        </a:spcAft>
                      </a:pPr>
                      <a:r>
                        <a:rPr lang="zh-CN" sz="2800" b="1" kern="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数据类型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ctr">
                        <a:spcAft>
                          <a:spcPts val="0"/>
                        </a:spcAft>
                      </a:pPr>
                      <a:r>
                        <a:rPr lang="zh-CN" sz="2800" b="1" kern="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约束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Sno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学号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CHAR(7)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l"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引用</a:t>
                      </a:r>
                      <a:r>
                        <a:rPr lang="en-US" sz="2400" b="1" kern="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Student</a:t>
                      </a:r>
                      <a:r>
                        <a:rPr lang="zh-CN" sz="2400" b="1" kern="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的外码</a:t>
                      </a:r>
                      <a:endParaRPr lang="zh-CN" sz="2400" b="1" kern="100" dirty="0">
                        <a:solidFill>
                          <a:schemeClr val="tx2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Cno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课程名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CHAR(6)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l"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引用</a:t>
                      </a:r>
                      <a:r>
                        <a:rPr lang="en-US" sz="2400" b="1" kern="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Course</a:t>
                      </a:r>
                      <a:r>
                        <a:rPr lang="zh-CN" sz="2400" b="1" kern="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的外码</a:t>
                      </a:r>
                      <a:endParaRPr lang="zh-CN" sz="2400" b="1" kern="100" dirty="0">
                        <a:solidFill>
                          <a:schemeClr val="tx2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029"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Grade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zh-CN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成绩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r>
                        <a:rPr lang="en-US" sz="2400" b="1" kern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TINYINT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7965" algn="just">
                        <a:spcAft>
                          <a:spcPts val="0"/>
                        </a:spcAft>
                      </a:pPr>
                      <a:endParaRPr lang="en-US" sz="2400" b="1" kern="0" dirty="0">
                        <a:solidFill>
                          <a:schemeClr val="tx2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定义SC表</a:t>
            </a:r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宋体" pitchFamily="2" charset="-122"/>
                <a:cs typeface="+mn-cs"/>
              </a:rPr>
              <a:t>CREATE TABLE SC (</a:t>
            </a:r>
            <a:endParaRPr lang="zh-CN" altLang="en-US" sz="2800" dirty="0">
              <a:latin typeface="宋体" pitchFamily="2" charset="-122"/>
              <a:cs typeface="+mn-cs"/>
            </a:endParaRPr>
          </a:p>
          <a:p>
            <a:pPr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宋体" pitchFamily="2" charset="-122"/>
                <a:cs typeface="+mn-cs"/>
              </a:rPr>
              <a:t>  Sno    CHAR(7)  NOT NULL,</a:t>
            </a:r>
            <a:endParaRPr lang="zh-CN" altLang="en-US" sz="2800" dirty="0">
              <a:latin typeface="宋体" pitchFamily="2" charset="-122"/>
              <a:cs typeface="+mn-cs"/>
            </a:endParaRPr>
          </a:p>
          <a:p>
            <a:pPr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宋体" pitchFamily="2" charset="-122"/>
                <a:cs typeface="+mn-cs"/>
              </a:rPr>
              <a:t>  Cno    CHAR(6)  NOT NULL,</a:t>
            </a:r>
            <a:endParaRPr lang="zh-CN" altLang="en-US" sz="2800" dirty="0">
              <a:latin typeface="宋体" pitchFamily="2" charset="-122"/>
              <a:cs typeface="+mn-cs"/>
            </a:endParaRPr>
          </a:p>
          <a:p>
            <a:pPr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宋体" pitchFamily="2" charset="-122"/>
                <a:cs typeface="+mn-cs"/>
              </a:rPr>
              <a:t>  Grade  TINYINT,</a:t>
            </a:r>
            <a:endParaRPr lang="zh-CN" altLang="en-US" sz="2800" dirty="0">
              <a:latin typeface="宋体" pitchFamily="2" charset="-122"/>
              <a:cs typeface="+mn-cs"/>
            </a:endParaRPr>
          </a:p>
          <a:p>
            <a:pPr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宋体" pitchFamily="2" charset="-122"/>
                <a:cs typeface="+mn-cs"/>
              </a:rPr>
              <a:t>  PRIMARY KEY (Sno, Cno),</a:t>
            </a:r>
            <a:endParaRPr lang="zh-CN" altLang="en-US" sz="2800" dirty="0">
              <a:latin typeface="宋体" pitchFamily="2" charset="-122"/>
              <a:cs typeface="+mn-cs"/>
            </a:endParaRPr>
          </a:p>
          <a:p>
            <a:pPr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宋体" pitchFamily="2" charset="-122"/>
                <a:cs typeface="+mn-cs"/>
              </a:rPr>
              <a:t>  FOREIGN KEY (Sno) REFERENCES Student(Sno),</a:t>
            </a:r>
            <a:endParaRPr lang="zh-CN" altLang="en-US" sz="2800" dirty="0">
              <a:latin typeface="宋体" pitchFamily="2" charset="-122"/>
              <a:cs typeface="+mn-cs"/>
            </a:endParaRPr>
          </a:p>
          <a:p>
            <a:pPr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宋体" pitchFamily="2" charset="-122"/>
                <a:cs typeface="+mn-cs"/>
              </a:rPr>
              <a:t>  FOREIGN KEY (Cno) REFERENCES Course(Cno)</a:t>
            </a:r>
          </a:p>
          <a:p>
            <a:pPr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宋体" pitchFamily="2" charset="-122"/>
                <a:cs typeface="+mn-cs"/>
              </a:rPr>
              <a:t>)  </a:t>
            </a:r>
            <a:endParaRPr lang="zh-CN" altLang="en-US" sz="2800" dirty="0">
              <a:latin typeface="宋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 修改表结构</a:t>
            </a: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4759325"/>
          </a:xfrm>
          <a:ln/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sz="3600" dirty="0"/>
              <a:t>在定义基本表之后，如果需求有变化，比如添加列、删除列或修改列定义，可以使用</a:t>
            </a:r>
            <a:r>
              <a:rPr lang="en-US" altLang="zh-CN" sz="3600" dirty="0">
                <a:solidFill>
                  <a:srgbClr val="FF0000"/>
                </a:solidFill>
              </a:rPr>
              <a:t>ALTER TABLE</a:t>
            </a:r>
            <a:r>
              <a:rPr lang="zh-CN" altLang="en-US" sz="3600" dirty="0"/>
              <a:t>语句实现。</a:t>
            </a:r>
          </a:p>
          <a:p>
            <a:pPr algn="just" eaLnBrk="1" hangingPunct="1">
              <a:spcBef>
                <a:spcPts val="3000"/>
              </a:spcBef>
            </a:pPr>
            <a:r>
              <a:rPr lang="en-US" altLang="zh-CN" sz="3600" dirty="0"/>
              <a:t>ALTER TABLE</a:t>
            </a:r>
            <a:r>
              <a:rPr lang="zh-CN" altLang="en-US" sz="3600" dirty="0"/>
              <a:t>语句可以对表添加列、删除列、修改列的定义，也可以添加和删除约束。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示例</a:t>
            </a: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58175" cy="4876800"/>
          </a:xfrm>
          <a:ln/>
        </p:spPr>
        <p:txBody>
          <a:bodyPr vert="horz" wrap="square" lIns="91440" tIns="45720" rIns="91440" bIns="45720" anchor="t" anchorCtr="0"/>
          <a:lstStyle/>
          <a:p>
            <a:pPr algn="just"/>
            <a:r>
              <a:rPr lang="zh-CN" altLang="en-US" sz="3200" dirty="0" smtClean="0">
                <a:latin typeface="宋体" pitchFamily="2" charset="-122"/>
                <a:cs typeface="等线" panose="02010600030101010101" charset="-122"/>
              </a:rPr>
              <a:t>例</a:t>
            </a:r>
            <a:r>
              <a:rPr lang="en-US" altLang="zh-CN" sz="3200" dirty="0" smtClean="0"/>
              <a:t>3.5</a:t>
            </a:r>
            <a:r>
              <a:rPr lang="zh-CN" altLang="en-US" sz="3200" dirty="0" smtClean="0">
                <a:latin typeface="宋体" pitchFamily="2" charset="-122"/>
                <a:cs typeface="等线" panose="02010600030101010101" charset="-122"/>
              </a:rPr>
              <a:t>为</a:t>
            </a:r>
            <a:r>
              <a:rPr lang="en-US" altLang="zh-CN" sz="3200" dirty="0">
                <a:latin typeface="宋体" pitchFamily="2" charset="-122"/>
                <a:cs typeface="等线" panose="02010600030101010101" charset="-122"/>
              </a:rPr>
              <a:t>SC</a:t>
            </a:r>
            <a:r>
              <a:rPr lang="zh-CN" altLang="en-US" sz="3200" dirty="0">
                <a:latin typeface="宋体" pitchFamily="2" charset="-122"/>
                <a:cs typeface="等线" panose="02010600030101010101" charset="-122"/>
              </a:rPr>
              <a:t>表添加“修课类别”列，此列的定义为：</a:t>
            </a:r>
            <a:r>
              <a:rPr lang="en-US" altLang="zh-CN" sz="3200" dirty="0">
                <a:latin typeface="宋体" pitchFamily="2" charset="-122"/>
                <a:cs typeface="等线" panose="02010600030101010101" charset="-122"/>
              </a:rPr>
              <a:t>Type  NCHAR(1)</a:t>
            </a:r>
            <a:r>
              <a:rPr lang="zh-CN" altLang="en-US" sz="3200" dirty="0">
                <a:latin typeface="宋体" pitchFamily="2" charset="-122"/>
                <a:cs typeface="等线" panose="02010600030101010101" charset="-122"/>
              </a:rPr>
              <a:t>，允许空。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  ALTER TABLE SC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   </a:t>
            </a:r>
            <a:r>
              <a:rPr lang="en-US" altLang="zh-CN" sz="3200" dirty="0" smtClean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  ADD </a:t>
            </a:r>
            <a:r>
              <a:rPr lang="en-US" altLang="zh-CN" sz="3200" dirty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Type NCHAR(1) NULL</a:t>
            </a:r>
            <a:endParaRPr lang="zh-CN" altLang="en-US" sz="3200" dirty="0">
              <a:solidFill>
                <a:srgbClr val="002060"/>
              </a:solidFill>
              <a:latin typeface="宋体" pitchFamily="2" charset="-122"/>
              <a:cs typeface="等线" panose="02010600030101010101" charset="-122"/>
            </a:endParaRPr>
          </a:p>
          <a:p>
            <a:pPr algn="just">
              <a:spcBef>
                <a:spcPts val="3000"/>
              </a:spcBef>
            </a:pPr>
            <a:r>
              <a:rPr lang="zh-CN" altLang="en-US" sz="3200" dirty="0" smtClean="0">
                <a:latin typeface="宋体" pitchFamily="2" charset="-122"/>
                <a:cs typeface="等线" panose="02010600030101010101" charset="-122"/>
              </a:rPr>
              <a:t>例</a:t>
            </a:r>
            <a:r>
              <a:rPr lang="en-US" altLang="zh-CN" sz="3200" dirty="0" smtClean="0"/>
              <a:t>3.6 </a:t>
            </a:r>
            <a:r>
              <a:rPr lang="zh-CN" altLang="en-US" sz="3200" dirty="0" smtClean="0">
                <a:latin typeface="宋体" pitchFamily="2" charset="-122"/>
                <a:cs typeface="等线" panose="02010600030101010101" charset="-122"/>
              </a:rPr>
              <a:t>将</a:t>
            </a:r>
            <a:r>
              <a:rPr lang="zh-CN" altLang="en-US" sz="3200" dirty="0">
                <a:latin typeface="宋体" pitchFamily="2" charset="-122"/>
                <a:cs typeface="等线" panose="02010600030101010101" charset="-122"/>
              </a:rPr>
              <a:t>新添加的</a:t>
            </a:r>
            <a:r>
              <a:rPr lang="en-US" altLang="zh-CN" sz="3200" dirty="0">
                <a:latin typeface="宋体" pitchFamily="2" charset="-122"/>
                <a:cs typeface="等线" panose="02010600030101010101" charset="-122"/>
              </a:rPr>
              <a:t>Type</a:t>
            </a:r>
            <a:r>
              <a:rPr lang="zh-CN" altLang="en-US" sz="3200" dirty="0">
                <a:latin typeface="宋体" pitchFamily="2" charset="-122"/>
                <a:cs typeface="等线" panose="02010600030101010101" charset="-122"/>
              </a:rPr>
              <a:t>列的数据类型改为</a:t>
            </a:r>
            <a:r>
              <a:rPr lang="en-US" altLang="zh-CN" sz="3200" dirty="0">
                <a:latin typeface="宋体" pitchFamily="2" charset="-122"/>
                <a:cs typeface="等线" panose="02010600030101010101" charset="-122"/>
              </a:rPr>
              <a:t>NCHAR(2)</a:t>
            </a:r>
            <a:r>
              <a:rPr lang="zh-CN" altLang="en-US" sz="3200" dirty="0">
                <a:latin typeface="宋体" pitchFamily="2" charset="-122"/>
                <a:cs typeface="等线" panose="02010600030101010101" charset="-122"/>
              </a:rPr>
              <a:t>。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  ALTER TABLE SC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    </a:t>
            </a:r>
            <a:r>
              <a:rPr lang="en-US" altLang="zh-CN" sz="3200" dirty="0" smtClean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 ALTER </a:t>
            </a:r>
            <a:r>
              <a:rPr lang="en-US" altLang="zh-CN" sz="3200" dirty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COLUMN Type NCHAR(2)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示例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401050" cy="48768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 smtClean="0">
                <a:latin typeface="宋体" pitchFamily="2" charset="-122"/>
                <a:cs typeface="等线" panose="02010600030101010101" charset="-122"/>
              </a:rPr>
              <a:t>例</a:t>
            </a:r>
            <a:r>
              <a:rPr lang="en-US" altLang="zh-CN" dirty="0" smtClean="0"/>
              <a:t>3.7 </a:t>
            </a:r>
            <a:r>
              <a:rPr lang="zh-CN" altLang="en-US" dirty="0" smtClean="0">
                <a:latin typeface="宋体" pitchFamily="2" charset="-122"/>
                <a:cs typeface="等线" panose="02010600030101010101" charset="-122"/>
              </a:rPr>
              <a:t>为</a:t>
            </a:r>
            <a:r>
              <a:rPr lang="en-US" altLang="zh-CN" dirty="0">
                <a:latin typeface="宋体" pitchFamily="2" charset="-122"/>
                <a:cs typeface="等线" panose="02010600030101010101" charset="-122"/>
              </a:rPr>
              <a:t>Type</a:t>
            </a:r>
            <a:r>
              <a:rPr lang="zh-CN" altLang="en-US" dirty="0">
                <a:latin typeface="宋体" pitchFamily="2" charset="-122"/>
                <a:cs typeface="等线" panose="02010600030101010101" charset="-122"/>
              </a:rPr>
              <a:t>列添加限定取值范围为</a:t>
            </a:r>
            <a:r>
              <a:rPr lang="en-US" altLang="zh-CN" dirty="0">
                <a:latin typeface="宋体" pitchFamily="2" charset="-122"/>
                <a:cs typeface="等线" panose="02010600030101010101" charset="-122"/>
              </a:rPr>
              <a:t>{</a:t>
            </a:r>
            <a:r>
              <a:rPr lang="zh-CN" altLang="en-US" dirty="0">
                <a:latin typeface="宋体" pitchFamily="2" charset="-122"/>
                <a:cs typeface="等线" panose="02010600030101010101" charset="-122"/>
              </a:rPr>
              <a:t>必修、选修</a:t>
            </a:r>
            <a:r>
              <a:rPr lang="en-US" altLang="zh-CN" dirty="0">
                <a:latin typeface="宋体" pitchFamily="2" charset="-122"/>
                <a:cs typeface="等线" panose="02010600030101010101" charset="-122"/>
              </a:rPr>
              <a:t>}</a:t>
            </a:r>
            <a:r>
              <a:rPr lang="zh-CN" altLang="en-US" dirty="0">
                <a:latin typeface="宋体" pitchFamily="2" charset="-122"/>
                <a:cs typeface="等线" panose="02010600030101010101" charset="-122"/>
              </a:rPr>
              <a:t>的约束。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  ALTER TABLE SC</a:t>
            </a:r>
            <a:endParaRPr lang="zh-CN" altLang="en-US" dirty="0">
              <a:solidFill>
                <a:srgbClr val="002060"/>
              </a:solidFill>
              <a:latin typeface="宋体" pitchFamily="2" charset="-122"/>
              <a:cs typeface="等线" panose="02010600030101010101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    ADD CHECK(Type IN ('</a:t>
            </a:r>
            <a:r>
              <a:rPr lang="zh-CN" altLang="en-US" sz="3200" dirty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必修</a:t>
            </a:r>
            <a:r>
              <a:rPr lang="en-US" altLang="zh-CN" sz="3200" dirty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', '</a:t>
            </a:r>
            <a:r>
              <a:rPr lang="zh-CN" altLang="en-US" sz="3200" dirty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选修</a:t>
            </a:r>
            <a:r>
              <a:rPr lang="en-US" altLang="zh-CN" sz="3200" dirty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') )</a:t>
            </a:r>
            <a:endParaRPr lang="zh-CN" altLang="en-US" sz="3200" dirty="0">
              <a:solidFill>
                <a:srgbClr val="002060"/>
              </a:solidFill>
              <a:latin typeface="宋体" pitchFamily="2" charset="-122"/>
              <a:cs typeface="等线" panose="02010600030101010101" charset="-122"/>
            </a:endParaRPr>
          </a:p>
          <a:p>
            <a:pPr>
              <a:spcBef>
                <a:spcPts val="3000"/>
              </a:spcBef>
            </a:pPr>
            <a:r>
              <a:rPr lang="zh-CN" altLang="en-US" dirty="0" smtClean="0">
                <a:latin typeface="宋体" pitchFamily="2" charset="-122"/>
                <a:cs typeface="等线" panose="02010600030101010101" charset="-122"/>
              </a:rPr>
              <a:t>例</a:t>
            </a:r>
            <a:r>
              <a:rPr lang="en-US" altLang="zh-CN" dirty="0" smtClean="0"/>
              <a:t>3.8 </a:t>
            </a:r>
            <a:r>
              <a:rPr lang="zh-CN" altLang="en-US" dirty="0" smtClean="0">
                <a:latin typeface="宋体" pitchFamily="2" charset="-122"/>
                <a:cs typeface="等线" panose="02010600030101010101" charset="-122"/>
              </a:rPr>
              <a:t>删除</a:t>
            </a:r>
            <a:r>
              <a:rPr lang="en-US" altLang="zh-CN" dirty="0">
                <a:latin typeface="宋体" pitchFamily="2" charset="-122"/>
                <a:cs typeface="等线" panose="02010600030101010101" charset="-122"/>
              </a:rPr>
              <a:t>SC</a:t>
            </a:r>
            <a:r>
              <a:rPr lang="zh-CN" altLang="en-US" dirty="0">
                <a:latin typeface="宋体" pitchFamily="2" charset="-122"/>
                <a:cs typeface="等线" panose="02010600030101010101" charset="-122"/>
              </a:rPr>
              <a:t>表的“</a:t>
            </a:r>
            <a:r>
              <a:rPr lang="en-US" altLang="zh-CN" dirty="0">
                <a:latin typeface="宋体" pitchFamily="2" charset="-122"/>
                <a:cs typeface="等线" panose="02010600030101010101" charset="-122"/>
              </a:rPr>
              <a:t>Type</a:t>
            </a:r>
            <a:r>
              <a:rPr lang="zh-CN" altLang="en-US" dirty="0">
                <a:latin typeface="宋体" pitchFamily="2" charset="-122"/>
                <a:cs typeface="等线" panose="02010600030101010101" charset="-122"/>
              </a:rPr>
              <a:t>”列。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ALTER TABLE SC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  DROP COLUMN Type</a:t>
            </a:r>
            <a:endParaRPr lang="zh-CN" altLang="en-US" dirty="0">
              <a:latin typeface="宋体" pitchFamily="2" charset="-122"/>
              <a:cs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ctr" eaLnBrk="1" hangingPunct="1">
              <a:buClrTx/>
              <a:buSzTx/>
              <a:buFontTx/>
            </a:pPr>
            <a:r>
              <a:rPr lang="zh-CN" altLang="en-US" sz="4000" b="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4 删除表</a:t>
            </a: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marL="476250" indent="-476250" eaLnBrk="1" hangingPunct="1"/>
            <a:r>
              <a:rPr lang="zh-CN" altLang="en-US" dirty="0">
                <a:latin typeface="宋体" pitchFamily="2" charset="-122"/>
                <a:cs typeface="等线" panose="02010600030101010101" charset="-122"/>
              </a:rPr>
              <a:t>当不再需要某个表时，可以将其删除。</a:t>
            </a:r>
          </a:p>
          <a:p>
            <a:pPr marL="476250" indent="-476250" eaLnBrk="1" hangingPunct="1"/>
            <a:r>
              <a:rPr lang="zh-CN" altLang="en-US" dirty="0">
                <a:latin typeface="宋体" pitchFamily="2" charset="-122"/>
                <a:cs typeface="等线" panose="02010600030101010101" charset="-122"/>
              </a:rPr>
              <a:t>删除表的语句格式为：</a:t>
            </a:r>
          </a:p>
          <a:p>
            <a:pPr marL="876300" lvl="1" indent="-419100" eaLnBrk="1" hangingPunct="1">
              <a:buFont typeface="Wingdings" panose="05000000000000000000" pitchFamily="2" charset="2"/>
              <a:buNone/>
            </a:pPr>
            <a:r>
              <a:rPr lang="en-US" altLang="zh-CN" sz="3400" dirty="0">
                <a:solidFill>
                  <a:srgbClr val="FF0000"/>
                </a:solidFill>
                <a:latin typeface="宋体" pitchFamily="2" charset="-122"/>
                <a:cs typeface="等线" panose="02010600030101010101" charset="-122"/>
              </a:rPr>
              <a:t>DROP  TABLE  &lt;</a:t>
            </a:r>
            <a:r>
              <a:rPr lang="zh-CN" altLang="en-US" sz="3400" dirty="0">
                <a:solidFill>
                  <a:srgbClr val="FF0000"/>
                </a:solidFill>
                <a:latin typeface="宋体" pitchFamily="2" charset="-122"/>
                <a:cs typeface="等线" panose="02010600030101010101" charset="-122"/>
              </a:rPr>
              <a:t>表名</a:t>
            </a:r>
            <a:r>
              <a:rPr lang="en-US" altLang="zh-CN" sz="3400" dirty="0">
                <a:solidFill>
                  <a:srgbClr val="FF0000"/>
                </a:solidFill>
                <a:latin typeface="宋体" pitchFamily="2" charset="-122"/>
                <a:cs typeface="等线" panose="02010600030101010101" charset="-122"/>
              </a:rPr>
              <a:t>&gt;  </a:t>
            </a:r>
          </a:p>
          <a:p>
            <a:pPr marL="876300" lvl="1" indent="-419100" eaLnBrk="1" hangingPunct="1">
              <a:buFont typeface="Wingdings" panose="05000000000000000000" pitchFamily="2" charset="2"/>
              <a:buNone/>
            </a:pPr>
            <a:r>
              <a:rPr lang="en-US" altLang="zh-CN" sz="3400" dirty="0">
                <a:solidFill>
                  <a:srgbClr val="FF0000"/>
                </a:solidFill>
                <a:latin typeface="宋体" pitchFamily="2" charset="-122"/>
                <a:cs typeface="等线" panose="02010600030101010101" charset="-122"/>
              </a:rPr>
              <a:t>{ [, &lt;</a:t>
            </a:r>
            <a:r>
              <a:rPr lang="zh-CN" altLang="en-US" sz="3400" dirty="0">
                <a:solidFill>
                  <a:srgbClr val="FF0000"/>
                </a:solidFill>
                <a:latin typeface="宋体" pitchFamily="2" charset="-122"/>
                <a:cs typeface="等线" panose="02010600030101010101" charset="-122"/>
              </a:rPr>
              <a:t>表名</a:t>
            </a:r>
            <a:r>
              <a:rPr lang="en-US" altLang="zh-CN" sz="3400" dirty="0">
                <a:solidFill>
                  <a:srgbClr val="FF0000"/>
                </a:solidFill>
                <a:latin typeface="宋体" pitchFamily="2" charset="-122"/>
                <a:cs typeface="等线" panose="02010600030101010101" charset="-122"/>
              </a:rPr>
              <a:t>&gt; ] … }</a:t>
            </a:r>
          </a:p>
          <a:p>
            <a:pPr marL="476250" indent="-476250" eaLnBrk="1" hangingPunct="1">
              <a:spcBef>
                <a:spcPts val="3000"/>
              </a:spcBef>
            </a:pPr>
            <a:r>
              <a:rPr lang="zh-CN" altLang="en-US" dirty="0" smtClean="0">
                <a:latin typeface="宋体" pitchFamily="2" charset="-122"/>
                <a:cs typeface="等线" panose="02010600030101010101" charset="-122"/>
              </a:rPr>
              <a:t>例</a:t>
            </a:r>
            <a:r>
              <a:rPr lang="en-US" altLang="zh-CN" smtClean="0"/>
              <a:t>3.9 </a:t>
            </a:r>
            <a:r>
              <a:rPr lang="zh-CN" altLang="en-US" smtClean="0">
                <a:latin typeface="宋体" pitchFamily="2" charset="-122"/>
                <a:cs typeface="等线" panose="02010600030101010101" charset="-122"/>
              </a:rPr>
              <a:t>删除</a:t>
            </a:r>
            <a:r>
              <a:rPr lang="en-US" altLang="zh-CN" dirty="0">
                <a:latin typeface="宋体" pitchFamily="2" charset="-122"/>
                <a:cs typeface="等线" panose="02010600030101010101" charset="-122"/>
              </a:rPr>
              <a:t>test</a:t>
            </a:r>
            <a:r>
              <a:rPr lang="zh-CN" altLang="en-US" dirty="0">
                <a:latin typeface="宋体" pitchFamily="2" charset="-122"/>
                <a:cs typeface="等线" panose="02010600030101010101" charset="-122"/>
              </a:rPr>
              <a:t>表：</a:t>
            </a:r>
          </a:p>
          <a:p>
            <a:pPr marL="876300" lvl="1" indent="-419100" eaLnBrk="1" hangingPunct="1">
              <a:buFont typeface="Wingdings" panose="05000000000000000000" pitchFamily="2" charset="2"/>
              <a:buNone/>
            </a:pPr>
            <a:r>
              <a:rPr lang="en-US" altLang="zh-CN" sz="3400" dirty="0">
                <a:solidFill>
                  <a:srgbClr val="002060"/>
                </a:solidFill>
                <a:latin typeface="宋体" pitchFamily="2" charset="-122"/>
                <a:cs typeface="等线" panose="02010600030101010101" charset="-122"/>
              </a:rPr>
              <a:t>DROP TABLE test</a:t>
            </a:r>
            <a:endParaRPr lang="zh-CN" altLang="en-US" sz="3400" dirty="0">
              <a:solidFill>
                <a:srgbClr val="002060"/>
              </a:solidFill>
              <a:latin typeface="宋体" pitchFamily="2" charset="-122"/>
              <a:cs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3293ce4-6be9-403e-b8e3-4c14d75deb5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8c191fb-0d88-4759-a923-62ad818ebd0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553d14b-560c-4ae2-bc32-f11553fdb1b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b8b15af-8838-47af-b05d-1025375abea3}"/>
</p:tagLst>
</file>

<file path=ppt/theme/theme1.xml><?xml version="1.0" encoding="utf-8"?>
<a:theme xmlns:a="http://schemas.openxmlformats.org/drawingml/2006/main" name="275TGp_biz_light">
  <a:themeElements>
    <a:clrScheme name="275TGp_biz_light 1">
      <a:dk1>
        <a:srgbClr val="2A4C41"/>
      </a:dk1>
      <a:lt1>
        <a:srgbClr val="FFFFFF"/>
      </a:lt1>
      <a:dk2>
        <a:srgbClr val="000000"/>
      </a:dk2>
      <a:lt2>
        <a:srgbClr val="DDDDDD"/>
      </a:lt2>
      <a:accent1>
        <a:srgbClr val="1D518D"/>
      </a:accent1>
      <a:accent2>
        <a:srgbClr val="0099CB"/>
      </a:accent2>
      <a:accent3>
        <a:srgbClr val="FFFFFF"/>
      </a:accent3>
      <a:accent4>
        <a:srgbClr val="224036"/>
      </a:accent4>
      <a:accent5>
        <a:srgbClr val="ABB3C5"/>
      </a:accent5>
      <a:accent6>
        <a:srgbClr val="008AB8"/>
      </a:accent6>
      <a:hlink>
        <a:srgbClr val="00CCFF"/>
      </a:hlink>
      <a:folHlink>
        <a:srgbClr val="749BD4"/>
      </a:folHlink>
    </a:clrScheme>
    <a:fontScheme name="275TGp_biz_ligh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Gulim" panose="020B0600000101010101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Gulim" panose="020B0600000101010101" pitchFamily="34" charset="-127"/>
          </a:defRPr>
        </a:defPPr>
      </a:lstStyle>
    </a:lnDef>
  </a:objectDefaults>
  <a:extraClrSchemeLst>
    <a:extraClrScheme>
      <a:clrScheme name="275TGp_biz_light 1">
        <a:dk1>
          <a:srgbClr val="2A4C41"/>
        </a:dk1>
        <a:lt1>
          <a:srgbClr val="FFFFFF"/>
        </a:lt1>
        <a:dk2>
          <a:srgbClr val="000000"/>
        </a:dk2>
        <a:lt2>
          <a:srgbClr val="DDDDDD"/>
        </a:lt2>
        <a:accent1>
          <a:srgbClr val="1D518D"/>
        </a:accent1>
        <a:accent2>
          <a:srgbClr val="0099CB"/>
        </a:accent2>
        <a:accent3>
          <a:srgbClr val="FFFFFF"/>
        </a:accent3>
        <a:accent4>
          <a:srgbClr val="224036"/>
        </a:accent4>
        <a:accent5>
          <a:srgbClr val="ABB3C5"/>
        </a:accent5>
        <a:accent6>
          <a:srgbClr val="008AB8"/>
        </a:accent6>
        <a:hlink>
          <a:srgbClr val="00CCFF"/>
        </a:hlink>
        <a:folHlink>
          <a:srgbClr val="749BD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75TGp_biz_light 2">
        <a:dk1>
          <a:srgbClr val="2A4C41"/>
        </a:dk1>
        <a:lt1>
          <a:srgbClr val="FFFFFF"/>
        </a:lt1>
        <a:dk2>
          <a:srgbClr val="000000"/>
        </a:dk2>
        <a:lt2>
          <a:srgbClr val="DDDDDD"/>
        </a:lt2>
        <a:accent1>
          <a:srgbClr val="7E784E"/>
        </a:accent1>
        <a:accent2>
          <a:srgbClr val="989780"/>
        </a:accent2>
        <a:accent3>
          <a:srgbClr val="FFFFFF"/>
        </a:accent3>
        <a:accent4>
          <a:srgbClr val="224036"/>
        </a:accent4>
        <a:accent5>
          <a:srgbClr val="C0BEB2"/>
        </a:accent5>
        <a:accent6>
          <a:srgbClr val="898873"/>
        </a:accent6>
        <a:hlink>
          <a:srgbClr val="BEBA9C"/>
        </a:hlink>
        <a:folHlink>
          <a:srgbClr val="94A1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75TGp_biz_light 3">
        <a:dk1>
          <a:srgbClr val="2A4C41"/>
        </a:dk1>
        <a:lt1>
          <a:srgbClr val="FFFFFF"/>
        </a:lt1>
        <a:dk2>
          <a:srgbClr val="000000"/>
        </a:dk2>
        <a:lt2>
          <a:srgbClr val="DDDDDD"/>
        </a:lt2>
        <a:accent1>
          <a:srgbClr val="285F6A"/>
        </a:accent1>
        <a:accent2>
          <a:srgbClr val="419DAF"/>
        </a:accent2>
        <a:accent3>
          <a:srgbClr val="FFFFFF"/>
        </a:accent3>
        <a:accent4>
          <a:srgbClr val="224036"/>
        </a:accent4>
        <a:accent5>
          <a:srgbClr val="ACB6B9"/>
        </a:accent5>
        <a:accent6>
          <a:srgbClr val="3A8E9E"/>
        </a:accent6>
        <a:hlink>
          <a:srgbClr val="34C1D0"/>
        </a:hlink>
        <a:folHlink>
          <a:srgbClr val="749BD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2830</Words>
  <Application>Microsoft Office PowerPoint</Application>
  <PresentationFormat>全屏显示(4:3)</PresentationFormat>
  <Paragraphs>411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1" baseType="lpstr">
      <vt:lpstr>Arial</vt:lpstr>
      <vt:lpstr>宋体</vt:lpstr>
      <vt:lpstr>Times New Roman</vt:lpstr>
      <vt:lpstr>Wingdings</vt:lpstr>
      <vt:lpstr>Verdana</vt:lpstr>
      <vt:lpstr>等线</vt:lpstr>
      <vt:lpstr>仿宋_GB2312</vt:lpstr>
      <vt:lpstr>Gulim</vt:lpstr>
      <vt:lpstr>Calibri</vt:lpstr>
      <vt:lpstr>黑体</vt:lpstr>
      <vt:lpstr>275TGp_biz_light</vt:lpstr>
      <vt:lpstr>Visio.Drawing.11</vt:lpstr>
      <vt:lpstr>数据库原理与应用 （第3版）</vt:lpstr>
      <vt:lpstr>第3章 SQL语言基础及数据定义功能 </vt:lpstr>
      <vt:lpstr>概述</vt:lpstr>
      <vt:lpstr>3.1 SQL语言概述 </vt:lpstr>
      <vt:lpstr>3.1.1 SQL语言的发展</vt:lpstr>
      <vt:lpstr>3.1.2 SQL语言的特点</vt:lpstr>
      <vt:lpstr>3.1.3 SQL语言功能概述</vt:lpstr>
      <vt:lpstr>3.2 数据类型</vt:lpstr>
      <vt:lpstr>精确数值类型</vt:lpstr>
      <vt:lpstr>近似数值数类型</vt:lpstr>
      <vt:lpstr>字符串类型</vt:lpstr>
      <vt:lpstr>非unicode字符串类型</vt:lpstr>
      <vt:lpstr>unicode字符串类型</vt:lpstr>
      <vt:lpstr>日期时间类型</vt:lpstr>
      <vt:lpstr>日期时间类型（续）</vt:lpstr>
      <vt:lpstr>货币类型</vt:lpstr>
      <vt:lpstr>3.3 创建数据库</vt:lpstr>
      <vt:lpstr>3.3.1 SQL Server数据库分类</vt:lpstr>
      <vt:lpstr>系统数据库</vt:lpstr>
      <vt:lpstr>3.3.2 数据库基本概念</vt:lpstr>
      <vt:lpstr>1．SQL Server数据库的组成</vt:lpstr>
      <vt:lpstr>数据文件</vt:lpstr>
      <vt:lpstr>日志文件</vt:lpstr>
      <vt:lpstr>2．关于数据的存储分配</vt:lpstr>
      <vt:lpstr>示例</vt:lpstr>
      <vt:lpstr>3．数据库文件的属性</vt:lpstr>
      <vt:lpstr>3.3.4 用T-SQL语句创建数据库</vt:lpstr>
      <vt:lpstr>示例1</vt:lpstr>
      <vt:lpstr>示例3.2</vt:lpstr>
      <vt:lpstr>示例3.3</vt:lpstr>
      <vt:lpstr>3.4 创建与维护关系表</vt:lpstr>
      <vt:lpstr>3.4.1 用T-SQL语句实现</vt:lpstr>
      <vt:lpstr>1 创建表</vt:lpstr>
      <vt:lpstr>2 定义完整性约束</vt:lpstr>
      <vt:lpstr>主码约束</vt:lpstr>
      <vt:lpstr>外码约束</vt:lpstr>
      <vt:lpstr>UNIQUE约束</vt:lpstr>
      <vt:lpstr>DEFAULT约束</vt:lpstr>
      <vt:lpstr>CHECK约束</vt:lpstr>
      <vt:lpstr>Student表结构</vt:lpstr>
      <vt:lpstr>定义Student表</vt:lpstr>
      <vt:lpstr>Course表结构</vt:lpstr>
      <vt:lpstr>定义Course表</vt:lpstr>
      <vt:lpstr>SC表结构</vt:lpstr>
      <vt:lpstr>定义SC表</vt:lpstr>
      <vt:lpstr>3 修改表结构</vt:lpstr>
      <vt:lpstr>示例</vt:lpstr>
      <vt:lpstr>示例</vt:lpstr>
      <vt:lpstr>4 删除表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数据库原理与应用 （第3版）</dc:title>
  <dc:creator/>
  <cp:lastModifiedBy>DELL</cp:lastModifiedBy>
  <cp:revision>20</cp:revision>
  <dcterms:created xsi:type="dcterms:W3CDTF">2001-07-18T23:57:34Z</dcterms:created>
  <dcterms:modified xsi:type="dcterms:W3CDTF">2023-10-08T09:14:00Z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369BB797A24F4737B6D90CC5BF76DF23</vt:lpwstr>
  </property>
  <property fmtid="{D5CDD505-2E9C-101B-9397-08002B2CF9AE}" pid="3" name="KSOProductBuildVer">
    <vt:lpwstr>2052-11.1.0.10356</vt:lpwstr>
  </property>
</Properties>
</file>