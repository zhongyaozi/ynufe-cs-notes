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556" r:id="rId3"/>
    <p:sldId id="535" r:id="rId4"/>
    <p:sldId id="536" r:id="rId5"/>
    <p:sldId id="537" r:id="rId6"/>
    <p:sldId id="557" r:id="rId7"/>
    <p:sldId id="538" r:id="rId8"/>
    <p:sldId id="539" r:id="rId9"/>
    <p:sldId id="540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51" r:id="rId19"/>
    <p:sldId id="553" r:id="rId20"/>
    <p:sldId id="552" r:id="rId21"/>
    <p:sldId id="554" r:id="rId22"/>
    <p:sldId id="555" r:id="rId23"/>
    <p:sldId id="558" r:id="rId24"/>
    <p:sldId id="559" r:id="rId25"/>
    <p:sldId id="560" r:id="rId26"/>
    <p:sldId id="561" r:id="rId27"/>
    <p:sldId id="562" r:id="rId28"/>
    <p:sldId id="563" r:id="rId29"/>
    <p:sldId id="564" r:id="rId30"/>
    <p:sldId id="565" r:id="rId31"/>
    <p:sldId id="571" r:id="rId32"/>
    <p:sldId id="575" r:id="rId33"/>
    <p:sldId id="576" r:id="rId34"/>
    <p:sldId id="577" r:id="rId35"/>
    <p:sldId id="578" r:id="rId36"/>
    <p:sldId id="579" r:id="rId37"/>
    <p:sldId id="580" r:id="rId38"/>
    <p:sldId id="583" r:id="rId39"/>
    <p:sldId id="581" r:id="rId40"/>
    <p:sldId id="582" r:id="rId41"/>
  </p:sldIdLst>
  <p:sldSz cx="9144000" cy="6858000" type="screen4x3"/>
  <p:notesSz cx="6858000" cy="9144000"/>
  <p:embeddedFontLst>
    <p:embeddedFont>
      <p:font typeface="Verdana" pitchFamily="34" charset="0"/>
      <p:regular r:id="rId42"/>
      <p:bold r:id="rId43"/>
      <p:italic r:id="rId44"/>
      <p:boldItalic r:id="rId45"/>
    </p:embeddedFont>
    <p:embeddedFont>
      <p:font typeface="仿宋_GB2312" charset="-122"/>
      <p:regular r:id="rId46"/>
    </p:embeddedFont>
    <p:embeddedFont>
      <p:font typeface="黑体" pitchFamily="49" charset="-122"/>
      <p:regular r:id="rId47"/>
    </p:embeddedFont>
    <p:embeddedFont>
      <p:font typeface="楷体_GB2312" charset="-122"/>
      <p:regular r:id="rId48"/>
    </p:embeddedFont>
    <p:embeddedFont>
      <p:font typeface="等线" pitchFamily="2" charset="-122"/>
      <p:regular r:id="rId49"/>
      <p:bold r:id="rId50"/>
    </p:embeddedFont>
    <p:embeddedFont>
      <p:font typeface="隶书" pitchFamily="49" charset="-122"/>
      <p:regular r:id="rId51"/>
    </p:embeddedFont>
    <p:embeddedFont>
      <p:font typeface="굴림" charset="-127"/>
      <p:regular r:id="rId52"/>
    </p:embeddedFont>
  </p:embeddedFontLst>
  <p:custDataLst>
    <p:tags r:id="rId53"/>
  </p:custDataLst>
  <p:defaultTextStyle>
    <a:defPPr>
      <a:defRPr lang="ko-KR"/>
    </a:defPPr>
    <a:lvl1pPr marL="0" lvl="0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1pPr>
    <a:lvl2pPr marL="457200" lvl="1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2pPr>
    <a:lvl3pPr marL="914400" lvl="2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3pPr>
    <a:lvl4pPr marL="1371600" lvl="3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4pPr>
    <a:lvl5pPr marL="1828800" lvl="4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5pPr>
    <a:lvl6pPr marL="2286000" lvl="5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6pPr>
    <a:lvl7pPr marL="2743200" lvl="6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7pPr>
    <a:lvl8pPr marL="3200400" lvl="7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8pPr>
    <a:lvl9pPr marL="3657600" lvl="8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0000"/>
    <a:srgbClr val="FF0000"/>
    <a:srgbClr val="0000FF"/>
    <a:srgbClr val="EECCE5"/>
    <a:srgbClr val="D60093"/>
    <a:srgbClr val="FF66CC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98" autoAdjust="0"/>
    <p:restoredTop sz="94603"/>
  </p:normalViewPr>
  <p:slideViewPr>
    <p:cSldViewPr showGuides="1">
      <p:cViewPr varScale="1">
        <p:scale>
          <a:sx n="114" d="100"/>
          <a:sy n="114" d="100"/>
        </p:scale>
        <p:origin x="-19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67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/>
          <p:cNvSpPr/>
          <p:nvPr/>
        </p:nvSpPr>
        <p:spPr bwMode="gray">
          <a:xfrm>
            <a:off x="0" y="3810000"/>
            <a:ext cx="9144000" cy="304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20"/>
              </a:cxn>
              <a:cxn ang="0">
                <a:pos x="5760" y="1920"/>
              </a:cxn>
              <a:cxn ang="0">
                <a:pos x="5760" y="0"/>
              </a:cxn>
              <a:cxn ang="0">
                <a:pos x="0" y="0"/>
              </a:cxn>
            </a:cxnLst>
            <a:rect l="0" t="0" r="r" b="b"/>
            <a:pathLst>
              <a:path w="5760" h="1920">
                <a:moveTo>
                  <a:pt x="0" y="0"/>
                </a:moveTo>
                <a:lnTo>
                  <a:pt x="0" y="1920"/>
                </a:lnTo>
                <a:lnTo>
                  <a:pt x="5760" y="1920"/>
                </a:lnTo>
                <a:lnTo>
                  <a:pt x="57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gray">
          <a:xfrm>
            <a:off x="0" y="3429000"/>
            <a:ext cx="5045075" cy="39052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1" name="Freeform 4"/>
          <p:cNvSpPr/>
          <p:nvPr/>
        </p:nvSpPr>
        <p:spPr bwMode="gray">
          <a:xfrm>
            <a:off x="5043488" y="3429000"/>
            <a:ext cx="2195513" cy="3905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41" y="0"/>
              </a:cxn>
              <a:cxn ang="0">
                <a:pos x="1159" y="246"/>
              </a:cxn>
              <a:cxn ang="0">
                <a:pos x="0" y="246"/>
              </a:cxn>
              <a:cxn ang="0">
                <a:pos x="0" y="0"/>
              </a:cxn>
            </a:cxnLst>
            <a:rect l="0" t="0" r="r" b="b"/>
            <a:pathLst>
              <a:path w="1341" h="246">
                <a:moveTo>
                  <a:pt x="0" y="0"/>
                </a:moveTo>
                <a:lnTo>
                  <a:pt x="1341" y="0"/>
                </a:lnTo>
                <a:lnTo>
                  <a:pt x="1159" y="246"/>
                </a:lnTo>
                <a:lnTo>
                  <a:pt x="0" y="2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2" name="Freeform 9"/>
          <p:cNvSpPr/>
          <p:nvPr/>
        </p:nvSpPr>
        <p:spPr bwMode="gray">
          <a:xfrm>
            <a:off x="6862763" y="3429000"/>
            <a:ext cx="2281238" cy="390525"/>
          </a:xfrm>
          <a:custGeom>
            <a:avLst/>
            <a:gdLst/>
            <a:ahLst/>
            <a:cxnLst>
              <a:cxn ang="0">
                <a:pos x="189" y="0"/>
              </a:cxn>
              <a:cxn ang="0">
                <a:pos x="0" y="243"/>
              </a:cxn>
              <a:cxn ang="0">
                <a:pos x="1437" y="246"/>
              </a:cxn>
              <a:cxn ang="0">
                <a:pos x="1436" y="0"/>
              </a:cxn>
              <a:cxn ang="0">
                <a:pos x="189" y="0"/>
              </a:cxn>
            </a:cxnLst>
            <a:rect l="0" t="0" r="r" b="b"/>
            <a:pathLst>
              <a:path w="1437" h="246">
                <a:moveTo>
                  <a:pt x="189" y="0"/>
                </a:moveTo>
                <a:lnTo>
                  <a:pt x="0" y="243"/>
                </a:lnTo>
                <a:lnTo>
                  <a:pt x="1437" y="246"/>
                </a:lnTo>
                <a:lnTo>
                  <a:pt x="1436" y="0"/>
                </a:lnTo>
                <a:lnTo>
                  <a:pt x="189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3" name="Freeform 10" descr="2"/>
          <p:cNvSpPr/>
          <p:nvPr/>
        </p:nvSpPr>
        <p:spPr bwMode="gray">
          <a:xfrm>
            <a:off x="0" y="3810000"/>
            <a:ext cx="6865938" cy="144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337" y="2"/>
              </a:cxn>
              <a:cxn ang="0">
                <a:pos x="3658" y="906"/>
              </a:cxn>
              <a:cxn ang="0">
                <a:pos x="0" y="912"/>
              </a:cxn>
              <a:cxn ang="0">
                <a:pos x="0" y="0"/>
              </a:cxn>
            </a:cxnLst>
            <a:rect l="0" t="0" r="r" b="b"/>
            <a:pathLst>
              <a:path w="4337" h="912">
                <a:moveTo>
                  <a:pt x="0" y="0"/>
                </a:moveTo>
                <a:lnTo>
                  <a:pt x="4337" y="2"/>
                </a:lnTo>
                <a:lnTo>
                  <a:pt x="3658" y="906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4" name="Freeform 11"/>
          <p:cNvSpPr/>
          <p:nvPr/>
        </p:nvSpPr>
        <p:spPr bwMode="gray">
          <a:xfrm>
            <a:off x="7162800" y="762000"/>
            <a:ext cx="1981200" cy="2667000"/>
          </a:xfrm>
          <a:custGeom>
            <a:avLst/>
            <a:gdLst/>
            <a:ahLst/>
            <a:cxnLst>
              <a:cxn ang="0">
                <a:pos x="0" y="1680"/>
              </a:cxn>
              <a:cxn ang="0">
                <a:pos x="1248" y="0"/>
              </a:cxn>
              <a:cxn ang="0">
                <a:pos x="1248" y="1680"/>
              </a:cxn>
              <a:cxn ang="0">
                <a:pos x="0" y="1680"/>
              </a:cxn>
            </a:cxnLst>
            <a:rect l="0" t="0" r="r" b="b"/>
            <a:pathLst>
              <a:path w="1248" h="1680">
                <a:moveTo>
                  <a:pt x="0" y="1680"/>
                </a:moveTo>
                <a:lnTo>
                  <a:pt x="1248" y="0"/>
                </a:lnTo>
                <a:lnTo>
                  <a:pt x="1248" y="1680"/>
                </a:lnTo>
                <a:lnTo>
                  <a:pt x="0" y="168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gray">
          <a:xfrm>
            <a:off x="4724400" y="3429000"/>
            <a:ext cx="914400" cy="381000"/>
          </a:xfrm>
          <a:prstGeom prst="parallelogram">
            <a:avLst>
              <a:gd name="adj" fmla="val 77089"/>
            </a:avLst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54989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5791200"/>
            <a:ext cx="46482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4990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190500" y="2590800"/>
            <a:ext cx="71247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976938" y="6594475"/>
            <a:ext cx="2895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0" smtClean="0">
                <a:solidFill>
                  <a:schemeClr val="bg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465513" y="6613525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ctr">
              <a:buNone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‹#›</a:t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274638" y="6605588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>
              <a:defRPr sz="1000" smtClean="0">
                <a:solidFill>
                  <a:schemeClr val="bg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152400"/>
            <a:ext cx="7858180" cy="685800"/>
          </a:xfrm>
        </p:spPr>
        <p:txBody>
          <a:bodyPr/>
          <a:lstStyle>
            <a:lvl1pPr algn="ctr"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400">
                <a:latin typeface="仿宋_GB2312" panose="02010600030101010101" pitchFamily="49" charset="-122"/>
                <a:ea typeface="仿宋_GB2312" panose="02010600030101010101" pitchFamily="49" charset="-122"/>
              </a:defRPr>
            </a:lvl1pPr>
            <a:lvl2pPr>
              <a:defRPr sz="3200" b="1">
                <a:latin typeface="仿宋_GB2312" panose="02010600030101010101" pitchFamily="49" charset="-122"/>
                <a:ea typeface="仿宋_GB2312" panose="02010600030101010101" pitchFamily="49" charset="-122"/>
              </a:defRPr>
            </a:lvl2pPr>
            <a:lvl3pPr>
              <a:defRPr sz="2800" b="1">
                <a:latin typeface="仿宋_GB2312" panose="02010600030101010101" pitchFamily="49" charset="-122"/>
                <a:ea typeface="仿宋_GB2312" panose="02010600030101010101" pitchFamily="49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95400"/>
            <a:ext cx="8229600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Freeform 2"/>
          <p:cNvSpPr/>
          <p:nvPr/>
        </p:nvSpPr>
        <p:spPr bwMode="gray">
          <a:xfrm>
            <a:off x="0" y="5638800"/>
            <a:ext cx="9144000" cy="1219200"/>
          </a:xfrm>
          <a:custGeom>
            <a:avLst/>
            <a:gdLst/>
            <a:ahLst/>
            <a:cxnLst>
              <a:cxn ang="0">
                <a:pos x="0" y="512"/>
              </a:cxn>
              <a:cxn ang="0">
                <a:pos x="5120" y="512"/>
              </a:cxn>
              <a:cxn ang="0">
                <a:pos x="5760" y="0"/>
              </a:cxn>
              <a:cxn ang="0">
                <a:pos x="5760" y="768"/>
              </a:cxn>
              <a:cxn ang="0">
                <a:pos x="0" y="768"/>
              </a:cxn>
              <a:cxn ang="0">
                <a:pos x="0" y="512"/>
              </a:cxn>
            </a:cxnLst>
            <a:rect l="0" t="0" r="r" b="b"/>
            <a:pathLst>
              <a:path w="5760" h="768">
                <a:moveTo>
                  <a:pt x="0" y="512"/>
                </a:moveTo>
                <a:lnTo>
                  <a:pt x="5120" y="512"/>
                </a:lnTo>
                <a:lnTo>
                  <a:pt x="5760" y="0"/>
                </a:lnTo>
                <a:lnTo>
                  <a:pt x="5760" y="768"/>
                </a:lnTo>
                <a:lnTo>
                  <a:pt x="0" y="768"/>
                </a:lnTo>
                <a:lnTo>
                  <a:pt x="0" y="5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548867" name="Freeform 3"/>
          <p:cNvSpPr/>
          <p:nvPr/>
        </p:nvSpPr>
        <p:spPr bwMode="gray">
          <a:xfrm>
            <a:off x="-3175" y="-3175"/>
            <a:ext cx="9147175" cy="1133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790" y="0"/>
              </a:cxn>
              <a:cxn ang="0">
                <a:pos x="3790" y="232"/>
              </a:cxn>
              <a:cxn ang="0">
                <a:pos x="3380" y="712"/>
              </a:cxn>
              <a:cxn ang="0">
                <a:pos x="2" y="714"/>
              </a:cxn>
              <a:cxn ang="0">
                <a:pos x="0" y="0"/>
              </a:cxn>
            </a:cxnLst>
            <a:rect l="0" t="0" r="r" b="b"/>
            <a:pathLst>
              <a:path w="3790" h="714">
                <a:moveTo>
                  <a:pt x="0" y="0"/>
                </a:moveTo>
                <a:lnTo>
                  <a:pt x="3790" y="0"/>
                </a:lnTo>
                <a:lnTo>
                  <a:pt x="3790" y="232"/>
                </a:lnTo>
                <a:lnTo>
                  <a:pt x="3380" y="712"/>
                </a:lnTo>
                <a:lnTo>
                  <a:pt x="2" y="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548868" name="Rectangle 4"/>
          <p:cNvSpPr>
            <a:spLocks noChangeArrowheads="1"/>
          </p:cNvSpPr>
          <p:nvPr/>
        </p:nvSpPr>
        <p:spPr bwMode="gray">
          <a:xfrm>
            <a:off x="0" y="882650"/>
            <a:ext cx="7721600" cy="2603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5125" name="Rectangle 5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4887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5127" name="Rectangle 7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48872" name="Freeform 8"/>
          <p:cNvSpPr/>
          <p:nvPr/>
        </p:nvSpPr>
        <p:spPr bwMode="gray">
          <a:xfrm>
            <a:off x="6215063" y="881063"/>
            <a:ext cx="2260600" cy="261938"/>
          </a:xfrm>
          <a:custGeom>
            <a:avLst/>
            <a:gdLst/>
            <a:ahLst/>
            <a:cxnLst>
              <a:cxn ang="0">
                <a:pos x="0" y="165"/>
              </a:cxn>
              <a:cxn ang="0">
                <a:pos x="1221" y="164"/>
              </a:cxn>
              <a:cxn ang="0">
                <a:pos x="1424" y="0"/>
              </a:cxn>
              <a:cxn ang="0">
                <a:pos x="189" y="0"/>
              </a:cxn>
              <a:cxn ang="0">
                <a:pos x="0" y="165"/>
              </a:cxn>
            </a:cxnLst>
            <a:rect l="0" t="0" r="r" b="b"/>
            <a:pathLst>
              <a:path w="1424" h="165">
                <a:moveTo>
                  <a:pt x="0" y="165"/>
                </a:moveTo>
                <a:lnTo>
                  <a:pt x="1221" y="164"/>
                </a:lnTo>
                <a:lnTo>
                  <a:pt x="1424" y="0"/>
                </a:lnTo>
                <a:lnTo>
                  <a:pt x="189" y="0"/>
                </a:lnTo>
                <a:lnTo>
                  <a:pt x="0" y="16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34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v"/>
        <a:defRPr sz="32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2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400">
          <a:solidFill>
            <a:schemeClr val="tx2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827088" y="1143000"/>
            <a:ext cx="7705352" cy="2039938"/>
          </a:xfrm>
        </p:spPr>
        <p:txBody>
          <a:bodyPr vert="horz" wrap="square" lIns="91440" tIns="45720" rIns="91440" bIns="45720" anchor="ctr" anchorCtr="0"/>
          <a:lstStyle/>
          <a:p>
            <a:pPr algn="ctr" eaLnBrk="1" hangingPunct="1">
              <a:buClrTx/>
              <a:buSzTx/>
              <a:buFontTx/>
            </a:pPr>
            <a:r>
              <a:rPr lang="zh-CN" altLang="en-US" sz="6600" dirty="0">
                <a:solidFill>
                  <a:srgbClr val="000000"/>
                </a:solidFill>
                <a:latin typeface="+mj-lt"/>
                <a:ea typeface="黑体" panose="02010609060101010101" pitchFamily="2" charset="-122"/>
                <a:cs typeface="+mj-cs"/>
              </a:rPr>
              <a:t>数据库原理及应用</a:t>
            </a:r>
            <a:r>
              <a:rPr lang="en-US" altLang="zh-CN" sz="6600" dirty="0">
                <a:solidFill>
                  <a:srgbClr val="000000"/>
                </a:solidFill>
                <a:latin typeface="+mj-lt"/>
                <a:ea typeface="黑体" panose="02010609060101010101" pitchFamily="2" charset="-122"/>
                <a:cs typeface="+mj-cs"/>
              </a:rPr>
              <a:t/>
            </a:r>
            <a:br>
              <a:rPr lang="en-US" altLang="zh-CN" sz="6600" dirty="0">
                <a:solidFill>
                  <a:srgbClr val="000000"/>
                </a:solidFill>
                <a:latin typeface="+mj-lt"/>
                <a:ea typeface="黑体" panose="02010609060101010101" pitchFamily="2" charset="-122"/>
                <a:cs typeface="+mj-cs"/>
              </a:rPr>
            </a:br>
            <a:r>
              <a:rPr lang="zh-CN" altLang="en-US" sz="6600" dirty="0">
                <a:solidFill>
                  <a:srgbClr val="000000"/>
                </a:solidFill>
                <a:latin typeface="+mj-lt"/>
                <a:ea typeface="黑体" panose="02010609060101010101" pitchFamily="2" charset="-122"/>
                <a:cs typeface="+mj-cs"/>
              </a:rPr>
              <a:t>（第</a:t>
            </a:r>
            <a:r>
              <a:rPr lang="en-US" altLang="zh-CN" sz="6600" dirty="0">
                <a:solidFill>
                  <a:srgbClr val="000000"/>
                </a:solidFill>
                <a:latin typeface="+mj-lt"/>
                <a:ea typeface="黑体" panose="02010609060101010101" pitchFamily="2" charset="-122"/>
                <a:cs typeface="+mj-cs"/>
              </a:rPr>
              <a:t>3</a:t>
            </a:r>
            <a:r>
              <a:rPr lang="zh-CN" altLang="en-US" sz="6600" dirty="0">
                <a:solidFill>
                  <a:srgbClr val="000000"/>
                </a:solidFill>
                <a:latin typeface="+mj-lt"/>
                <a:ea typeface="黑体" panose="02010609060101010101" pitchFamily="2" charset="-122"/>
                <a:cs typeface="+mj-cs"/>
              </a:rPr>
              <a:t>版）</a:t>
            </a:r>
          </a:p>
        </p:txBody>
      </p:sp>
      <p:sp>
        <p:nvSpPr>
          <p:cNvPr id="7171" name="Rectangle 6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SzTx/>
            </a:pPr>
            <a:r>
              <a:rPr lang="zh-CN" altLang="en-US" sz="3200" dirty="0"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人民邮电出版社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8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第5章 视图和索引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1835696" y="1916832"/>
            <a:ext cx="5014317" cy="236257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5.1 </a:t>
            </a:r>
            <a:r>
              <a:rPr lang="zh-CN" altLang="en-US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视图</a:t>
            </a:r>
            <a:endParaRPr lang="en-US" altLang="zh-CN" sz="4800" dirty="0">
              <a:latin typeface="仿宋_GB2312" panose="02010600030101010101" pitchFamily="49" charset="-122"/>
              <a:ea typeface="仿宋_GB2312" panose="02010600030101010101" pitchFamily="49" charset="-122"/>
              <a:cs typeface="+mn-cs"/>
            </a:endParaRPr>
          </a:p>
          <a:p>
            <a:pPr eaLnBrk="1" hangingPunct="1"/>
            <a:r>
              <a:rPr lang="en-US" altLang="zh-CN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5.2 </a:t>
            </a:r>
            <a:r>
              <a:rPr lang="zh-CN" altLang="en-US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索引</a:t>
            </a:r>
          </a:p>
        </p:txBody>
      </p:sp>
      <p:pic>
        <p:nvPicPr>
          <p:cNvPr id="4" name="Picture 4" descr="手1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2215817"/>
            <a:ext cx="671512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8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5.1  视图 </a:t>
            </a: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1403648" y="1484784"/>
            <a:ext cx="6408638" cy="388890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5.1.1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基本概念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5.1.2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定义视图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5.1.3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通过视图</a:t>
            </a:r>
            <a:r>
              <a:rPr lang="zh-CN" altLang="en-US" sz="3600" i="1" u="sng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5.1.4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修改和删除视图 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5.1.5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视图的作用  </a:t>
            </a:r>
          </a:p>
        </p:txBody>
      </p:sp>
      <p:pic>
        <p:nvPicPr>
          <p:cNvPr id="4" name="Picture 4" descr="手1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69063">
            <a:off x="5033846" y="2868926"/>
            <a:ext cx="671512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5.1.1 基本概念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301952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14000"/>
              </a:lnSpc>
            </a:pP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视图是由从数据库的基本表中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选取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出来的数据组成的逻辑窗口，是基本表的部分行和列数据的组合。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视图是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一张</a:t>
            </a:r>
            <a:r>
              <a:rPr lang="zh-CN" altLang="zh-CN" sz="5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</a:t>
            </a: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表。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Bef>
                <a:spcPts val="1800"/>
              </a:spcBef>
            </a:pP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数据库中只存储视图的定义，而不存储视图所包含的数据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(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其实视图里就没有数据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8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基本概念（续）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323528" y="1295400"/>
            <a:ext cx="8363272" cy="177356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32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    视图可以从</a:t>
            </a:r>
            <a:r>
              <a:rPr lang="zh-CN" altLang="en-US" sz="3200" dirty="0">
                <a:solidFill>
                  <a:srgbClr val="FF00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一个</a:t>
            </a:r>
            <a:r>
              <a:rPr lang="zh-CN" altLang="en-US" sz="32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基本表中提取数据，也可以从</a:t>
            </a:r>
            <a:r>
              <a:rPr lang="zh-CN" altLang="en-US" sz="3200" dirty="0">
                <a:solidFill>
                  <a:srgbClr val="FF00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多个</a:t>
            </a:r>
            <a:r>
              <a:rPr lang="zh-CN" altLang="en-US" sz="32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基本表中提取数据，甚至还可以从</a:t>
            </a:r>
            <a:r>
              <a:rPr lang="zh-CN" altLang="en-US" sz="3200" dirty="0">
                <a:solidFill>
                  <a:srgbClr val="FF00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其他视图</a:t>
            </a:r>
            <a:r>
              <a:rPr lang="zh-CN" altLang="en-US" sz="32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中提取数据，构成新的视图。</a:t>
            </a:r>
          </a:p>
        </p:txBody>
      </p:sp>
      <p:sp>
        <p:nvSpPr>
          <p:cNvPr id="2" name="矩形 1"/>
          <p:cNvSpPr/>
          <p:nvPr/>
        </p:nvSpPr>
        <p:spPr>
          <a:xfrm>
            <a:off x="1331640" y="3064275"/>
            <a:ext cx="55402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视</a:t>
            </a:r>
            <a:r>
              <a:rPr lang="zh-CN" altLang="en-US" sz="3200" b="1" dirty="0">
                <a:solidFill>
                  <a:schemeClr val="tx1">
                    <a:lumMod val="50000"/>
                  </a:schemeClr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图</a:t>
            </a:r>
            <a:r>
              <a:rPr lang="zh-CN" altLang="en-US" sz="32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的构造基于基本表或视图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4861092"/>
            <a:ext cx="7189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、视图的数据源只能是基本表。（ ）</a:t>
            </a:r>
          </a:p>
        </p:txBody>
      </p:sp>
      <p:sp>
        <p:nvSpPr>
          <p:cNvPr id="6" name="矩形 5"/>
          <p:cNvSpPr/>
          <p:nvPr/>
        </p:nvSpPr>
        <p:spPr>
          <a:xfrm>
            <a:off x="755576" y="5492819"/>
            <a:ext cx="80137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、视图的最终数据源只能是基本表。（ ）</a:t>
            </a:r>
          </a:p>
        </p:txBody>
      </p:sp>
      <p:sp>
        <p:nvSpPr>
          <p:cNvPr id="4" name="矩形 3"/>
          <p:cNvSpPr/>
          <p:nvPr/>
        </p:nvSpPr>
        <p:spPr>
          <a:xfrm>
            <a:off x="1011854" y="4276317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判断题：</a:t>
            </a:r>
          </a:p>
        </p:txBody>
      </p:sp>
      <p:sp>
        <p:nvSpPr>
          <p:cNvPr id="5" name="矩形 4"/>
          <p:cNvSpPr/>
          <p:nvPr/>
        </p:nvSpPr>
        <p:spPr>
          <a:xfrm>
            <a:off x="7092280" y="4922004"/>
            <a:ext cx="3600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7956375" y="5570076"/>
            <a:ext cx="3600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4" grpId="0"/>
      <p:bldP spid="5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8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基本概念（续）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539552" y="1556792"/>
            <a:ext cx="8229600" cy="1296144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spcBef>
                <a:spcPts val="3000"/>
              </a:spcBef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对视图数据的操作最终都会转换为对基本表的操作（视图消解）。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3000"/>
              </a:spcBef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en-US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59632" y="3244334"/>
            <a:ext cx="57887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3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视图消解：由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RDBMS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4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基本概念（续）</a:t>
            </a:r>
          </a:p>
        </p:txBody>
      </p:sp>
      <p:pic>
        <p:nvPicPr>
          <p:cNvPr id="12291" name="Picture 4" descr="04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268413"/>
            <a:ext cx="7993062" cy="4811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5.1.2  定义视图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79512" y="1214438"/>
            <a:ext cx="8964488" cy="507206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定义视图的格式如下：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&lt;视图名&gt; [(列名[ ,...n ] )]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 </a:t>
            </a:r>
            <a:endParaRPr lang="zh-CN" altLang="en-US" sz="3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查询语句</a:t>
            </a:r>
          </a:p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查询语句中通常不包含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order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by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distinct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子句。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在定义视图时要么指定视图的全部列名，要么全部省略不写，</a:t>
            </a:r>
            <a:r>
              <a:rPr lang="zh-CN" altLang="en-US" sz="3200" u="sng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不能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只写视图的部分列名。 </a:t>
            </a:r>
          </a:p>
        </p:txBody>
      </p:sp>
      <p:sp>
        <p:nvSpPr>
          <p:cNvPr id="2" name="矩形 1"/>
          <p:cNvSpPr/>
          <p:nvPr/>
        </p:nvSpPr>
        <p:spPr>
          <a:xfrm>
            <a:off x="2113871" y="4149080"/>
            <a:ext cx="6551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SQL Server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可以使用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order </a:t>
            </a:r>
            <a:r>
              <a:rPr lang="en-US" altLang="zh-CN" sz="2400" b="1" dirty="0" err="1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by+top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distinct</a:t>
            </a:r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325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必须明确指定视图所有列名的情况 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3000"/>
              </a:spcBef>
            </a:pP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某个目标列不是简单的列名，而是</a:t>
            </a:r>
            <a:r>
              <a:rPr lang="zh-CN" altLang="en-US" dirty="0">
                <a:solidFill>
                  <a:srgbClr val="FF00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函数或表达式</a:t>
            </a: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。（</a:t>
            </a:r>
            <a:r>
              <a:rPr lang="zh-CN" altLang="en-US" dirty="0">
                <a:solidFill>
                  <a:srgbClr val="0099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无列名</a:t>
            </a: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）</a:t>
            </a:r>
            <a:endParaRPr lang="zh-CN" altLang="en-US" dirty="0">
              <a:latin typeface="仿宋_GB2312" panose="02010600030101010101" pitchFamily="49" charset="-122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eaLnBrk="1" hangingPunct="1">
              <a:spcBef>
                <a:spcPts val="3000"/>
              </a:spcBef>
            </a:pP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多表连接时选出了</a:t>
            </a:r>
            <a:r>
              <a:rPr lang="zh-CN" altLang="en-US" dirty="0">
                <a:solidFill>
                  <a:srgbClr val="FF00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几个同名列</a:t>
            </a: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作为视图的字段。（</a:t>
            </a:r>
            <a:r>
              <a:rPr lang="zh-CN" altLang="en-US" dirty="0">
                <a:solidFill>
                  <a:srgbClr val="0099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同列名</a:t>
            </a: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）</a:t>
            </a:r>
            <a:endParaRPr lang="zh-CN" altLang="en-US" dirty="0">
              <a:latin typeface="仿宋_GB2312" panose="02010600030101010101" pitchFamily="49" charset="-122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eaLnBrk="1" hangingPunct="1">
              <a:spcBef>
                <a:spcPts val="3000"/>
              </a:spcBef>
            </a:pP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需要在视图中为某个列选用新的更合适的列名。（</a:t>
            </a:r>
            <a:r>
              <a:rPr lang="zh-CN" altLang="en-US" dirty="0">
                <a:solidFill>
                  <a:srgbClr val="0099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需要</a:t>
            </a:r>
            <a:r>
              <a:rPr lang="zh-CN" altLang="en-US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1．定义单源表视图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469265" y="1295400"/>
            <a:ext cx="7987665" cy="49911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Bef>
                <a:spcPts val="6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视图的数据取自一个表的部分行和列。</a:t>
            </a:r>
          </a:p>
          <a:p>
            <a:pPr marL="0" indent="0" algn="just" eaLnBrk="1" hangingPunct="1">
              <a:spcBef>
                <a:spcPts val="180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 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建立查询信息管理系学生的学号、姓名、性别和年龄的视图。</a:t>
            </a:r>
          </a:p>
          <a:p>
            <a:pPr lvl="1" algn="just"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IS_Student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</a:t>
            </a:r>
          </a:p>
          <a:p>
            <a:pPr lvl="1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SELECT Sno, Sname, Ssex, Sage</a:t>
            </a:r>
          </a:p>
          <a:p>
            <a:pPr lvl="1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FROM Student </a:t>
            </a:r>
          </a:p>
          <a:p>
            <a:pPr lvl="1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WHERE Sdept = '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信息管理系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00192" y="328498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行列子集视图</a:t>
            </a:r>
          </a:p>
        </p:txBody>
      </p:sp>
      <p:sp>
        <p:nvSpPr>
          <p:cNvPr id="6" name="AutoShape 4">
            <a:hlinkClick r:id="rId2" action="ppaction://hlinksldjump"/>
          </p:cNvPr>
          <p:cNvSpPr/>
          <p:nvPr/>
        </p:nvSpPr>
        <p:spPr>
          <a:xfrm>
            <a:off x="7109712" y="6300722"/>
            <a:ext cx="1864291" cy="360363"/>
          </a:xfrm>
          <a:prstGeom prst="actionButtonForwardNex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IS_Student_sage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2</a:t>
            </a: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．定义多源表视图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250825" y="1214438"/>
            <a:ext cx="8713663" cy="5167312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5.2 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建立信息管理系选修了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C001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课程的学生的学号、姓名和成绩的视图。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V_IS_S1(Sno, Sname, Grade)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SELECT Student.Sno, Sname, Grade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FROM Student JOIN  SC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ON Student.Sno = SC.Sno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WHERE Sdept = '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信息管理系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AND  SC.Cno = 'C001'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11960" y="2875001"/>
            <a:ext cx="4825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思考：此处的字段列表是否必须？</a:t>
            </a:r>
          </a:p>
        </p:txBody>
      </p:sp>
      <p:pic>
        <p:nvPicPr>
          <p:cNvPr id="5" name="Picture 5" descr="问题图标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956735"/>
            <a:ext cx="501786" cy="29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8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3．在已有视图上定义新视图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4957762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建立的视图，建立查询信息管理系年龄小于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的学生的学号、姓名和年龄的视图。</a:t>
            </a:r>
          </a:p>
          <a:p>
            <a:pPr lvl="1"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IS_Student_Sage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SELECT Sno, Sname, Sage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FROM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IS_Student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WHERE Sage &lt; 20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2" name="AutoShape 4">
            <a:hlinkClick r:id="rId2" action="ppaction://hlinksldjump"/>
          </p:cNvPr>
          <p:cNvSpPr/>
          <p:nvPr/>
        </p:nvSpPr>
        <p:spPr>
          <a:xfrm>
            <a:off x="7100197" y="5732462"/>
            <a:ext cx="1366838" cy="360363"/>
          </a:xfrm>
          <a:prstGeom prst="actionButtonForwardNex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IS_Student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78788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视图的来源是视图和基本表的组合 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107504" y="3573016"/>
            <a:ext cx="8837105" cy="2527176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5.4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在例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所建的视图基础上，例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的视图定义可改为：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V_IS_S2     AS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SELECT SC.Sno, Sname, Grade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FROM IS_Student JOIN SC   ON IS_Student.Sno = SC.Sno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WHERE Cno = 'C001'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/>
          <p:nvPr/>
        </p:nvSpPr>
        <p:spPr>
          <a:xfrm>
            <a:off x="230946" y="1124744"/>
            <a:ext cx="8713663" cy="2332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3400" b="1">
                <a:solidFill>
                  <a:schemeClr val="tx2"/>
                </a:solidFill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200" b="1">
                <a:solidFill>
                  <a:schemeClr val="tx2"/>
                </a:solidFill>
                <a:latin typeface="仿宋_GB2312" panose="02010600030101010101" pitchFamily="49" charset="-122"/>
                <a:ea typeface="仿宋_GB2312" panose="02010600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b="1">
                <a:solidFill>
                  <a:schemeClr val="tx2"/>
                </a:solidFill>
                <a:latin typeface="仿宋_GB2312" panose="02010600030101010101" pitchFamily="49" charset="-122"/>
                <a:ea typeface="仿宋_GB2312" panose="02010600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5.2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建立信息管理系选修了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C001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课程的学生视图。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V_IS_S1      AS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SELECT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Student.Sno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Grade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FROM Student JOIN  SC  ON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Student.Sno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SC.Sno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WHERE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Sdept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'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信息管理系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   AND 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SC.Cno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'C001'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4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4．定义带表达式的视图</a:t>
            </a: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1998538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在定义视图时可以根据需要设置一些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派生列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，在这些派生属性列中保存经过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的值。</a:t>
            </a:r>
          </a:p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这些派生属性被称为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虚拟列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包含虚拟列的视图也称为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带表达式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的视图。</a:t>
            </a:r>
          </a:p>
        </p:txBody>
      </p:sp>
      <p:sp>
        <p:nvSpPr>
          <p:cNvPr id="2" name="矩形 1"/>
          <p:cNvSpPr/>
          <p:nvPr/>
        </p:nvSpPr>
        <p:spPr>
          <a:xfrm>
            <a:off x="303528" y="3573016"/>
            <a:ext cx="70375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3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定义一个查询学生出生年份的视图。</a:t>
            </a:r>
          </a:p>
        </p:txBody>
      </p:sp>
      <p:sp>
        <p:nvSpPr>
          <p:cNvPr id="3" name="矩形 2"/>
          <p:cNvSpPr/>
          <p:nvPr/>
        </p:nvSpPr>
        <p:spPr>
          <a:xfrm>
            <a:off x="611560" y="5013176"/>
            <a:ext cx="60486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l">
              <a:spcBef>
                <a:spcPts val="0"/>
              </a:spcBef>
            </a:pP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3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Sno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2023-Sage </a:t>
            </a:r>
          </a:p>
          <a:p>
            <a:pPr lvl="1" algn="l">
              <a:spcBef>
                <a:spcPts val="0"/>
              </a:spcBef>
            </a:pP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FROM Student </a:t>
            </a:r>
            <a:endParaRPr lang="zh-CN" altLang="en-US" sz="3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1520" y="4603194"/>
            <a:ext cx="123303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l">
              <a:spcBef>
                <a:spcPts val="0"/>
              </a:spcBef>
            </a:pP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3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4171146"/>
            <a:ext cx="401834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BT_S </a:t>
            </a:r>
            <a:endParaRPr lang="zh-CN" altLang="en-US" sz="3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22842" y="4171146"/>
            <a:ext cx="387477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80" lvl="1" algn="l">
              <a:spcBef>
                <a:spcPts val="0"/>
              </a:spcBef>
            </a:pPr>
            <a:r>
              <a:rPr lang="en-US" altLang="zh-CN" sz="3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0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Sno</a:t>
            </a:r>
            <a:r>
              <a:rPr lang="en-US" altLang="zh-CN" sz="3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0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</a:t>
            </a:r>
            <a:r>
              <a:rPr lang="en-US" altLang="zh-CN" sz="3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0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Sbirth</a:t>
            </a:r>
            <a:r>
              <a:rPr lang="en-US" altLang="zh-CN" sz="3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矩形 6"/>
          <p:cNvSpPr/>
          <p:nvPr/>
        </p:nvSpPr>
        <p:spPr>
          <a:xfrm>
            <a:off x="6452096" y="5026840"/>
            <a:ext cx="131029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7630" lvl="1">
              <a:spcBef>
                <a:spcPts val="0"/>
              </a:spcBef>
            </a:pPr>
            <a:r>
              <a:rPr lang="en-US" altLang="zh-CN" sz="30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Sbirth</a:t>
            </a:r>
            <a:r>
              <a:rPr lang="en-US" altLang="zh-CN" sz="3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6" grpId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5．含分组统计信息的视图</a:t>
            </a: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516689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Bef>
                <a:spcPts val="6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定义视图的查询语句中含有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 BY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子句，这样的视图只能用于查询，不能用于修改数据。</a:t>
            </a:r>
          </a:p>
          <a:p>
            <a:pPr marL="0" indent="0" algn="just" eaLnBrk="1" hangingPunct="1">
              <a:spcBef>
                <a:spcPts val="30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5.6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定义一个查询每个学生的学号及平均成绩的视图。</a:t>
            </a:r>
          </a:p>
          <a:p>
            <a:pPr lvl="1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 S_G (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Sno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AverageGrade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 </a:t>
            </a:r>
          </a:p>
          <a:p>
            <a:pPr lvl="1" algn="just"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SELECT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Sno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AVG(Grade) FROM SC</a:t>
            </a:r>
          </a:p>
          <a:p>
            <a:pPr lvl="1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GROUP BY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Sno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07704" y="5478323"/>
            <a:ext cx="71287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思考：为什么分组视图不能用于修改数据？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举例说明</a:t>
            </a:r>
          </a:p>
        </p:txBody>
      </p:sp>
      <p:sp>
        <p:nvSpPr>
          <p:cNvPr id="3" name="矩形 2"/>
          <p:cNvSpPr/>
          <p:nvPr/>
        </p:nvSpPr>
        <p:spPr>
          <a:xfrm>
            <a:off x="4391980" y="5713686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原因：视图消解失败</a:t>
            </a:r>
          </a:p>
        </p:txBody>
      </p:sp>
      <p:pic>
        <p:nvPicPr>
          <p:cNvPr id="6" name="Picture 5" descr="问题图标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5499770"/>
            <a:ext cx="663086" cy="39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5.1.3  通过视图查询数据</a:t>
            </a: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51435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通过视图查询数据同基本表一样。</a:t>
            </a:r>
          </a:p>
          <a:p>
            <a:pPr marL="0" indent="0" eaLnBrk="1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5.7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利用例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建立的视图，查询信息管理系男生的信息。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IS_Student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WHERE Ssex = '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 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最终转换成的实际查询：（视图消解）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Sno, Sname, Ssex, Sage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FROM Student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WHERE Sdept = '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信息管理系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 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AND  Ssex = '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通过视图查询数据（续）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362950" cy="523240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5.8 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查询信息管理系选修了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C001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课程且成绩大于等于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的学生的学号、姓名和成绩。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V_IS_S1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WHERE Grade &gt;= 60</a:t>
            </a:r>
          </a:p>
          <a:p>
            <a:pPr marL="0" indent="0" eaLnBrk="1" hangingPunct="1">
              <a:buNone/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转换成的对最终基本表的查询：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S.Sno, Sname, Grade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SC  JOIN Student S ON S.Sno = SC.Sno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WHERE Sdept = '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信息管理系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AND  SC.Cno = 'C001'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AND Grade &gt;= 60 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动作按钮: 前进或下一项 1">
            <a:hlinkClick r:id="rId2" action="ppaction://hlinksldjump" highlightClick="1"/>
          </p:cNvPr>
          <p:cNvSpPr/>
          <p:nvPr/>
        </p:nvSpPr>
        <p:spPr bwMode="auto">
          <a:xfrm>
            <a:off x="7740352" y="5805264"/>
            <a:ext cx="360040" cy="288032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5.1.4  修改和删除视图 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285750" y="1295400"/>
            <a:ext cx="8572500" cy="5062538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．修改视图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语法格式：</a:t>
            </a: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ALTER VIEW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视图名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[(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列名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 ,...n ] )] </a:t>
            </a: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</a:t>
            </a: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查询语句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修改视图的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语句与定义视图的语句基本是一样的，只是将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VIEW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改成了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ALTER VIEW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179388" y="1295400"/>
            <a:ext cx="8640762" cy="487680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修改例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定义的视图，使其统计每个学生的考试平均成绩和修课总门数。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ALTER VIEW S_G(Sno,  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AverageGrade,Count_Cno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SELECT Sno, AVG(Grade), Count(*)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FROM SC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GROUP BY Sno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5.1.4  修改和删除视图（续）</a:t>
            </a: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en-US" altLang="zh-CN" sz="3600" dirty="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．删除视图</a:t>
            </a:r>
          </a:p>
          <a:p>
            <a:pPr marL="0" indent="0" eaLnBrk="1" hangingPunct="1"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语法格式：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DROP VIEW &lt;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视图名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5.12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删除例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定义的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IS_Student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DROP VIEW IS_Student 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8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注意</a:t>
            </a: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323528" y="1196752"/>
            <a:ext cx="8640960" cy="324036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2400"/>
              </a:spcBef>
            </a:pPr>
            <a:r>
              <a:rPr lang="zh-CN" altLang="en-US" sz="28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如果被删除的视图是其他视图的数据源，那么删除该视图，其导出视图将无法再使用。</a:t>
            </a:r>
          </a:p>
          <a:p>
            <a:pPr eaLnBrk="1" hangingPunct="1">
              <a:spcBef>
                <a:spcPts val="2400"/>
              </a:spcBef>
            </a:pPr>
            <a:r>
              <a:rPr lang="zh-CN" altLang="en-US" sz="28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同样，如果视图的基本表被删除了，视图也将无法使用。</a:t>
            </a:r>
          </a:p>
          <a:p>
            <a:pPr eaLnBrk="1" hangingPunct="1">
              <a:spcBef>
                <a:spcPts val="2400"/>
              </a:spcBef>
            </a:pPr>
            <a:r>
              <a:rPr lang="zh-CN" altLang="en-US" sz="28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因此，在删除基本表和视图时一定要注意是否存在引用被删除对象的视图，如果有应同时删除。</a:t>
            </a:r>
          </a:p>
        </p:txBody>
      </p:sp>
      <p:sp>
        <p:nvSpPr>
          <p:cNvPr id="2" name="矩形 1"/>
          <p:cNvSpPr/>
          <p:nvPr/>
        </p:nvSpPr>
        <p:spPr>
          <a:xfrm>
            <a:off x="1043608" y="4869159"/>
            <a:ext cx="56886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补充：还有两种策略（了解）</a:t>
            </a:r>
            <a:endParaRPr lang="en-US" altLang="zh-CN" sz="2800" b="1" dirty="0">
              <a:solidFill>
                <a:schemeClr val="tx2"/>
              </a:solidFill>
              <a:latin typeface="仿宋_GB2312" panose="02010600030101010101" pitchFamily="49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 smtClean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级联策略</a:t>
            </a:r>
            <a:endParaRPr lang="en-US" altLang="zh-CN" sz="2800" b="1" dirty="0">
              <a:solidFill>
                <a:schemeClr val="tx2"/>
              </a:solidFill>
              <a:latin typeface="仿宋_GB2312" panose="02010600030101010101" pitchFamily="49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3</a:t>
            </a:r>
            <a:r>
              <a:rPr lang="zh-CN" altLang="en-US" sz="2800" b="1" dirty="0" smtClean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仿宋_GB2312" panose="02010600030101010101" pitchFamily="49" charset="-122"/>
                <a:ea typeface="宋体" panose="02010600030101010101" pitchFamily="2" charset="-122"/>
              </a:rPr>
              <a:t>限制策略</a:t>
            </a:r>
          </a:p>
        </p:txBody>
      </p:sp>
      <p:pic>
        <p:nvPicPr>
          <p:cNvPr id="6" name="Picture 5" descr="问题图标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954022"/>
            <a:ext cx="1022493" cy="60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4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5.1.5  视图的作用 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1259632" y="1484784"/>
            <a:ext cx="7273180" cy="352839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zh-CN" altLang="en-US" sz="36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简化数据查询语句 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6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使用户能从多角度看待同一数据 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6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提高了数据的安全性 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6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提供了一定程度的逻辑独立性 </a:t>
            </a:r>
          </a:p>
        </p:txBody>
      </p:sp>
      <p:sp>
        <p:nvSpPr>
          <p:cNvPr id="2" name="动作按钮: 后退或前一项 1">
            <a:hlinkClick r:id="rId2" action="ppaction://hlinksldjump" highlightClick="1"/>
          </p:cNvPr>
          <p:cNvSpPr/>
          <p:nvPr/>
        </p:nvSpPr>
        <p:spPr bwMode="auto">
          <a:xfrm>
            <a:off x="5868144" y="1700808"/>
            <a:ext cx="432048" cy="288032"/>
          </a:xfrm>
          <a:prstGeom prst="actionButtonBackPrevio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/>
          </p:cNvSpPr>
          <p:nvPr>
            <p:ph type="title"/>
          </p:nvPr>
        </p:nvSpPr>
        <p:spPr>
          <a:xfrm>
            <a:off x="500063" y="152400"/>
            <a:ext cx="80010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400" b="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视图小结</a:t>
            </a:r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899592" y="1412776"/>
            <a:ext cx="7200800" cy="46085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00"/>
                </a:solidFill>
                <a:cs typeface="等线" panose="02010600030101010101" charset="-122"/>
              </a:rPr>
              <a:t>视图是基于基本表的虚表，其本身并不能物理地存储数据。</a:t>
            </a:r>
            <a:endParaRPr lang="en-US" altLang="zh-CN" sz="2800" b="1" dirty="0">
              <a:solidFill>
                <a:srgbClr val="000000"/>
              </a:solidFill>
              <a:cs typeface="等线" panose="02010600030101010101" charset="-122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800" dirty="0">
                <a:solidFill>
                  <a:srgbClr val="000000"/>
                </a:solidFill>
                <a:cs typeface="等线" panose="02010600030101010101" charset="-122"/>
              </a:rPr>
              <a:t>用户通过视图访问数据，最终都会落实到对基本表的操作。</a:t>
            </a:r>
            <a:endParaRPr lang="en-US" altLang="zh-CN" sz="2800" dirty="0">
              <a:solidFill>
                <a:srgbClr val="000000"/>
              </a:solidFill>
              <a:cs typeface="等线" panose="02010600030101010101" charset="-122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00"/>
                </a:solidFill>
                <a:cs typeface="等线" panose="02010600030101010101" charset="-122"/>
              </a:rPr>
              <a:t>通过视图访问数据比直接从基本表访问数据的效率会</a:t>
            </a:r>
            <a:r>
              <a:rPr lang="zh-CN" altLang="en-US" sz="2800" b="1" dirty="0">
                <a:solidFill>
                  <a:srgbClr val="009900"/>
                </a:solidFill>
                <a:cs typeface="等线" panose="02010600030101010101" charset="-122"/>
              </a:rPr>
              <a:t>低</a:t>
            </a:r>
            <a:r>
              <a:rPr lang="zh-CN" altLang="en-US" sz="2800" b="1" dirty="0">
                <a:solidFill>
                  <a:srgbClr val="000000"/>
                </a:solidFill>
                <a:cs typeface="等线" panose="02010600030101010101" charset="-122"/>
              </a:rPr>
              <a:t>一些，因为它多了一层转换操作。</a:t>
            </a:r>
            <a:endParaRPr lang="en-US" altLang="zh-CN" sz="2800" b="1" dirty="0">
              <a:solidFill>
                <a:srgbClr val="000000"/>
              </a:solidFill>
              <a:cs typeface="等线" panose="02010600030101010101" charset="-122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800" dirty="0">
                <a:solidFill>
                  <a:srgbClr val="000000"/>
                </a:solidFill>
                <a:cs typeface="等线" panose="02010600030101010101" charset="-122"/>
              </a:rPr>
              <a:t>对视图进行查询的方法与基本表的查询方法相同。</a:t>
            </a:r>
            <a:endParaRPr lang="en-US" altLang="zh-CN" sz="2800" b="1" dirty="0">
              <a:solidFill>
                <a:srgbClr val="000000"/>
              </a:solidFill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2123728" y="2060848"/>
            <a:ext cx="4567105" cy="864096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4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教材 </a:t>
            </a:r>
            <a:r>
              <a:rPr lang="en-US" altLang="zh-CN" sz="4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P139</a:t>
            </a:r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>
          <a:xfrm>
            <a:off x="500063" y="152400"/>
            <a:ext cx="80010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r>
              <a:rPr lang="zh-CN" altLang="en-US" sz="4400" dirty="0">
                <a:sym typeface="+mn-ea"/>
              </a:rPr>
              <a:t>习题易错点（讲解）</a:t>
            </a:r>
            <a:endParaRPr lang="en-US" altLang="zh-CN" sz="4400" dirty="0">
              <a:sym typeface="+mn-ea"/>
            </a:endParaRPr>
          </a:p>
        </p:txBody>
      </p:sp>
      <p:pic>
        <p:nvPicPr>
          <p:cNvPr id="4" name="Picture 207" descr="9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760" y="2060848"/>
            <a:ext cx="864096" cy="70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539552" y="2060848"/>
            <a:ext cx="7560840" cy="2448272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教材 </a:t>
            </a: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P141</a:t>
            </a:r>
          </a:p>
          <a:p>
            <a:pPr algn="ctr"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    </a:t>
            </a: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上机练习 </a:t>
            </a: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1</a:t>
            </a: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、</a:t>
            </a: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2</a:t>
            </a: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、</a:t>
            </a: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3</a:t>
            </a: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题</a:t>
            </a:r>
            <a:endParaRPr lang="en-US" altLang="zh-CN" sz="4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等线" panose="02010600030101010101" charset="-122"/>
            </a:endParaRPr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500063" y="152400"/>
            <a:ext cx="80010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eaLnBrk="1" hangingPunct="1"/>
            <a:r>
              <a:rPr lang="zh-CN" altLang="en-US" sz="4400" dirty="0">
                <a:sym typeface="+mn-ea"/>
              </a:rPr>
              <a:t>实验任务</a:t>
            </a:r>
            <a:endParaRPr lang="en-US" altLang="zh-CN" sz="4400" b="1" dirty="0">
              <a:solidFill>
                <a:srgbClr val="0000FF"/>
              </a:solidFill>
              <a:cs typeface="等线" panose="02010600030101010101" charset="-122"/>
            </a:endParaRPr>
          </a:p>
        </p:txBody>
      </p:sp>
      <p:pic>
        <p:nvPicPr>
          <p:cNvPr id="5" name="Picture 207" descr="9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060848"/>
            <a:ext cx="1008112" cy="82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第5章 视图和索引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7400925" cy="44577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3000"/>
              </a:spcBef>
            </a:pPr>
            <a:endParaRPr lang="en-US" altLang="zh-CN" sz="4800" dirty="0">
              <a:latin typeface="仿宋_GB2312" panose="02010600030101010101" pitchFamily="49" charset="-122"/>
              <a:ea typeface="仿宋_GB2312" panose="02010600030101010101" pitchFamily="49" charset="-122"/>
              <a:cs typeface="+mn-cs"/>
            </a:endParaRPr>
          </a:p>
          <a:p>
            <a:pPr algn="ctr" eaLnBrk="1" hangingPunct="1">
              <a:spcBef>
                <a:spcPts val="3000"/>
              </a:spcBef>
            </a:pPr>
            <a:r>
              <a:rPr lang="en-US" altLang="zh-CN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5.1 </a:t>
            </a:r>
            <a:r>
              <a:rPr lang="zh-CN" altLang="en-US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视图</a:t>
            </a:r>
            <a:endParaRPr lang="en-US" altLang="zh-CN" sz="4800" dirty="0">
              <a:latin typeface="仿宋_GB2312" panose="02010600030101010101" pitchFamily="49" charset="-122"/>
              <a:ea typeface="仿宋_GB2312" panose="02010600030101010101" pitchFamily="49" charset="-122"/>
              <a:cs typeface="+mn-cs"/>
            </a:endParaRPr>
          </a:p>
          <a:p>
            <a:pPr algn="ctr" eaLnBrk="1" hangingPunct="1">
              <a:spcBef>
                <a:spcPts val="3000"/>
              </a:spcBef>
            </a:pPr>
            <a:r>
              <a:rPr lang="en-US" altLang="zh-CN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5.2 </a:t>
            </a:r>
            <a:r>
              <a:rPr lang="zh-CN" altLang="en-US" sz="4800" dirty="0"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rPr>
              <a:t>索引</a:t>
            </a:r>
          </a:p>
        </p:txBody>
      </p:sp>
      <p:pic>
        <p:nvPicPr>
          <p:cNvPr id="4" name="Picture 4" descr="手1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1701" y="4096185"/>
            <a:ext cx="1001953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4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5.2.1 基本概念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362950" cy="2232025"/>
          </a:xfrm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10000"/>
              </a:lnSpc>
            </a:pPr>
            <a:r>
              <a:rPr lang="zh-CN" altLang="en-US" sz="28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索引与图书中的</a:t>
            </a:r>
            <a:r>
              <a:rPr lang="zh-CN" altLang="en-US" sz="2800" dirty="0">
                <a:solidFill>
                  <a:srgbClr val="FF0000"/>
                </a:solidFill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目录</a:t>
            </a:r>
            <a:r>
              <a:rPr lang="zh-CN" altLang="en-US" sz="28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类似。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800" dirty="0">
                <a:latin typeface="仿宋_GB2312" panose="02010600030101010101" pitchFamily="49" charset="-122"/>
                <a:ea typeface="宋体" panose="02010600030101010101" pitchFamily="2" charset="-122"/>
                <a:cs typeface="+mn-cs"/>
              </a:rPr>
              <a:t>    图书的目录注明了各部分内容所对应的页码，而数据库中的索引是一个表中所包含的值的列表，其中注明了表中的各行数据所在的存储位置。</a:t>
            </a:r>
          </a:p>
        </p:txBody>
      </p:sp>
      <p:sp>
        <p:nvSpPr>
          <p:cNvPr id="5" name="Rectangle 3"/>
          <p:cNvSpPr txBox="1"/>
          <p:nvPr/>
        </p:nvSpPr>
        <p:spPr>
          <a:xfrm>
            <a:off x="318779" y="3645024"/>
            <a:ext cx="8362950" cy="2376264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3400" b="1">
                <a:solidFill>
                  <a:schemeClr val="tx2"/>
                </a:solidFill>
                <a:latin typeface="仿宋_GB2312" panose="02010600030101010101" pitchFamily="49" charset="-122"/>
                <a:ea typeface="仿宋_GB2312" panose="0201060003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200" b="1">
                <a:solidFill>
                  <a:schemeClr val="tx2"/>
                </a:solidFill>
                <a:latin typeface="仿宋_GB2312" panose="02010600030101010101" pitchFamily="49" charset="-122"/>
                <a:ea typeface="仿宋_GB2312" panose="02010600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 b="1">
                <a:solidFill>
                  <a:schemeClr val="tx2"/>
                </a:solidFill>
                <a:latin typeface="仿宋_GB2312" panose="02010600030101010101" pitchFamily="49" charset="-122"/>
                <a:ea typeface="仿宋_GB2312" panose="02010600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0000"/>
              </a:lnSpc>
              <a:spcBef>
                <a:spcPts val="3000"/>
              </a:spcBef>
            </a:pPr>
            <a:r>
              <a:rPr lang="zh-CN" altLang="en-US" sz="2800" dirty="0">
                <a:ea typeface="宋体" panose="02010600030101010101" pitchFamily="2" charset="-122"/>
              </a:rPr>
              <a:t>可以为表中的</a:t>
            </a: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单个列</a:t>
            </a:r>
            <a:r>
              <a:rPr lang="zh-CN" altLang="en-US" sz="2800" dirty="0">
                <a:ea typeface="宋体" panose="02010600030101010101" pitchFamily="2" charset="-122"/>
              </a:rPr>
              <a:t>建立索引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</a:t>
            </a:r>
            <a:r>
              <a:rPr lang="zh-CN" altLang="en-US" sz="2800" dirty="0">
                <a:ea typeface="宋体" panose="02010600030101010101" pitchFamily="2" charset="-122"/>
              </a:rPr>
              <a:t>也可以为</a:t>
            </a: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一组列</a:t>
            </a:r>
            <a:r>
              <a:rPr lang="zh-CN" altLang="en-US" sz="2800" dirty="0">
                <a:ea typeface="宋体" panose="02010600030101010101" pitchFamily="2" charset="-122"/>
              </a:rPr>
              <a:t>建立索引。</a:t>
            </a: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      当在多个列上建立索引时，系统按索引列出现的先后顺序对索引列进行排序。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索引及数据间对应关系 </a:t>
            </a:r>
          </a:p>
        </p:txBody>
      </p:sp>
      <p:pic>
        <p:nvPicPr>
          <p:cNvPr id="32771" name="Picture 4" descr="03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1412875"/>
            <a:ext cx="6624638" cy="4564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7804657" y="2492896"/>
            <a:ext cx="1231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、数据项</a:t>
            </a:r>
          </a:p>
        </p:txBody>
      </p:sp>
      <p:sp>
        <p:nvSpPr>
          <p:cNvPr id="5" name="矩形 4"/>
          <p:cNvSpPr/>
          <p:nvPr/>
        </p:nvSpPr>
        <p:spPr>
          <a:xfrm>
            <a:off x="-43803" y="4005064"/>
            <a:ext cx="1231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、索引项</a:t>
            </a:r>
          </a:p>
        </p:txBody>
      </p:sp>
      <p:sp>
        <p:nvSpPr>
          <p:cNvPr id="6" name="矩形 5"/>
          <p:cNvSpPr/>
          <p:nvPr/>
        </p:nvSpPr>
        <p:spPr>
          <a:xfrm>
            <a:off x="1681045" y="2308230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、行指示器</a:t>
            </a:r>
          </a:p>
        </p:txBody>
      </p:sp>
      <p:sp>
        <p:nvSpPr>
          <p:cNvPr id="3" name="动作按钮: 前进或下一项 2">
            <a:hlinkClick r:id="rId3" action="ppaction://hlinksldjump"/>
          </p:cNvPr>
          <p:cNvSpPr/>
          <p:nvPr/>
        </p:nvSpPr>
        <p:spPr>
          <a:xfrm>
            <a:off x="8172450" y="5877560"/>
            <a:ext cx="360045" cy="360045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索引利弊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251520" y="1295400"/>
            <a:ext cx="8892480" cy="4293840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6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合适的索引可以提高</a:t>
            </a:r>
            <a:r>
              <a:rPr lang="zh-CN" altLang="en-US" i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效率。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索引为查找所带来的性能好处是有代价的：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ts val="18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索引在数据库中会占用一定的存储空间。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ts val="18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在对数据进行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插入、更改和删除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操作时，为使索引与数据保持一致，还需要对索引进行相应维护。对索引的维护是需要花费时间。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5.2.2 索引存储结构及分类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539552" y="1196752"/>
            <a:ext cx="8043862" cy="5184576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存储结构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树</a:t>
            </a:r>
            <a:endParaRPr lang="en-US" altLang="zh-CN" sz="2800" b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聚集索引 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数据按索引列进行物理排序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一个表只能包含一个聚集索引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非聚集索引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数据按索引列进行逻辑排序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一个表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聚集索引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</a:p>
          <a:p>
            <a:pPr marL="457200" lvl="1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</a:p>
          <a:p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207" descr="9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7824" y="1196752"/>
            <a:ext cx="5715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/>
          </p:cNvSpPr>
          <p:nvPr>
            <p:ph type="title"/>
          </p:nvPr>
        </p:nvSpPr>
        <p:spPr>
          <a:xfrm>
            <a:off x="285750" y="142875"/>
            <a:ext cx="8540750" cy="79851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 err="1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下列情况可考虑创建聚集</a:t>
            </a: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索引</a:t>
            </a: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</a:p>
        </p:txBody>
      </p:sp>
      <p:sp>
        <p:nvSpPr>
          <p:cNvPr id="21507" name="Rectangle 3"/>
          <p:cNvSpPr>
            <a:spLocks noGrp="1" noRot="1"/>
          </p:cNvSpPr>
          <p:nvPr>
            <p:ph idx="1"/>
          </p:nvPr>
        </p:nvSpPr>
        <p:spPr>
          <a:xfrm>
            <a:off x="468313" y="1412875"/>
            <a:ext cx="8568183" cy="46815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包含大量</a:t>
            </a:r>
            <a:r>
              <a:rPr lang="zh-CN" altLang="en-US" sz="3200" i="1" u="sng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重复值的列。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使用下列运算符返回一个范围值的查询：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BETWEEN AND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返回大型结果集的查询。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经常被用作连接的列。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ORDER BY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 BY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子句中指定的列。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下述情况可考虑建立非聚集索引</a:t>
            </a:r>
          </a:p>
        </p:txBody>
      </p:sp>
      <p:sp>
        <p:nvSpPr>
          <p:cNvPr id="45059" name="Rectangle 3"/>
          <p:cNvSpPr>
            <a:spLocks noGrp="1" noRot="1"/>
          </p:cNvSpPr>
          <p:nvPr>
            <p:ph idx="1"/>
          </p:nvPr>
        </p:nvSpPr>
        <p:spPr>
          <a:xfrm>
            <a:off x="1115616" y="1700808"/>
            <a:ext cx="7344618" cy="352839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spcBef>
                <a:spcPts val="18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包含大量非重复值的列。</a:t>
            </a:r>
          </a:p>
          <a:p>
            <a:pPr eaLnBrk="1" hangingPunct="1">
              <a:lnSpc>
                <a:spcPct val="110000"/>
              </a:lnSpc>
              <a:spcBef>
                <a:spcPts val="1800"/>
              </a:spcBef>
            </a:pPr>
            <a:r>
              <a:rPr lang="zh-CN" altLang="en-US" sz="3600" i="1" u="sng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不返回大型结果集的查询。</a:t>
            </a:r>
          </a:p>
          <a:p>
            <a:pPr eaLnBrk="1" hangingPunct="1">
              <a:lnSpc>
                <a:spcPct val="110000"/>
              </a:lnSpc>
              <a:spcBef>
                <a:spcPts val="18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经常作为查询条件使用的列。</a:t>
            </a:r>
          </a:p>
          <a:p>
            <a:pPr eaLnBrk="1" hangingPunct="1">
              <a:lnSpc>
                <a:spcPct val="110000"/>
              </a:lnSpc>
              <a:spcBef>
                <a:spcPts val="18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经常作为连接和分组条件的列。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/>
          </p:cNvSpPr>
          <p:nvPr>
            <p:ph type="title"/>
          </p:nvPr>
        </p:nvSpPr>
        <p:spPr>
          <a:xfrm>
            <a:off x="323850" y="71438"/>
            <a:ext cx="8540750" cy="798512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唯一索引</a:t>
            </a:r>
          </a:p>
        </p:txBody>
      </p:sp>
      <p:sp>
        <p:nvSpPr>
          <p:cNvPr id="46083" name="Rectangle 3"/>
          <p:cNvSpPr>
            <a:spLocks noGrp="1" noRot="1"/>
          </p:cNvSpPr>
          <p:nvPr>
            <p:ph idx="1"/>
          </p:nvPr>
        </p:nvSpPr>
        <p:spPr>
          <a:xfrm>
            <a:off x="611560" y="1340768"/>
            <a:ext cx="8280920" cy="403247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  <a:defRPr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确保索引列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不包含重复值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聚集索引和非聚集索引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都可以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是唯一的。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实际上，当在表上创建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PRIMARY KEY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约束或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UNIQUE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约束时，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系统会自动在这些列上创建唯一索引。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/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5.2.3 </a:t>
            </a:r>
            <a:r>
              <a:rPr lang="en-US" altLang="zh-CN" sz="4000" b="0" dirty="0" err="1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创建</a:t>
            </a: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、删除</a:t>
            </a:r>
            <a:r>
              <a:rPr lang="en-US" altLang="zh-CN" sz="4000" b="0" dirty="0" err="1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索引</a:t>
            </a: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107504" y="1295400"/>
            <a:ext cx="9036496" cy="5086350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 [unique] [clustered | non clustered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INDEX  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ON 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(&lt;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[&lt;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顺序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[, 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&gt;[&lt;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顺序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&gt;] …]]</a:t>
            </a:r>
          </a:p>
          <a:p>
            <a:pPr>
              <a:spcBef>
                <a:spcPts val="24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UNIQUE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：创建唯一索引。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CLUSTERED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：创建聚集索引。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NONCLUSTERED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：创建非聚集索引。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 ASC | DESC ]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：指定索引列的升序或降序排序方式。默认值为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ASC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默认是创建非聚集非唯一索引。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/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</a:t>
            </a: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214313" y="1285875"/>
            <a:ext cx="8822183" cy="558949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在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Student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列上创建非聚集索引。</a:t>
            </a:r>
          </a:p>
        </p:txBody>
      </p:sp>
      <p:sp>
        <p:nvSpPr>
          <p:cNvPr id="2" name="矩形 1"/>
          <p:cNvSpPr/>
          <p:nvPr/>
        </p:nvSpPr>
        <p:spPr>
          <a:xfrm>
            <a:off x="899592" y="1916832"/>
            <a:ext cx="61206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630" lvl="1" algn="l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INDEX 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Sname_ind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1619672" y="2420888"/>
            <a:ext cx="4136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ON Student ( 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</a:t>
            </a:r>
            <a:endParaRPr lang="zh-CN" altLang="en-US" sz="3200" b="1" dirty="0"/>
          </a:p>
        </p:txBody>
      </p:sp>
      <p:sp>
        <p:nvSpPr>
          <p:cNvPr id="4" name="矩形 3"/>
          <p:cNvSpPr/>
          <p:nvPr/>
        </p:nvSpPr>
        <p:spPr>
          <a:xfrm>
            <a:off x="292211" y="3284984"/>
            <a:ext cx="84969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Student</a:t>
            </a:r>
            <a:r>
              <a:rPr lang="zh-CN" altLang="en-US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lang="en-US" altLang="zh-CN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Sid</a:t>
            </a:r>
            <a:r>
              <a:rPr lang="zh-CN" altLang="en-US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列上创建一个唯一聚集索引。</a:t>
            </a:r>
          </a:p>
        </p:txBody>
      </p:sp>
      <p:sp>
        <p:nvSpPr>
          <p:cNvPr id="5" name="矩形 4"/>
          <p:cNvSpPr/>
          <p:nvPr/>
        </p:nvSpPr>
        <p:spPr>
          <a:xfrm>
            <a:off x="921074" y="4005064"/>
            <a:ext cx="36196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630" lvl="1" algn="l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</a:t>
            </a:r>
          </a:p>
          <a:p>
            <a:pPr marL="87630" lvl="1" algn="l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 Student (Sid)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30377" y="4005062"/>
            <a:ext cx="32206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630" lvl="1" algn="l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INDEX 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Sid_ind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71800" y="3996353"/>
            <a:ext cx="34201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630" lvl="1" algn="l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unique clustered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29 -0.00069 L 0.33229 -0.00069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2" grpId="0"/>
      <p:bldP spid="3" grpId="0"/>
      <p:bldP spid="4" grpId="0"/>
      <p:bldP spid="5" grpId="0"/>
      <p:bldP spid="8" grpId="0"/>
      <p:bldP spid="8" grpId="1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示例（续）</a:t>
            </a: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467544" y="1772816"/>
            <a:ext cx="8496944" cy="3645768"/>
          </a:xfrm>
        </p:spPr>
        <p:txBody>
          <a:bodyPr vert="horz" wrap="square" lIns="91440" tIns="45720" rIns="91440" bIns="45720" anchor="t" anchorCtr="0"/>
          <a:lstStyle/>
          <a:p>
            <a:pPr marL="0" indent="0" algn="just"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Employee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FirstName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LastName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列上创建一个聚集索引。</a:t>
            </a:r>
          </a:p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clustered INDEX EName_ind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ON Employee (FirstName, LastName)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删除索引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032448"/>
          </a:xfrm>
        </p:spPr>
        <p:txBody>
          <a:bodyPr vert="horz" wrap="square" lIns="91440" tIns="45720" rIns="91440" bIns="45720" anchor="t" anchorCtr="0"/>
          <a:lstStyle/>
          <a:p>
            <a:pPr algn="just"/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索引一经建立，就由数据库管理系统</a:t>
            </a:r>
            <a:r>
              <a:rPr lang="zh-CN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</a:t>
            </a:r>
            <a:r>
              <a:rPr lang="zh-CN" altLang="en-US" sz="2800" i="1" u="sng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使用和维护，不需要用户干预。</a:t>
            </a:r>
          </a:p>
          <a:p>
            <a:pPr algn="just"/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如果频繁地对数据进行增加、删除和更改操作，则系统会花费很多时间来维护索引，这会降低数据的修改效率；</a:t>
            </a:r>
          </a:p>
          <a:p>
            <a:pPr marL="0" indent="0" algn="just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存储索引需要占用额外的空间。</a:t>
            </a:r>
          </a:p>
          <a:p>
            <a:pPr marL="0" indent="0" algn="just">
              <a:spcBef>
                <a:spcPts val="18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删除索引的语法格式：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DROP INDEX 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&gt;.&lt;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2" name="矩形 1"/>
          <p:cNvSpPr/>
          <p:nvPr/>
        </p:nvSpPr>
        <p:spPr>
          <a:xfrm>
            <a:off x="611560" y="5301208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Student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表中的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Sname_ind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索引。</a:t>
            </a: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DROP INDEX 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Sname_ind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ON Student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/>
          </p:cNvSpPr>
          <p:nvPr>
            <p:ph type="title"/>
          </p:nvPr>
        </p:nvSpPr>
        <p:spPr>
          <a:xfrm>
            <a:off x="500063" y="152400"/>
            <a:ext cx="80010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400" b="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索引小结</a:t>
            </a:r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611560" y="1412776"/>
            <a:ext cx="7848872" cy="46085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在关系数据库中，索引主要用于提高查询效率。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总原则：经常查询，多建索引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经常修改，少建索引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索引一般采用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树结构存储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不管数据是否为有序的，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树中的索引项一定是有序的，因此创建索引需要耗费一定的时间。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一张表上只能建一个聚集索引，但可以建多个非聚集索引；聚集索引、非聚集索引都可以是唯一索引。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动作按钮: 后退或前一项 1">
            <a:hlinkClick r:id="rId2" action="ppaction://hlinksldjump"/>
          </p:cNvPr>
          <p:cNvSpPr/>
          <p:nvPr/>
        </p:nvSpPr>
        <p:spPr>
          <a:xfrm>
            <a:off x="8532495" y="4149090"/>
            <a:ext cx="504190" cy="432435"/>
          </a:xfrm>
          <a:prstGeom prst="actionButtonBackPrevio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2123728" y="2060848"/>
            <a:ext cx="4567105" cy="864096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4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教材 </a:t>
            </a:r>
            <a:r>
              <a:rPr lang="en-US" altLang="zh-CN" sz="4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P140</a:t>
            </a:r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>
          <a:xfrm>
            <a:off x="500063" y="152400"/>
            <a:ext cx="80010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r>
              <a:rPr lang="zh-CN" altLang="en-US" sz="4400" dirty="0">
                <a:sym typeface="+mn-ea"/>
              </a:rPr>
              <a:t>习题易错点（讲解）</a:t>
            </a:r>
            <a:endParaRPr lang="en-US" altLang="zh-CN" sz="4400" dirty="0">
              <a:sym typeface="+mn-ea"/>
            </a:endParaRPr>
          </a:p>
        </p:txBody>
      </p:sp>
      <p:pic>
        <p:nvPicPr>
          <p:cNvPr id="4" name="Picture 207" descr="9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0072" y="1772816"/>
            <a:ext cx="1440160" cy="117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539552" y="2060848"/>
            <a:ext cx="7560840" cy="2448272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教材 </a:t>
            </a: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P142</a:t>
            </a:r>
          </a:p>
          <a:p>
            <a:pPr algn="ctr"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  </a:t>
            </a: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上机练习 </a:t>
            </a:r>
            <a:r>
              <a:rPr lang="en-US" altLang="zh-CN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4</a:t>
            </a:r>
            <a:r>
              <a:rPr lang="zh-CN" altLang="en-US" sz="4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" panose="02010600030101010101" charset="-122"/>
              </a:rPr>
              <a:t>题</a:t>
            </a:r>
            <a:endParaRPr lang="en-US" altLang="zh-CN" sz="4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等线" panose="02010600030101010101" charset="-122"/>
            </a:endParaRPr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500063" y="152400"/>
            <a:ext cx="80010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eaLnBrk="1" hangingPunct="1"/>
            <a:r>
              <a:rPr lang="zh-CN" altLang="en-US" sz="4400" dirty="0">
                <a:sym typeface="+mn-ea"/>
              </a:rPr>
              <a:t>实验任务</a:t>
            </a:r>
            <a:endParaRPr lang="en-US" altLang="zh-CN" sz="4400" b="1" dirty="0">
              <a:solidFill>
                <a:srgbClr val="0000FF"/>
              </a:solidFill>
              <a:cs typeface="等线" panose="02010600030101010101" charset="-122"/>
            </a:endParaRPr>
          </a:p>
        </p:txBody>
      </p:sp>
      <p:pic>
        <p:nvPicPr>
          <p:cNvPr id="5" name="Picture 207" descr="9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6359" y="1916832"/>
            <a:ext cx="1152128" cy="94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f5f5613-492c-4a7f-b62c-1af083b5a27d"/>
  <p:tag name="COMMONDATA" val="eyJoZGlkIjoiYWMyODZhOWYyMWE0ZDU0NzlmZDRhOGY0OGE4NzdmYjgifQ=="/>
</p:tagLst>
</file>

<file path=ppt/theme/theme1.xml><?xml version="1.0" encoding="utf-8"?>
<a:theme xmlns:a="http://schemas.openxmlformats.org/drawingml/2006/main" name="275TGp_biz_light">
  <a:themeElements>
    <a:clrScheme name="275TGp_biz_light 1">
      <a:dk1>
        <a:srgbClr val="2A4C41"/>
      </a:dk1>
      <a:lt1>
        <a:srgbClr val="FFFFFF"/>
      </a:lt1>
      <a:dk2>
        <a:srgbClr val="000000"/>
      </a:dk2>
      <a:lt2>
        <a:srgbClr val="DDDDDD"/>
      </a:lt2>
      <a:accent1>
        <a:srgbClr val="1D518D"/>
      </a:accent1>
      <a:accent2>
        <a:srgbClr val="0099CB"/>
      </a:accent2>
      <a:accent3>
        <a:srgbClr val="FFFFFF"/>
      </a:accent3>
      <a:accent4>
        <a:srgbClr val="224036"/>
      </a:accent4>
      <a:accent5>
        <a:srgbClr val="ABB3C5"/>
      </a:accent5>
      <a:accent6>
        <a:srgbClr val="008AB8"/>
      </a:accent6>
      <a:hlink>
        <a:srgbClr val="00CCFF"/>
      </a:hlink>
      <a:folHlink>
        <a:srgbClr val="749BD4"/>
      </a:folHlink>
    </a:clrScheme>
    <a:fontScheme name="275TGp_biz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34" charset="-127"/>
          </a:defRPr>
        </a:defPPr>
      </a:lstStyle>
    </a:lnDef>
  </a:objectDefaults>
  <a:extraClrSchemeLst>
    <a:extraClrScheme>
      <a:clrScheme name="275TGp_biz_light 1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1D518D"/>
        </a:accent1>
        <a:accent2>
          <a:srgbClr val="0099CB"/>
        </a:accent2>
        <a:accent3>
          <a:srgbClr val="FFFFFF"/>
        </a:accent3>
        <a:accent4>
          <a:srgbClr val="224036"/>
        </a:accent4>
        <a:accent5>
          <a:srgbClr val="ABB3C5"/>
        </a:accent5>
        <a:accent6>
          <a:srgbClr val="008AB8"/>
        </a:accent6>
        <a:hlink>
          <a:srgbClr val="00CCFF"/>
        </a:hlink>
        <a:folHlink>
          <a:srgbClr val="749B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75TGp_biz_light 2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7E784E"/>
        </a:accent1>
        <a:accent2>
          <a:srgbClr val="989780"/>
        </a:accent2>
        <a:accent3>
          <a:srgbClr val="FFFFFF"/>
        </a:accent3>
        <a:accent4>
          <a:srgbClr val="224036"/>
        </a:accent4>
        <a:accent5>
          <a:srgbClr val="C0BEB2"/>
        </a:accent5>
        <a:accent6>
          <a:srgbClr val="898873"/>
        </a:accent6>
        <a:hlink>
          <a:srgbClr val="BEBA9C"/>
        </a:hlink>
        <a:folHlink>
          <a:srgbClr val="94A1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75TGp_biz_light 3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285F6A"/>
        </a:accent1>
        <a:accent2>
          <a:srgbClr val="419DAF"/>
        </a:accent2>
        <a:accent3>
          <a:srgbClr val="FFFFFF"/>
        </a:accent3>
        <a:accent4>
          <a:srgbClr val="224036"/>
        </a:accent4>
        <a:accent5>
          <a:srgbClr val="ACB6B9"/>
        </a:accent5>
        <a:accent6>
          <a:srgbClr val="3A8E9E"/>
        </a:accent6>
        <a:hlink>
          <a:srgbClr val="34C1D0"/>
        </a:hlink>
        <a:folHlink>
          <a:srgbClr val="749B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2044</Words>
  <Application>Microsoft Office PowerPoint</Application>
  <PresentationFormat>全屏显示(4:3)</PresentationFormat>
  <Paragraphs>258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Verdana</vt:lpstr>
      <vt:lpstr>仿宋_GB2312</vt:lpstr>
      <vt:lpstr>Symbol</vt:lpstr>
      <vt:lpstr>黑体</vt:lpstr>
      <vt:lpstr>Wingdings</vt:lpstr>
      <vt:lpstr>楷体_GB2312</vt:lpstr>
      <vt:lpstr>等线</vt:lpstr>
      <vt:lpstr>Times New Roman</vt:lpstr>
      <vt:lpstr>隶书</vt:lpstr>
      <vt:lpstr>굴림</vt:lpstr>
      <vt:lpstr>275TGp_biz_light</vt:lpstr>
      <vt:lpstr>数据库原理及应用 （第3版）</vt:lpstr>
      <vt:lpstr>第5章 视图和索引</vt:lpstr>
      <vt:lpstr>5.1  视图 </vt:lpstr>
      <vt:lpstr>5.1.1 基本概念</vt:lpstr>
      <vt:lpstr>基本概念（续）</vt:lpstr>
      <vt:lpstr>基本概念（续）</vt:lpstr>
      <vt:lpstr>基本概念（续）</vt:lpstr>
      <vt:lpstr>5.1.2  定义视图</vt:lpstr>
      <vt:lpstr>必须明确指定视图所有列名的情况 </vt:lpstr>
      <vt:lpstr>1．定义单源表视图</vt:lpstr>
      <vt:lpstr>2．定义多源表视图</vt:lpstr>
      <vt:lpstr>3．在已有视图上定义新视图</vt:lpstr>
      <vt:lpstr>视图的来源是视图和基本表的组合 </vt:lpstr>
      <vt:lpstr>4．定义带表达式的视图</vt:lpstr>
      <vt:lpstr>5．含分组统计信息的视图</vt:lpstr>
      <vt:lpstr>5.1.3  通过视图查询数据</vt:lpstr>
      <vt:lpstr>通过视图查询数据（续）</vt:lpstr>
      <vt:lpstr>5.1.4  修改和删除视图 </vt:lpstr>
      <vt:lpstr>示例</vt:lpstr>
      <vt:lpstr>5.1.4  修改和删除视图（续）</vt:lpstr>
      <vt:lpstr>注意</vt:lpstr>
      <vt:lpstr>5.1.5  视图的作用 </vt:lpstr>
      <vt:lpstr>视图小结</vt:lpstr>
      <vt:lpstr>习题易错点（讲解）</vt:lpstr>
      <vt:lpstr>实验任务</vt:lpstr>
      <vt:lpstr>第5章 视图和索引</vt:lpstr>
      <vt:lpstr>5.2.1 基本概念</vt:lpstr>
      <vt:lpstr>索引及数据间对应关系 </vt:lpstr>
      <vt:lpstr>索引利弊</vt:lpstr>
      <vt:lpstr>5.2.2 索引存储结构及分类</vt:lpstr>
      <vt:lpstr>下列情况可考虑创建聚集索引 </vt:lpstr>
      <vt:lpstr>下述情况可考虑建立非聚集索引</vt:lpstr>
      <vt:lpstr>唯一索引</vt:lpstr>
      <vt:lpstr>5.2.3 创建、删除索引 </vt:lpstr>
      <vt:lpstr>示例</vt:lpstr>
      <vt:lpstr>示例（续）</vt:lpstr>
      <vt:lpstr>删除索引</vt:lpstr>
      <vt:lpstr>索引小结</vt:lpstr>
      <vt:lpstr>习题易错点（讲解）</vt:lpstr>
      <vt:lpstr>实验任务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数据库原理与应用 （第3版）</dc:title>
  <dc:creator>Administrator</dc:creator>
  <cp:lastModifiedBy>admin</cp:lastModifiedBy>
  <cp:revision>58</cp:revision>
  <dcterms:created xsi:type="dcterms:W3CDTF">2001-07-18T23:57:00Z</dcterms:created>
  <dcterms:modified xsi:type="dcterms:W3CDTF">2023-12-13T08:27:06Z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8EDACBFDABD1483E8EFB0B6C99A864DE</vt:lpwstr>
  </property>
  <property fmtid="{D5CDD505-2E9C-101B-9397-08002B2CF9AE}" pid="3" name="KSOProductBuildVer">
    <vt:lpwstr>2052-11.1.0.12358</vt:lpwstr>
  </property>
</Properties>
</file>