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507" r:id="rId2"/>
    <p:sldId id="367" r:id="rId3"/>
    <p:sldId id="554" r:id="rId4"/>
    <p:sldId id="555" r:id="rId5"/>
    <p:sldId id="513" r:id="rId6"/>
    <p:sldId id="453" r:id="rId7"/>
    <p:sldId id="416" r:id="rId8"/>
    <p:sldId id="417" r:id="rId9"/>
    <p:sldId id="418" r:id="rId10"/>
    <p:sldId id="420" r:id="rId11"/>
    <p:sldId id="421" r:id="rId12"/>
    <p:sldId id="575" r:id="rId13"/>
    <p:sldId id="562" r:id="rId14"/>
    <p:sldId id="583" r:id="rId15"/>
    <p:sldId id="563" r:id="rId16"/>
    <p:sldId id="521" r:id="rId17"/>
    <p:sldId id="533" r:id="rId18"/>
    <p:sldId id="522" r:id="rId19"/>
    <p:sldId id="523" r:id="rId20"/>
    <p:sldId id="524" r:id="rId21"/>
    <p:sldId id="525" r:id="rId22"/>
    <p:sldId id="564" r:id="rId23"/>
    <p:sldId id="576" r:id="rId24"/>
    <p:sldId id="526" r:id="rId25"/>
    <p:sldId id="527" r:id="rId26"/>
    <p:sldId id="528" r:id="rId27"/>
    <p:sldId id="529" r:id="rId28"/>
    <p:sldId id="530" r:id="rId29"/>
    <p:sldId id="579" r:id="rId30"/>
    <p:sldId id="580" r:id="rId31"/>
    <p:sldId id="534" r:id="rId32"/>
    <p:sldId id="565" r:id="rId33"/>
    <p:sldId id="535" r:id="rId34"/>
    <p:sldId id="567" r:id="rId35"/>
    <p:sldId id="568" r:id="rId36"/>
    <p:sldId id="569" r:id="rId37"/>
    <p:sldId id="570" r:id="rId38"/>
    <p:sldId id="571" r:id="rId39"/>
    <p:sldId id="572" r:id="rId40"/>
    <p:sldId id="574" r:id="rId41"/>
    <p:sldId id="573" r:id="rId42"/>
    <p:sldId id="589" r:id="rId43"/>
    <p:sldId id="588" r:id="rId44"/>
    <p:sldId id="422" r:id="rId45"/>
    <p:sldId id="423" r:id="rId46"/>
    <p:sldId id="459" r:id="rId47"/>
    <p:sldId id="458" r:id="rId48"/>
    <p:sldId id="429" r:id="rId49"/>
    <p:sldId id="556" r:id="rId50"/>
    <p:sldId id="557" r:id="rId51"/>
    <p:sldId id="558" r:id="rId52"/>
    <p:sldId id="430" r:id="rId53"/>
    <p:sldId id="544" r:id="rId54"/>
    <p:sldId id="584" r:id="rId55"/>
    <p:sldId id="559" r:id="rId56"/>
    <p:sldId id="432" r:id="rId57"/>
    <p:sldId id="560" r:id="rId58"/>
    <p:sldId id="561" r:id="rId59"/>
    <p:sldId id="439" r:id="rId60"/>
    <p:sldId id="548" r:id="rId61"/>
    <p:sldId id="549" r:id="rId62"/>
    <p:sldId id="550" r:id="rId63"/>
    <p:sldId id="551" r:id="rId64"/>
    <p:sldId id="552" r:id="rId65"/>
    <p:sldId id="510" r:id="rId66"/>
    <p:sldId id="585" r:id="rId67"/>
    <p:sldId id="586" r:id="rId68"/>
    <p:sldId id="587" r:id="rId69"/>
  </p:sldIdLst>
  <p:sldSz cx="9144000" cy="6858000" type="screen4x3"/>
  <p:notesSz cx="6858000" cy="9144000"/>
  <p:embeddedFontLst>
    <p:embeddedFont>
      <p:font typeface="华文隶书" pitchFamily="2" charset="-122"/>
      <p:regular r:id="rId70"/>
    </p:embeddedFont>
    <p:embeddedFont>
      <p:font typeface="仿宋_GB2312" charset="-122"/>
      <p:regular r:id="rId71"/>
    </p:embeddedFont>
    <p:embeddedFont>
      <p:font typeface="等线" pitchFamily="2" charset="-122"/>
      <p:regular r:id="rId72"/>
      <p:bold r:id="rId73"/>
    </p:embeddedFont>
    <p:embeddedFont>
      <p:font typeface="Gulim" charset="-127"/>
      <p:regular r:id="rId74"/>
    </p:embeddedFont>
    <p:embeddedFont>
      <p:font typeface="Verdana" pitchFamily="34" charset="0"/>
      <p:regular r:id="rId75"/>
      <p:bold r:id="rId76"/>
      <p:italic r:id="rId77"/>
      <p:boldItalic r:id="rId78"/>
    </p:embeddedFont>
    <p:embeddedFont>
      <p:font typeface="黑体" pitchFamily="49" charset="-122"/>
      <p:regular r:id="rId79"/>
    </p:embeddedFont>
    <p:embeddedFont>
      <p:font typeface="楷体_GB2312" charset="-122"/>
      <p:regular r:id="rId80"/>
    </p:embeddedFont>
  </p:embeddedFontLst>
  <p:custDataLst>
    <p:tags r:id="rId81"/>
  </p:custDataLst>
  <p:defaultTextStyle>
    <a:defPPr>
      <a:defRPr lang="ko-KR"/>
    </a:defPPr>
    <a:lvl1pPr marL="0" lvl="0"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1pPr>
    <a:lvl2pPr marL="457200" lvl="1"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2pPr>
    <a:lvl3pPr marL="914400" lvl="2"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3pPr>
    <a:lvl4pPr marL="1371600" lvl="3"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4pPr>
    <a:lvl5pPr marL="1828800" lvl="4"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5pPr>
    <a:lvl6pPr marL="2286000" lvl="5"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6pPr>
    <a:lvl7pPr marL="2743200" lvl="6"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7pPr>
    <a:lvl8pPr marL="3200400" lvl="7"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8pPr>
    <a:lvl9pPr marL="3657600" lvl="8" indent="0" algn="r" defTabSz="914400" rtl="0" eaLnBrk="1" fontAlgn="base" latinLnBrk="0" hangingPunct="1">
      <a:lnSpc>
        <a:spcPct val="100000"/>
      </a:lnSpc>
      <a:spcBef>
        <a:spcPct val="0"/>
      </a:spcBef>
      <a:spcAft>
        <a:spcPct val="0"/>
      </a:spcAft>
      <a:buNone/>
      <a:defRPr sz="3600" b="0" i="0" u="none" kern="1200" baseline="0">
        <a:solidFill>
          <a:schemeClr val="tx1"/>
        </a:solidFill>
        <a:latin typeface="Arial" panose="020B0604020202020204" pitchFamily="34" charset="0"/>
        <a:ea typeface="Gulim" panose="020B0600000101010101" pitchFamily="34" charset="-127"/>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00"/>
    <a:srgbClr val="CC0099"/>
    <a:srgbClr val="FF0000"/>
    <a:srgbClr val="FFFF00"/>
    <a:srgbClr val="D60093"/>
    <a:srgbClr val="009900"/>
    <a:srgbClr val="FF66CC"/>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855"/>
    <p:restoredTop sz="94603"/>
  </p:normalViewPr>
  <p:slideViewPr>
    <p:cSldViewPr showGuides="1">
      <p:cViewPr>
        <p:scale>
          <a:sx n="75" d="100"/>
          <a:sy n="75" d="100"/>
        </p:scale>
        <p:origin x="-3264" y="-858"/>
      </p:cViewPr>
      <p:guideLst>
        <p:guide orient="horz" pos="2160"/>
        <p:guide pos="284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7.fntdata"/><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tags" Target="tags/tag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sp>
        <p:nvSpPr>
          <p:cNvPr id="9" name="Freeform 2"/>
          <p:cNvSpPr/>
          <p:nvPr/>
        </p:nvSpPr>
        <p:spPr bwMode="gray">
          <a:xfrm>
            <a:off x="0" y="3810000"/>
            <a:ext cx="9144000" cy="3048000"/>
          </a:xfrm>
          <a:custGeom>
            <a:avLst/>
            <a:gdLst/>
            <a:ahLst/>
            <a:cxnLst>
              <a:cxn ang="0">
                <a:pos x="0" y="0"/>
              </a:cxn>
              <a:cxn ang="0">
                <a:pos x="0" y="1920"/>
              </a:cxn>
              <a:cxn ang="0">
                <a:pos x="5760" y="1920"/>
              </a:cxn>
              <a:cxn ang="0">
                <a:pos x="5760" y="0"/>
              </a:cxn>
              <a:cxn ang="0">
                <a:pos x="0" y="0"/>
              </a:cxn>
            </a:cxnLst>
            <a:rect l="0" t="0" r="r" b="b"/>
            <a:pathLst>
              <a:path w="5760" h="1920">
                <a:moveTo>
                  <a:pt x="0" y="0"/>
                </a:moveTo>
                <a:lnTo>
                  <a:pt x="0" y="1920"/>
                </a:lnTo>
                <a:lnTo>
                  <a:pt x="5760" y="1920"/>
                </a:lnTo>
                <a:lnTo>
                  <a:pt x="5760" y="0"/>
                </a:lnTo>
                <a:lnTo>
                  <a:pt x="0" y="0"/>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0" name="Rectangle 3"/>
          <p:cNvSpPr>
            <a:spLocks noChangeArrowheads="1"/>
          </p:cNvSpPr>
          <p:nvPr/>
        </p:nvSpPr>
        <p:spPr bwMode="gray">
          <a:xfrm>
            <a:off x="0" y="3429000"/>
            <a:ext cx="5045075" cy="390525"/>
          </a:xfrm>
          <a:prstGeom prst="rect">
            <a:avLst/>
          </a:prstGeom>
          <a:solidFill>
            <a:schemeClr val="hlink"/>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1" name="Freeform 4"/>
          <p:cNvSpPr/>
          <p:nvPr/>
        </p:nvSpPr>
        <p:spPr bwMode="gray">
          <a:xfrm>
            <a:off x="5043488" y="3429000"/>
            <a:ext cx="2195513" cy="390525"/>
          </a:xfrm>
          <a:custGeom>
            <a:avLst/>
            <a:gdLst/>
            <a:ahLst/>
            <a:cxnLst>
              <a:cxn ang="0">
                <a:pos x="0" y="0"/>
              </a:cxn>
              <a:cxn ang="0">
                <a:pos x="1341" y="0"/>
              </a:cxn>
              <a:cxn ang="0">
                <a:pos x="1159" y="246"/>
              </a:cxn>
              <a:cxn ang="0">
                <a:pos x="0" y="246"/>
              </a:cxn>
              <a:cxn ang="0">
                <a:pos x="0" y="0"/>
              </a:cxn>
            </a:cxnLst>
            <a:rect l="0" t="0" r="r" b="b"/>
            <a:pathLst>
              <a:path w="1341" h="246">
                <a:moveTo>
                  <a:pt x="0" y="0"/>
                </a:moveTo>
                <a:lnTo>
                  <a:pt x="1341" y="0"/>
                </a:lnTo>
                <a:lnTo>
                  <a:pt x="1159" y="246"/>
                </a:lnTo>
                <a:lnTo>
                  <a:pt x="0" y="246"/>
                </a:lnTo>
                <a:lnTo>
                  <a:pt x="0" y="0"/>
                </a:lnTo>
                <a:close/>
              </a:path>
            </a:pathLst>
          </a:custGeom>
          <a:solidFill>
            <a:schemeClr val="accent2"/>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2" name="Freeform 9"/>
          <p:cNvSpPr/>
          <p:nvPr/>
        </p:nvSpPr>
        <p:spPr bwMode="gray">
          <a:xfrm>
            <a:off x="6862763" y="3429000"/>
            <a:ext cx="2281238" cy="390525"/>
          </a:xfrm>
          <a:custGeom>
            <a:avLst/>
            <a:gdLst/>
            <a:ahLst/>
            <a:cxnLst>
              <a:cxn ang="0">
                <a:pos x="189" y="0"/>
              </a:cxn>
              <a:cxn ang="0">
                <a:pos x="0" y="243"/>
              </a:cxn>
              <a:cxn ang="0">
                <a:pos x="1437" y="246"/>
              </a:cxn>
              <a:cxn ang="0">
                <a:pos x="1436" y="0"/>
              </a:cxn>
              <a:cxn ang="0">
                <a:pos x="189" y="0"/>
              </a:cxn>
            </a:cxnLst>
            <a:rect l="0" t="0" r="r" b="b"/>
            <a:pathLst>
              <a:path w="1437" h="246">
                <a:moveTo>
                  <a:pt x="189" y="0"/>
                </a:moveTo>
                <a:lnTo>
                  <a:pt x="0" y="243"/>
                </a:lnTo>
                <a:lnTo>
                  <a:pt x="1437" y="246"/>
                </a:lnTo>
                <a:lnTo>
                  <a:pt x="1436" y="0"/>
                </a:lnTo>
                <a:lnTo>
                  <a:pt x="189" y="0"/>
                </a:lnTo>
                <a:close/>
              </a:path>
            </a:pathLst>
          </a:custGeom>
          <a:solidFill>
            <a:schemeClr val="accent1"/>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3" name="Freeform 10" descr="2"/>
          <p:cNvSpPr/>
          <p:nvPr/>
        </p:nvSpPr>
        <p:spPr bwMode="gray">
          <a:xfrm>
            <a:off x="0" y="3810000"/>
            <a:ext cx="6865938" cy="1447800"/>
          </a:xfrm>
          <a:custGeom>
            <a:avLst/>
            <a:gdLst/>
            <a:ahLst/>
            <a:cxnLst>
              <a:cxn ang="0">
                <a:pos x="0" y="0"/>
              </a:cxn>
              <a:cxn ang="0">
                <a:pos x="4337" y="2"/>
              </a:cxn>
              <a:cxn ang="0">
                <a:pos x="3658" y="906"/>
              </a:cxn>
              <a:cxn ang="0">
                <a:pos x="0" y="912"/>
              </a:cxn>
              <a:cxn ang="0">
                <a:pos x="0" y="0"/>
              </a:cxn>
            </a:cxnLst>
            <a:rect l="0" t="0" r="r" b="b"/>
            <a:pathLst>
              <a:path w="4337" h="912">
                <a:moveTo>
                  <a:pt x="0" y="0"/>
                </a:moveTo>
                <a:lnTo>
                  <a:pt x="4337" y="2"/>
                </a:lnTo>
                <a:lnTo>
                  <a:pt x="3658" y="906"/>
                </a:lnTo>
                <a:lnTo>
                  <a:pt x="0" y="912"/>
                </a:lnTo>
                <a:lnTo>
                  <a:pt x="0" y="0"/>
                </a:lnTo>
                <a:close/>
              </a:path>
            </a:pathLst>
          </a:custGeom>
          <a:blipFill dpi="0" rotWithShape="1">
            <a:blip r:embed="rId2"/>
            <a:srcRect/>
            <a:stretch>
              <a:fillRect/>
            </a:stretch>
          </a:blip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4" name="Freeform 11"/>
          <p:cNvSpPr/>
          <p:nvPr/>
        </p:nvSpPr>
        <p:spPr bwMode="gray">
          <a:xfrm>
            <a:off x="7162800" y="762000"/>
            <a:ext cx="1981200" cy="2667000"/>
          </a:xfrm>
          <a:custGeom>
            <a:avLst/>
            <a:gdLst/>
            <a:ahLst/>
            <a:cxnLst>
              <a:cxn ang="0">
                <a:pos x="0" y="1680"/>
              </a:cxn>
              <a:cxn ang="0">
                <a:pos x="1248" y="0"/>
              </a:cxn>
              <a:cxn ang="0">
                <a:pos x="1248" y="1680"/>
              </a:cxn>
              <a:cxn ang="0">
                <a:pos x="0" y="1680"/>
              </a:cxn>
            </a:cxnLst>
            <a:rect l="0" t="0" r="r" b="b"/>
            <a:pathLst>
              <a:path w="1248" h="1680">
                <a:moveTo>
                  <a:pt x="0" y="1680"/>
                </a:moveTo>
                <a:lnTo>
                  <a:pt x="1248" y="0"/>
                </a:lnTo>
                <a:lnTo>
                  <a:pt x="1248" y="1680"/>
                </a:lnTo>
                <a:lnTo>
                  <a:pt x="0" y="1680"/>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15" name="AutoShape 12"/>
          <p:cNvSpPr>
            <a:spLocks noChangeArrowheads="1"/>
          </p:cNvSpPr>
          <p:nvPr/>
        </p:nvSpPr>
        <p:spPr bwMode="gray">
          <a:xfrm>
            <a:off x="4724400" y="3429000"/>
            <a:ext cx="914400" cy="381000"/>
          </a:xfrm>
          <a:prstGeom prst="parallelogram">
            <a:avLst>
              <a:gd name="adj" fmla="val 77089"/>
            </a:avLst>
          </a:prstGeom>
          <a:solidFill>
            <a:schemeClr val="accent2"/>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698375" name="Rectangle 7"/>
          <p:cNvSpPr>
            <a:spLocks noGrp="1" noChangeArrowheads="1"/>
          </p:cNvSpPr>
          <p:nvPr>
            <p:ph type="subTitle" idx="1"/>
          </p:nvPr>
        </p:nvSpPr>
        <p:spPr>
          <a:xfrm>
            <a:off x="2362200" y="5791200"/>
            <a:ext cx="4648200" cy="381000"/>
          </a:xfrm>
        </p:spPr>
        <p:txBody>
          <a:bodyPr/>
          <a:lstStyle>
            <a:lvl1pPr marL="0" indent="0" algn="ctr">
              <a:buFont typeface="Wingdings" panose="05000000000000000000" pitchFamily="2" charset="2"/>
              <a:buNone/>
              <a:defRPr sz="2000" b="0">
                <a:solidFill>
                  <a:schemeClr val="bg1"/>
                </a:solidFill>
              </a:defRPr>
            </a:lvl1pPr>
          </a:lstStyle>
          <a:p>
            <a:r>
              <a:rPr lang="zh-CN" altLang="en-US"/>
              <a:t>单击此处编辑母版副标题样式</a:t>
            </a:r>
          </a:p>
        </p:txBody>
      </p:sp>
      <p:sp>
        <p:nvSpPr>
          <p:cNvPr id="698381" name="Rectangle 13"/>
          <p:cNvSpPr>
            <a:spLocks noGrp="1" noChangeArrowheads="1"/>
          </p:cNvSpPr>
          <p:nvPr>
            <p:ph type="ctrTitle"/>
          </p:nvPr>
        </p:nvSpPr>
        <p:spPr>
          <a:xfrm>
            <a:off x="190500" y="2590800"/>
            <a:ext cx="7124700" cy="762000"/>
          </a:xfrm>
        </p:spPr>
        <p:txBody>
          <a:bodyPr/>
          <a:lstStyle>
            <a:lvl1pPr>
              <a:defRPr/>
            </a:lvl1pPr>
          </a:lstStyle>
          <a:p>
            <a:r>
              <a:rPr lang="zh-CN" altLang="en-US"/>
              <a:t>单击此处编辑母版标题样式</a:t>
            </a:r>
          </a:p>
        </p:txBody>
      </p:sp>
      <p:sp>
        <p:nvSpPr>
          <p:cNvPr id="16" name="Rectangle 5"/>
          <p:cNvSpPr>
            <a:spLocks noGrp="1" noChangeArrowheads="1"/>
          </p:cNvSpPr>
          <p:nvPr>
            <p:ph type="ftr" sz="quarter" idx="3"/>
          </p:nvPr>
        </p:nvSpPr>
        <p:spPr bwMode="gray">
          <a:xfrm>
            <a:off x="5976938" y="6594475"/>
            <a:ext cx="2895600" cy="168275"/>
          </a:xfrm>
          <a:prstGeom prst="rect">
            <a:avLst/>
          </a:prstGeom>
          <a:noFill/>
          <a:ln>
            <a:miter lim="800000"/>
          </a:ln>
        </p:spPr>
        <p:txBody>
          <a:bodyPr vert="horz" wrap="square" lIns="91440" tIns="45720" rIns="91440" bIns="45720" numCol="1" anchor="t" anchorCtr="0" compatLnSpc="1"/>
          <a:lstStyle>
            <a:lvl1pPr>
              <a:defRPr sz="1000">
                <a:solidFill>
                  <a:schemeClr val="bg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7" name="Rectangle 6"/>
          <p:cNvSpPr>
            <a:spLocks noGrp="1" noChangeArrowheads="1"/>
          </p:cNvSpPr>
          <p:nvPr>
            <p:ph type="sldNum" sz="quarter" idx="4"/>
          </p:nvPr>
        </p:nvSpPr>
        <p:spPr bwMode="gray">
          <a:xfrm>
            <a:off x="3465513" y="6613525"/>
            <a:ext cx="2133600" cy="168275"/>
          </a:xfrm>
          <a:prstGeom prst="rect">
            <a:avLst/>
          </a:prstGeom>
          <a:noFill/>
          <a:ln>
            <a:miter lim="800000"/>
          </a:ln>
        </p:spPr>
        <p:txBody>
          <a:bodyPr vert="horz" wrap="square" lIns="91440" tIns="45720" rIns="91440" bIns="45720" numCol="1" anchor="t" anchorCtr="0" compatLnSpc="1"/>
          <a:lstStyle/>
          <a:p>
            <a:pPr algn="ctr"/>
            <a:fld id="{9A0DB2DC-4C9A-4742-B13C-FB6460FD3503}" type="slidenum">
              <a:rPr lang="zh-CN" altLang="en-US" dirty="0">
                <a:ea typeface="宋体" panose="02010600030101010101" pitchFamily="2" charset="-122"/>
              </a:rPr>
              <a:t>‹#›</a:t>
            </a:fld>
            <a:endParaRPr lang="zh-CN" altLang="en-US" dirty="0">
              <a:ea typeface="宋体" panose="02010600030101010101" pitchFamily="2" charset="-122"/>
            </a:endParaRPr>
          </a:p>
        </p:txBody>
      </p:sp>
      <p:sp>
        <p:nvSpPr>
          <p:cNvPr id="18" name="Rectangle 8"/>
          <p:cNvSpPr>
            <a:spLocks noGrp="1" noChangeArrowheads="1"/>
          </p:cNvSpPr>
          <p:nvPr>
            <p:ph type="dt" sz="half" idx="2"/>
          </p:nvPr>
        </p:nvSpPr>
        <p:spPr bwMode="gray">
          <a:xfrm>
            <a:off x="274638" y="6605588"/>
            <a:ext cx="2133600" cy="168275"/>
          </a:xfrm>
          <a:prstGeom prst="rect">
            <a:avLst/>
          </a:prstGeom>
          <a:noFill/>
          <a:ln>
            <a:miter lim="800000"/>
          </a:ln>
        </p:spPr>
        <p:txBody>
          <a:bodyPr vert="horz" wrap="square" lIns="91440" tIns="45720" rIns="91440" bIns="45720" numCol="1" anchor="t" anchorCtr="0" compatLnSpc="1"/>
          <a:lstStyle>
            <a:lvl1pPr algn="l">
              <a:defRPr sz="1000">
                <a:solidFill>
                  <a:schemeClr val="bg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2910" y="152400"/>
            <a:ext cx="7715304" cy="685800"/>
          </a:xfrm>
        </p:spPr>
        <p:txBody>
          <a:bodyPr/>
          <a:lstStyle>
            <a:lvl1pPr algn="ctr">
              <a:defRPr b="1">
                <a:latin typeface="宋体" panose="02010600030101010101" pitchFamily="2" charset="-122"/>
                <a:ea typeface="宋体" panose="02010600030101010101" pitchFamily="2"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sz="3400">
                <a:latin typeface="仿宋_GB2312" panose="02010600030101010101" pitchFamily="49" charset="-122"/>
                <a:ea typeface="仿宋_GB2312" panose="02010600030101010101" pitchFamily="49" charset="-122"/>
              </a:defRPr>
            </a:lvl1pPr>
            <a:lvl2pPr>
              <a:defRPr sz="3200" b="1">
                <a:latin typeface="仿宋_GB2312" panose="02010600030101010101" pitchFamily="49" charset="-122"/>
                <a:ea typeface="仿宋_GB2312" panose="02010600030101010101" pitchFamily="49" charset="-122"/>
              </a:defRPr>
            </a:lvl2pPr>
            <a:lvl3pPr>
              <a:defRPr sz="2800" b="1">
                <a:latin typeface="仿宋_GB2312" panose="02010600030101010101" pitchFamily="49" charset="-122"/>
                <a:ea typeface="仿宋_GB2312" panose="02010600030101010101" pitchFamily="49" charset="-122"/>
              </a:defRPr>
            </a:lvl3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灯片编号占位符 3"/>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灯片编号占位符 3"/>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灯片编号占位符 4"/>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6019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076950" cy="6019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6781800" cy="6858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295400"/>
            <a:ext cx="4038600" cy="4876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648200" y="1295400"/>
            <a:ext cx="40386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5" name="灯片编号占位符 4"/>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152400"/>
            <a:ext cx="6781800" cy="6858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4876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Char char="v"/>
              <a:defRPr/>
            </a:pPr>
            <a:endParaRPr kumimoji="0" lang="zh-CN" altLang="en-US" sz="3200" b="1" i="0" u="none" strike="noStrike" kern="0" cap="none" spc="0" normalizeH="0" baseline="0" noProof="0" smtClean="0">
              <a:ln>
                <a:noFill/>
              </a:ln>
              <a:solidFill>
                <a:schemeClr val="tx2"/>
              </a:solidFill>
              <a:effectLst/>
              <a:uLnTx/>
              <a:uFillTx/>
              <a:latin typeface="+mn-lt"/>
              <a:ea typeface="+mn-ea"/>
              <a:cs typeface="+mn-cs"/>
            </a:endParaRPr>
          </a:p>
        </p:txBody>
      </p:sp>
      <p:sp>
        <p:nvSpPr>
          <p:cNvPr id="4" name="灯片编号占位符 3"/>
          <p:cNvSpPr>
            <a:spLocks noGrp="1"/>
          </p:cNvSpPr>
          <p:nvPr>
            <p:ph type="sldNum" sz="quarter" idx="10"/>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7346" name="Freeform 2"/>
          <p:cNvSpPr/>
          <p:nvPr/>
        </p:nvSpPr>
        <p:spPr bwMode="gray">
          <a:xfrm>
            <a:off x="0" y="5638800"/>
            <a:ext cx="9144000" cy="1219200"/>
          </a:xfrm>
          <a:custGeom>
            <a:avLst/>
            <a:gdLst/>
            <a:ahLst/>
            <a:cxnLst>
              <a:cxn ang="0">
                <a:pos x="0" y="512"/>
              </a:cxn>
              <a:cxn ang="0">
                <a:pos x="5120" y="512"/>
              </a:cxn>
              <a:cxn ang="0">
                <a:pos x="5760" y="0"/>
              </a:cxn>
              <a:cxn ang="0">
                <a:pos x="5760" y="768"/>
              </a:cxn>
              <a:cxn ang="0">
                <a:pos x="0" y="768"/>
              </a:cxn>
              <a:cxn ang="0">
                <a:pos x="0" y="512"/>
              </a:cxn>
            </a:cxnLst>
            <a:rect l="0" t="0" r="r" b="b"/>
            <a:pathLst>
              <a:path w="5760" h="768">
                <a:moveTo>
                  <a:pt x="0" y="512"/>
                </a:moveTo>
                <a:lnTo>
                  <a:pt x="5120" y="512"/>
                </a:lnTo>
                <a:lnTo>
                  <a:pt x="5760" y="0"/>
                </a:lnTo>
                <a:lnTo>
                  <a:pt x="5760" y="768"/>
                </a:lnTo>
                <a:lnTo>
                  <a:pt x="0" y="768"/>
                </a:lnTo>
                <a:lnTo>
                  <a:pt x="0" y="512"/>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697347" name="Freeform 3"/>
          <p:cNvSpPr/>
          <p:nvPr/>
        </p:nvSpPr>
        <p:spPr bwMode="gray">
          <a:xfrm>
            <a:off x="-3175" y="-3175"/>
            <a:ext cx="9147175" cy="1133475"/>
          </a:xfrm>
          <a:custGeom>
            <a:avLst/>
            <a:gdLst/>
            <a:ahLst/>
            <a:cxnLst>
              <a:cxn ang="0">
                <a:pos x="0" y="0"/>
              </a:cxn>
              <a:cxn ang="0">
                <a:pos x="3790" y="0"/>
              </a:cxn>
              <a:cxn ang="0">
                <a:pos x="3790" y="232"/>
              </a:cxn>
              <a:cxn ang="0">
                <a:pos x="3380" y="712"/>
              </a:cxn>
              <a:cxn ang="0">
                <a:pos x="2" y="714"/>
              </a:cxn>
              <a:cxn ang="0">
                <a:pos x="0" y="0"/>
              </a:cxn>
            </a:cxnLst>
            <a:rect l="0" t="0" r="r" b="b"/>
            <a:pathLst>
              <a:path w="3790" h="714">
                <a:moveTo>
                  <a:pt x="0" y="0"/>
                </a:moveTo>
                <a:lnTo>
                  <a:pt x="3790" y="0"/>
                </a:lnTo>
                <a:lnTo>
                  <a:pt x="3790" y="232"/>
                </a:lnTo>
                <a:lnTo>
                  <a:pt x="3380" y="712"/>
                </a:lnTo>
                <a:lnTo>
                  <a:pt x="2" y="714"/>
                </a:lnTo>
                <a:lnTo>
                  <a:pt x="0" y="0"/>
                </a:lnTo>
                <a:close/>
              </a:path>
            </a:pathLst>
          </a:custGeom>
          <a:solidFill>
            <a:schemeClr val="accent1"/>
          </a:solidFill>
          <a:ln w="9525">
            <a:noFill/>
            <a:round/>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697348" name="Rectangle 4"/>
          <p:cNvSpPr>
            <a:spLocks noChangeArrowheads="1"/>
          </p:cNvSpPr>
          <p:nvPr/>
        </p:nvSpPr>
        <p:spPr bwMode="gray">
          <a:xfrm>
            <a:off x="0" y="882650"/>
            <a:ext cx="7721600" cy="260350"/>
          </a:xfrm>
          <a:prstGeom prst="rect">
            <a:avLst/>
          </a:prstGeom>
          <a:solidFill>
            <a:schemeClr val="hlink"/>
          </a:solidFill>
          <a:ln w="9525">
            <a:noFill/>
            <a:miter lim="800000"/>
          </a:ln>
          <a:effectLst/>
        </p:spPr>
        <p:txBody>
          <a:bodyPr wrap="none" anchor="ct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
        <p:nvSpPr>
          <p:cNvPr id="7173" name="Rectangle 5"/>
          <p:cNvSpPr>
            <a:spLocks noGrp="1"/>
          </p:cNvSpPr>
          <p:nvPr>
            <p:ph type="body" idx="1"/>
          </p:nvPr>
        </p:nvSpPr>
        <p:spPr>
          <a:xfrm>
            <a:off x="457200" y="1295400"/>
            <a:ext cx="8229600" cy="4876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97350" name="Rectangle 6"/>
          <p:cNvSpPr>
            <a:spLocks noGrp="1" noChangeArrowheads="1"/>
          </p:cNvSpPr>
          <p:nvPr>
            <p:ph type="sldNum" sz="quarter" idx="4"/>
          </p:nvPr>
        </p:nvSpPr>
        <p:spPr bwMode="gray">
          <a:xfrm>
            <a:off x="3810000" y="6483350"/>
            <a:ext cx="1828800" cy="244475"/>
          </a:xfrm>
          <a:prstGeom prst="rect">
            <a:avLst/>
          </a:prstGeom>
          <a:noFill/>
          <a:ln w="9525">
            <a:noFill/>
            <a:miter lim="800000"/>
          </a:ln>
          <a:effectLst/>
        </p:spPr>
        <p:txBody>
          <a:bodyPr vert="horz" wrap="square" lIns="91440" tIns="45720" rIns="91440" bIns="45720" numCol="1" anchor="t" anchorCtr="0" compatLnSpc="1"/>
          <a:lstStyle>
            <a:lvl1pPr algn="ctr">
              <a:defRPr sz="1000">
                <a:solidFill>
                  <a:schemeClr val="bg1"/>
                </a:solidFill>
                <a:latin typeface="Verdana" panose="020B0604030504040204" pitchFamily="34" charset="0"/>
                <a:ea typeface="宋体" panose="02010600030101010101" pitchFamily="2" charset="-122"/>
              </a:defRPr>
            </a:lvl1pPr>
          </a:lstStyle>
          <a:p>
            <a:pPr lvl="0" eaLnBrk="1" hangingPunct="1"/>
            <a:fld id="{9A0DB2DC-4C9A-4742-B13C-FB6460FD3503}" type="slidenum">
              <a:rPr lang="zh-CN" altLang="en-US" dirty="0"/>
              <a:t>‹#›</a:t>
            </a:fld>
            <a:endParaRPr lang="zh-CN" altLang="en-US" dirty="0"/>
          </a:p>
        </p:txBody>
      </p:sp>
      <p:sp>
        <p:nvSpPr>
          <p:cNvPr id="7175" name="Rectangle 7"/>
          <p:cNvSpPr>
            <a:spLocks noGrp="1"/>
          </p:cNvSpPr>
          <p:nvPr>
            <p:ph type="title"/>
          </p:nvPr>
        </p:nvSpPr>
        <p:spPr>
          <a:xfrm>
            <a:off x="381000" y="152400"/>
            <a:ext cx="6781800" cy="685800"/>
          </a:xfrm>
          <a:prstGeom prst="rect">
            <a:avLst/>
          </a:prstGeom>
          <a:noFill/>
          <a:ln w="9525">
            <a:noFill/>
          </a:ln>
        </p:spPr>
        <p:txBody>
          <a:bodyPr anchor="ctr" anchorCtr="0"/>
          <a:lstStyle/>
          <a:p>
            <a:pPr lvl="0"/>
            <a:r>
              <a:rPr lang="zh-CN" altLang="en-US" dirty="0"/>
              <a:t>单击此处编辑母版标题样式</a:t>
            </a:r>
          </a:p>
        </p:txBody>
      </p:sp>
      <p:sp>
        <p:nvSpPr>
          <p:cNvPr id="697352" name="Freeform 8"/>
          <p:cNvSpPr/>
          <p:nvPr/>
        </p:nvSpPr>
        <p:spPr bwMode="gray">
          <a:xfrm>
            <a:off x="6215063" y="881063"/>
            <a:ext cx="2260600" cy="261938"/>
          </a:xfrm>
          <a:custGeom>
            <a:avLst/>
            <a:gdLst/>
            <a:ahLst/>
            <a:cxnLst>
              <a:cxn ang="0">
                <a:pos x="0" y="165"/>
              </a:cxn>
              <a:cxn ang="0">
                <a:pos x="1221" y="164"/>
              </a:cxn>
              <a:cxn ang="0">
                <a:pos x="1424" y="0"/>
              </a:cxn>
              <a:cxn ang="0">
                <a:pos x="189" y="0"/>
              </a:cxn>
              <a:cxn ang="0">
                <a:pos x="0" y="165"/>
              </a:cxn>
            </a:cxnLst>
            <a:rect l="0" t="0" r="r" b="b"/>
            <a:pathLst>
              <a:path w="1424" h="165">
                <a:moveTo>
                  <a:pt x="0" y="165"/>
                </a:moveTo>
                <a:lnTo>
                  <a:pt x="1221" y="164"/>
                </a:lnTo>
                <a:lnTo>
                  <a:pt x="1424" y="0"/>
                </a:lnTo>
                <a:lnTo>
                  <a:pt x="189" y="0"/>
                </a:lnTo>
                <a:lnTo>
                  <a:pt x="0" y="165"/>
                </a:lnTo>
                <a:close/>
              </a:path>
            </a:pathLst>
          </a:custGeom>
          <a:solidFill>
            <a:schemeClr val="accent2"/>
          </a:solidFill>
          <a:ln w="9525">
            <a:noFill/>
            <a:round/>
          </a:ln>
          <a:effectLst/>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Arial" panose="020B0604020202020204" pitchFamily="34" charset="0"/>
              <a:ea typeface="Gulim" panose="020B0600000101010101" pitchFamily="34" charset="-127"/>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dt="0"/>
  <p:txStyles>
    <p:titleStyle>
      <a:lvl1pPr algn="l" rtl="0" fontAlgn="base">
        <a:spcBef>
          <a:spcPct val="0"/>
        </a:spcBef>
        <a:spcAft>
          <a:spcPct val="0"/>
        </a:spcAft>
        <a:defRPr sz="3600">
          <a:solidFill>
            <a:schemeClr val="bg1"/>
          </a:solidFill>
          <a:latin typeface="+mj-lt"/>
          <a:ea typeface="+mj-ea"/>
          <a:cs typeface="+mj-cs"/>
        </a:defRPr>
      </a:lvl1pPr>
      <a:lvl2pPr algn="l" rtl="0" fontAlgn="base">
        <a:spcBef>
          <a:spcPct val="0"/>
        </a:spcBef>
        <a:spcAft>
          <a:spcPct val="0"/>
        </a:spcAft>
        <a:defRPr sz="3600">
          <a:solidFill>
            <a:schemeClr val="bg1"/>
          </a:solidFill>
          <a:latin typeface="Verdana" panose="020B0604030504040204" pitchFamily="34" charset="0"/>
        </a:defRPr>
      </a:lvl2pPr>
      <a:lvl3pPr algn="l" rtl="0" fontAlgn="base">
        <a:spcBef>
          <a:spcPct val="0"/>
        </a:spcBef>
        <a:spcAft>
          <a:spcPct val="0"/>
        </a:spcAft>
        <a:defRPr sz="3600">
          <a:solidFill>
            <a:schemeClr val="bg1"/>
          </a:solidFill>
          <a:latin typeface="Verdana" panose="020B0604030504040204" pitchFamily="34" charset="0"/>
        </a:defRPr>
      </a:lvl3pPr>
      <a:lvl4pPr algn="l" rtl="0" fontAlgn="base">
        <a:spcBef>
          <a:spcPct val="0"/>
        </a:spcBef>
        <a:spcAft>
          <a:spcPct val="0"/>
        </a:spcAft>
        <a:defRPr sz="3600">
          <a:solidFill>
            <a:schemeClr val="bg1"/>
          </a:solidFill>
          <a:latin typeface="Verdana" panose="020B0604030504040204" pitchFamily="34" charset="0"/>
        </a:defRPr>
      </a:lvl4pPr>
      <a:lvl5pPr algn="l" rtl="0" fontAlgn="base">
        <a:spcBef>
          <a:spcPct val="0"/>
        </a:spcBef>
        <a:spcAft>
          <a:spcPct val="0"/>
        </a:spcAft>
        <a:defRPr sz="3600">
          <a:solidFill>
            <a:schemeClr val="bg1"/>
          </a:solidFill>
          <a:latin typeface="Verdana" panose="020B0604030504040204" pitchFamily="34" charset="0"/>
        </a:defRPr>
      </a:lvl5pPr>
      <a:lvl6pPr marL="457200" algn="l" rtl="0" fontAlgn="base">
        <a:spcBef>
          <a:spcPct val="0"/>
        </a:spcBef>
        <a:spcAft>
          <a:spcPct val="0"/>
        </a:spcAft>
        <a:defRPr sz="3600">
          <a:solidFill>
            <a:schemeClr val="bg1"/>
          </a:solidFill>
          <a:latin typeface="Verdana" panose="020B0604030504040204" pitchFamily="34" charset="0"/>
        </a:defRPr>
      </a:lvl6pPr>
      <a:lvl7pPr marL="914400" algn="l" rtl="0" fontAlgn="base">
        <a:spcBef>
          <a:spcPct val="0"/>
        </a:spcBef>
        <a:spcAft>
          <a:spcPct val="0"/>
        </a:spcAft>
        <a:defRPr sz="3600">
          <a:solidFill>
            <a:schemeClr val="bg1"/>
          </a:solidFill>
          <a:latin typeface="Verdana" panose="020B0604030504040204" pitchFamily="34" charset="0"/>
        </a:defRPr>
      </a:lvl7pPr>
      <a:lvl8pPr marL="1371600" algn="l" rtl="0" fontAlgn="base">
        <a:spcBef>
          <a:spcPct val="0"/>
        </a:spcBef>
        <a:spcAft>
          <a:spcPct val="0"/>
        </a:spcAft>
        <a:defRPr sz="3600">
          <a:solidFill>
            <a:schemeClr val="bg1"/>
          </a:solidFill>
          <a:latin typeface="Verdana" panose="020B0604030504040204" pitchFamily="34" charset="0"/>
        </a:defRPr>
      </a:lvl8pPr>
      <a:lvl9pPr marL="1828800" algn="l" rtl="0" fontAlgn="base">
        <a:spcBef>
          <a:spcPct val="0"/>
        </a:spcBef>
        <a:spcAft>
          <a:spcPct val="0"/>
        </a:spcAft>
        <a:defRPr sz="3600">
          <a:solidFill>
            <a:schemeClr val="bg1"/>
          </a:solidFill>
          <a:latin typeface="Verdana" panose="020B0604030504040204" pitchFamily="34" charset="0"/>
        </a:defRPr>
      </a:lvl9pPr>
    </p:titleStyle>
    <p:bodyStyle>
      <a:lvl1pPr marL="342900" indent="-342900" algn="l" rtl="0" fontAlgn="base">
        <a:spcBef>
          <a:spcPct val="20000"/>
        </a:spcBef>
        <a:spcAft>
          <a:spcPct val="0"/>
        </a:spcAft>
        <a:buClr>
          <a:schemeClr val="tx1"/>
        </a:buClr>
        <a:buFont typeface="Wingdings" panose="05000000000000000000" pitchFamily="2" charset="2"/>
        <a:buChar char="v"/>
        <a:defRPr sz="3200" b="1">
          <a:solidFill>
            <a:schemeClr val="tx2"/>
          </a:solidFill>
          <a:latin typeface="+mn-lt"/>
          <a:ea typeface="+mn-ea"/>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lgn="l" rtl="0" fontAlgn="base">
        <a:spcBef>
          <a:spcPct val="20000"/>
        </a:spcBef>
        <a:spcAft>
          <a:spcPct val="0"/>
        </a:spcAft>
        <a:buClr>
          <a:schemeClr val="hlink"/>
        </a:buClr>
        <a:buChar char="•"/>
        <a:defRPr sz="2400">
          <a:solidFill>
            <a:schemeClr val="tx2"/>
          </a:solidFill>
          <a:latin typeface="Arial" panose="020B0604020202020204" pitchFamily="34" charset="0"/>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 Id="rId9"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oleObject" Target="../embeddings/oleObject10.bin"/><Relationship Id="rId4" Type="http://schemas.openxmlformats.org/officeDocument/2006/relationships/image" Target="../media/image2.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ctrTitle"/>
          </p:nvPr>
        </p:nvSpPr>
        <p:spPr>
          <a:xfrm>
            <a:off x="683568" y="980728"/>
            <a:ext cx="8020124" cy="2160240"/>
          </a:xfrm>
        </p:spPr>
        <p:txBody>
          <a:bodyPr vert="horz" wrap="square" lIns="91440" tIns="45720" rIns="91440" bIns="45720" anchor="ctr" anchorCtr="0"/>
          <a:lstStyle/>
          <a:p>
            <a:pPr algn="ctr" eaLnBrk="1" hangingPunct="1">
              <a:buClrTx/>
              <a:buSzTx/>
              <a:buFontTx/>
            </a:pPr>
            <a:r>
              <a:rPr lang="zh-CN" altLang="en-US" sz="6600" b="1" dirty="0">
                <a:solidFill>
                  <a:srgbClr val="000000"/>
                </a:solidFill>
                <a:latin typeface="宋体" panose="02010600030101010101" pitchFamily="2" charset="-122"/>
                <a:ea typeface="宋体" panose="02010600030101010101" pitchFamily="2" charset="-122"/>
              </a:rPr>
              <a:t>数据库</a:t>
            </a:r>
            <a:r>
              <a:rPr lang="zh-CN" altLang="en-US" sz="6600" b="1" dirty="0" smtClean="0">
                <a:solidFill>
                  <a:srgbClr val="000000"/>
                </a:solidFill>
                <a:latin typeface="宋体" panose="02010600030101010101" pitchFamily="2" charset="-122"/>
                <a:ea typeface="宋体" panose="02010600030101010101" pitchFamily="2" charset="-122"/>
              </a:rPr>
              <a:t>原理</a:t>
            </a:r>
            <a:r>
              <a:rPr lang="zh-CN" altLang="en-US" sz="6600" b="1" dirty="0">
                <a:solidFill>
                  <a:srgbClr val="000000"/>
                </a:solidFill>
                <a:latin typeface="宋体" panose="02010600030101010101" pitchFamily="2" charset="-122"/>
                <a:ea typeface="宋体" panose="02010600030101010101" pitchFamily="2" charset="-122"/>
              </a:rPr>
              <a:t>及</a:t>
            </a:r>
            <a:r>
              <a:rPr lang="zh-CN" altLang="en-US" sz="6600" b="1" dirty="0" smtClean="0">
                <a:solidFill>
                  <a:srgbClr val="000000"/>
                </a:solidFill>
                <a:latin typeface="宋体" panose="02010600030101010101" pitchFamily="2" charset="-122"/>
                <a:ea typeface="宋体" panose="02010600030101010101" pitchFamily="2" charset="-122"/>
              </a:rPr>
              <a:t>应用</a:t>
            </a:r>
            <a:r>
              <a:rPr lang="en-US" altLang="zh-CN" sz="6600" b="1" dirty="0">
                <a:solidFill>
                  <a:srgbClr val="000000"/>
                </a:solidFill>
                <a:latin typeface="宋体" panose="02010600030101010101" pitchFamily="2" charset="-122"/>
                <a:ea typeface="宋体" panose="02010600030101010101" pitchFamily="2" charset="-122"/>
              </a:rPr>
              <a:t/>
            </a:r>
            <a:br>
              <a:rPr lang="en-US" altLang="zh-CN" sz="6600" b="1" dirty="0">
                <a:solidFill>
                  <a:srgbClr val="000000"/>
                </a:solidFill>
                <a:latin typeface="宋体" panose="02010600030101010101" pitchFamily="2" charset="-122"/>
                <a:ea typeface="宋体" panose="02010600030101010101" pitchFamily="2" charset="-122"/>
              </a:rPr>
            </a:br>
            <a:r>
              <a:rPr lang="zh-CN" altLang="en-US" sz="6600" b="1" dirty="0">
                <a:solidFill>
                  <a:srgbClr val="000000"/>
                </a:solidFill>
                <a:latin typeface="宋体" panose="02010600030101010101" pitchFamily="2" charset="-122"/>
                <a:ea typeface="宋体" panose="02010600030101010101" pitchFamily="2" charset="-122"/>
              </a:rPr>
              <a:t>（第</a:t>
            </a:r>
            <a:r>
              <a:rPr lang="en-US" altLang="zh-CN" sz="6600" b="1" dirty="0">
                <a:solidFill>
                  <a:srgbClr val="000000"/>
                </a:solidFill>
                <a:latin typeface="宋体" panose="02010600030101010101" pitchFamily="2" charset="-122"/>
                <a:ea typeface="宋体" panose="02010600030101010101" pitchFamily="2" charset="-122"/>
              </a:rPr>
              <a:t>3</a:t>
            </a:r>
            <a:r>
              <a:rPr lang="zh-CN" altLang="en-US" sz="6600" b="1" dirty="0">
                <a:solidFill>
                  <a:srgbClr val="000000"/>
                </a:solidFill>
                <a:latin typeface="宋体" panose="02010600030101010101" pitchFamily="2" charset="-122"/>
                <a:ea typeface="宋体" panose="02010600030101010101" pitchFamily="2" charset="-122"/>
              </a:rPr>
              <a:t>版）</a:t>
            </a:r>
            <a:endParaRPr lang="en-US" altLang="zh-CN" sz="6600" b="1" dirty="0">
              <a:solidFill>
                <a:srgbClr val="000000"/>
              </a:solidFill>
              <a:latin typeface="宋体" panose="02010600030101010101" pitchFamily="2" charset="-122"/>
              <a:ea typeface="宋体" panose="02010600030101010101" pitchFamily="2" charset="-122"/>
            </a:endParaRPr>
          </a:p>
        </p:txBody>
      </p:sp>
      <p:sp>
        <p:nvSpPr>
          <p:cNvPr id="9219" name="Rectangle 6"/>
          <p:cNvSpPr>
            <a:spLocks noGrp="1"/>
          </p:cNvSpPr>
          <p:nvPr>
            <p:ph type="subTitle" idx="1"/>
          </p:nvPr>
        </p:nvSpPr>
        <p:spPr/>
        <p:txBody>
          <a:bodyPr vert="horz" wrap="square" lIns="91440" tIns="45720" rIns="91440" bIns="45720" anchor="t" anchorCtr="0"/>
          <a:lstStyle/>
          <a:p>
            <a:pPr eaLnBrk="1" hangingPunct="1">
              <a:lnSpc>
                <a:spcPct val="90000"/>
              </a:lnSpc>
              <a:buSzTx/>
            </a:pPr>
            <a:r>
              <a:rPr lang="zh-CN" altLang="en-US" sz="2800" dirty="0">
                <a:latin typeface="楷体_GB2312" panose="02010609030101010101" pitchFamily="49" charset="-122"/>
                <a:ea typeface="楷体_GB2312" panose="02010609030101010101" pitchFamily="49" charset="-122"/>
                <a:cs typeface="+mn-cs"/>
              </a:rPr>
              <a:t>人民邮电出版社</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381000" y="152400"/>
            <a:ext cx="7362190" cy="685800"/>
          </a:xfrm>
        </p:spPr>
        <p:txBody>
          <a:bodyPr vert="horz" wrap="square" lIns="91440" tIns="45720" rIns="91440" bIns="45720" anchor="ctr" anchorCtr="0"/>
          <a:lstStyle/>
          <a:p>
            <a:pPr eaLnBrk="1" hangingPunct="1"/>
            <a:r>
              <a:rPr lang="zh-CN" altLang="en-US" sz="4000" dirty="0">
                <a:latin typeface="黑体" panose="02010609060101010101" pitchFamily="2" charset="-122"/>
                <a:ea typeface="黑体" panose="02010609060101010101" pitchFamily="2" charset="-122"/>
                <a:cs typeface="黑体" panose="02010609060101010101" pitchFamily="2" charset="-122"/>
              </a:rPr>
              <a:t>第</a:t>
            </a:r>
            <a:r>
              <a:rPr lang="en-US" altLang="zh-CN" sz="4000" dirty="0">
                <a:latin typeface="黑体" panose="02010609060101010101" pitchFamily="2" charset="-122"/>
                <a:ea typeface="黑体" panose="02010609060101010101" pitchFamily="2" charset="-122"/>
                <a:cs typeface="黑体" panose="02010609060101010101" pitchFamily="2" charset="-122"/>
              </a:rPr>
              <a:t>6</a:t>
            </a:r>
            <a:r>
              <a:rPr lang="zh-CN" altLang="en-US" sz="4000" dirty="0">
                <a:latin typeface="黑体" panose="02010609060101010101" pitchFamily="2" charset="-122"/>
                <a:ea typeface="黑体" panose="02010609060101010101" pitchFamily="2" charset="-122"/>
                <a:cs typeface="黑体" panose="02010609060101010101" pitchFamily="2" charset="-122"/>
              </a:rPr>
              <a:t>章 </a:t>
            </a:r>
            <a:r>
              <a:rPr lang="zh-CN" altLang="en-US" sz="4000" dirty="0" smtClean="0">
                <a:latin typeface="黑体" panose="02010609060101010101" pitchFamily="2" charset="-122"/>
                <a:ea typeface="黑体" panose="02010609060101010101" pitchFamily="2" charset="-122"/>
                <a:cs typeface="黑体" panose="02010609060101010101" pitchFamily="2" charset="-122"/>
              </a:rPr>
              <a:t>关系数据库理论</a:t>
            </a:r>
            <a:endParaRPr lang="zh-CN" altLang="en-US" sz="4000" dirty="0">
              <a:latin typeface="黑体" panose="02010609060101010101" pitchFamily="2" charset="-122"/>
              <a:ea typeface="黑体" panose="02010609060101010101" pitchFamily="2" charset="-122"/>
              <a:cs typeface="黑体" panose="02010609060101010101" pitchFamily="2" charset="-122"/>
            </a:endParaRPr>
          </a:p>
        </p:txBody>
      </p:sp>
      <p:sp>
        <p:nvSpPr>
          <p:cNvPr id="10243" name="Rectangle 3"/>
          <p:cNvSpPr>
            <a:spLocks noGrp="1"/>
          </p:cNvSpPr>
          <p:nvPr>
            <p:ph type="body" sz="half" idx="1"/>
          </p:nvPr>
        </p:nvSpPr>
        <p:spPr>
          <a:xfrm>
            <a:off x="1907704" y="2060848"/>
            <a:ext cx="4176464" cy="1800101"/>
          </a:xfrm>
        </p:spPr>
        <p:txBody>
          <a:bodyPr vert="horz" wrap="square" lIns="91440" tIns="45720" rIns="91440" bIns="45720" anchor="t" anchorCtr="0"/>
          <a:lstStyle/>
          <a:p>
            <a:pPr eaLnBrk="1" hangingPunct="1">
              <a:buClr>
                <a:schemeClr val="tx1"/>
              </a:buClr>
              <a:buSzTx/>
              <a:buFont typeface="Wingdings" panose="05000000000000000000" pitchFamily="2" charset="2"/>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6.1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函数依赖</a:t>
            </a:r>
          </a:p>
          <a:p>
            <a:pPr eaLnBrk="1" hangingPunct="1">
              <a:spcBef>
                <a:spcPts val="3600"/>
              </a:spcBef>
              <a:buClr>
                <a:schemeClr val="tx1"/>
              </a:buClr>
              <a:buSzTx/>
              <a:buFont typeface="Wingdings" panose="05000000000000000000" pitchFamily="2" charset="2"/>
            </a:pP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6.2 </a:t>
            </a: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关系规范化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dirty="0" smtClean="0"/>
              <a:t>数据库设计</a:t>
            </a:r>
          </a:p>
        </p:txBody>
      </p:sp>
      <p:sp>
        <p:nvSpPr>
          <p:cNvPr id="8195" name="内容占位符 2"/>
          <p:cNvSpPr>
            <a:spLocks noGrp="1"/>
          </p:cNvSpPr>
          <p:nvPr>
            <p:ph idx="1"/>
          </p:nvPr>
        </p:nvSpPr>
        <p:spPr>
          <a:xfrm>
            <a:off x="352091" y="1700808"/>
            <a:ext cx="8568952" cy="1584176"/>
          </a:xfrm>
        </p:spPr>
        <p:txBody>
          <a:bodyPr/>
          <a:lstStyle/>
          <a:p>
            <a:pPr>
              <a:defRPr/>
            </a:pPr>
            <a:r>
              <a:rPr lang="zh-CN" altLang="zh-CN" sz="3000" i="1" u="sng" dirty="0" smtClean="0">
                <a:solidFill>
                  <a:srgbClr val="FF0000"/>
                </a:solidFill>
                <a:latin typeface="宋体" panose="02010600030101010101" pitchFamily="2" charset="-122"/>
                <a:ea typeface="宋体" panose="02010600030101010101" pitchFamily="2" charset="-122"/>
                <a:cs typeface="宋体" panose="02010600030101010101" pitchFamily="2" charset="-122"/>
              </a:rPr>
              <a:t>数据库设计</a:t>
            </a:r>
            <a:r>
              <a:rPr lang="en-US" altLang="zh-CN" sz="3000" i="1" u="sng" dirty="0" smtClean="0">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zh-CN" sz="3000" dirty="0" smtClean="0">
                <a:latin typeface="宋体" panose="02010600030101010101" pitchFamily="2" charset="-122"/>
                <a:ea typeface="宋体" panose="02010600030101010101" pitchFamily="2" charset="-122"/>
                <a:cs typeface="宋体" panose="02010600030101010101" pitchFamily="2" charset="-122"/>
              </a:rPr>
              <a:t>是数据库应用领域中的主要研究课题，其</a:t>
            </a:r>
            <a:r>
              <a:rPr lang="zh-CN" altLang="en-US" sz="3000" dirty="0" smtClean="0">
                <a:latin typeface="宋体" panose="02010600030101010101" pitchFamily="2" charset="-122"/>
                <a:ea typeface="宋体" panose="02010600030101010101" pitchFamily="2" charset="-122"/>
                <a:cs typeface="宋体" panose="02010600030101010101" pitchFamily="2" charset="-122"/>
              </a:rPr>
              <a:t>主要</a:t>
            </a:r>
            <a:r>
              <a:rPr lang="zh-CN" altLang="zh-CN" sz="3000" dirty="0" smtClean="0">
                <a:latin typeface="宋体" panose="02010600030101010101" pitchFamily="2" charset="-122"/>
                <a:ea typeface="宋体" panose="02010600030101010101" pitchFamily="2" charset="-122"/>
                <a:cs typeface="宋体" panose="02010600030101010101" pitchFamily="2" charset="-122"/>
              </a:rPr>
              <a:t>任务是创建</a:t>
            </a:r>
            <a:r>
              <a:rPr lang="zh-CN" altLang="zh-CN" sz="3000" dirty="0" smtClean="0">
                <a:solidFill>
                  <a:srgbClr val="0000CC"/>
                </a:solidFill>
                <a:latin typeface="宋体" panose="02010600030101010101" pitchFamily="2" charset="-122"/>
                <a:ea typeface="宋体" panose="02010600030101010101" pitchFamily="2" charset="-122"/>
                <a:cs typeface="宋体" panose="02010600030101010101" pitchFamily="2" charset="-122"/>
              </a:rPr>
              <a:t>满足用户需求</a:t>
            </a:r>
            <a:r>
              <a:rPr lang="zh-CN" altLang="zh-CN" sz="3000" dirty="0" smtClean="0">
                <a:latin typeface="宋体" panose="02010600030101010101" pitchFamily="2" charset="-122"/>
                <a:ea typeface="宋体" panose="02010600030101010101" pitchFamily="2" charset="-122"/>
                <a:cs typeface="宋体" panose="02010600030101010101" pitchFamily="2" charset="-122"/>
              </a:rPr>
              <a:t>且</a:t>
            </a:r>
            <a:r>
              <a:rPr lang="zh-CN" altLang="zh-CN" sz="3000" dirty="0" smtClean="0">
                <a:solidFill>
                  <a:srgbClr val="0000CC"/>
                </a:solidFill>
                <a:latin typeface="宋体" panose="02010600030101010101" pitchFamily="2" charset="-122"/>
                <a:ea typeface="宋体" panose="02010600030101010101" pitchFamily="2" charset="-122"/>
                <a:cs typeface="宋体" panose="02010600030101010101" pitchFamily="2" charset="-122"/>
              </a:rPr>
              <a:t>性能良好</a:t>
            </a:r>
            <a:r>
              <a:rPr lang="zh-CN" altLang="zh-CN" sz="3000" dirty="0" smtClean="0">
                <a:latin typeface="宋体" panose="02010600030101010101" pitchFamily="2" charset="-122"/>
                <a:ea typeface="宋体" panose="02010600030101010101" pitchFamily="2" charset="-122"/>
                <a:cs typeface="宋体" panose="02010600030101010101" pitchFamily="2" charset="-122"/>
              </a:rPr>
              <a:t>的数据库模式。</a:t>
            </a:r>
          </a:p>
        </p:txBody>
      </p:sp>
      <p:sp>
        <p:nvSpPr>
          <p:cNvPr id="4" name="内容占位符 2"/>
          <p:cNvSpPr txBox="1"/>
          <p:nvPr/>
        </p:nvSpPr>
        <p:spPr>
          <a:xfrm>
            <a:off x="424136" y="3808521"/>
            <a:ext cx="8424862" cy="1665585"/>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defRPr/>
            </a:pPr>
            <a:r>
              <a:rPr lang="zh-CN" altLang="en-US" sz="3200" dirty="0" smtClean="0">
                <a:latin typeface="宋体" panose="02010600030101010101" pitchFamily="2" charset="-122"/>
                <a:ea typeface="宋体" panose="02010600030101010101" pitchFamily="2" charset="-122"/>
                <a:cs typeface="宋体" panose="02010600030101010101" pitchFamily="2" charset="-122"/>
              </a:rPr>
              <a:t>如何构造</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一个合适的数据库模式</a:t>
            </a:r>
            <a:r>
              <a:rPr lang="en-US" altLang="zh-CN" sz="3200" dirty="0" smtClean="0">
                <a:latin typeface="宋体" panose="02010600030101010101" pitchFamily="2" charset="-122"/>
                <a:ea typeface="宋体" panose="02010600030101010101" pitchFamily="2" charset="-122"/>
                <a:cs typeface="宋体" panose="02010600030101010101" pitchFamily="2" charset="-122"/>
                <a:sym typeface="Wingdings" panose="05000000000000000000" pitchFamily="2" charset="2"/>
              </a:rPr>
              <a:t></a:t>
            </a:r>
          </a:p>
          <a:p>
            <a:pPr marL="0" indent="0">
              <a:buFontTx/>
              <a:buNone/>
              <a:defRPr/>
            </a:pPr>
            <a:r>
              <a:rPr lang="en-US" altLang="zh-CN" sz="3200" dirty="0" smtClean="0">
                <a:latin typeface="宋体" panose="02010600030101010101" pitchFamily="2" charset="-122"/>
                <a:ea typeface="宋体" panose="02010600030101010101" pitchFamily="2" charset="-122"/>
                <a:cs typeface="宋体" panose="02010600030101010101" pitchFamily="2" charset="-122"/>
                <a:sym typeface="Wingdings" panose="05000000000000000000" pitchFamily="2" charset="2"/>
              </a:rPr>
              <a:t>    1.</a:t>
            </a:r>
            <a:r>
              <a:rPr lang="zh-CN" altLang="en-US" sz="3200" dirty="0" smtClean="0">
                <a:latin typeface="宋体" panose="02010600030101010101" pitchFamily="2" charset="-122"/>
                <a:ea typeface="宋体" panose="02010600030101010101" pitchFamily="2" charset="-122"/>
                <a:cs typeface="宋体" panose="02010600030101010101" pitchFamily="2" charset="-122"/>
              </a:rPr>
              <a:t>应构造</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几个关系模式</a:t>
            </a:r>
            <a:endParaRPr lang="en-US" altLang="zh-CN" sz="3200" dirty="0" smtClean="0">
              <a:latin typeface="宋体" panose="02010600030101010101" pitchFamily="2" charset="-122"/>
              <a:ea typeface="宋体" panose="02010600030101010101" pitchFamily="2" charset="-122"/>
              <a:cs typeface="宋体" panose="02010600030101010101" pitchFamily="2" charset="-122"/>
            </a:endParaRPr>
          </a:p>
          <a:p>
            <a:pPr marL="0" indent="0">
              <a:buFontTx/>
              <a:buNone/>
              <a:defRPr/>
            </a:pPr>
            <a:r>
              <a:rPr lang="en-US" altLang="zh-CN" sz="3200" dirty="0" smtClean="0">
                <a:latin typeface="宋体" panose="02010600030101010101" pitchFamily="2" charset="-122"/>
                <a:ea typeface="宋体" panose="02010600030101010101" pitchFamily="2" charset="-122"/>
                <a:cs typeface="宋体" panose="02010600030101010101" pitchFamily="2" charset="-122"/>
              </a:rPr>
              <a:t>    2.</a:t>
            </a:r>
            <a:r>
              <a:rPr lang="zh-CN" altLang="en-US" sz="3200" dirty="0" smtClean="0">
                <a:latin typeface="宋体" panose="02010600030101010101" pitchFamily="2" charset="-122"/>
                <a:ea typeface="宋体" panose="02010600030101010101" pitchFamily="2" charset="-122"/>
                <a:cs typeface="宋体" panose="02010600030101010101" pitchFamily="2" charset="-122"/>
              </a:rPr>
              <a:t>每个关系模式由哪些</a:t>
            </a:r>
            <a:r>
              <a:rPr lang="zh-CN" altLang="en-US" sz="32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属性</a:t>
            </a:r>
            <a:r>
              <a:rPr lang="zh-CN" altLang="en-US" sz="3200" dirty="0" smtClean="0">
                <a:latin typeface="宋体" panose="02010600030101010101" pitchFamily="2" charset="-122"/>
                <a:ea typeface="宋体" panose="02010600030101010101" pitchFamily="2" charset="-122"/>
                <a:cs typeface="宋体" panose="02010600030101010101" pitchFamily="2" charset="-122"/>
              </a:rPr>
              <a:t>组成 </a:t>
            </a:r>
            <a:endParaRPr lang="zh-CN" altLang="zh-CN" sz="3200" dirty="0" smtClean="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1"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sz="4000" dirty="0" smtClean="0"/>
              <a:t>关系数据库规范化理论</a:t>
            </a:r>
          </a:p>
        </p:txBody>
      </p:sp>
      <p:sp>
        <p:nvSpPr>
          <p:cNvPr id="9219" name="内容占位符 2"/>
          <p:cNvSpPr>
            <a:spLocks noGrp="1"/>
          </p:cNvSpPr>
          <p:nvPr>
            <p:ph idx="1"/>
          </p:nvPr>
        </p:nvSpPr>
        <p:spPr>
          <a:xfrm>
            <a:off x="683568" y="1340769"/>
            <a:ext cx="8001000" cy="1872208"/>
          </a:xfrm>
        </p:spPr>
        <p:txBody>
          <a:bodyPr/>
          <a:lstStyle/>
          <a:p>
            <a:pPr marL="0" indent="0" algn="just">
              <a:lnSpc>
                <a:spcPct val="110000"/>
              </a:lnSpc>
              <a:buFontTx/>
              <a:buNone/>
              <a:defRPr/>
            </a:pPr>
            <a:endParaRPr lang="zh-CN" altLang="en-US" sz="3400" dirty="0" smtClean="0">
              <a:latin typeface="宋体" panose="02010600030101010101" pitchFamily="2" charset="-122"/>
              <a:ea typeface="宋体" panose="02010600030101010101" pitchFamily="2" charset="-122"/>
            </a:endParaRPr>
          </a:p>
          <a:p>
            <a:pPr algn="just">
              <a:lnSpc>
                <a:spcPct val="110000"/>
              </a:lnSpc>
              <a:defRPr/>
            </a:pPr>
            <a:r>
              <a:rPr lang="zh-CN" altLang="zh-CN" sz="3600" dirty="0" smtClean="0">
                <a:latin typeface="宋体" panose="02010600030101010101" pitchFamily="2" charset="-122"/>
                <a:ea typeface="宋体" panose="02010600030101010101" pitchFamily="2" charset="-122"/>
              </a:rPr>
              <a:t>关系数据库</a:t>
            </a:r>
            <a:r>
              <a:rPr lang="zh-CN" altLang="zh-CN" sz="3600" dirty="0">
                <a:solidFill>
                  <a:srgbClr val="FF0000"/>
                </a:solidFill>
                <a:latin typeface="宋体" panose="02010600030101010101" pitchFamily="2" charset="-122"/>
                <a:ea typeface="宋体" panose="02010600030101010101" pitchFamily="2" charset="-122"/>
              </a:rPr>
              <a:t>规范化理论</a:t>
            </a:r>
            <a:r>
              <a:rPr lang="zh-CN" altLang="zh-CN" sz="3600" dirty="0">
                <a:latin typeface="宋体" panose="02010600030101010101" pitchFamily="2" charset="-122"/>
                <a:ea typeface="宋体" panose="02010600030101010101" pitchFamily="2" charset="-122"/>
              </a:rPr>
              <a:t>是</a:t>
            </a:r>
            <a:r>
              <a:rPr lang="zh-CN" altLang="en-US" sz="3600" dirty="0">
                <a:latin typeface="宋体" panose="02010600030101010101" pitchFamily="2" charset="-122"/>
                <a:ea typeface="宋体" panose="02010600030101010101" pitchFamily="2" charset="-122"/>
              </a:rPr>
              <a:t>指导</a:t>
            </a:r>
            <a:r>
              <a:rPr lang="zh-CN" altLang="zh-CN" sz="3600" dirty="0">
                <a:latin typeface="宋体" panose="02010600030101010101" pitchFamily="2" charset="-122"/>
                <a:ea typeface="宋体" panose="02010600030101010101" pitchFamily="2" charset="-122"/>
              </a:rPr>
              <a:t>数据库设计的一个理论指南</a:t>
            </a:r>
            <a:r>
              <a:rPr lang="zh-CN" altLang="en-US" sz="3600" dirty="0">
                <a:latin typeface="宋体" panose="02010600030101010101" pitchFamily="2" charset="-122"/>
                <a:ea typeface="宋体" panose="02010600030101010101" pitchFamily="2" charset="-122"/>
              </a:rPr>
              <a:t>。</a:t>
            </a:r>
          </a:p>
          <a:p>
            <a:pPr algn="just">
              <a:lnSpc>
                <a:spcPct val="110000"/>
              </a:lnSpc>
              <a:defRPr/>
            </a:pPr>
            <a:endParaRPr lang="zh-CN" altLang="en-US" sz="3400" dirty="0" smtClean="0">
              <a:latin typeface="宋体" panose="02010600030101010101" pitchFamily="2" charset="-122"/>
              <a:ea typeface="宋体" panose="02010600030101010101" pitchFamily="2" charset="-122"/>
            </a:endParaRPr>
          </a:p>
        </p:txBody>
      </p:sp>
      <p:sp>
        <p:nvSpPr>
          <p:cNvPr id="2" name="矩形 1"/>
          <p:cNvSpPr/>
          <p:nvPr/>
        </p:nvSpPr>
        <p:spPr>
          <a:xfrm>
            <a:off x="2576947" y="3752166"/>
            <a:ext cx="1806905" cy="646331"/>
          </a:xfrm>
          <a:prstGeom prst="rect">
            <a:avLst/>
          </a:prstGeom>
        </p:spPr>
        <p:txBody>
          <a:bodyPr wrap="none">
            <a:spAutoFit/>
          </a:bodyPr>
          <a:lstStyle/>
          <a:p>
            <a:r>
              <a:rPr lang="en-US" altLang="zh-CN" b="1" dirty="0" smtClean="0">
                <a:solidFill>
                  <a:srgbClr val="000000"/>
                </a:solidFill>
                <a:latin typeface="宋体" panose="02010600030101010101" pitchFamily="2" charset="-122"/>
                <a:ea typeface="宋体" panose="02010600030101010101" pitchFamily="2" charset="-122"/>
              </a:rPr>
              <a:t>1</a:t>
            </a:r>
            <a:r>
              <a:rPr lang="zh-CN" altLang="en-US" b="1" dirty="0" smtClean="0">
                <a:solidFill>
                  <a:srgbClr val="000000"/>
                </a:solidFill>
                <a:latin typeface="宋体" panose="02010600030101010101" pitchFamily="2" charset="-122"/>
                <a:ea typeface="宋体" panose="02010600030101010101" pitchFamily="2" charset="-122"/>
              </a:rPr>
              <a:t>、定级</a:t>
            </a:r>
            <a:endParaRPr lang="zh-CN" altLang="en-US" b="1" dirty="0">
              <a:solidFill>
                <a:srgbClr val="000000"/>
              </a:solidFill>
              <a:latin typeface="宋体" panose="02010600030101010101" pitchFamily="2" charset="-122"/>
              <a:ea typeface="宋体" panose="02010600030101010101" pitchFamily="2" charset="-122"/>
            </a:endParaRPr>
          </a:p>
        </p:txBody>
      </p:sp>
      <p:sp>
        <p:nvSpPr>
          <p:cNvPr id="3" name="矩形 2"/>
          <p:cNvSpPr/>
          <p:nvPr/>
        </p:nvSpPr>
        <p:spPr>
          <a:xfrm>
            <a:off x="2576947" y="4398497"/>
            <a:ext cx="1806905" cy="646331"/>
          </a:xfrm>
          <a:prstGeom prst="rect">
            <a:avLst/>
          </a:prstGeom>
        </p:spPr>
        <p:txBody>
          <a:bodyPr wrap="none">
            <a:spAutoFit/>
          </a:bodyPr>
          <a:lstStyle/>
          <a:p>
            <a:r>
              <a:rPr lang="en-US" altLang="zh-CN" b="1" dirty="0" smtClean="0">
                <a:solidFill>
                  <a:srgbClr val="000000"/>
                </a:solidFill>
                <a:latin typeface="宋体" panose="02010600030101010101" pitchFamily="2" charset="-122"/>
                <a:ea typeface="宋体" panose="02010600030101010101" pitchFamily="2" charset="-122"/>
              </a:rPr>
              <a:t>2</a:t>
            </a:r>
            <a:r>
              <a:rPr lang="zh-CN" altLang="en-US" b="1" dirty="0" smtClean="0">
                <a:solidFill>
                  <a:srgbClr val="000000"/>
                </a:solidFill>
                <a:latin typeface="宋体" panose="02010600030101010101" pitchFamily="2" charset="-122"/>
                <a:ea typeface="宋体" panose="02010600030101010101" pitchFamily="2" charset="-122"/>
              </a:rPr>
              <a:t>、升级</a:t>
            </a:r>
            <a:endParaRPr lang="zh-CN" altLang="en-US" b="1" dirty="0">
              <a:solidFill>
                <a:srgbClr val="00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Autofit/>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 函数依赖</a:t>
            </a:r>
          </a:p>
        </p:txBody>
      </p:sp>
      <p:sp>
        <p:nvSpPr>
          <p:cNvPr id="13315" name="内容占位符 2"/>
          <p:cNvSpPr>
            <a:spLocks noGrp="1"/>
          </p:cNvSpPr>
          <p:nvPr>
            <p:ph idx="1"/>
          </p:nvPr>
        </p:nvSpPr>
        <p:spPr/>
        <p:txBody>
          <a:bodyPr vert="horz" wrap="square" lIns="91440" tIns="45720" rIns="91440" bIns="45720" anchor="t" anchorCtr="0"/>
          <a:lstStyle/>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6.1.1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基本</a:t>
            </a:r>
            <a:r>
              <a:rPr lang="zh-CN" altLang="en-US" dirty="0">
                <a:latin typeface="Times New Roman" panose="02020603050405020304" pitchFamily="18" charset="0"/>
                <a:ea typeface="宋体" panose="02010600030101010101" pitchFamily="2" charset="-122"/>
                <a:cs typeface="Times New Roman" panose="02020603050405020304" pitchFamily="18" charset="0"/>
              </a:rPr>
              <a:t>概念</a:t>
            </a:r>
          </a:p>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6.1.2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一些</a:t>
            </a:r>
            <a:r>
              <a:rPr lang="zh-CN" altLang="en-US" dirty="0">
                <a:latin typeface="Times New Roman" panose="02020603050405020304" pitchFamily="18" charset="0"/>
                <a:ea typeface="宋体" panose="02010600030101010101" pitchFamily="2" charset="-122"/>
                <a:cs typeface="Times New Roman" panose="02020603050405020304" pitchFamily="18" charset="0"/>
              </a:rPr>
              <a:t>术语和符号</a:t>
            </a:r>
          </a:p>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6.1.3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函数依赖</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的推理规则</a:t>
            </a:r>
          </a:p>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6.1.4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属性</a:t>
            </a:r>
            <a:r>
              <a:rPr lang="zh-CN" altLang="en-US" dirty="0">
                <a:latin typeface="Times New Roman" panose="02020603050405020304" pitchFamily="18" charset="0"/>
                <a:ea typeface="宋体" panose="02010600030101010101" pitchFamily="2" charset="-122"/>
                <a:cs typeface="Times New Roman" panose="02020603050405020304" pitchFamily="18" charset="0"/>
              </a:rPr>
              <a:t>集闭包及候选码的求解方法</a:t>
            </a:r>
          </a:p>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6.1.5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极</a:t>
            </a:r>
            <a:r>
              <a:rPr lang="zh-CN" altLang="en-US" dirty="0">
                <a:latin typeface="Times New Roman" panose="02020603050405020304" pitchFamily="18" charset="0"/>
                <a:ea typeface="宋体" panose="02010600030101010101" pitchFamily="2" charset="-122"/>
                <a:cs typeface="Times New Roman" panose="02020603050405020304" pitchFamily="18" charset="0"/>
              </a:rPr>
              <a:t>小函数依赖集</a:t>
            </a:r>
          </a:p>
          <a:p>
            <a:pPr eaLnBrk="1" hangingPunct="1">
              <a:spcBef>
                <a:spcPts val="12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6.1.6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为什么</a:t>
            </a:r>
            <a:r>
              <a:rPr lang="zh-CN" altLang="en-US" dirty="0">
                <a:latin typeface="Times New Roman" panose="02020603050405020304" pitchFamily="18" charset="0"/>
                <a:ea typeface="宋体" panose="02010600030101010101" pitchFamily="2" charset="-122"/>
                <a:cs typeface="Times New Roman" panose="02020603050405020304" pitchFamily="18" charset="0"/>
              </a:rPr>
              <a:t>要讨论函数依赖</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400258" y="1774057"/>
            <a:ext cx="1114276" cy="504056"/>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y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x</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38"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6.1.1 基本概念 </a:t>
            </a:r>
          </a:p>
        </p:txBody>
      </p:sp>
      <p:sp>
        <p:nvSpPr>
          <p:cNvPr id="4" name="Rectangle 3"/>
          <p:cNvSpPr txBox="1">
            <a:spLocks noChangeArrowheads="1"/>
          </p:cNvSpPr>
          <p:nvPr/>
        </p:nvSpPr>
        <p:spPr>
          <a:xfrm>
            <a:off x="251520" y="1340769"/>
            <a:ext cx="8610600" cy="432048"/>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函数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y=f(x)   </a:t>
            </a:r>
          </a:p>
          <a:p>
            <a:pPr>
              <a:spcBef>
                <a:spcPts val="200"/>
              </a:spcBef>
              <a:buFontTx/>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 name="Rectangle 3"/>
          <p:cNvSpPr txBox="1">
            <a:spLocks noChangeArrowheads="1"/>
          </p:cNvSpPr>
          <p:nvPr/>
        </p:nvSpPr>
        <p:spPr>
          <a:xfrm>
            <a:off x="395536" y="1772817"/>
            <a:ext cx="2006116" cy="504055"/>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y=x</a:t>
            </a:r>
            <a:r>
              <a:rPr lang="en-US" altLang="zh-CN" sz="2800" baseline="30000" dirty="0" smtClean="0">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p>
        </p:txBody>
      </p:sp>
      <p:cxnSp>
        <p:nvCxnSpPr>
          <p:cNvPr id="7" name="直接连接符 6"/>
          <p:cNvCxnSpPr/>
          <p:nvPr/>
        </p:nvCxnSpPr>
        <p:spPr bwMode="auto">
          <a:xfrm flipH="1">
            <a:off x="3707904" y="1916831"/>
            <a:ext cx="360040" cy="216025"/>
          </a:xfrm>
          <a:prstGeom prst="line">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Rectangle 3"/>
          <p:cNvSpPr txBox="1">
            <a:spLocks noChangeArrowheads="1"/>
          </p:cNvSpPr>
          <p:nvPr/>
        </p:nvSpPr>
        <p:spPr>
          <a:xfrm>
            <a:off x="2401652" y="1772816"/>
            <a:ext cx="1126232" cy="504056"/>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Rectangle 3"/>
          <p:cNvSpPr txBox="1">
            <a:spLocks noChangeArrowheads="1"/>
          </p:cNvSpPr>
          <p:nvPr/>
        </p:nvSpPr>
        <p:spPr>
          <a:xfrm>
            <a:off x="406128" y="2281809"/>
            <a:ext cx="8610600" cy="1075183"/>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spcBef>
                <a:spcPts val="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y=x</a:t>
            </a:r>
            <a:r>
              <a:rPr lang="en-US" altLang="zh-CN" sz="2800" baseline="30000" dirty="0" smtClean="0">
                <a:latin typeface="Times New Roman" panose="02020603050405020304" pitchFamily="18" charset="0"/>
                <a:ea typeface="宋体" panose="02010600030101010101" pitchFamily="2" charset="-122"/>
                <a:cs typeface="Times New Roman" panose="02020603050405020304" pitchFamily="18" charset="0"/>
              </a:rPr>
              <a:t>3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y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x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a:spcBef>
                <a:spcPts val="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城市</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   城市</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城市</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Rectangle 3"/>
          <p:cNvSpPr txBox="1">
            <a:spLocks noChangeArrowheads="1"/>
          </p:cNvSpPr>
          <p:nvPr/>
        </p:nvSpPr>
        <p:spPr>
          <a:xfrm>
            <a:off x="474251" y="3429000"/>
            <a:ext cx="8165138" cy="2808312"/>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spcBef>
                <a:spcPts val="200"/>
              </a:spcBef>
            </a:pPr>
            <a:r>
              <a:rPr lang="zh-CN" altLang="en-US" sz="2800" dirty="0" smtClean="0">
                <a:latin typeface="宋体" panose="02010600030101010101" pitchFamily="2" charset="-122"/>
                <a:ea typeface="宋体" panose="02010600030101010101" pitchFamily="2" charset="-122"/>
                <a:cs typeface="宋体" panose="02010600030101010101" pitchFamily="2" charset="-122"/>
              </a:rPr>
              <a:t>把</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函数决定</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，或</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函数依赖于</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表示为：</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X</a:t>
            </a:r>
            <a:r>
              <a:rPr lang="en-US"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Y</a:t>
            </a:r>
            <a:endParaRPr lang="en-US"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0" indent="0">
              <a:spcBef>
                <a:spcPts val="1800"/>
              </a:spcBef>
              <a:buNone/>
            </a:pPr>
            <a:r>
              <a:rPr lang="zh-CN" altLang="en-US" sz="2800" dirty="0" smtClean="0">
                <a:latin typeface="宋体" panose="02010600030101010101" pitchFamily="2" charset="-122"/>
                <a:ea typeface="宋体" panose="02010600030101010101" pitchFamily="2" charset="-122"/>
                <a:cs typeface="宋体" panose="02010600030101010101" pitchFamily="2" charset="-122"/>
              </a:rPr>
              <a:t>  如果有关系模式</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R</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A1</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A2</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An</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和</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为</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A1</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A2</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An</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zh-CN" altLang="en-US" sz="2800" dirty="0" smtClean="0">
                <a:latin typeface="宋体" panose="02010600030101010101" pitchFamily="2" charset="-122"/>
                <a:ea typeface="宋体" panose="02010600030101010101" pitchFamily="2" charset="-122"/>
                <a:cs typeface="宋体" panose="02010600030101010101" pitchFamily="2" charset="-122"/>
              </a:rPr>
              <a:t>的子集，则对于关系</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R</a:t>
            </a:r>
            <a:r>
              <a:rPr lang="zh-CN" altLang="en-US" sz="2800" dirty="0" smtClean="0">
                <a:latin typeface="宋体" panose="02010600030101010101" pitchFamily="2" charset="-122"/>
                <a:ea typeface="宋体" panose="02010600030101010101" pitchFamily="2" charset="-122"/>
                <a:cs typeface="宋体" panose="02010600030101010101" pitchFamily="2" charset="-122"/>
              </a:rPr>
              <a:t>中的任意一个</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值，都只有</a:t>
            </a:r>
            <a:r>
              <a:rPr lang="zh-CN" altLang="en-US" sz="2800" i="1" dirty="0" smtClean="0">
                <a:solidFill>
                  <a:srgbClr val="0000C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一个</a:t>
            </a:r>
            <a:r>
              <a:rPr lang="zh-CN" altLang="en-US" sz="2800" i="1" dirty="0" smtClean="0">
                <a:solidFill>
                  <a:srgbClr val="0000CC"/>
                </a:solidFill>
                <a:latin typeface="宋体" panose="02010600030101010101" pitchFamily="2" charset="-122"/>
                <a:ea typeface="宋体" panose="02010600030101010101" pitchFamily="2" charset="-122"/>
                <a:cs typeface="宋体" panose="02010600030101010101" pitchFamily="2" charset="-122"/>
              </a:rPr>
              <a:t> </a:t>
            </a:r>
            <a:r>
              <a:rPr lang="en-US" altLang="zh-CN" sz="2800" dirty="0" smtClean="0">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值与之对应，则称</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函数决定</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endParaRPr lang="en-US" altLang="zh-CN" sz="2800" dirty="0" smtClean="0">
              <a:latin typeface="宋体" panose="02010600030101010101" pitchFamily="2" charset="-122"/>
              <a:ea typeface="宋体" panose="02010600030101010101" pitchFamily="2" charset="-122"/>
              <a:cs typeface="宋体" panose="02010600030101010101" pitchFamily="2" charset="-122"/>
            </a:endParaRPr>
          </a:p>
          <a:p>
            <a:pPr marL="0" indent="0">
              <a:spcBef>
                <a:spcPts val="200"/>
              </a:spcBef>
              <a:buNone/>
            </a:pPr>
            <a:r>
              <a:rPr lang="zh-CN" altLang="en-US" sz="2800" dirty="0" smtClean="0">
                <a:latin typeface="宋体" panose="02010600030101010101" pitchFamily="2" charset="-122"/>
                <a:ea typeface="宋体" panose="02010600030101010101" pitchFamily="2" charset="-122"/>
                <a:cs typeface="宋体" panose="02010600030101010101" pitchFamily="2" charset="-122"/>
              </a:rPr>
              <a:t>或</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函数依赖于</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 </a:t>
            </a:r>
          </a:p>
        </p:txBody>
      </p:sp>
      <p:cxnSp>
        <p:nvCxnSpPr>
          <p:cNvPr id="12" name="直接连接符 11"/>
          <p:cNvCxnSpPr/>
          <p:nvPr/>
        </p:nvCxnSpPr>
        <p:spPr bwMode="auto">
          <a:xfrm flipH="1">
            <a:off x="5364088" y="2852936"/>
            <a:ext cx="360040" cy="216025"/>
          </a:xfrm>
          <a:prstGeom prst="line">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42"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8"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p>
        </p:txBody>
      </p:sp>
      <p:sp>
        <p:nvSpPr>
          <p:cNvPr id="15363" name="Rectangle 4"/>
          <p:cNvSpPr>
            <a:spLocks noGrp="1"/>
          </p:cNvSpPr>
          <p:nvPr>
            <p:ph idx="1"/>
          </p:nvPr>
        </p:nvSpPr>
        <p:spPr>
          <a:xfrm>
            <a:off x="530225" y="1368425"/>
            <a:ext cx="8139113" cy="1484511"/>
          </a:xfrm>
        </p:spPr>
        <p:txBody>
          <a:bodyPr vert="horz" wrap="square" lIns="91440" tIns="45720" rIns="91440" bIns="45720" anchor="t" anchorCtr="0"/>
          <a:lstStyle/>
          <a:p>
            <a:pPr marL="0" indent="0" eaLnBrk="1" hangingPunct="1">
              <a:buNone/>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例：</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对学生关系模式</a:t>
            </a:r>
          </a:p>
          <a:p>
            <a:pPr eaLnBrk="1" hangingPunct="1">
              <a:buFont typeface="Wingdings" panose="05000000000000000000" pitchFamily="2" charset="2"/>
              <a:buNone/>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Student</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Sno, SName, Sdept, Sage</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有以下依赖关系：  </a:t>
            </a:r>
          </a:p>
        </p:txBody>
      </p:sp>
      <p:sp>
        <p:nvSpPr>
          <p:cNvPr id="593925" name="Text Box 5"/>
          <p:cNvSpPr txBox="1"/>
          <p:nvPr/>
        </p:nvSpPr>
        <p:spPr>
          <a:xfrm>
            <a:off x="358465" y="2780928"/>
            <a:ext cx="6949839" cy="579438"/>
          </a:xfrm>
          <a:prstGeom prst="rect">
            <a:avLst/>
          </a:prstGeom>
          <a:noFill/>
          <a:ln w="9525">
            <a:noFill/>
          </a:ln>
        </p:spPr>
        <p:txBody>
          <a:bodyPr wrap="square">
            <a:spAutoFit/>
          </a:bodyPr>
          <a:lstStyle/>
          <a:p>
            <a:pPr algn="l">
              <a:spcBef>
                <a:spcPct val="50000"/>
              </a:spcBef>
            </a:pPr>
            <a:r>
              <a:rPr lang="en-US" altLang="zh-CN" sz="3200" b="1" dirty="0">
                <a:solidFill>
                  <a:srgbClr val="FF0000"/>
                </a:solidFill>
                <a:latin typeface="Times New Roman" panose="02020603050405020304" pitchFamily="18" charset="0"/>
                <a:ea typeface="宋体" panose="02010600030101010101" pitchFamily="2" charset="-122"/>
              </a:rPr>
              <a:t>Sno→SName, Sno→Sdept,  Sno→Sage</a:t>
            </a:r>
            <a:r>
              <a:rPr lang="en-US" altLang="zh-CN" sz="2400" b="1" dirty="0">
                <a:solidFill>
                  <a:srgbClr val="009900"/>
                </a:solidFill>
                <a:latin typeface="Times New Roman" panose="02020603050405020304" pitchFamily="18" charset="0"/>
                <a:ea typeface="宋体" panose="02010600030101010101" pitchFamily="2" charset="-122"/>
              </a:rPr>
              <a:t> </a:t>
            </a:r>
          </a:p>
        </p:txBody>
      </p:sp>
      <p:sp>
        <p:nvSpPr>
          <p:cNvPr id="593926" name="Text Box 6"/>
          <p:cNvSpPr txBox="1"/>
          <p:nvPr/>
        </p:nvSpPr>
        <p:spPr>
          <a:xfrm>
            <a:off x="611558" y="4883149"/>
            <a:ext cx="8066087" cy="579437"/>
          </a:xfrm>
          <a:prstGeom prst="rect">
            <a:avLst/>
          </a:prstGeom>
          <a:noFill/>
          <a:ln w="9525">
            <a:noFill/>
          </a:ln>
        </p:spPr>
        <p:txBody>
          <a:bodyPr>
            <a:spAutoFit/>
          </a:bodyPr>
          <a:lstStyle/>
          <a:p>
            <a:pPr algn="l">
              <a:spcBef>
                <a:spcPct val="50000"/>
              </a:spcBef>
            </a:pPr>
            <a:r>
              <a:rPr lang="zh-CN" altLang="en-US" sz="3200" dirty="0">
                <a:solidFill>
                  <a:schemeClr val="tx2"/>
                </a:solidFill>
                <a:latin typeface="Times New Roman" panose="02020603050405020304" pitchFamily="18" charset="0"/>
                <a:ea typeface="宋体" panose="02010600030101010101" pitchFamily="2" charset="-122"/>
              </a:rPr>
              <a:t> </a:t>
            </a:r>
            <a:r>
              <a:rPr lang="zh-CN" altLang="en-US" sz="3200" dirty="0" smtClean="0">
                <a:solidFill>
                  <a:schemeClr val="tx2"/>
                </a:solidFill>
                <a:latin typeface="Times New Roman" panose="02020603050405020304" pitchFamily="18" charset="0"/>
                <a:ea typeface="宋体" panose="02010600030101010101" pitchFamily="2" charset="-122"/>
              </a:rPr>
              <a:t>例： </a:t>
            </a:r>
            <a:r>
              <a:rPr lang="en-US" altLang="zh-CN" sz="3200" dirty="0">
                <a:solidFill>
                  <a:schemeClr val="tx2"/>
                </a:solidFill>
                <a:latin typeface="Times New Roman" panose="02020603050405020304" pitchFamily="18" charset="0"/>
                <a:ea typeface="宋体" panose="02010600030101010101" pitchFamily="2" charset="-122"/>
              </a:rPr>
              <a:t>SC</a:t>
            </a:r>
            <a:r>
              <a:rPr lang="zh-CN" altLang="en-US" sz="3200" dirty="0">
                <a:solidFill>
                  <a:schemeClr val="tx2"/>
                </a:solidFill>
                <a:latin typeface="Times New Roman" panose="02020603050405020304" pitchFamily="18" charset="0"/>
                <a:ea typeface="宋体" panose="02010600030101010101" pitchFamily="2" charset="-122"/>
              </a:rPr>
              <a:t>（</a:t>
            </a:r>
            <a:r>
              <a:rPr lang="en-US" altLang="zh-CN" sz="3200" dirty="0">
                <a:solidFill>
                  <a:schemeClr val="tx2"/>
                </a:solidFill>
                <a:latin typeface="Times New Roman" panose="02020603050405020304" pitchFamily="18" charset="0"/>
                <a:ea typeface="宋体" panose="02010600030101010101" pitchFamily="2" charset="-122"/>
              </a:rPr>
              <a:t>Sno, Cno, Grade</a:t>
            </a:r>
            <a:r>
              <a:rPr lang="zh-CN" altLang="en-US" sz="3200" dirty="0">
                <a:solidFill>
                  <a:schemeClr val="tx2"/>
                </a:solidFill>
                <a:latin typeface="Times New Roman" panose="02020603050405020304" pitchFamily="18" charset="0"/>
                <a:ea typeface="宋体" panose="02010600030101010101" pitchFamily="2" charset="-122"/>
              </a:rPr>
              <a:t>） </a:t>
            </a:r>
          </a:p>
        </p:txBody>
      </p:sp>
      <p:sp>
        <p:nvSpPr>
          <p:cNvPr id="593927" name="Text Box 7"/>
          <p:cNvSpPr txBox="1"/>
          <p:nvPr/>
        </p:nvSpPr>
        <p:spPr>
          <a:xfrm>
            <a:off x="1025525" y="5462586"/>
            <a:ext cx="6805612" cy="579437"/>
          </a:xfrm>
          <a:prstGeom prst="rect">
            <a:avLst/>
          </a:prstGeom>
          <a:noFill/>
          <a:ln w="9525">
            <a:noFill/>
          </a:ln>
        </p:spPr>
        <p:txBody>
          <a:bodyPr>
            <a:spAutoFit/>
          </a:bodyPr>
          <a:lstStyle/>
          <a:p>
            <a:pPr algn="l">
              <a:spcBef>
                <a:spcPct val="50000"/>
              </a:spcBef>
            </a:pP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 Cno</a:t>
            </a:r>
            <a:r>
              <a:rPr lang="zh-CN" altLang="en-US"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Grade</a:t>
            </a:r>
            <a:r>
              <a:rPr lang="en-US" altLang="zh-CN" sz="2400" dirty="0">
                <a:solidFill>
                  <a:srgbClr val="009900"/>
                </a:solidFill>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 name="Rectangle 3"/>
          <p:cNvSpPr txBox="1">
            <a:spLocks noChangeArrowheads="1"/>
          </p:cNvSpPr>
          <p:nvPr/>
        </p:nvSpPr>
        <p:spPr>
          <a:xfrm>
            <a:off x="504677" y="3420740"/>
            <a:ext cx="1331019" cy="544190"/>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err="1">
                <a:solidFill>
                  <a:srgbClr val="0000CC"/>
                </a:solidFill>
                <a:latin typeface="Times New Roman" panose="02020603050405020304" pitchFamily="18" charset="0"/>
                <a:ea typeface="宋体" panose="02010600030101010101" pitchFamily="2" charset="-122"/>
              </a:rPr>
              <a:t>s</a:t>
            </a:r>
            <a:r>
              <a:rPr lang="en-US" altLang="zh-CN" sz="2800" dirty="0" err="1" smtClean="0">
                <a:solidFill>
                  <a:srgbClr val="0000CC"/>
                </a:solidFill>
                <a:latin typeface="Times New Roman" panose="02020603050405020304" pitchFamily="18" charset="0"/>
                <a:ea typeface="宋体" panose="02010600030101010101" pitchFamily="2" charset="-122"/>
              </a:rPr>
              <a:t>no</a:t>
            </a:r>
            <a:r>
              <a:rPr lang="en-US" altLang="zh-CN" sz="2800" dirty="0" smtClean="0">
                <a:solidFill>
                  <a:srgbClr val="0000CC"/>
                </a:solidFill>
                <a:latin typeface="Times New Roman" panose="02020603050405020304" pitchFamily="18" charset="0"/>
                <a:ea typeface="宋体" panose="02010600030101010101" pitchFamily="2" charset="-122"/>
              </a:rPr>
              <a:t> → </a:t>
            </a:r>
            <a:endPar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3"/>
          <p:cNvSpPr txBox="1">
            <a:spLocks noChangeArrowheads="1"/>
          </p:cNvSpPr>
          <p:nvPr/>
        </p:nvSpPr>
        <p:spPr>
          <a:xfrm>
            <a:off x="1547664" y="3425180"/>
            <a:ext cx="792088" cy="544190"/>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err="1" smtClean="0">
                <a:solidFill>
                  <a:srgbClr val="0000CC"/>
                </a:solidFill>
                <a:latin typeface="Times New Roman" panose="02020603050405020304" pitchFamily="18" charset="0"/>
                <a:ea typeface="宋体" panose="02010600030101010101" pitchFamily="2" charset="-122"/>
              </a:rPr>
              <a:t>sno</a:t>
            </a:r>
            <a:endPar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Rectangle 3"/>
          <p:cNvSpPr txBox="1">
            <a:spLocks noChangeArrowheads="1"/>
          </p:cNvSpPr>
          <p:nvPr/>
        </p:nvSpPr>
        <p:spPr>
          <a:xfrm>
            <a:off x="2627784" y="3420739"/>
            <a:ext cx="2808312" cy="548632"/>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err="1" smtClean="0">
                <a:solidFill>
                  <a:srgbClr val="0000CC"/>
                </a:solidFill>
                <a:latin typeface="Times New Roman" panose="02020603050405020304" pitchFamily="18" charset="0"/>
                <a:ea typeface="宋体" panose="02010600030101010101" pitchFamily="2" charset="-122"/>
              </a:rPr>
              <a:t>sname</a:t>
            </a:r>
            <a:r>
              <a:rPr lang="en-US" altLang="zh-CN" sz="2800" dirty="0" smtClean="0">
                <a:solidFill>
                  <a:srgbClr val="0000CC"/>
                </a:solidFill>
                <a:latin typeface="Times New Roman" panose="02020603050405020304" pitchFamily="18" charset="0"/>
                <a:ea typeface="宋体" panose="02010600030101010101" pitchFamily="2" charset="-122"/>
              </a:rPr>
              <a:t> →</a:t>
            </a:r>
            <a:r>
              <a:rPr lang="en-US" altLang="zh-CN" sz="2800" dirty="0" err="1" smtClean="0">
                <a:solidFill>
                  <a:srgbClr val="0000CC"/>
                </a:solidFill>
                <a:latin typeface="Times New Roman" panose="02020603050405020304" pitchFamily="18" charset="0"/>
                <a:ea typeface="宋体" panose="02010600030101010101" pitchFamily="2" charset="-122"/>
              </a:rPr>
              <a:t>sname</a:t>
            </a:r>
            <a:r>
              <a:rPr lang="en-US" altLang="zh-CN" sz="2800" dirty="0" smtClean="0">
                <a:solidFill>
                  <a:srgbClr val="0000CC"/>
                </a:solidFill>
                <a:latin typeface="Times New Roman" panose="02020603050405020304" pitchFamily="18" charset="0"/>
                <a:ea typeface="宋体" panose="02010600030101010101" pitchFamily="2" charset="-122"/>
              </a:rPr>
              <a:t> </a:t>
            </a:r>
            <a:endPar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Rectangle 3"/>
          <p:cNvSpPr txBox="1">
            <a:spLocks noChangeArrowheads="1"/>
          </p:cNvSpPr>
          <p:nvPr/>
        </p:nvSpPr>
        <p:spPr>
          <a:xfrm>
            <a:off x="5508104" y="3405507"/>
            <a:ext cx="3384376" cy="1088381"/>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smtClean="0">
                <a:solidFill>
                  <a:srgbClr val="0000CC"/>
                </a:solidFill>
                <a:latin typeface="Times New Roman" panose="02020603050405020304" pitchFamily="18" charset="0"/>
                <a:ea typeface="宋体" panose="02010600030101010101" pitchFamily="2" charset="-122"/>
              </a:rPr>
              <a:t>(</a:t>
            </a:r>
            <a:r>
              <a:rPr lang="en-US" altLang="zh-CN" sz="2800" dirty="0" err="1" smtClean="0">
                <a:solidFill>
                  <a:srgbClr val="0000CC"/>
                </a:solidFill>
                <a:latin typeface="Times New Roman" panose="02020603050405020304" pitchFamily="18" charset="0"/>
                <a:ea typeface="宋体" panose="02010600030101010101" pitchFamily="2" charset="-122"/>
              </a:rPr>
              <a:t>sname</a:t>
            </a:r>
            <a:r>
              <a:rPr lang="en-US" altLang="zh-CN" sz="2800" dirty="0" smtClean="0">
                <a:solidFill>
                  <a:srgbClr val="0000CC"/>
                </a:solidFill>
                <a:latin typeface="Times New Roman" panose="02020603050405020304" pitchFamily="18" charset="0"/>
                <a:ea typeface="宋体" panose="02010600030101010101" pitchFamily="2" charset="-122"/>
              </a:rPr>
              <a:t> </a:t>
            </a:r>
            <a:r>
              <a:rPr lang="en-US" altLang="zh-CN" sz="2800" dirty="0">
                <a:solidFill>
                  <a:srgbClr val="0000CC"/>
                </a:solidFill>
                <a:latin typeface="Times New Roman" panose="02020603050405020304" pitchFamily="18" charset="0"/>
                <a:ea typeface="宋体" panose="02010600030101010101" pitchFamily="2" charset="-122"/>
              </a:rPr>
              <a:t>, </a:t>
            </a:r>
            <a:r>
              <a:rPr lang="en-US" altLang="zh-CN" sz="2800" dirty="0" smtClean="0">
                <a:solidFill>
                  <a:srgbClr val="0000CC"/>
                </a:solidFill>
                <a:latin typeface="Times New Roman" panose="02020603050405020304" pitchFamily="18" charset="0"/>
                <a:ea typeface="宋体" panose="02010600030101010101" pitchFamily="2" charset="-122"/>
              </a:rPr>
              <a:t>sage)→</a:t>
            </a:r>
            <a:r>
              <a:rPr lang="en-US" altLang="zh-CN" sz="2800" dirty="0">
                <a:solidFill>
                  <a:srgbClr val="0000CC"/>
                </a:solidFill>
                <a:latin typeface="Times New Roman" panose="02020603050405020304" pitchFamily="18" charset="0"/>
                <a:ea typeface="宋体" panose="02010600030101010101" pitchFamily="2" charset="-122"/>
              </a:rPr>
              <a:t>sage </a:t>
            </a:r>
            <a:endPar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Rectangle 3"/>
          <p:cNvSpPr txBox="1">
            <a:spLocks noChangeArrowheads="1"/>
          </p:cNvSpPr>
          <p:nvPr/>
        </p:nvSpPr>
        <p:spPr>
          <a:xfrm>
            <a:off x="754856" y="3949698"/>
            <a:ext cx="864816" cy="544190"/>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2" name="Rectangle 3"/>
          <p:cNvSpPr txBox="1">
            <a:spLocks noChangeArrowheads="1"/>
          </p:cNvSpPr>
          <p:nvPr/>
        </p:nvSpPr>
        <p:spPr>
          <a:xfrm>
            <a:off x="6097240" y="2348880"/>
            <a:ext cx="2808312" cy="548632"/>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200"/>
              </a:spcBef>
              <a:buNone/>
            </a:pPr>
            <a:r>
              <a:rPr lang="en-US" altLang="zh-CN" sz="2800" dirty="0" err="1" smtClean="0">
                <a:solidFill>
                  <a:srgbClr val="0000CC"/>
                </a:solidFill>
                <a:latin typeface="Times New Roman" panose="02020603050405020304" pitchFamily="18" charset="0"/>
                <a:ea typeface="宋体" panose="02010600030101010101" pitchFamily="2" charset="-122"/>
              </a:rPr>
              <a:t>sname</a:t>
            </a:r>
            <a:r>
              <a:rPr lang="en-US" altLang="zh-CN" sz="2800" dirty="0" smtClean="0">
                <a:solidFill>
                  <a:srgbClr val="0000CC"/>
                </a:solidFill>
                <a:latin typeface="Times New Roman" panose="02020603050405020304" pitchFamily="18" charset="0"/>
                <a:ea typeface="宋体" panose="02010600030101010101" pitchFamily="2" charset="-122"/>
              </a:rPr>
              <a:t> →</a:t>
            </a:r>
            <a:r>
              <a:rPr lang="en-US" altLang="zh-CN" sz="2800" dirty="0" err="1" smtClean="0">
                <a:solidFill>
                  <a:srgbClr val="0000CC"/>
                </a:solidFill>
                <a:latin typeface="Times New Roman" panose="02020603050405020304" pitchFamily="18" charset="0"/>
                <a:ea typeface="宋体" panose="02010600030101010101" pitchFamily="2" charset="-122"/>
              </a:rPr>
              <a:t>sdept</a:t>
            </a:r>
            <a:r>
              <a:rPr lang="en-US" altLang="zh-CN" sz="2800" dirty="0" smtClean="0">
                <a:solidFill>
                  <a:srgbClr val="0000CC"/>
                </a:solidFill>
                <a:latin typeface="Times New Roman" panose="02020603050405020304" pitchFamily="18" charset="0"/>
                <a:ea typeface="宋体" panose="02010600030101010101" pitchFamily="2" charset="-122"/>
              </a:rPr>
              <a:t> </a:t>
            </a:r>
            <a:endParaRPr lang="en-US"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 name="直接连接符 2"/>
          <p:cNvCxnSpPr/>
          <p:nvPr/>
        </p:nvCxnSpPr>
        <p:spPr bwMode="auto">
          <a:xfrm flipH="1">
            <a:off x="7236296" y="2492896"/>
            <a:ext cx="301104" cy="288032"/>
          </a:xfrm>
          <a:prstGeom prst="line">
            <a:avLst/>
          </a:prstGeom>
          <a:solidFill>
            <a:schemeClr val="accent1"/>
          </a:solidFill>
          <a:ln w="38100" cap="flat" cmpd="sng" algn="ctr">
            <a:solidFill>
              <a:srgbClr val="000000"/>
            </a:solidFill>
            <a:prstDash val="solid"/>
            <a:round/>
            <a:headEnd type="none" w="med" len="med"/>
            <a:tailEnd type="none" w="med" len="med"/>
          </a:ln>
        </p:spPr>
      </p:cxnSp>
      <p:sp>
        <p:nvSpPr>
          <p:cNvPr id="4" name="矩形 3"/>
          <p:cNvSpPr/>
          <p:nvPr/>
        </p:nvSpPr>
        <p:spPr>
          <a:xfrm>
            <a:off x="6127948" y="4077071"/>
            <a:ext cx="2339102" cy="523220"/>
          </a:xfrm>
          <a:prstGeom prst="rect">
            <a:avLst/>
          </a:prstGeom>
        </p:spPr>
        <p:txBody>
          <a:bodyPr wrap="none">
            <a:spAutoFit/>
          </a:bodyPr>
          <a:lstStyle/>
          <a:p>
            <a:r>
              <a:rPr lang="zh-CN" altLang="en-US" sz="2800" b="1" dirty="0" smtClean="0">
                <a:solidFill>
                  <a:srgbClr val="000000"/>
                </a:solidFill>
                <a:latin typeface="宋体" panose="02010600030101010101" pitchFamily="2" charset="-122"/>
                <a:ea typeface="宋体" panose="02010600030101010101" pitchFamily="2" charset="-122"/>
              </a:rPr>
              <a:t>平凡函数依赖</a:t>
            </a:r>
            <a:endParaRPr lang="zh-CN" altLang="en-US" sz="2800" b="1" dirty="0">
              <a:solidFill>
                <a:srgbClr val="000000"/>
              </a:solidFill>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93925"/>
                                        </p:tgtEl>
                                        <p:attrNameLst>
                                          <p:attrName>style.visibility</p:attrName>
                                        </p:attrNameLst>
                                      </p:cBhvr>
                                      <p:to>
                                        <p:strVal val="visible"/>
                                      </p:to>
                                    </p:set>
                                    <p:animEffect transition="in" filter="barn(outVertical)">
                                      <p:cBhvr>
                                        <p:cTn id="7" dur="500"/>
                                        <p:tgtEl>
                                          <p:spTgt spid="5939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randombar(horizontal)">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593926"/>
                                        </p:tgtEl>
                                        <p:attrNameLst>
                                          <p:attrName>style.visibility</p:attrName>
                                        </p:attrNameLst>
                                      </p:cBhvr>
                                      <p:to>
                                        <p:strVal val="visible"/>
                                      </p:to>
                                    </p:set>
                                    <p:anim calcmode="lin" valueType="num">
                                      <p:cBhvr additive="base">
                                        <p:cTn id="52" dur="500" fill="hold"/>
                                        <p:tgtEl>
                                          <p:spTgt spid="593926"/>
                                        </p:tgtEl>
                                        <p:attrNameLst>
                                          <p:attrName>ppt_x</p:attrName>
                                        </p:attrNameLst>
                                      </p:cBhvr>
                                      <p:tavLst>
                                        <p:tav tm="0">
                                          <p:val>
                                            <p:strVal val="0-#ppt_w/2"/>
                                          </p:val>
                                        </p:tav>
                                        <p:tav tm="100000">
                                          <p:val>
                                            <p:strVal val="#ppt_x"/>
                                          </p:val>
                                        </p:tav>
                                      </p:tavLst>
                                    </p:anim>
                                    <p:anim calcmode="lin" valueType="num">
                                      <p:cBhvr additive="base">
                                        <p:cTn id="53" dur="500" fill="hold"/>
                                        <p:tgtEl>
                                          <p:spTgt spid="593926"/>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37" fill="hold" grpId="0" nodeType="clickEffect">
                                  <p:stCondLst>
                                    <p:cond delay="0"/>
                                  </p:stCondLst>
                                  <p:childTnLst>
                                    <p:set>
                                      <p:cBhvr>
                                        <p:cTn id="57" dur="1" fill="hold">
                                          <p:stCondLst>
                                            <p:cond delay="0"/>
                                          </p:stCondLst>
                                        </p:cTn>
                                        <p:tgtEl>
                                          <p:spTgt spid="593927"/>
                                        </p:tgtEl>
                                        <p:attrNameLst>
                                          <p:attrName>style.visibility</p:attrName>
                                        </p:attrNameLst>
                                      </p:cBhvr>
                                      <p:to>
                                        <p:strVal val="visible"/>
                                      </p:to>
                                    </p:set>
                                    <p:animEffect transition="in" filter="barn(outVertical)">
                                      <p:cBhvr>
                                        <p:cTn id="58" dur="500"/>
                                        <p:tgtEl>
                                          <p:spTgt spid="593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5" grpId="0"/>
      <p:bldP spid="593926" grpId="0"/>
      <p:bldP spid="593927" grpId="0"/>
      <p:bldP spid="7" grpId="0"/>
      <p:bldP spid="8" grpId="0"/>
      <p:bldP spid="9" grpId="0"/>
      <p:bldP spid="10" grpId="0"/>
      <p:bldP spid="11" grpId="0"/>
      <p:bldP spid="1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6.1.2 一些术语和符号</a:t>
            </a:r>
          </a:p>
        </p:txBody>
      </p:sp>
      <p:sp>
        <p:nvSpPr>
          <p:cNvPr id="18435" name="Rectangle 3"/>
          <p:cNvSpPr>
            <a:spLocks noGrp="1"/>
          </p:cNvSpPr>
          <p:nvPr>
            <p:ph idx="1"/>
          </p:nvPr>
        </p:nvSpPr>
        <p:spPr>
          <a:xfrm>
            <a:off x="179388" y="1357313"/>
            <a:ext cx="8659812" cy="4967287"/>
          </a:xfrm>
        </p:spPr>
        <p:txBody>
          <a:bodyPr vert="horz" wrap="square" lIns="91440" tIns="45720" rIns="91440" bIns="45720" anchor="t" anchorCtr="0"/>
          <a:lstStyle/>
          <a:p>
            <a:pPr algn="just" eaLnBrk="1" hangingPunct="1">
              <a:spcBef>
                <a:spcPts val="2400"/>
              </a:spcBef>
              <a:buFont typeface="Wingdings" panose="05000000000000000000" pitchFamily="2" charset="2"/>
              <a:buNone/>
            </a:pPr>
            <a:r>
              <a:rPr lang="zh-CN" altLang="en-US" sz="3200" dirty="0">
                <a:latin typeface="Times New Roman" pitchFamily="18" charset="0"/>
                <a:ea typeface="宋体" pitchFamily="2" charset="-122"/>
                <a:cs typeface="Times New Roman" pitchFamily="18" charset="0"/>
              </a:rPr>
              <a:t>（</a:t>
            </a:r>
            <a:r>
              <a:rPr lang="en-US" altLang="zh-CN" sz="3200" dirty="0">
                <a:latin typeface="Times New Roman" pitchFamily="18" charset="0"/>
                <a:ea typeface="宋体" pitchFamily="2" charset="-122"/>
                <a:cs typeface="Times New Roman" pitchFamily="18" charset="0"/>
              </a:rPr>
              <a:t>1</a:t>
            </a:r>
            <a:r>
              <a:rPr lang="zh-CN" altLang="en-US" sz="3200" dirty="0">
                <a:latin typeface="Times New Roman" pitchFamily="18" charset="0"/>
                <a:ea typeface="宋体" pitchFamily="2" charset="-122"/>
                <a:cs typeface="Times New Roman" pitchFamily="18" charset="0"/>
              </a:rPr>
              <a:t>）如果</a:t>
            </a:r>
            <a:r>
              <a:rPr lang="en-US" altLang="zh-CN" sz="3200" i="1" dirty="0">
                <a:latin typeface="Times New Roman" pitchFamily="18" charset="0"/>
                <a:ea typeface="宋体" pitchFamily="2" charset="-122"/>
                <a:cs typeface="Times New Roman" pitchFamily="18" charset="0"/>
              </a:rPr>
              <a:t>X</a:t>
            </a:r>
            <a:r>
              <a:rPr lang="en-US" altLang="zh-CN" sz="3200" dirty="0">
                <a:latin typeface="Times New Roman" pitchFamily="18" charset="0"/>
                <a:ea typeface="宋体" pitchFamily="2" charset="-122"/>
                <a:cs typeface="Times New Roman" pitchFamily="18" charset="0"/>
              </a:rPr>
              <a:t>→</a:t>
            </a:r>
            <a:r>
              <a:rPr lang="en-US" altLang="zh-CN" sz="3200" i="1" dirty="0">
                <a:latin typeface="Times New Roman" pitchFamily="18" charset="0"/>
                <a:ea typeface="宋体" pitchFamily="2" charset="-122"/>
                <a:cs typeface="Times New Roman" pitchFamily="18" charset="0"/>
              </a:rPr>
              <a:t>Y</a:t>
            </a:r>
            <a:r>
              <a:rPr lang="zh-CN" altLang="en-US" sz="3200" dirty="0">
                <a:latin typeface="Times New Roman" pitchFamily="18" charset="0"/>
                <a:ea typeface="宋体" pitchFamily="2" charset="-122"/>
                <a:cs typeface="Times New Roman" pitchFamily="18" charset="0"/>
              </a:rPr>
              <a:t>，但</a:t>
            </a:r>
            <a:r>
              <a:rPr lang="en-US" altLang="zh-CN" sz="3200" i="1" dirty="0">
                <a:latin typeface="Times New Roman" pitchFamily="18" charset="0"/>
                <a:ea typeface="宋体" pitchFamily="2" charset="-122"/>
                <a:cs typeface="Times New Roman" pitchFamily="18" charset="0"/>
              </a:rPr>
              <a:t>Y</a:t>
            </a:r>
            <a:r>
              <a:rPr lang="zh-CN" altLang="en-US" sz="3200" dirty="0">
                <a:latin typeface="Times New Roman" pitchFamily="18" charset="0"/>
                <a:ea typeface="宋体" pitchFamily="2" charset="-122"/>
                <a:cs typeface="Times New Roman" pitchFamily="18" charset="0"/>
              </a:rPr>
              <a:t>不包含于</a:t>
            </a:r>
            <a:r>
              <a:rPr lang="en-US" altLang="zh-CN" sz="3200" i="1" dirty="0">
                <a:latin typeface="Times New Roman" pitchFamily="18" charset="0"/>
                <a:ea typeface="宋体" pitchFamily="2" charset="-122"/>
                <a:cs typeface="Times New Roman" pitchFamily="18" charset="0"/>
              </a:rPr>
              <a:t>X</a:t>
            </a:r>
            <a:r>
              <a:rPr lang="zh-CN" altLang="en-US" sz="3200" dirty="0">
                <a:latin typeface="Times New Roman" pitchFamily="18" charset="0"/>
                <a:ea typeface="宋体" pitchFamily="2" charset="-122"/>
                <a:cs typeface="Times New Roman" pitchFamily="18" charset="0"/>
              </a:rPr>
              <a:t>，则称</a:t>
            </a:r>
          </a:p>
          <a:p>
            <a:pPr algn="just" eaLnBrk="1" hangingPunct="1">
              <a:spcBef>
                <a:spcPts val="600"/>
              </a:spcBef>
              <a:buFont typeface="Wingdings" panose="05000000000000000000" pitchFamily="2" charset="2"/>
              <a:buNone/>
            </a:pPr>
            <a:r>
              <a:rPr lang="zh-CN" altLang="en-US" sz="3200" dirty="0">
                <a:latin typeface="Times New Roman" pitchFamily="18" charset="0"/>
                <a:ea typeface="宋体" pitchFamily="2" charset="-122"/>
                <a:cs typeface="Times New Roman" pitchFamily="18" charset="0"/>
              </a:rPr>
              <a:t>		</a:t>
            </a:r>
            <a:r>
              <a:rPr lang="en-US" altLang="zh-CN" sz="3200" i="1" dirty="0">
                <a:latin typeface="Times New Roman" pitchFamily="18" charset="0"/>
                <a:ea typeface="宋体" pitchFamily="2" charset="-122"/>
                <a:cs typeface="Times New Roman" pitchFamily="18" charset="0"/>
              </a:rPr>
              <a:t>X</a:t>
            </a:r>
            <a:r>
              <a:rPr lang="en-US" altLang="zh-CN" sz="3200" dirty="0">
                <a:latin typeface="Times New Roman" pitchFamily="18" charset="0"/>
                <a:ea typeface="宋体" pitchFamily="2" charset="-122"/>
                <a:cs typeface="Times New Roman" pitchFamily="18" charset="0"/>
              </a:rPr>
              <a:t>→</a:t>
            </a:r>
            <a:r>
              <a:rPr lang="en-US" altLang="zh-CN" sz="3200" i="1" dirty="0">
                <a:latin typeface="Times New Roman" pitchFamily="18" charset="0"/>
                <a:ea typeface="宋体" pitchFamily="2" charset="-122"/>
                <a:cs typeface="Times New Roman" pitchFamily="18" charset="0"/>
              </a:rPr>
              <a:t>Y</a:t>
            </a:r>
            <a:r>
              <a:rPr lang="zh-CN" altLang="en-US" sz="3200" dirty="0">
                <a:solidFill>
                  <a:schemeClr val="tx1"/>
                </a:solidFill>
                <a:latin typeface="Times New Roman" pitchFamily="18" charset="0"/>
                <a:ea typeface="宋体" pitchFamily="2" charset="-122"/>
                <a:cs typeface="Times New Roman" pitchFamily="18" charset="0"/>
              </a:rPr>
              <a:t>是</a:t>
            </a:r>
            <a:r>
              <a:rPr lang="zh-CN" altLang="en-US" sz="3200" dirty="0">
                <a:solidFill>
                  <a:srgbClr val="FF0000"/>
                </a:solidFill>
                <a:latin typeface="Times New Roman" pitchFamily="18" charset="0"/>
                <a:ea typeface="宋体" pitchFamily="2" charset="-122"/>
                <a:cs typeface="Times New Roman" pitchFamily="18" charset="0"/>
              </a:rPr>
              <a:t>非平凡的函数依赖</a:t>
            </a:r>
            <a:r>
              <a:rPr lang="zh-CN" altLang="en-US" sz="3200" dirty="0">
                <a:latin typeface="Times New Roman" pitchFamily="18" charset="0"/>
                <a:ea typeface="宋体" pitchFamily="2" charset="-122"/>
                <a:cs typeface="Times New Roman" pitchFamily="18" charset="0"/>
              </a:rPr>
              <a:t>。</a:t>
            </a:r>
          </a:p>
          <a:p>
            <a:pPr algn="just" eaLnBrk="1" hangingPunct="1">
              <a:spcBef>
                <a:spcPts val="2400"/>
              </a:spcBef>
              <a:buFont typeface="Wingdings" panose="05000000000000000000" pitchFamily="2" charset="2"/>
              <a:buNone/>
            </a:pPr>
            <a:r>
              <a:rPr lang="zh-CN" altLang="en-US" sz="3200" dirty="0">
                <a:latin typeface="Times New Roman" pitchFamily="18" charset="0"/>
                <a:ea typeface="宋体" pitchFamily="2" charset="-122"/>
                <a:cs typeface="Times New Roman" pitchFamily="18" charset="0"/>
              </a:rPr>
              <a:t>（</a:t>
            </a:r>
            <a:r>
              <a:rPr lang="en-US" altLang="zh-CN" sz="3200" b="0" dirty="0">
                <a:latin typeface="Times New Roman" pitchFamily="18" charset="0"/>
                <a:ea typeface="宋体" pitchFamily="2" charset="-122"/>
                <a:cs typeface="Times New Roman" pitchFamily="18" charset="0"/>
              </a:rPr>
              <a:t>2</a:t>
            </a:r>
            <a:r>
              <a:rPr lang="zh-CN" altLang="en-US" sz="3200" dirty="0">
                <a:latin typeface="Times New Roman" pitchFamily="18" charset="0"/>
                <a:ea typeface="宋体" pitchFamily="2" charset="-122"/>
                <a:cs typeface="Times New Roman" pitchFamily="18" charset="0"/>
              </a:rPr>
              <a:t>）如果</a:t>
            </a:r>
            <a:r>
              <a:rPr lang="en-US" altLang="zh-CN" sz="3200" i="1" dirty="0">
                <a:latin typeface="Times New Roman" pitchFamily="18" charset="0"/>
                <a:ea typeface="宋体" pitchFamily="2" charset="-122"/>
                <a:cs typeface="Times New Roman" pitchFamily="18" charset="0"/>
              </a:rPr>
              <a:t>X</a:t>
            </a:r>
            <a:r>
              <a:rPr lang="en-US" altLang="zh-CN" sz="3200" dirty="0">
                <a:latin typeface="Times New Roman" pitchFamily="18" charset="0"/>
                <a:ea typeface="宋体" pitchFamily="2" charset="-122"/>
                <a:cs typeface="Times New Roman" pitchFamily="18" charset="0"/>
              </a:rPr>
              <a:t>→</a:t>
            </a:r>
            <a:r>
              <a:rPr lang="en-US" altLang="zh-CN" sz="3200" i="1" dirty="0">
                <a:latin typeface="Times New Roman" pitchFamily="18" charset="0"/>
                <a:ea typeface="宋体" pitchFamily="2" charset="-122"/>
                <a:cs typeface="Times New Roman" pitchFamily="18" charset="0"/>
              </a:rPr>
              <a:t>Y</a:t>
            </a:r>
            <a:r>
              <a:rPr lang="zh-CN" altLang="en-US" sz="3200" dirty="0">
                <a:latin typeface="Times New Roman" pitchFamily="18" charset="0"/>
                <a:ea typeface="宋体" pitchFamily="2" charset="-122"/>
                <a:cs typeface="Times New Roman" pitchFamily="18" charset="0"/>
              </a:rPr>
              <a:t>，但</a:t>
            </a:r>
            <a:r>
              <a:rPr lang="en-US" altLang="zh-CN" sz="3200" i="1" dirty="0">
                <a:latin typeface="Times New Roman" pitchFamily="18" charset="0"/>
                <a:ea typeface="宋体" pitchFamily="2" charset="-122"/>
                <a:cs typeface="Times New Roman" pitchFamily="18" charset="0"/>
              </a:rPr>
              <a:t>Y</a:t>
            </a:r>
            <a:r>
              <a:rPr lang="zh-CN" altLang="en-US" sz="3200" dirty="0">
                <a:latin typeface="Times New Roman" pitchFamily="18" charset="0"/>
                <a:ea typeface="宋体" pitchFamily="2" charset="-122"/>
                <a:cs typeface="Times New Roman" pitchFamily="18" charset="0"/>
              </a:rPr>
              <a:t>包含于</a:t>
            </a:r>
            <a:r>
              <a:rPr lang="en-US" altLang="zh-CN" sz="3200" i="1" dirty="0">
                <a:latin typeface="Times New Roman" pitchFamily="18" charset="0"/>
                <a:ea typeface="宋体" pitchFamily="2" charset="-122"/>
                <a:cs typeface="Times New Roman" pitchFamily="18" charset="0"/>
              </a:rPr>
              <a:t>X</a:t>
            </a:r>
            <a:r>
              <a:rPr lang="zh-CN" altLang="en-US" sz="3200" dirty="0">
                <a:latin typeface="Times New Roman" pitchFamily="18" charset="0"/>
                <a:ea typeface="宋体" pitchFamily="2" charset="-122"/>
                <a:cs typeface="Times New Roman" pitchFamily="18" charset="0"/>
              </a:rPr>
              <a:t>，则称</a:t>
            </a:r>
          </a:p>
          <a:p>
            <a:pPr algn="just" eaLnBrk="1" hangingPunct="1">
              <a:spcBef>
                <a:spcPts val="600"/>
              </a:spcBef>
              <a:buFont typeface="Wingdings" panose="05000000000000000000" pitchFamily="2" charset="2"/>
              <a:buNone/>
            </a:pPr>
            <a:r>
              <a:rPr lang="zh-CN" altLang="en-US" sz="3200" dirty="0">
                <a:latin typeface="Times New Roman" pitchFamily="18" charset="0"/>
                <a:ea typeface="宋体" pitchFamily="2" charset="-122"/>
                <a:cs typeface="Times New Roman" pitchFamily="18" charset="0"/>
              </a:rPr>
              <a:t>		</a:t>
            </a:r>
            <a:r>
              <a:rPr lang="en-US" altLang="zh-CN" sz="3200" i="1" dirty="0">
                <a:latin typeface="Times New Roman" pitchFamily="18" charset="0"/>
                <a:ea typeface="宋体" pitchFamily="2" charset="-122"/>
                <a:cs typeface="Times New Roman" pitchFamily="18" charset="0"/>
              </a:rPr>
              <a:t>X</a:t>
            </a:r>
            <a:r>
              <a:rPr lang="en-US" altLang="zh-CN" sz="3200" dirty="0">
                <a:latin typeface="Times New Roman" pitchFamily="18" charset="0"/>
                <a:ea typeface="宋体" pitchFamily="2" charset="-122"/>
                <a:cs typeface="Times New Roman" pitchFamily="18" charset="0"/>
              </a:rPr>
              <a:t>→</a:t>
            </a:r>
            <a:r>
              <a:rPr lang="en-US" altLang="zh-CN" sz="3200" i="1" dirty="0">
                <a:latin typeface="Times New Roman" pitchFamily="18" charset="0"/>
                <a:ea typeface="宋体" pitchFamily="2" charset="-122"/>
                <a:cs typeface="Times New Roman" pitchFamily="18" charset="0"/>
              </a:rPr>
              <a:t>Y</a:t>
            </a:r>
            <a:r>
              <a:rPr lang="zh-CN" altLang="en-US" sz="3200" dirty="0">
                <a:solidFill>
                  <a:schemeClr val="tx1"/>
                </a:solidFill>
                <a:latin typeface="Times New Roman" pitchFamily="18" charset="0"/>
                <a:ea typeface="宋体" pitchFamily="2" charset="-122"/>
                <a:cs typeface="Times New Roman" pitchFamily="18" charset="0"/>
              </a:rPr>
              <a:t>是</a:t>
            </a:r>
            <a:r>
              <a:rPr lang="zh-CN" altLang="en-US" sz="3200" dirty="0">
                <a:solidFill>
                  <a:srgbClr val="FF0000"/>
                </a:solidFill>
                <a:latin typeface="Times New Roman" pitchFamily="18" charset="0"/>
                <a:ea typeface="宋体" pitchFamily="2" charset="-122"/>
                <a:cs typeface="Times New Roman" pitchFamily="18" charset="0"/>
              </a:rPr>
              <a:t>平凡的函数依赖</a:t>
            </a:r>
            <a:r>
              <a:rPr lang="zh-CN" altLang="en-US" sz="3200" dirty="0">
                <a:latin typeface="Times New Roman" pitchFamily="18" charset="0"/>
                <a:ea typeface="宋体" pitchFamily="2" charset="-122"/>
                <a:cs typeface="Times New Roman" pitchFamily="18" charset="0"/>
              </a:rPr>
              <a:t>。</a:t>
            </a:r>
          </a:p>
          <a:p>
            <a:pPr marL="1079500" algn="just" eaLnBrk="1" hangingPunct="1">
              <a:spcBef>
                <a:spcPts val="600"/>
              </a:spcBef>
              <a:buFont typeface="Wingdings" panose="05000000000000000000" pitchFamily="2" charset="2"/>
              <a:buNone/>
            </a:pPr>
            <a:r>
              <a:rPr lang="en-US" altLang="zh-CN" sz="3200" dirty="0">
                <a:latin typeface="Times New Roman" pitchFamily="18" charset="0"/>
                <a:ea typeface="宋体" pitchFamily="2" charset="-122"/>
                <a:cs typeface="Times New Roman" pitchFamily="18" charset="0"/>
              </a:rPr>
              <a:t>  </a:t>
            </a:r>
            <a:r>
              <a:rPr lang="en-US" altLang="zh-CN" sz="3200" dirty="0" smtClean="0">
                <a:latin typeface="Times New Roman" pitchFamily="18" charset="0"/>
                <a:ea typeface="宋体" pitchFamily="2" charset="-122"/>
                <a:cs typeface="Times New Roman" pitchFamily="18" charset="0"/>
              </a:rPr>
              <a:t>   </a:t>
            </a:r>
            <a:r>
              <a:rPr lang="zh-CN" altLang="en-US" sz="2800" dirty="0" smtClean="0">
                <a:latin typeface="Times New Roman" pitchFamily="18" charset="0"/>
                <a:ea typeface="宋体" pitchFamily="2" charset="-122"/>
                <a:cs typeface="Times New Roman" pitchFamily="18" charset="0"/>
              </a:rPr>
              <a:t>若</a:t>
            </a:r>
            <a:r>
              <a:rPr lang="zh-CN" altLang="en-US" sz="2800" dirty="0">
                <a:latin typeface="Times New Roman" pitchFamily="18" charset="0"/>
                <a:ea typeface="宋体" pitchFamily="2" charset="-122"/>
                <a:cs typeface="Times New Roman" pitchFamily="18" charset="0"/>
              </a:rPr>
              <a:t>无特别声明，我们讨论的</a:t>
            </a:r>
            <a:r>
              <a:rPr lang="zh-CN" altLang="en-US" sz="2800" dirty="0" smtClean="0">
                <a:latin typeface="Times New Roman" pitchFamily="18" charset="0"/>
                <a:ea typeface="宋体" pitchFamily="2" charset="-122"/>
                <a:cs typeface="Times New Roman" pitchFamily="18" charset="0"/>
              </a:rPr>
              <a:t>都是</a:t>
            </a:r>
            <a:endParaRPr lang="en-US" altLang="zh-CN" sz="2800" dirty="0" smtClean="0">
              <a:latin typeface="Times New Roman" pitchFamily="18" charset="0"/>
              <a:ea typeface="宋体" pitchFamily="2" charset="-122"/>
              <a:cs typeface="Times New Roman" pitchFamily="18" charset="0"/>
            </a:endParaRPr>
          </a:p>
          <a:p>
            <a:pPr marL="1079500" algn="just" eaLnBrk="1" hangingPunct="1">
              <a:spcBef>
                <a:spcPts val="600"/>
              </a:spcBef>
              <a:buFont typeface="Wingdings" panose="05000000000000000000" pitchFamily="2" charset="2"/>
              <a:buNone/>
            </a:pPr>
            <a:r>
              <a:rPr lang="en-US" altLang="zh-CN" sz="2800" dirty="0">
                <a:latin typeface="Times New Roman" pitchFamily="18" charset="0"/>
                <a:ea typeface="宋体" pitchFamily="2" charset="-122"/>
                <a:cs typeface="Times New Roman" pitchFamily="18" charset="0"/>
              </a:rPr>
              <a:t> </a:t>
            </a:r>
            <a:r>
              <a:rPr lang="en-US" altLang="zh-CN" sz="2800" dirty="0" smtClean="0">
                <a:latin typeface="Times New Roman" pitchFamily="18" charset="0"/>
                <a:ea typeface="宋体" pitchFamily="2" charset="-122"/>
                <a:cs typeface="Times New Roman" pitchFamily="18" charset="0"/>
              </a:rPr>
              <a:t>       </a:t>
            </a:r>
            <a:r>
              <a:rPr lang="zh-CN" altLang="en-US" sz="2800" dirty="0" smtClean="0">
                <a:latin typeface="Times New Roman" pitchFamily="18" charset="0"/>
                <a:ea typeface="宋体" pitchFamily="2" charset="-122"/>
                <a:cs typeface="Times New Roman" pitchFamily="18" charset="0"/>
              </a:rPr>
              <a:t>非</a:t>
            </a:r>
            <a:r>
              <a:rPr lang="zh-CN" altLang="en-US" sz="2800" dirty="0">
                <a:latin typeface="Times New Roman" pitchFamily="18" charset="0"/>
                <a:ea typeface="宋体" pitchFamily="2" charset="-122"/>
                <a:cs typeface="Times New Roman" pitchFamily="18" charset="0"/>
              </a:rPr>
              <a:t>平凡的函数依赖。</a:t>
            </a:r>
          </a:p>
          <a:p>
            <a:pPr algn="just" eaLnBrk="1" hangingPunct="1">
              <a:spcBef>
                <a:spcPts val="2400"/>
              </a:spcBef>
              <a:buFont typeface="Wingdings" panose="05000000000000000000" pitchFamily="2" charset="2"/>
              <a:buNone/>
            </a:pPr>
            <a:r>
              <a:rPr lang="zh-CN" altLang="en-US" sz="3200" dirty="0">
                <a:latin typeface="Times New Roman" pitchFamily="18" charset="0"/>
                <a:ea typeface="宋体" pitchFamily="2" charset="-122"/>
                <a:cs typeface="Times New Roman" pitchFamily="18" charset="0"/>
              </a:rPr>
              <a:t>（</a:t>
            </a:r>
            <a:r>
              <a:rPr lang="en-US" altLang="zh-CN" sz="3200" dirty="0">
                <a:latin typeface="Times New Roman" pitchFamily="18" charset="0"/>
                <a:ea typeface="宋体" pitchFamily="2" charset="-122"/>
                <a:cs typeface="Times New Roman" pitchFamily="18" charset="0"/>
              </a:rPr>
              <a:t>3</a:t>
            </a:r>
            <a:r>
              <a:rPr lang="zh-CN" altLang="en-US" sz="3200" dirty="0">
                <a:latin typeface="Times New Roman" pitchFamily="18" charset="0"/>
                <a:ea typeface="宋体" pitchFamily="2" charset="-122"/>
                <a:cs typeface="Times New Roman" pitchFamily="18" charset="0"/>
              </a:rPr>
              <a:t>）如果</a:t>
            </a:r>
            <a:r>
              <a:rPr lang="en-US" altLang="zh-CN" sz="3200" i="1" dirty="0">
                <a:latin typeface="Times New Roman" pitchFamily="18" charset="0"/>
                <a:ea typeface="宋体" pitchFamily="2" charset="-122"/>
                <a:cs typeface="Times New Roman" pitchFamily="18" charset="0"/>
              </a:rPr>
              <a:t>X</a:t>
            </a:r>
            <a:r>
              <a:rPr lang="en-US" altLang="zh-CN" sz="3200" dirty="0">
                <a:latin typeface="Times New Roman" pitchFamily="18" charset="0"/>
                <a:ea typeface="宋体" pitchFamily="2" charset="-122"/>
                <a:cs typeface="Times New Roman" pitchFamily="18" charset="0"/>
              </a:rPr>
              <a:t>→</a:t>
            </a:r>
            <a:r>
              <a:rPr lang="en-US" altLang="zh-CN" sz="3200" i="1" dirty="0">
                <a:latin typeface="Times New Roman" pitchFamily="18" charset="0"/>
                <a:ea typeface="宋体" pitchFamily="2" charset="-122"/>
                <a:cs typeface="Times New Roman" pitchFamily="18" charset="0"/>
              </a:rPr>
              <a:t>Y</a:t>
            </a:r>
            <a:r>
              <a:rPr lang="zh-CN" altLang="en-US" sz="3200" dirty="0">
                <a:latin typeface="Times New Roman" pitchFamily="18" charset="0"/>
                <a:ea typeface="宋体" pitchFamily="2" charset="-122"/>
                <a:cs typeface="Times New Roman" pitchFamily="18" charset="0"/>
              </a:rPr>
              <a:t>，则</a:t>
            </a:r>
            <a:r>
              <a:rPr lang="en-US" altLang="zh-CN" sz="3200" i="1" dirty="0">
                <a:latin typeface="Times New Roman" pitchFamily="18" charset="0"/>
                <a:ea typeface="宋体" pitchFamily="2" charset="-122"/>
                <a:cs typeface="Times New Roman" pitchFamily="18" charset="0"/>
              </a:rPr>
              <a:t>X</a:t>
            </a:r>
            <a:r>
              <a:rPr lang="zh-CN" altLang="en-US" sz="3200" dirty="0">
                <a:latin typeface="Times New Roman" pitchFamily="18" charset="0"/>
                <a:ea typeface="宋体" pitchFamily="2" charset="-122"/>
                <a:cs typeface="Times New Roman" pitchFamily="18" charset="0"/>
              </a:rPr>
              <a:t>称为</a:t>
            </a:r>
            <a:r>
              <a:rPr lang="zh-CN" altLang="en-US" sz="3200" dirty="0">
                <a:solidFill>
                  <a:srgbClr val="FF0000"/>
                </a:solidFill>
                <a:latin typeface="Times New Roman" pitchFamily="18" charset="0"/>
                <a:ea typeface="宋体" pitchFamily="2" charset="-122"/>
                <a:cs typeface="Times New Roman" pitchFamily="18" charset="0"/>
              </a:rPr>
              <a:t>决定因子</a:t>
            </a:r>
            <a:r>
              <a:rPr lang="zh-CN" altLang="en-US" sz="3200" dirty="0">
                <a:latin typeface="Times New Roman" pitchFamily="18" charset="0"/>
                <a:ea typeface="宋体" pitchFamily="2" charset="-122"/>
                <a:cs typeface="Times New Roman"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术语和符号（续）</a:t>
            </a:r>
          </a:p>
        </p:txBody>
      </p:sp>
      <p:sp>
        <p:nvSpPr>
          <p:cNvPr id="5" name="Rectangle 3"/>
          <p:cNvSpPr txBox="1">
            <a:spLocks noChangeArrowheads="1"/>
          </p:cNvSpPr>
          <p:nvPr/>
        </p:nvSpPr>
        <p:spPr>
          <a:xfrm>
            <a:off x="107950" y="1285875"/>
            <a:ext cx="8731250" cy="5000625"/>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263525" indent="-263525" algn="just">
              <a:buFontTx/>
              <a:buNone/>
            </a:pP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dirty="0" smtClean="0">
                <a:latin typeface="宋体" panose="02010600030101010101" pitchFamily="2" charset="-122"/>
                <a:ea typeface="宋体" panose="02010600030101010101" pitchFamily="2" charset="-122"/>
                <a:cs typeface="宋体" panose="02010600030101010101" pitchFamily="2" charset="-122"/>
              </a:rPr>
              <a:t>4</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）如果</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，并且</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en-US" sz="2800" dirty="0" smtClean="0">
                <a:latin typeface="宋体" panose="02010600030101010101" pitchFamily="2" charset="-122"/>
                <a:ea typeface="宋体" panose="02010600030101010101" pitchFamily="2" charset="-122"/>
                <a:cs typeface="宋体" panose="02010600030101010101" pitchFamily="2" charset="-122"/>
              </a:rPr>
              <a:t>，则记作  </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solidFill>
                  <a:srgbClr val="FF0000"/>
                </a:solidFill>
                <a:latin typeface="宋体" panose="02010600030101010101" pitchFamily="2" charset="-122"/>
                <a:ea typeface="宋体" panose="02010600030101010101" pitchFamily="2" charset="-122"/>
                <a:cs typeface="宋体" panose="02010600030101010101" pitchFamily="2" charset="-122"/>
              </a:rPr>
              <a:t>Y</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endParaRPr lang="en-US" altLang="zh-CN" sz="2800" dirty="0" smtClean="0">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endParaRPr lang="en-US" altLang="zh-CN" sz="2800" dirty="0" smtClean="0">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dirty="0" smtClean="0">
                <a:latin typeface="宋体" panose="02010600030101010101" pitchFamily="2" charset="-122"/>
                <a:ea typeface="宋体" panose="02010600030101010101" pitchFamily="2" charset="-122"/>
                <a:cs typeface="宋体" panose="02010600030101010101" pitchFamily="2" charset="-122"/>
              </a:rPr>
              <a:t>5</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如果</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，并且对于</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的一个任意真子集</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baseline="300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都有</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baseline="300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，则称</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 </a:t>
            </a:r>
            <a:r>
              <a:rPr lang="zh-CN" altLang="zh-CN" sz="2800" dirty="0" smtClean="0">
                <a:solidFill>
                  <a:srgbClr val="CC0099"/>
                </a:solidFill>
                <a:latin typeface="宋体" panose="02010600030101010101" pitchFamily="2" charset="-122"/>
                <a:ea typeface="宋体" panose="02010600030101010101" pitchFamily="2" charset="-122"/>
                <a:cs typeface="宋体" panose="02010600030101010101" pitchFamily="2" charset="-122"/>
              </a:rPr>
              <a:t>完全</a:t>
            </a:r>
            <a:r>
              <a:rPr lang="zh-CN"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函数依赖</a:t>
            </a:r>
            <a:r>
              <a:rPr lang="zh-CN" altLang="zh-CN" sz="2800" dirty="0" smtClean="0">
                <a:latin typeface="宋体" panose="02010600030101010101" pitchFamily="2" charset="-122"/>
                <a:ea typeface="宋体" panose="02010600030101010101" pitchFamily="2" charset="-122"/>
                <a:cs typeface="宋体" panose="02010600030101010101" pitchFamily="2" charset="-122"/>
              </a:rPr>
              <a:t>于</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，记作</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endParaRPr lang="en-US" altLang="zh-CN" sz="2800" dirty="0" smtClean="0">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r>
              <a:rPr lang="en-US" altLang="zh-CN" sz="2800" dirty="0" smtClean="0">
                <a:latin typeface="宋体" panose="02010600030101010101" pitchFamily="2" charset="-122"/>
                <a:ea typeface="宋体" panose="02010600030101010101" pitchFamily="2" charset="-122"/>
                <a:cs typeface="宋体" panose="02010600030101010101" pitchFamily="2" charset="-122"/>
              </a:rPr>
              <a:t>  </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如果</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baseline="300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成立，则称</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 </a:t>
            </a:r>
            <a:r>
              <a:rPr lang="zh-CN" altLang="zh-CN" sz="2800" dirty="0" smtClean="0">
                <a:solidFill>
                  <a:srgbClr val="CC0099"/>
                </a:solidFill>
                <a:latin typeface="宋体" panose="02010600030101010101" pitchFamily="2" charset="-122"/>
                <a:ea typeface="宋体" panose="02010600030101010101" pitchFamily="2" charset="-122"/>
                <a:cs typeface="宋体" panose="02010600030101010101" pitchFamily="2" charset="-122"/>
              </a:rPr>
              <a:t>部分</a:t>
            </a:r>
            <a:r>
              <a:rPr lang="zh-CN"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函数依赖</a:t>
            </a:r>
            <a:r>
              <a:rPr lang="zh-CN" altLang="zh-CN" sz="2800" dirty="0" smtClean="0">
                <a:latin typeface="宋体" panose="02010600030101010101" pitchFamily="2" charset="-122"/>
                <a:ea typeface="宋体" panose="02010600030101010101" pitchFamily="2" charset="-122"/>
                <a:cs typeface="宋体" panose="02010600030101010101" pitchFamily="2" charset="-122"/>
              </a:rPr>
              <a:t>于</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，记作</a:t>
            </a:r>
            <a:r>
              <a:rPr lang="zh-CN" altLang="en-US" sz="2800" dirty="0" smtClean="0">
                <a:latin typeface="宋体" panose="02010600030101010101" pitchFamily="2" charset="-122"/>
                <a:ea typeface="宋体" panose="02010600030101010101" pitchFamily="2" charset="-122"/>
                <a:cs typeface="宋体" panose="02010600030101010101" pitchFamily="2" charset="-122"/>
              </a:rPr>
              <a:t>：</a:t>
            </a:r>
            <a:endParaRPr lang="en-US" altLang="zh-CN" sz="2800" dirty="0" smtClean="0">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r>
              <a:rPr lang="en-US" altLang="zh-CN" sz="2800" dirty="0" smtClean="0">
                <a:latin typeface="宋体" panose="02010600030101010101" pitchFamily="2" charset="-122"/>
                <a:ea typeface="宋体" panose="02010600030101010101" pitchFamily="2" charset="-122"/>
                <a:cs typeface="宋体" panose="02010600030101010101" pitchFamily="2" charset="-122"/>
              </a:rPr>
              <a:t> </a:t>
            </a:r>
          </a:p>
          <a:p>
            <a:pPr marL="263525" indent="-263525">
              <a:buFontTx/>
              <a:buNone/>
            </a:pP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dirty="0" smtClean="0">
                <a:latin typeface="宋体" panose="02010600030101010101" pitchFamily="2" charset="-122"/>
                <a:ea typeface="宋体" panose="02010600030101010101" pitchFamily="2" charset="-122"/>
                <a:cs typeface="宋体" panose="02010600030101010101" pitchFamily="2" charset="-122"/>
              </a:rPr>
              <a:t>6</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）如果</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（非平凡函数依赖，并且</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dirty="0" smtClean="0">
                <a:latin typeface="宋体" panose="02010600030101010101" pitchFamily="2" charset="-122"/>
                <a:ea typeface="宋体" panose="02010600030101010101" pitchFamily="2" charset="-122"/>
                <a:cs typeface="宋体" panose="02010600030101010101" pitchFamily="2" charset="-122"/>
              </a:rPr>
              <a:t>/</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Y</a:t>
            </a:r>
            <a:r>
              <a:rPr lang="zh-CN" altLang="zh-CN" sz="2800" dirty="0" smtClean="0">
                <a:latin typeface="宋体" panose="02010600030101010101" pitchFamily="2" charset="-122"/>
                <a:ea typeface="宋体" panose="02010600030101010101" pitchFamily="2" charset="-122"/>
                <a:cs typeface="宋体" panose="02010600030101010101" pitchFamily="2" charset="-122"/>
              </a:rPr>
              <a:t>→</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Z</a:t>
            </a:r>
            <a:r>
              <a:rPr lang="zh-CN" altLang="zh-CN" sz="2800" dirty="0" smtClean="0">
                <a:latin typeface="宋体" panose="02010600030101010101" pitchFamily="2" charset="-122"/>
                <a:ea typeface="宋体" panose="02010600030101010101" pitchFamily="2" charset="-122"/>
                <a:cs typeface="宋体" panose="02010600030101010101" pitchFamily="2" charset="-122"/>
              </a:rPr>
              <a:t>，则称</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Z </a:t>
            </a:r>
            <a:r>
              <a:rPr lang="zh-CN" altLang="zh-CN" sz="2800" dirty="0">
                <a:solidFill>
                  <a:srgbClr val="CC0099"/>
                </a:solidFill>
                <a:latin typeface="宋体" panose="02010600030101010101" pitchFamily="2" charset="-122"/>
                <a:ea typeface="宋体" panose="02010600030101010101" pitchFamily="2" charset="-122"/>
                <a:cs typeface="宋体" panose="02010600030101010101" pitchFamily="2" charset="-122"/>
              </a:rPr>
              <a:t>传递</a:t>
            </a:r>
            <a:r>
              <a:rPr lang="zh-CN" altLang="zh-CN"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函数依赖</a:t>
            </a:r>
            <a:r>
              <a:rPr lang="zh-CN" altLang="zh-CN" sz="2800" dirty="0" smtClean="0">
                <a:latin typeface="宋体" panose="02010600030101010101" pitchFamily="2" charset="-122"/>
                <a:ea typeface="宋体" panose="02010600030101010101" pitchFamily="2" charset="-122"/>
                <a:cs typeface="宋体" panose="02010600030101010101" pitchFamily="2" charset="-122"/>
              </a:rPr>
              <a:t>于</a:t>
            </a:r>
            <a:r>
              <a:rPr lang="en-US" altLang="zh-CN" sz="2800" i="1" dirty="0" smtClean="0">
                <a:latin typeface="宋体" panose="02010600030101010101" pitchFamily="2" charset="-122"/>
                <a:ea typeface="宋体" panose="02010600030101010101" pitchFamily="2" charset="-122"/>
                <a:cs typeface="宋体" panose="02010600030101010101" pitchFamily="2" charset="-122"/>
              </a:rPr>
              <a:t>X </a:t>
            </a:r>
            <a:r>
              <a:rPr lang="zh-CN" altLang="en-US" sz="2800" i="1" dirty="0" smtClean="0">
                <a:latin typeface="宋体" panose="02010600030101010101" pitchFamily="2" charset="-122"/>
                <a:ea typeface="宋体" panose="02010600030101010101" pitchFamily="2" charset="-122"/>
                <a:cs typeface="宋体" panose="02010600030101010101" pitchFamily="2" charset="-122"/>
              </a:rPr>
              <a:t>。</a:t>
            </a:r>
            <a:endParaRPr lang="en-US" altLang="zh-CN" sz="2800" i="1" dirty="0" smtClean="0">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r>
              <a:rPr lang="en-US" altLang="zh-CN" sz="2800" i="1" dirty="0" smtClean="0">
                <a:latin typeface="宋体" panose="02010600030101010101" pitchFamily="2" charset="-122"/>
                <a:ea typeface="宋体" panose="02010600030101010101" pitchFamily="2" charset="-122"/>
                <a:cs typeface="宋体" panose="02010600030101010101" pitchFamily="2" charset="-122"/>
              </a:rPr>
              <a:t>              </a:t>
            </a:r>
            <a:r>
              <a:rPr lang="zh-CN" altLang="en-US" sz="2800" i="1" dirty="0" smtClean="0">
                <a:latin typeface="宋体" panose="02010600030101010101" pitchFamily="2" charset="-122"/>
                <a:ea typeface="宋体" panose="02010600030101010101" pitchFamily="2" charset="-122"/>
                <a:cs typeface="宋体" panose="02010600030101010101" pitchFamily="2" charset="-122"/>
              </a:rPr>
              <a:t>（</a:t>
            </a:r>
            <a:r>
              <a:rPr lang="zh-CN" altLang="en-US" sz="2800" dirty="0">
                <a:solidFill>
                  <a:srgbClr val="CC0099"/>
                </a:solidFill>
                <a:latin typeface="宋体" panose="02010600030101010101" pitchFamily="2" charset="-122"/>
                <a:ea typeface="宋体" panose="02010600030101010101" pitchFamily="2" charset="-122"/>
                <a:cs typeface="宋体" panose="02010600030101010101" pitchFamily="2" charset="-122"/>
              </a:rPr>
              <a:t>直接</a:t>
            </a:r>
            <a:r>
              <a:rPr lang="zh-CN" altLang="en-US" sz="2800" dirty="0">
                <a:solidFill>
                  <a:srgbClr val="FF0000"/>
                </a:solidFill>
                <a:latin typeface="宋体" panose="02010600030101010101" pitchFamily="2" charset="-122"/>
                <a:ea typeface="宋体" panose="02010600030101010101" pitchFamily="2" charset="-122"/>
                <a:cs typeface="宋体" panose="02010600030101010101" pitchFamily="2" charset="-122"/>
              </a:rPr>
              <a:t>函数依赖</a:t>
            </a:r>
            <a:r>
              <a:rPr lang="zh-CN" altLang="en-US" sz="2800" i="1" dirty="0" smtClean="0">
                <a:latin typeface="宋体" panose="02010600030101010101" pitchFamily="2" charset="-122"/>
                <a:ea typeface="宋体" panose="02010600030101010101" pitchFamily="2" charset="-122"/>
                <a:cs typeface="宋体" panose="02010600030101010101" pitchFamily="2" charset="-122"/>
              </a:rPr>
              <a:t>）</a:t>
            </a:r>
            <a:endParaRPr lang="zh-CN" altLang="en-US" sz="2800" dirty="0" smtClean="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263525" indent="-263525">
              <a:buFontTx/>
              <a:buNone/>
            </a:pPr>
            <a:endParaRPr lang="zh-CN" altLang="en-US" sz="2800" dirty="0" smtClean="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示例（完全函数依赖、部分函数依赖）</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598019" name="Rectangle 3"/>
          <p:cNvSpPr>
            <a:spLocks noGrp="1"/>
          </p:cNvSpPr>
          <p:nvPr>
            <p:ph idx="1"/>
          </p:nvPr>
        </p:nvSpPr>
        <p:spPr>
          <a:xfrm>
            <a:off x="331440" y="1700808"/>
            <a:ext cx="8686800" cy="3456384"/>
          </a:xfrm>
        </p:spPr>
        <p:txBody>
          <a:bodyPr vert="horz" wrap="square" lIns="91440" tIns="45720" rIns="91440" bIns="45720" anchor="t" anchorCtr="0"/>
          <a:lstStyle/>
          <a:p>
            <a:pPr marL="0" indent="0" eaLnBrk="1" hangingPunct="1">
              <a:lnSpc>
                <a:spcPct val="110000"/>
              </a:lnSpc>
              <a:buNone/>
            </a:pPr>
            <a:r>
              <a:rPr lang="zh-CN" altLang="en-US" sz="2700" dirty="0" smtClean="0">
                <a:latin typeface="Times New Roman" panose="02020603050405020304" pitchFamily="18" charset="0"/>
                <a:ea typeface="宋体" panose="02010600030101010101" pitchFamily="2" charset="-122"/>
                <a:cs typeface="Times New Roman" panose="02020603050405020304" pitchFamily="18" charset="0"/>
              </a:rPr>
              <a:t>例</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6.1</a:t>
            </a:r>
            <a:r>
              <a:rPr lang="zh-CN" altLang="en-US" sz="2700" dirty="0">
                <a:latin typeface="Times New Roman" panose="02020603050405020304" pitchFamily="18" charset="0"/>
                <a:ea typeface="宋体" panose="02010600030101010101" pitchFamily="2" charset="-122"/>
                <a:cs typeface="Times New Roman" panose="02020603050405020304" pitchFamily="18" charset="0"/>
              </a:rPr>
              <a:t>：有关系模式</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SC</a:t>
            </a:r>
            <a:r>
              <a:rPr lang="zh-CN" altLang="en-US" sz="27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Sno,Sname,Cno,Credit,Grade</a:t>
            </a:r>
            <a:r>
              <a:rPr lang="zh-CN" altLang="en-US" sz="2700" dirty="0">
                <a:latin typeface="Times New Roman" panose="02020603050405020304" pitchFamily="18" charset="0"/>
                <a:ea typeface="宋体" panose="02010600030101010101" pitchFamily="2" charset="-122"/>
                <a:cs typeface="Times New Roman" panose="02020603050405020304" pitchFamily="18" charset="0"/>
              </a:rPr>
              <a:t>），主码为（</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Sno, Cno</a:t>
            </a:r>
            <a:r>
              <a:rPr lang="zh-CN" altLang="en-US" sz="2700" dirty="0">
                <a:latin typeface="Times New Roman" panose="02020603050405020304" pitchFamily="18" charset="0"/>
                <a:ea typeface="宋体" panose="02010600030101010101" pitchFamily="2" charset="-122"/>
                <a:cs typeface="Times New Roman" panose="02020603050405020304" pitchFamily="18" charset="0"/>
              </a:rPr>
              <a:t>），则函数依赖关系有：</a:t>
            </a:r>
            <a:endParaRPr lang="en-US" altLang="zh-CN" sz="27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buNone/>
            </a:pP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Cno</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7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Cno</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 Credit   </a:t>
            </a:r>
            <a:endParaRPr lang="en-US" altLang="zh-CN" sz="27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700" dirty="0" err="1">
                <a:latin typeface="Times New Roman" panose="02020603050405020304" pitchFamily="18" charset="0"/>
                <a:ea typeface="宋体" panose="02010600030101010101" pitchFamily="2" charset="-122"/>
                <a:cs typeface="Times New Roman" panose="02020603050405020304" pitchFamily="18" charset="0"/>
              </a:rPr>
              <a:t>Sno</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700" dirty="0" err="1">
                <a:latin typeface="Times New Roman" panose="02020603050405020304" pitchFamily="18" charset="0"/>
                <a:ea typeface="宋体" panose="02010600030101010101" pitchFamily="2" charset="-122"/>
                <a:cs typeface="Times New Roman" panose="02020603050405020304" pitchFamily="18" charset="0"/>
              </a:rPr>
              <a:t>Cno</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 → Grade</a:t>
            </a:r>
            <a:endPar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7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endParaRPr>
          </a:p>
          <a:p>
            <a:pPr>
              <a:buNone/>
            </a:pPr>
            <a:r>
              <a:rPr lang="en-US" altLang="zh-CN" sz="2700" dirty="0" err="1" smtClean="0">
                <a:latin typeface="Times New Roman" panose="02020603050405020304" pitchFamily="18" charset="0"/>
                <a:ea typeface="宋体" panose="02010600030101010101" pitchFamily="2" charset="-122"/>
                <a:cs typeface="Times New Roman" panose="02020603050405020304" pitchFamily="18" charset="0"/>
              </a:rPr>
              <a:t>Cno</a:t>
            </a:r>
            <a:r>
              <a:rPr lang="en-US" altLang="zh-CN" sz="2700" dirty="0" smtClean="0">
                <a:latin typeface="Times New Roman" panose="02020603050405020304" pitchFamily="18" charset="0"/>
                <a:ea typeface="宋体" panose="02010600030101010101" pitchFamily="2" charset="-122"/>
                <a:cs typeface="Times New Roman" panose="02020603050405020304" pitchFamily="18" charset="0"/>
              </a:rPr>
              <a:t> → Credit</a:t>
            </a:r>
            <a:endParaRPr lang="en-US" altLang="zh-CN" sz="27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endParaRPr lang="zh-CN" altLang="en-US" sz="27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54" name="Rectangle 10"/>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050" name="Object 9"/>
          <p:cNvGraphicFramePr/>
          <p:nvPr/>
        </p:nvGraphicFramePr>
        <p:xfrm>
          <a:off x="1835696" y="2708920"/>
          <a:ext cx="720080" cy="498598"/>
        </p:xfrm>
        <a:graphic>
          <a:graphicData uri="http://schemas.openxmlformats.org/presentationml/2006/ole">
            <mc:AlternateContent xmlns:mc="http://schemas.openxmlformats.org/markup-compatibility/2006">
              <mc:Choice xmlns:v="urn:schemas-microsoft-com:vml" Requires="v">
                <p:oleObj spid="_x0000_s4448" r:id="rId3" imgW="598805" imgH="346710" progId="Visio.Drawing.11">
                  <p:embed/>
                </p:oleObj>
              </mc:Choice>
              <mc:Fallback>
                <p:oleObj r:id="rId3" imgW="598805" imgH="346710" progId="Visio.Drawing.11">
                  <p:embed/>
                  <p:pic>
                    <p:nvPicPr>
                      <p:cNvPr id="0" name="图片 3083"/>
                      <p:cNvPicPr/>
                      <p:nvPr/>
                    </p:nvPicPr>
                    <p:blipFill>
                      <a:blip r:embed="rId4"/>
                      <a:stretch>
                        <a:fillRect/>
                      </a:stretch>
                    </p:blipFill>
                    <p:spPr>
                      <a:xfrm>
                        <a:off x="1835696" y="2708920"/>
                        <a:ext cx="720080" cy="498598"/>
                      </a:xfrm>
                      <a:prstGeom prst="rect">
                        <a:avLst/>
                      </a:prstGeom>
                      <a:noFill/>
                      <a:ln w="38100">
                        <a:noFill/>
                        <a:miter/>
                      </a:ln>
                    </p:spPr>
                  </p:pic>
                </p:oleObj>
              </mc:Fallback>
            </mc:AlternateContent>
          </a:graphicData>
        </a:graphic>
      </p:graphicFrame>
      <p:graphicFrame>
        <p:nvGraphicFramePr>
          <p:cNvPr id="2051" name="Object 1"/>
          <p:cNvGraphicFramePr/>
          <p:nvPr/>
        </p:nvGraphicFramePr>
        <p:xfrm>
          <a:off x="1817018" y="3815705"/>
          <a:ext cx="810766" cy="362992"/>
        </p:xfrm>
        <a:graphic>
          <a:graphicData uri="http://schemas.openxmlformats.org/presentationml/2006/ole">
            <mc:AlternateContent xmlns:mc="http://schemas.openxmlformats.org/markup-compatibility/2006">
              <mc:Choice xmlns:v="urn:schemas-microsoft-com:vml" Requires="v">
                <p:oleObj spid="_x0000_s4449" r:id="rId5" imgW="598805" imgH="346710" progId="Visio.Drawing.11">
                  <p:embed/>
                </p:oleObj>
              </mc:Choice>
              <mc:Fallback>
                <p:oleObj r:id="rId5" imgW="598805" imgH="346710" progId="Visio.Drawing.11">
                  <p:embed/>
                  <p:pic>
                    <p:nvPicPr>
                      <p:cNvPr id="0" name="图片 3078"/>
                      <p:cNvPicPr/>
                      <p:nvPr/>
                    </p:nvPicPr>
                    <p:blipFill>
                      <a:blip r:embed="rId6"/>
                      <a:stretch>
                        <a:fillRect/>
                      </a:stretch>
                    </p:blipFill>
                    <p:spPr>
                      <a:xfrm>
                        <a:off x="1817018" y="3815705"/>
                        <a:ext cx="810766" cy="362992"/>
                      </a:xfrm>
                      <a:prstGeom prst="rect">
                        <a:avLst/>
                      </a:prstGeom>
                      <a:noFill/>
                      <a:ln w="38100">
                        <a:noFill/>
                        <a:miter/>
                      </a:ln>
                    </p:spPr>
                  </p:pic>
                </p:oleObj>
              </mc:Fallback>
            </mc:AlternateContent>
          </a:graphicData>
        </a:graphic>
      </p:graphicFrame>
      <p:sp>
        <p:nvSpPr>
          <p:cNvPr id="2" name="矩形 1"/>
          <p:cNvSpPr/>
          <p:nvPr/>
        </p:nvSpPr>
        <p:spPr>
          <a:xfrm>
            <a:off x="4139952" y="2708920"/>
            <a:ext cx="4896544" cy="498598"/>
          </a:xfrm>
          <a:prstGeom prst="rect">
            <a:avLst/>
          </a:prstGeom>
        </p:spPr>
        <p:txBody>
          <a:bodyPr wrap="square">
            <a:spAutoFit/>
          </a:bodyPr>
          <a:lstStyle/>
          <a:p>
            <a:pPr marL="342900" lvl="0" indent="-342900" algn="l">
              <a:lnSpc>
                <a:spcPct val="110000"/>
              </a:lnSpc>
              <a:spcBef>
                <a:spcPct val="20000"/>
              </a:spcBef>
              <a:buClr>
                <a:srgbClr val="2A4C41"/>
              </a:buClr>
            </a:pPr>
            <a:r>
              <a:rPr lang="zh-CN" altLang="en-US"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理由：</a:t>
            </a:r>
            <a:r>
              <a:rPr lang="en-US" altLang="zh-CN" sz="2400" b="1" dirty="0" err="1"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sname</a:t>
            </a:r>
            <a:endPar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Object 9"/>
          <p:cNvGraphicFramePr/>
          <p:nvPr/>
        </p:nvGraphicFramePr>
        <p:xfrm>
          <a:off x="1835696" y="3280916"/>
          <a:ext cx="758379" cy="432048"/>
        </p:xfrm>
        <a:graphic>
          <a:graphicData uri="http://schemas.openxmlformats.org/presentationml/2006/ole">
            <mc:AlternateContent xmlns:mc="http://schemas.openxmlformats.org/markup-compatibility/2006">
              <mc:Choice xmlns:v="urn:schemas-microsoft-com:vml" Requires="v">
                <p:oleObj spid="_x0000_s4450" r:id="rId7" imgW="598805" imgH="346710" progId="Visio.Drawing.11">
                  <p:embed/>
                </p:oleObj>
              </mc:Choice>
              <mc:Fallback>
                <p:oleObj r:id="rId7" imgW="598805" imgH="346710" progId="Visio.Drawing.11">
                  <p:embed/>
                  <p:pic>
                    <p:nvPicPr>
                      <p:cNvPr id="0" name="图片 4382"/>
                      <p:cNvPicPr/>
                      <p:nvPr/>
                    </p:nvPicPr>
                    <p:blipFill>
                      <a:blip r:embed="rId4"/>
                      <a:stretch>
                        <a:fillRect/>
                      </a:stretch>
                    </p:blipFill>
                    <p:spPr>
                      <a:xfrm>
                        <a:off x="1835696" y="3280916"/>
                        <a:ext cx="758379" cy="432048"/>
                      </a:xfrm>
                      <a:prstGeom prst="rect">
                        <a:avLst/>
                      </a:prstGeom>
                      <a:noFill/>
                      <a:ln w="38100">
                        <a:noFill/>
                        <a:miter/>
                      </a:ln>
                    </p:spPr>
                  </p:pic>
                </p:oleObj>
              </mc:Fallback>
            </mc:AlternateContent>
          </a:graphicData>
        </a:graphic>
      </p:graphicFrame>
      <p:graphicFrame>
        <p:nvGraphicFramePr>
          <p:cNvPr id="3" name="对象 2"/>
          <p:cNvGraphicFramePr>
            <a:graphicFrameLocks noChangeAspect="1"/>
          </p:cNvGraphicFramePr>
          <p:nvPr/>
        </p:nvGraphicFramePr>
        <p:xfrm>
          <a:off x="827584" y="4293096"/>
          <a:ext cx="720080" cy="360040"/>
        </p:xfrm>
        <a:graphic>
          <a:graphicData uri="http://schemas.openxmlformats.org/presentationml/2006/ole">
            <mc:AlternateContent xmlns:mc="http://schemas.openxmlformats.org/markup-compatibility/2006">
              <mc:Choice xmlns:v="urn:schemas-microsoft-com:vml" Requires="v">
                <p:oleObj spid="_x0000_s4451" r:id="rId8" imgW="598805" imgH="346710" progId="Visio.Drawing.11">
                  <p:embed/>
                </p:oleObj>
              </mc:Choice>
              <mc:Fallback>
                <p:oleObj r:id="rId8" imgW="598805" imgH="346710" progId="Visio.Drawing.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4293096"/>
                        <a:ext cx="720080" cy="360040"/>
                      </a:xfrm>
                      <a:prstGeom prst="rect">
                        <a:avLst/>
                      </a:prstGeom>
                      <a:noFill/>
                      <a:ln>
                        <a:noFill/>
                      </a:ln>
                    </p:spPr>
                  </p:pic>
                </p:oleObj>
              </mc:Fallback>
            </mc:AlternateContent>
          </a:graphicData>
        </a:graphic>
      </p:graphicFrame>
      <p:graphicFrame>
        <p:nvGraphicFramePr>
          <p:cNvPr id="10" name="对象 9"/>
          <p:cNvGraphicFramePr>
            <a:graphicFrameLocks noChangeAspect="1"/>
          </p:cNvGraphicFramePr>
          <p:nvPr/>
        </p:nvGraphicFramePr>
        <p:xfrm>
          <a:off x="755576" y="4725144"/>
          <a:ext cx="864096" cy="468052"/>
        </p:xfrm>
        <a:graphic>
          <a:graphicData uri="http://schemas.openxmlformats.org/presentationml/2006/ole">
            <mc:AlternateContent xmlns:mc="http://schemas.openxmlformats.org/markup-compatibility/2006">
              <mc:Choice xmlns:v="urn:schemas-microsoft-com:vml" Requires="v">
                <p:oleObj spid="_x0000_s4452" r:id="rId9" imgW="598805" imgH="346710" progId="Visio.Drawing.11">
                  <p:embed/>
                </p:oleObj>
              </mc:Choice>
              <mc:Fallback>
                <p:oleObj r:id="rId9" imgW="598805" imgH="346710" progId="Visio.Drawing.11">
                  <p:embed/>
                  <p:pic>
                    <p:nvPicPr>
                      <p:cNvPr id="0" name="图片 43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4725144"/>
                        <a:ext cx="864096" cy="468052"/>
                      </a:xfrm>
                      <a:prstGeom prst="rect">
                        <a:avLst/>
                      </a:prstGeom>
                      <a:noFill/>
                      <a:ln>
                        <a:noFill/>
                      </a:ln>
                    </p:spPr>
                  </p:pic>
                </p:oleObj>
              </mc:Fallback>
            </mc:AlternateContent>
          </a:graphicData>
        </a:graphic>
      </p:graphicFrame>
      <p:sp>
        <p:nvSpPr>
          <p:cNvPr id="12" name="矩形 11"/>
          <p:cNvSpPr/>
          <p:nvPr/>
        </p:nvSpPr>
        <p:spPr>
          <a:xfrm>
            <a:off x="4139952" y="3198638"/>
            <a:ext cx="4680520" cy="498598"/>
          </a:xfrm>
          <a:prstGeom prst="rect">
            <a:avLst/>
          </a:prstGeom>
        </p:spPr>
        <p:txBody>
          <a:bodyPr wrap="square">
            <a:spAutoFit/>
          </a:bodyPr>
          <a:lstStyle/>
          <a:p>
            <a:pPr marL="342900" lvl="0" indent="-342900" algn="l">
              <a:lnSpc>
                <a:spcPct val="110000"/>
              </a:lnSpc>
              <a:spcBef>
                <a:spcPct val="20000"/>
              </a:spcBef>
              <a:buClr>
                <a:srgbClr val="2A4C41"/>
              </a:buClr>
            </a:pPr>
            <a:r>
              <a:rPr lang="zh-CN" altLang="en-US"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理由：</a:t>
            </a:r>
            <a:r>
              <a:rPr lang="en-US" altLang="zh-CN" sz="2400" b="1" dirty="0" err="1"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cno</a:t>
            </a:r>
            <a:r>
              <a:rPr lang="en-US" altLang="zh-CN"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→credit</a:t>
            </a:r>
            <a:endPar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3635896" y="3697236"/>
            <a:ext cx="5400600" cy="464743"/>
          </a:xfrm>
          <a:prstGeom prst="rect">
            <a:avLst/>
          </a:prstGeom>
        </p:spPr>
        <p:txBody>
          <a:bodyPr wrap="square">
            <a:spAutoFit/>
          </a:bodyPr>
          <a:lstStyle/>
          <a:p>
            <a:pPr marL="342900" lvl="0" indent="-342900" algn="l">
              <a:lnSpc>
                <a:spcPct val="110000"/>
              </a:lnSpc>
              <a:spcBef>
                <a:spcPct val="20000"/>
              </a:spcBef>
              <a:buClr>
                <a:srgbClr val="2A4C41"/>
              </a:buClr>
            </a:pPr>
            <a:r>
              <a:rPr lang="zh-CN" altLang="en-US"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理由：</a:t>
            </a:r>
            <a:r>
              <a:rPr lang="en-US" altLang="zh-CN" sz="2200" b="1" dirty="0" err="1"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dirty="0">
                <a:latin typeface="宋体" panose="02010600030101010101" pitchFamily="2" charset="-122"/>
                <a:ea typeface="宋体" panose="02010600030101010101" pitchFamily="2" charset="-122"/>
              </a:rPr>
              <a:t>—</a:t>
            </a:r>
            <a:r>
              <a:rPr lang="en-US" altLang="zh-CN" sz="2200" b="1" dirty="0" smtClean="0">
                <a:latin typeface="宋体" panose="02010600030101010101" pitchFamily="2" charset="-122"/>
                <a:ea typeface="宋体" panose="02010600030101010101" pitchFamily="2" charset="-122"/>
              </a:rPr>
              <a:t>/</a:t>
            </a:r>
            <a:r>
              <a:rPr lang="zh-CN" altLang="zh-CN" sz="2200" b="1" dirty="0" smtClean="0">
                <a:latin typeface="宋体" panose="02010600030101010101" pitchFamily="2" charset="-122"/>
                <a:ea typeface="宋体" panose="02010600030101010101" pitchFamily="2" charset="-122"/>
              </a:rPr>
              <a:t>→</a:t>
            </a:r>
            <a:r>
              <a:rPr lang="en-US" altLang="zh-CN"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grade , </a:t>
            </a:r>
            <a:r>
              <a:rPr lang="en-US" altLang="zh-CN" sz="2200" b="1" dirty="0" err="1"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cno</a:t>
            </a:r>
            <a:r>
              <a:rPr lang="en-US" altLang="zh-CN"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b="1" dirty="0">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a:t>
            </a:r>
            <a:r>
              <a:rPr lang="zh-CN" altLang="zh-CN" sz="2200" b="1" dirty="0" smtClean="0">
                <a:latin typeface="宋体" panose="02010600030101010101" pitchFamily="2" charset="-122"/>
                <a:ea typeface="宋体" panose="02010600030101010101" pitchFamily="2" charset="-122"/>
              </a:rPr>
              <a:t>→ </a:t>
            </a:r>
            <a:r>
              <a:rPr lang="en-US" altLang="zh-CN"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grade</a:t>
            </a:r>
            <a:endParaRPr lang="zh-CN" altLang="en-US" sz="2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矩形 13"/>
          <p:cNvSpPr/>
          <p:nvPr/>
        </p:nvSpPr>
        <p:spPr>
          <a:xfrm>
            <a:off x="3419872" y="4437112"/>
            <a:ext cx="5400600" cy="434350"/>
          </a:xfrm>
          <a:prstGeom prst="rect">
            <a:avLst/>
          </a:prstGeom>
        </p:spPr>
        <p:txBody>
          <a:bodyPr wrap="square">
            <a:spAutoFit/>
          </a:bodyPr>
          <a:lstStyle/>
          <a:p>
            <a:pPr marL="342900" lvl="0" indent="-342900" algn="just">
              <a:lnSpc>
                <a:spcPct val="110000"/>
              </a:lnSpc>
              <a:spcBef>
                <a:spcPct val="20000"/>
              </a:spcBef>
              <a:buClr>
                <a:srgbClr val="2A4C41"/>
              </a:buClr>
            </a:pPr>
            <a:r>
              <a:rPr lang="zh-CN" altLang="en-US"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理由：决定因子只有一个字段，一定是 </a:t>
            </a:r>
            <a:r>
              <a:rPr lang="en-US" altLang="zh-CN" sz="22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f </a:t>
            </a:r>
            <a:endParaRPr lang="zh-CN" altLang="en-US" sz="2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80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801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801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80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80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80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05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down)">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示例（直接函数依赖、传递函数依赖）</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079" name="Rectangle 3"/>
          <p:cNvSpPr>
            <a:spLocks noGrp="1"/>
          </p:cNvSpPr>
          <p:nvPr>
            <p:ph idx="1"/>
          </p:nvPr>
        </p:nvSpPr>
        <p:spPr>
          <a:xfrm>
            <a:off x="250031" y="1515330"/>
            <a:ext cx="8643937" cy="3528392"/>
          </a:xfrm>
        </p:spPr>
        <p:txBody>
          <a:bodyPr vert="horz" wrap="square" lIns="91440" tIns="45720" rIns="91440" bIns="45720" anchor="t" anchorCtr="0"/>
          <a:lstStyle/>
          <a:p>
            <a:pPr marL="0" indent="0" eaLnBrk="1" hangingPunct="1">
              <a:lnSpc>
                <a:spcPct val="110000"/>
              </a:lnSpc>
              <a:spcBef>
                <a:spcPts val="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6.2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：有关系模式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S(Sno,Sname,Dept,Dept_master)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，各属性分别为：学号、姓名、所在系和系主任（假设一个系只有一个主任），主码为</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lnSpc>
                <a:spcPct val="110000"/>
              </a:lnSpc>
              <a:spcBef>
                <a:spcPts val="200"/>
              </a:spcBef>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p>
          <a:p>
            <a:pPr marL="0" indent="0" eaLnBrk="1" hangingPunct="1">
              <a:lnSpc>
                <a:spcPct val="110000"/>
              </a:lnSpc>
              <a:spcBef>
                <a:spcPts val="200"/>
              </a:spcBef>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判断</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Dept_master</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是传递函数依赖吗？</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lnSpc>
                <a:spcPct val="110000"/>
              </a:lnSpc>
              <a:spcBef>
                <a:spcPts val="200"/>
              </a:spcBef>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Dept_master</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lnSpc>
                <a:spcPct val="110000"/>
              </a:lnSpc>
              <a:spcBef>
                <a:spcPts val="200"/>
              </a:spcBef>
              <a:buNone/>
            </a:pP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能否找中介字段（</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Dept_master</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3080" name="Rectangle 7"/>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3074" name="Object 6"/>
          <p:cNvGraphicFramePr/>
          <p:nvPr/>
        </p:nvGraphicFramePr>
        <p:xfrm>
          <a:off x="7884368" y="3501008"/>
          <a:ext cx="658813" cy="409575"/>
        </p:xfrm>
        <a:graphic>
          <a:graphicData uri="http://schemas.openxmlformats.org/presentationml/2006/ole">
            <mc:AlternateContent xmlns:mc="http://schemas.openxmlformats.org/markup-compatibility/2006">
              <mc:Choice xmlns:v="urn:schemas-microsoft-com:vml" Requires="v">
                <p:oleObj spid="_x0000_s5427" r:id="rId3" imgW="598805" imgH="367665" progId="Visio.Drawing.11">
                  <p:embed/>
                </p:oleObj>
              </mc:Choice>
              <mc:Fallback>
                <p:oleObj r:id="rId3" imgW="598805" imgH="367665" progId="Visio.Drawing.11">
                  <p:embed/>
                  <p:pic>
                    <p:nvPicPr>
                      <p:cNvPr id="0" name="图片 1"/>
                      <p:cNvPicPr/>
                      <p:nvPr/>
                    </p:nvPicPr>
                    <p:blipFill>
                      <a:blip r:embed="rId4"/>
                      <a:stretch>
                        <a:fillRect/>
                      </a:stretch>
                    </p:blipFill>
                    <p:spPr>
                      <a:xfrm>
                        <a:off x="7884368" y="3501008"/>
                        <a:ext cx="658813" cy="409575"/>
                      </a:xfrm>
                      <a:prstGeom prst="rect">
                        <a:avLst/>
                      </a:prstGeom>
                      <a:noFill/>
                      <a:ln w="38100">
                        <a:noFill/>
                        <a:miter/>
                      </a:ln>
                    </p:spPr>
                  </p:pic>
                </p:oleObj>
              </mc:Fallback>
            </mc:AlternateContent>
          </a:graphicData>
        </a:graphic>
      </p:graphicFrame>
      <p:sp>
        <p:nvSpPr>
          <p:cNvPr id="2" name="矩形 1"/>
          <p:cNvSpPr/>
          <p:nvPr/>
        </p:nvSpPr>
        <p:spPr>
          <a:xfrm>
            <a:off x="544233" y="5013175"/>
            <a:ext cx="5474576" cy="954107"/>
          </a:xfrm>
          <a:prstGeom prst="rect">
            <a:avLst/>
          </a:prstGeom>
        </p:spPr>
        <p:txBody>
          <a:bodyPr wrap="none">
            <a:spAutoFit/>
          </a:bodyPr>
          <a:lstStyle/>
          <a:p>
            <a:r>
              <a:rPr lang="en-US" altLang="zh-CN" sz="2800" b="1" dirty="0" err="1">
                <a:solidFill>
                  <a:srgbClr val="0000CC"/>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Dept</a:t>
            </a:r>
            <a:r>
              <a:rPr lang="zh-CN" altLang="en-US"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Dept</a:t>
            </a:r>
            <a:r>
              <a:rPr lang="en-US" altLang="zh-CN"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Dept_master</a:t>
            </a:r>
            <a:endParaRPr lang="en-US" altLang="zh-CN"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Dept</a:t>
            </a:r>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b="1" dirty="0" err="1"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重要前提</a:t>
            </a:r>
            <a:endParaRPr lang="zh-CN" altLang="en-US" sz="2800" b="1" dirty="0">
              <a:solidFill>
                <a:srgbClr val="0000CC"/>
              </a:solidFill>
            </a:endParaRPr>
          </a:p>
        </p:txBody>
      </p:sp>
      <p:cxnSp>
        <p:nvCxnSpPr>
          <p:cNvPr id="6" name="直接连接符 5"/>
          <p:cNvCxnSpPr/>
          <p:nvPr/>
        </p:nvCxnSpPr>
        <p:spPr bwMode="auto">
          <a:xfrm flipH="1">
            <a:off x="2483768" y="5490228"/>
            <a:ext cx="216024" cy="477054"/>
          </a:xfrm>
          <a:prstGeom prst="line">
            <a:avLst/>
          </a:prstGeom>
          <a:solidFill>
            <a:schemeClr val="accent1"/>
          </a:solidFill>
          <a:ln w="28575" cap="flat" cmpd="sng" algn="ctr">
            <a:solidFill>
              <a:schemeClr val="tx1"/>
            </a:solidFill>
            <a:prstDash val="solid"/>
            <a:round/>
            <a:headEnd type="none" w="med" len="med"/>
            <a:tailEnd type="none" w="med" len="med"/>
          </a:ln>
        </p:spPr>
      </p:cxnSp>
      <p:sp>
        <p:nvSpPr>
          <p:cNvPr id="8" name="矩形 7"/>
          <p:cNvSpPr/>
          <p:nvPr/>
        </p:nvSpPr>
        <p:spPr>
          <a:xfrm>
            <a:off x="553609" y="2780928"/>
            <a:ext cx="3080692" cy="498598"/>
          </a:xfrm>
          <a:prstGeom prst="rect">
            <a:avLst/>
          </a:prstGeom>
        </p:spPr>
        <p:txBody>
          <a:bodyPr wrap="square">
            <a:spAutoFit/>
          </a:bodyPr>
          <a:lstStyle/>
          <a:p>
            <a:pPr marL="342900" lvl="0" indent="-342900" algn="l">
              <a:lnSpc>
                <a:spcPct val="110000"/>
              </a:lnSpc>
              <a:spcBef>
                <a:spcPct val="20000"/>
              </a:spcBef>
              <a:buClr>
                <a:srgbClr val="2A4C41"/>
              </a:buClr>
            </a:pPr>
            <a:r>
              <a:rPr lang="en-US" altLang="zh-CN" sz="2400" b="1" dirty="0" err="1"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4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chemeClr val="tx2"/>
                </a:solidFill>
                <a:latin typeface="Times New Roman" panose="02020603050405020304" pitchFamily="18" charset="0"/>
                <a:ea typeface="宋体" panose="02010600030101010101" pitchFamily="2" charset="-122"/>
                <a:cs typeface="Times New Roman" panose="02020603050405020304" pitchFamily="18" charset="0"/>
              </a:rPr>
              <a:t>Dept_master</a:t>
            </a:r>
            <a:endParaRPr lang="zh-CN" altLang="en-US" sz="24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79">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079">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nodeType="clickEffect">
                                  <p:stCondLst>
                                    <p:cond delay="0"/>
                                  </p:stCondLst>
                                  <p:childTnLst>
                                    <p:animMotion origin="layout" path="M -3.88889E-6 2.22222E-6 L -0.7368 0.07523 " pathEditMode="relative" rAng="0" ptsTypes="AA">
                                      <p:cBhvr>
                                        <p:cTn id="29" dur="2000" fill="hold"/>
                                        <p:tgtEl>
                                          <p:spTgt spid="3074"/>
                                        </p:tgtEl>
                                        <p:attrNameLst>
                                          <p:attrName>ppt_x</p:attrName>
                                          <p:attrName>ppt_y</p:attrName>
                                        </p:attrNameLst>
                                      </p:cBhvr>
                                      <p:rCtr x="-36840" y="375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6.1.3 函数依赖的推理规则</a:t>
            </a:r>
          </a:p>
        </p:txBody>
      </p:sp>
      <p:sp>
        <p:nvSpPr>
          <p:cNvPr id="20483" name="内容占位符 2"/>
          <p:cNvSpPr>
            <a:spLocks noGrp="1"/>
          </p:cNvSpPr>
          <p:nvPr>
            <p:ph idx="1"/>
          </p:nvPr>
        </p:nvSpPr>
        <p:spPr>
          <a:xfrm>
            <a:off x="395536" y="1772816"/>
            <a:ext cx="8229600" cy="3672408"/>
          </a:xfrm>
        </p:spPr>
        <p:txBody>
          <a:bodyPr vert="horz" wrap="square" lIns="91440" tIns="45720" rIns="91440" bIns="45720" anchor="t" anchorCtr="0"/>
          <a:lstStyle/>
          <a:p>
            <a:pPr eaLnBrk="1" hangingPunct="1">
              <a:lnSpc>
                <a:spcPct val="130000"/>
              </a:lnSpc>
              <a:spcBef>
                <a:spcPts val="60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从已知的函数依赖可以推导出另一些新的函数依赖，这需要一系列推理规则。</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30000"/>
              </a:lnSpc>
              <a:spcBef>
                <a:spcPts val="180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函数依赖的推理规则最早出现在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1974</a:t>
            </a:r>
            <a:r>
              <a:rPr lang="zh-CN" altLang="en-US"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dirty="0">
                <a:latin typeface="Times New Roman" panose="02020603050405020304" pitchFamily="18" charset="0"/>
                <a:ea typeface="宋体" panose="02010600030101010101" pitchFamily="2" charset="-122"/>
                <a:cs typeface="Times New Roman" panose="02020603050405020304" pitchFamily="18" charset="0"/>
              </a:rPr>
              <a:t>W.W.Armstrong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论文中，因此称这些规则为</a:t>
            </a:r>
            <a:r>
              <a:rPr lang="en-US" altLang="zh-CN" dirty="0">
                <a:latin typeface="Times New Roman" panose="02020603050405020304" pitchFamily="18" charset="0"/>
                <a:ea typeface="宋体" panose="02010600030101010101" pitchFamily="2" charset="-122"/>
                <a:cs typeface="Times New Roman" panose="02020603050405020304" pitchFamily="18" charset="0"/>
              </a:rPr>
              <a:t>Armstrong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公理。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3568" y="116632"/>
            <a:ext cx="7772400" cy="609600"/>
          </a:xfrm>
        </p:spPr>
        <p:txBody>
          <a:bodyPr/>
          <a:lstStyle/>
          <a:p>
            <a:r>
              <a:rPr lang="en-US" altLang="zh-CN" sz="4400" dirty="0" smtClean="0">
                <a:latin typeface="Times New Roman" panose="02020603050405020304" pitchFamily="18" charset="0"/>
                <a:cs typeface="Times New Roman" panose="02020603050405020304" pitchFamily="18" charset="0"/>
              </a:rPr>
              <a:t>Armstrong</a:t>
            </a:r>
            <a:r>
              <a:rPr lang="zh-CN" altLang="en-US" sz="4400" dirty="0" smtClean="0">
                <a:latin typeface="Times New Roman" panose="02020603050405020304" pitchFamily="18" charset="0"/>
                <a:cs typeface="Times New Roman" panose="02020603050405020304" pitchFamily="18" charset="0"/>
              </a:rPr>
              <a:t>公理及推论</a:t>
            </a:r>
          </a:p>
        </p:txBody>
      </p:sp>
      <p:sp>
        <p:nvSpPr>
          <p:cNvPr id="204803" name="Rectangle 3"/>
          <p:cNvSpPr>
            <a:spLocks noGrp="1" noChangeArrowheads="1"/>
          </p:cNvSpPr>
          <p:nvPr>
            <p:ph type="body" idx="1"/>
          </p:nvPr>
        </p:nvSpPr>
        <p:spPr>
          <a:xfrm>
            <a:off x="228600" y="990600"/>
            <a:ext cx="8484235" cy="5638800"/>
          </a:xfrm>
        </p:spPr>
        <p:txBody>
          <a:bodyPr/>
          <a:lstStyle/>
          <a:p>
            <a:pPr marL="0" indent="0">
              <a:lnSpc>
                <a:spcPct val="110000"/>
              </a:lnSpc>
            </a:pPr>
            <a:r>
              <a:rPr lang="en-US" altLang="zh-CN"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Armstrong</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公理 </a:t>
            </a:r>
          </a:p>
          <a:p>
            <a:pPr lvl="1">
              <a:lnSpc>
                <a:spcPct val="110000"/>
              </a:lnSpc>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自反律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增广律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传递律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marL="0" indent="0">
              <a:lnSpc>
                <a:spcPct val="110000"/>
              </a:lnSpc>
              <a:spcBef>
                <a:spcPts val="1800"/>
              </a:spcBef>
            </a:pPr>
            <a:r>
              <a:rPr lang="en-US" altLang="zh-CN"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Armstrong</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公理</a:t>
            </a:r>
            <a:r>
              <a:rPr lang="zh-CN" altLang="en-US" sz="2400" dirty="0">
                <a:solidFill>
                  <a:schemeClr val="accent2"/>
                </a:solidFill>
                <a:latin typeface="宋体" panose="02010600030101010101" pitchFamily="2" charset="-122"/>
                <a:ea typeface="宋体" panose="02010600030101010101" pitchFamily="2" charset="-122"/>
                <a:cs typeface="宋体" panose="02010600030101010101" pitchFamily="2" charset="-122"/>
              </a:rPr>
              <a:t>的</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推论</a:t>
            </a:r>
          </a:p>
          <a:p>
            <a:pPr lvl="1">
              <a:lnSpc>
                <a:spcPct val="110000"/>
              </a:lnSpc>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合并律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    若有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分解律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    若有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  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和</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伪传递律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a:t>
            </a:r>
            <a:r>
              <a:rPr lang="en-US" altLang="zh-CN" sz="2400" dirty="0" smtClean="0">
                <a:latin typeface="宋体" panose="02010600030101010101" pitchFamily="2" charset="-122"/>
                <a:ea typeface="宋体" panose="02010600030101010101" pitchFamily="2" charset="-122"/>
                <a:cs typeface="宋体" panose="02010600030101010101" pitchFamily="2" charset="-122"/>
              </a:rPr>
              <a:t>   </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en-US" altLang="zh-CN"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a:p>
            <a:pPr lvl="1">
              <a:lnSpc>
                <a:spcPct val="110000"/>
              </a:lnSpc>
              <a:spcBef>
                <a:spcPts val="1200"/>
              </a:spcBef>
            </a:pP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复合</a:t>
            </a: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规则</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宋体" panose="02010600030101010101" pitchFamily="2" charset="-122"/>
              </a:rPr>
              <a:t>若有</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en-US" altLang="zh-CN"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a:p>
            <a:pPr lvl="1">
              <a:lnSpc>
                <a:spcPct val="110000"/>
              </a:lnSpc>
            </a:pPr>
            <a:endPar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p:txBody>
      </p:sp>
      <p:sp>
        <p:nvSpPr>
          <p:cNvPr id="2" name="矩形 1"/>
          <p:cNvSpPr/>
          <p:nvPr/>
        </p:nvSpPr>
        <p:spPr>
          <a:xfrm>
            <a:off x="5775796" y="1494136"/>
            <a:ext cx="1476164" cy="461665"/>
          </a:xfrm>
          <a:prstGeom prst="rect">
            <a:avLst/>
          </a:prstGeom>
        </p:spPr>
        <p:txBody>
          <a:bodyPr wrap="square">
            <a:spAutoFit/>
          </a:bodyPr>
          <a:lstStyle/>
          <a:p>
            <a:r>
              <a:rPr lang="en-US" altLang="zh-CN" sz="2400" b="1" dirty="0" smtClean="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A,B)</a:t>
            </a:r>
            <a:r>
              <a:rPr lang="en-US" altLang="zh-CN" sz="2400" b="1" dirty="0">
                <a:latin typeface="Times New Roman" panose="02020603050405020304" pitchFamily="18" charset="0"/>
                <a:sym typeface="Wingdings" panose="05000000000000000000" pitchFamily="2" charset="2"/>
              </a:rPr>
              <a:t>B</a:t>
            </a:r>
            <a:endParaRPr lang="zh-CN" altLang="en-US" sz="2400" b="1" dirty="0"/>
          </a:p>
        </p:txBody>
      </p:sp>
      <p:sp>
        <p:nvSpPr>
          <p:cNvPr id="6" name="矩形 5"/>
          <p:cNvSpPr/>
          <p:nvPr/>
        </p:nvSpPr>
        <p:spPr>
          <a:xfrm>
            <a:off x="7251960" y="1494135"/>
            <a:ext cx="1979712" cy="461665"/>
          </a:xfrm>
          <a:prstGeom prst="rect">
            <a:avLst/>
          </a:prstGeom>
        </p:spPr>
        <p:txBody>
          <a:bodyPr wrap="square">
            <a:spAutoFit/>
          </a:bodyPr>
          <a:lstStyle/>
          <a:p>
            <a:pPr algn="l"/>
            <a:r>
              <a:rPr lang="en-US" altLang="zh-CN" sz="2400" b="1" dirty="0" smtClean="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A,B)</a:t>
            </a:r>
            <a:r>
              <a:rPr lang="en-US" altLang="zh-CN" sz="2400" b="1" dirty="0" smtClean="0">
                <a:latin typeface="Times New Roman" panose="02020603050405020304" pitchFamily="18" charset="0"/>
                <a:sym typeface="Wingdings" panose="05000000000000000000" pitchFamily="2" charset="2"/>
              </a:rPr>
              <a:t></a:t>
            </a:r>
            <a:r>
              <a:rPr lang="en-US" altLang="zh-CN" sz="2400" b="1" dirty="0">
                <a:latin typeface="Times New Roman" panose="02020603050405020304" pitchFamily="18" charset="0"/>
                <a:sym typeface="Symbol" panose="05050102010706020507" pitchFamily="18" charset="2"/>
              </a:rPr>
              <a:t> (A,B)</a:t>
            </a:r>
            <a:endParaRPr lang="zh-CN" altLang="en-US" sz="2400" b="1" dirty="0"/>
          </a:p>
        </p:txBody>
      </p:sp>
      <p:pic>
        <p:nvPicPr>
          <p:cNvPr id="8" name="Picture 4" descr="手1"/>
          <p:cNvPicPr>
            <a:picLocks noChangeAspect="1" noChangeArrowheads="1" noCrop="1"/>
          </p:cNvPicPr>
          <p:nvPr/>
        </p:nvPicPr>
        <p:blipFill>
          <a:blip r:embed="rId2"/>
          <a:srcRect/>
          <a:stretch>
            <a:fillRect/>
          </a:stretch>
        </p:blipFill>
        <p:spPr bwMode="auto">
          <a:xfrm>
            <a:off x="6932128" y="3861296"/>
            <a:ext cx="671512" cy="2413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7449772" y="3761104"/>
            <a:ext cx="1584088" cy="430887"/>
          </a:xfrm>
          <a:prstGeom prst="rect">
            <a:avLst/>
          </a:prstGeom>
        </p:spPr>
        <p:txBody>
          <a:bodyPr wrap="none">
            <a:spAutoFit/>
          </a:bodyPr>
          <a:lstStyle/>
          <a:p>
            <a:r>
              <a:rPr lang="zh-CN" altLang="en-US" sz="2200" b="1" dirty="0" smtClean="0">
                <a:solidFill>
                  <a:srgbClr val="000000"/>
                </a:solidFill>
              </a:rPr>
              <a:t>推导合并律</a:t>
            </a:r>
            <a:endParaRPr lang="zh-CN" altLang="en-US" sz="2200" b="1"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04803">
                                            <p:txEl>
                                              <p:pRg st="4" end="4"/>
                                            </p:txEl>
                                          </p:spTgt>
                                        </p:tgtEl>
                                        <p:attrNameLst>
                                          <p:attrName>style.visibility</p:attrName>
                                        </p:attrNameLst>
                                      </p:cBhvr>
                                      <p:to>
                                        <p:strVal val="visible"/>
                                      </p:to>
                                    </p:set>
                                    <p:animEffect transition="in" filter="wipe(left)">
                                      <p:cBhvr>
                                        <p:cTn id="15" dur="500"/>
                                        <p:tgtEl>
                                          <p:spTgt spid="204803">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04803">
                                            <p:txEl>
                                              <p:pRg st="5" end="5"/>
                                            </p:txEl>
                                          </p:spTgt>
                                        </p:tgtEl>
                                        <p:attrNameLst>
                                          <p:attrName>style.visibility</p:attrName>
                                        </p:attrNameLst>
                                      </p:cBhvr>
                                      <p:to>
                                        <p:strVal val="visible"/>
                                      </p:to>
                                    </p:set>
                                    <p:animEffect transition="in" filter="wipe(left)">
                                      <p:cBhvr>
                                        <p:cTn id="18" dur="500"/>
                                        <p:tgtEl>
                                          <p:spTgt spid="204803">
                                            <p:txEl>
                                              <p:pRg st="5" end="5"/>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04803">
                                            <p:txEl>
                                              <p:pRg st="6" end="6"/>
                                            </p:txEl>
                                          </p:spTgt>
                                        </p:tgtEl>
                                        <p:attrNameLst>
                                          <p:attrName>style.visibility</p:attrName>
                                        </p:attrNameLst>
                                      </p:cBhvr>
                                      <p:to>
                                        <p:strVal val="visible"/>
                                      </p:to>
                                    </p:set>
                                    <p:animEffect transition="in" filter="wipe(left)">
                                      <p:cBhvr>
                                        <p:cTn id="21" dur="500"/>
                                        <p:tgtEl>
                                          <p:spTgt spid="204803">
                                            <p:txEl>
                                              <p:pRg st="6" end="6"/>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204803">
                                            <p:txEl>
                                              <p:pRg st="7" end="7"/>
                                            </p:txEl>
                                          </p:spTgt>
                                        </p:tgtEl>
                                        <p:attrNameLst>
                                          <p:attrName>style.visibility</p:attrName>
                                        </p:attrNameLst>
                                      </p:cBhvr>
                                      <p:to>
                                        <p:strVal val="visible"/>
                                      </p:to>
                                    </p:set>
                                    <p:animEffect transition="in" filter="wipe(left)">
                                      <p:cBhvr>
                                        <p:cTn id="24" dur="500"/>
                                        <p:tgtEl>
                                          <p:spTgt spid="204803">
                                            <p:txEl>
                                              <p:pRg st="7" end="7"/>
                                            </p:txEl>
                                          </p:spTgt>
                                        </p:tgtEl>
                                      </p:cBhvr>
                                    </p:animEffect>
                                  </p:childTnLst>
                                </p:cTn>
                              </p:par>
                              <p:par>
                                <p:cTn id="25" presetID="22" presetClass="entr" presetSubtype="8" fill="hold" nodeType="withEffect">
                                  <p:stCondLst>
                                    <p:cond delay="0"/>
                                  </p:stCondLst>
                                  <p:childTnLst>
                                    <p:set>
                                      <p:cBhvr>
                                        <p:cTn id="26" dur="1" fill="hold">
                                          <p:stCondLst>
                                            <p:cond delay="0"/>
                                          </p:stCondLst>
                                        </p:cTn>
                                        <p:tgtEl>
                                          <p:spTgt spid="204803">
                                            <p:txEl>
                                              <p:pRg st="8" end="8"/>
                                            </p:txEl>
                                          </p:spTgt>
                                        </p:tgtEl>
                                        <p:attrNameLst>
                                          <p:attrName>style.visibility</p:attrName>
                                        </p:attrNameLst>
                                      </p:cBhvr>
                                      <p:to>
                                        <p:strVal val="visible"/>
                                      </p:to>
                                    </p:set>
                                    <p:animEffect transition="in" filter="wipe(left)">
                                      <p:cBhvr>
                                        <p:cTn id="27" dur="500"/>
                                        <p:tgtEl>
                                          <p:spTgt spid="20480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randombar(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83568" y="116632"/>
            <a:ext cx="8136904" cy="609600"/>
          </a:xfrm>
        </p:spPr>
        <p:txBody>
          <a:bodyPr/>
          <a:lstStyle/>
          <a:p>
            <a:r>
              <a:rPr lang="zh-CN" altLang="en-US" sz="3200" dirty="0" smtClean="0">
                <a:latin typeface="Times New Roman" panose="02020603050405020304" pitchFamily="18" charset="0"/>
                <a:cs typeface="Times New Roman" panose="02020603050405020304" pitchFamily="18" charset="0"/>
              </a:rPr>
              <a:t>推导合并律</a:t>
            </a:r>
          </a:p>
        </p:txBody>
      </p:sp>
      <p:sp>
        <p:nvSpPr>
          <p:cNvPr id="204803" name="Rectangle 3"/>
          <p:cNvSpPr>
            <a:spLocks noGrp="1" noChangeArrowheads="1"/>
          </p:cNvSpPr>
          <p:nvPr>
            <p:ph type="body" idx="1"/>
          </p:nvPr>
        </p:nvSpPr>
        <p:spPr>
          <a:xfrm>
            <a:off x="228600" y="990600"/>
            <a:ext cx="7871792" cy="5638800"/>
          </a:xfrm>
        </p:spPr>
        <p:txBody>
          <a:bodyPr/>
          <a:lstStyle/>
          <a:p>
            <a:pPr marL="0" indent="0">
              <a:lnSpc>
                <a:spcPct val="110000"/>
              </a:lnSpc>
            </a:pPr>
            <a:r>
              <a:rPr lang="en-US" altLang="zh-CN"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Armstrong</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公理 </a:t>
            </a:r>
          </a:p>
          <a:p>
            <a:pPr lvl="1">
              <a:lnSpc>
                <a:spcPct val="110000"/>
              </a:lnSpc>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自反律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增广律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lvl="1">
              <a:lnSpc>
                <a:spcPct val="110000"/>
              </a:lnSpc>
              <a:spcBef>
                <a:spcPts val="12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传递律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：若存在</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marL="0" indent="0">
              <a:lnSpc>
                <a:spcPct val="110000"/>
              </a:lnSpc>
              <a:spcBef>
                <a:spcPts val="1800"/>
              </a:spcBef>
            </a:pPr>
            <a:r>
              <a:rPr lang="en-US" altLang="zh-CN"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Armstrong</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公理</a:t>
            </a:r>
            <a:r>
              <a:rPr lang="zh-CN" altLang="en-US" sz="2400" dirty="0">
                <a:solidFill>
                  <a:schemeClr val="accent2"/>
                </a:solidFill>
                <a:latin typeface="宋体" panose="02010600030101010101" pitchFamily="2" charset="-122"/>
                <a:ea typeface="宋体" panose="02010600030101010101" pitchFamily="2" charset="-122"/>
                <a:cs typeface="宋体" panose="02010600030101010101" pitchFamily="2" charset="-122"/>
              </a:rPr>
              <a:t>的</a:t>
            </a:r>
            <a:r>
              <a:rPr lang="zh-CN" altLang="en-US" sz="2400" dirty="0" smtClean="0">
                <a:solidFill>
                  <a:schemeClr val="accent2"/>
                </a:solidFill>
                <a:latin typeface="宋体" panose="02010600030101010101" pitchFamily="2" charset="-122"/>
                <a:ea typeface="宋体" panose="02010600030101010101" pitchFamily="2" charset="-122"/>
                <a:cs typeface="宋体" panose="02010600030101010101" pitchFamily="2" charset="-122"/>
              </a:rPr>
              <a:t>推论</a:t>
            </a:r>
          </a:p>
          <a:p>
            <a:pPr lvl="1">
              <a:lnSpc>
                <a:spcPct val="110000"/>
              </a:lnSpc>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合并律</a:t>
            </a:r>
            <a:r>
              <a:rPr lang="zh-CN" altLang="en-US" sz="2400" dirty="0" smtClean="0">
                <a:latin typeface="宋体" panose="02010600030101010101" pitchFamily="2" charset="-122"/>
                <a:ea typeface="宋体" panose="02010600030101010101" pitchFamily="2" charset="-122"/>
                <a:cs typeface="宋体" panose="02010600030101010101" pitchFamily="2" charset="-122"/>
              </a:rPr>
              <a:t>：    若有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且</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，则有</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smtClean="0">
              <a:latin typeface="宋体" panose="02010600030101010101" pitchFamily="2" charset="-122"/>
              <a:ea typeface="宋体" panose="02010600030101010101" pitchFamily="2" charset="-122"/>
              <a:cs typeface="宋体" panose="02010600030101010101" pitchFamily="2" charset="-122"/>
            </a:endParaRPr>
          </a:p>
          <a:p>
            <a:pPr marL="457200" lvl="1" indent="0">
              <a:lnSpc>
                <a:spcPct val="110000"/>
              </a:lnSpc>
              <a:spcBef>
                <a:spcPts val="1800"/>
              </a:spcBef>
              <a:buNone/>
            </a:pP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推导过程：</a:t>
            </a:r>
            <a:endParaRPr lang="en-US" altLang="zh-CN"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a:p>
            <a:pPr marL="457200" lvl="1" indent="0">
              <a:lnSpc>
                <a:spcPct val="110000"/>
              </a:lnSpc>
              <a:buNone/>
            </a:pP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r>
              <a:rPr lang="en-US" altLang="zh-CN" sz="2400" i="1" dirty="0">
                <a:latin typeface="宋体" panose="02010600030101010101" pitchFamily="2" charset="-122"/>
                <a:ea typeface="宋体" panose="02010600030101010101" pitchFamily="2" charset="-122"/>
                <a:cs typeface="宋体" panose="02010600030101010101" pitchFamily="2" charset="-122"/>
                <a:sym typeface="Wingdings" panose="05000000000000000000" pitchFamily="2" charset="2"/>
              </a:rPr>
              <a:t> </a:t>
            </a:r>
            <a:r>
              <a:rPr lang="en-US" altLang="zh-CN" sz="2400" i="1" dirty="0" smtClean="0">
                <a:latin typeface="宋体" panose="02010600030101010101" pitchFamily="2" charset="-122"/>
                <a:ea typeface="宋体" panose="02010600030101010101" pitchFamily="2" charset="-122"/>
                <a:cs typeface="宋体" panose="02010600030101010101" pitchFamily="2" charset="-122"/>
                <a:sym typeface="Wingdings" panose="05000000000000000000" pitchFamily="2" charset="2"/>
              </a:rPr>
              <a:t> </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  增广</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律</a:t>
            </a:r>
            <a:endPar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a:p>
            <a:pPr marL="457200" lvl="1" indent="0">
              <a:lnSpc>
                <a:spcPct val="110000"/>
              </a:lnSpc>
              <a:buNone/>
            </a:pP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r>
              <a:rPr lang="en-US" altLang="zh-CN" sz="2400" i="1" dirty="0" smtClean="0">
                <a:latin typeface="宋体" panose="02010600030101010101" pitchFamily="2" charset="-122"/>
                <a:ea typeface="宋体" panose="02010600030101010101" pitchFamily="2" charset="-122"/>
                <a:cs typeface="宋体" panose="02010600030101010101" pitchFamily="2" charset="-122"/>
                <a:sym typeface="Wingdings" panose="05000000000000000000" pitchFamily="2" charset="2"/>
              </a:rPr>
              <a:t>   </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增广律  </a:t>
            </a:r>
            <a:r>
              <a:rPr lang="en-US" altLang="zh-CN"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r>
              <a:rPr lang="en-US" altLang="zh-CN"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p>
          <a:p>
            <a:pPr marL="457200" lvl="1" indent="0">
              <a:lnSpc>
                <a:spcPct val="110000"/>
              </a:lnSpc>
              <a:buNone/>
            </a:pP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 </a:t>
            </a:r>
            <a:r>
              <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a:t>
            </a:r>
            <a:r>
              <a:rPr lang="zh-CN" altLang="en-US" sz="2400" i="1" dirty="0" smtClean="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 由传递率</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可得 </a:t>
            </a:r>
            <a:r>
              <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r>
              <a:rPr lang="zh-CN" altLang="en-US" sz="2400" i="1"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rPr>
              <a:t></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marL="457200" lvl="1" indent="0">
              <a:lnSpc>
                <a:spcPct val="110000"/>
              </a:lnSpc>
              <a:buNone/>
            </a:pPr>
            <a:endParaRPr lang="zh-CN" altLang="en-US" sz="2400" dirty="0">
              <a:latin typeface="宋体" panose="02010600030101010101" pitchFamily="2" charset="-122"/>
              <a:ea typeface="宋体" panose="02010600030101010101" pitchFamily="2" charset="-122"/>
              <a:cs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0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0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0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48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539750" y="260350"/>
            <a:ext cx="7772400" cy="609600"/>
          </a:xfrm>
        </p:spPr>
        <p:txBody>
          <a:bodyPr/>
          <a:lstStyle/>
          <a:p>
            <a:r>
              <a:rPr lang="en-US" altLang="zh-CN" dirty="0">
                <a:latin typeface="Times New Roman" panose="02020603050405020304" pitchFamily="18" charset="0"/>
                <a:ea typeface="宋体" panose="02010600030101010101" pitchFamily="2" charset="-122"/>
                <a:cs typeface="Times New Roman" panose="02020603050405020304" pitchFamily="18" charset="0"/>
              </a:rPr>
              <a:t>Armstrong </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i="1" dirty="0" smtClean="0">
                <a:latin typeface="Times New Roman" panose="02020603050405020304" pitchFamily="18" charset="0"/>
                <a:ea typeface="宋体" panose="02010600030101010101" pitchFamily="2" charset="-122"/>
                <a:cs typeface="Times New Roman" panose="02020603050405020304" pitchFamily="18" charset="0"/>
              </a:rPr>
              <a:t>F </a:t>
            </a:r>
            <a:r>
              <a:rPr lang="en-US" altLang="zh-CN" baseline="300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5827" name="Rectangle 3"/>
          <p:cNvSpPr>
            <a:spLocks noGrp="1" noChangeArrowheads="1"/>
          </p:cNvSpPr>
          <p:nvPr>
            <p:ph type="body" idx="4294967295"/>
          </p:nvPr>
        </p:nvSpPr>
        <p:spPr>
          <a:xfrm>
            <a:off x="490538" y="1174750"/>
            <a:ext cx="8545958" cy="4945063"/>
          </a:xfrm>
        </p:spPr>
        <p:txBody>
          <a:bodyPr/>
          <a:lstStyle/>
          <a:p>
            <a:pPr>
              <a:lnSpc>
                <a:spcPct val="120000"/>
              </a:lnSpc>
            </a:pP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 </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，函数依赖集</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。我们可列出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i="1"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中的几个依赖：</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传递律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i="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合并</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伪传递律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b="1" i="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spcBef>
                <a:spcPts val="3000"/>
              </a:spcBef>
            </a:pPr>
            <a:r>
              <a:rPr lang="zh-CN" altLang="en-US" sz="2200" b="1" dirty="0" smtClean="0">
                <a:latin typeface="Times New Roman" panose="02020603050405020304" pitchFamily="18" charset="0"/>
                <a:ea typeface="宋体" panose="02010600030101010101" pitchFamily="2" charset="-122"/>
                <a:cs typeface="Times New Roman" panose="02020603050405020304" pitchFamily="18" charset="0"/>
              </a:rPr>
              <a:t>还可以使用上述规则推导出更多的函数依赖，同学们可自行推导。</a:t>
            </a:r>
            <a:endParaRPr lang="en-US" altLang="zh-CN" sz="2200" b="1"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20000"/>
              </a:lnSpc>
              <a:spcBef>
                <a:spcPts val="3000"/>
              </a:spcBef>
              <a:buNone/>
            </a:pPr>
            <a:r>
              <a:rPr lang="zh-CN" altLang="en-US" sz="28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定义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800"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为一函数依赖集，</a:t>
            </a:r>
            <a:r>
              <a:rPr lang="en-US" altLang="zh-CN" sz="2800" i="1" dirty="0" smtClean="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i="1" dirty="0">
                <a:solidFill>
                  <a:schemeClr val="accent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物理</a:t>
            </a:r>
            <a:r>
              <a:rPr lang="zh-CN" altLang="en-US" sz="2800" i="1" dirty="0" smtClean="0">
                <a:solidFill>
                  <a:schemeClr val="accent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蕴含</a:t>
            </a:r>
            <a:r>
              <a:rPr lang="zh-CN" altLang="en-US" sz="2800" i="1" dirty="0" smtClean="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i="1" dirty="0" smtClean="0">
                <a:solidFill>
                  <a:schemeClr val="accent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逻辑蕴含</a:t>
            </a:r>
            <a:r>
              <a:rPr lang="zh-CN" altLang="en-US" sz="2800" dirty="0" smtClean="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en-US" sz="2800"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所有函数依赖组成的集合</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28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的闭包</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，记为</a:t>
            </a:r>
            <a:r>
              <a:rPr lang="en-US" altLang="zh-CN" sz="28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aseline="30000"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ts val="3000"/>
              </a:spcBef>
            </a:pPr>
            <a:endParaRPr lang="zh-CN" altLang="en-US" sz="2000" b="1" dirty="0" smtClean="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5827">
                                            <p:txEl>
                                              <p:pRg st="5" end="5"/>
                                            </p:txEl>
                                          </p:spTgt>
                                        </p:tgtEl>
                                        <p:attrNameLst>
                                          <p:attrName>style.visibility</p:attrName>
                                        </p:attrNameLst>
                                      </p:cBhvr>
                                      <p:to>
                                        <p:strVal val="visible"/>
                                      </p:to>
                                    </p:set>
                                    <p:animEffect transition="in" filter="wipe(left)">
                                      <p:cBhvr>
                                        <p:cTn id="7" dur="500"/>
                                        <p:tgtEl>
                                          <p:spTgt spid="20582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5827">
                                            <p:txEl>
                                              <p:pRg st="1" end="1"/>
                                            </p:txEl>
                                          </p:spTgt>
                                        </p:tgtEl>
                                        <p:attrNameLst>
                                          <p:attrName>style.visibility</p:attrName>
                                        </p:attrNameLst>
                                      </p:cBhvr>
                                      <p:to>
                                        <p:strVal val="visible"/>
                                      </p:to>
                                    </p:set>
                                    <p:animEffect transition="in" filter="wipe(left)">
                                      <p:cBhvr>
                                        <p:cTn id="12" dur="500"/>
                                        <p:tgtEl>
                                          <p:spTgt spid="2058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827">
                                            <p:txEl>
                                              <p:pRg st="2" end="2"/>
                                            </p:txEl>
                                          </p:spTgt>
                                        </p:tgtEl>
                                        <p:attrNameLst>
                                          <p:attrName>style.visibility</p:attrName>
                                        </p:attrNameLst>
                                      </p:cBhvr>
                                      <p:to>
                                        <p:strVal val="visible"/>
                                      </p:to>
                                    </p:set>
                                    <p:animEffect transition="in" filter="wipe(left)">
                                      <p:cBhvr>
                                        <p:cTn id="17" dur="500"/>
                                        <p:tgtEl>
                                          <p:spTgt spid="2058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827">
                                            <p:txEl>
                                              <p:pRg st="3" end="3"/>
                                            </p:txEl>
                                          </p:spTgt>
                                        </p:tgtEl>
                                        <p:attrNameLst>
                                          <p:attrName>style.visibility</p:attrName>
                                        </p:attrNameLst>
                                      </p:cBhvr>
                                      <p:to>
                                        <p:strVal val="visible"/>
                                      </p:to>
                                    </p:set>
                                    <p:animEffect transition="in" filter="wipe(left)">
                                      <p:cBhvr>
                                        <p:cTn id="22" dur="500"/>
                                        <p:tgtEl>
                                          <p:spTgt spid="2058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5827">
                                            <p:txEl>
                                              <p:pRg st="4" end="4"/>
                                            </p:txEl>
                                          </p:spTgt>
                                        </p:tgtEl>
                                        <p:attrNameLst>
                                          <p:attrName>style.visibility</p:attrName>
                                        </p:attrNameLst>
                                      </p:cBhvr>
                                      <p:to>
                                        <p:strVal val="visible"/>
                                      </p:to>
                                    </p:set>
                                    <p:animEffect transition="in" filter="wipe(left)">
                                      <p:cBhvr>
                                        <p:cTn id="27" dur="500"/>
                                        <p:tgtEl>
                                          <p:spTgt spid="205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458470" y="152400"/>
            <a:ext cx="8116570" cy="685800"/>
          </a:xfrm>
          <a:noFill/>
          <a:ln w="9525">
            <a:noFill/>
          </a:ln>
        </p:spPr>
        <p:txBody>
          <a:bodyPr vert="horz" wrap="square" lIns="91440" tIns="45720" rIns="91440" bIns="45720" rtlCol="0" anchor="ctr" anchorCtr="0">
            <a:normAutofit fontScale="90000"/>
          </a:bodyPr>
          <a:lstStyle/>
          <a:p>
            <a:pPr lvl="0" algn="l">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6.1.4 属性集闭包及候选码的求解方法</a:t>
            </a:r>
          </a:p>
        </p:txBody>
      </p:sp>
      <p:sp>
        <p:nvSpPr>
          <p:cNvPr id="25603" name="内容占位符 2"/>
          <p:cNvSpPr>
            <a:spLocks noGrp="1"/>
          </p:cNvSpPr>
          <p:nvPr>
            <p:ph idx="1"/>
          </p:nvPr>
        </p:nvSpPr>
        <p:spPr>
          <a:xfrm>
            <a:off x="395536" y="1196752"/>
            <a:ext cx="8219256" cy="3816424"/>
          </a:xfrm>
        </p:spPr>
        <p:txBody>
          <a:bodyPr vert="horz" wrap="square" lIns="91440" tIns="45720" rIns="91440" bIns="45720" anchor="t" anchorCtr="0"/>
          <a:lstStyle/>
          <a:p>
            <a:pPr algn="just" eaLnBrk="1" hangingPunct="1">
              <a:spcBef>
                <a:spcPts val="3000"/>
              </a:spcBef>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对于一个关系模式</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），要根据已给出的函数依赖</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，利用推理规则推导出其全部的函数依赖是比较困难的</a:t>
            </a:r>
            <a:r>
              <a:rPr lang="zh-CN" altLang="en-US" sz="30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30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lgn="ctr" eaLnBrk="1" hangingPunct="1">
              <a:spcBef>
                <a:spcPts val="1800"/>
              </a:spcBef>
              <a:buNone/>
            </a:pPr>
            <a:r>
              <a:rPr lang="zh-CN" altLang="en-US" sz="30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30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属性集闭包</a:t>
            </a:r>
            <a:r>
              <a:rPr lang="zh-CN" altLang="en-US" sz="3000" dirty="0" smtClean="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0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Bef>
                <a:spcPts val="2400"/>
              </a:spcBef>
              <a:buNone/>
            </a:pP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举例：</a:t>
            </a:r>
            <a:endPar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Bef>
                <a:spcPts val="600"/>
              </a:spcBef>
              <a:buNone/>
            </a:pPr>
            <a:r>
              <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Bef>
                <a:spcPts val="0"/>
              </a:spcBef>
              <a:buNone/>
            </a:pP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假如 </a:t>
            </a:r>
            <a:r>
              <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A→C    </a:t>
            </a: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6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600" baseline="300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baseline="300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0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spcBef>
                <a:spcPts val="3600"/>
              </a:spcBef>
              <a:buNone/>
            </a:pPr>
            <a:endParaRPr lang="zh-CN" altLang="en-US" sz="3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1178868" y="5136732"/>
            <a:ext cx="6264696" cy="954107"/>
          </a:xfrm>
          <a:prstGeom prst="rect">
            <a:avLst/>
          </a:prstGeom>
        </p:spPr>
        <p:txBody>
          <a:bodyPr wrap="square">
            <a:spAutoFit/>
          </a:bodyPr>
          <a:lstStyle/>
          <a:p>
            <a:pPr algn="l"/>
            <a:r>
              <a:rPr lang="en-US" altLang="zh-CN" sz="28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a:t>
            </a:r>
            <a:r>
              <a:rPr lang="en-US" altLang="zh-CN" sz="28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→A ,A→B, A→</a:t>
            </a:r>
            <a:r>
              <a:rPr lang="en-US" altLang="zh-CN" sz="28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C</a:t>
            </a:r>
            <a:endParaRPr lang="zh-CN" altLang="en-US" sz="2800" b="1" dirty="0">
              <a:solidFill>
                <a:schemeClr val="tx2"/>
              </a:solidFill>
            </a:endParaRPr>
          </a:p>
          <a:p>
            <a:pPr algn="l"/>
            <a:r>
              <a:rPr lang="en-US" altLang="zh-CN" sz="28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b="1" baseline="3000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baseline="300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baseline="3000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ABC   </a:t>
            </a:r>
            <a:endParaRPr lang="zh-CN" altLang="en-US" sz="2800" b="1" dirty="0">
              <a:solidFill>
                <a:schemeClr val="tx2"/>
              </a:solidFill>
            </a:endParaRPr>
          </a:p>
        </p:txBody>
      </p:sp>
      <p:pic>
        <p:nvPicPr>
          <p:cNvPr id="5" name="Picture 5" descr="问题图标"/>
          <p:cNvPicPr>
            <a:picLocks noChangeAspect="1" noChangeArrowheads="1" noCrop="1"/>
          </p:cNvPicPr>
          <p:nvPr/>
        </p:nvPicPr>
        <p:blipFill>
          <a:blip r:embed="rId2"/>
          <a:srcRect/>
          <a:stretch>
            <a:fillRect/>
          </a:stretch>
        </p:blipFill>
        <p:spPr bwMode="auto">
          <a:xfrm>
            <a:off x="7236296" y="2276872"/>
            <a:ext cx="1071364" cy="6366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l">
              <a:buClrTx/>
              <a:buSzTx/>
              <a:buFontTx/>
            </a:pP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1.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属性</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集闭包</a:t>
            </a:r>
          </a:p>
        </p:txBody>
      </p:sp>
      <p:sp>
        <p:nvSpPr>
          <p:cNvPr id="26627" name="内容占位符 2"/>
          <p:cNvSpPr>
            <a:spLocks noGrp="1"/>
          </p:cNvSpPr>
          <p:nvPr>
            <p:ph idx="1"/>
          </p:nvPr>
        </p:nvSpPr>
        <p:spPr>
          <a:xfrm>
            <a:off x="251520" y="1295400"/>
            <a:ext cx="8640960" cy="5157936"/>
          </a:xfrm>
        </p:spPr>
        <p:txBody>
          <a:bodyPr vert="horz" wrap="square" lIns="91440" tIns="45720" rIns="91440" bIns="45720" anchor="t" anchorCtr="0"/>
          <a:lstStyle/>
          <a:p>
            <a:pPr eaLnBrk="1" hangingPunct="1"/>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是属性集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上的函数依赖集，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U</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的一个子集。</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属性</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关于</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的闭包（用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F</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表示</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）为： </a:t>
            </a:r>
            <a:endParaRPr lang="zh-CN" altLang="zh-CN" sz="2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X</a:t>
            </a:r>
            <a:r>
              <a:rPr lang="en-US" altLang="zh-CN" sz="2800" baseline="300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 | X</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能够由</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根据</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Amstrong</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公理导出</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a:lnSpc>
                <a:spcPct val="130000"/>
              </a:lnSpc>
              <a:spcBef>
                <a:spcPct val="25000"/>
              </a:spcBef>
              <a:buNone/>
            </a:pP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X</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称为</a:t>
            </a:r>
            <a:r>
              <a:rPr lang="en-US" altLang="zh-CN" sz="2800" dirty="0" smtClean="0">
                <a:solidFill>
                  <a:srgbClr val="0099FF"/>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800" dirty="0" smtClean="0">
                <a:solidFill>
                  <a:srgbClr val="0099FF"/>
                </a:solidFill>
                <a:latin typeface="Times New Roman" panose="02020603050405020304" pitchFamily="18" charset="0"/>
                <a:ea typeface="宋体" panose="02010600030101010101" pitchFamily="2" charset="-122"/>
                <a:cs typeface="Times New Roman" panose="02020603050405020304" pitchFamily="18" charset="0"/>
              </a:rPr>
              <a:t>关于</a:t>
            </a:r>
            <a:r>
              <a:rPr lang="en-US" altLang="zh-CN" sz="2800" i="1" dirty="0">
                <a:solidFill>
                  <a:srgbClr val="0099FF"/>
                </a:solidFill>
                <a:latin typeface="Times New Roman" panose="02020603050405020304" pitchFamily="18" charset="0"/>
                <a:ea typeface="宋体" panose="02010600030101010101" pitchFamily="2" charset="-122"/>
                <a:cs typeface="Times New Roman" panose="02020603050405020304" pitchFamily="18" charset="0"/>
              </a:rPr>
              <a:t>F </a:t>
            </a:r>
            <a:r>
              <a:rPr lang="zh-CN" altLang="en-US" sz="2800" dirty="0">
                <a:solidFill>
                  <a:srgbClr val="0099FF"/>
                </a:solidFill>
                <a:latin typeface="Times New Roman" panose="02020603050405020304" pitchFamily="18" charset="0"/>
                <a:ea typeface="宋体" panose="02010600030101010101" pitchFamily="2" charset="-122"/>
                <a:cs typeface="Times New Roman" panose="02020603050405020304" pitchFamily="18" charset="0"/>
              </a:rPr>
              <a:t>的闭包</a:t>
            </a:r>
            <a:endParaRPr lang="en-US" altLang="zh-CN" sz="2800" dirty="0">
              <a:solidFill>
                <a:srgbClr val="0099FF"/>
              </a:solidFill>
              <a:latin typeface="Times New Roman" panose="02020603050405020304" pitchFamily="18" charset="0"/>
              <a:ea typeface="宋体" panose="02010600030101010101" pitchFamily="2" charset="-122"/>
              <a:cs typeface="Times New Roman" panose="02020603050405020304" pitchFamily="18" charset="0"/>
            </a:endParaRPr>
          </a:p>
          <a:p>
            <a:pPr>
              <a:spcBef>
                <a:spcPts val="36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问题：</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a:spcBef>
                <a:spcPts val="1200"/>
              </a:spcBef>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是否成立？</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a:spcBef>
                <a:spcPts val="1200"/>
              </a:spcBef>
              <a:buNone/>
            </a:pP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F</a:t>
            </a:r>
            <a:r>
              <a:rPr lang="en-US" altLang="zh-CN" sz="2800" i="1"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中是否包括</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(F</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中是否</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逻辑蕴含</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en-US" altLang="zh-CN"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spcBef>
                <a:spcPts val="1200"/>
              </a:spcBef>
              <a:buNone/>
            </a:pP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3</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求</a:t>
            </a:r>
            <a:r>
              <a:rPr lang="en-US" altLang="zh-CN" sz="2800" i="1"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中是否有</a:t>
            </a:r>
            <a:r>
              <a:rPr lang="zh-CN" altLang="en-US"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endPar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spcBef>
                <a:spcPts val="1800"/>
              </a:spcBef>
              <a:buNone/>
            </a:pPr>
            <a:endParaRPr lang="en-US" altLang="zh-CN"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a:spcBef>
                <a:spcPts val="1800"/>
              </a:spcBef>
              <a:buNone/>
            </a:pPr>
            <a:r>
              <a:rPr lang="en-US" altLang="zh-CN" sz="28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i="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4644008" y="4343978"/>
            <a:ext cx="3467616" cy="584775"/>
          </a:xfrm>
          <a:prstGeom prst="rect">
            <a:avLst/>
          </a:prstGeom>
        </p:spPr>
        <p:txBody>
          <a:bodyPr wrap="non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zh-CN" altLang="en-US" sz="32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华文隶书" panose="02010800040101010101" pitchFamily="2" charset="-122"/>
                <a:ea typeface="华文隶书" panose="02010800040101010101" pitchFamily="2" charset="-122"/>
              </a:rPr>
              <a:t>本质是同一个问题</a:t>
            </a:r>
            <a:endParaRPr lang="zh-CN" altLang="en-US" sz="32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华文隶书" panose="02010800040101010101" pitchFamily="2" charset="-122"/>
              <a:ea typeface="华文隶书" panose="02010800040101010101" pitchFamily="2" charset="-122"/>
            </a:endParaRPr>
          </a:p>
        </p:txBody>
      </p:sp>
      <p:pic>
        <p:nvPicPr>
          <p:cNvPr id="5" name="Picture 6" descr="7"/>
          <p:cNvPicPr>
            <a:picLocks noChangeAspect="1" noChangeArrowheads="1" noCrop="1"/>
          </p:cNvPicPr>
          <p:nvPr/>
        </p:nvPicPr>
        <p:blipFill>
          <a:blip r:embed="rId2"/>
          <a:srcRect/>
          <a:stretch>
            <a:fillRect/>
          </a:stretch>
        </p:blipFill>
        <p:spPr bwMode="auto">
          <a:xfrm>
            <a:off x="4659124" y="3573016"/>
            <a:ext cx="2190750" cy="95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642938" y="152400"/>
            <a:ext cx="7715250" cy="685800"/>
          </a:xfrm>
        </p:spPr>
        <p:txBody>
          <a:bodyPr vert="horz" wrap="square" lIns="91440" tIns="45720" rIns="91440" bIns="45720" anchor="ctr" anchorCtr="0"/>
          <a:lstStyle/>
          <a:p>
            <a:pPr eaLnBrk="1" hangingPunct="1">
              <a:buNone/>
            </a:pPr>
            <a:r>
              <a:rPr lang="zh-CN" altLang="en-US" sz="4000" b="0" dirty="0">
                <a:latin typeface="黑体" panose="02010609060101010101" pitchFamily="2" charset="-122"/>
                <a:ea typeface="黑体" panose="02010609060101010101" pitchFamily="2" charset="-122"/>
                <a:cs typeface="黑体" panose="02010609060101010101" pitchFamily="2" charset="-122"/>
              </a:rPr>
              <a:t>求属性集闭包</a:t>
            </a:r>
            <a:r>
              <a:rPr lang="en-US" altLang="zh-CN" sz="4000" b="0" dirty="0">
                <a:latin typeface="黑体" panose="02010609060101010101" pitchFamily="2" charset="-122"/>
                <a:ea typeface="黑体" panose="02010609060101010101" pitchFamily="2" charset="-122"/>
                <a:cs typeface="黑体" panose="02010609060101010101" pitchFamily="2" charset="-122"/>
              </a:rPr>
              <a:t>X</a:t>
            </a:r>
            <a:r>
              <a:rPr lang="en-US" altLang="zh-CN" sz="4000" b="0" baseline="30000" dirty="0">
                <a:latin typeface="黑体" panose="02010609060101010101" pitchFamily="2" charset="-122"/>
                <a:ea typeface="黑体" panose="02010609060101010101" pitchFamily="2" charset="-122"/>
                <a:cs typeface="黑体" panose="02010609060101010101" pitchFamily="2" charset="-122"/>
              </a:rPr>
              <a:t>+</a:t>
            </a:r>
            <a:r>
              <a:rPr lang="zh-CN" altLang="en-US" sz="4000" b="0" dirty="0">
                <a:latin typeface="黑体" panose="02010609060101010101" pitchFamily="2" charset="-122"/>
                <a:ea typeface="黑体" panose="02010609060101010101" pitchFamily="2" charset="-122"/>
                <a:cs typeface="黑体" panose="02010609060101010101" pitchFamily="2" charset="-122"/>
              </a:rPr>
              <a:t>的算法</a:t>
            </a:r>
          </a:p>
        </p:txBody>
      </p:sp>
      <p:sp>
        <p:nvSpPr>
          <p:cNvPr id="27651" name="内容占位符 2"/>
          <p:cNvSpPr>
            <a:spLocks noGrp="1"/>
          </p:cNvSpPr>
          <p:nvPr>
            <p:ph idx="1"/>
          </p:nvPr>
        </p:nvSpPr>
        <p:spPr>
          <a:xfrm>
            <a:off x="251520" y="1412776"/>
            <a:ext cx="8613774" cy="4592637"/>
          </a:xfrm>
        </p:spPr>
        <p:txBody>
          <a:bodyPr vert="horz" wrap="square" lIns="91440" tIns="45720" rIns="91440" bIns="45720" anchor="t" anchorCtr="0"/>
          <a:lstStyle/>
          <a:p>
            <a:pPr eaLnBrk="1" hangingPunct="1">
              <a:spcBef>
                <a:spcPts val="2400"/>
              </a:spcBef>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：初始，</a:t>
            </a:r>
            <a:r>
              <a:rPr lang="en-US" altLang="zh-CN"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X</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2400"/>
              </a:spcBef>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中有某个函数依赖</a:t>
            </a:r>
            <a:r>
              <a:rPr lang="en-US" altLang="zh-CN" dirty="0">
                <a:latin typeface="Times New Roman" panose="02020603050405020304" pitchFamily="18" charset="0"/>
                <a:ea typeface="宋体" panose="02010600030101010101" pitchFamily="2" charset="-122"/>
                <a:cs typeface="Times New Roman" panose="02020603050405020304" pitchFamily="18" charset="0"/>
              </a:rPr>
              <a:t>Y→Z</a:t>
            </a:r>
            <a:r>
              <a:rPr lang="zh-CN" altLang="en-US" dirty="0">
                <a:latin typeface="Times New Roman" panose="02020603050405020304" pitchFamily="18" charset="0"/>
                <a:ea typeface="宋体" panose="02010600030101010101" pitchFamily="2" charset="-122"/>
                <a:cs typeface="Times New Roman" panose="02020603050405020304" pitchFamily="18" charset="0"/>
              </a:rPr>
              <a:t>满足</a:t>
            </a:r>
            <a:r>
              <a:rPr lang="en-US" altLang="zh-CN"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。则</a:t>
            </a:r>
            <a:r>
              <a:rPr lang="en-US" altLang="zh-CN"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Z</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2400"/>
              </a:spcBef>
            </a:pP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步骤</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：重复步骤</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，直到</a:t>
            </a:r>
            <a:r>
              <a:rPr lang="en-US" altLang="zh-CN"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不再增大为止。</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642938" y="152400"/>
            <a:ext cx="7715250" cy="685800"/>
          </a:xfrm>
        </p:spPr>
        <p:txBody>
          <a:bodyPr vert="horz" wrap="square" lIns="91440" tIns="45720" rIns="91440" bIns="45720" anchor="ctr" anchorCtr="0"/>
          <a:lstStyle/>
          <a:p>
            <a:pPr eaLnBrk="1" hangingPunct="1">
              <a:buNone/>
            </a:pPr>
            <a:r>
              <a:rPr lang="zh-CN" altLang="en-US" sz="4000" b="0" dirty="0" smtClean="0">
                <a:latin typeface="黑体" panose="02010609060101010101" pitchFamily="2" charset="-122"/>
                <a:ea typeface="黑体" panose="02010609060101010101" pitchFamily="2" charset="-122"/>
                <a:cs typeface="黑体" panose="02010609060101010101" pitchFamily="2" charset="-122"/>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rPr>
              <a:t>6.3</a:t>
            </a:r>
            <a:r>
              <a:rPr lang="zh-CN" altLang="en-US" sz="4000" b="0" dirty="0" smtClean="0">
                <a:latin typeface="黑体" panose="02010609060101010101" pitchFamily="2" charset="-122"/>
                <a:ea typeface="黑体" panose="02010609060101010101" pitchFamily="2" charset="-122"/>
                <a:cs typeface="黑体" panose="02010609060101010101" pitchFamily="2" charset="-122"/>
              </a:rPr>
              <a:t>（</a:t>
            </a:r>
            <a:r>
              <a:rPr lang="en-US" altLang="zh-CN" sz="4000" b="0" dirty="0" smtClean="0">
                <a:latin typeface="黑体" panose="02010609060101010101" pitchFamily="2" charset="-122"/>
                <a:ea typeface="黑体" panose="02010609060101010101" pitchFamily="2" charset="-122"/>
                <a:cs typeface="黑体" panose="02010609060101010101" pitchFamily="2" charset="-122"/>
              </a:rPr>
              <a:t>1</a:t>
            </a:r>
            <a:r>
              <a:rPr lang="zh-CN" altLang="en-US" sz="4000" b="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4000" b="0" dirty="0">
              <a:latin typeface="黑体" panose="02010609060101010101" pitchFamily="2" charset="-122"/>
              <a:ea typeface="黑体" panose="02010609060101010101" pitchFamily="2" charset="-122"/>
              <a:cs typeface="黑体" panose="02010609060101010101" pitchFamily="2" charset="-122"/>
            </a:endParaRPr>
          </a:p>
        </p:txBody>
      </p:sp>
      <p:sp>
        <p:nvSpPr>
          <p:cNvPr id="3" name="内容占位符 2"/>
          <p:cNvSpPr>
            <a:spLocks noGrp="1"/>
          </p:cNvSpPr>
          <p:nvPr>
            <p:ph idx="1"/>
          </p:nvPr>
        </p:nvSpPr>
        <p:spPr>
          <a:xfrm>
            <a:off x="428625" y="1285875"/>
            <a:ext cx="8429625" cy="4806950"/>
          </a:xfrm>
        </p:spPr>
        <p:txBody>
          <a:bodyPr vert="horz" wrap="square" lIns="91440" tIns="45720" rIns="91440" bIns="45720" anchor="t" anchorCtr="0"/>
          <a:lstStyle/>
          <a:p>
            <a:pPr marL="0" indent="0" eaLnBrk="1" hangingPunct="1">
              <a:spcBef>
                <a:spcPts val="200"/>
              </a:spcBef>
              <a:buNone/>
            </a:pPr>
            <a:r>
              <a:rPr lang="en-US" altLang="zh-CN" sz="28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6.3 】R</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U={X, Y, Z, W}</a:t>
            </a:r>
            <a:r>
              <a:rPr lang="zh-CN" altLang="en-US" sz="28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200"/>
              </a:spcBef>
              <a:buNone/>
            </a:pP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F</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={X→Y, Y→Z, W→Y}</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(XW)</a:t>
            </a:r>
            <a:r>
              <a:rPr lang="en-US" altLang="zh-CN" sz="28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200"/>
              </a:spcBef>
              <a:buNone/>
            </a:pP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1200"/>
              </a:spcBef>
              <a:buNone/>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：初始：</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X</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200"/>
              </a:spcBef>
              <a:buNone/>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ts val="12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∵X→Y</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Y = XY</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12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∵Y→Z</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Z = XYZ</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1200"/>
              </a:spcBef>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在函数依赖集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Z</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不出现在任何函数依赖的左部，因此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将不会再扩大，所以最终</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XYZ</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blinds(horizontal)">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linds(horizontal)">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6.3</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29699" name="内容占位符 2"/>
          <p:cNvSpPr>
            <a:spLocks noGrp="1"/>
          </p:cNvSpPr>
          <p:nvPr>
            <p:ph idx="1"/>
          </p:nvPr>
        </p:nvSpPr>
        <p:spPr>
          <a:xfrm>
            <a:off x="428625" y="1285875"/>
            <a:ext cx="8501063" cy="4806950"/>
          </a:xfrm>
        </p:spPr>
        <p:txBody>
          <a:bodyPr vert="horz" wrap="square" lIns="91440" tIns="45720" rIns="91440" bIns="45720" anchor="t" anchorCtr="0"/>
          <a:lstStyle/>
          <a:p>
            <a:pPr marL="0" indent="0" eaLnBrk="1" hangingPunct="1">
              <a:spcBef>
                <a:spcPts val="200"/>
              </a:spcBef>
              <a:buNone/>
            </a:pP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 Y, Z, W}</a:t>
            </a:r>
            <a:endPar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200"/>
              </a:spcBef>
              <a:buNone/>
            </a:pP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={X→Y, Y→Z, W→Y}</a:t>
            </a: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初始：</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XW</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∪Y=XWY</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∵Y→Z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∪Z=XWYZ</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W→Y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已在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保持不变。</a:t>
            </a: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不出现在任何函数依赖的左部，因此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保持不变。</a:t>
            </a:r>
          </a:p>
          <a:p>
            <a:pPr marL="0" indent="0" eaLnBrk="1" hangingPunct="1">
              <a:spcBef>
                <a:spcPts val="12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最终</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(XW)</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XWYZ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6.4</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0723" name="内容占位符 2"/>
          <p:cNvSpPr>
            <a:spLocks noGrp="1"/>
          </p:cNvSpPr>
          <p:nvPr>
            <p:ph idx="1"/>
          </p:nvPr>
        </p:nvSpPr>
        <p:spPr>
          <a:xfrm>
            <a:off x="1" y="1124744"/>
            <a:ext cx="9109720" cy="5400600"/>
          </a:xfrm>
        </p:spPr>
        <p:txBody>
          <a:bodyPr vert="horz" wrap="square" lIns="91440" tIns="45720" rIns="91440" bIns="45720" anchor="t" anchorCtr="0"/>
          <a:lstStyle/>
          <a:p>
            <a:pPr marL="0" indent="0" eaLnBrk="1" hangingPunct="1">
              <a:lnSpc>
                <a:spcPct val="114000"/>
              </a:lnSpc>
              <a:spcBef>
                <a:spcPts val="1200"/>
              </a:spcBef>
              <a:buNone/>
            </a:pPr>
            <a:r>
              <a:rPr lang="en-US" altLang="zh-CN"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6.4 】R</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0"/>
              </a:spcBef>
              <a:buNone/>
            </a:pPr>
            <a:r>
              <a:rPr lang="en-US" altLang="zh-CN"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F</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 B)→C</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B→D</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C→E</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 E)→B</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 C)→B </a:t>
            </a:r>
            <a:r>
              <a:rPr lang="en-US" altLang="zh-CN"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0"/>
              </a:spcBef>
              <a:buNone/>
            </a:pPr>
            <a:r>
              <a:rPr lang="zh-CN" altLang="en-US" sz="26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计算</a:t>
            </a:r>
            <a:r>
              <a:rPr lang="en-US" altLang="zh-CN"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114000"/>
              </a:lnSpc>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初始：</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114000"/>
              </a:lnSpc>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 B)→C,∴(AB)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∪C=ABC</a:t>
            </a:r>
            <a:endParaRPr lang="zh-CN" altLang="en-US" sz="2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4000"/>
              </a:lnSpc>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∵B→D</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∪D=ABCD</a:t>
            </a:r>
            <a:endParaRPr lang="zh-CN" altLang="en-US" sz="2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4000"/>
              </a:lnSpc>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∵C→E</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∪E=ABCDE</a:t>
            </a:r>
            <a:endParaRPr lang="zh-CN" altLang="en-US" sz="2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4000"/>
              </a:lnSpc>
              <a:spcBef>
                <a:spcPts val="1200"/>
              </a:spcBef>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已包含了</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中的全部属性，因此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计算完毕。</a:t>
            </a:r>
          </a:p>
          <a:p>
            <a:pPr eaLnBrk="1" hangingPunct="1">
              <a:lnSpc>
                <a:spcPct val="114000"/>
              </a:lnSpc>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最终</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ABCDE</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6.4</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（换一种表达）</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0723" name="内容占位符 2"/>
          <p:cNvSpPr>
            <a:spLocks noGrp="1"/>
          </p:cNvSpPr>
          <p:nvPr>
            <p:ph idx="1"/>
          </p:nvPr>
        </p:nvSpPr>
        <p:spPr>
          <a:xfrm>
            <a:off x="0" y="1196752"/>
            <a:ext cx="9001125" cy="5328592"/>
          </a:xfrm>
        </p:spPr>
        <p:txBody>
          <a:bodyPr vert="horz" wrap="square" lIns="91440" tIns="45720" rIns="91440" bIns="45720" anchor="t" anchorCtr="0"/>
          <a:lstStyle/>
          <a:p>
            <a:pPr marL="0" indent="0" eaLnBrk="1" hangingPunct="1">
              <a:spcBef>
                <a:spcPts val="0"/>
              </a:spcBef>
              <a:buNone/>
            </a:pPr>
            <a:r>
              <a:rPr lang="zh-CN" altLang="en-US"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6.4  R</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 (A, B)→C</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B→D</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C→E</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 E)→B</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 C)→B }</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aseline="30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初始：</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marL="457200" lvl="1"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逐一</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的扫描</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集合中各个函数依赖，  </a:t>
            </a:r>
          </a:p>
          <a:p>
            <a:pPr marL="457200" lvl="1"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找</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左部为</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或</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的函数依赖</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。得到两个：</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457200" lvl="1"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于是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CD</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ABCD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p>
          <a:p>
            <a:pPr marL="457200" lvl="1"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再</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找出左部为</a:t>
            </a:r>
            <a:r>
              <a:rPr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ABCD</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子集的那些函数依赖</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又</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得到</a:t>
            </a:r>
          </a:p>
          <a:p>
            <a:pPr marL="457200" lvl="1" indent="0">
              <a:buNone/>
            </a:pPr>
            <a:r>
              <a:rPr lang="en-US" altLang="zh-CN" sz="2400" i="1" dirty="0" smtClean="0">
                <a:latin typeface="Times New Roman" panose="02020603050405020304" pitchFamily="18" charset="0"/>
                <a:ea typeface="宋体" panose="02010600030101010101" pitchFamily="2" charset="-122"/>
                <a:cs typeface="Times New Roman" panose="02020603050405020304" pitchFamily="18" charset="0"/>
              </a:rPr>
              <a:t>           AB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0"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于是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smtClean="0">
                <a:latin typeface="Times New Roman" panose="02020603050405020304" pitchFamily="18" charset="0"/>
                <a:ea typeface="宋体" panose="02010600030101010101" pitchFamily="2" charset="-122"/>
                <a:cs typeface="Times New Roman" panose="02020603050405020304" pitchFamily="18" charset="0"/>
              </a:rPr>
              <a:t>ABCD</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BCDE</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ABCDE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0"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，算法终止                 所以（</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ABCDE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800"/>
              </a:spcBef>
              <a:buNone/>
            </a:pPr>
            <a:r>
              <a:rPr lang="zh-CN" altLang="en-US" sz="2400" i="1"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算法结束的</a:t>
            </a:r>
            <a:r>
              <a:rPr lang="zh-CN" altLang="en-US" sz="2400" i="1" u="sng"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两种情况</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、前后两次求得的属性集合相同</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0"/>
              </a:spcBef>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2</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、属性集合已包含所有属性</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2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539750" y="260350"/>
            <a:ext cx="7772400" cy="609600"/>
          </a:xfrm>
        </p:spPr>
        <p:txBody>
          <a:bodyPr/>
          <a:lstStyle/>
          <a:p>
            <a:r>
              <a:rPr lang="en-US" altLang="zh-CN" dirty="0"/>
              <a:t>Armstrong </a:t>
            </a:r>
            <a:r>
              <a:rPr lang="en-US" altLang="zh-CN" dirty="0" smtClean="0">
                <a:sym typeface="Wingdings" panose="05000000000000000000" pitchFamily="2" charset="2"/>
              </a:rPr>
              <a:t> </a:t>
            </a:r>
            <a:r>
              <a:rPr lang="en-US" altLang="zh-CN" i="1" dirty="0" smtClean="0">
                <a:latin typeface="Times New Roman" panose="02020603050405020304" pitchFamily="18" charset="0"/>
              </a:rPr>
              <a:t>F </a:t>
            </a:r>
            <a:r>
              <a:rPr lang="en-US" altLang="zh-CN" baseline="30000" dirty="0" smtClean="0">
                <a:latin typeface="Times New Roman" panose="02020603050405020304" pitchFamily="18" charset="0"/>
              </a:rPr>
              <a:t>+</a:t>
            </a:r>
            <a:endParaRPr lang="zh-CN" altLang="en-US" dirty="0" smtClean="0">
              <a:ea typeface="华文隶书" panose="02010800040101010101" pitchFamily="2" charset="-122"/>
            </a:endParaRPr>
          </a:p>
        </p:txBody>
      </p:sp>
      <p:sp>
        <p:nvSpPr>
          <p:cNvPr id="205827" name="Rectangle 3"/>
          <p:cNvSpPr>
            <a:spLocks noGrp="1" noChangeArrowheads="1"/>
          </p:cNvSpPr>
          <p:nvPr>
            <p:ph type="body" idx="4294967295"/>
          </p:nvPr>
        </p:nvSpPr>
        <p:spPr>
          <a:xfrm>
            <a:off x="395605" y="1268730"/>
            <a:ext cx="8229600" cy="3360420"/>
          </a:xfrm>
        </p:spPr>
        <p:txBody>
          <a:bodyPr/>
          <a:lstStyle/>
          <a:p>
            <a:pPr>
              <a:lnSpc>
                <a:spcPct val="120000"/>
              </a:lnSpc>
            </a:pP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 </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，函数依赖集</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。我们可列出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1" i="1"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中的几个依赖：</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传递律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i="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合并</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lvl="1">
              <a:lnSpc>
                <a:spcPct val="120000"/>
              </a:lnSpc>
            </a:pP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由</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伪传递律</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可得</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b="1" i="1"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CG</a:t>
            </a:r>
            <a:r>
              <a:rPr lang="en-US" altLang="zh-CN" sz="2400" b="1" dirty="0" smtClean="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400" b="1" i="1" dirty="0" smtClean="0">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smtClean="0">
                <a:latin typeface="Times New Roman" panose="02020603050405020304" pitchFamily="18" charset="0"/>
                <a:ea typeface="宋体" panose="02010600030101010101" pitchFamily="2" charset="-122"/>
                <a:cs typeface="Times New Roman" panose="02020603050405020304" pitchFamily="18" charset="0"/>
              </a:rPr>
              <a:t>。</a:t>
            </a:r>
          </a:p>
          <a:p>
            <a:pPr>
              <a:lnSpc>
                <a:spcPct val="120000"/>
              </a:lnSpc>
              <a:spcBef>
                <a:spcPts val="3000"/>
              </a:spcBef>
            </a:pPr>
            <a:r>
              <a:rPr lang="zh-CN" altLang="en-US" sz="2000" b="1" dirty="0" smtClean="0">
                <a:latin typeface="Times New Roman" panose="02020603050405020304" pitchFamily="18" charset="0"/>
                <a:ea typeface="宋体" panose="02010600030101010101" pitchFamily="2" charset="-122"/>
                <a:cs typeface="Times New Roman" panose="02020603050405020304" pitchFamily="18" charset="0"/>
              </a:rPr>
              <a:t>还可以使用上述规则推导出更多的函数依赖，同学们可自行推导。</a:t>
            </a:r>
          </a:p>
          <a:p>
            <a:pPr>
              <a:lnSpc>
                <a:spcPct val="120000"/>
              </a:lnSpc>
              <a:spcBef>
                <a:spcPts val="3000"/>
              </a:spcBef>
            </a:pPr>
            <a:endParaRPr lang="en-US" altLang="zh-CN" sz="2000" b="1"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120000"/>
              </a:lnSpc>
              <a:spcBef>
                <a:spcPts val="3000"/>
              </a:spcBef>
              <a:buNone/>
            </a:pPr>
            <a:endParaRPr lang="zh-CN" altLang="en-US" sz="2000" b="1"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文本框 1"/>
          <p:cNvSpPr txBox="1"/>
          <p:nvPr/>
        </p:nvSpPr>
        <p:spPr>
          <a:xfrm>
            <a:off x="1127760" y="4797425"/>
            <a:ext cx="1063625" cy="460375"/>
          </a:xfrm>
          <a:prstGeom prst="rect">
            <a:avLst/>
          </a:prstGeom>
          <a:noFill/>
        </p:spPr>
        <p:txBody>
          <a:bodyPr wrap="square" rtlCol="0" anchor="t">
            <a:spAutoFit/>
          </a:bodyPr>
          <a:lstStyle/>
          <a:p>
            <a:pPr algn="l"/>
            <a:r>
              <a:rPr lang="zh-CN" altLang="en-US" sz="2400" b="1" i="1" dirty="0" smtClean="0">
                <a:solidFill>
                  <a:srgbClr val="000000"/>
                </a:solidFill>
                <a:latin typeface="Times New Roman" panose="02020603050405020304" pitchFamily="18" charset="0"/>
                <a:ea typeface="宋体" panose="02010600030101010101" pitchFamily="2" charset="-122"/>
                <a:sym typeface="+mn-ea"/>
              </a:rPr>
              <a:t>求</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 </a:t>
            </a:r>
            <a:r>
              <a:rPr lang="en-US" altLang="zh-CN" sz="2400" b="1" i="1" dirty="0" smtClean="0">
                <a:solidFill>
                  <a:srgbClr val="000000"/>
                </a:solidFill>
                <a:latin typeface="Times New Roman" panose="02020603050405020304" pitchFamily="18" charset="0"/>
                <a:sym typeface="+mn-ea"/>
              </a:rPr>
              <a:t>F </a:t>
            </a:r>
            <a:r>
              <a:rPr lang="en-US" altLang="zh-CN" sz="2400" b="1" baseline="30000" dirty="0" smtClean="0">
                <a:solidFill>
                  <a:srgbClr val="000000"/>
                </a:solidFill>
                <a:latin typeface="Times New Roman" panose="02020603050405020304" pitchFamily="18" charset="0"/>
                <a:sym typeface="+mn-ea"/>
              </a:rPr>
              <a:t>+</a:t>
            </a:r>
            <a:endPar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2771775" y="4725035"/>
            <a:ext cx="4385945" cy="1808480"/>
          </a:xfrm>
          <a:prstGeom prst="rect">
            <a:avLst/>
          </a:prstGeom>
          <a:noFill/>
        </p:spPr>
        <p:txBody>
          <a:bodyPr wrap="square" rtlCol="0" anchor="t">
            <a:spAutoFit/>
          </a:bodyPr>
          <a:lstStyle/>
          <a:p>
            <a:pPr algn="l"/>
            <a:r>
              <a:rPr lang="en-US" altLang="zh-CN" sz="2400" b="1" i="1" dirty="0" smtClean="0">
                <a:solidFill>
                  <a:srgbClr val="000000"/>
                </a:solidFill>
                <a:latin typeface="Times New Roman" panose="02020603050405020304" pitchFamily="18" charset="0"/>
                <a:ea typeface="宋体" panose="02010600030101010101" pitchFamily="2" charset="-122"/>
                <a:sym typeface="+mn-ea"/>
              </a:rPr>
              <a:t>==&gt; </a:t>
            </a:r>
            <a:r>
              <a:rPr lang="zh-CN" altLang="en-US" sz="2400" b="1" i="1" dirty="0" smtClean="0">
                <a:solidFill>
                  <a:srgbClr val="000000"/>
                </a:solidFill>
                <a:latin typeface="Times New Roman" panose="02020603050405020304" pitchFamily="18" charset="0"/>
                <a:ea typeface="宋体" panose="02010600030101010101" pitchFamily="2" charset="-122"/>
                <a:sym typeface="+mn-ea"/>
              </a:rPr>
              <a:t>求</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 A</a:t>
            </a:r>
            <a:r>
              <a:rPr lang="en-US" altLang="zh-CN" sz="2400" b="1" baseline="30000" dirty="0" smtClean="0">
                <a:solidFill>
                  <a:srgbClr val="000000"/>
                </a:solidFill>
                <a:latin typeface="Times New Roman" panose="02020603050405020304" pitchFamily="18" charset="0"/>
                <a:sym typeface="+mn-ea"/>
              </a:rPr>
              <a:t>+   </a:t>
            </a:r>
            <a:r>
              <a:rPr lang="zh-CN" altLang="en-US"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B</a:t>
            </a:r>
            <a:r>
              <a:rPr lang="en-US" altLang="zh-CN" sz="2400" b="1" baseline="30000" dirty="0" smtClean="0">
                <a:solidFill>
                  <a:srgbClr val="000000"/>
                </a:solidFill>
                <a:latin typeface="Times New Roman" panose="02020603050405020304" pitchFamily="18" charset="0"/>
                <a:sym typeface="+mn-ea"/>
              </a:rPr>
              <a:t>+</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i="1" dirty="0" smtClean="0">
                <a:solidFill>
                  <a:srgbClr val="000000"/>
                </a:solidFill>
                <a:latin typeface="Times New Roman" panose="02020603050405020304" pitchFamily="18" charset="0"/>
                <a:sym typeface="+mn-ea"/>
              </a:rPr>
              <a:t> </a:t>
            </a:r>
            <a:endPar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endParaRPr>
          </a:p>
          <a:p>
            <a:pPr algn="l"/>
            <a:r>
              <a:rPr lang="en-US" altLang="zh-CN" sz="2400" b="1" i="1" dirty="0" smtClean="0">
                <a:solidFill>
                  <a:srgbClr val="000000"/>
                </a:solidFill>
                <a:latin typeface="Times New Roman" panose="02020603050405020304" pitchFamily="18" charset="0"/>
                <a:ea typeface="宋体" panose="02010600030101010101" pitchFamily="2" charset="-122"/>
                <a:sym typeface="+mn-ea"/>
              </a:rPr>
              <a:t>             (AB)</a:t>
            </a:r>
            <a:r>
              <a:rPr lang="en-US" altLang="zh-CN" sz="2400" b="1" i="1" dirty="0" smtClean="0">
                <a:solidFill>
                  <a:srgbClr val="000000"/>
                </a:solidFill>
                <a:latin typeface="Times New Roman" panose="02020603050405020304" pitchFamily="18" charset="0"/>
                <a:sym typeface="+mn-ea"/>
              </a:rPr>
              <a:t> </a:t>
            </a:r>
            <a:r>
              <a:rPr lang="en-US" altLang="zh-CN" sz="2400" b="1" baseline="30000" dirty="0" smtClean="0">
                <a:solidFill>
                  <a:srgbClr val="000000"/>
                </a:solidFill>
                <a:latin typeface="Times New Roman" panose="02020603050405020304" pitchFamily="18" charset="0"/>
                <a:sym typeface="+mn-ea"/>
              </a:rPr>
              <a:t>+  </a:t>
            </a:r>
            <a:r>
              <a:rPr lang="zh-CN" altLang="en-US"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AC)</a:t>
            </a:r>
            <a:r>
              <a:rPr lang="en-US" altLang="zh-CN" sz="2400" b="1" i="1" dirty="0" smtClean="0">
                <a:solidFill>
                  <a:srgbClr val="000000"/>
                </a:solidFill>
                <a:latin typeface="Times New Roman" panose="02020603050405020304" pitchFamily="18" charset="0"/>
                <a:sym typeface="+mn-ea"/>
              </a:rPr>
              <a:t> </a:t>
            </a:r>
            <a:r>
              <a:rPr lang="en-US" altLang="zh-CN" sz="2400" b="1" baseline="30000" dirty="0" smtClean="0">
                <a:solidFill>
                  <a:srgbClr val="000000"/>
                </a:solidFill>
                <a:latin typeface="Times New Roman" panose="02020603050405020304" pitchFamily="18" charset="0"/>
                <a:sym typeface="+mn-ea"/>
              </a:rPr>
              <a:t>+ </a:t>
            </a:r>
            <a:r>
              <a:rPr lang="zh-CN" altLang="en-US"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baseline="30000" dirty="0" smtClean="0">
                <a:solidFill>
                  <a:srgbClr val="000000"/>
                </a:solidFill>
                <a:latin typeface="Times New Roman" panose="02020603050405020304" pitchFamily="18" charset="0"/>
                <a:sym typeface="+mn-ea"/>
              </a:rPr>
              <a:t> </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t>
            </a:r>
            <a:endPar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endParaRPr>
          </a:p>
          <a:p>
            <a:pPr algn="l"/>
            <a:r>
              <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rPr>
              <a:t>                   (</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ABC)</a:t>
            </a:r>
            <a:r>
              <a:rPr lang="en-US" altLang="zh-CN" sz="2400" b="1" i="1" dirty="0" smtClean="0">
                <a:solidFill>
                  <a:srgbClr val="000000"/>
                </a:solidFill>
                <a:latin typeface="Times New Roman" panose="02020603050405020304" pitchFamily="18" charset="0"/>
                <a:sym typeface="+mn-ea"/>
              </a:rPr>
              <a:t> </a:t>
            </a:r>
            <a:r>
              <a:rPr lang="en-US" altLang="zh-CN" sz="2400" b="1" baseline="30000" dirty="0" smtClean="0">
                <a:solidFill>
                  <a:srgbClr val="000000"/>
                </a:solidFill>
                <a:latin typeface="Times New Roman" panose="02020603050405020304" pitchFamily="18" charset="0"/>
                <a:sym typeface="+mn-ea"/>
              </a:rPr>
              <a:t>+  </a:t>
            </a:r>
            <a:r>
              <a:rPr lang="zh-CN" altLang="en-US"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baseline="30000" dirty="0" smtClean="0">
                <a:solidFill>
                  <a:srgbClr val="000000"/>
                </a:solidFill>
                <a:latin typeface="Times New Roman" panose="02020603050405020304" pitchFamily="18" charset="0"/>
                <a:ea typeface="宋体" panose="02010600030101010101" pitchFamily="2" charset="-122"/>
                <a:sym typeface="+mn-ea"/>
              </a:rPr>
              <a:t>(</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ACG)</a:t>
            </a:r>
            <a:r>
              <a:rPr lang="en-US" altLang="zh-CN" sz="2400" b="1" baseline="30000" dirty="0" smtClean="0">
                <a:solidFill>
                  <a:srgbClr val="000000"/>
                </a:solidFill>
                <a:latin typeface="Times New Roman" panose="02020603050405020304" pitchFamily="18" charset="0"/>
                <a:sym typeface="+mn-ea"/>
              </a:rPr>
              <a:t>+</a:t>
            </a:r>
            <a:r>
              <a:rPr lang="en-US" altLang="zh-CN" sz="2400" b="1" i="1" dirty="0" smtClean="0">
                <a:solidFill>
                  <a:srgbClr val="000000"/>
                </a:solidFill>
                <a:latin typeface="Times New Roman" panose="02020603050405020304" pitchFamily="18" charset="0"/>
                <a:sym typeface="+mn-ea"/>
              </a:rPr>
              <a:t> </a:t>
            </a:r>
            <a:r>
              <a:rPr lang="en-US" altLang="zh-CN" sz="2400" b="1" i="1" dirty="0" smtClean="0">
                <a:solidFill>
                  <a:srgbClr val="000000"/>
                </a:solidFill>
                <a:latin typeface="Times New Roman" panose="02020603050405020304" pitchFamily="18" charset="0"/>
                <a:ea typeface="宋体" panose="02010600030101010101" pitchFamily="2" charset="-122"/>
                <a:sym typeface="+mn-ea"/>
              </a:rPr>
              <a:t>......</a:t>
            </a:r>
          </a:p>
          <a:p>
            <a:pPr algn="l"/>
            <a:r>
              <a:rPr lang="en-US" altLang="zh-CN" sz="2400" b="1" i="1" dirty="0" smtClean="0">
                <a:solidFill>
                  <a:srgbClr val="000000"/>
                </a:solidFill>
                <a:latin typeface="Times New Roman" panose="02020603050405020304" pitchFamily="18" charset="0"/>
                <a:ea typeface="宋体" panose="02010600030101010101" pitchFamily="2" charset="-122"/>
                <a:sym typeface="+mn-ea"/>
              </a:rPr>
              <a:t>             ......</a:t>
            </a:r>
            <a:endPar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endParaRPr>
          </a:p>
          <a:p>
            <a:pPr algn="l"/>
            <a:endParaRPr lang="en-US" altLang="zh-CN" sz="2400" b="1" i="1" baseline="30000" dirty="0" smtClean="0">
              <a:solidFill>
                <a:srgbClr val="000000"/>
              </a:solidFill>
              <a:latin typeface="Times New Roman" panose="02020603050405020304" pitchFamily="18" charset="0"/>
              <a:ea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候选</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码的求解方法</a:t>
            </a:r>
          </a:p>
        </p:txBody>
      </p:sp>
      <p:sp>
        <p:nvSpPr>
          <p:cNvPr id="31747" name="内容占位符 2"/>
          <p:cNvSpPr>
            <a:spLocks noGrp="1"/>
          </p:cNvSpPr>
          <p:nvPr>
            <p:ph idx="1"/>
          </p:nvPr>
        </p:nvSpPr>
        <p:spPr>
          <a:xfrm>
            <a:off x="251520" y="1340768"/>
            <a:ext cx="8535864" cy="4735512"/>
          </a:xfrm>
        </p:spPr>
        <p:txBody>
          <a:bodyPr vert="horz" wrap="square" lIns="91440" tIns="45720" rIns="91440" bIns="45720" anchor="t" anchorCtr="0"/>
          <a:lstStyle/>
          <a:p>
            <a:pPr algn="just" eaLnBrk="1" hangingPunct="1">
              <a:spcBef>
                <a:spcPts val="1800"/>
              </a:spcBef>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对于给定的关系模式</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A</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 A</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和函数依赖集</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，现将</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的属性分为如下四类</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3000" dirty="0">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ts val="1800"/>
              </a:spcBef>
            </a:pP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：仅出现在函数依赖</a:t>
            </a:r>
            <a:r>
              <a:rPr lang="zh-CN" altLang="en-US" sz="3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左部</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的属性。</a:t>
            </a:r>
          </a:p>
          <a:p>
            <a:pPr algn="just" eaLnBrk="1" hangingPunct="1">
              <a:spcBef>
                <a:spcPts val="1800"/>
              </a:spcBef>
            </a:pP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：仅出现在函数依赖</a:t>
            </a:r>
            <a:r>
              <a:rPr lang="zh-CN" altLang="en-US" sz="3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右部</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的属性。</a:t>
            </a:r>
          </a:p>
          <a:p>
            <a:pPr algn="just" eaLnBrk="1" hangingPunct="1">
              <a:spcBef>
                <a:spcPts val="1800"/>
              </a:spcBef>
            </a:pP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：在函数依赖的</a:t>
            </a:r>
            <a:r>
              <a:rPr lang="zh-CN" altLang="en-US" sz="3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左部和右部</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均</a:t>
            </a:r>
            <a:r>
              <a:rPr lang="zh-CN" altLang="en-US" sz="3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不出现</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的属性。</a:t>
            </a:r>
          </a:p>
          <a:p>
            <a:pPr algn="just" eaLnBrk="1" hangingPunct="1">
              <a:spcBef>
                <a:spcPts val="1800"/>
              </a:spcBef>
            </a:pP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：在函数依赖的</a:t>
            </a:r>
            <a:r>
              <a:rPr lang="zh-CN" altLang="en-US" sz="3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左部和右部均出现</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的属性。</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候选码的求解方法(续)</a:t>
            </a:r>
          </a:p>
        </p:txBody>
      </p:sp>
      <p:sp>
        <p:nvSpPr>
          <p:cNvPr id="32771" name="内容占位符 2"/>
          <p:cNvSpPr>
            <a:spLocks noGrp="1"/>
          </p:cNvSpPr>
          <p:nvPr>
            <p:ph idx="1"/>
          </p:nvPr>
        </p:nvSpPr>
        <p:spPr>
          <a:xfrm>
            <a:off x="285750" y="1285874"/>
            <a:ext cx="8501063" cy="4951437"/>
          </a:xfrm>
        </p:spPr>
        <p:txBody>
          <a:bodyPr vert="horz" wrap="square" lIns="91440" tIns="45720" rIns="91440" bIns="45720" anchor="t" anchorCtr="0"/>
          <a:lstStyle/>
          <a:p>
            <a:pPr marL="0" indent="0" algn="just" eaLnBrk="1" hangingPunct="1">
              <a:spcBef>
                <a:spcPts val="1200"/>
              </a:spcBef>
              <a:buNone/>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中的属性</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，可有以下结论：</a:t>
            </a:r>
          </a:p>
          <a:p>
            <a:pPr algn="just" eaLnBrk="1" hangingPunct="1">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属性，则</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u="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一定包含</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在关系模式</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r>
              <a:rPr lang="zh-CN" altLang="en-US"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若</a:t>
            </a:r>
            <a:r>
              <a:rPr lang="en-US" altLang="zh-CN"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X</a:t>
            </a:r>
            <a:r>
              <a:rPr lang="en-US" altLang="zh-CN" sz="2600" u="wavyDbl" baseline="30000"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a:t>
            </a:r>
            <a:r>
              <a:rPr lang="zh-CN" altLang="en-US"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包含了</a:t>
            </a:r>
            <a:r>
              <a:rPr lang="en-US" altLang="zh-CN"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的全部属性，则</a:t>
            </a:r>
            <a:r>
              <a:rPr lang="en-US" altLang="zh-CN"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为关系模式</a:t>
            </a:r>
            <a:r>
              <a:rPr lang="en-US" altLang="zh-CN"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u="wavy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的唯一候选码。</a:t>
            </a:r>
          </a:p>
          <a:p>
            <a:pPr algn="just" eaLnBrk="1" hangingPunct="1">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属性，则</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u="dbl" dirty="0" smtClean="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一定不</a:t>
            </a:r>
            <a:r>
              <a:rPr lang="zh-CN" altLang="en-US" sz="2600" u="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包含</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在关系模式</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p>
          <a:p>
            <a:pPr algn="just" eaLnBrk="1" hangingPunct="1">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属性，则</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u="dbl" dirty="0">
                <a:uFill>
                  <a:solidFill>
                    <a:srgbClr val="C00000"/>
                  </a:solidFill>
                </a:uFill>
                <a:latin typeface="Times New Roman" panose="02020603050405020304" pitchFamily="18" charset="0"/>
                <a:ea typeface="宋体" panose="02010600030101010101" pitchFamily="2" charset="-122"/>
                <a:cs typeface="Times New Roman" panose="02020603050405020304" pitchFamily="18" charset="0"/>
              </a:rPr>
              <a:t>一定包含</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在关系模式</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p>
          <a:p>
            <a:pPr algn="just" eaLnBrk="1" hangingPunct="1">
              <a:spcBef>
                <a:spcPts val="12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属性，则</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可能</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包含在关系模式</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的</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某个</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候选码中。</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6.5】</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3795" name="内容占位符 2"/>
          <p:cNvSpPr>
            <a:spLocks noGrp="1"/>
          </p:cNvSpPr>
          <p:nvPr>
            <p:ph idx="1"/>
          </p:nvPr>
        </p:nvSpPr>
        <p:spPr>
          <a:xfrm>
            <a:off x="428625" y="1414463"/>
            <a:ext cx="8358188" cy="4678362"/>
          </a:xfrm>
        </p:spPr>
        <p:txBody>
          <a:bodyPr vert="horz" wrap="square" lIns="91440" tIns="45720" rIns="91440" bIns="45720" anchor="t" anchorCtr="0"/>
          <a:lstStyle/>
          <a:p>
            <a:pPr marL="0" indent="0" eaLnBrk="1" hangingPunct="1">
              <a:spcBef>
                <a:spcPts val="600"/>
              </a:spcBef>
              <a:buNone/>
            </a:pPr>
            <a:r>
              <a:rPr lang="zh-CN" altLang="en-US" sz="32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设有</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 }</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 D→B</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B→D</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AD→B</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AC→D}</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p>
          <a:p>
            <a:pPr marL="0" indent="0" eaLnBrk="1" hangingPunct="1">
              <a:spcBef>
                <a:spcPts val="600"/>
              </a:spcBef>
              <a:buNone/>
            </a:pP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解：</a:t>
            </a:r>
            <a:endParaRPr lang="en-US" altLang="zh-CN" sz="3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6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均是</a:t>
            </a:r>
            <a:r>
              <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dirty="0">
                <a:latin typeface="Times New Roman" panose="02020603050405020304" pitchFamily="18" charset="0"/>
                <a:ea typeface="宋体" panose="02010600030101010101" pitchFamily="2" charset="-122"/>
                <a:cs typeface="Times New Roman" panose="02020603050405020304" pitchFamily="18" charset="0"/>
              </a:rPr>
              <a:t>属性，因此</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必定在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的任何一个候选码中；</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60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由于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(AC)</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=ABCD = 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的全部属性，</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Font typeface="Wingdings" panose="05000000000000000000" pitchFamily="2" charset="2"/>
              <a:buNone/>
            </a:pP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rPr>
              <a:t>因此</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的唯一候选码。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6.6】</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4819" name="内容占位符 2"/>
          <p:cNvSpPr>
            <a:spLocks noGrp="1"/>
          </p:cNvSpPr>
          <p:nvPr>
            <p:ph idx="1"/>
          </p:nvPr>
        </p:nvSpPr>
        <p:spPr>
          <a:xfrm>
            <a:off x="357188" y="1285875"/>
            <a:ext cx="8572500" cy="4806950"/>
          </a:xfrm>
        </p:spPr>
        <p:txBody>
          <a:bodyPr vert="horz" wrap="square" lIns="91440" tIns="45720" rIns="91440" bIns="45720" anchor="t" anchorCtr="0"/>
          <a:lstStyle/>
          <a:p>
            <a:pPr marL="0" indent="0" eaLnBrk="1" hangingPunct="1">
              <a:spcBef>
                <a:spcPts val="200"/>
              </a:spcBef>
              <a:buNone/>
            </a:pPr>
            <a:r>
              <a:rPr lang="en-US" altLang="zh-CN" sz="30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R</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E</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G }</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200"/>
              </a:spcBef>
              <a:buFont typeface="Wingdings" panose="05000000000000000000" pitchFamily="2" charset="2"/>
              <a:buNone/>
            </a:pP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F={ A→D</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E→D</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D→B</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BC→D</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DC</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p>
          <a:p>
            <a:pPr marL="0" indent="0" eaLnBrk="1" hangingPunct="1">
              <a:spcBef>
                <a:spcPts val="200"/>
              </a:spcBef>
              <a:buNone/>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解：</a:t>
            </a:r>
          </a:p>
          <a:p>
            <a:pPr eaLnBrk="1" hangingPunct="1">
              <a:spcBef>
                <a:spcPts val="200"/>
              </a:spcBef>
            </a:pP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属性，因此</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必定在</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p>
          <a:p>
            <a:pPr eaLnBrk="1" hangingPunct="1">
              <a:spcBef>
                <a:spcPts val="200"/>
              </a:spcBef>
            </a:pP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3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也必定在</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p>
          <a:p>
            <a:pPr eaLnBrk="1" hangingPunct="1">
              <a:spcBef>
                <a:spcPts val="200"/>
              </a:spcBef>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又由于</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(CEG)</a:t>
            </a:r>
            <a:r>
              <a:rPr lang="en-US" altLang="zh-CN" sz="30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=ABCDEG = 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的全部属性，因此，</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CEG</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的唯一候选码。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6.7】</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5843" name="内容占位符 2"/>
          <p:cNvSpPr>
            <a:spLocks noGrp="1"/>
          </p:cNvSpPr>
          <p:nvPr>
            <p:ph idx="1"/>
          </p:nvPr>
        </p:nvSpPr>
        <p:spPr>
          <a:xfrm>
            <a:off x="251520" y="1052736"/>
            <a:ext cx="8640960" cy="5256584"/>
          </a:xfrm>
        </p:spPr>
        <p:txBody>
          <a:bodyPr vert="horz" wrap="square" lIns="91440" tIns="45720" rIns="91440" bIns="45720" anchor="t" anchorCtr="0"/>
          <a:lstStyle/>
          <a:p>
            <a:pPr marL="0" indent="0" eaLnBrk="1" hangingPunct="1">
              <a:spcBef>
                <a:spcPct val="0"/>
              </a:spcBef>
              <a:buNone/>
            </a:pPr>
            <a:r>
              <a:rPr lang="en-US" altLang="zh-CN" sz="23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R(U,F</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U={A,B,C,D,E,G }</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F={AB→E,</a:t>
            </a:r>
          </a:p>
          <a:p>
            <a:pPr eaLnBrk="1" hangingPunct="1">
              <a:spcBef>
                <a:spcPct val="0"/>
              </a:spcBef>
              <a:buFont typeface="Wingdings" panose="05000000000000000000" pitchFamily="2" charset="2"/>
              <a:buNone/>
            </a:pP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AC→G,AD→B,B→C,C→D}</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endPar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必定在</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r>
              <a:rPr lang="zh-CN" altLang="en-US" sz="23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3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0"/>
              </a:spcBef>
              <a:buNone/>
            </a:pPr>
            <a:r>
              <a:rPr lang="zh-CN" altLang="en-US" sz="2300" dirty="0" smtClean="0">
                <a:latin typeface="Times New Roman" panose="02020603050405020304" pitchFamily="18" charset="0"/>
                <a:ea typeface="宋体" panose="02010600030101010101" pitchFamily="2" charset="-122"/>
                <a:cs typeface="Times New Roman" panose="02020603050405020304" pitchFamily="18" charset="0"/>
              </a:rPr>
              <a:t>    由于</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3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，故</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不能单独作为候选码。</a:t>
            </a:r>
          </a:p>
          <a:p>
            <a:pPr eaLnBrk="1" hangingPunct="1">
              <a:spcBef>
                <a:spcPts val="1800"/>
              </a:spcBef>
            </a:pPr>
            <a:r>
              <a:rPr lang="en-US" altLang="zh-CN" sz="2300" dirty="0" smtClean="0">
                <a:latin typeface="Times New Roman" panose="02020603050405020304" pitchFamily="18" charset="0"/>
                <a:ea typeface="宋体" panose="02010600030101010101" pitchFamily="2" charset="-122"/>
                <a:cs typeface="Times New Roman" panose="02020603050405020304" pitchFamily="18" charset="0"/>
              </a:rPr>
              <a:t>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不包含在任何候选码中。</a:t>
            </a:r>
          </a:p>
          <a:p>
            <a:pPr eaLnBrk="1" hangingPunct="1">
              <a:spcBef>
                <a:spcPts val="1800"/>
              </a:spcBef>
            </a:pPr>
            <a:r>
              <a:rPr lang="en-US" altLang="zh-CN" sz="2300"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均是</a:t>
            </a:r>
            <a:r>
              <a:rPr lang="en-US" altLang="zh-CN"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a:t>
            </a:r>
            <a:r>
              <a:rPr lang="zh-CN" altLang="en-US" sz="23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属性</a:t>
            </a:r>
            <a:r>
              <a:rPr lang="zh-CN" altLang="en-US" sz="2300" dirty="0" smtClean="0">
                <a:latin typeface="Times New Roman" panose="02020603050405020304" pitchFamily="18" charset="0"/>
                <a:ea typeface="宋体" panose="02010600030101010101" pitchFamily="2" charset="-122"/>
                <a:cs typeface="Times New Roman" panose="02020603050405020304" pitchFamily="18" charset="0"/>
              </a:rPr>
              <a:t>，有</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部分或全部在某个候选码中。</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1200"/>
              </a:spcBef>
              <a:buNone/>
            </a:pP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下面将</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依次与</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结合，分别求闭包：</a:t>
            </a:r>
          </a:p>
          <a:p>
            <a:pPr lvl="1">
              <a:spcBef>
                <a:spcPct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3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lvl="1">
              <a:spcBef>
                <a:spcPct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(AC)</a:t>
            </a:r>
            <a:r>
              <a:rPr lang="en-US" altLang="zh-CN" sz="23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lvl="1">
              <a:spcBef>
                <a:spcPct val="0"/>
              </a:spcBef>
            </a:pP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(AD)</a:t>
            </a:r>
            <a:r>
              <a:rPr lang="en-US" altLang="zh-CN" sz="23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AD</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marL="0" indent="0" eaLnBrk="1" hangingPunct="1">
              <a:spcBef>
                <a:spcPts val="1200"/>
              </a:spcBef>
              <a:buNone/>
            </a:pP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共有三个候选码：</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300" dirty="0">
                <a:latin typeface="Times New Roman" panose="02020603050405020304" pitchFamily="18" charset="0"/>
                <a:ea typeface="宋体" panose="02010600030101010101" pitchFamily="2" charset="-122"/>
                <a:cs typeface="Times New Roman" panose="02020603050405020304" pitchFamily="18" charset="0"/>
              </a:rPr>
              <a:t>AD</a:t>
            </a:r>
            <a:r>
              <a:rPr lang="zh-CN" altLang="en-US" sz="23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6.7</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（强行修改</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1</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5843" name="内容占位符 2"/>
          <p:cNvSpPr>
            <a:spLocks noGrp="1"/>
          </p:cNvSpPr>
          <p:nvPr>
            <p:ph idx="1"/>
          </p:nvPr>
        </p:nvSpPr>
        <p:spPr>
          <a:xfrm>
            <a:off x="323528" y="1052736"/>
            <a:ext cx="8640960" cy="5256584"/>
          </a:xfrm>
        </p:spPr>
        <p:txBody>
          <a:bodyPr vert="horz" wrap="square" lIns="91440" tIns="45720" rIns="91440" bIns="45720" anchor="t" anchorCtr="0"/>
          <a:lstStyle/>
          <a:p>
            <a:pPr marL="0" indent="0" eaLnBrk="1" hangingPunct="1">
              <a:spcBef>
                <a:spcPct val="0"/>
              </a:spcBef>
              <a:buNone/>
            </a:pPr>
            <a:r>
              <a:rPr lang="en-US" altLang="zh-CN" sz="22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R(U,F</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U={A,B,C,D,E,G }</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F={AB→E,</a:t>
            </a:r>
          </a:p>
          <a:p>
            <a:pPr eaLnBrk="1" hangingPunct="1">
              <a:spcBef>
                <a:spcPct val="0"/>
              </a:spcBef>
              <a:buFont typeface="Wingdings" panose="05000000000000000000" pitchFamily="2" charset="2"/>
              <a:buNone/>
            </a:pP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AC→G,AD→</a:t>
            </a:r>
            <a:r>
              <a:rPr lang="en-US" altLang="zh-CN" sz="22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B,B→C,C</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endPar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必定在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0"/>
              </a:spcBef>
              <a:buNone/>
            </a:pP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    由于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不能单独作为候选码。</a:t>
            </a:r>
          </a:p>
          <a:p>
            <a:pPr eaLnBrk="1" hangingPunct="1">
              <a:spcBef>
                <a:spcPts val="1800"/>
              </a:spcBef>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不包含在任何候选码中。</a:t>
            </a:r>
          </a:p>
          <a:p>
            <a:pPr eaLnBrk="1" hangingPunct="1">
              <a:spcBef>
                <a:spcPts val="1800"/>
              </a:spcBef>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均是</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属性</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必有部分</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或全部在某个候选码中。</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ct val="0"/>
              </a:spcBef>
              <a:buNone/>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下面将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依次与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结合，分别求</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闭包：</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ct val="0"/>
              </a:spcBef>
              <a:buNone/>
            </a:pP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（以下结果</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为“假设成立” ）</a:t>
            </a:r>
          </a:p>
          <a:p>
            <a:pPr lvl="1">
              <a:spcBef>
                <a:spcPts val="60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lvl="1">
              <a:spcBef>
                <a:spcPct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=ABC</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lvl="1">
              <a:spcBef>
                <a:spcPct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(AD)</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ABCD</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600"/>
              </a:spcBef>
              <a:buNone/>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共有</a:t>
            </a:r>
            <a:r>
              <a:rPr lang="zh-CN" altLang="en-US" sz="2200" u="sng"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个</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候选码</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u="sng"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3188804" y="5058195"/>
            <a:ext cx="2448272" cy="461665"/>
          </a:xfrm>
          <a:prstGeom prst="rect">
            <a:avLst/>
          </a:prstGeom>
        </p:spPr>
        <p:txBody>
          <a:bodyPr wrap="square">
            <a:spAutoFit/>
          </a:bodyPr>
          <a:lstStyle/>
          <a:p>
            <a:pPr algn="l"/>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ACD</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a:t>
            </a:r>
            <a:endParaRPr lang="zh-CN" altLang="en-US" sz="2400" b="1" dirty="0">
              <a:solidFill>
                <a:srgbClr val="000000"/>
              </a:solidFill>
            </a:endParaRPr>
          </a:p>
        </p:txBody>
      </p:sp>
      <p:sp>
        <p:nvSpPr>
          <p:cNvPr id="5" name="矩形 4"/>
          <p:cNvSpPr/>
          <p:nvPr/>
        </p:nvSpPr>
        <p:spPr>
          <a:xfrm>
            <a:off x="3167844" y="5055566"/>
            <a:ext cx="3384376" cy="461665"/>
          </a:xfrm>
          <a:prstGeom prst="rect">
            <a:avLst/>
          </a:prstGeom>
        </p:spPr>
        <p:txBody>
          <a:bodyPr wrap="square">
            <a:spAutoFit/>
          </a:bodyPr>
          <a:lstStyle/>
          <a:p>
            <a:pPr algn="l"/>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ACD</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ABCDEG</a:t>
            </a:r>
            <a:endParaRPr lang="zh-CN" altLang="en-US" sz="2400" b="1"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2" fill="hold" grpId="1"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1+ppt_w/2"/>
                                          </p:val>
                                        </p:tav>
                                      </p:tavLst>
                                    </p:anim>
                                    <p:anim calcmode="lin" valueType="num">
                                      <p:cBhvr additive="base">
                                        <p:cTn id="13" dur="500"/>
                                        <p:tgtEl>
                                          <p:spTgt spid="2"/>
                                        </p:tgtEl>
                                        <p:attrNameLst>
                                          <p:attrName>ppt_y</p:attrName>
                                        </p:attrNameLst>
                                      </p:cBhvr>
                                      <p:tavLst>
                                        <p:tav tm="0">
                                          <p:val>
                                            <p:strVal val="ppt_y"/>
                                          </p:val>
                                        </p:tav>
                                        <p:tav tm="100000">
                                          <p:val>
                                            <p:strVal val="ppt_y"/>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6.7</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（强行</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修改</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5843" name="内容占位符 2"/>
          <p:cNvSpPr>
            <a:spLocks noGrp="1"/>
          </p:cNvSpPr>
          <p:nvPr>
            <p:ph idx="1"/>
          </p:nvPr>
        </p:nvSpPr>
        <p:spPr>
          <a:xfrm>
            <a:off x="251520" y="1124744"/>
            <a:ext cx="8640960" cy="5256584"/>
          </a:xfrm>
        </p:spPr>
        <p:txBody>
          <a:bodyPr vert="horz" wrap="square" lIns="91440" tIns="45720" rIns="91440" bIns="45720" anchor="t" anchorCtr="0"/>
          <a:lstStyle/>
          <a:p>
            <a:pPr marL="0" indent="0" eaLnBrk="1" hangingPunct="1">
              <a:spcBef>
                <a:spcPct val="0"/>
              </a:spcBef>
              <a:buNone/>
            </a:pPr>
            <a:r>
              <a:rPr lang="en-US" altLang="zh-CN" sz="24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R(U,F</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U={A,B,C,D,E,G }</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F={AB→E,</a:t>
            </a:r>
          </a:p>
          <a:p>
            <a:pPr eaLnBrk="1" hangingPunct="1">
              <a:spcBef>
                <a:spcPct val="0"/>
              </a:spcBef>
              <a:buFont typeface="Wingdings" panose="05000000000000000000" pitchFamily="2" charset="2"/>
              <a:buNone/>
            </a:pP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   AC→G,AD→B,B→C,C→D}</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endParaRPr lang="en-US" altLang="zh-CN" sz="24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必定在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的任何一个候选码中</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0"/>
              </a:spcBef>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由于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，故</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不能单独作为候选码。</a:t>
            </a:r>
          </a:p>
          <a:p>
            <a:pPr eaLnBrk="1" hangingPunct="1">
              <a:spcBef>
                <a:spcPts val="18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属性，故</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不包含在任何候选码中。</a:t>
            </a:r>
          </a:p>
          <a:p>
            <a:pPr eaLnBrk="1" hangingPunct="1">
              <a:spcBef>
                <a:spcPts val="180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均是</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LR</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类</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属性，必有部分或全部在某个候选码中。</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下面</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依次与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结合，分别求闭包</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ct val="0"/>
              </a:spcBef>
              <a:buNone/>
            </a:pP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（以下结果为“假设成立” ）</a:t>
            </a:r>
          </a:p>
          <a:p>
            <a:pPr lvl="1">
              <a:spcBef>
                <a:spcPts val="600"/>
              </a:spcBef>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lvl="1">
              <a:spcBef>
                <a:spcPct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=ABCDEG</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lvl="1">
              <a:spcBef>
                <a:spcPct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(AD)</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ABCD</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共有</a:t>
            </a:r>
            <a:r>
              <a:rPr lang="zh-CN" altLang="en-US" sz="2400" u="sng"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个</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候选码</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u="sng"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6.8】</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6867" name="内容占位符 2"/>
          <p:cNvSpPr>
            <a:spLocks noGrp="1"/>
          </p:cNvSpPr>
          <p:nvPr>
            <p:ph idx="1"/>
          </p:nvPr>
        </p:nvSpPr>
        <p:spPr>
          <a:xfrm>
            <a:off x="285750" y="1143000"/>
            <a:ext cx="8822754" cy="5143500"/>
          </a:xfrm>
        </p:spPr>
        <p:txBody>
          <a:bodyPr vert="horz" wrap="square" lIns="91440" tIns="45720" rIns="91440" bIns="45720" anchor="t" anchorCtr="0"/>
          <a:lstStyle/>
          <a:p>
            <a:pPr marL="0" indent="0" eaLnBrk="1" hangingPunct="1">
              <a:spcBef>
                <a:spcPts val="200"/>
              </a:spcBef>
              <a:buNone/>
            </a:pPr>
            <a:r>
              <a:rPr lang="zh-CN" altLang="en-US" sz="2200" dirty="0" smtClean="0">
                <a:solidFill>
                  <a:srgbClr val="0039AC"/>
                </a:solidFill>
                <a:latin typeface="Times New Roman" panose="02020603050405020304" pitchFamily="18" charset="0"/>
                <a:ea typeface="宋体" panose="02010600030101010101" pitchFamily="2" charset="-122"/>
                <a:cs typeface="Times New Roman" panose="02020603050405020304" pitchFamily="18" charset="0"/>
              </a:rPr>
              <a:t>设有</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E }</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F={ A→BC</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CD→E</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B→D, E→A}</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，求</a:t>
            </a:r>
            <a:r>
              <a:rPr lang="en-US" altLang="zh-CN"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solidFill>
                  <a:srgbClr val="0039AC"/>
                </a:solidFill>
                <a:latin typeface="Times New Roman" panose="02020603050405020304" pitchFamily="18" charset="0"/>
                <a:ea typeface="宋体" panose="02010600030101010101" pitchFamily="2" charset="-122"/>
                <a:cs typeface="Times New Roman" panose="02020603050405020304" pitchFamily="18" charset="0"/>
              </a:rPr>
              <a:t>的所有候选码。</a:t>
            </a:r>
          </a:p>
          <a:p>
            <a:pPr eaLnBrk="1" hangingPunct="1">
              <a:spcBef>
                <a:spcPts val="20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解</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通过观察</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中的函数依赖，发现关系模式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中所有属性都是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LR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类属性。因此，先从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属性中依次取出一个属性，分别求它们的闭包：</a:t>
            </a:r>
          </a:p>
          <a:p>
            <a:pPr lvl="1" eaLnBrk="1" hangingPunct="1">
              <a:spcBef>
                <a:spcPts val="200"/>
              </a:spcBef>
              <a:buFont typeface="Wingdings" panose="05000000000000000000" pitchFamily="2" charset="2"/>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ABCDE	B</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BD		C</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C</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200"/>
              </a:spcBef>
              <a:buFont typeface="Wingdings" panose="05000000000000000000" pitchFamily="2" charset="2"/>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D</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D		E</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ABCDE</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20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都包含了</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全部</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属性，因此</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分别是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eaLnBrk="1" hangingPunct="1">
              <a:spcBef>
                <a:spcPts val="120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接下来，从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中任意取出两个属性，分别求他们的闭包</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0"/>
              </a:spcBef>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已是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的候选码了，因此只需</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C</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D</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中</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进行选取即可。</a:t>
            </a:r>
          </a:p>
          <a:p>
            <a:pPr marL="0" indent="0" eaLnBrk="1" hangingPunct="1">
              <a:spcBef>
                <a:spcPts val="200"/>
              </a:spcBef>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BC)</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ABCDE		(BD)</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BD	(CD)</a:t>
            </a:r>
            <a:r>
              <a:rPr lang="en-US" altLang="zh-CN" sz="22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 ABCDE</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20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分别是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的一个候选码。</a:t>
            </a:r>
          </a:p>
          <a:p>
            <a:pPr eaLnBrk="1" hangingPunct="1">
              <a:spcBef>
                <a:spcPts val="20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至此，关系模式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的全部候选码为：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CD</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6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86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8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求候选码小结</a:t>
            </a:r>
            <a:endParaRPr lang="zh-CN" altLang="en-US" dirty="0"/>
          </a:p>
        </p:txBody>
      </p:sp>
      <p:sp>
        <p:nvSpPr>
          <p:cNvPr id="3" name="内容占位符 2"/>
          <p:cNvSpPr>
            <a:spLocks noGrp="1"/>
          </p:cNvSpPr>
          <p:nvPr>
            <p:ph idx="1"/>
          </p:nvPr>
        </p:nvSpPr>
        <p:spPr>
          <a:xfrm>
            <a:off x="457200" y="1295400"/>
            <a:ext cx="8579296" cy="4876800"/>
          </a:xfrm>
        </p:spPr>
        <p:txBody>
          <a:bodyPr/>
          <a:lstStyle/>
          <a:p>
            <a:pPr marL="0" indent="0">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、找到所有</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属性</a:t>
            </a:r>
            <a:r>
              <a:rPr lang="zh-CN" altLang="en-US" sz="2400" u="wavyDbl" dirty="0" smtClean="0">
                <a:uFill>
                  <a:solidFill>
                    <a:srgbClr val="FF0000"/>
                  </a:solidFill>
                </a:uFill>
                <a:latin typeface="Times New Roman" panose="02020603050405020304" pitchFamily="18" charset="0"/>
                <a:ea typeface="宋体" panose="02010600030101010101" pitchFamily="2" charset="-122"/>
                <a:cs typeface="Times New Roman" panose="02020603050405020304" pitchFamily="18" charset="0"/>
              </a:rPr>
              <a:t>集合</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必定在</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任何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一个候选码中）</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若</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的所有属性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是唯一候选码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若</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的所有属性</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不是候选码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、找到所有</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LR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属性集合</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 </a:t>
            </a: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必有</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部分或全部</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在</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某个</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候选码中</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拆散，依次与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结合，分别求</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闭包</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若分别的闭包都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得出所有候选码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若有</a:t>
            </a:r>
            <a:r>
              <a:rPr lang="zh-CN" altLang="en-US" sz="2400" u="sng"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两个或以上</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闭包≠</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还要考虑</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组合情况</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的闭包</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6.1.5 极小函数依赖</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集</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8915" name="内容占位符 2"/>
          <p:cNvSpPr>
            <a:spLocks noGrp="1"/>
          </p:cNvSpPr>
          <p:nvPr>
            <p:ph idx="1"/>
          </p:nvPr>
        </p:nvSpPr>
        <p:spPr>
          <a:xfrm>
            <a:off x="323528" y="1178497"/>
            <a:ext cx="8463284" cy="1224135"/>
          </a:xfrm>
        </p:spPr>
        <p:txBody>
          <a:bodyPr vert="horz" wrap="square" lIns="91440" tIns="45720" rIns="91440" bIns="45720" anchor="t" anchorCtr="0"/>
          <a:lstStyle/>
          <a:p>
            <a:pPr eaLnBrk="1" hangingPunct="1"/>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对关系模式</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），如果 函数依赖集</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满足下列条件，则称</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为</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的一个极小函数依赖集（或称为</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最小依赖集、最小覆盖</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），记为</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aseline="-25000" dirty="0" err="1" smtClean="0">
                <a:latin typeface="Times New Roman" panose="02020603050405020304" pitchFamily="18" charset="0"/>
                <a:ea typeface="宋体" panose="02010600030101010101" pitchFamily="2" charset="-122"/>
                <a:cs typeface="Times New Roman" panose="02020603050405020304" pitchFamily="18" charset="0"/>
              </a:rPr>
              <a:t>min</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 name="内容占位符 2"/>
          <p:cNvSpPr txBox="1"/>
          <p:nvPr/>
        </p:nvSpPr>
        <p:spPr>
          <a:xfrm>
            <a:off x="323528" y="2420888"/>
            <a:ext cx="8463284" cy="3943325"/>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中每个函数依赖的右部仅含有</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一个属性</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67995" lvl="1" indent="0">
              <a:spcBef>
                <a:spcPts val="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BC     (  AB   AC  )</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中每个函数依赖的左部不存在</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多余的属性</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，即不存在这样的函数依赖</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有真子集</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Z</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使得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与</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(F-{X→A}) ∪{Z→A}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等价。</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sage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snosage</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中不存在</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多余的函数依赖</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，即不存在这样的函数依赖</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，使得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与</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F-{X→A}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等价。</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600"/>
              </a:spcBef>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F={A</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 AC, BC</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计算极小函数依赖集的算法</a:t>
            </a:r>
          </a:p>
        </p:txBody>
      </p:sp>
      <p:sp>
        <p:nvSpPr>
          <p:cNvPr id="39939" name="内容占位符 2"/>
          <p:cNvSpPr>
            <a:spLocks noGrp="1"/>
          </p:cNvSpPr>
          <p:nvPr>
            <p:ph idx="1"/>
          </p:nvPr>
        </p:nvSpPr>
        <p:spPr>
          <a:xfrm>
            <a:off x="323528" y="1124744"/>
            <a:ext cx="8258175" cy="5256584"/>
          </a:xfrm>
        </p:spPr>
        <p:txBody>
          <a:bodyPr vert="horz" wrap="square" lIns="91440" tIns="45720" rIns="91440" bIns="45720" anchor="t" anchorCtr="0"/>
          <a:lstStyle/>
          <a:p>
            <a:pPr algn="just" eaLnBrk="1" hangingPunct="1">
              <a:spcBef>
                <a:spcPts val="18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使</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中每个函数依赖的右部都只有一个属性。</a:t>
            </a:r>
          </a:p>
          <a:p>
            <a:pPr algn="just" eaLnBrk="1" hangingPunct="1">
              <a:spcBef>
                <a:spcPts val="1200"/>
              </a:spcBef>
              <a:buFont typeface="Wingdings" panose="05000000000000000000" pitchFamily="2" charset="2"/>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  逐一检查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中各函数依赖</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X→Y</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Y=A</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k&gt;=2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j</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|j=1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取代</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X→Y</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algn="just" eaLnBrk="1" hangingPunct="1">
              <a:spcBef>
                <a:spcPts val="18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去掉各函数依赖左部多余的属性。</a:t>
            </a:r>
          </a:p>
          <a:p>
            <a:pPr algn="just" eaLnBrk="1" hangingPunct="1">
              <a:spcBef>
                <a:spcPts val="1200"/>
              </a:spcBef>
              <a:buFont typeface="Wingdings" panose="05000000000000000000" pitchFamily="2" charset="2"/>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  逐一取出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中各函数依赖</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，设</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，逐一检查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i=1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X-B</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i</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取代</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algn="just" eaLnBrk="1" hangingPunct="1">
              <a:spcBef>
                <a:spcPts val="18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去掉多余的函数依赖。</a:t>
            </a:r>
          </a:p>
          <a:p>
            <a:pPr algn="just" eaLnBrk="1" hangingPunct="1">
              <a:spcBef>
                <a:spcPts val="1200"/>
              </a:spcBef>
              <a:buFont typeface="Wingdings" panose="05000000000000000000" pitchFamily="2" charset="2"/>
              <a:buNone/>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  逐一检查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中各函数依赖</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G=F-{X→A}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，若</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，则从</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中去掉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X→A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函数依赖。</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p>
        </p:txBody>
      </p:sp>
      <p:sp>
        <p:nvSpPr>
          <p:cNvPr id="40963" name="内容占位符 2"/>
          <p:cNvSpPr>
            <a:spLocks noGrp="1"/>
          </p:cNvSpPr>
          <p:nvPr>
            <p:ph idx="1"/>
          </p:nvPr>
        </p:nvSpPr>
        <p:spPr>
          <a:xfrm>
            <a:off x="251520" y="1196752"/>
            <a:ext cx="8568952" cy="5004395"/>
          </a:xfrm>
        </p:spPr>
        <p:txBody>
          <a:bodyPr vert="horz" wrap="square" lIns="91440" tIns="45720" rIns="91440" bIns="45720" anchor="t" anchorCtr="0"/>
          <a:lstStyle/>
          <a:p>
            <a:pPr marL="0" indent="0" algn="just" eaLnBrk="1" hangingPunct="1">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例</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6.9】</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设有</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函数依赖集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，判断它们是否是极小函数依赖集。</a:t>
            </a:r>
          </a:p>
          <a:p>
            <a:pPr lvl="1" algn="just" eaLnBrk="1" hangingPunct="1"/>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1</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 {AB→CD</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BE→C</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C→G}</a:t>
            </a:r>
            <a:endPar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lvl="1" algn="just" eaLnBrk="1" hangingPunct="1"/>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 {A→D</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B→A</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B→D</a:t>
            </a:r>
            <a:r>
              <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D→C}</a:t>
            </a:r>
            <a:endParaRPr lang="zh-CN" altLang="en-US" sz="3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ts val="1800"/>
              </a:spcBef>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，由于函数依赖</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AB→CD</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的右部不是单个属性，因此，该函数依赖集不是极小函数依赖集。</a:t>
            </a:r>
          </a:p>
          <a:p>
            <a:pPr algn="just" eaLnBrk="1" hangingPunct="1">
              <a:spcBef>
                <a:spcPts val="2400"/>
              </a:spcBef>
            </a:pP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可由</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A→D</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D→C</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导出，因此</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中的多余函数依赖，所以也</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30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3000" dirty="0">
                <a:latin typeface="Times New Roman" panose="02020603050405020304" pitchFamily="18" charset="0"/>
                <a:ea typeface="宋体" panose="02010600030101010101" pitchFamily="2" charset="-122"/>
                <a:cs typeface="Times New Roman" panose="02020603050405020304" pitchFamily="18" charset="0"/>
              </a:rPr>
              <a:t>不是极小函数依赖集。</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3" end="3"/>
                                            </p:txEl>
                                          </p:spTgt>
                                        </p:tgtEl>
                                        <p:attrNameLst>
                                          <p:attrName>style.visibility</p:attrName>
                                        </p:attrNameLst>
                                      </p:cBhvr>
                                      <p:to>
                                        <p:strVal val="visible"/>
                                      </p:to>
                                    </p:set>
                                    <p:anim calcmode="lin" valueType="num">
                                      <p:cBhvr additive="base">
                                        <p:cTn id="7" dur="5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63">
                                            <p:txEl>
                                              <p:pRg st="4" end="4"/>
                                            </p:txEl>
                                          </p:spTgt>
                                        </p:tgtEl>
                                        <p:attrNameLst>
                                          <p:attrName>style.visibility</p:attrName>
                                        </p:attrNameLst>
                                      </p:cBhvr>
                                      <p:to>
                                        <p:strVal val="visible"/>
                                      </p:to>
                                    </p:set>
                                    <p:anim calcmode="lin" valueType="num">
                                      <p:cBhvr additive="base">
                                        <p:cTn id="13" dur="5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示例</a:t>
            </a:r>
          </a:p>
        </p:txBody>
      </p:sp>
      <p:sp>
        <p:nvSpPr>
          <p:cNvPr id="41987" name="内容占位符 2"/>
          <p:cNvSpPr>
            <a:spLocks noGrp="1"/>
          </p:cNvSpPr>
          <p:nvPr>
            <p:ph idx="1"/>
          </p:nvPr>
        </p:nvSpPr>
        <p:spPr>
          <a:xfrm>
            <a:off x="179512" y="1124744"/>
            <a:ext cx="8643620" cy="5104130"/>
          </a:xfrm>
        </p:spPr>
        <p:txBody>
          <a:bodyPr vert="horz" wrap="square" lIns="91440" tIns="45720" rIns="91440" bIns="45720" anchor="t" anchorCtr="0"/>
          <a:lstStyle/>
          <a:p>
            <a:pPr marL="0" indent="0" eaLnBrk="1" hangingPunct="1">
              <a:spcBef>
                <a:spcPct val="0"/>
              </a:spcBef>
              <a:buNone/>
            </a:pPr>
            <a:r>
              <a:rPr lang="en-US" altLang="zh-CN"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6.10】</a:t>
            </a:r>
            <a:r>
              <a:rPr lang="zh-CN" altLang="en-US"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有</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U={A</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C }</a:t>
            </a:r>
            <a:r>
              <a:rPr lang="zh-CN" altLang="en-US"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ct val="0"/>
              </a:spcBef>
              <a:buNone/>
            </a:pP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       F</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 →BC</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B→C</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AC→B } </a:t>
            </a:r>
            <a:r>
              <a:rPr lang="zh-CN" altLang="en-US"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，求其极小函数依赖集</a:t>
            </a:r>
            <a:r>
              <a:rPr lang="en-US" altLang="zh-CN" sz="24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aseline="-250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min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12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）让</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中每个函数依赖的右部为单个属性：</a:t>
            </a:r>
          </a:p>
          <a:p>
            <a:pPr eaLnBrk="1" hangingPunct="1">
              <a:spcBef>
                <a:spcPct val="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G</a:t>
            </a:r>
            <a:r>
              <a:rPr lang="en-US" altLang="zh-CN" sz="2400" baseline="-25000" dirty="0" smtClean="0">
                <a:latin typeface="Times New Roman" panose="02020603050405020304" pitchFamily="18" charset="0"/>
                <a:ea typeface="宋体" panose="02010600030101010101" pitchFamily="2" charset="-122"/>
                <a:cs typeface="Times New Roman" panose="02020603050405020304" pitchFamily="18" charset="0"/>
              </a:rPr>
              <a:t>1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AC→B}</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2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中每个函数依赖左部的多余属性。对于该例</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只需</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分析</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即可。</a:t>
            </a:r>
          </a:p>
          <a:p>
            <a:pPr lvl="1" eaLnBrk="1" hangingPunct="1">
              <a:spcBef>
                <a:spcPts val="6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第</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种情况：</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 </a:t>
            </a:r>
            <a:r>
              <a:rPr lang="en-US" altLang="zh-CN" sz="2400" baseline="-25000" dirty="0" smtClean="0">
                <a:solidFill>
                  <a:srgbClr val="CC0099"/>
                </a:solidFill>
                <a:latin typeface="Times New Roman" panose="02020603050405020304" pitchFamily="18" charset="0"/>
                <a:ea typeface="宋体" panose="02010600030101010101" pitchFamily="2" charset="-122"/>
                <a:cs typeface="Times New Roman" panose="02020603050405020304" pitchFamily="18" charset="0"/>
              </a:rPr>
              <a:t>G1</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 ABC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，包含了</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是多余属性，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AC→B</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可化简为</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ts val="6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第</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种情况：</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C </a:t>
            </a:r>
            <a:r>
              <a:rPr lang="en-US" altLang="zh-CN" sz="2400" baseline="-25000" dirty="0" smtClean="0">
                <a:solidFill>
                  <a:srgbClr val="CC0099"/>
                </a:solidFill>
                <a:latin typeface="Times New Roman" panose="02020603050405020304" pitchFamily="18" charset="0"/>
                <a:ea typeface="宋体" panose="02010600030101010101" pitchFamily="2" charset="-122"/>
                <a:cs typeface="Times New Roman" panose="02020603050405020304" pitchFamily="18" charset="0"/>
              </a:rPr>
              <a:t>G1</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 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不是多余属性。</a:t>
            </a:r>
          </a:p>
          <a:p>
            <a:pPr lvl="1" eaLnBrk="1" hangingPunct="1">
              <a:spcBef>
                <a:spcPts val="1200"/>
              </a:spcBef>
              <a:buFont typeface="Wingdings" panose="05000000000000000000" pitchFamily="2" charset="2"/>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去掉左部多余属性后的函数依赖集为：</a:t>
            </a:r>
          </a:p>
          <a:p>
            <a:pPr eaLnBrk="1" hangingPunct="1">
              <a:spcBef>
                <a:spcPct val="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G</a:t>
            </a:r>
            <a:r>
              <a:rPr lang="en-US" altLang="zh-CN" sz="2400" baseline="-25000" dirty="0" smtClean="0">
                <a:latin typeface="Times New Roman" panose="02020603050405020304" pitchFamily="18" charset="0"/>
                <a:ea typeface="宋体" panose="02010600030101010101" pitchFamily="2" charset="-122"/>
                <a:cs typeface="Times New Roman" panose="02020603050405020304" pitchFamily="18" charset="0"/>
              </a:rPr>
              <a:t>2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 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 A→B</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 A→C, B→C}</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3995936" y="3280668"/>
            <a:ext cx="4824536" cy="400110"/>
          </a:xfrm>
          <a:prstGeom prst="rect">
            <a:avLst/>
          </a:prstGeom>
          <a:noFill/>
          <a:effectLst>
            <a:innerShdw blurRad="63500" dist="50800">
              <a:schemeClr val="tx1">
                <a:alpha val="81000"/>
              </a:schemeClr>
            </a:innerShdw>
          </a:effectLst>
        </p:spPr>
        <p:txBody>
          <a:bodyPr wrap="square">
            <a:spAutoFit/>
          </a:bodyPr>
          <a:lstStyle/>
          <a:p>
            <a:pPr marL="0" lvl="1" algn="l">
              <a:spcBef>
                <a:spcPts val="600"/>
              </a:spcBef>
            </a:pPr>
            <a:r>
              <a:rPr lang="en-US" altLang="zh-CN"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A→B</a:t>
            </a:r>
            <a:r>
              <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a:t>
            </a:r>
            <a:r>
              <a:rPr lang="en-US" altLang="zh-CN"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成立</a:t>
            </a:r>
            <a:endPar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4"/>
          <p:cNvSpPr/>
          <p:nvPr/>
        </p:nvSpPr>
        <p:spPr>
          <a:xfrm>
            <a:off x="4148336" y="4941168"/>
            <a:ext cx="4816152" cy="400110"/>
          </a:xfrm>
          <a:prstGeom prst="rect">
            <a:avLst/>
          </a:prstGeom>
        </p:spPr>
        <p:txBody>
          <a:bodyPr wrap="square">
            <a:spAutoFit/>
          </a:bodyPr>
          <a:lstStyle/>
          <a:p>
            <a:pPr marL="0" lvl="1" algn="l">
              <a:spcBef>
                <a:spcPts val="600"/>
              </a:spcBef>
            </a:pPr>
            <a:r>
              <a:rPr lang="en-US" altLang="zh-CN"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A→B</a:t>
            </a:r>
            <a:r>
              <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B→C</a:t>
            </a:r>
            <a:r>
              <a:rPr lang="zh-CN" altLang="en-US"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不成立</a:t>
            </a:r>
            <a:endParaRPr lang="zh-CN" altLang="en-US" sz="20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 name="直接连接符 3"/>
          <p:cNvCxnSpPr/>
          <p:nvPr/>
        </p:nvCxnSpPr>
        <p:spPr bwMode="auto">
          <a:xfrm>
            <a:off x="1691680" y="6165304"/>
            <a:ext cx="576064" cy="0"/>
          </a:xfrm>
          <a:prstGeom prst="line">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bwMode="auto">
          <a:xfrm>
            <a:off x="4572000" y="6165304"/>
            <a:ext cx="576064" cy="0"/>
          </a:xfrm>
          <a:prstGeom prst="line">
            <a:avLst/>
          </a:prstGeom>
          <a:ln w="57150">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1+#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987">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98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randombar(horizontal)">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randombar(horizontal)">
                                      <p:cBhvr>
                                        <p:cTn id="4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例</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6.</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8</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（续）</a:t>
            </a:r>
          </a:p>
        </p:txBody>
      </p:sp>
      <p:sp>
        <p:nvSpPr>
          <p:cNvPr id="43011" name="内容占位符 2"/>
          <p:cNvSpPr>
            <a:spLocks noGrp="1"/>
          </p:cNvSpPr>
          <p:nvPr>
            <p:ph idx="1"/>
          </p:nvPr>
        </p:nvSpPr>
        <p:spPr>
          <a:xfrm>
            <a:off x="251520" y="1124744"/>
            <a:ext cx="8401050" cy="5256584"/>
          </a:xfrm>
        </p:spPr>
        <p:txBody>
          <a:bodyPr vert="horz" wrap="square" lIns="91440" tIns="45720" rIns="91440" bIns="45720" anchor="t" anchorCtr="0"/>
          <a:lstStyle/>
          <a:p>
            <a:pPr marL="0" indent="0" algn="ctr">
              <a:lnSpc>
                <a:spcPct val="110000"/>
              </a:lnSpc>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 A→C, B→</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C }</a:t>
            </a:r>
            <a:endParaRPr lang="zh-CN" altLang="en-US" sz="26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200"/>
              </a:spcBef>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中多余的函数依赖。</a:t>
            </a:r>
          </a:p>
          <a:p>
            <a:pPr lvl="1" eaLnBrk="1" hangingPunct="1">
              <a:spcBef>
                <a:spcPts val="18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3 </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B→C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G3</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lvl="1" eaLnBrk="1" hangingPunct="1">
              <a:spcBef>
                <a:spcPts val="18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4 </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B→C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G4</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，包含了</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是多余的函数依赖，</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应去掉</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ts val="18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600"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5 </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A→C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G5</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eaLnBrk="1" hangingPunct="1">
              <a:spcBef>
                <a:spcPts val="18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最终的极小函数依赖集</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F</a:t>
            </a:r>
            <a:r>
              <a:rPr lang="en-US" altLang="zh-CN" sz="26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min </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 A→B</a:t>
            </a:r>
            <a:r>
              <a:rPr lang="zh-CN" altLang="en-US"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B→C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en-US" altLang="zh-CN" sz="4000" dirty="0" smtClean="0">
                <a:latin typeface="Times New Roman" panose="02020603050405020304" pitchFamily="18" charset="0"/>
                <a:cs typeface="Times New Roman" panose="02020603050405020304" pitchFamily="18" charset="0"/>
              </a:rPr>
              <a:t>【</a:t>
            </a:r>
            <a:r>
              <a:rPr lang="zh-CN" altLang="en-US" sz="4000" dirty="0">
                <a:latin typeface="Times New Roman" panose="02020603050405020304" pitchFamily="18" charset="0"/>
                <a:cs typeface="Times New Roman" panose="02020603050405020304" pitchFamily="18" charset="0"/>
              </a:rPr>
              <a:t>例</a:t>
            </a:r>
            <a:r>
              <a:rPr lang="en-US" altLang="zh-CN" sz="4000" dirty="0">
                <a:latin typeface="Times New Roman" panose="02020603050405020304" pitchFamily="18" charset="0"/>
                <a:cs typeface="Times New Roman" panose="02020603050405020304" pitchFamily="18" charset="0"/>
              </a:rPr>
              <a:t>6.11】</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4035" name="内容占位符 2"/>
          <p:cNvSpPr>
            <a:spLocks noGrp="1"/>
          </p:cNvSpPr>
          <p:nvPr>
            <p:ph idx="1"/>
          </p:nvPr>
        </p:nvSpPr>
        <p:spPr/>
        <p:txBody>
          <a:bodyPr vert="horz" wrap="square" lIns="91440" tIns="45720" rIns="91440" bIns="45720" anchor="t" anchorCtr="0"/>
          <a:lstStyle/>
          <a:p>
            <a:pPr marL="0" indent="0" eaLnBrk="1" hangingPunct="1">
              <a:lnSpc>
                <a:spcPct val="110000"/>
              </a:lnSpc>
              <a:buNone/>
            </a:pPr>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rPr>
              <a:t>设有</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U={A</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C }</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F={AB→C</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B→A}</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，求其极小函数依赖集</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3200" baseline="-25000" dirty="0">
                <a:latin typeface="Times New Roman" panose="02020603050405020304" pitchFamily="18" charset="0"/>
                <a:ea typeface="宋体" panose="02010600030101010101" pitchFamily="2" charset="-122"/>
                <a:cs typeface="Times New Roman" panose="02020603050405020304" pitchFamily="18" charset="0"/>
              </a:rPr>
              <a:t>min</a:t>
            </a: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110000"/>
              </a:lnSpc>
              <a:spcBef>
                <a:spcPts val="1800"/>
              </a:spcBef>
            </a:pPr>
            <a:r>
              <a:rPr lang="zh-CN" altLang="en-US" sz="3200" dirty="0">
                <a:latin typeface="Times New Roman" panose="02020603050405020304" pitchFamily="18" charset="0"/>
                <a:ea typeface="宋体" panose="02010600030101010101" pitchFamily="2" charset="-122"/>
                <a:cs typeface="Times New Roman" panose="02020603050405020304" pitchFamily="18" charset="0"/>
              </a:rPr>
              <a:t>解：观察发现该函数依赖集中所有函数依赖的右部均为单个属性，因此只需去掉左部的多余属性和多余函数依赖即可。</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en-US" altLang="zh-CN" sz="4000" dirty="0">
                <a:latin typeface="Times New Roman" panose="02020603050405020304" pitchFamily="18" charset="0"/>
                <a:cs typeface="Times New Roman" panose="02020603050405020304" pitchFamily="18" charset="0"/>
              </a:rPr>
              <a:t>【</a:t>
            </a:r>
            <a:r>
              <a:rPr lang="zh-CN" altLang="en-US" sz="4000" dirty="0">
                <a:latin typeface="Times New Roman" panose="02020603050405020304" pitchFamily="18" charset="0"/>
                <a:cs typeface="Times New Roman" panose="02020603050405020304" pitchFamily="18" charset="0"/>
              </a:rPr>
              <a:t>例</a:t>
            </a:r>
            <a:r>
              <a:rPr lang="en-US" altLang="zh-CN" sz="4000" dirty="0">
                <a:latin typeface="Times New Roman" panose="02020603050405020304" pitchFamily="18" charset="0"/>
                <a:cs typeface="Times New Roman" panose="02020603050405020304" pitchFamily="18" charset="0"/>
              </a:rPr>
              <a:t>6.11】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续1）</a:t>
            </a:r>
          </a:p>
        </p:txBody>
      </p:sp>
      <p:sp>
        <p:nvSpPr>
          <p:cNvPr id="45059" name="内容占位符 2"/>
          <p:cNvSpPr>
            <a:spLocks noGrp="1"/>
          </p:cNvSpPr>
          <p:nvPr>
            <p:ph idx="1"/>
          </p:nvPr>
        </p:nvSpPr>
        <p:spPr>
          <a:xfrm>
            <a:off x="467544" y="1124744"/>
            <a:ext cx="8229600" cy="5256584"/>
          </a:xfrm>
        </p:spPr>
        <p:txBody>
          <a:bodyPr vert="horz" wrap="square" lIns="91440" tIns="45720" rIns="91440" bIns="45720" anchor="t" anchorCtr="0"/>
          <a:lstStyle/>
          <a:p>
            <a:pPr marL="0" indent="0" algn="ctr" eaLnBrk="1" hangingPunct="1">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F={AB→C</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a:t>
            </a:r>
          </a:p>
          <a:p>
            <a:pPr marL="0" indent="0" eaLnBrk="1" hangingPunct="1">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中每个函数依赖左部的多余属性，本例只需考虑</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AB→C</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即可。</a:t>
            </a:r>
          </a:p>
          <a:p>
            <a:pPr lvl="1" eaLnBrk="1" hangingPunct="1">
              <a:spcBef>
                <a:spcPts val="30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第</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种情况：去掉</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 </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，包含</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是多余属性，</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可化简为</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buFont typeface="Wingdings" panose="05000000000000000000" pitchFamily="2" charset="2"/>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故</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简化为：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 }</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30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第</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种情况：去掉</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，计算</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 </a:t>
            </a:r>
            <a:r>
              <a:rPr lang="en-US" altLang="zh-CN" sz="2600" baseline="-250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6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 ABC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，包含</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是多余属性，</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AB→C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可化简为</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1200"/>
              </a:spcBef>
              <a:buFont typeface="Wingdings" panose="05000000000000000000" pitchFamily="2" charset="2"/>
              <a:buNone/>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故</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可简化为：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8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 </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B→C</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 }</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05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en-US" altLang="zh-CN" sz="4000" dirty="0">
                <a:latin typeface="Times New Roman" panose="02020603050405020304" pitchFamily="18" charset="0"/>
                <a:cs typeface="Times New Roman" panose="02020603050405020304" pitchFamily="18" charset="0"/>
              </a:rPr>
              <a:t>【</a:t>
            </a:r>
            <a:r>
              <a:rPr lang="zh-CN" altLang="en-US" sz="4000" dirty="0">
                <a:latin typeface="Times New Roman" panose="02020603050405020304" pitchFamily="18" charset="0"/>
                <a:cs typeface="Times New Roman" panose="02020603050405020304" pitchFamily="18" charset="0"/>
              </a:rPr>
              <a:t>例</a:t>
            </a:r>
            <a:r>
              <a:rPr lang="en-US" altLang="zh-CN" sz="4000" dirty="0">
                <a:latin typeface="Times New Roman" panose="02020603050405020304" pitchFamily="18" charset="0"/>
                <a:cs typeface="Times New Roman" panose="02020603050405020304" pitchFamily="18" charset="0"/>
              </a:rPr>
              <a:t>6.11】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（续</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7107" name="内容占位符 2"/>
          <p:cNvSpPr>
            <a:spLocks noGrp="1"/>
          </p:cNvSpPr>
          <p:nvPr>
            <p:ph idx="1"/>
          </p:nvPr>
        </p:nvSpPr>
        <p:spPr>
          <a:xfrm>
            <a:off x="251520" y="1052736"/>
            <a:ext cx="8712968" cy="5544616"/>
          </a:xfrm>
        </p:spPr>
        <p:txBody>
          <a:bodyPr vert="horz" wrap="square" lIns="91440" tIns="45720" rIns="91440" bIns="45720" anchor="t" anchorCtr="0"/>
          <a:lstStyle/>
          <a:p>
            <a:pPr marL="0" indent="0" algn="ctr">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smtClean="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p>
          <a:p>
            <a:pPr marL="0" indent="0" algn="just">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中的多余函数依赖。</a:t>
            </a:r>
          </a:p>
          <a:p>
            <a:pPr algn="just" eaLnBrk="1" hangingPunct="1">
              <a:spcBef>
                <a:spcPts val="12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中的多余函数依赖。</a:t>
            </a:r>
          </a:p>
          <a:p>
            <a:pPr lvl="1" algn="just" eaLnBrk="1" hangingPunct="1">
              <a:spcBef>
                <a:spcPts val="12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11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G11</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lvl="1" algn="just" eaLnBrk="1" hangingPunct="1">
              <a:spcBef>
                <a:spcPts val="18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12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G12</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lvl="1" algn="just" eaLnBrk="1" hangingPunct="1">
              <a:spcBef>
                <a:spcPts val="18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13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G13</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algn="just" eaLnBrk="1" hangingPunct="1">
              <a:spcBef>
                <a:spcPts val="2400"/>
              </a:spcBef>
              <a:buFont typeface="Wingdings" panose="05000000000000000000" pitchFamily="2" charset="2"/>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最终极</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小函数依赖集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min1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B→A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en-US" altLang="zh-CN" sz="4000" dirty="0">
                <a:latin typeface="Times New Roman" panose="02020603050405020304" pitchFamily="18" charset="0"/>
                <a:cs typeface="Times New Roman" panose="02020603050405020304" pitchFamily="18" charset="0"/>
              </a:rPr>
              <a:t>【</a:t>
            </a:r>
            <a:r>
              <a:rPr lang="zh-CN" altLang="en-US" sz="4000" dirty="0">
                <a:latin typeface="Times New Roman" panose="02020603050405020304" pitchFamily="18" charset="0"/>
                <a:cs typeface="Times New Roman" panose="02020603050405020304" pitchFamily="18" charset="0"/>
              </a:rPr>
              <a:t>例</a:t>
            </a:r>
            <a:r>
              <a:rPr lang="en-US" altLang="zh-CN" sz="4000" dirty="0">
                <a:latin typeface="Times New Roman" panose="02020603050405020304" pitchFamily="18" charset="0"/>
                <a:cs typeface="Times New Roman" panose="02020603050405020304" pitchFamily="18" charset="0"/>
              </a:rPr>
              <a:t>6.11】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（续</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3</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6083" name="内容占位符 2"/>
          <p:cNvSpPr>
            <a:spLocks noGrp="1"/>
          </p:cNvSpPr>
          <p:nvPr>
            <p:ph idx="1"/>
          </p:nvPr>
        </p:nvSpPr>
        <p:spPr>
          <a:xfrm>
            <a:off x="323528" y="1295400"/>
            <a:ext cx="8712968" cy="5085928"/>
          </a:xfrm>
        </p:spPr>
        <p:txBody>
          <a:bodyPr vert="horz" wrap="square" lIns="91440" tIns="45720" rIns="91440" bIns="45720" anchor="t" anchorCtr="0"/>
          <a:lstStyle/>
          <a:p>
            <a:pPr marL="0" indent="0" algn="ctr">
              <a:lnSpc>
                <a:spcPct val="110000"/>
              </a:lnSpc>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 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110000"/>
              </a:lnSpc>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去掉</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G2</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中的多余函数依赖。</a:t>
            </a:r>
          </a:p>
          <a:p>
            <a:pPr lvl="1" eaLnBrk="1" hangingPunct="1">
              <a:lnSpc>
                <a:spcPct val="110000"/>
              </a:lnSpc>
              <a:spcBef>
                <a:spcPts val="24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21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G21</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lvl="1" eaLnBrk="1" hangingPunct="1">
              <a:lnSpc>
                <a:spcPct val="110000"/>
              </a:lnSpc>
              <a:spcBef>
                <a:spcPts val="18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22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G22</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lvl="1" eaLnBrk="1" hangingPunct="1">
              <a:lnSpc>
                <a:spcPct val="110000"/>
              </a:lnSpc>
              <a:spcBef>
                <a:spcPts val="18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2400"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B→A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23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G23</a:t>
            </a:r>
            <a:r>
              <a:rPr lang="en-US" altLang="zh-CN" sz="2400" baseline="30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 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，不包含</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不是多余的函数依赖。</a:t>
            </a:r>
          </a:p>
          <a:p>
            <a:pPr eaLnBrk="1" hangingPunct="1">
              <a:lnSpc>
                <a:spcPct val="110000"/>
              </a:lnSpc>
              <a:spcBef>
                <a:spcPts val="2400"/>
              </a:spcBef>
              <a:buFont typeface="Wingdings" panose="05000000000000000000" pitchFamily="2" charset="2"/>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最终极</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小函数依赖集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min2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G</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B→C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求候选</a:t>
            </a:r>
            <a:r>
              <a:rPr lang="zh-CN" altLang="en-US" dirty="0"/>
              <a:t>码（</a:t>
            </a:r>
            <a:r>
              <a:rPr lang="zh-CN" altLang="en-US" dirty="0" smtClean="0"/>
              <a:t>小结）</a:t>
            </a:r>
            <a:endParaRPr lang="zh-CN" altLang="en-US" dirty="0"/>
          </a:p>
        </p:txBody>
      </p:sp>
      <p:sp>
        <p:nvSpPr>
          <p:cNvPr id="3" name="内容占位符 2"/>
          <p:cNvSpPr>
            <a:spLocks noGrp="1"/>
          </p:cNvSpPr>
          <p:nvPr>
            <p:ph idx="1"/>
          </p:nvPr>
        </p:nvSpPr>
        <p:spPr>
          <a:xfrm>
            <a:off x="457200" y="1295400"/>
            <a:ext cx="8579296" cy="4876800"/>
          </a:xfrm>
        </p:spPr>
        <p:txBody>
          <a:bodyPr/>
          <a:lstStyle/>
          <a:p>
            <a:pPr marL="0" indent="0">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、找到所有</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L</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N</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属性</a:t>
            </a:r>
            <a:r>
              <a:rPr lang="zh-CN" altLang="en-US" sz="2400" u="wavyDbl" dirty="0" smtClean="0">
                <a:uFill>
                  <a:solidFill>
                    <a:srgbClr val="FF0000"/>
                  </a:solidFill>
                </a:uFill>
                <a:latin typeface="Times New Roman" panose="02020603050405020304" pitchFamily="18" charset="0"/>
                <a:ea typeface="宋体" panose="02010600030101010101" pitchFamily="2" charset="-122"/>
                <a:cs typeface="Times New Roman" panose="02020603050405020304" pitchFamily="18" charset="0"/>
              </a:rPr>
              <a:t>集合</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必定在</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任何</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一个候选码中）</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若</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的所有属性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是唯一候选码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若</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的所有属性</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不是候选码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、找到所有</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LR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属性集合</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B </a:t>
            </a: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必有</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部分或全部</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在</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某个</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候选码中</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将</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拆散，依次与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结合，分别求</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闭包</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若分别的闭包都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得出所有候选码</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marL="0" indent="0">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若有</a:t>
            </a:r>
            <a:r>
              <a:rPr lang="zh-CN" altLang="en-US" sz="2400" u="sng"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两个或以上</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闭包≠</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所有属性</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还要考虑</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组合情况</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的闭包</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1512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极</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小函数依赖</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集（小结）</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8915" name="内容占位符 2"/>
          <p:cNvSpPr>
            <a:spLocks noGrp="1"/>
          </p:cNvSpPr>
          <p:nvPr>
            <p:ph idx="1"/>
          </p:nvPr>
        </p:nvSpPr>
        <p:spPr>
          <a:xfrm>
            <a:off x="323528" y="1178497"/>
            <a:ext cx="8463284" cy="1224135"/>
          </a:xfrm>
        </p:spPr>
        <p:txBody>
          <a:bodyPr vert="horz" wrap="square" lIns="91440" tIns="45720" rIns="91440" bIns="45720" anchor="t" anchorCtr="0"/>
          <a:lstStyle/>
          <a:p>
            <a:pPr eaLnBrk="1" hangingPunct="1"/>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对关系模式</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），如果 函数依赖集</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满足下列条件，则称</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为</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的一个极小函数依赖集（或称为</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最小依赖集、最小覆盖</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），记为</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400" baseline="-25000" dirty="0" err="1" smtClean="0">
                <a:latin typeface="Times New Roman" panose="02020603050405020304" pitchFamily="18" charset="0"/>
                <a:ea typeface="宋体" panose="02010600030101010101" pitchFamily="2" charset="-122"/>
                <a:cs typeface="Times New Roman" panose="02020603050405020304" pitchFamily="18" charset="0"/>
              </a:rPr>
              <a:t>min</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 name="内容占位符 2"/>
          <p:cNvSpPr txBox="1"/>
          <p:nvPr/>
        </p:nvSpPr>
        <p:spPr>
          <a:xfrm>
            <a:off x="323528" y="2420888"/>
            <a:ext cx="8463284" cy="3943325"/>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中每个函数依赖的右部仅含有</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一个属性</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67995" lvl="1" indent="0">
              <a:spcBef>
                <a:spcPts val="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BC     (  AB   AC  )</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中每个函数依赖的左部不存在</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多余的属性</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，即不存在这样的函数依赖</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有真子集</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Z</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使得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与</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(F-{X→A}) ∪{Z→A}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等价。</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0"/>
              </a:spcBef>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sage        (</a:t>
            </a:r>
            <a:r>
              <a:rPr lang="en-US" altLang="zh-CN" sz="24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snosage</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lvl="1">
              <a:spcBef>
                <a:spcPts val="2400"/>
              </a:spcBef>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F</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中不存在</a:t>
            </a:r>
            <a:r>
              <a:rPr lang="zh-CN" altLang="en-US" sz="2400" u="heavy" dirty="0" smtClean="0">
                <a:latin typeface="Times New Roman" panose="02020603050405020304" pitchFamily="18" charset="0"/>
                <a:ea typeface="宋体" panose="02010600030101010101" pitchFamily="2" charset="-122"/>
                <a:cs typeface="Times New Roman" panose="02020603050405020304" pitchFamily="18" charset="0"/>
              </a:rPr>
              <a:t>多余的函数依赖</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，即不存在这样的函数依赖</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X→A</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，使得</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与</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F-{X→A}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等价。</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457200" lvl="1" indent="0">
              <a:spcBef>
                <a:spcPts val="600"/>
              </a:spcBef>
              <a:buNone/>
            </a:pP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F={A</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 AC, BC</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F={A</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B</a:t>
            </a:r>
            <a:r>
              <a:rPr lang="en-US" altLang="zh-CN" sz="24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5531752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381000" y="152400"/>
            <a:ext cx="7720013"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dirty="0">
                <a:latin typeface="黑体" panose="02010609060101010101" pitchFamily="2" charset="-122"/>
                <a:ea typeface="黑体" panose="02010609060101010101" pitchFamily="2" charset="-122"/>
                <a:cs typeface="黑体" panose="02010609060101010101" pitchFamily="2" charset="-122"/>
                <a:sym typeface="+mn-ea"/>
              </a:rPr>
              <a:t>6.1.6 为什么要讨论函数依赖？</a:t>
            </a:r>
          </a:p>
        </p:txBody>
      </p:sp>
      <p:graphicFrame>
        <p:nvGraphicFramePr>
          <p:cNvPr id="600964" name="Group 900"/>
          <p:cNvGraphicFramePr>
            <a:graphicFrameLocks noGrp="1"/>
          </p:cNvGraphicFramePr>
          <p:nvPr>
            <p:ph idx="1"/>
            <p:custDataLst>
              <p:tags r:id="rId1"/>
            </p:custDataLst>
          </p:nvPr>
        </p:nvGraphicFramePr>
        <p:xfrm>
          <a:off x="323850" y="1196975"/>
          <a:ext cx="8496622" cy="5256360"/>
        </p:xfrm>
        <a:graphic>
          <a:graphicData uri="http://schemas.openxmlformats.org/drawingml/2006/table">
            <a:tbl>
              <a:tblPr/>
              <a:tblGrid>
                <a:gridCol w="1528976"/>
                <a:gridCol w="1149533"/>
                <a:gridCol w="999037"/>
                <a:gridCol w="1530577"/>
                <a:gridCol w="1208771"/>
                <a:gridCol w="1039064"/>
                <a:gridCol w="1040664"/>
              </a:tblGrid>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err="1"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Sno</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Sname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Ssex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Sdept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Sloc</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Cno</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Grade</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0611101</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96</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0611101</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80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0611101</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84</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0611101</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62</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92</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90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0611102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计算机系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84</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0621102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吴宾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信息管理系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76</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0621102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吴宾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信息管理系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85</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0621102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吴宾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信息管理系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73</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030">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0621102</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吴宾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zh-CN" altLang="en-US"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信息管理系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公寓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1" hangingPunct="1">
                        <a:lnSpc>
                          <a:spcPct val="100000"/>
                        </a:lnSpc>
                        <a:spcBef>
                          <a:spcPct val="0"/>
                        </a:spcBef>
                        <a:spcAft>
                          <a:spcPct val="0"/>
                        </a:spcAft>
                        <a:buClrTx/>
                        <a:buSzTx/>
                        <a:buFontTx/>
                        <a:buNone/>
                      </a:pPr>
                      <a:r>
                        <a:rPr kumimoji="1"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C007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NULL</a:t>
                      </a:r>
                      <a:endParaRPr kumimoji="1" lang="zh-CN" altLang="en-US" sz="14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存在问题</a:t>
            </a:r>
          </a:p>
        </p:txBody>
      </p:sp>
      <p:sp>
        <p:nvSpPr>
          <p:cNvPr id="49155" name="Rectangle 3"/>
          <p:cNvSpPr>
            <a:spLocks noGrp="1"/>
          </p:cNvSpPr>
          <p:nvPr>
            <p:ph idx="1"/>
          </p:nvPr>
        </p:nvSpPr>
        <p:spPr>
          <a:xfrm>
            <a:off x="2051720" y="1700808"/>
            <a:ext cx="4512543" cy="3584426"/>
          </a:xfrm>
        </p:spPr>
        <p:txBody>
          <a:bodyPr vert="horz" wrap="square" lIns="91440" tIns="45720" rIns="91440" bIns="45720" anchor="t" anchorCtr="0"/>
          <a:lstStyle/>
          <a:p>
            <a:pPr eaLnBrk="1" hangingPunct="1">
              <a:spcBef>
                <a:spcPts val="18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数据冗余问题 </a:t>
            </a:r>
          </a:p>
          <a:p>
            <a:pPr eaLnBrk="1" hangingPunct="1">
              <a:spcBef>
                <a:spcPts val="18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数据更新问题 </a:t>
            </a:r>
          </a:p>
          <a:p>
            <a:pPr eaLnBrk="1" hangingPunct="1">
              <a:spcBef>
                <a:spcPts val="18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数据插入问题 </a:t>
            </a:r>
          </a:p>
          <a:p>
            <a:pPr eaLnBrk="1" hangingPunct="1">
              <a:spcBef>
                <a:spcPts val="18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数据删除问题</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结论</a:t>
            </a:r>
          </a:p>
        </p:txBody>
      </p:sp>
      <p:sp>
        <p:nvSpPr>
          <p:cNvPr id="50179" name="Rectangle 3"/>
          <p:cNvSpPr>
            <a:spLocks noGrp="1"/>
          </p:cNvSpPr>
          <p:nvPr>
            <p:ph idx="1"/>
          </p:nvPr>
        </p:nvSpPr>
        <p:spPr>
          <a:xfrm>
            <a:off x="611560" y="1268760"/>
            <a:ext cx="8280920" cy="4895850"/>
          </a:xfrm>
        </p:spPr>
        <p:txBody>
          <a:bodyPr vert="horz" wrap="square" lIns="91440" tIns="45720" rIns="91440" bIns="45720" anchor="t" anchorCtr="0"/>
          <a:lstStyle/>
          <a:p>
            <a:pPr eaLnBrk="1" hangingPunct="1">
              <a:lnSpc>
                <a:spcPct val="110000"/>
              </a:lnSpc>
              <a:spcBef>
                <a:spcPts val="1200"/>
              </a:spcBef>
              <a:buClr>
                <a:schemeClr val="bg1"/>
              </a:buCl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此关系模式不是一个好的模式。</a:t>
            </a:r>
          </a:p>
          <a:p>
            <a:pPr eaLnBrk="1" hangingPunct="1">
              <a:lnSpc>
                <a:spcPct val="110000"/>
              </a:lnSpc>
              <a:spcBef>
                <a:spcPts val="0"/>
              </a:spcBef>
              <a:buClr>
                <a:schemeClr val="bg1"/>
              </a:buClr>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  “好”</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的模式：</a:t>
            </a:r>
          </a:p>
          <a:p>
            <a:pPr lvl="1" eaLnBrk="1" hangingPunct="1">
              <a:lnSpc>
                <a:spcPct val="110000"/>
              </a:lnSpc>
              <a:spcBef>
                <a:spcPts val="0"/>
              </a:spcBef>
              <a:buClr>
                <a:schemeClr val="bg1"/>
              </a:buCl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不会发生插入异常、删除异常、更新异常，</a:t>
            </a:r>
          </a:p>
          <a:p>
            <a:pPr lvl="1" eaLnBrk="1" hangingPunct="1">
              <a:lnSpc>
                <a:spcPct val="110000"/>
              </a:lnSpc>
              <a:spcBef>
                <a:spcPts val="0"/>
              </a:spcBef>
              <a:buClr>
                <a:schemeClr val="bg1"/>
              </a:buClr>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数据冗余应尽可能少。</a:t>
            </a:r>
          </a:p>
          <a:p>
            <a:pPr eaLnBrk="1" hangingPunct="1">
              <a:lnSpc>
                <a:spcPct val="110000"/>
              </a:lnSpc>
              <a:spcBef>
                <a:spcPts val="2400"/>
              </a:spcBef>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原因</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：由存在于模式中的</a:t>
            </a:r>
            <a:r>
              <a:rPr lang="zh-CN" altLang="en-US" sz="280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某些数据依赖</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引起</a:t>
            </a:r>
          </a:p>
          <a:p>
            <a:pPr eaLnBrk="1" hangingPunct="1">
              <a:lnSpc>
                <a:spcPct val="110000"/>
              </a:lnSpc>
              <a:spcBef>
                <a:spcPts val="2400"/>
              </a:spcBef>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解决方法</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模式分解，即把一个关系模式分解成两个或多个关系模式，在分解的过程中消除那些“</a:t>
            </a:r>
            <a:r>
              <a:rPr lang="zh-CN" altLang="zh-CN" sz="2800" dirty="0">
                <a:solidFill>
                  <a:srgbClr val="FF00FF"/>
                </a:solidFill>
                <a:latin typeface="Times New Roman" panose="02020603050405020304" pitchFamily="18" charset="0"/>
                <a:ea typeface="宋体" panose="02010600030101010101" pitchFamily="2" charset="-122"/>
                <a:cs typeface="Times New Roman" panose="02020603050405020304" pitchFamily="18" charset="0"/>
              </a:rPr>
              <a:t>不良</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”的函数依赖，从而获得良好的关系模式</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6.2 关系规范化</a:t>
            </a:r>
          </a:p>
        </p:txBody>
      </p:sp>
      <p:sp>
        <p:nvSpPr>
          <p:cNvPr id="51203" name="Rectangle 3"/>
          <p:cNvSpPr>
            <a:spLocks noGrp="1"/>
          </p:cNvSpPr>
          <p:nvPr>
            <p:ph idx="1"/>
          </p:nvPr>
        </p:nvSpPr>
        <p:spPr>
          <a:xfrm>
            <a:off x="467544" y="1412776"/>
            <a:ext cx="8135937" cy="4248150"/>
          </a:xfrm>
        </p:spPr>
        <p:txBody>
          <a:bodyPr vert="horz" wrap="square" lIns="91440" tIns="45720" rIns="91440" bIns="45720" anchor="t" anchorCtr="0"/>
          <a:lstStyle/>
          <a:p>
            <a:pPr eaLnBrk="1" hangingPunct="1">
              <a:lnSpc>
                <a:spcPct val="120000"/>
              </a:lnSpc>
              <a:spcBef>
                <a:spcPts val="24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关系规范化是指导将有“不良”函数依赖的关系模式转换为良好的关系模式的理论。</a:t>
            </a:r>
          </a:p>
          <a:p>
            <a:pPr eaLnBrk="1" hangingPunct="1">
              <a:lnSpc>
                <a:spcPct val="120000"/>
              </a:lnSpc>
              <a:spcBef>
                <a:spcPts val="2400"/>
              </a:spcBef>
            </a:pPr>
            <a:r>
              <a:rPr lang="zh-CN" altLang="en-US" sz="3600" dirty="0">
                <a:latin typeface="Times New Roman" panose="02020603050405020304" pitchFamily="18" charset="0"/>
                <a:ea typeface="宋体" panose="02010600030101010101" pitchFamily="2" charset="-122"/>
                <a:cs typeface="Times New Roman" panose="02020603050405020304" pitchFamily="18" charset="0"/>
              </a:rPr>
              <a:t>这里涉及到范式的概念，不同的范式表示关系模式遵守的不同的规则。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范式概述</a:t>
            </a:r>
          </a:p>
        </p:txBody>
      </p:sp>
      <p:sp>
        <p:nvSpPr>
          <p:cNvPr id="52227" name="Rectangle 3"/>
          <p:cNvSpPr>
            <a:spLocks noGrp="1"/>
          </p:cNvSpPr>
          <p:nvPr>
            <p:ph idx="1"/>
          </p:nvPr>
        </p:nvSpPr>
        <p:spPr>
          <a:xfrm>
            <a:off x="357188" y="1196975"/>
            <a:ext cx="8264525" cy="4536281"/>
          </a:xfrm>
        </p:spPr>
        <p:txBody>
          <a:bodyPr vert="horz" wrap="square" lIns="91440" tIns="45720" rIns="91440" bIns="45720" anchor="t" anchorCtr="0"/>
          <a:lstStyle/>
          <a:p>
            <a:pPr eaLnBrk="1" hangingPunct="1"/>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关系数据库中的关系要满足一定的要求，满足不同程度要求的为不不同的</a:t>
            </a: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范式</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Normal Form</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3000"/>
              </a:spcBef>
            </a:pPr>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范式的种类：</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	</a:t>
            </a:r>
          </a:p>
          <a:p>
            <a:pPr lvl="1" eaLnBrk="1" hangingPunct="1">
              <a:lnSpc>
                <a:spcPct val="11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第一范式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(1NF)</a:t>
            </a:r>
          </a:p>
          <a:p>
            <a:pPr lvl="1" eaLnBrk="1" hangingPunct="1">
              <a:lnSpc>
                <a:spcPct val="11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第二范式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(2NF)</a:t>
            </a:r>
          </a:p>
          <a:p>
            <a:pPr lvl="1" eaLnBrk="1" hangingPunct="1">
              <a:lnSpc>
                <a:spcPct val="110000"/>
              </a:lnSpc>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第三范式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p>
          <a:p>
            <a:pPr lvl="1" eaLnBrk="1" hangingPunct="1">
              <a:lnSpc>
                <a:spcPct val="11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范式</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10000"/>
              </a:lnSpc>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2" name="对象 1"/>
          <p:cNvGraphicFramePr>
            <a:graphicFrameLocks noChangeAspect="1"/>
          </p:cNvGraphicFramePr>
          <p:nvPr/>
        </p:nvGraphicFramePr>
        <p:xfrm>
          <a:off x="835025" y="5805488"/>
          <a:ext cx="7654925" cy="493712"/>
        </p:xfrm>
        <a:graphic>
          <a:graphicData uri="http://schemas.openxmlformats.org/presentationml/2006/ole">
            <mc:AlternateContent xmlns:mc="http://schemas.openxmlformats.org/markup-compatibility/2006">
              <mc:Choice xmlns:v="urn:schemas-microsoft-com:vml" Requires="v">
                <p:oleObj spid="_x0000_s6178" name="公式" r:id="rId3" imgW="72847200" imgH="4267200" progId="Equation.3">
                  <p:embed/>
                </p:oleObj>
              </mc:Choice>
              <mc:Fallback>
                <p:oleObj name="公式" r:id="rId3" imgW="72847200" imgH="4267200" progId="Equation.3">
                  <p:embed/>
                  <p:pic>
                    <p:nvPicPr>
                      <p:cNvPr id="0" name="Object 6"/>
                      <p:cNvPicPr>
                        <a:picLocks noChangeAspect="1" noChangeArrowheads="1"/>
                      </p:cNvPicPr>
                      <p:nvPr/>
                    </p:nvPicPr>
                    <p:blipFill>
                      <a:blip r:embed="rId4"/>
                      <a:srcRect/>
                      <a:stretch>
                        <a:fillRect/>
                      </a:stretch>
                    </p:blipFill>
                    <p:spPr bwMode="auto">
                      <a:xfrm>
                        <a:off x="835025" y="5805488"/>
                        <a:ext cx="76549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395536" y="152400"/>
            <a:ext cx="8208912" cy="685800"/>
          </a:xfrm>
        </p:spPr>
        <p:txBody>
          <a:bodyPr/>
          <a:lstStyle/>
          <a:p>
            <a:r>
              <a:rPr lang="zh-CN" altLang="en-US" dirty="0" smtClean="0"/>
              <a:t>复习几个关键</a:t>
            </a:r>
            <a:r>
              <a:rPr lang="zh-CN" altLang="en-US" dirty="0"/>
              <a:t>术语（示例</a:t>
            </a:r>
            <a:r>
              <a:rPr lang="en-US" altLang="zh-CN" dirty="0" smtClean="0"/>
              <a:t>1</a:t>
            </a:r>
            <a:r>
              <a:rPr lang="zh-CN" altLang="en-US" dirty="0" smtClean="0"/>
              <a:t>）</a:t>
            </a:r>
          </a:p>
        </p:txBody>
      </p:sp>
      <p:sp>
        <p:nvSpPr>
          <p:cNvPr id="24579" name="内容占位符 2"/>
          <p:cNvSpPr>
            <a:spLocks noGrp="1"/>
          </p:cNvSpPr>
          <p:nvPr>
            <p:ph idx="1"/>
          </p:nvPr>
        </p:nvSpPr>
        <p:spPr>
          <a:xfrm>
            <a:off x="250825" y="1265238"/>
            <a:ext cx="8610600" cy="5037137"/>
          </a:xfrm>
        </p:spPr>
        <p:txBody>
          <a:bodyPr/>
          <a:lstStyle/>
          <a:p>
            <a:pPr marL="0" indent="0">
              <a:spcBef>
                <a:spcPts val="2400"/>
              </a:spcBef>
              <a:buNone/>
            </a:pPr>
            <a:r>
              <a:rPr lang="zh-CN" altLang="en-US" dirty="0" smtClean="0">
                <a:latin typeface="宋体" panose="02010600030101010101" pitchFamily="2" charset="-122"/>
                <a:ea typeface="宋体" panose="02010600030101010101" pitchFamily="2" charset="-122"/>
                <a:cs typeface="宋体" panose="02010600030101010101" pitchFamily="2" charset="-122"/>
              </a:rPr>
              <a:t>关系模式：学生（学号，姓名，性别，身份证号，年龄，所在系）</a:t>
            </a:r>
          </a:p>
          <a:p>
            <a:pPr>
              <a:spcBef>
                <a:spcPts val="2400"/>
              </a:spcBef>
            </a:pPr>
            <a:r>
              <a:rPr lang="zh-CN" altLang="en-US"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候选码</a:t>
            </a:r>
            <a:r>
              <a:rPr lang="zh-CN" altLang="en-US" dirty="0" smtClean="0">
                <a:latin typeface="宋体" panose="02010600030101010101" pitchFamily="2" charset="-122"/>
                <a:ea typeface="宋体" panose="02010600030101010101" pitchFamily="2" charset="-122"/>
                <a:cs typeface="宋体" panose="02010600030101010101" pitchFamily="2" charset="-122"/>
              </a:rPr>
              <a:t>：学号，身份证号。</a:t>
            </a:r>
          </a:p>
          <a:p>
            <a:pPr>
              <a:spcBef>
                <a:spcPts val="2400"/>
              </a:spcBef>
            </a:pPr>
            <a:r>
              <a:rPr lang="zh-CN" altLang="en-US"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主码</a:t>
            </a:r>
            <a:r>
              <a:rPr lang="zh-CN" altLang="en-US" dirty="0" smtClean="0">
                <a:latin typeface="宋体" panose="02010600030101010101" pitchFamily="2" charset="-122"/>
                <a:ea typeface="宋体" panose="02010600030101010101" pitchFamily="2" charset="-122"/>
                <a:cs typeface="宋体" panose="02010600030101010101" pitchFamily="2" charset="-122"/>
              </a:rPr>
              <a:t>：“学号”或“身份证号”。</a:t>
            </a:r>
          </a:p>
          <a:p>
            <a:pPr>
              <a:spcBef>
                <a:spcPts val="2400"/>
              </a:spcBef>
            </a:pPr>
            <a:r>
              <a:rPr lang="zh-CN" altLang="en-US"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主属性</a:t>
            </a:r>
            <a:r>
              <a:rPr lang="zh-CN" altLang="en-US" dirty="0" smtClean="0">
                <a:latin typeface="宋体" panose="02010600030101010101" pitchFamily="2" charset="-122"/>
                <a:ea typeface="宋体" panose="02010600030101010101" pitchFamily="2" charset="-122"/>
                <a:cs typeface="宋体" panose="02010600030101010101" pitchFamily="2" charset="-122"/>
              </a:rPr>
              <a:t>：学号，课程号。</a:t>
            </a:r>
          </a:p>
          <a:p>
            <a:pPr>
              <a:spcBef>
                <a:spcPts val="2400"/>
              </a:spcBef>
            </a:pPr>
            <a:r>
              <a:rPr lang="zh-CN" altLang="en-US" dirty="0" smtClean="0">
                <a:solidFill>
                  <a:srgbClr val="FF0000"/>
                </a:solidFill>
                <a:latin typeface="宋体" panose="02010600030101010101" pitchFamily="2" charset="-122"/>
                <a:ea typeface="宋体" panose="02010600030101010101" pitchFamily="2" charset="-122"/>
                <a:cs typeface="宋体" panose="02010600030101010101" pitchFamily="2" charset="-122"/>
              </a:rPr>
              <a:t>非主属性</a:t>
            </a:r>
            <a:r>
              <a:rPr lang="zh-CN" altLang="en-US" dirty="0" smtClean="0">
                <a:latin typeface="宋体" panose="02010600030101010101" pitchFamily="2" charset="-122"/>
                <a:ea typeface="宋体" panose="02010600030101010101" pitchFamily="2" charset="-122"/>
                <a:cs typeface="宋体" panose="02010600030101010101" pitchFamily="2" charset="-122"/>
              </a:rPr>
              <a:t>：姓名，性别，年龄，所在系。</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a:t>复习几个关键术语（</a:t>
            </a:r>
            <a:r>
              <a:rPr lang="zh-CN" altLang="en-US" dirty="0" smtClean="0"/>
              <a:t>示例</a:t>
            </a:r>
            <a:r>
              <a:rPr lang="en-US" altLang="zh-CN" dirty="0" smtClean="0"/>
              <a:t>2</a:t>
            </a:r>
            <a:r>
              <a:rPr lang="zh-CN" altLang="en-US" dirty="0" smtClean="0"/>
              <a:t>）</a:t>
            </a:r>
          </a:p>
        </p:txBody>
      </p:sp>
      <p:sp>
        <p:nvSpPr>
          <p:cNvPr id="25603" name="内容占位符 2"/>
          <p:cNvSpPr>
            <a:spLocks noGrp="1"/>
          </p:cNvSpPr>
          <p:nvPr>
            <p:ph idx="1"/>
          </p:nvPr>
        </p:nvSpPr>
        <p:spPr>
          <a:xfrm>
            <a:off x="250825" y="1193800"/>
            <a:ext cx="8610600" cy="5108575"/>
          </a:xfrm>
        </p:spPr>
        <p:txBody>
          <a:bodyPr/>
          <a:lstStyle/>
          <a:p>
            <a:pPr marL="0" indent="0">
              <a:spcBef>
                <a:spcPts val="1800"/>
              </a:spcBef>
              <a:buNone/>
            </a:pPr>
            <a:r>
              <a:rPr lang="zh-CN" altLang="en-US" dirty="0" smtClean="0">
                <a:latin typeface="宋体" panose="02010600030101010101" pitchFamily="2" charset="-122"/>
                <a:ea typeface="宋体" panose="02010600030101010101" pitchFamily="2" charset="-122"/>
              </a:rPr>
              <a:t>选课（学号，课程号，考试次数，成绩）</a:t>
            </a:r>
          </a:p>
          <a:p>
            <a:pPr marL="0" indent="0">
              <a:spcBef>
                <a:spcPts val="1800"/>
              </a:spcBef>
              <a:buNone/>
            </a:pPr>
            <a:r>
              <a:rPr lang="zh-CN" altLang="en-US" dirty="0" smtClean="0">
                <a:latin typeface="宋体" panose="02010600030101010101" pitchFamily="2" charset="-122"/>
                <a:ea typeface="宋体" panose="02010600030101010101" pitchFamily="2" charset="-122"/>
              </a:rPr>
              <a:t>设一个学生对一门课程可以有多次考试，每一次考试有一个考试成绩。</a:t>
            </a:r>
          </a:p>
          <a:p>
            <a:pPr>
              <a:spcBef>
                <a:spcPts val="1800"/>
              </a:spcBef>
            </a:pPr>
            <a:r>
              <a:rPr lang="zh-CN" altLang="en-US" dirty="0" smtClean="0">
                <a:solidFill>
                  <a:srgbClr val="FF0000"/>
                </a:solidFill>
                <a:latin typeface="宋体" panose="02010600030101010101" pitchFamily="2" charset="-122"/>
                <a:ea typeface="宋体" panose="02010600030101010101" pitchFamily="2" charset="-122"/>
              </a:rPr>
              <a:t>候选码</a:t>
            </a:r>
            <a:r>
              <a:rPr lang="zh-CN" altLang="en-US" dirty="0" smtClean="0">
                <a:latin typeface="宋体" panose="02010600030101010101" pitchFamily="2" charset="-122"/>
                <a:ea typeface="宋体" panose="02010600030101010101" pitchFamily="2" charset="-122"/>
              </a:rPr>
              <a:t>：（学号，课程号，考试次数），也为主码。</a:t>
            </a:r>
          </a:p>
          <a:p>
            <a:pPr>
              <a:spcBef>
                <a:spcPts val="1800"/>
              </a:spcBef>
            </a:pPr>
            <a:r>
              <a:rPr lang="zh-CN" altLang="en-US" dirty="0" smtClean="0">
                <a:solidFill>
                  <a:srgbClr val="FF0000"/>
                </a:solidFill>
                <a:latin typeface="宋体" panose="02010600030101010101" pitchFamily="2" charset="-122"/>
                <a:ea typeface="宋体" panose="02010600030101010101" pitchFamily="2" charset="-122"/>
              </a:rPr>
              <a:t>主属性</a:t>
            </a:r>
            <a:r>
              <a:rPr lang="zh-CN" altLang="en-US" dirty="0" smtClean="0">
                <a:latin typeface="宋体" panose="02010600030101010101" pitchFamily="2" charset="-122"/>
                <a:ea typeface="宋体" panose="02010600030101010101" pitchFamily="2" charset="-122"/>
              </a:rPr>
              <a:t>：学号，课程号，考试次数</a:t>
            </a:r>
          </a:p>
          <a:p>
            <a:pPr>
              <a:spcBef>
                <a:spcPts val="1800"/>
              </a:spcBef>
            </a:pPr>
            <a:r>
              <a:rPr lang="zh-CN" altLang="en-US" dirty="0" smtClean="0">
                <a:solidFill>
                  <a:srgbClr val="FF0000"/>
                </a:solidFill>
                <a:latin typeface="宋体" panose="02010600030101010101" pitchFamily="2" charset="-122"/>
                <a:ea typeface="宋体" panose="02010600030101010101" pitchFamily="2" charset="-122"/>
              </a:rPr>
              <a:t>非主属性</a:t>
            </a:r>
            <a:r>
              <a:rPr lang="zh-CN" altLang="en-US" dirty="0" smtClean="0">
                <a:latin typeface="宋体" panose="02010600030101010101" pitchFamily="2" charset="-122"/>
                <a:ea typeface="宋体" panose="02010600030101010101" pitchFamily="2" charset="-122"/>
              </a:rPr>
              <a:t>：成绩。</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dirty="0"/>
              <a:t>复习几个关键术语（</a:t>
            </a:r>
            <a:r>
              <a:rPr lang="zh-CN" altLang="en-US" dirty="0" smtClean="0"/>
              <a:t>示例</a:t>
            </a:r>
            <a:r>
              <a:rPr lang="en-US" altLang="zh-CN" dirty="0" smtClean="0"/>
              <a:t>3</a:t>
            </a:r>
            <a:r>
              <a:rPr lang="zh-CN" altLang="en-US" dirty="0" smtClean="0"/>
              <a:t>）</a:t>
            </a:r>
          </a:p>
        </p:txBody>
      </p:sp>
      <p:sp>
        <p:nvSpPr>
          <p:cNvPr id="26627" name="内容占位符 2"/>
          <p:cNvSpPr>
            <a:spLocks noGrp="1"/>
          </p:cNvSpPr>
          <p:nvPr>
            <p:ph idx="1"/>
          </p:nvPr>
        </p:nvSpPr>
        <p:spPr>
          <a:xfrm>
            <a:off x="323528" y="1124744"/>
            <a:ext cx="8229600" cy="4680520"/>
          </a:xfrm>
        </p:spPr>
        <p:txBody>
          <a:bodyPr/>
          <a:lstStyle/>
          <a:p>
            <a:pPr marL="0" indent="0">
              <a:buNone/>
            </a:pPr>
            <a:r>
              <a:rPr lang="zh-CN" altLang="en-US" sz="2400" dirty="0" smtClean="0">
                <a:latin typeface="宋体" panose="02010600030101010101" pitchFamily="2" charset="-122"/>
                <a:ea typeface="宋体" panose="02010600030101010101" pitchFamily="2" charset="-122"/>
                <a:cs typeface="宋体" panose="02010600030101010101" pitchFamily="2" charset="-122"/>
              </a:rPr>
              <a:t>有关系模式：授课（教师号，课程号，学年）</a:t>
            </a:r>
          </a:p>
          <a:p>
            <a:pPr marL="0" indent="0">
              <a:buNone/>
            </a:pPr>
            <a:r>
              <a:rPr lang="zh-CN" altLang="en-US" sz="2400" dirty="0" smtClean="0">
                <a:latin typeface="宋体" panose="02010600030101010101" pitchFamily="2" charset="-122"/>
                <a:ea typeface="宋体" panose="02010600030101010101" pitchFamily="2" charset="-122"/>
                <a:cs typeface="宋体" panose="02010600030101010101" pitchFamily="2" charset="-122"/>
              </a:rPr>
              <a:t>    语义：一个教师在一个学年可以讲授多门不同的课程，可以在不同学年对同一门课程讲授多次，但不能在同一个学年对同一门课程讲授多次。一门课程在一个学年可以由多个不同的教师讲授，同一个学年可以开设多门课程，同一门课程可以在不同学年开设多次。</a:t>
            </a:r>
          </a:p>
          <a:p>
            <a:pPr>
              <a:spcBef>
                <a:spcPts val="1800"/>
              </a:spcBef>
            </a:pP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候选码</a:t>
            </a:r>
            <a:r>
              <a:rPr lang="zh-CN" altLang="en-US" sz="2400" dirty="0" smtClean="0">
                <a:latin typeface="宋体" panose="02010600030101010101" pitchFamily="2" charset="-122"/>
                <a:ea typeface="宋体" panose="02010600030101010101" pitchFamily="2" charset="-122"/>
                <a:cs typeface="宋体" panose="02010600030101010101" pitchFamily="2" charset="-122"/>
              </a:rPr>
              <a:t>：（教师号，课程号，学年）</a:t>
            </a:r>
          </a:p>
          <a:p>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主码</a:t>
            </a:r>
            <a:r>
              <a:rPr lang="zh-CN" altLang="en-US" sz="2400" dirty="0" smtClean="0">
                <a:latin typeface="宋体" panose="02010600030101010101" pitchFamily="2" charset="-122"/>
                <a:ea typeface="宋体" panose="02010600030101010101" pitchFamily="2" charset="-122"/>
                <a:cs typeface="宋体" panose="02010600030101010101" pitchFamily="2" charset="-122"/>
              </a:rPr>
              <a:t>：同候选码。</a:t>
            </a:r>
          </a:p>
          <a:p>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主属性</a:t>
            </a:r>
            <a:r>
              <a:rPr lang="zh-CN" altLang="en-US" sz="2400" dirty="0" smtClean="0">
                <a:latin typeface="宋体" panose="02010600030101010101" pitchFamily="2" charset="-122"/>
                <a:ea typeface="宋体" panose="02010600030101010101" pitchFamily="2" charset="-122"/>
                <a:cs typeface="宋体" panose="02010600030101010101" pitchFamily="2" charset="-122"/>
              </a:rPr>
              <a:t>：教师号，课程号，学年</a:t>
            </a:r>
          </a:p>
          <a:p>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非主属性</a:t>
            </a:r>
            <a:r>
              <a:rPr lang="zh-CN" altLang="en-US" sz="2400" dirty="0" smtClean="0">
                <a:latin typeface="宋体" panose="02010600030101010101" pitchFamily="2" charset="-122"/>
                <a:ea typeface="宋体" panose="02010600030101010101" pitchFamily="2" charset="-122"/>
                <a:cs typeface="宋体" panose="02010600030101010101" pitchFamily="2" charset="-122"/>
              </a:rPr>
              <a:t>：无</a:t>
            </a:r>
          </a:p>
          <a:p>
            <a:r>
              <a:rPr lang="zh-CN" altLang="en-US" sz="2400" dirty="0" smtClean="0">
                <a:latin typeface="宋体" panose="02010600030101010101" pitchFamily="2" charset="-122"/>
                <a:ea typeface="宋体" panose="02010600030101010101" pitchFamily="2" charset="-122"/>
                <a:cs typeface="宋体" panose="02010600030101010101" pitchFamily="2" charset="-122"/>
              </a:rPr>
              <a:t>称这种候选码为全部属性的表为</a:t>
            </a:r>
            <a:r>
              <a:rPr lang="zh-CN" altLang="en-US" sz="2400" dirty="0" smtClean="0">
                <a:solidFill>
                  <a:srgbClr val="FF0000"/>
                </a:solidFill>
                <a:latin typeface="宋体" panose="02010600030101010101" pitchFamily="2" charset="-122"/>
                <a:ea typeface="宋体" panose="02010600030101010101" pitchFamily="2" charset="-122"/>
                <a:cs typeface="宋体" panose="02010600030101010101" pitchFamily="2" charset="-122"/>
              </a:rPr>
              <a:t>全码表</a:t>
            </a:r>
          </a:p>
        </p:txBody>
      </p:sp>
      <p:sp>
        <p:nvSpPr>
          <p:cNvPr id="2" name="矩形 1"/>
          <p:cNvSpPr/>
          <p:nvPr/>
        </p:nvSpPr>
        <p:spPr>
          <a:xfrm>
            <a:off x="2176450" y="6050160"/>
            <a:ext cx="1675470" cy="430887"/>
          </a:xfrm>
          <a:prstGeom prst="rect">
            <a:avLst/>
          </a:prstGeom>
        </p:spPr>
        <p:txBody>
          <a:bodyPr wrap="square">
            <a:spAutoFit/>
          </a:bodyPr>
          <a:lstStyle/>
          <a:p>
            <a:pPr algn="l"/>
            <a:r>
              <a:rPr lang="zh-CN" altLang="en-US" sz="22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全码表举例   </a:t>
            </a:r>
            <a:endParaRPr lang="zh-CN" altLang="en-US" sz="2200" b="1" dirty="0">
              <a:solidFill>
                <a:srgbClr val="000000"/>
              </a:solidFill>
            </a:endParaRPr>
          </a:p>
        </p:txBody>
      </p:sp>
      <p:sp>
        <p:nvSpPr>
          <p:cNvPr id="5" name="矩形 4"/>
          <p:cNvSpPr/>
          <p:nvPr/>
        </p:nvSpPr>
        <p:spPr>
          <a:xfrm>
            <a:off x="4067944" y="6050160"/>
            <a:ext cx="4464496" cy="430887"/>
          </a:xfrm>
          <a:prstGeom prst="rect">
            <a:avLst/>
          </a:prstGeom>
        </p:spPr>
        <p:txBody>
          <a:bodyPr wrap="square">
            <a:spAutoFit/>
          </a:bodyPr>
          <a:lstStyle/>
          <a:p>
            <a:r>
              <a:rPr lang="zh-CN" altLang="en-US" sz="22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演唱（歌手名，歌曲名，听者名）</a:t>
            </a:r>
            <a:endParaRPr lang="zh-CN" altLang="en-US" sz="2200" b="1"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6.2.1 第一范式</a:t>
            </a:r>
          </a:p>
        </p:txBody>
      </p:sp>
      <p:sp>
        <p:nvSpPr>
          <p:cNvPr id="608262" name="AutoShape 6"/>
          <p:cNvSpPr/>
          <p:nvPr/>
        </p:nvSpPr>
        <p:spPr>
          <a:xfrm rot="-3619089">
            <a:off x="5035550" y="2820988"/>
            <a:ext cx="608013" cy="1752600"/>
          </a:xfrm>
          <a:prstGeom prst="curvedLeftArrow">
            <a:avLst>
              <a:gd name="adj1" fmla="val 30666"/>
              <a:gd name="adj2" fmla="val 61359"/>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3252" name="Text Box 9"/>
          <p:cNvSpPr txBox="1"/>
          <p:nvPr/>
        </p:nvSpPr>
        <p:spPr>
          <a:xfrm>
            <a:off x="323850" y="1143000"/>
            <a:ext cx="8248650" cy="1568450"/>
          </a:xfrm>
          <a:prstGeom prst="rect">
            <a:avLst/>
          </a:prstGeom>
          <a:noFill/>
          <a:ln w="9525">
            <a:noFill/>
          </a:ln>
        </p:spPr>
        <p:txBody>
          <a:bodyPr>
            <a:spAutoFit/>
          </a:bodyPr>
          <a:lstStyle/>
          <a:p>
            <a:pPr algn="l" latinLnBrk="1">
              <a:spcBef>
                <a:spcPct val="50000"/>
              </a:spcBef>
            </a:pP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定义：如果关系模式</a:t>
            </a:r>
            <a:r>
              <a:rPr lang="en-US" altLang="zh-CN"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中所有的属性都是基本属性，即每个属性都是</a:t>
            </a: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不可再分</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的，则称</a:t>
            </a:r>
            <a:r>
              <a:rPr lang="en-US" altLang="zh-CN"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属于第一范式，简称</a:t>
            </a:r>
            <a:r>
              <a:rPr lang="en-US" altLang="zh-CN"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1NF</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，记作</a:t>
            </a:r>
            <a:r>
              <a:rPr lang="en-US" altLang="zh-CN"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1NF</a:t>
            </a:r>
            <a:r>
              <a:rPr lang="zh-CN" altLang="en-US" sz="3200" b="1" dirty="0">
                <a:solidFill>
                  <a:schemeClr val="tx2"/>
                </a:solidFill>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53253" name="Picture 10"/>
          <p:cNvPicPr>
            <a:picLocks noChangeAspect="1"/>
          </p:cNvPicPr>
          <p:nvPr/>
        </p:nvPicPr>
        <p:blipFill>
          <a:blip r:embed="rId2"/>
          <a:stretch>
            <a:fillRect/>
          </a:stretch>
        </p:blipFill>
        <p:spPr>
          <a:xfrm>
            <a:off x="357188" y="2786063"/>
            <a:ext cx="3857625" cy="1928812"/>
          </a:xfrm>
          <a:prstGeom prst="rect">
            <a:avLst/>
          </a:prstGeom>
          <a:noFill/>
          <a:ln w="9525">
            <a:noFill/>
          </a:ln>
        </p:spPr>
      </p:pic>
      <p:pic>
        <p:nvPicPr>
          <p:cNvPr id="53254" name="Picture 11"/>
          <p:cNvPicPr>
            <a:picLocks noChangeAspect="1"/>
          </p:cNvPicPr>
          <p:nvPr/>
        </p:nvPicPr>
        <p:blipFill>
          <a:blip r:embed="rId3"/>
          <a:stretch>
            <a:fillRect/>
          </a:stretch>
        </p:blipFill>
        <p:spPr>
          <a:xfrm>
            <a:off x="4429125" y="4500563"/>
            <a:ext cx="4160838" cy="150018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82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6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2 第二范式</a:t>
            </a:r>
          </a:p>
        </p:txBody>
      </p:sp>
      <p:sp>
        <p:nvSpPr>
          <p:cNvPr id="54275" name="内容占位符 2"/>
          <p:cNvSpPr>
            <a:spLocks noGrp="1"/>
          </p:cNvSpPr>
          <p:nvPr>
            <p:ph idx="1"/>
          </p:nvPr>
        </p:nvSpPr>
        <p:spPr>
          <a:xfrm>
            <a:off x="323528" y="1196752"/>
            <a:ext cx="8229600" cy="1440160"/>
          </a:xfrm>
        </p:spPr>
        <p:txBody>
          <a:bodyPr vert="horz" wrap="square" lIns="91440" tIns="45720" rIns="91440" bIns="45720" anchor="t" anchorCtr="0"/>
          <a:lstStyle/>
          <a:p>
            <a:pPr algn="just" eaLnBrk="1" hangingPunct="1"/>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定义</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：如果关系模式</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1NF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，并且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中的</a:t>
            </a:r>
            <a:r>
              <a:rPr lang="zh-CN" altLang="en-US" sz="2800" u="heavy"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每个非主属性都完全函数依赖</a:t>
            </a:r>
            <a:r>
              <a:rPr lang="zh-CN" altLang="en-US" sz="2800" u="heavy"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于码</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，则称</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属于第二范式，简称</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，记作</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2NF</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内容占位符 2"/>
          <p:cNvSpPr txBox="1"/>
          <p:nvPr/>
        </p:nvSpPr>
        <p:spPr>
          <a:xfrm>
            <a:off x="395536" y="2852936"/>
            <a:ext cx="8229600" cy="2736304"/>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spcBef>
                <a:spcPts val="1800"/>
              </a:spcBef>
              <a:buFont typeface="Wingdings" panose="05000000000000000000" pitchFamily="2" charset="2"/>
              <a:buNone/>
            </a:pP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例 </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S-L-C</a:t>
            </a:r>
            <a:r>
              <a:rPr lang="zh-CN"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Sno,Sname,Ssex,Sdept,Sloc,Cno,Grade</a:t>
            </a:r>
            <a:r>
              <a:rPr lang="zh-CN"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Wingdings" panose="05000000000000000000" pitchFamily="2" charset="2"/>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）是</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候选码</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Wingdings" panose="05000000000000000000" pitchFamily="2" charset="2"/>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有</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Sno→Sname</a:t>
            </a:r>
            <a:endPar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Wingdings" panose="05000000000000000000" pitchFamily="2" charset="2"/>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∴有</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Cno</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Sname</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Wingdings" panose="05000000000000000000" pitchFamily="2" charset="2"/>
              <a:buNone/>
            </a:pPr>
            <a:r>
              <a:rPr lang="zh-CN" altLang="en-US"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不是第二范式关系</a:t>
            </a:r>
            <a:endParaRPr lang="en-US"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3381127" y="4437112"/>
          <a:ext cx="758825" cy="431800"/>
        </p:xfrm>
        <a:graphic>
          <a:graphicData uri="http://schemas.openxmlformats.org/presentationml/2006/ole">
            <mc:AlternateContent xmlns:mc="http://schemas.openxmlformats.org/markup-compatibility/2006">
              <mc:Choice xmlns:v="urn:schemas-microsoft-com:vml" Requires="v">
                <p:oleObj spid="_x0000_s7202" r:id="rId3" imgW="598805" imgH="346710" progId="Visio.Drawing.11">
                  <p:embed/>
                </p:oleObj>
              </mc:Choice>
              <mc:Fallback>
                <p:oleObj r:id="rId3" imgW="598805" imgH="346710"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1127" y="4437112"/>
                        <a:ext cx="7588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380504" y="2495972"/>
            <a:ext cx="8229600" cy="3528392"/>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spcBef>
                <a:spcPts val="1800"/>
              </a:spcBef>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、找出所有候选码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候选</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非主属性  </a:t>
            </a:r>
            <a:r>
              <a:rPr lang="zh-CN" altLang="en-US"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所有</a:t>
            </a:r>
            <a:endParaRPr lang="zh-CN" altLang="zh-CN" sz="28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smtClean="0">
                <a:latin typeface="Times New Roman" panose="02020603050405020304" pitchFamily="18" charset="0"/>
                <a:ea typeface="宋体" panose="02010600030101010101" pitchFamily="2" charset="-122"/>
                <a:cs typeface="Times New Roman" panose="02020603050405020304" pitchFamily="18" charset="0"/>
              </a:rPr>
              <a:t>Sname</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Sno,Cno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2800" dirty="0" err="1">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p>
          <a:p>
            <a:pPr marL="0" indent="0">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3</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、找</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P</a:t>
            </a:r>
          </a:p>
          <a:p>
            <a:pPr marL="0" indent="0">
              <a:buNone/>
            </a:pPr>
            <a:r>
              <a:rPr lang="zh-CN" altLang="en-US"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S-L-C</a:t>
            </a:r>
            <a:r>
              <a:rPr lang="zh-CN" altLang="zh-CN" sz="28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不</a:t>
            </a:r>
            <a:r>
              <a:rPr lang="zh-CN"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是第二范式关系</a:t>
            </a:r>
            <a:endParaRPr lang="en-US"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buNone/>
            </a:pP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27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6.6.2 第二范式</a:t>
            </a:r>
          </a:p>
        </p:txBody>
      </p:sp>
      <p:sp>
        <p:nvSpPr>
          <p:cNvPr id="54275" name="内容占位符 2"/>
          <p:cNvSpPr>
            <a:spLocks noGrp="1"/>
          </p:cNvSpPr>
          <p:nvPr>
            <p:ph idx="1"/>
          </p:nvPr>
        </p:nvSpPr>
        <p:spPr>
          <a:xfrm>
            <a:off x="323528" y="1196752"/>
            <a:ext cx="8229600" cy="576064"/>
          </a:xfrm>
        </p:spPr>
        <p:txBody>
          <a:bodyPr vert="horz" wrap="square" lIns="91440" tIns="45720" rIns="91440" bIns="45720" anchor="t" anchorCtr="0"/>
          <a:lstStyle/>
          <a:p>
            <a:pPr marL="0" indent="0" algn="ctr" eaLnBrk="1" hangingPunct="1">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中的</a:t>
            </a:r>
            <a:r>
              <a:rPr lang="zh-CN" altLang="en-US" sz="2800" u="heavy"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每个非主属性都完全函数依赖</a:t>
            </a:r>
            <a:r>
              <a:rPr lang="zh-CN" altLang="en-US" sz="2800" u="heavy" dirty="0"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于码</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内容占位符 2"/>
          <p:cNvSpPr txBox="1"/>
          <p:nvPr/>
        </p:nvSpPr>
        <p:spPr>
          <a:xfrm>
            <a:off x="395536" y="1916832"/>
            <a:ext cx="8229600" cy="576064"/>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spcBef>
                <a:spcPts val="1800"/>
              </a:spcBef>
              <a:buFont typeface="Wingdings" panose="05000000000000000000" pitchFamily="2" charset="2"/>
              <a:buNone/>
            </a:pP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例 </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S-L-C</a:t>
            </a:r>
            <a:r>
              <a:rPr lang="zh-CN"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Sno,Sname,Ssex,Sdept,Sloc,Cno,Grade</a:t>
            </a:r>
            <a:r>
              <a:rPr lang="zh-CN"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Font typeface="Wingdings" panose="05000000000000000000" pitchFamily="2" charset="2"/>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1691680" y="5157192"/>
          <a:ext cx="758825" cy="431800"/>
        </p:xfrm>
        <a:graphic>
          <a:graphicData uri="http://schemas.openxmlformats.org/presentationml/2006/ole">
            <mc:AlternateContent xmlns:mc="http://schemas.openxmlformats.org/markup-compatibility/2006">
              <mc:Choice xmlns:v="urn:schemas-microsoft-com:vml" Requires="v">
                <p:oleObj spid="_x0000_s9276" r:id="rId3" imgW="598805" imgH="346710" progId="Visio.Drawing.11">
                  <p:embed/>
                </p:oleObj>
              </mc:Choice>
              <mc:Fallback>
                <p:oleObj r:id="rId3" imgW="598805" imgH="346710" progId="Visio.Drawing.11">
                  <p:embed/>
                  <p:pic>
                    <p:nvPicPr>
                      <p:cNvPr id="0" name="图片 92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5157192"/>
                        <a:ext cx="7588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2339752" y="3573016"/>
          <a:ext cx="758825" cy="431800"/>
        </p:xfrm>
        <a:graphic>
          <a:graphicData uri="http://schemas.openxmlformats.org/presentationml/2006/ole">
            <mc:AlternateContent xmlns:mc="http://schemas.openxmlformats.org/markup-compatibility/2006">
              <mc:Choice xmlns:v="urn:schemas-microsoft-com:vml" Requires="v">
                <p:oleObj spid="_x0000_s9277" r:id="rId5" imgW="598805" imgH="346710" progId="Visio.Drawing.11">
                  <p:embed/>
                </p:oleObj>
              </mc:Choice>
              <mc:Fallback>
                <p:oleObj r:id="rId5" imgW="598805" imgH="346710"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3573016"/>
                        <a:ext cx="7588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580">
                                          <p:stCondLst>
                                            <p:cond delay="0"/>
                                          </p:stCondLst>
                                        </p:cTn>
                                        <p:tgtEl>
                                          <p:spTgt spid="3"/>
                                        </p:tgtEl>
                                      </p:cBhvr>
                                    </p:animEffect>
                                    <p:anim calcmode="lin" valueType="num">
                                      <p:cBhvr>
                                        <p:cTn id="3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gtEl>
                                      </p:cBhvr>
                                      <p:to x="100000" y="60000"/>
                                    </p:animScale>
                                    <p:animScale>
                                      <p:cBhvr>
                                        <p:cTn id="36" dur="166" decel="50000">
                                          <p:stCondLst>
                                            <p:cond delay="676"/>
                                          </p:stCondLst>
                                        </p:cTn>
                                        <p:tgtEl>
                                          <p:spTgt spid="3"/>
                                        </p:tgtEl>
                                      </p:cBhvr>
                                      <p:to x="100000" y="100000"/>
                                    </p:animScale>
                                    <p:animScale>
                                      <p:cBhvr>
                                        <p:cTn id="37" dur="26">
                                          <p:stCondLst>
                                            <p:cond delay="1312"/>
                                          </p:stCondLst>
                                        </p:cTn>
                                        <p:tgtEl>
                                          <p:spTgt spid="3"/>
                                        </p:tgtEl>
                                      </p:cBhvr>
                                      <p:to x="100000" y="80000"/>
                                    </p:animScale>
                                    <p:animScale>
                                      <p:cBhvr>
                                        <p:cTn id="38" dur="166" decel="50000">
                                          <p:stCondLst>
                                            <p:cond delay="1338"/>
                                          </p:stCondLst>
                                        </p:cTn>
                                        <p:tgtEl>
                                          <p:spTgt spid="3"/>
                                        </p:tgtEl>
                                      </p:cBhvr>
                                      <p:to x="100000" y="100000"/>
                                    </p:animScale>
                                    <p:animScale>
                                      <p:cBhvr>
                                        <p:cTn id="39" dur="26">
                                          <p:stCondLst>
                                            <p:cond delay="1642"/>
                                          </p:stCondLst>
                                        </p:cTn>
                                        <p:tgtEl>
                                          <p:spTgt spid="3"/>
                                        </p:tgtEl>
                                      </p:cBhvr>
                                      <p:to x="100000" y="90000"/>
                                    </p:animScale>
                                    <p:animScale>
                                      <p:cBhvr>
                                        <p:cTn id="40" dur="166" decel="50000">
                                          <p:stCondLst>
                                            <p:cond delay="1668"/>
                                          </p:stCondLst>
                                        </p:cTn>
                                        <p:tgtEl>
                                          <p:spTgt spid="3"/>
                                        </p:tgtEl>
                                      </p:cBhvr>
                                      <p:to x="100000" y="100000"/>
                                    </p:animScale>
                                    <p:animScale>
                                      <p:cBhvr>
                                        <p:cTn id="41" dur="26">
                                          <p:stCondLst>
                                            <p:cond delay="1808"/>
                                          </p:stCondLst>
                                        </p:cTn>
                                        <p:tgtEl>
                                          <p:spTgt spid="3"/>
                                        </p:tgtEl>
                                      </p:cBhvr>
                                      <p:to x="100000" y="95000"/>
                                    </p:animScale>
                                    <p:animScale>
                                      <p:cBhvr>
                                        <p:cTn id="42" dur="166" decel="50000">
                                          <p:stCondLst>
                                            <p:cond delay="1834"/>
                                          </p:stCondLst>
                                        </p:cTn>
                                        <p:tgtEl>
                                          <p:spTgt spid="3"/>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179388" y="1916113"/>
            <a:ext cx="8610600" cy="3938587"/>
          </a:xfrm>
        </p:spPr>
        <p:txBody>
          <a:bodyPr/>
          <a:lstStyle/>
          <a:p>
            <a:pPr marL="457200" lvl="1" indent="0">
              <a:lnSpc>
                <a:spcPct val="125000"/>
              </a:lnSpc>
              <a:spcBef>
                <a:spcPts val="2400"/>
              </a:spcBef>
              <a:buFontTx/>
              <a:buNone/>
            </a:pP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判断关系是否属于</a:t>
            </a:r>
            <a:r>
              <a:rPr lang="en-US" altLang="zh-CN" dirty="0" smtClean="0">
                <a:latin typeface="Times New Roman" panose="02020603050405020304" pitchFamily="18" charset="0"/>
                <a:ea typeface="宋体" panose="02010600030101010101" pitchFamily="2" charset="-122"/>
                <a:cs typeface="Times New Roman" panose="02020603050405020304" pitchFamily="18" charset="0"/>
              </a:rPr>
              <a:t>2NF</a:t>
            </a:r>
          </a:p>
          <a:p>
            <a:pPr marL="914400" lvl="2" indent="0">
              <a:lnSpc>
                <a:spcPct val="125000"/>
              </a:lnSpc>
              <a:spcBef>
                <a:spcPct val="15000"/>
              </a:spcBef>
              <a:buFontTx/>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、找出该关系的</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所有候选码</a:t>
            </a:r>
            <a:endPar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914400" lvl="2" indent="0">
              <a:lnSpc>
                <a:spcPct val="125000"/>
              </a:lnSpc>
              <a:spcBef>
                <a:spcPct val="15000"/>
              </a:spcBef>
              <a:buFontTx/>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、写出所有函数依赖：候选码</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非主属性</a:t>
            </a:r>
            <a:endPar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endParaRPr>
          </a:p>
          <a:p>
            <a:pPr marL="914400" lvl="2" indent="0">
              <a:lnSpc>
                <a:spcPct val="125000"/>
              </a:lnSpc>
              <a:spcBef>
                <a:spcPct val="15000"/>
              </a:spcBef>
              <a:buFontTx/>
              <a:buNone/>
            </a:pP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、找出</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步骤</a:t>
            </a:r>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中是否存在部分依赖。</a:t>
            </a:r>
          </a:p>
          <a:p>
            <a:pPr marL="0" indent="0">
              <a:buFontTx/>
              <a:buNone/>
            </a:pP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归纳（</a:t>
            </a:r>
            <a:r>
              <a:rPr lang="en-US" altLang="zh-CN" sz="4000" b="0" dirty="0" smtClean="0">
                <a:latin typeface="黑体" panose="02010609060101010101" pitchFamily="2" charset="-122"/>
                <a:ea typeface="黑体" panose="02010609060101010101" pitchFamily="2" charset="-122"/>
                <a:cs typeface="黑体" panose="02010609060101010101" pitchFamily="2" charset="-122"/>
                <a:sym typeface="+mn-ea"/>
              </a:rPr>
              <a:t>2nf</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的判定过程）</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分解</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方法（</a:t>
            </a:r>
            <a:r>
              <a:rPr lang="en-US" altLang="zh-CN" dirty="0"/>
              <a:t> 1nf</a:t>
            </a:r>
            <a:r>
              <a:rPr lang="en-US" altLang="zh-CN" dirty="0">
                <a:sym typeface="Wingdings" panose="05000000000000000000" pitchFamily="2" charset="2"/>
              </a:rPr>
              <a:t>2nf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55299" name="Rectangle 3"/>
          <p:cNvSpPr>
            <a:spLocks noGrp="1"/>
          </p:cNvSpPr>
          <p:nvPr>
            <p:ph idx="1"/>
          </p:nvPr>
        </p:nvSpPr>
        <p:spPr>
          <a:xfrm>
            <a:off x="468313" y="1412875"/>
            <a:ext cx="8139112" cy="4622800"/>
          </a:xfrm>
        </p:spPr>
        <p:txBody>
          <a:bodyPr vert="horz" wrap="square" lIns="91440" tIns="45720" rIns="91440" bIns="45720" anchor="t" anchorCtr="0"/>
          <a:lstStyle/>
          <a:p>
            <a:pPr marL="0" indent="0" eaLnBrk="1" hangingPunct="1">
              <a:spcBef>
                <a:spcPts val="30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latin typeface="Times New Roman" panose="02020603050405020304" pitchFamily="18" charset="0"/>
                <a:ea typeface="宋体" panose="02010600030101010101" pitchFamily="2" charset="-122"/>
                <a:cs typeface="Times New Roman" panose="02020603050405020304" pitchFamily="18" charset="0"/>
              </a:rPr>
              <a:t>）用</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组成码</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的属性集合的每一个子集作为主码构成一个表。</a:t>
            </a:r>
          </a:p>
          <a:p>
            <a:pPr marL="0" indent="0" eaLnBrk="1" hangingPunct="1">
              <a:spcBef>
                <a:spcPts val="30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latin typeface="Times New Roman" panose="02020603050405020304" pitchFamily="18" charset="0"/>
                <a:ea typeface="宋体" panose="02010600030101010101" pitchFamily="2" charset="-122"/>
                <a:cs typeface="Times New Roman" panose="02020603050405020304" pitchFamily="18" charset="0"/>
              </a:rPr>
              <a:t>）将依赖于</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这些码</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的属性放置到相应的表中。</a:t>
            </a:r>
          </a:p>
          <a:p>
            <a:pPr marL="0" indent="0" eaLnBrk="1" hangingPunct="1">
              <a:spcBef>
                <a:spcPts val="3000"/>
              </a:spcBef>
              <a:buNone/>
            </a:pP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）最后去掉只</a:t>
            </a:r>
            <a:r>
              <a:rPr lang="zh-CN" altLang="en-US" dirty="0" smtClean="0">
                <a:latin typeface="Times New Roman" panose="02020603050405020304" pitchFamily="18" charset="0"/>
                <a:ea typeface="宋体" panose="02010600030101010101" pitchFamily="2" charset="-122"/>
                <a:cs typeface="Times New Roman" panose="02020603050405020304" pitchFamily="18" charset="0"/>
              </a:rPr>
              <a:t>由码</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的子集构成的表。</a:t>
            </a:r>
            <a:r>
              <a:rPr lang="zh-CN" altLang="en-US" sz="3500" dirty="0">
                <a:latin typeface="Times New Roman" panose="02020603050405020304" pitchFamily="18" charset="0"/>
                <a:ea typeface="宋体" panose="02010600030101010101" pitchFamily="2" charset="-122"/>
                <a:cs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smtClean="0"/>
              <a:t>分解示例</a:t>
            </a:r>
          </a:p>
        </p:txBody>
      </p:sp>
      <p:sp>
        <p:nvSpPr>
          <p:cNvPr id="32771" name="Rectangle 3"/>
          <p:cNvSpPr>
            <a:spLocks noGrp="1" noChangeArrowheads="1"/>
          </p:cNvSpPr>
          <p:nvPr>
            <p:ph type="body" idx="1"/>
          </p:nvPr>
        </p:nvSpPr>
        <p:spPr>
          <a:xfrm>
            <a:off x="250825" y="1052513"/>
            <a:ext cx="8893175" cy="5272087"/>
          </a:xfrm>
        </p:spPr>
        <p:txBody>
          <a:bodyPr/>
          <a:lstStyle/>
          <a:p>
            <a:pPr marL="0" indent="0" eaLnBrk="1" hangingPunct="1">
              <a:spcBef>
                <a:spcPct val="0"/>
              </a:spcBef>
              <a:buFontTx/>
              <a:buNone/>
            </a:pP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Sname</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Ssex</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Grade</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6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S-L-C</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表，首先分解为如下形式的三张表：</a:t>
            </a: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2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将依赖于这些主码的属性放置到相应的表中</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Sname</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Ssex</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ct val="0"/>
              </a:spcBef>
              <a:buFontTx/>
              <a:buNone/>
            </a:pP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Grade</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eaLnBrk="1" hangingPunct="1">
              <a:spcBef>
                <a:spcPts val="12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去掉只由主码的子集构成的表，最终分解为：</a:t>
            </a:r>
          </a:p>
          <a:p>
            <a:pPr lvl="1" eaLnBrk="1" hangingPunct="1">
              <a:spcBef>
                <a:spcPct val="0"/>
              </a:spcBef>
              <a:buFontTx/>
              <a:buNone/>
            </a:pP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S-L</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Ssex</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lvl="1" eaLnBrk="1" hangingPunct="1">
              <a:spcBef>
                <a:spcPct val="0"/>
              </a:spcBef>
              <a:buFontTx/>
              <a:buNone/>
            </a:pP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S-C</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Cno</a:t>
            </a:r>
            <a:r>
              <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Grade</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 name="矩形 1"/>
          <p:cNvSpPr/>
          <p:nvPr/>
        </p:nvSpPr>
        <p:spPr>
          <a:xfrm>
            <a:off x="5637627" y="1916832"/>
            <a:ext cx="1804516" cy="461665"/>
          </a:xfrm>
          <a:prstGeom prst="rect">
            <a:avLst/>
          </a:prstGeom>
        </p:spPr>
        <p:txBody>
          <a:bodyPr wrap="square">
            <a:spAutoFit/>
          </a:bodyPr>
          <a:lstStyle/>
          <a:p>
            <a:pPr algn="l"/>
            <a:r>
              <a:rPr lang="en-US" altLang="zh-CN"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、选组长</a:t>
            </a:r>
            <a:endParaRPr lang="zh-CN" altLang="en-US" sz="2400" b="1" dirty="0">
              <a:solidFill>
                <a:srgbClr val="0000CC"/>
              </a:solidFill>
            </a:endParaRPr>
          </a:p>
        </p:txBody>
      </p:sp>
      <p:sp>
        <p:nvSpPr>
          <p:cNvPr id="5" name="矩形 4"/>
          <p:cNvSpPr/>
          <p:nvPr/>
        </p:nvSpPr>
        <p:spPr>
          <a:xfrm>
            <a:off x="5552690" y="4077072"/>
            <a:ext cx="2475694" cy="461665"/>
          </a:xfrm>
          <a:prstGeom prst="rect">
            <a:avLst/>
          </a:prstGeom>
        </p:spPr>
        <p:txBody>
          <a:bodyPr wrap="square">
            <a:spAutoFit/>
          </a:bodyPr>
          <a:lstStyle/>
          <a:p>
            <a:pPr algn="l"/>
            <a:r>
              <a:rPr lang="en-US" altLang="zh-CN"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、分配组员</a:t>
            </a:r>
            <a:endParaRPr lang="zh-CN" altLang="en-US" sz="2400" b="1" dirty="0">
              <a:solidFill>
                <a:srgbClr val="0000CC"/>
              </a:solidFill>
            </a:endParaRPr>
          </a:p>
        </p:txBody>
      </p:sp>
      <p:sp>
        <p:nvSpPr>
          <p:cNvPr id="6" name="矩形 5"/>
          <p:cNvSpPr/>
          <p:nvPr/>
        </p:nvSpPr>
        <p:spPr>
          <a:xfrm>
            <a:off x="4932040" y="5661248"/>
            <a:ext cx="3816424" cy="461665"/>
          </a:xfrm>
          <a:prstGeom prst="rect">
            <a:avLst/>
          </a:prstGeom>
        </p:spPr>
        <p:txBody>
          <a:bodyPr wrap="square">
            <a:spAutoFit/>
          </a:bodyPr>
          <a:lstStyle/>
          <a:p>
            <a:pPr algn="l"/>
            <a:r>
              <a:rPr lang="en-US" altLang="zh-CN"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、如果有光杆组长，去掉</a:t>
            </a:r>
            <a:endParaRPr lang="zh-CN" altLang="en-US" sz="2400" b="1" dirty="0">
              <a:solidFill>
                <a:srgbClr val="0000CC"/>
              </a:solidFill>
            </a:endParaRPr>
          </a:p>
        </p:txBody>
      </p:sp>
      <p:sp>
        <p:nvSpPr>
          <p:cNvPr id="7" name="矩形 6"/>
          <p:cNvSpPr/>
          <p:nvPr/>
        </p:nvSpPr>
        <p:spPr>
          <a:xfrm>
            <a:off x="5089749" y="2376587"/>
            <a:ext cx="3672407" cy="461665"/>
          </a:xfrm>
          <a:prstGeom prst="rect">
            <a:avLst/>
          </a:prstGeom>
        </p:spPr>
        <p:txBody>
          <a:bodyPr wrap="square">
            <a:spAutoFit/>
          </a:bodyPr>
          <a:lstStyle/>
          <a:p>
            <a:pPr algn="l"/>
            <a:r>
              <a:rPr lang="zh-CN" altLang="en-US" sz="2400" b="1" dirty="0" smtClean="0">
                <a:solidFill>
                  <a:srgbClr val="0000CC"/>
                </a:solidFill>
              </a:rPr>
              <a:t>候选码</a:t>
            </a:r>
            <a:r>
              <a:rPr lang="en-US" altLang="zh-CN" sz="2400" b="1" dirty="0" smtClean="0">
                <a:solidFill>
                  <a:srgbClr val="0000CC"/>
                </a:solidFill>
              </a:rPr>
              <a:t>(</a:t>
            </a:r>
            <a:r>
              <a:rPr lang="en-US" altLang="zh-CN" sz="2400" b="1" dirty="0" err="1" smtClean="0">
                <a:solidFill>
                  <a:srgbClr val="0000CC"/>
                </a:solidFill>
              </a:rPr>
              <a:t>sno,cno</a:t>
            </a:r>
            <a:r>
              <a:rPr lang="en-US" altLang="zh-CN" sz="2400" b="1" dirty="0" smtClean="0">
                <a:solidFill>
                  <a:srgbClr val="0000CC"/>
                </a:solidFill>
              </a:rPr>
              <a:t>)</a:t>
            </a:r>
            <a:r>
              <a:rPr lang="zh-CN" altLang="en-US" sz="2400" b="1" dirty="0" smtClean="0">
                <a:solidFill>
                  <a:srgbClr val="0000CC"/>
                </a:solidFill>
              </a:rPr>
              <a:t>的子集</a:t>
            </a:r>
            <a:endParaRPr lang="zh-CN" altLang="en-US" sz="2400" b="1" dirty="0">
              <a:solidFill>
                <a:srgbClr val="0000CC"/>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771">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771">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2771">
                                            <p:txEl>
                                              <p:pRg st="5" end="5"/>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2771">
                                            <p:txEl>
                                              <p:pRg st="6" end="6"/>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2771">
                                            <p:txEl>
                                              <p:pRg st="7" end="7"/>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inVertic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771">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771">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7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b="0" dirty="0">
                <a:latin typeface="黑体" panose="02010609060101010101" pitchFamily="2" charset="-122"/>
                <a:ea typeface="黑体" panose="02010609060101010101" pitchFamily="2" charset="-122"/>
                <a:cs typeface="黑体" panose="02010609060101010101" pitchFamily="2" charset="-122"/>
                <a:sym typeface="+mn-ea"/>
              </a:rPr>
              <a:t>6.2.3 第三</a:t>
            </a:r>
            <a:r>
              <a:rPr lang="zh-CN" altLang="en-US" b="0" dirty="0" smtClean="0">
                <a:latin typeface="黑体" panose="02010609060101010101" pitchFamily="2" charset="-122"/>
                <a:ea typeface="黑体" panose="02010609060101010101" pitchFamily="2" charset="-122"/>
                <a:cs typeface="黑体" panose="02010609060101010101" pitchFamily="2" charset="-122"/>
                <a:sym typeface="+mn-ea"/>
              </a:rPr>
              <a:t>范式</a:t>
            </a:r>
            <a:r>
              <a:rPr lang="zh-CN" altLang="en-US" dirty="0" smtClean="0"/>
              <a:t> </a:t>
            </a:r>
          </a:p>
        </p:txBody>
      </p:sp>
      <p:sp>
        <p:nvSpPr>
          <p:cNvPr id="33795" name="Rectangle 3"/>
          <p:cNvSpPr>
            <a:spLocks noGrp="1" noChangeArrowheads="1"/>
          </p:cNvSpPr>
          <p:nvPr>
            <p:ph type="body" idx="1"/>
          </p:nvPr>
        </p:nvSpPr>
        <p:spPr>
          <a:xfrm>
            <a:off x="251520" y="1196752"/>
            <a:ext cx="8610600" cy="5184576"/>
          </a:xfrm>
        </p:spPr>
        <p:txBody>
          <a:bodyPr/>
          <a:lstStyle/>
          <a:p>
            <a:pPr eaLnBrk="1" hangingPunct="1"/>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定义：如果</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U</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)∈2NF</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，并且</a:t>
            </a:r>
            <a:r>
              <a:rPr lang="zh-CN" altLang="en-US" sz="26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rPr>
              <a:t>所有非主属性都不传递依赖于主码</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，则</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R</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U</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i="1" dirty="0" smtClean="0">
                <a:latin typeface="Times New Roman" panose="02020603050405020304" pitchFamily="18" charset="0"/>
                <a:ea typeface="宋体" panose="02010600030101010101" pitchFamily="2" charset="-122"/>
                <a:cs typeface="Times New Roman" panose="02020603050405020304" pitchFamily="18" charset="0"/>
              </a:rPr>
              <a:t>F</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)∈3NF</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buFontTx/>
              <a:buNone/>
            </a:pP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Ssex</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0"/>
              </a:spcBef>
              <a:buFontTx/>
              <a:buNone/>
            </a:pP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语义：假设同一个系的学生住在同一宿舍楼 </a:t>
            </a:r>
            <a:endPar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600"/>
              </a:spcBef>
              <a:buFontTx/>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1</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、候选码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rPr>
              <a:t>sno</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、候选码推出所有非主属性</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rPr>
              <a:t>sno</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sname</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snossex</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p>
          <a:p>
            <a:pPr eaLnBrk="1" hangingPunct="1">
              <a:buFontTx/>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snosdept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snosloc</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eaLnBrk="1" hangingPunct="1">
              <a:buFontTx/>
              <a:buNone/>
            </a:pPr>
            <a:r>
              <a:rPr lang="en-US" altLang="zh-CN" sz="26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sno</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sdept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sdept</a:t>
            </a:r>
            <a:r>
              <a:rPr lang="en-US" altLang="zh-CN" sz="26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sloc</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（重要前提？）</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eaLnBrk="1" hangingPunct="1">
              <a:buFontTx/>
              <a:buNone/>
            </a:pPr>
            <a:r>
              <a:rPr lang="en-US" altLang="zh-CN" sz="26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sdept</a:t>
            </a:r>
            <a:r>
              <a:rPr lang="zh-CN" altLang="zh-CN" sz="2400" dirty="0">
                <a:latin typeface="Times New Roman" panose="02020603050405020304" pitchFamily="18" charset="0"/>
              </a:rPr>
              <a:t> —</a:t>
            </a:r>
            <a:r>
              <a:rPr lang="en-US" altLang="zh-CN" sz="2400" dirty="0">
                <a:latin typeface="Times New Roman" panose="02020603050405020304" pitchFamily="18" charset="0"/>
              </a:rPr>
              <a:t>/</a:t>
            </a:r>
            <a:r>
              <a:rPr lang="zh-CN" altLang="zh-CN" sz="2400" dirty="0" smtClean="0">
                <a:latin typeface="Times New Roman" panose="02020603050405020304" pitchFamily="18" charset="0"/>
              </a:rPr>
              <a:t>→</a:t>
            </a:r>
            <a:r>
              <a:rPr lang="en-US" altLang="zh-CN" sz="2400" dirty="0" err="1" smtClean="0">
                <a:latin typeface="Times New Roman" panose="02020603050405020304" pitchFamily="18" charset="0"/>
              </a:rPr>
              <a:t>sno</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eaLnBrk="1" hangingPunct="1">
              <a:buFontTx/>
              <a:buNone/>
            </a:pP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3</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err="1" smtClean="0">
                <a:solidFill>
                  <a:srgbClr val="FF0066"/>
                </a:solidFill>
                <a:latin typeface="Times New Roman" panose="02020603050405020304" pitchFamily="18" charset="0"/>
                <a:ea typeface="宋体" panose="02010600030101010101" pitchFamily="2" charset="-122"/>
                <a:cs typeface="Times New Roman" panose="02020603050405020304" pitchFamily="18" charset="0"/>
              </a:rPr>
              <a:t>Sno</a:t>
            </a:r>
            <a:r>
              <a:rPr lang="zh-CN" altLang="en-US" sz="2600" dirty="0" smtClean="0">
                <a:solidFill>
                  <a:srgbClr val="00CC00"/>
                </a:solidFill>
                <a:latin typeface="Times New Roman" panose="02020603050405020304" pitchFamily="18" charset="0"/>
                <a:ea typeface="宋体" panose="02010600030101010101" pitchFamily="2" charset="-122"/>
                <a:cs typeface="Times New Roman" panose="02020603050405020304" pitchFamily="18" charset="0"/>
              </a:rPr>
              <a:t>传递</a:t>
            </a:r>
            <a:r>
              <a:rPr lang="zh-CN" altLang="en-US" sz="2600" dirty="0" smtClean="0">
                <a:solidFill>
                  <a:srgbClr val="FF0066"/>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FF0066"/>
                </a:solidFill>
                <a:latin typeface="Times New Roman" panose="02020603050405020304" pitchFamily="18" charset="0"/>
                <a:ea typeface="宋体" panose="02010600030101010101" pitchFamily="2" charset="-122"/>
                <a:cs typeface="Times New Roman" panose="02020603050405020304" pitchFamily="18" charset="0"/>
              </a:rPr>
              <a:t>SLOC, </a:t>
            </a:r>
            <a:r>
              <a:rPr lang="zh-CN"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2600" dirty="0" smtClean="0">
                <a:solidFill>
                  <a:srgbClr val="FF0066"/>
                </a:solidFill>
                <a:latin typeface="Times New Roman" panose="02020603050405020304" pitchFamily="18" charset="0"/>
                <a:ea typeface="宋体" panose="02010600030101010101" pitchFamily="2" charset="-122"/>
                <a:cs typeface="Times New Roman" panose="02020603050405020304" pitchFamily="18" charset="0"/>
              </a:rPr>
              <a:t>不是</a:t>
            </a:r>
            <a:r>
              <a:rPr lang="en-US" altLang="zh-CN" sz="2600" dirty="0" smtClean="0">
                <a:solidFill>
                  <a:srgbClr val="FF0066"/>
                </a:solidFill>
                <a:latin typeface="Times New Roman" panose="02020603050405020304" pitchFamily="18" charset="0"/>
                <a:ea typeface="宋体" panose="02010600030101010101" pitchFamily="2" charset="-122"/>
                <a:cs typeface="Times New Roman" panose="02020603050405020304" pitchFamily="18" charset="0"/>
              </a:rPr>
              <a:t>3NF</a:t>
            </a:r>
          </a:p>
          <a:p>
            <a:pPr eaLnBrk="1" hangingPunct="1"/>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6928916" y="2852936"/>
            <a:ext cx="2088232" cy="461665"/>
          </a:xfrm>
          <a:prstGeom prst="rect">
            <a:avLst/>
          </a:prstGeom>
        </p:spPr>
        <p:txBody>
          <a:bodyPr wrap="square">
            <a:spAutoFit/>
          </a:bodyPr>
          <a:lstStyle/>
          <a:p>
            <a:pPr algn="l"/>
            <a:r>
              <a:rPr lang="en-US" altLang="zh-CN" sz="2400" b="1"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400" b="1" dirty="0" err="1"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Sloc</a:t>
            </a:r>
            <a:endParaRPr lang="zh-CN" altLang="en-US" sz="24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椭圆形标注 2"/>
          <p:cNvSpPr/>
          <p:nvPr/>
        </p:nvSpPr>
        <p:spPr>
          <a:xfrm>
            <a:off x="5003800" y="4004945"/>
            <a:ext cx="3480435" cy="720090"/>
          </a:xfrm>
          <a:prstGeom prst="wedgeEllipseCallout">
            <a:avLst>
              <a:gd name="adj1" fmla="val -62686"/>
              <a:gd name="adj2" fmla="val 111816"/>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r" defTabSz="914400" rtl="0" eaLnBrk="1" fontAlgn="base" latinLnBrk="0" hangingPunct="1">
              <a:lnSpc>
                <a:spcPct val="100000"/>
              </a:lnSpc>
              <a:spcBef>
                <a:spcPct val="0"/>
              </a:spcBef>
              <a:spcAft>
                <a:spcPct val="0"/>
              </a:spcAft>
              <a:buClrTx/>
              <a:buSzTx/>
              <a:buFontTx/>
              <a:buNone/>
            </a:pPr>
            <a:r>
              <a:rPr lang="zh-CN" altLang="ko-KR" sz="2200" b="1" smtClean="0">
                <a:ln>
                  <a:noFill/>
                </a:ln>
                <a:solidFill>
                  <a:schemeClr val="bg1"/>
                </a:solidFill>
                <a:effectLst/>
                <a:uFillTx/>
                <a:ea typeface="宋体" panose="02010600030101010101" pitchFamily="2" charset="-122"/>
                <a:sym typeface="+mn-ea"/>
              </a:rPr>
              <a:t>注意这个函数依赖</a:t>
            </a:r>
            <a:endParaRPr kumimoji="0" lang="zh-CN" altLang="ko-KR" sz="2200" b="1" i="0" baseline="0" smtClean="0">
              <a:ln>
                <a:noFill/>
              </a:ln>
              <a:solidFill>
                <a:schemeClr val="bg1"/>
              </a:solidFill>
              <a:effectLst/>
              <a:uFillTx/>
              <a:latin typeface="Arial" panose="020B0604020202020204" pitchFamily="34" charset="0"/>
              <a:ea typeface="宋体" panose="02010600030101010101" pitchFamily="2" charset="-122"/>
            </a:endParaRPr>
          </a:p>
          <a:p>
            <a:pPr marL="0" marR="0" indent="0" algn="r" defTabSz="914400" rtl="0" eaLnBrk="1" fontAlgn="base" latinLnBrk="0" hangingPunct="1">
              <a:lnSpc>
                <a:spcPct val="100000"/>
              </a:lnSpc>
              <a:spcBef>
                <a:spcPct val="0"/>
              </a:spcBef>
              <a:spcAft>
                <a:spcPct val="0"/>
              </a:spcAft>
              <a:buClrTx/>
              <a:buSzTx/>
              <a:buFontTx/>
              <a:buNone/>
            </a:pPr>
            <a:endParaRPr kumimoji="0" lang="zh-CN" altLang="ko-KR" sz="2200" b="1" i="0" baseline="0" smtClean="0">
              <a:ln>
                <a:noFill/>
              </a:ln>
              <a:solidFill>
                <a:schemeClr val="bg1"/>
              </a:solidFill>
              <a:effectLst/>
              <a:uFillTx/>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3795">
                                            <p:txEl>
                                              <p:pRg st="4" end="4"/>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3795">
                                            <p:txEl>
                                              <p:pRg st="5" end="5"/>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3795">
                                            <p:txEl>
                                              <p:pRg st="7" end="7"/>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3795">
                                            <p:txEl>
                                              <p:pRg st="8" end="8"/>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3795">
                                            <p:txEl>
                                              <p:pRg st="9" end="9"/>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3"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分解</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方法（</a:t>
            </a:r>
            <a:r>
              <a:rPr lang="en-US" altLang="zh-CN" dirty="0"/>
              <a:t> 2nf</a:t>
            </a:r>
            <a:r>
              <a:rPr lang="en-US" altLang="zh-CN" dirty="0">
                <a:sym typeface="Wingdings" panose="05000000000000000000" pitchFamily="2" charset="2"/>
              </a:rPr>
              <a:t>3nf</a:t>
            </a:r>
            <a:r>
              <a:rPr lang="zh-CN" altLang="en-US" dirty="0">
                <a:sym typeface="Wingdings" panose="05000000000000000000" pitchFamily="2" charset="2"/>
              </a:rPr>
              <a:t> </a:t>
            </a:r>
            <a:r>
              <a:rPr lang="zh-CN" altLang="en-US" sz="4000" b="0" dirty="0" smtClean="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4000"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5" name="Rectangle 3"/>
          <p:cNvSpPr txBox="1">
            <a:spLocks noChangeArrowheads="1"/>
          </p:cNvSpPr>
          <p:nvPr/>
        </p:nvSpPr>
        <p:spPr>
          <a:xfrm>
            <a:off x="239341" y="1124744"/>
            <a:ext cx="8572500" cy="5328592"/>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rPr>
              <a:t>对于不是候选码的每个决定因子，从表中删去依赖于它的所有属性；</a:t>
            </a:r>
            <a:r>
              <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3200" i="1" dirty="0" err="1" smtClean="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sdeptsloc</a:t>
            </a:r>
            <a:endParaRPr lang="zh-CN" altLang="en-US" sz="3200" i="1" dirty="0" smtClean="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rPr>
              <a:t>新建一个表，新表中包含在原表中所有依赖于该决定因子的属性；</a:t>
            </a:r>
          </a:p>
          <a:p>
            <a:r>
              <a:rPr lang="zh-CN" altLang="en-US" sz="3200" dirty="0" smtClean="0">
                <a:latin typeface="Times New Roman" panose="02020603050405020304" pitchFamily="18" charset="0"/>
                <a:ea typeface="宋体" panose="02010600030101010101" pitchFamily="2" charset="-122"/>
                <a:cs typeface="Times New Roman" panose="02020603050405020304" pitchFamily="18" charset="0"/>
              </a:rPr>
              <a:t>将决定因子作为新表的主码。</a:t>
            </a:r>
            <a:endParaRPr lang="en-US" altLang="zh-CN" sz="3200" dirty="0" smtClean="0">
              <a:latin typeface="Times New Roman" panose="02020603050405020304" pitchFamily="18" charset="0"/>
              <a:ea typeface="宋体" panose="02010600030101010101" pitchFamily="2" charset="-122"/>
              <a:cs typeface="Times New Roman" panose="02020603050405020304" pitchFamily="18" charset="0"/>
            </a:endParaRPr>
          </a:p>
          <a:p>
            <a:pPr>
              <a:buFontTx/>
              <a:buNone/>
            </a:pPr>
            <a:endPar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buFontTx/>
              <a:buNone/>
            </a:pP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Ssex</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smtClean="0">
                <a:latin typeface="Times New Roman" panose="02020603050405020304" pitchFamily="18" charset="0"/>
                <a:ea typeface="宋体" panose="02010600030101010101" pitchFamily="2" charset="-122"/>
                <a:cs typeface="Times New Roman" panose="02020603050405020304" pitchFamily="18" charset="0"/>
              </a:rPr>
              <a:t>S-L</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分解后的关系模式为：</a:t>
            </a:r>
          </a:p>
          <a:p>
            <a:pPr lvl="1"/>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Sno,Sname,Ssex,Sdept</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），主码为</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endPar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），主码为</a:t>
            </a:r>
            <a:r>
              <a:rPr lang="en-US" altLang="zh-CN" sz="2800" dirty="0" err="1"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endPar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S-L-C最终分解结果</a:t>
            </a:r>
          </a:p>
        </p:txBody>
      </p:sp>
      <p:sp>
        <p:nvSpPr>
          <p:cNvPr id="61443" name="内容占位符 2"/>
          <p:cNvSpPr>
            <a:spLocks noGrp="1"/>
          </p:cNvSpPr>
          <p:nvPr>
            <p:ph idx="1"/>
          </p:nvPr>
        </p:nvSpPr>
        <p:spPr/>
        <p:txBody>
          <a:bodyPr vert="horz" wrap="square" lIns="91440" tIns="45720" rIns="91440" bIns="45720" anchor="t" anchorCtr="0"/>
          <a:lstStyle/>
          <a:p>
            <a:pPr eaLnBrk="1" hangingPunct="1">
              <a:spcBef>
                <a:spcPts val="400"/>
              </a:spcBef>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,Sname,Ssex,</a:t>
            </a:r>
            <a:r>
              <a:rPr lang="en-US" altLang="zh-CN" sz="2800" u="dbl" dirty="0">
                <a:solidFill>
                  <a:srgbClr val="FF0000"/>
                </a:solidFill>
                <a:uFill>
                  <a:solidFill>
                    <a:srgbClr val="0000CC"/>
                  </a:solidFill>
                </a:uFill>
                <a:latin typeface="Times New Roman" panose="02020603050405020304" pitchFamily="18" charset="0"/>
                <a:ea typeface="宋体" panose="02010600030101010101" pitchFamily="2" charset="-122"/>
                <a:cs typeface="Times New Roman" panose="02020603050405020304" pitchFamily="18" charset="0"/>
              </a:rPr>
              <a:t>Sdept</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为主</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Sdept</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为引用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S-L</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关系模式的外</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endParaRPr lang="zh-CN" altLang="zh-CN" sz="2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1800"/>
              </a:spcBef>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Sdept</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,Sloc</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Sdept</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为主</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没有外</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spcBef>
                <a:spcPts val="1800"/>
              </a:spcBef>
            </a:pP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S-C</a:t>
            </a:r>
            <a:r>
              <a:rPr lang="zh-CN"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800" u="sng"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Sno, Cno</a:t>
            </a:r>
            <a:r>
              <a:rPr lang="en-US" altLang="zh-CN"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Grade</a:t>
            </a:r>
            <a:r>
              <a:rPr lang="zh-CN" altLang="zh-CN"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Cno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）为主</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4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Sno</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为引用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S-D</a:t>
            </a:r>
            <a:r>
              <a:rPr lang="zh-CN" altLang="zh-CN" sz="2800" dirty="0">
                <a:latin typeface="Times New Roman" panose="02020603050405020304" pitchFamily="18" charset="0"/>
                <a:ea typeface="宋体" panose="02010600030101010101" pitchFamily="2" charset="-122"/>
                <a:cs typeface="Times New Roman" panose="02020603050405020304" pitchFamily="18" charset="0"/>
              </a:rPr>
              <a:t>关系模式的外</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码</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 name="直接连接符 2"/>
          <p:cNvCxnSpPr/>
          <p:nvPr/>
        </p:nvCxnSpPr>
        <p:spPr bwMode="auto">
          <a:xfrm>
            <a:off x="1835696" y="5013176"/>
            <a:ext cx="576064" cy="0"/>
          </a:xfrm>
          <a:prstGeom prst="line">
            <a:avLst/>
          </a:prstGeom>
          <a:solidFill>
            <a:schemeClr val="accent1"/>
          </a:solidFill>
          <a:ln w="28575" cap="flat" cmpd="sng" algn="ctr">
            <a:solidFill>
              <a:srgbClr val="0000CC"/>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6.2.4 BC范式</a:t>
            </a:r>
          </a:p>
        </p:txBody>
      </p:sp>
      <p:sp>
        <p:nvSpPr>
          <p:cNvPr id="5" name="Rectangle 3"/>
          <p:cNvSpPr txBox="1">
            <a:spLocks noChangeArrowheads="1"/>
          </p:cNvSpPr>
          <p:nvPr/>
        </p:nvSpPr>
        <p:spPr>
          <a:xfrm>
            <a:off x="228600" y="1357313"/>
            <a:ext cx="8772525" cy="4967287"/>
          </a:xfrm>
          <a:prstGeom prst="rect">
            <a:avLst/>
          </a:prstGeom>
          <a:noFill/>
          <a:ln w="9525">
            <a:noFill/>
          </a:ln>
        </p:spPr>
        <p:txBody>
          <a:bodyPr/>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marL="0" indent="0">
              <a:spcBef>
                <a:spcPts val="1800"/>
              </a:spcBef>
              <a:buNone/>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例：关系模式：</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CSZ</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City</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Street</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Zip</a:t>
            </a:r>
            <a:r>
              <a:rPr lang="zh-CN" altLang="en-US" sz="26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a:p>
            <a:pPr marL="0" indent="0">
              <a:spcBef>
                <a:spcPts val="1800"/>
              </a:spcBef>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语义：城市和街道可以决定邮政编码，邮政编码可以决定城市。 </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a:spcBef>
                <a:spcPts val="1800"/>
              </a:spcBef>
            </a:pP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最小</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函数依赖集</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rPr>
              <a:t>City,Street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Zip ,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ZipCity</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p>
          <a:p>
            <a:pPr>
              <a:spcBef>
                <a:spcPts val="1800"/>
              </a:spcBef>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候选码：</a:t>
            </a: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a:latin typeface="Times New Roman" panose="02020603050405020304" pitchFamily="18" charset="0"/>
                <a:ea typeface="宋体" panose="02010600030101010101" pitchFamily="2" charset="-122"/>
                <a:cs typeface="Times New Roman" panose="02020603050405020304" pitchFamily="18" charset="0"/>
              </a:rPr>
              <a:t>City,Street</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err="1" smtClean="0">
                <a:latin typeface="Times New Roman" panose="02020603050405020304" pitchFamily="18" charset="0"/>
                <a:ea typeface="宋体" panose="02010600030101010101" pitchFamily="2" charset="-122"/>
                <a:cs typeface="Times New Roman" panose="02020603050405020304" pitchFamily="18" charset="0"/>
              </a:rPr>
              <a:t>Street,Zip</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a:t>
            </a:r>
          </a:p>
          <a:p>
            <a:pPr>
              <a:spcBef>
                <a:spcPts val="1800"/>
              </a:spcBef>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无非主属性</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p>
          <a:p>
            <a:pPr>
              <a:spcBef>
                <a:spcPts val="1800"/>
              </a:spcBef>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是</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3NF </a:t>
            </a:r>
          </a:p>
          <a:p>
            <a:pPr>
              <a:spcBef>
                <a:spcPts val="1800"/>
              </a:spcBef>
            </a:pP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但存在的问题</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a:latin typeface="Times New Roman" panose="02020603050405020304" pitchFamily="18" charset="0"/>
                <a:ea typeface="宋体" panose="02010600030101010101" pitchFamily="2" charset="-122"/>
                <a:cs typeface="Times New Roman" panose="02020603050405020304" pitchFamily="18" charset="0"/>
              </a:rPr>
              <a:t>操作</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异常  </a:t>
            </a:r>
            <a:endPar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600"/>
              </a:spcBef>
              <a:buNone/>
            </a:pPr>
            <a:r>
              <a:rPr lang="en-US" altLang="zh-CN" sz="2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6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rPr>
              <a:t>  （存在主属性对非候选码的函数依赖）  </a:t>
            </a:r>
          </a:p>
          <a:p>
            <a:pPr>
              <a:spcBef>
                <a:spcPts val="1800"/>
              </a:spcBef>
            </a:pPr>
            <a:endParaRPr lang="zh-CN" altLang="en-US" sz="2600" dirty="0" smtClean="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p:cNvSpPr/>
          <p:nvPr/>
        </p:nvSpPr>
        <p:spPr>
          <a:xfrm>
            <a:off x="6297749" y="4941168"/>
            <a:ext cx="1683473" cy="523220"/>
          </a:xfrm>
          <a:prstGeom prst="rect">
            <a:avLst/>
          </a:prstGeom>
        </p:spPr>
        <p:txBody>
          <a:bodyPr wrap="none">
            <a:spAutoFit/>
          </a:bodyPr>
          <a:lstStyle/>
          <a:p>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ZipCity</a:t>
            </a:r>
            <a:endParaRPr lang="zh-CN" altLang="en-US" sz="2800" dirty="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BC范式</a:t>
            </a:r>
          </a:p>
        </p:txBody>
      </p:sp>
      <p:sp>
        <p:nvSpPr>
          <p:cNvPr id="64515" name="内容占位符 2"/>
          <p:cNvSpPr>
            <a:spLocks noGrp="1"/>
          </p:cNvSpPr>
          <p:nvPr>
            <p:ph idx="1"/>
          </p:nvPr>
        </p:nvSpPr>
        <p:spPr>
          <a:xfrm>
            <a:off x="251520" y="1124744"/>
            <a:ext cx="8424936" cy="5472608"/>
          </a:xfrm>
        </p:spPr>
        <p:txBody>
          <a:bodyPr vert="horz" wrap="square" lIns="91440" tIns="45720" rIns="91440" bIns="45720" anchor="t" anchorCtr="0"/>
          <a:lstStyle/>
          <a:p>
            <a:pPr algn="just" eaLnBrk="1" hangingPunct="1">
              <a:spcBef>
                <a:spcPts val="2400"/>
              </a:spcBef>
            </a:pP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定义：如果关系模式</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R</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1NF</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，若</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X</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Y</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且</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Y </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 </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X</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时</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X</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必包含候选码，则</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R</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BCNF</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endParaRPr lang="zh-CN" altLang="en-US" sz="28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spcBef>
                <a:spcPts val="1800"/>
              </a:spcBef>
              <a:buFontTx/>
              <a:buNone/>
            </a:pPr>
            <a:r>
              <a:rPr lang="en-US" altLang="zh-CN"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CSZ</a:t>
            </a:r>
            <a:r>
              <a:rPr lang="zh-CN" altLang="en-US"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City</a:t>
            </a:r>
            <a:r>
              <a:rPr lang="zh-CN" altLang="en-US"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Street</a:t>
            </a:r>
            <a:r>
              <a:rPr lang="zh-CN" altLang="en-US"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r>
              <a:rPr lang="en-US" altLang="zh-CN"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Zip</a:t>
            </a:r>
            <a:r>
              <a:rPr lang="zh-CN" altLang="en-US" sz="2800" dirty="0">
                <a:solidFill>
                  <a:srgbClr val="FF0000"/>
                </a:solidFill>
                <a:latin typeface="宋体" panose="02010600030101010101" pitchFamily="2" charset="-122"/>
                <a:ea typeface="宋体" panose="02010600030101010101" pitchFamily="2" charset="-122"/>
                <a:cs typeface="Times New Roman" panose="02020603050405020304" pitchFamily="18" charset="0"/>
              </a:rPr>
              <a:t>）</a:t>
            </a:r>
            <a:endParaRPr lang="en-US" altLang="zh-CN" sz="280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a:p>
            <a:pPr marL="0" indent="0">
              <a:lnSpc>
                <a:spcPct val="120000"/>
              </a:lnSpc>
              <a:buFontTx/>
              <a:buNone/>
            </a:pP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判断</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BCNF</a:t>
            </a:r>
            <a:endParaRPr lang="en-US" altLang="zh-CN" sz="2800" dirty="0">
              <a:latin typeface="宋体" panose="02010600030101010101" pitchFamily="2" charset="-122"/>
              <a:ea typeface="宋体" panose="02010600030101010101" pitchFamily="2" charset="-122"/>
              <a:cs typeface="Times New Roman" panose="02020603050405020304" pitchFamily="18" charset="0"/>
            </a:endParaRPr>
          </a:p>
          <a:p>
            <a:pPr marL="0" indent="0">
              <a:buFontTx/>
              <a:buNone/>
            </a:pPr>
            <a:r>
              <a:rPr lang="en-US" altLang="zh-CN" sz="2800" dirty="0">
                <a:latin typeface="宋体" panose="02010600030101010101" pitchFamily="2" charset="-122"/>
                <a:ea typeface="宋体" panose="02010600030101010101" pitchFamily="2" charset="-122"/>
                <a:cs typeface="Times New Roman" panose="02020603050405020304" pitchFamily="18" charset="0"/>
              </a:rPr>
              <a:t>1</a:t>
            </a:r>
            <a:r>
              <a:rPr lang="zh-CN" altLang="en-US" sz="2800" dirty="0">
                <a:latin typeface="宋体" panose="02010600030101010101" pitchFamily="2" charset="-122"/>
                <a:ea typeface="宋体" panose="02010600030101010101" pitchFamily="2" charset="-122"/>
                <a:cs typeface="Times New Roman" panose="02020603050405020304" pitchFamily="18" charset="0"/>
              </a:rPr>
              <a:t>、所有候选码 </a:t>
            </a:r>
            <a:r>
              <a:rPr lang="en-US" altLang="zh-CN" sz="2800" dirty="0">
                <a:latin typeface="宋体" panose="02010600030101010101" pitchFamily="2" charset="-122"/>
                <a:ea typeface="宋体" panose="02010600030101010101" pitchFamily="2" charset="-122"/>
                <a:cs typeface="Times New Roman" panose="02020603050405020304" pitchFamily="18" charset="0"/>
              </a:rPr>
              <a:t>(City</a:t>
            </a:r>
            <a:r>
              <a:rPr lang="zh-CN" altLang="en-US" sz="2800" dirty="0">
                <a:latin typeface="宋体" panose="02010600030101010101" pitchFamily="2" charset="-122"/>
                <a:ea typeface="宋体" panose="02010600030101010101" pitchFamily="2" charset="-122"/>
                <a:cs typeface="Times New Roman" panose="02020603050405020304" pitchFamily="18" charset="0"/>
              </a:rPr>
              <a:t>，</a:t>
            </a:r>
            <a:r>
              <a:rPr lang="en-US" altLang="zh-CN" sz="2800" dirty="0">
                <a:latin typeface="宋体" panose="02010600030101010101" pitchFamily="2" charset="-122"/>
                <a:ea typeface="宋体" panose="02010600030101010101" pitchFamily="2" charset="-122"/>
                <a:cs typeface="Times New Roman" panose="02020603050405020304" pitchFamily="18" charset="0"/>
              </a:rPr>
              <a:t>Street</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r>
              <a:rPr lang="en-US" altLang="zh-CN" sz="2800" dirty="0">
                <a:latin typeface="宋体" panose="02010600030101010101" pitchFamily="2" charset="-122"/>
                <a:ea typeface="宋体" panose="02010600030101010101" pitchFamily="2" charset="-122"/>
                <a:cs typeface="Times New Roman" panose="02020603050405020304" pitchFamily="18" charset="0"/>
              </a:rPr>
              <a:t>( Street</a:t>
            </a:r>
            <a:r>
              <a:rPr lang="zh-CN" altLang="en-US" sz="2800" dirty="0">
                <a:latin typeface="宋体" panose="02010600030101010101" pitchFamily="2" charset="-122"/>
                <a:ea typeface="宋体" panose="02010600030101010101" pitchFamily="2" charset="-122"/>
                <a:cs typeface="Times New Roman" panose="02020603050405020304" pitchFamily="18" charset="0"/>
              </a:rPr>
              <a:t>，</a:t>
            </a:r>
            <a:r>
              <a:rPr lang="en-US" altLang="zh-CN" sz="2800" dirty="0">
                <a:latin typeface="宋体" panose="02010600030101010101" pitchFamily="2" charset="-122"/>
                <a:ea typeface="宋体" panose="02010600030101010101" pitchFamily="2" charset="-122"/>
                <a:cs typeface="Times New Roman" panose="02020603050405020304" pitchFamily="18" charset="0"/>
              </a:rPr>
              <a:t>Zip)</a:t>
            </a:r>
          </a:p>
          <a:p>
            <a:pPr marL="0" indent="0">
              <a:buFontTx/>
              <a:buNone/>
            </a:pP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2</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、写出</a:t>
            </a:r>
            <a:r>
              <a:rPr lang="zh-CN" altLang="en-US" sz="2800" dirty="0">
                <a:latin typeface="宋体" panose="02010600030101010101" pitchFamily="2" charset="-122"/>
                <a:ea typeface="宋体" panose="02010600030101010101" pitchFamily="2" charset="-122"/>
                <a:cs typeface="Times New Roman" panose="02020603050405020304" pitchFamily="18" charset="0"/>
              </a:rPr>
              <a:t>所有的函数依赖</a:t>
            </a:r>
            <a:endParaRPr lang="en-US" altLang="zh-CN" sz="2800" dirty="0">
              <a:latin typeface="宋体" panose="02010600030101010101" pitchFamily="2" charset="-122"/>
              <a:ea typeface="宋体" panose="02010600030101010101" pitchFamily="2" charset="-122"/>
              <a:cs typeface="Times New Roman" panose="02020603050405020304" pitchFamily="18" charset="0"/>
            </a:endParaRPr>
          </a:p>
          <a:p>
            <a:pPr marL="0" indent="0">
              <a:buFontTx/>
              <a:buNone/>
            </a:pP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   (</a:t>
            </a:r>
            <a:r>
              <a:rPr lang="en-US" altLang="zh-CN" sz="2800" dirty="0">
                <a:latin typeface="宋体" panose="02010600030101010101" pitchFamily="2" charset="-122"/>
                <a:ea typeface="宋体" panose="02010600030101010101" pitchFamily="2" charset="-122"/>
                <a:cs typeface="Times New Roman" panose="02020603050405020304" pitchFamily="18" charset="0"/>
              </a:rPr>
              <a:t>City</a:t>
            </a:r>
            <a:r>
              <a:rPr lang="zh-CN" altLang="en-US" sz="2800" dirty="0">
                <a:latin typeface="宋体" panose="02010600030101010101" pitchFamily="2" charset="-122"/>
                <a:ea typeface="宋体" panose="02010600030101010101" pitchFamily="2" charset="-122"/>
                <a:cs typeface="Times New Roman" panose="02020603050405020304" pitchFamily="18" charset="0"/>
              </a:rPr>
              <a:t>，</a:t>
            </a:r>
            <a:r>
              <a:rPr lang="en-US" altLang="zh-CN" sz="2800" dirty="0">
                <a:latin typeface="宋体" panose="02010600030101010101" pitchFamily="2" charset="-122"/>
                <a:ea typeface="宋体" panose="02010600030101010101" pitchFamily="2" charset="-122"/>
                <a:cs typeface="Times New Roman" panose="02020603050405020304" pitchFamily="18" charset="0"/>
              </a:rPr>
              <a:t>Street)</a:t>
            </a:r>
            <a:r>
              <a:rPr lang="en-US" altLang="zh-CN" sz="2800" dirty="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zip   </a:t>
            </a:r>
            <a:r>
              <a:rPr lang="en-US" altLang="zh-CN" sz="2800" dirty="0">
                <a:latin typeface="宋体" panose="02010600030101010101" pitchFamily="2" charset="-122"/>
                <a:ea typeface="宋体" panose="02010600030101010101" pitchFamily="2" charset="-122"/>
                <a:cs typeface="Times New Roman" panose="02020603050405020304" pitchFamily="18" charset="0"/>
              </a:rPr>
              <a:t>( Street</a:t>
            </a:r>
            <a:r>
              <a:rPr lang="zh-CN" altLang="en-US" sz="2800" dirty="0">
                <a:latin typeface="宋体" panose="02010600030101010101" pitchFamily="2" charset="-122"/>
                <a:ea typeface="宋体" panose="02010600030101010101" pitchFamily="2" charset="-122"/>
                <a:cs typeface="Times New Roman" panose="02020603050405020304" pitchFamily="18" charset="0"/>
              </a:rPr>
              <a:t>，</a:t>
            </a:r>
            <a:r>
              <a:rPr lang="en-US" altLang="zh-CN" sz="2800" dirty="0">
                <a:latin typeface="宋体" panose="02010600030101010101" pitchFamily="2" charset="-122"/>
                <a:ea typeface="宋体" panose="02010600030101010101" pitchFamily="2" charset="-122"/>
                <a:cs typeface="Times New Roman" panose="02020603050405020304" pitchFamily="18" charset="0"/>
              </a:rPr>
              <a:t>Zip)</a:t>
            </a:r>
            <a:r>
              <a:rPr lang="en-US" altLang="zh-CN" sz="2800" dirty="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city   </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      </a:t>
            </a:r>
          </a:p>
          <a:p>
            <a:pPr marL="0" indent="0">
              <a:buFontTx/>
              <a:buNone/>
            </a:pPr>
            <a:r>
              <a:rPr lang="en-US" altLang="zh-CN" sz="2800" dirty="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 </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   </a:t>
            </a:r>
            <a:r>
              <a:rPr lang="en-US" altLang="zh-CN" sz="2800" dirty="0" err="1"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Zip</a:t>
            </a:r>
            <a:r>
              <a:rPr lang="en-US" altLang="zh-CN" sz="2800" dirty="0" err="1">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city</a:t>
            </a:r>
            <a:endParaRPr lang="en-US" altLang="zh-CN" sz="2800" dirty="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endParaRPr>
          </a:p>
          <a:p>
            <a:pPr marL="0" indent="0">
              <a:buFontTx/>
              <a:buNone/>
            </a:pPr>
            <a:r>
              <a:rPr lang="en-US" altLang="zh-CN"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3</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、决定因子</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Zip</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没有</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sym typeface="Wingdings" panose="05000000000000000000" pitchFamily="2" charset="2"/>
              </a:rPr>
              <a:t>包含码</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a:t>
            </a:r>
            <a:endParaRPr lang="en-US" altLang="zh-CN" sz="2800" dirty="0" smtClean="0">
              <a:latin typeface="宋体" panose="02010600030101010101" pitchFamily="2" charset="-122"/>
              <a:ea typeface="宋体" panose="02010600030101010101" pitchFamily="2" charset="-122"/>
              <a:cs typeface="Times New Roman" panose="02020603050405020304" pitchFamily="18" charset="0"/>
            </a:endParaRPr>
          </a:p>
          <a:p>
            <a:pPr marL="0" indent="0">
              <a:buFontTx/>
              <a:buNone/>
            </a:pP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   所以，</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CSZ</a:t>
            </a:r>
            <a:r>
              <a:rPr lang="zh-CN" altLang="en-US" sz="2800" dirty="0" smtClean="0">
                <a:latin typeface="宋体" panose="02010600030101010101" pitchFamily="2" charset="-122"/>
                <a:ea typeface="宋体" panose="02010600030101010101" pitchFamily="2" charset="-122"/>
                <a:cs typeface="Times New Roman" panose="02020603050405020304" pitchFamily="18" charset="0"/>
              </a:rPr>
              <a:t>不属于</a:t>
            </a:r>
            <a:r>
              <a:rPr lang="en-US" altLang="zh-CN" sz="2800" dirty="0" smtClean="0">
                <a:latin typeface="宋体" panose="02010600030101010101" pitchFamily="2" charset="-122"/>
                <a:ea typeface="宋体" panose="02010600030101010101" pitchFamily="2" charset="-122"/>
                <a:cs typeface="Times New Roman" panose="02020603050405020304" pitchFamily="18" charset="0"/>
              </a:rPr>
              <a:t>BCNF</a:t>
            </a:r>
            <a:endParaRPr lang="zh-CN" altLang="en-US" sz="28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1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51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451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45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3NF和BCNF之间的区别</a:t>
            </a:r>
          </a:p>
        </p:txBody>
      </p:sp>
      <p:sp>
        <p:nvSpPr>
          <p:cNvPr id="65539" name="内容占位符 2"/>
          <p:cNvSpPr>
            <a:spLocks noGrp="1"/>
          </p:cNvSpPr>
          <p:nvPr>
            <p:ph idx="1"/>
          </p:nvPr>
        </p:nvSpPr>
        <p:spPr>
          <a:xfrm>
            <a:off x="395536" y="1196752"/>
            <a:ext cx="8064896" cy="4876800"/>
          </a:xfrm>
        </p:spPr>
        <p:txBody>
          <a:bodyPr vert="horz" wrap="square" lIns="91440" tIns="45720" rIns="91440" bIns="45720" anchor="t" anchorCtr="0"/>
          <a:lstStyle/>
          <a:p>
            <a:pPr eaLnBrk="1" hangingPunct="1">
              <a:spcBef>
                <a:spcPts val="24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对一个函数依赖</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t>
            </a:r>
          </a:p>
          <a:p>
            <a:pPr lvl="1" eaLnBrk="1" hangingPunct="1">
              <a:spcBef>
                <a:spcPts val="24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允许</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是主属性，而</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不是候选码。</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spcBef>
                <a:spcPts val="1200"/>
              </a:spcBef>
            </a:pP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则要求</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必须是候选</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码（</a:t>
            </a:r>
            <a:r>
              <a:rPr lang="zh-CN" altLang="en-US" sz="28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包含候选码</a:t>
            </a: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24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因此，</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也是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，只是更加规范。</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ts val="2400"/>
              </a:spcBef>
            </a:pP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尽管满足</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的关系也是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关系，但</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关系却不一定是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a:t>
            </a:r>
            <a:endParaRPr lang="en-US" altLang="zh-CN" sz="28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spcBef>
                <a:spcPts val="1200"/>
              </a:spcBef>
              <a:buNone/>
            </a:pPr>
            <a:r>
              <a:rPr lang="zh-CN" altLang="en-US" sz="2800" dirty="0" smtClean="0">
                <a:latin typeface="Times New Roman" panose="02020603050405020304" pitchFamily="18" charset="0"/>
                <a:ea typeface="宋体" panose="02010600030101010101" pitchFamily="2" charset="-122"/>
                <a:cs typeface="Times New Roman" panose="02020603050405020304" pitchFamily="18" charset="0"/>
              </a:rPr>
              <a:t>   大多数</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情况下</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3NF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的关系模式都是</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endParaRPr lang="zh-CN" altLang="en-US" sz="28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有可能违反BCNF的情形</a:t>
            </a:r>
          </a:p>
        </p:txBody>
      </p:sp>
      <p:sp>
        <p:nvSpPr>
          <p:cNvPr id="66563" name="内容占位符 2"/>
          <p:cNvSpPr>
            <a:spLocks noGrp="1"/>
          </p:cNvSpPr>
          <p:nvPr>
            <p:ph idx="1"/>
          </p:nvPr>
        </p:nvSpPr>
        <p:spPr>
          <a:xfrm>
            <a:off x="357188" y="1214438"/>
            <a:ext cx="8535292" cy="4957762"/>
          </a:xfrm>
        </p:spPr>
        <p:txBody>
          <a:bodyPr vert="horz" wrap="square" lIns="91440" tIns="45720" rIns="91440" bIns="45720" anchor="t" anchorCtr="0"/>
          <a:lstStyle/>
          <a:p>
            <a:pPr algn="just" eaLnBrk="1" hangingPunct="1"/>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关系中包含两个（或更多）复合候选码。</a:t>
            </a:r>
          </a:p>
          <a:p>
            <a:pPr algn="just" eaLnBrk="1" hangingPunct="1"/>
            <a:r>
              <a:rPr lang="zh-CN" altLang="en-US" sz="28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候选码有重叠，通常至少有一个重叠的属性。</a:t>
            </a:r>
          </a:p>
          <a:p>
            <a:pPr marL="0" indent="0" algn="just">
              <a:spcBef>
                <a:spcPts val="1800"/>
              </a:spcBef>
              <a:buNone/>
            </a:pP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CSZ</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City</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Street</a:t>
            </a:r>
            <a:r>
              <a:rPr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Zip</a:t>
            </a:r>
            <a:r>
              <a:rPr lang="zh-CN" altLang="en-US"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gn="just">
              <a:spcBef>
                <a:spcPts val="600"/>
              </a:spcBef>
              <a:buNone/>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候选码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(City</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Street)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Street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Zip)</a:t>
            </a:r>
          </a:p>
          <a:p>
            <a:pPr algn="just" eaLnBrk="1" hangingPunct="1">
              <a:spcBef>
                <a:spcPts val="600"/>
              </a:spcBef>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把</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CSZ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关系模式分解为：</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Zip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City</a:t>
            </a: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lgn="just" eaLnBrk="1" hangingPunct="1">
              <a:spcBef>
                <a:spcPts val="600"/>
              </a:spcBef>
              <a:buNone/>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smtClean="0">
                <a:latin typeface="Times New Roman" panose="02020603050405020304" pitchFamily="18" charset="0"/>
                <a:ea typeface="宋体" panose="02010600030101010101" pitchFamily="2" charset="-122"/>
                <a:cs typeface="Times New Roman" panose="02020603050405020304" pitchFamily="18" charset="0"/>
              </a:rPr>
              <a:t>                                                SZ</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Street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Zip</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p>
          <a:p>
            <a:pPr marL="0" indent="0" algn="just" eaLnBrk="1" hangingPunct="1">
              <a:spcBef>
                <a:spcPts val="600"/>
              </a:spcBef>
              <a:buNone/>
            </a:pPr>
            <a:r>
              <a:rPr lang="zh-CN" altLang="en-US" sz="2400" dirty="0" smtClean="0">
                <a:latin typeface="Times New Roman" panose="02020603050405020304" pitchFamily="18" charset="0"/>
                <a:ea typeface="宋体" panose="02010600030101010101" pitchFamily="2" charset="-122"/>
                <a:cs typeface="Times New Roman" panose="02020603050405020304" pitchFamily="18" charset="0"/>
              </a:rPr>
              <a:t>    这</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两个关系模式就都是</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的了。</a:t>
            </a:r>
          </a:p>
          <a:p>
            <a:pPr algn="just" eaLnBrk="1" hangingPunct="1">
              <a:spcBef>
                <a:spcPts val="180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如果一个模型中的所有关系模式都属于</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，那么在函数依赖范畴内，就实现了彻底的分解，消除了操作异常。也就是说，在函数依赖范畴，</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BCNF</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达到了最高的规范化程度。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56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56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56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小结</a:t>
            </a:r>
          </a:p>
        </p:txBody>
      </p:sp>
      <p:sp>
        <p:nvSpPr>
          <p:cNvPr id="68611" name="Rectangle 3"/>
          <p:cNvSpPr>
            <a:spLocks noGrp="1"/>
          </p:cNvSpPr>
          <p:nvPr>
            <p:ph idx="1"/>
          </p:nvPr>
        </p:nvSpPr>
        <p:spPr>
          <a:xfrm>
            <a:off x="467544" y="1196752"/>
            <a:ext cx="8229600" cy="5112568"/>
          </a:xfrm>
        </p:spPr>
        <p:txBody>
          <a:bodyPr vert="horz" wrap="square" lIns="91440" tIns="45720" rIns="91440" bIns="45720" anchor="t" anchorCtr="0"/>
          <a:lstStyle/>
          <a:p>
            <a:pPr eaLnBrk="1" hangingPunct="1"/>
            <a:r>
              <a:rPr lang="zh-CN" altLang="en-US" sz="2800" dirty="0" smtClean="0">
                <a:ea typeface="宋体" panose="02010600030101010101" pitchFamily="2" charset="-122"/>
              </a:rPr>
              <a:t>规范化过程</a:t>
            </a:r>
            <a:r>
              <a:rPr lang="zh-CN" altLang="en-US" sz="2800" dirty="0">
                <a:ea typeface="宋体" panose="02010600030101010101" pitchFamily="2" charset="-122"/>
              </a:rPr>
              <a:t>实际上是通过把范式程度低的关系模式分解为若干个范式程度高的关系模式来实现的</a:t>
            </a:r>
            <a:r>
              <a:rPr lang="zh-CN" altLang="en-US" sz="2800" dirty="0" smtClean="0">
                <a:ea typeface="宋体" panose="02010600030101010101" pitchFamily="2" charset="-122"/>
              </a:rPr>
              <a:t>。</a:t>
            </a:r>
            <a:endParaRPr lang="en-US" altLang="zh-CN" sz="2800" dirty="0" smtClean="0">
              <a:ea typeface="宋体" panose="02010600030101010101" pitchFamily="2" charset="-122"/>
            </a:endParaRPr>
          </a:p>
          <a:p>
            <a:pPr marL="0" indent="0" algn="ctr">
              <a:buNone/>
            </a:pPr>
            <a:r>
              <a:rPr lang="zh-CN" altLang="en-US" sz="2800" dirty="0" smtClean="0">
                <a:latin typeface="宋体" panose="02010600030101010101" pitchFamily="2" charset="-122"/>
                <a:ea typeface="宋体" panose="02010600030101010101" pitchFamily="2" charset="-122"/>
                <a:cs typeface="等线" panose="02010600030101010101" charset="-122"/>
              </a:rPr>
              <a:t>  定级</a:t>
            </a:r>
            <a:r>
              <a:rPr lang="zh-CN" altLang="en-US" sz="2800" dirty="0">
                <a:latin typeface="宋体" panose="02010600030101010101" pitchFamily="2" charset="-122"/>
                <a:ea typeface="宋体" panose="02010600030101010101" pitchFamily="2" charset="-122"/>
                <a:cs typeface="等线" panose="02010600030101010101" charset="-122"/>
              </a:rPr>
              <a:t>（</a:t>
            </a:r>
            <a:r>
              <a:rPr lang="en-US" altLang="zh-CN" sz="2800" dirty="0">
                <a:latin typeface="宋体" panose="02010600030101010101" pitchFamily="2" charset="-122"/>
                <a:ea typeface="宋体" panose="02010600030101010101" pitchFamily="2" charset="-122"/>
                <a:cs typeface="等线" panose="02010600030101010101" charset="-122"/>
              </a:rPr>
              <a:t>1NF</a:t>
            </a:r>
            <a:r>
              <a:rPr lang="zh-CN" altLang="en-US" sz="2800" dirty="0">
                <a:latin typeface="宋体" panose="02010600030101010101" pitchFamily="2" charset="-122"/>
                <a:ea typeface="宋体" panose="02010600030101010101" pitchFamily="2" charset="-122"/>
                <a:cs typeface="等线" panose="02010600030101010101" charset="-122"/>
              </a:rPr>
              <a:t>、</a:t>
            </a:r>
            <a:r>
              <a:rPr lang="en-US" altLang="zh-CN" sz="2800" dirty="0">
                <a:latin typeface="宋体" panose="02010600030101010101" pitchFamily="2" charset="-122"/>
                <a:ea typeface="宋体" panose="02010600030101010101" pitchFamily="2" charset="-122"/>
                <a:cs typeface="等线" panose="02010600030101010101" charset="-122"/>
              </a:rPr>
              <a:t>2NF</a:t>
            </a:r>
            <a:r>
              <a:rPr lang="zh-CN" altLang="en-US" sz="2800" dirty="0">
                <a:latin typeface="宋体" panose="02010600030101010101" pitchFamily="2" charset="-122"/>
                <a:ea typeface="宋体" panose="02010600030101010101" pitchFamily="2" charset="-122"/>
                <a:cs typeface="等线" panose="02010600030101010101" charset="-122"/>
              </a:rPr>
              <a:t>、</a:t>
            </a:r>
            <a:r>
              <a:rPr lang="en-US" altLang="zh-CN" sz="2800" dirty="0" smtClean="0">
                <a:latin typeface="宋体" panose="02010600030101010101" pitchFamily="2" charset="-122"/>
                <a:ea typeface="宋体" panose="02010600030101010101" pitchFamily="2" charset="-122"/>
                <a:cs typeface="等线" panose="02010600030101010101" charset="-122"/>
              </a:rPr>
              <a:t>3NF</a:t>
            </a:r>
            <a:r>
              <a:rPr lang="zh-CN" altLang="en-US" sz="2800" dirty="0" smtClean="0">
                <a:latin typeface="宋体" panose="02010600030101010101" pitchFamily="2" charset="-122"/>
                <a:ea typeface="宋体" panose="02010600030101010101" pitchFamily="2" charset="-122"/>
                <a:cs typeface="等线" panose="02010600030101010101" charset="-122"/>
              </a:rPr>
              <a:t>、</a:t>
            </a:r>
            <a:r>
              <a:rPr lang="en-US" altLang="zh-CN" sz="2800" dirty="0" smtClean="0">
                <a:latin typeface="宋体" panose="02010600030101010101" pitchFamily="2" charset="-122"/>
                <a:ea typeface="宋体" panose="02010600030101010101" pitchFamily="2" charset="-122"/>
                <a:cs typeface="等线" panose="02010600030101010101" charset="-122"/>
              </a:rPr>
              <a:t>BCNF</a:t>
            </a:r>
            <a:r>
              <a:rPr lang="zh-CN" altLang="en-US" sz="2800" dirty="0">
                <a:latin typeface="宋体" panose="02010600030101010101" pitchFamily="2" charset="-122"/>
                <a:ea typeface="宋体" panose="02010600030101010101" pitchFamily="2" charset="-122"/>
                <a:cs typeface="等线" panose="02010600030101010101" charset="-122"/>
              </a:rPr>
              <a:t>）</a:t>
            </a:r>
            <a:endParaRPr lang="en-US" altLang="zh-CN" sz="2800" dirty="0">
              <a:latin typeface="宋体" panose="02010600030101010101" pitchFamily="2" charset="-122"/>
              <a:ea typeface="宋体" panose="02010600030101010101" pitchFamily="2" charset="-122"/>
              <a:cs typeface="等线" panose="02010600030101010101" charset="-122"/>
            </a:endParaRPr>
          </a:p>
          <a:p>
            <a:pPr marL="0" indent="0" algn="ctr">
              <a:buNone/>
            </a:pPr>
            <a:r>
              <a:rPr lang="zh-CN" altLang="en-US" sz="2800" dirty="0" smtClean="0">
                <a:latin typeface="宋体" panose="02010600030101010101" pitchFamily="2" charset="-122"/>
                <a:ea typeface="宋体" panose="02010600030101010101" pitchFamily="2" charset="-122"/>
                <a:cs typeface="等线" panose="02010600030101010101" charset="-122"/>
              </a:rPr>
              <a:t>升级 </a:t>
            </a:r>
            <a:r>
              <a:rPr lang="en-US" altLang="zh-CN" sz="2800" dirty="0">
                <a:latin typeface="宋体" panose="02010600030101010101" pitchFamily="2" charset="-122"/>
                <a:ea typeface="宋体" panose="02010600030101010101" pitchFamily="2" charset="-122"/>
                <a:cs typeface="等线" panose="02010600030101010101" charset="-122"/>
              </a:rPr>
              <a:t>(1NF</a:t>
            </a:r>
            <a:r>
              <a:rPr lang="en-US" altLang="zh-CN" sz="2800" dirty="0">
                <a:latin typeface="宋体" panose="02010600030101010101" pitchFamily="2" charset="-122"/>
                <a:ea typeface="宋体" panose="02010600030101010101" pitchFamily="2" charset="-122"/>
                <a:cs typeface="等线" panose="02010600030101010101" charset="-122"/>
                <a:sym typeface="Wingdings" panose="05000000000000000000" pitchFamily="2" charset="2"/>
              </a:rPr>
              <a:t>2</a:t>
            </a:r>
            <a:r>
              <a:rPr lang="en-US" altLang="zh-CN" sz="2800" dirty="0">
                <a:latin typeface="宋体" panose="02010600030101010101" pitchFamily="2" charset="-122"/>
                <a:ea typeface="宋体" panose="02010600030101010101" pitchFamily="2" charset="-122"/>
                <a:cs typeface="等线" panose="02010600030101010101" charset="-122"/>
              </a:rPr>
              <a:t>NF</a:t>
            </a:r>
            <a:r>
              <a:rPr lang="en-US" altLang="zh-CN" sz="2800" dirty="0">
                <a:latin typeface="宋体" panose="02010600030101010101" pitchFamily="2" charset="-122"/>
                <a:ea typeface="宋体" panose="02010600030101010101" pitchFamily="2" charset="-122"/>
                <a:cs typeface="等线" panose="02010600030101010101" charset="-122"/>
                <a:sym typeface="Wingdings" panose="05000000000000000000" pitchFamily="2" charset="2"/>
              </a:rPr>
              <a:t> 2</a:t>
            </a:r>
            <a:r>
              <a:rPr lang="en-US" altLang="zh-CN" sz="2800" dirty="0">
                <a:latin typeface="宋体" panose="02010600030101010101" pitchFamily="2" charset="-122"/>
                <a:ea typeface="宋体" panose="02010600030101010101" pitchFamily="2" charset="-122"/>
                <a:cs typeface="等线" panose="02010600030101010101" charset="-122"/>
              </a:rPr>
              <a:t>NF</a:t>
            </a:r>
            <a:r>
              <a:rPr lang="en-US" altLang="zh-CN" sz="2800" dirty="0">
                <a:latin typeface="宋体" panose="02010600030101010101" pitchFamily="2" charset="-122"/>
                <a:ea typeface="宋体" panose="02010600030101010101" pitchFamily="2" charset="-122"/>
                <a:cs typeface="等线" panose="02010600030101010101" charset="-122"/>
                <a:sym typeface="Wingdings" panose="05000000000000000000" pitchFamily="2" charset="2"/>
              </a:rPr>
              <a:t>3</a:t>
            </a:r>
            <a:r>
              <a:rPr lang="en-US" altLang="zh-CN" sz="2800" dirty="0">
                <a:latin typeface="宋体" panose="02010600030101010101" pitchFamily="2" charset="-122"/>
                <a:ea typeface="宋体" panose="02010600030101010101" pitchFamily="2" charset="-122"/>
                <a:cs typeface="等线" panose="02010600030101010101" charset="-122"/>
              </a:rPr>
              <a:t>NF</a:t>
            </a:r>
            <a:r>
              <a:rPr lang="en-US" altLang="zh-CN" sz="2800" dirty="0">
                <a:latin typeface="宋体" panose="02010600030101010101" pitchFamily="2" charset="-122"/>
                <a:ea typeface="宋体" panose="02010600030101010101" pitchFamily="2" charset="-122"/>
                <a:cs typeface="等线" panose="02010600030101010101" charset="-122"/>
                <a:sym typeface="Wingdings" panose="05000000000000000000" pitchFamily="2" charset="2"/>
              </a:rPr>
              <a:t>)</a:t>
            </a:r>
            <a:r>
              <a:rPr lang="zh-CN" altLang="en-US" sz="2800" dirty="0">
                <a:latin typeface="宋体" panose="02010600030101010101" pitchFamily="2" charset="-122"/>
                <a:ea typeface="宋体" panose="02010600030101010101" pitchFamily="2" charset="-122"/>
                <a:cs typeface="等线" panose="02010600030101010101" charset="-122"/>
              </a:rPr>
              <a:t> </a:t>
            </a:r>
          </a:p>
          <a:p>
            <a:pPr eaLnBrk="1" hangingPunct="1">
              <a:spcBef>
                <a:spcPts val="1800"/>
              </a:spcBef>
            </a:pPr>
            <a:r>
              <a:rPr lang="zh-CN" altLang="en-US" sz="2800" dirty="0" smtClean="0">
                <a:ea typeface="宋体" panose="02010600030101010101" pitchFamily="2" charset="-122"/>
              </a:rPr>
              <a:t>分解</a:t>
            </a:r>
            <a:r>
              <a:rPr lang="zh-CN" altLang="en-US" sz="2800" dirty="0">
                <a:ea typeface="宋体" panose="02010600030101010101" pitchFamily="2" charset="-122"/>
              </a:rPr>
              <a:t>的最终</a:t>
            </a:r>
            <a:r>
              <a:rPr lang="zh-CN" altLang="en-US" sz="2800" dirty="0" smtClean="0">
                <a:ea typeface="宋体" panose="02010600030101010101" pitchFamily="2" charset="-122"/>
              </a:rPr>
              <a:t>目的：</a:t>
            </a:r>
            <a:endParaRPr lang="en-US" altLang="zh-CN" sz="2800" dirty="0" smtClean="0">
              <a:ea typeface="宋体" panose="02010600030101010101" pitchFamily="2" charset="-122"/>
            </a:endParaRPr>
          </a:p>
          <a:p>
            <a:pPr marL="0" indent="0" eaLnBrk="1" hangingPunct="1">
              <a:spcBef>
                <a:spcPts val="0"/>
              </a:spcBef>
              <a:buNone/>
            </a:pPr>
            <a:r>
              <a:rPr lang="en-US" altLang="zh-CN" sz="2800" dirty="0">
                <a:ea typeface="宋体" panose="02010600030101010101" pitchFamily="2" charset="-122"/>
              </a:rPr>
              <a:t> </a:t>
            </a:r>
            <a:r>
              <a:rPr lang="en-US" altLang="zh-CN" sz="2800" dirty="0" smtClean="0">
                <a:ea typeface="宋体" panose="02010600030101010101" pitchFamily="2" charset="-122"/>
              </a:rPr>
              <a:t> </a:t>
            </a:r>
            <a:r>
              <a:rPr lang="zh-CN" altLang="en-US" sz="2800" dirty="0" smtClean="0">
                <a:ea typeface="宋体" panose="02010600030101010101" pitchFamily="2" charset="-122"/>
              </a:rPr>
              <a:t>使</a:t>
            </a:r>
            <a:r>
              <a:rPr lang="zh-CN" altLang="en-US" sz="2800" dirty="0">
                <a:ea typeface="宋体" panose="02010600030101010101" pitchFamily="2" charset="-122"/>
              </a:rPr>
              <a:t>每个规范化的关系只描述一个主题。</a:t>
            </a:r>
          </a:p>
          <a:p>
            <a:pPr marL="0" indent="0" eaLnBrk="1" hangingPunct="1">
              <a:buNone/>
            </a:pPr>
            <a:r>
              <a:rPr lang="zh-CN" altLang="en-US" sz="2800" dirty="0" smtClean="0">
                <a:ea typeface="宋体" panose="02010600030101010101" pitchFamily="2" charset="-122"/>
              </a:rPr>
              <a:t>  如果</a:t>
            </a:r>
            <a:r>
              <a:rPr lang="zh-CN" altLang="en-US" sz="2800" dirty="0">
                <a:ea typeface="宋体" panose="02010600030101010101" pitchFamily="2" charset="-122"/>
              </a:rPr>
              <a:t>某个关系描述了两个或多个主题，则它就应该被分解为多个</a:t>
            </a:r>
            <a:r>
              <a:rPr lang="zh-CN" altLang="en-US" sz="2800" dirty="0" smtClean="0">
                <a:ea typeface="宋体" panose="02010600030101010101" pitchFamily="2" charset="-122"/>
              </a:rPr>
              <a:t>关系</a:t>
            </a:r>
            <a:endParaRPr lang="en-US" altLang="zh-CN" sz="2800" dirty="0" smtClean="0">
              <a:ea typeface="宋体" panose="02010600030101010101" pitchFamily="2" charset="-122"/>
            </a:endParaRPr>
          </a:p>
          <a:p>
            <a:pPr>
              <a:spcBef>
                <a:spcPts val="1800"/>
              </a:spcBef>
            </a:pPr>
            <a:r>
              <a:rPr lang="zh-CN" altLang="en-US" sz="2800" dirty="0">
                <a:ea typeface="宋体" panose="02010600030101010101" pitchFamily="2" charset="-122"/>
              </a:rPr>
              <a:t>规范化的方法是进行模式分解，且确保分解后产生的模式与原模式等价</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642938" y="152400"/>
            <a:ext cx="7715250" cy="685800"/>
          </a:xfrm>
          <a:noFill/>
          <a:ln w="9525">
            <a:noFill/>
          </a:ln>
        </p:spPr>
        <p:txBody>
          <a:bodyPr vert="horz" wrap="square" lIns="91440" tIns="45720" rIns="91440" bIns="45720" rtlCol="0" anchor="ctr" anchorCtr="0">
            <a:normAutofit fontScale="90000"/>
          </a:bodyPr>
          <a:lstStyle/>
          <a:p>
            <a:pPr lvl="0" algn="ctr">
              <a:buClrTx/>
              <a:buSzTx/>
              <a:buFontTx/>
            </a:pPr>
            <a:r>
              <a:rPr lang="zh-CN" altLang="en-US" sz="4000" b="0" dirty="0">
                <a:latin typeface="黑体" panose="02010609060101010101" pitchFamily="2" charset="-122"/>
                <a:ea typeface="黑体" panose="02010609060101010101" pitchFamily="2" charset="-122"/>
                <a:cs typeface="黑体" panose="02010609060101010101" pitchFamily="2" charset="-122"/>
                <a:sym typeface="+mn-ea"/>
              </a:rPr>
              <a:t>小结</a:t>
            </a:r>
          </a:p>
        </p:txBody>
      </p:sp>
      <p:sp>
        <p:nvSpPr>
          <p:cNvPr id="68611" name="Rectangle 3"/>
          <p:cNvSpPr>
            <a:spLocks noGrp="1"/>
          </p:cNvSpPr>
          <p:nvPr>
            <p:ph idx="1"/>
          </p:nvPr>
        </p:nvSpPr>
        <p:spPr>
          <a:xfrm>
            <a:off x="755576" y="1196752"/>
            <a:ext cx="7941568" cy="4248472"/>
          </a:xfrm>
        </p:spPr>
        <p:txBody>
          <a:bodyPr vert="horz" wrap="square" lIns="91440" tIns="45720" rIns="91440" bIns="45720" anchor="t" anchorCtr="0"/>
          <a:lstStyle/>
          <a:p>
            <a:pPr>
              <a:spcBef>
                <a:spcPts val="1800"/>
              </a:spcBef>
            </a:pPr>
            <a:r>
              <a:rPr lang="zh-CN" altLang="en-US" sz="2800" dirty="0" smtClean="0">
                <a:ea typeface="宋体" panose="02010600030101010101" pitchFamily="2" charset="-122"/>
              </a:rPr>
              <a:t>规范化</a:t>
            </a:r>
            <a:r>
              <a:rPr lang="zh-CN" altLang="en-US" sz="2800" dirty="0">
                <a:ea typeface="宋体" panose="02010600030101010101" pitchFamily="2" charset="-122"/>
              </a:rPr>
              <a:t>的方法是进行模式分解，且确保分解后产生的模式与原模式</a:t>
            </a:r>
            <a:r>
              <a:rPr lang="zh-CN" altLang="en-US" sz="2800" dirty="0" smtClean="0">
                <a:ea typeface="宋体" panose="02010600030101010101" pitchFamily="2" charset="-122"/>
              </a:rPr>
              <a:t>等价。</a:t>
            </a:r>
            <a:endParaRPr lang="en-US" altLang="zh-CN" sz="2800" dirty="0" smtClean="0">
              <a:ea typeface="宋体" panose="02010600030101010101" pitchFamily="2" charset="-122"/>
            </a:endParaRPr>
          </a:p>
          <a:p>
            <a:pPr marL="0" indent="0">
              <a:spcBef>
                <a:spcPts val="1800"/>
              </a:spcBef>
              <a:buNone/>
            </a:pPr>
            <a:r>
              <a:rPr lang="en-US" altLang="zh-CN" sz="2800" dirty="0">
                <a:ea typeface="宋体" panose="02010600030101010101" pitchFamily="2" charset="-122"/>
              </a:rPr>
              <a:t> </a:t>
            </a:r>
            <a:r>
              <a:rPr lang="en-US" altLang="zh-CN" sz="2800" dirty="0" smtClean="0">
                <a:ea typeface="宋体" panose="02010600030101010101" pitchFamily="2" charset="-122"/>
              </a:rPr>
              <a:t>  1</a:t>
            </a:r>
            <a:r>
              <a:rPr lang="zh-CN" altLang="en-US" sz="2800" dirty="0" smtClean="0">
                <a:ea typeface="宋体" panose="02010600030101010101" pitchFamily="2" charset="-122"/>
              </a:rPr>
              <a:t>、无损连接性</a:t>
            </a:r>
            <a:endParaRPr lang="en-US" altLang="zh-CN" sz="2800" dirty="0" smtClean="0">
              <a:ea typeface="宋体" panose="02010600030101010101" pitchFamily="2" charset="-122"/>
            </a:endParaRPr>
          </a:p>
          <a:p>
            <a:pPr marL="0" indent="0">
              <a:spcBef>
                <a:spcPts val="600"/>
              </a:spcBef>
              <a:buNone/>
            </a:pPr>
            <a:r>
              <a:rPr lang="en-US" altLang="zh-CN" sz="2800" dirty="0">
                <a:ea typeface="宋体" panose="02010600030101010101" pitchFamily="2" charset="-122"/>
              </a:rPr>
              <a:t> </a:t>
            </a:r>
            <a:r>
              <a:rPr lang="en-US" altLang="zh-CN" sz="2800" dirty="0" smtClean="0">
                <a:ea typeface="宋体" panose="02010600030101010101" pitchFamily="2" charset="-122"/>
              </a:rPr>
              <a:t>  2</a:t>
            </a:r>
            <a:r>
              <a:rPr lang="zh-CN" altLang="en-US" sz="2800" dirty="0" smtClean="0">
                <a:ea typeface="宋体" panose="02010600030101010101" pitchFamily="2" charset="-122"/>
              </a:rPr>
              <a:t>、保持原有的函数依赖关系</a:t>
            </a:r>
            <a:endParaRPr lang="en-US" altLang="zh-CN" sz="2800" dirty="0" smtClean="0">
              <a:ea typeface="宋体" panose="02010600030101010101" pitchFamily="2" charset="-122"/>
            </a:endParaRPr>
          </a:p>
          <a:p>
            <a:pPr>
              <a:spcBef>
                <a:spcPts val="3000"/>
              </a:spcBef>
            </a:pPr>
            <a:r>
              <a:rPr lang="zh-CN" altLang="en-US" sz="2800" dirty="0" smtClean="0">
                <a:ea typeface="宋体" panose="02010600030101010101" pitchFamily="2" charset="-122"/>
              </a:rPr>
              <a:t>对于一般的数据库应用来说，涉及到三范式就足够了。因为范式程度越高，表的个数就越多，相应的就有可能降低数据的操作效率。</a:t>
            </a:r>
            <a:endParaRPr lang="zh-CN" altLang="en-US" sz="28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p:cNvSpPr>
          <p:nvPr>
            <p:ph type="title"/>
          </p:nvPr>
        </p:nvSpPr>
        <p:spPr>
          <a:xfrm>
            <a:off x="500062" y="152400"/>
            <a:ext cx="8322245" cy="685800"/>
          </a:xfrm>
          <a:noFill/>
          <a:ln w="9525">
            <a:noFill/>
          </a:ln>
        </p:spPr>
        <p:txBody>
          <a:bodyPr vert="horz" wrap="square" lIns="91440" tIns="45720" rIns="91440" bIns="45720" rtlCol="0" anchor="ctr" anchorCtr="0">
            <a:noAutofit/>
          </a:bodyPr>
          <a:lstStyle/>
          <a:p>
            <a:pPr algn="l"/>
            <a:r>
              <a:rPr lang="zh-CN" altLang="en-US" sz="4000" dirty="0" smtClean="0">
                <a:sym typeface="+mn-ea"/>
              </a:rPr>
              <a:t> 习题</a:t>
            </a:r>
            <a:r>
              <a:rPr lang="zh-CN" altLang="en-US" sz="4000" dirty="0">
                <a:sym typeface="+mn-ea"/>
              </a:rPr>
              <a:t>重</a:t>
            </a:r>
            <a:r>
              <a:rPr lang="zh-CN" altLang="en-US" sz="4000" dirty="0" smtClean="0">
                <a:sym typeface="+mn-ea"/>
              </a:rPr>
              <a:t>难点（</a:t>
            </a:r>
            <a:r>
              <a:rPr lang="zh-CN" altLang="en-US" sz="4000" dirty="0">
                <a:solidFill>
                  <a:srgbClr val="0000FF"/>
                </a:solidFill>
                <a:latin typeface="Times New Roman" panose="02020603050405020304" pitchFamily="18" charset="0"/>
                <a:cs typeface="Times New Roman" panose="02020603050405020304" pitchFamily="18" charset="0"/>
              </a:rPr>
              <a:t>教材 </a:t>
            </a:r>
            <a:r>
              <a:rPr lang="en-US" altLang="zh-CN" sz="4000" dirty="0" smtClean="0">
                <a:solidFill>
                  <a:srgbClr val="0000FF"/>
                </a:solidFill>
                <a:latin typeface="Times New Roman" panose="02020603050405020304" pitchFamily="18" charset="0"/>
                <a:cs typeface="Times New Roman" panose="02020603050405020304" pitchFamily="18" charset="0"/>
              </a:rPr>
              <a:t>P163-166</a:t>
            </a:r>
            <a:r>
              <a:rPr lang="zh-CN" altLang="en-US" sz="4000" dirty="0" smtClean="0">
                <a:sym typeface="+mn-ea"/>
              </a:rPr>
              <a:t>）</a:t>
            </a:r>
            <a:endParaRPr lang="en-US" altLang="zh-CN" sz="4000" dirty="0">
              <a:sym typeface="+mn-ea"/>
            </a:endParaRPr>
          </a:p>
        </p:txBody>
      </p:sp>
      <p:sp>
        <p:nvSpPr>
          <p:cNvPr id="4" name="Rectangle 3"/>
          <p:cNvSpPr txBox="1"/>
          <p:nvPr/>
        </p:nvSpPr>
        <p:spPr>
          <a:xfrm>
            <a:off x="253356" y="950274"/>
            <a:ext cx="8568952" cy="5791094"/>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buFont typeface="Wingdings" panose="05000000000000000000" pitchFamily="2" charset="2"/>
              <a:buNone/>
            </a:pPr>
            <a:r>
              <a:rPr lang="zh-CN" altLang="en-US" sz="22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一、选择题</a:t>
            </a:r>
            <a:endParaRPr lang="en-US" altLang="zh-CN" sz="22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600"/>
              </a:spcBef>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9</a:t>
            </a:r>
            <a:r>
              <a:rPr lang="zh-CN" altLang="zh-CN" sz="22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有关系模式：学生（学号，姓名，所在系，系主任），设一个系只有一个系主任，则该关系模式至少</a:t>
            </a:r>
            <a:r>
              <a:rPr lang="zh-CN" altLang="zh-CN" sz="2200" dirty="0" smtClean="0">
                <a:latin typeface="Times New Roman" panose="02020603050405020304" pitchFamily="18" charset="0"/>
                <a:ea typeface="宋体" panose="02010600030101010101" pitchFamily="2" charset="-122"/>
                <a:cs typeface="Times New Roman" panose="02020603050405020304" pitchFamily="18" charset="0"/>
              </a:rPr>
              <a:t>属于</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．第一范式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B</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．第二范式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C</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．第三范式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D</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BC</a:t>
            </a:r>
            <a:r>
              <a:rPr lang="zh-CN" altLang="zh-CN" sz="2200" dirty="0" smtClean="0">
                <a:latin typeface="Times New Roman" panose="02020603050405020304" pitchFamily="18" charset="0"/>
                <a:ea typeface="宋体" panose="02010600030101010101" pitchFamily="2" charset="-122"/>
                <a:cs typeface="Times New Roman" panose="02020603050405020304" pitchFamily="18" charset="0"/>
              </a:rPr>
              <a:t>范式</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spcBef>
                <a:spcPts val="1800"/>
              </a:spcBef>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．设有关系模式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R(X, Y, Z)</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，其</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F={Y</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Z, Y</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 X</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YZ}</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，则该关系模式至少</a:t>
            </a:r>
            <a:r>
              <a:rPr lang="zh-CN" altLang="zh-CN" sz="2200" dirty="0" smtClean="0">
                <a:latin typeface="Times New Roman" panose="02020603050405020304" pitchFamily="18" charset="0"/>
                <a:ea typeface="宋体" panose="02010600030101010101" pitchFamily="2" charset="-122"/>
                <a:cs typeface="Times New Roman" panose="02020603050405020304" pitchFamily="18" charset="0"/>
              </a:rPr>
              <a:t>属于</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200" dirty="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．第一范式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．第二范式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C</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．第三范式</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D</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BC</a:t>
            </a:r>
            <a:r>
              <a:rPr lang="zh-CN" altLang="zh-CN" sz="2200" dirty="0" smtClean="0">
                <a:latin typeface="Times New Roman" panose="02020603050405020304" pitchFamily="18" charset="0"/>
                <a:ea typeface="宋体" panose="02010600030101010101" pitchFamily="2" charset="-122"/>
                <a:cs typeface="Times New Roman" panose="02020603050405020304" pitchFamily="18" charset="0"/>
              </a:rPr>
              <a:t>范式</a:t>
            </a:r>
            <a:endPar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X</a:t>
            </a:r>
            <a:r>
              <a:rPr lang="en-US" altLang="zh-CN" sz="22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=XYZ  Y</a:t>
            </a:r>
            <a:r>
              <a:rPr lang="en-US" altLang="zh-CN" sz="2200" baseline="30000" dirty="0" smtClean="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=XYZ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候选</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码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有</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个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X,Y</a:t>
            </a:r>
          </a:p>
          <a:p>
            <a:pPr marL="0" indent="0">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候选码</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非主属性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X</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 </a:t>
            </a:r>
          </a:p>
          <a:p>
            <a:pPr marL="0" indent="0">
              <a:buNone/>
            </a:pP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a:t>
            </a:r>
          </a:p>
          <a:p>
            <a:pPr marL="0" indent="0">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所有函数依赖 决定因子都是码   </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Z, Y</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X, X</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YZ   </a:t>
            </a:r>
            <a:r>
              <a:rPr lang="en-US" altLang="zh-CN" sz="2200" dirty="0" smtClean="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BCNF</a:t>
            </a:r>
          </a:p>
          <a:p>
            <a:pPr>
              <a:spcBef>
                <a:spcPts val="600"/>
              </a:spcBef>
              <a:buNone/>
            </a:pPr>
            <a:r>
              <a:rPr lang="zh-CN" altLang="en-US" sz="22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二</a:t>
            </a:r>
            <a:r>
              <a:rPr lang="zh-CN" altLang="en-US" sz="22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、填空题</a:t>
            </a:r>
            <a:endParaRPr lang="zh-CN" altLang="zh-CN" sz="22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7</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、在关系模式</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rPr>
              <a:t>R</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rPr>
              <a:t>中，若有</a:t>
            </a:r>
            <a:r>
              <a:rPr lang="en-US" altLang="zh-CN" sz="2200" dirty="0" err="1" smtClean="0">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，且</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z</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是</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y</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的子集，则</a:t>
            </a:r>
            <a:r>
              <a:rPr lang="en-US" altLang="zh-CN" sz="2200" dirty="0" err="1"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xz</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也成立，该推理规则为</a:t>
            </a:r>
            <a:r>
              <a:rPr lang="en-US" altLang="zh-CN"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Armstrong</a:t>
            </a:r>
            <a:r>
              <a:rPr lang="zh-CN" altLang="en-US" sz="2200"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公理系统中的</a:t>
            </a:r>
            <a:r>
              <a:rPr lang="zh-CN" altLang="en-US" sz="2200" u="sng"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endParaRPr lang="en-US" altLang="zh-CN" sz="22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3"/>
          <p:cNvSpPr txBox="1"/>
          <p:nvPr/>
        </p:nvSpPr>
        <p:spPr>
          <a:xfrm>
            <a:off x="5652876" y="1610798"/>
            <a:ext cx="504056" cy="540060"/>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buFont typeface="Wingdings" panose="05000000000000000000" pitchFamily="2" charset="2"/>
              <a:buNone/>
            </a:pPr>
            <a:r>
              <a:rPr lang="en-US"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B</a:t>
            </a:r>
          </a:p>
        </p:txBody>
      </p:sp>
      <p:sp>
        <p:nvSpPr>
          <p:cNvPr id="8" name="Rectangle 3"/>
          <p:cNvSpPr txBox="1"/>
          <p:nvPr/>
        </p:nvSpPr>
        <p:spPr>
          <a:xfrm>
            <a:off x="2555776" y="2924944"/>
            <a:ext cx="504056" cy="688026"/>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tx1"/>
              </a:buClr>
              <a:buFont typeface="Wingdings" panose="05000000000000000000" pitchFamily="2" charset="2"/>
              <a:buChar char="v"/>
              <a:defRPr sz="3400" b="1">
                <a:solidFill>
                  <a:schemeClr val="tx2"/>
                </a:solidFill>
                <a:latin typeface="仿宋_GB2312" panose="02010600030101010101" pitchFamily="49" charset="-122"/>
                <a:ea typeface="仿宋_GB2312" panose="02010600030101010101" pitchFamily="49" charset="-122"/>
                <a:cs typeface="+mn-cs"/>
              </a:defRPr>
            </a:lvl1pPr>
            <a:lvl2pPr marL="742950" indent="-285750" algn="l" rtl="0" fontAlgn="base">
              <a:spcBef>
                <a:spcPct val="20000"/>
              </a:spcBef>
              <a:spcAft>
                <a:spcPct val="0"/>
              </a:spcAft>
              <a:buClr>
                <a:schemeClr val="tx2"/>
              </a:buClr>
              <a:buFont typeface="Wingdings" panose="05000000000000000000" pitchFamily="2" charset="2"/>
              <a:buChar char="§"/>
              <a:defRPr sz="3200" b="1">
                <a:solidFill>
                  <a:schemeClr val="tx2"/>
                </a:solidFill>
                <a:latin typeface="仿宋_GB2312" panose="02010600030101010101" pitchFamily="49" charset="-122"/>
                <a:ea typeface="仿宋_GB2312" panose="02010600030101010101" pitchFamily="49" charset="-122"/>
              </a:defRPr>
            </a:lvl2pPr>
            <a:lvl3pPr marL="1143000" indent="-228600" algn="l" rtl="0" fontAlgn="base">
              <a:spcBef>
                <a:spcPct val="20000"/>
              </a:spcBef>
              <a:spcAft>
                <a:spcPct val="0"/>
              </a:spcAft>
              <a:buClr>
                <a:schemeClr val="hlink"/>
              </a:buClr>
              <a:buChar char="•"/>
              <a:defRPr sz="2800" b="1">
                <a:solidFill>
                  <a:schemeClr val="tx2"/>
                </a:solidFill>
                <a:latin typeface="仿宋_GB2312" panose="02010600030101010101" pitchFamily="49" charset="-122"/>
                <a:ea typeface="仿宋_GB2312" panose="02010600030101010101" pitchFamily="49" charset="-122"/>
              </a:defRPr>
            </a:lvl3pPr>
            <a:lvl4pPr marL="1600200" indent="-228600" algn="l" rtl="0" fontAlgn="base">
              <a:spcBef>
                <a:spcPct val="20000"/>
              </a:spcBef>
              <a:spcAft>
                <a:spcPct val="0"/>
              </a:spcAft>
              <a:buChar char="–"/>
              <a:defRPr sz="2000">
                <a:solidFill>
                  <a:schemeClr val="tx2"/>
                </a:solidFill>
                <a:latin typeface="Arial" panose="020B0604020202020204" pitchFamily="34" charset="0"/>
              </a:defRPr>
            </a:lvl4pPr>
            <a:lvl5pPr marL="2057400" indent="-228600" algn="l" rtl="0" fontAlgn="base">
              <a:spcBef>
                <a:spcPct val="20000"/>
              </a:spcBef>
              <a:spcAft>
                <a:spcPct val="0"/>
              </a:spcAft>
              <a:buChar char="»"/>
              <a:defRPr sz="2000">
                <a:solidFill>
                  <a:schemeClr val="tx2"/>
                </a:solidFill>
                <a:latin typeface="Arial" panose="020B0604020202020204" pitchFamily="34" charset="0"/>
              </a:defRPr>
            </a:lvl5pPr>
            <a:lvl6pPr marL="2514600" indent="-228600" algn="l" rtl="0" fontAlgn="base">
              <a:spcBef>
                <a:spcPct val="20000"/>
              </a:spcBef>
              <a:spcAft>
                <a:spcPct val="0"/>
              </a:spcAft>
              <a:buChar char="»"/>
              <a:defRPr sz="2000">
                <a:solidFill>
                  <a:schemeClr val="tx2"/>
                </a:solidFill>
                <a:latin typeface="Arial" panose="020B0604020202020204" pitchFamily="34" charset="0"/>
              </a:defRPr>
            </a:lvl6pPr>
            <a:lvl7pPr marL="2971800" indent="-228600" algn="l" rtl="0" fontAlgn="base">
              <a:spcBef>
                <a:spcPct val="20000"/>
              </a:spcBef>
              <a:spcAft>
                <a:spcPct val="0"/>
              </a:spcAft>
              <a:buChar char="»"/>
              <a:defRPr sz="2000">
                <a:solidFill>
                  <a:schemeClr val="tx2"/>
                </a:solidFill>
                <a:latin typeface="Arial" panose="020B0604020202020204" pitchFamily="34" charset="0"/>
              </a:defRPr>
            </a:lvl7pPr>
            <a:lvl8pPr marL="3429000" indent="-228600" algn="l" rtl="0" fontAlgn="base">
              <a:spcBef>
                <a:spcPct val="20000"/>
              </a:spcBef>
              <a:spcAft>
                <a:spcPct val="0"/>
              </a:spcAft>
              <a:buChar char="»"/>
              <a:defRPr sz="2000">
                <a:solidFill>
                  <a:schemeClr val="tx2"/>
                </a:solidFill>
                <a:latin typeface="Arial" panose="020B0604020202020204" pitchFamily="34" charset="0"/>
              </a:defRPr>
            </a:lvl8pPr>
            <a:lvl9pPr marL="3886200" indent="-228600" algn="l" rtl="0" fontAlgn="base">
              <a:spcBef>
                <a:spcPct val="20000"/>
              </a:spcBef>
              <a:spcAft>
                <a:spcPct val="0"/>
              </a:spcAft>
              <a:buChar char="»"/>
              <a:defRPr sz="2000">
                <a:solidFill>
                  <a:schemeClr val="tx2"/>
                </a:solidFill>
                <a:latin typeface="Arial" panose="020B0604020202020204" pitchFamily="34" charset="0"/>
              </a:defRPr>
            </a:lvl9pPr>
          </a:lstStyle>
          <a:p>
            <a:pPr>
              <a:buFont typeface="Wingdings" panose="05000000000000000000" pitchFamily="2" charset="2"/>
              <a:buNone/>
            </a:pPr>
            <a:r>
              <a:rPr lang="en-US" altLang="zh-CN" sz="2800"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D</a:t>
            </a:r>
          </a:p>
        </p:txBody>
      </p:sp>
      <p:sp>
        <p:nvSpPr>
          <p:cNvPr id="2" name="矩形 1"/>
          <p:cNvSpPr/>
          <p:nvPr/>
        </p:nvSpPr>
        <p:spPr>
          <a:xfrm>
            <a:off x="5004048" y="6068674"/>
            <a:ext cx="1502564" cy="461665"/>
          </a:xfrm>
          <a:prstGeom prst="rect">
            <a:avLst/>
          </a:prstGeom>
        </p:spPr>
        <p:txBody>
          <a:bodyPr wrap="square">
            <a:spAutoFit/>
          </a:bodyPr>
          <a:lstStyle/>
          <a:p>
            <a:r>
              <a:rPr lang="zh-CN" altLang="en-US" sz="2400" b="1"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分解规则</a:t>
            </a:r>
            <a:endParaRPr lang="en-US" altLang="zh-CN" sz="2400" b="1" u="sng" dirty="0">
              <a:solidFill>
                <a:srgbClr val="0000CC"/>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p:txBody>
      </p:sp>
      <p:cxnSp>
        <p:nvCxnSpPr>
          <p:cNvPr id="9" name="直接连接符 8"/>
          <p:cNvCxnSpPr>
            <a:endCxn id="4" idx="3"/>
          </p:cNvCxnSpPr>
          <p:nvPr/>
        </p:nvCxnSpPr>
        <p:spPr bwMode="auto">
          <a:xfrm>
            <a:off x="467544" y="3845821"/>
            <a:ext cx="8354764" cy="0"/>
          </a:xfrm>
          <a:prstGeom prst="line">
            <a:avLst/>
          </a:prstGeom>
          <a:solidFill>
            <a:schemeClr val="accent1"/>
          </a:solidFill>
          <a:ln w="38100" cap="flat" cmpd="sng" algn="ctr">
            <a:solidFill>
              <a:srgbClr val="0000CC"/>
            </a:solidFill>
            <a:prstDash val="solid"/>
            <a:round/>
            <a:headEnd type="none" w="med" len="med"/>
            <a:tailEnd type="none" w="med" len="med"/>
          </a:ln>
        </p:spPr>
      </p:cxnSp>
      <p:sp>
        <p:nvSpPr>
          <p:cNvPr id="3" name="文本框 2"/>
          <p:cNvSpPr txBox="1"/>
          <p:nvPr/>
        </p:nvSpPr>
        <p:spPr>
          <a:xfrm>
            <a:off x="3924300" y="4221480"/>
            <a:ext cx="4543425" cy="429895"/>
          </a:xfrm>
          <a:prstGeom prst="rect">
            <a:avLst/>
          </a:prstGeom>
          <a:noFill/>
        </p:spPr>
        <p:txBody>
          <a:bodyPr wrap="none" rtlCol="0" anchor="t">
            <a:spAutoFit/>
          </a:bodyPr>
          <a:lstStyle/>
          <a:p>
            <a:pPr marL="0" indent="0">
              <a:buNone/>
            </a:pPr>
            <a:r>
              <a:rPr lang="en-US" altLang="zh-CN" sz="2200" b="1"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 (</a:t>
            </a:r>
            <a:r>
              <a:rPr lang="en-US" altLang="zh-CN" sz="22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XY YZ  </a:t>
            </a:r>
            <a:r>
              <a:rPr lang="zh-CN" altLang="en-US" sz="22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能否得出传递依赖？</a:t>
            </a:r>
            <a:r>
              <a:rPr lang="en-US" altLang="zh-CN" sz="2200" b="1" dirty="0" smtClean="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endParaRPr lang="zh-CN" altLang="en-US" sz="2200" b="1"/>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randombar(horizontal)">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randombar(horizontal)">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 grpId="0"/>
      <p:bldP spid="3" grpId="0"/>
      <p:bldP spid="3"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Rectangle 3"/>
          <p:cNvSpPr>
            <a:spLocks noGrp="1"/>
          </p:cNvSpPr>
          <p:nvPr>
            <p:ph idx="1"/>
          </p:nvPr>
        </p:nvSpPr>
        <p:spPr>
          <a:xfrm>
            <a:off x="539552" y="2060848"/>
            <a:ext cx="7560840" cy="2448272"/>
          </a:xfrm>
        </p:spPr>
        <p:txBody>
          <a:bodyPr vert="horz" wrap="square" lIns="91440" tIns="45720" rIns="91440" bIns="45720" anchor="t" anchorCtr="0"/>
          <a:lstStyle/>
          <a:p>
            <a:pPr algn="ctr" eaLnBrk="1" hangingPunct="1">
              <a:buNone/>
            </a:pPr>
            <a:r>
              <a:rPr lang="zh-CN" altLang="en-US"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教材 </a:t>
            </a:r>
            <a:r>
              <a:rPr lang="en-US" altLang="zh-CN"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P165-166</a:t>
            </a:r>
          </a:p>
          <a:p>
            <a:pPr algn="ctr" eaLnBrk="1" hangingPunct="1">
              <a:spcBef>
                <a:spcPts val="2400"/>
              </a:spcBef>
              <a:buFont typeface="Wingdings" panose="05000000000000000000" pitchFamily="2" charset="2"/>
              <a:buNone/>
            </a:pPr>
            <a:r>
              <a:rPr lang="zh-CN" altLang="en-US"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四、设计题（</a:t>
            </a:r>
            <a:r>
              <a:rPr lang="en-US" altLang="zh-CN"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4800" b="1" dirty="0" smtClean="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Rectangle 2"/>
          <p:cNvSpPr>
            <a:spLocks noGrp="1"/>
          </p:cNvSpPr>
          <p:nvPr>
            <p:ph type="title"/>
          </p:nvPr>
        </p:nvSpPr>
        <p:spPr>
          <a:xfrm>
            <a:off x="500063" y="152400"/>
            <a:ext cx="8001000" cy="685800"/>
          </a:xfrm>
          <a:noFill/>
          <a:ln w="9525">
            <a:noFill/>
          </a:ln>
        </p:spPr>
        <p:txBody>
          <a:bodyPr vert="horz" wrap="square" lIns="91440" tIns="45720" rIns="91440" bIns="45720" rtlCol="0" anchor="ctr" anchorCtr="0">
            <a:noAutofit/>
          </a:bodyPr>
          <a:lstStyle/>
          <a:p>
            <a:pPr eaLnBrk="1" hangingPunct="1"/>
            <a:r>
              <a:rPr lang="zh-CN" altLang="en-US" sz="4400" b="1" dirty="0" smtClean="0">
                <a:cs typeface="等线" panose="02010600030101010101" charset="-122"/>
              </a:rPr>
              <a:t>重点作业</a:t>
            </a:r>
            <a:endParaRPr lang="en-US" altLang="zh-CN" sz="4400" b="1" dirty="0">
              <a:cs typeface="等线" panose="02010600030101010101" charset="-122"/>
            </a:endParaRPr>
          </a:p>
        </p:txBody>
      </p:sp>
      <p:pic>
        <p:nvPicPr>
          <p:cNvPr id="7" name="Picture 207" descr="9"/>
          <p:cNvPicPr>
            <a:picLocks noChangeAspect="1" noChangeArrowheads="1" noCrop="1"/>
          </p:cNvPicPr>
          <p:nvPr/>
        </p:nvPicPr>
        <p:blipFill>
          <a:blip r:embed="rId2"/>
          <a:srcRect/>
          <a:stretch>
            <a:fillRect/>
          </a:stretch>
        </p:blipFill>
        <p:spPr bwMode="auto">
          <a:xfrm>
            <a:off x="971600" y="1916832"/>
            <a:ext cx="1234423"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e0c1e184-4fd3-4f24-8699-dbc000f38f5b"/>
  <p:tag name="COMMONDATA" val="eyJoZGlkIjoiMjY2ZWE5MmFjYjg3OGIzNmEwMTI1MzUyZmM5NjM3NTA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5901a4f-c324-41b4-87f6-ae1bba5aaaf6}"/>
</p:tagLst>
</file>

<file path=ppt/theme/theme1.xml><?xml version="1.0" encoding="utf-8"?>
<a:theme xmlns:a="http://schemas.openxmlformats.org/drawingml/2006/main" name="275TGp_biz_light">
  <a:themeElements>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fontScheme name="275TGp_biz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3600" b="0" i="0" u="none" strike="noStrike" cap="none" normalizeH="0" baseline="0" smtClean="0">
            <a:ln>
              <a:noFill/>
            </a:ln>
            <a:solidFill>
              <a:schemeClr val="tx1"/>
            </a:solidFill>
            <a:effectLst/>
            <a:latin typeface="Arial" panose="020B0604020202020204" pitchFamily="34" charset="0"/>
            <a:ea typeface="Gulim" panose="020B0600000101010101"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ko-KR" altLang="en-US" sz="3600" b="0" i="0" u="none" strike="noStrike" cap="none" normalizeH="0" baseline="0" smtClean="0">
            <a:ln>
              <a:noFill/>
            </a:ln>
            <a:solidFill>
              <a:schemeClr val="tx1"/>
            </a:solidFill>
            <a:effectLst/>
            <a:latin typeface="Arial" panose="020B0604020202020204" pitchFamily="34" charset="0"/>
            <a:ea typeface="Gulim" panose="020B0600000101010101" pitchFamily="34" charset="-127"/>
          </a:defRPr>
        </a:defPPr>
      </a:lstStyle>
    </a:lnDef>
  </a:objectDefaults>
  <a:extraClrSchemeLst>
    <a:extraClrScheme>
      <a:clrScheme name="275TGp_biz_light 1">
        <a:dk1>
          <a:srgbClr val="2A4C41"/>
        </a:dk1>
        <a:lt1>
          <a:srgbClr val="FFFFFF"/>
        </a:lt1>
        <a:dk2>
          <a:srgbClr val="000000"/>
        </a:dk2>
        <a:lt2>
          <a:srgbClr val="DDDDDD"/>
        </a:lt2>
        <a:accent1>
          <a:srgbClr val="1D518D"/>
        </a:accent1>
        <a:accent2>
          <a:srgbClr val="0099CB"/>
        </a:accent2>
        <a:accent3>
          <a:srgbClr val="FFFFFF"/>
        </a:accent3>
        <a:accent4>
          <a:srgbClr val="224036"/>
        </a:accent4>
        <a:accent5>
          <a:srgbClr val="ABB3C5"/>
        </a:accent5>
        <a:accent6>
          <a:srgbClr val="008AB8"/>
        </a:accent6>
        <a:hlink>
          <a:srgbClr val="00CCFF"/>
        </a:hlink>
        <a:folHlink>
          <a:srgbClr val="749BD4"/>
        </a:folHlink>
      </a:clrScheme>
      <a:clrMap bg1="lt1" tx1="dk1" bg2="lt2" tx2="dk2" accent1="accent1" accent2="accent2" accent3="accent3" accent4="accent4" accent5="accent5" accent6="accent6" hlink="hlink" folHlink="folHlink"/>
    </a:extraClrScheme>
    <a:extraClrScheme>
      <a:clrScheme name="275TGp_biz_light 2">
        <a:dk1>
          <a:srgbClr val="2A4C41"/>
        </a:dk1>
        <a:lt1>
          <a:srgbClr val="FFFFFF"/>
        </a:lt1>
        <a:dk2>
          <a:srgbClr val="000000"/>
        </a:dk2>
        <a:lt2>
          <a:srgbClr val="DDDDDD"/>
        </a:lt2>
        <a:accent1>
          <a:srgbClr val="7E784E"/>
        </a:accent1>
        <a:accent2>
          <a:srgbClr val="989780"/>
        </a:accent2>
        <a:accent3>
          <a:srgbClr val="FFFFFF"/>
        </a:accent3>
        <a:accent4>
          <a:srgbClr val="224036"/>
        </a:accent4>
        <a:accent5>
          <a:srgbClr val="C0BEB2"/>
        </a:accent5>
        <a:accent6>
          <a:srgbClr val="898873"/>
        </a:accent6>
        <a:hlink>
          <a:srgbClr val="BEBA9C"/>
        </a:hlink>
        <a:folHlink>
          <a:srgbClr val="94A1B4"/>
        </a:folHlink>
      </a:clrScheme>
      <a:clrMap bg1="lt1" tx1="dk1" bg2="lt2" tx2="dk2" accent1="accent1" accent2="accent2" accent3="accent3" accent4="accent4" accent5="accent5" accent6="accent6" hlink="hlink" folHlink="folHlink"/>
    </a:extraClrScheme>
    <a:extraClrScheme>
      <a:clrScheme name="275TGp_biz_light 3">
        <a:dk1>
          <a:srgbClr val="2A4C41"/>
        </a:dk1>
        <a:lt1>
          <a:srgbClr val="FFFFFF"/>
        </a:lt1>
        <a:dk2>
          <a:srgbClr val="000000"/>
        </a:dk2>
        <a:lt2>
          <a:srgbClr val="DDDDDD"/>
        </a:lt2>
        <a:accent1>
          <a:srgbClr val="285F6A"/>
        </a:accent1>
        <a:accent2>
          <a:srgbClr val="419DAF"/>
        </a:accent2>
        <a:accent3>
          <a:srgbClr val="FFFFFF"/>
        </a:accent3>
        <a:accent4>
          <a:srgbClr val="224036"/>
        </a:accent4>
        <a:accent5>
          <a:srgbClr val="ACB6B9"/>
        </a:accent5>
        <a:accent6>
          <a:srgbClr val="3A8E9E"/>
        </a:accent6>
        <a:hlink>
          <a:srgbClr val="34C1D0"/>
        </a:hlink>
        <a:folHlink>
          <a:srgbClr val="749BD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7010</Words>
  <Application>Microsoft Office PowerPoint</Application>
  <PresentationFormat>全屏显示(4:3)</PresentationFormat>
  <Paragraphs>637</Paragraphs>
  <Slides>68</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68</vt:i4>
      </vt:variant>
    </vt:vector>
  </HeadingPairs>
  <TitlesOfParts>
    <vt:vector size="83" baseType="lpstr">
      <vt:lpstr>Arial</vt:lpstr>
      <vt:lpstr>宋体</vt:lpstr>
      <vt:lpstr>华文隶书</vt:lpstr>
      <vt:lpstr>仿宋_GB2312</vt:lpstr>
      <vt:lpstr>等线</vt:lpstr>
      <vt:lpstr>Gulim</vt:lpstr>
      <vt:lpstr>Verdana</vt:lpstr>
      <vt:lpstr>Symbol</vt:lpstr>
      <vt:lpstr>黑体</vt:lpstr>
      <vt:lpstr>Wingdings</vt:lpstr>
      <vt:lpstr>楷体_GB2312</vt:lpstr>
      <vt:lpstr>Times New Roman</vt:lpstr>
      <vt:lpstr>275TGp_biz_light</vt:lpstr>
      <vt:lpstr>Visio.Drawing.11</vt:lpstr>
      <vt:lpstr>公式</vt:lpstr>
      <vt:lpstr>数据库原理及应用 （第3版）</vt:lpstr>
      <vt:lpstr>第6章 关系数据库理论</vt:lpstr>
      <vt:lpstr>数据库设计</vt:lpstr>
      <vt:lpstr>关系数据库规范化理论</vt:lpstr>
      <vt:lpstr>6.1 函数依赖</vt:lpstr>
      <vt:lpstr>6.1.1 基本概念 </vt:lpstr>
      <vt:lpstr>示例</vt:lpstr>
      <vt:lpstr>6.1.2 一些术语和符号</vt:lpstr>
      <vt:lpstr>术语和符号（续）</vt:lpstr>
      <vt:lpstr>示例（完全函数依赖、部分函数依赖）</vt:lpstr>
      <vt:lpstr>示例（直接函数依赖、传递函数依赖）</vt:lpstr>
      <vt:lpstr>6.1.3 函数依赖的推理规则</vt:lpstr>
      <vt:lpstr>Armstrong公理及推论</vt:lpstr>
      <vt:lpstr>推导合并律</vt:lpstr>
      <vt:lpstr>Armstrong  F +</vt:lpstr>
      <vt:lpstr>6.1.4 属性集闭包及候选码的求解方法</vt:lpstr>
      <vt:lpstr>1. 属性集闭包</vt:lpstr>
      <vt:lpstr>求属性集闭包X+的算法</vt:lpstr>
      <vt:lpstr>示例6.3（1）</vt:lpstr>
      <vt:lpstr>示例6.3（2）</vt:lpstr>
      <vt:lpstr>示例6.4</vt:lpstr>
      <vt:lpstr>示例6.4（换一种表达）</vt:lpstr>
      <vt:lpstr>Armstrong  F +</vt:lpstr>
      <vt:lpstr>2. 候选码的求解方法</vt:lpstr>
      <vt:lpstr>候选码的求解方法(续)</vt:lpstr>
      <vt:lpstr>【示例6.5】</vt:lpstr>
      <vt:lpstr>【示例6.6】</vt:lpstr>
      <vt:lpstr>【示例6.7】</vt:lpstr>
      <vt:lpstr>示例6.7（强行修改1）</vt:lpstr>
      <vt:lpstr>示例6.7（强行修改2）</vt:lpstr>
      <vt:lpstr>【示例6.8】</vt:lpstr>
      <vt:lpstr>求候选码小结</vt:lpstr>
      <vt:lpstr>6.1.5 极小函数依赖集</vt:lpstr>
      <vt:lpstr>计算极小函数依赖集的算法</vt:lpstr>
      <vt:lpstr>示例</vt:lpstr>
      <vt:lpstr>示例</vt:lpstr>
      <vt:lpstr>例6.8（续）</vt:lpstr>
      <vt:lpstr>【例6.11】</vt:lpstr>
      <vt:lpstr>【例6.11】 （续1）</vt:lpstr>
      <vt:lpstr>【例6.11】 （续2）</vt:lpstr>
      <vt:lpstr>【例6.11】 （续3）</vt:lpstr>
      <vt:lpstr>求候选码（小结）</vt:lpstr>
      <vt:lpstr>极小函数依赖集（小结）</vt:lpstr>
      <vt:lpstr>6.1.6 为什么要讨论函数依赖？</vt:lpstr>
      <vt:lpstr>存在问题</vt:lpstr>
      <vt:lpstr>结论</vt:lpstr>
      <vt:lpstr>6.2 关系规范化</vt:lpstr>
      <vt:lpstr>范式概述</vt:lpstr>
      <vt:lpstr>复习几个关键术语（示例1）</vt:lpstr>
      <vt:lpstr>复习几个关键术语（示例2）</vt:lpstr>
      <vt:lpstr>复习几个关键术语（示例3）</vt:lpstr>
      <vt:lpstr>6.2.1 第一范式</vt:lpstr>
      <vt:lpstr>6.2.2 第二范式</vt:lpstr>
      <vt:lpstr>6.6.2 第二范式</vt:lpstr>
      <vt:lpstr>归纳（2nf的判定过程）</vt:lpstr>
      <vt:lpstr>分解方法（ 1nf2nf ）</vt:lpstr>
      <vt:lpstr>分解示例</vt:lpstr>
      <vt:lpstr>6.2.3 第三范式 </vt:lpstr>
      <vt:lpstr>分解方法（ 2nf3nf ）</vt:lpstr>
      <vt:lpstr>S-L-C最终分解结果</vt:lpstr>
      <vt:lpstr>6.2.4 BC范式</vt:lpstr>
      <vt:lpstr>BC范式</vt:lpstr>
      <vt:lpstr>3NF和BCNF之间的区别</vt:lpstr>
      <vt:lpstr>有可能违反BCNF的情形</vt:lpstr>
      <vt:lpstr>小结</vt:lpstr>
      <vt:lpstr>小结</vt:lpstr>
      <vt:lpstr> 习题重难点（教材 P163-166）</vt:lpstr>
      <vt:lpstr>重点作业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数据库原理与应用 （第3版）</dc:title>
  <dc:creator/>
  <cp:lastModifiedBy>DELL</cp:lastModifiedBy>
  <cp:revision>122</cp:revision>
  <dcterms:created xsi:type="dcterms:W3CDTF">2001-07-18T23:57:00Z</dcterms:created>
  <dcterms:modified xsi:type="dcterms:W3CDTF">2023-06-12T11:19:10Z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8C1E81FFBC6E4D5AAB5F5222E3252346</vt:lpwstr>
  </property>
  <property fmtid="{D5CDD505-2E9C-101B-9397-08002B2CF9AE}" pid="3" name="KSOProductBuildVer">
    <vt:lpwstr>2052-11.1.0.12358</vt:lpwstr>
  </property>
</Properties>
</file>