
<file path=[Content_Types].xml><?xml version="1.0" encoding="utf-8"?>
<Types xmlns="http://schemas.openxmlformats.org/package/2006/content-types">
  <Default Extension="jpeg" ContentType="image/jpeg"/>
  <Default Extension="emf" ContentType="image/x-emf"/>
  <Default Extension="rels" ContentType="application/vnd.openxmlformats-package.relationships+xml"/>
  <Default Extension="xml" ContentType="application/xml"/>
  <Default Extension="fntdata" ContentType="application/x-fontdata"/>
  <Default Extension="wav" ContentType="audio/x-wav"/>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1.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26"/>
  </p:notesMasterIdLst>
  <p:handoutMasterIdLst>
    <p:handoutMasterId r:id="rId127"/>
  </p:handoutMasterIdLst>
  <p:sldIdLst>
    <p:sldId id="256" r:id="rId2"/>
    <p:sldId id="257" r:id="rId3"/>
    <p:sldId id="389" r:id="rId4"/>
    <p:sldId id="390" r:id="rId5"/>
    <p:sldId id="556" r:id="rId6"/>
    <p:sldId id="392" r:id="rId7"/>
    <p:sldId id="393" r:id="rId8"/>
    <p:sldId id="394" r:id="rId9"/>
    <p:sldId id="395" r:id="rId10"/>
    <p:sldId id="557" r:id="rId11"/>
    <p:sldId id="397" r:id="rId12"/>
    <p:sldId id="398" r:id="rId13"/>
    <p:sldId id="399" r:id="rId14"/>
    <p:sldId id="400" r:id="rId15"/>
    <p:sldId id="401" r:id="rId16"/>
    <p:sldId id="497" r:id="rId17"/>
    <p:sldId id="496" r:id="rId18"/>
    <p:sldId id="402" r:id="rId19"/>
    <p:sldId id="403" r:id="rId20"/>
    <p:sldId id="498" r:id="rId21"/>
    <p:sldId id="404" r:id="rId22"/>
    <p:sldId id="405" r:id="rId23"/>
    <p:sldId id="559" r:id="rId24"/>
    <p:sldId id="558" r:id="rId25"/>
    <p:sldId id="499" r:id="rId26"/>
    <p:sldId id="500" r:id="rId27"/>
    <p:sldId id="501" r:id="rId28"/>
    <p:sldId id="406" r:id="rId29"/>
    <p:sldId id="408" r:id="rId30"/>
    <p:sldId id="409" r:id="rId31"/>
    <p:sldId id="502" r:id="rId32"/>
    <p:sldId id="503" r:id="rId33"/>
    <p:sldId id="504" r:id="rId34"/>
    <p:sldId id="410" r:id="rId35"/>
    <p:sldId id="412" r:id="rId36"/>
    <p:sldId id="505" r:id="rId37"/>
    <p:sldId id="413" r:id="rId38"/>
    <p:sldId id="415" r:id="rId39"/>
    <p:sldId id="506" r:id="rId40"/>
    <p:sldId id="418" r:id="rId41"/>
    <p:sldId id="420" r:id="rId42"/>
    <p:sldId id="482" r:id="rId43"/>
    <p:sldId id="507" r:id="rId44"/>
    <p:sldId id="509" r:id="rId45"/>
    <p:sldId id="510" r:id="rId46"/>
    <p:sldId id="422" r:id="rId47"/>
    <p:sldId id="423" r:id="rId48"/>
    <p:sldId id="511" r:id="rId49"/>
    <p:sldId id="512" r:id="rId50"/>
    <p:sldId id="584" r:id="rId51"/>
    <p:sldId id="585" r:id="rId52"/>
    <p:sldId id="513" r:id="rId53"/>
    <p:sldId id="424" r:id="rId54"/>
    <p:sldId id="425" r:id="rId55"/>
    <p:sldId id="426" r:id="rId56"/>
    <p:sldId id="428" r:id="rId57"/>
    <p:sldId id="495" r:id="rId58"/>
    <p:sldId id="515" r:id="rId59"/>
    <p:sldId id="516" r:id="rId60"/>
    <p:sldId id="519" r:id="rId61"/>
    <p:sldId id="520" r:id="rId62"/>
    <p:sldId id="430" r:id="rId63"/>
    <p:sldId id="431" r:id="rId64"/>
    <p:sldId id="560" r:id="rId65"/>
    <p:sldId id="432" r:id="rId66"/>
    <p:sldId id="434" r:id="rId67"/>
    <p:sldId id="521" r:id="rId68"/>
    <p:sldId id="562" r:id="rId69"/>
    <p:sldId id="522" r:id="rId70"/>
    <p:sldId id="523" r:id="rId71"/>
    <p:sldId id="524" r:id="rId72"/>
    <p:sldId id="563" r:id="rId73"/>
    <p:sldId id="564" r:id="rId74"/>
    <p:sldId id="565" r:id="rId75"/>
    <p:sldId id="566" r:id="rId76"/>
    <p:sldId id="609" r:id="rId77"/>
    <p:sldId id="568" r:id="rId78"/>
    <p:sldId id="569" r:id="rId79"/>
    <p:sldId id="571" r:id="rId80"/>
    <p:sldId id="573" r:id="rId81"/>
    <p:sldId id="574" r:id="rId82"/>
    <p:sldId id="575" r:id="rId83"/>
    <p:sldId id="576" r:id="rId84"/>
    <p:sldId id="579" r:id="rId85"/>
    <p:sldId id="577" r:id="rId86"/>
    <p:sldId id="580" r:id="rId87"/>
    <p:sldId id="433" r:id="rId88"/>
    <p:sldId id="435" r:id="rId89"/>
    <p:sldId id="483" r:id="rId90"/>
    <p:sldId id="438" r:id="rId91"/>
    <p:sldId id="525" r:id="rId92"/>
    <p:sldId id="528" r:id="rId93"/>
    <p:sldId id="526" r:id="rId94"/>
    <p:sldId id="581" r:id="rId95"/>
    <p:sldId id="582" r:id="rId96"/>
    <p:sldId id="441" r:id="rId97"/>
    <p:sldId id="442" r:id="rId98"/>
    <p:sldId id="443" r:id="rId99"/>
    <p:sldId id="444" r:id="rId100"/>
    <p:sldId id="529" r:id="rId101"/>
    <p:sldId id="532" r:id="rId102"/>
    <p:sldId id="586" r:id="rId103"/>
    <p:sldId id="587" r:id="rId104"/>
    <p:sldId id="588" r:id="rId105"/>
    <p:sldId id="589" r:id="rId106"/>
    <p:sldId id="590" r:id="rId107"/>
    <p:sldId id="591" r:id="rId108"/>
    <p:sldId id="592" r:id="rId109"/>
    <p:sldId id="593" r:id="rId110"/>
    <p:sldId id="594" r:id="rId111"/>
    <p:sldId id="595" r:id="rId112"/>
    <p:sldId id="596" r:id="rId113"/>
    <p:sldId id="597" r:id="rId114"/>
    <p:sldId id="598" r:id="rId115"/>
    <p:sldId id="599" r:id="rId116"/>
    <p:sldId id="600" r:id="rId117"/>
    <p:sldId id="601" r:id="rId118"/>
    <p:sldId id="602" r:id="rId119"/>
    <p:sldId id="603" r:id="rId120"/>
    <p:sldId id="604" r:id="rId121"/>
    <p:sldId id="605" r:id="rId122"/>
    <p:sldId id="606" r:id="rId123"/>
    <p:sldId id="607" r:id="rId124"/>
    <p:sldId id="608" r:id="rId125"/>
  </p:sldIdLst>
  <p:sldSz cx="9144000" cy="6858000" type="screen4x3"/>
  <p:notesSz cx="6858000" cy="9144000"/>
  <p:embeddedFontLst>
    <p:embeddedFont>
      <p:font typeface="Calibri" pitchFamily="34" charset="0"/>
      <p:regular r:id="rId128"/>
      <p:bold r:id="rId129"/>
      <p:italic r:id="rId130"/>
      <p:boldItalic r:id="rId131"/>
    </p:embeddedFont>
    <p:embeddedFont>
      <p:font typeface="等线" pitchFamily="2" charset="-122"/>
      <p:regular r:id="rId132"/>
      <p:bold r:id="rId133"/>
    </p:embeddedFont>
    <p:embeddedFont>
      <p:font typeface="Gulim" charset="-127"/>
      <p:regular r:id="rId134"/>
    </p:embeddedFont>
    <p:embeddedFont>
      <p:font typeface="Verdana" pitchFamily="34" charset="0"/>
      <p:regular r:id="rId135"/>
      <p:bold r:id="rId136"/>
      <p:italic r:id="rId137"/>
      <p:boldItalic r:id="rId138"/>
    </p:embeddedFont>
    <p:embeddedFont>
      <p:font typeface="黑体" pitchFamily="49" charset="-122"/>
      <p:regular r:id="rId139"/>
    </p:embeddedFont>
    <p:embeddedFont>
      <p:font typeface="楷体" pitchFamily="49" charset="-122"/>
      <p:regular r:id="rId140"/>
    </p:embeddedFont>
  </p:embeddedFontLst>
  <p:defaultTextStyle>
    <a:defPPr>
      <a:defRPr lang="ko-KR"/>
    </a:defPPr>
    <a:lvl1pPr marL="0" lvl="0" indent="0" algn="r"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Gulim" panose="02010600030101010101" pitchFamily="34" charset="-127"/>
        <a:cs typeface="+mn-cs"/>
      </a:defRPr>
    </a:lvl1pPr>
    <a:lvl2pPr marL="457200" lvl="1" indent="0" algn="r"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Gulim" panose="02010600030101010101" pitchFamily="34" charset="-127"/>
        <a:cs typeface="+mn-cs"/>
      </a:defRPr>
    </a:lvl2pPr>
    <a:lvl3pPr marL="914400" lvl="2" indent="0" algn="r"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Gulim" panose="02010600030101010101" pitchFamily="34" charset="-127"/>
        <a:cs typeface="+mn-cs"/>
      </a:defRPr>
    </a:lvl3pPr>
    <a:lvl4pPr marL="1371600" lvl="3" indent="0" algn="r"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Gulim" panose="02010600030101010101" pitchFamily="34" charset="-127"/>
        <a:cs typeface="+mn-cs"/>
      </a:defRPr>
    </a:lvl4pPr>
    <a:lvl5pPr marL="1828800" lvl="4" indent="0" algn="r"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Gulim" panose="02010600030101010101" pitchFamily="34" charset="-127"/>
        <a:cs typeface="+mn-cs"/>
      </a:defRPr>
    </a:lvl5pPr>
    <a:lvl6pPr marL="2286000" lvl="5" indent="0" algn="r"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Gulim" panose="02010600030101010101" pitchFamily="34" charset="-127"/>
        <a:cs typeface="+mn-cs"/>
      </a:defRPr>
    </a:lvl6pPr>
    <a:lvl7pPr marL="2743200" lvl="6" indent="0" algn="r"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Gulim" panose="02010600030101010101" pitchFamily="34" charset="-127"/>
        <a:cs typeface="+mn-cs"/>
      </a:defRPr>
    </a:lvl7pPr>
    <a:lvl8pPr marL="3200400" lvl="7" indent="0" algn="r"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Gulim" panose="02010600030101010101" pitchFamily="34" charset="-127"/>
        <a:cs typeface="+mn-cs"/>
      </a:defRPr>
    </a:lvl8pPr>
    <a:lvl9pPr marL="3657600" lvl="8" indent="0" algn="r"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Gulim" panose="02010600030101010101" pitchFamily="34" charset="-127"/>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0000FF"/>
    <a:srgbClr val="009900"/>
    <a:srgbClr val="D60093"/>
    <a:srgbClr val="FF66CC"/>
    <a:srgbClr val="00CC00"/>
    <a:srgbClr val="00FF00"/>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718"/>
    <p:restoredTop sz="94603"/>
  </p:normalViewPr>
  <p:slideViewPr>
    <p:cSldViewPr showGuides="1">
      <p:cViewPr>
        <p:scale>
          <a:sx n="80" d="100"/>
          <a:sy n="80" d="100"/>
        </p:scale>
        <p:origin x="-2412" y="-744"/>
      </p:cViewPr>
      <p:guideLst>
        <p:guide orient="horz" pos="2160"/>
        <p:guide pos="2894"/>
      </p:guideLst>
    </p:cSldViewPr>
  </p:slideViewPr>
  <p:outlineViewPr>
    <p:cViewPr>
      <p:scale>
        <a:sx n="33" d="100"/>
        <a:sy n="33" d="100"/>
      </p:scale>
      <p:origin x="0" y="0"/>
    </p:cViewPr>
  </p:outlineViewPr>
  <p:notesTextViewPr>
    <p:cViewPr>
      <p:scale>
        <a:sx n="100" d="100"/>
        <a:sy n="100" d="100"/>
      </p:scale>
      <p:origin x="0" y="0"/>
    </p:cViewPr>
  </p:notesTextViewPr>
  <p:sorterViewPr showFormatting="0">
    <p:cViewPr>
      <p:scale>
        <a:sx n="66" d="100"/>
        <a:sy n="66" d="100"/>
      </p:scale>
      <p:origin x="0" y="16764"/>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font" Target="fonts/font6.fntdata"/><Relationship Id="rId138" Type="http://schemas.openxmlformats.org/officeDocument/2006/relationships/font" Target="fonts/font11.fntdata"/><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font" Target="fonts/font1.fntdata"/><Relationship Id="rId144" Type="http://schemas.openxmlformats.org/officeDocument/2006/relationships/tableStyles" Target="tableStyles.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font" Target="fonts/font7.fntdata"/><Relationship Id="rId139" Type="http://schemas.openxmlformats.org/officeDocument/2006/relationships/font" Target="fonts/font12.fntdata"/><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103" Type="http://schemas.openxmlformats.org/officeDocument/2006/relationships/slide" Target="slides/slide102.xml"/><Relationship Id="rId108" Type="http://schemas.openxmlformats.org/officeDocument/2006/relationships/slide" Target="slides/slide107.xml"/><Relationship Id="rId116" Type="http://schemas.openxmlformats.org/officeDocument/2006/relationships/slide" Target="slides/slide115.xml"/><Relationship Id="rId124" Type="http://schemas.openxmlformats.org/officeDocument/2006/relationships/slide" Target="slides/slide123.xml"/><Relationship Id="rId129" Type="http://schemas.openxmlformats.org/officeDocument/2006/relationships/font" Target="fonts/font2.fntdata"/><Relationship Id="rId137" Type="http://schemas.openxmlformats.org/officeDocument/2006/relationships/font" Target="fonts/font10.fntdata"/><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11" Type="http://schemas.openxmlformats.org/officeDocument/2006/relationships/slide" Target="slides/slide110.xml"/><Relationship Id="rId132" Type="http://schemas.openxmlformats.org/officeDocument/2006/relationships/font" Target="fonts/font5.fntdata"/><Relationship Id="rId140" Type="http://schemas.openxmlformats.org/officeDocument/2006/relationships/font" Target="fonts/font13.fntdata"/><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slide" Target="slides/slide105.xml"/><Relationship Id="rId114" Type="http://schemas.openxmlformats.org/officeDocument/2006/relationships/slide" Target="slides/slide113.xml"/><Relationship Id="rId119" Type="http://schemas.openxmlformats.org/officeDocument/2006/relationships/slide" Target="slides/slide118.xml"/><Relationship Id="rId127" Type="http://schemas.openxmlformats.org/officeDocument/2006/relationships/handoutMaster" Target="handoutMasters/handoutMaster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30" Type="http://schemas.openxmlformats.org/officeDocument/2006/relationships/font" Target="fonts/font3.fntdata"/><Relationship Id="rId135" Type="http://schemas.openxmlformats.org/officeDocument/2006/relationships/font" Target="fonts/font8.fntdata"/><Relationship Id="rId143"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font" Target="fonts/font4.fntdata"/><Relationship Id="rId136" Type="http://schemas.openxmlformats.org/officeDocument/2006/relationships/font" Target="fonts/font9.fntdata"/><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t>2023/11/25</a:t>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t>‹#›</a:t>
            </a:fld>
            <a:endParaRPr lang="zh-CN" altLang="en-US"/>
          </a:p>
        </p:txBody>
      </p:sp>
    </p:spTree>
    <p:extLst>
      <p:ext uri="{BB962C8B-B14F-4D97-AF65-F5344CB8AC3E}">
        <p14:creationId xmlns:p14="http://schemas.microsoft.com/office/powerpoint/2010/main" val="239531660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t>2023/11/25</a:t>
            </a:fld>
            <a:endParaRPr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t>‹#›</a:t>
            </a:fld>
            <a:endParaRPr lang="zh-CN" altLang="en-US"/>
          </a:p>
        </p:txBody>
      </p:sp>
    </p:spTree>
    <p:extLst>
      <p:ext uri="{BB962C8B-B14F-4D97-AF65-F5344CB8AC3E}">
        <p14:creationId xmlns:p14="http://schemas.microsoft.com/office/powerpoint/2010/main" val="328273476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bg>
      <p:bgPr>
        <a:solidFill>
          <a:schemeClr val="accent1"/>
        </a:solidFill>
        <a:effectLst/>
      </p:bgPr>
    </p:bg>
    <p:spTree>
      <p:nvGrpSpPr>
        <p:cNvPr id="1" name=""/>
        <p:cNvGrpSpPr/>
        <p:nvPr/>
      </p:nvGrpSpPr>
      <p:grpSpPr>
        <a:xfrm>
          <a:off x="0" y="0"/>
          <a:ext cx="0" cy="0"/>
          <a:chOff x="0" y="0"/>
          <a:chExt cx="0" cy="0"/>
        </a:xfrm>
      </p:grpSpPr>
      <p:sp>
        <p:nvSpPr>
          <p:cNvPr id="9" name="Freeform 2"/>
          <p:cNvSpPr/>
          <p:nvPr/>
        </p:nvSpPr>
        <p:spPr bwMode="gray">
          <a:xfrm>
            <a:off x="0" y="3810000"/>
            <a:ext cx="9144000" cy="3048000"/>
          </a:xfrm>
          <a:custGeom>
            <a:avLst/>
            <a:gdLst/>
            <a:ahLst/>
            <a:cxnLst>
              <a:cxn ang="0">
                <a:pos x="0" y="0"/>
              </a:cxn>
              <a:cxn ang="0">
                <a:pos x="0" y="1920"/>
              </a:cxn>
              <a:cxn ang="0">
                <a:pos x="5760" y="1920"/>
              </a:cxn>
              <a:cxn ang="0">
                <a:pos x="5760" y="0"/>
              </a:cxn>
              <a:cxn ang="0">
                <a:pos x="0" y="0"/>
              </a:cxn>
            </a:cxnLst>
            <a:rect l="0" t="0" r="r" b="b"/>
            <a:pathLst>
              <a:path w="5760" h="1920">
                <a:moveTo>
                  <a:pt x="0" y="0"/>
                </a:moveTo>
                <a:lnTo>
                  <a:pt x="0" y="1920"/>
                </a:lnTo>
                <a:lnTo>
                  <a:pt x="5760" y="1920"/>
                </a:lnTo>
                <a:lnTo>
                  <a:pt x="5760" y="0"/>
                </a:lnTo>
                <a:lnTo>
                  <a:pt x="0" y="0"/>
                </a:lnTo>
                <a:close/>
              </a:path>
            </a:pathLst>
          </a:custGeom>
          <a:solidFill>
            <a:schemeClr val="accent2"/>
          </a:solidFill>
          <a:ln w="9525">
            <a:noFill/>
            <a:round/>
          </a:ln>
          <a:effectLst/>
        </p:spPr>
        <p:txBody>
          <a:body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dirty="0">
              <a:ln>
                <a:noFill/>
              </a:ln>
              <a:solidFill>
                <a:schemeClr val="tx1"/>
              </a:solidFill>
              <a:effectLst/>
              <a:uLnTx/>
              <a:uFillTx/>
              <a:latin typeface="宋体" pitchFamily="2" charset="-122"/>
              <a:ea typeface="宋体" pitchFamily="2" charset="-122"/>
              <a:cs typeface="+mn-cs"/>
            </a:endParaRPr>
          </a:p>
        </p:txBody>
      </p:sp>
      <p:sp>
        <p:nvSpPr>
          <p:cNvPr id="10" name="Rectangle 3"/>
          <p:cNvSpPr>
            <a:spLocks noChangeArrowheads="1"/>
          </p:cNvSpPr>
          <p:nvPr/>
        </p:nvSpPr>
        <p:spPr bwMode="gray">
          <a:xfrm>
            <a:off x="0" y="3429000"/>
            <a:ext cx="5045075" cy="390525"/>
          </a:xfrm>
          <a:prstGeom prst="rect">
            <a:avLst/>
          </a:prstGeom>
          <a:solidFill>
            <a:schemeClr val="hlink"/>
          </a:solidFill>
          <a:ln w="9525">
            <a:noFill/>
            <a:miter lim="800000"/>
          </a:ln>
          <a:effectLst/>
        </p:spPr>
        <p:txBody>
          <a:bodyPr wrap="none" anchor="ct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Gulim" panose="02010600030101010101" pitchFamily="34" charset="-127"/>
              <a:cs typeface="+mn-cs"/>
            </a:endParaRPr>
          </a:p>
        </p:txBody>
      </p:sp>
      <p:sp>
        <p:nvSpPr>
          <p:cNvPr id="11" name="Freeform 4"/>
          <p:cNvSpPr/>
          <p:nvPr/>
        </p:nvSpPr>
        <p:spPr bwMode="gray">
          <a:xfrm>
            <a:off x="5043488" y="3429000"/>
            <a:ext cx="2195513" cy="390525"/>
          </a:xfrm>
          <a:custGeom>
            <a:avLst/>
            <a:gdLst/>
            <a:ahLst/>
            <a:cxnLst>
              <a:cxn ang="0">
                <a:pos x="0" y="0"/>
              </a:cxn>
              <a:cxn ang="0">
                <a:pos x="1341" y="0"/>
              </a:cxn>
              <a:cxn ang="0">
                <a:pos x="1159" y="246"/>
              </a:cxn>
              <a:cxn ang="0">
                <a:pos x="0" y="246"/>
              </a:cxn>
              <a:cxn ang="0">
                <a:pos x="0" y="0"/>
              </a:cxn>
            </a:cxnLst>
            <a:rect l="0" t="0" r="r" b="b"/>
            <a:pathLst>
              <a:path w="1341" h="246">
                <a:moveTo>
                  <a:pt x="0" y="0"/>
                </a:moveTo>
                <a:lnTo>
                  <a:pt x="1341" y="0"/>
                </a:lnTo>
                <a:lnTo>
                  <a:pt x="1159" y="246"/>
                </a:lnTo>
                <a:lnTo>
                  <a:pt x="0" y="246"/>
                </a:lnTo>
                <a:lnTo>
                  <a:pt x="0" y="0"/>
                </a:lnTo>
                <a:close/>
              </a:path>
            </a:pathLst>
          </a:custGeom>
          <a:solidFill>
            <a:schemeClr val="accent2"/>
          </a:solidFill>
          <a:ln w="9525">
            <a:noFill/>
            <a:round/>
          </a:ln>
          <a:effectLst/>
        </p:spPr>
        <p:txBody>
          <a:bodyPr wrap="none" anchor="ct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Gulim" panose="02010600030101010101" pitchFamily="34" charset="-127"/>
              <a:cs typeface="+mn-cs"/>
            </a:endParaRPr>
          </a:p>
        </p:txBody>
      </p:sp>
      <p:sp>
        <p:nvSpPr>
          <p:cNvPr id="12" name="Freeform 9"/>
          <p:cNvSpPr/>
          <p:nvPr/>
        </p:nvSpPr>
        <p:spPr bwMode="gray">
          <a:xfrm>
            <a:off x="6862763" y="3429000"/>
            <a:ext cx="2281238" cy="390525"/>
          </a:xfrm>
          <a:custGeom>
            <a:avLst/>
            <a:gdLst/>
            <a:ahLst/>
            <a:cxnLst>
              <a:cxn ang="0">
                <a:pos x="189" y="0"/>
              </a:cxn>
              <a:cxn ang="0">
                <a:pos x="0" y="243"/>
              </a:cxn>
              <a:cxn ang="0">
                <a:pos x="1437" y="246"/>
              </a:cxn>
              <a:cxn ang="0">
                <a:pos x="1436" y="0"/>
              </a:cxn>
              <a:cxn ang="0">
                <a:pos x="189" y="0"/>
              </a:cxn>
            </a:cxnLst>
            <a:rect l="0" t="0" r="r" b="b"/>
            <a:pathLst>
              <a:path w="1437" h="246">
                <a:moveTo>
                  <a:pt x="189" y="0"/>
                </a:moveTo>
                <a:lnTo>
                  <a:pt x="0" y="243"/>
                </a:lnTo>
                <a:lnTo>
                  <a:pt x="1437" y="246"/>
                </a:lnTo>
                <a:lnTo>
                  <a:pt x="1436" y="0"/>
                </a:lnTo>
                <a:lnTo>
                  <a:pt x="189" y="0"/>
                </a:lnTo>
                <a:close/>
              </a:path>
            </a:pathLst>
          </a:custGeom>
          <a:solidFill>
            <a:schemeClr val="accent1"/>
          </a:solidFill>
          <a:ln w="9525">
            <a:noFill/>
            <a:round/>
          </a:ln>
          <a:effectLst/>
        </p:spPr>
        <p:txBody>
          <a:bodyPr wrap="none" anchor="ct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Gulim" panose="02010600030101010101" pitchFamily="34" charset="-127"/>
              <a:cs typeface="+mn-cs"/>
            </a:endParaRPr>
          </a:p>
        </p:txBody>
      </p:sp>
      <p:sp>
        <p:nvSpPr>
          <p:cNvPr id="13" name="Freeform 10" descr="2"/>
          <p:cNvSpPr/>
          <p:nvPr/>
        </p:nvSpPr>
        <p:spPr bwMode="gray">
          <a:xfrm>
            <a:off x="0" y="3810000"/>
            <a:ext cx="6865938" cy="1447800"/>
          </a:xfrm>
          <a:custGeom>
            <a:avLst/>
            <a:gdLst/>
            <a:ahLst/>
            <a:cxnLst>
              <a:cxn ang="0">
                <a:pos x="0" y="0"/>
              </a:cxn>
              <a:cxn ang="0">
                <a:pos x="4337" y="2"/>
              </a:cxn>
              <a:cxn ang="0">
                <a:pos x="3658" y="906"/>
              </a:cxn>
              <a:cxn ang="0">
                <a:pos x="0" y="912"/>
              </a:cxn>
              <a:cxn ang="0">
                <a:pos x="0" y="0"/>
              </a:cxn>
            </a:cxnLst>
            <a:rect l="0" t="0" r="r" b="b"/>
            <a:pathLst>
              <a:path w="4337" h="912">
                <a:moveTo>
                  <a:pt x="0" y="0"/>
                </a:moveTo>
                <a:lnTo>
                  <a:pt x="4337" y="2"/>
                </a:lnTo>
                <a:lnTo>
                  <a:pt x="3658" y="906"/>
                </a:lnTo>
                <a:lnTo>
                  <a:pt x="0" y="912"/>
                </a:lnTo>
                <a:lnTo>
                  <a:pt x="0" y="0"/>
                </a:lnTo>
                <a:close/>
              </a:path>
            </a:pathLst>
          </a:custGeom>
          <a:blipFill dpi="0" rotWithShape="1">
            <a:blip r:embed="rId2"/>
            <a:srcRect/>
            <a:stretch>
              <a:fillRect/>
            </a:stretch>
          </a:blipFill>
          <a:ln w="9525">
            <a:noFill/>
            <a:round/>
          </a:ln>
          <a:effectLst/>
        </p:spPr>
        <p:txBody>
          <a:body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Gulim" panose="02010600030101010101" pitchFamily="34" charset="-127"/>
              <a:cs typeface="+mn-cs"/>
            </a:endParaRPr>
          </a:p>
        </p:txBody>
      </p:sp>
      <p:sp>
        <p:nvSpPr>
          <p:cNvPr id="14" name="Freeform 11"/>
          <p:cNvSpPr/>
          <p:nvPr/>
        </p:nvSpPr>
        <p:spPr bwMode="gray">
          <a:xfrm>
            <a:off x="7162800" y="762000"/>
            <a:ext cx="1981200" cy="2667000"/>
          </a:xfrm>
          <a:custGeom>
            <a:avLst/>
            <a:gdLst/>
            <a:ahLst/>
            <a:cxnLst>
              <a:cxn ang="0">
                <a:pos x="0" y="1680"/>
              </a:cxn>
              <a:cxn ang="0">
                <a:pos x="1248" y="0"/>
              </a:cxn>
              <a:cxn ang="0">
                <a:pos x="1248" y="1680"/>
              </a:cxn>
              <a:cxn ang="0">
                <a:pos x="0" y="1680"/>
              </a:cxn>
            </a:cxnLst>
            <a:rect l="0" t="0" r="r" b="b"/>
            <a:pathLst>
              <a:path w="1248" h="1680">
                <a:moveTo>
                  <a:pt x="0" y="1680"/>
                </a:moveTo>
                <a:lnTo>
                  <a:pt x="1248" y="0"/>
                </a:lnTo>
                <a:lnTo>
                  <a:pt x="1248" y="1680"/>
                </a:lnTo>
                <a:lnTo>
                  <a:pt x="0" y="1680"/>
                </a:lnTo>
                <a:close/>
              </a:path>
            </a:pathLst>
          </a:custGeom>
          <a:solidFill>
            <a:schemeClr val="accent2"/>
          </a:solidFill>
          <a:ln w="9525">
            <a:noFill/>
            <a:round/>
          </a:ln>
          <a:effectLst/>
        </p:spPr>
        <p:txBody>
          <a:body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Gulim" panose="02010600030101010101" pitchFamily="34" charset="-127"/>
              <a:cs typeface="+mn-cs"/>
            </a:endParaRPr>
          </a:p>
        </p:txBody>
      </p:sp>
      <p:sp>
        <p:nvSpPr>
          <p:cNvPr id="15" name="AutoShape 12"/>
          <p:cNvSpPr>
            <a:spLocks noChangeArrowheads="1"/>
          </p:cNvSpPr>
          <p:nvPr/>
        </p:nvSpPr>
        <p:spPr bwMode="gray">
          <a:xfrm>
            <a:off x="4724400" y="3429000"/>
            <a:ext cx="914400" cy="381000"/>
          </a:xfrm>
          <a:prstGeom prst="parallelogram">
            <a:avLst>
              <a:gd name="adj" fmla="val 77089"/>
            </a:avLst>
          </a:prstGeom>
          <a:solidFill>
            <a:schemeClr val="accent2"/>
          </a:solidFill>
          <a:ln w="9525">
            <a:noFill/>
            <a:miter lim="800000"/>
          </a:ln>
          <a:effectLst/>
        </p:spPr>
        <p:txBody>
          <a:bodyPr wrap="none" anchor="ct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Gulim" panose="02010600030101010101" pitchFamily="34" charset="-127"/>
              <a:cs typeface="+mn-cs"/>
            </a:endParaRPr>
          </a:p>
        </p:txBody>
      </p:sp>
      <p:sp>
        <p:nvSpPr>
          <p:cNvPr id="549895" name="Rectangle 7"/>
          <p:cNvSpPr>
            <a:spLocks noGrp="1" noChangeArrowheads="1"/>
          </p:cNvSpPr>
          <p:nvPr>
            <p:ph type="subTitle" idx="1"/>
          </p:nvPr>
        </p:nvSpPr>
        <p:spPr>
          <a:xfrm>
            <a:off x="2362200" y="5791200"/>
            <a:ext cx="4648200" cy="381000"/>
          </a:xfrm>
        </p:spPr>
        <p:txBody>
          <a:bodyPr/>
          <a:lstStyle>
            <a:lvl1pPr marL="0" indent="0" algn="ctr">
              <a:buFont typeface="Wingdings" panose="05000000000000000000" pitchFamily="2" charset="2"/>
              <a:buNone/>
              <a:defRPr sz="2000" b="0">
                <a:solidFill>
                  <a:schemeClr val="bg1"/>
                </a:solidFill>
              </a:defRPr>
            </a:lvl1pPr>
          </a:lstStyle>
          <a:p>
            <a:r>
              <a:rPr lang="zh-CN" altLang="en-US"/>
              <a:t>单击此处编辑母版副标题样式</a:t>
            </a:r>
          </a:p>
        </p:txBody>
      </p:sp>
      <p:sp>
        <p:nvSpPr>
          <p:cNvPr id="549901" name="Rectangle 13"/>
          <p:cNvSpPr>
            <a:spLocks noGrp="1" noChangeArrowheads="1"/>
          </p:cNvSpPr>
          <p:nvPr>
            <p:ph type="ctrTitle"/>
          </p:nvPr>
        </p:nvSpPr>
        <p:spPr>
          <a:xfrm>
            <a:off x="190500" y="2590800"/>
            <a:ext cx="7124700" cy="762000"/>
          </a:xfrm>
        </p:spPr>
        <p:txBody>
          <a:bodyPr/>
          <a:lstStyle>
            <a:lvl1pPr>
              <a:defRPr/>
            </a:lvl1pPr>
          </a:lstStyle>
          <a:p>
            <a:r>
              <a:rPr lang="zh-CN" altLang="en-US"/>
              <a:t>单击此处编辑母版标题样式</a:t>
            </a:r>
          </a:p>
        </p:txBody>
      </p:sp>
      <p:sp>
        <p:nvSpPr>
          <p:cNvPr id="16" name="Rectangle 5"/>
          <p:cNvSpPr>
            <a:spLocks noGrp="1" noChangeArrowheads="1"/>
          </p:cNvSpPr>
          <p:nvPr>
            <p:ph type="ftr" sz="quarter" idx="3"/>
          </p:nvPr>
        </p:nvSpPr>
        <p:spPr bwMode="gray">
          <a:xfrm>
            <a:off x="5976938" y="6594475"/>
            <a:ext cx="2895600" cy="168275"/>
          </a:xfrm>
          <a:prstGeom prst="rect">
            <a:avLst/>
          </a:prstGeom>
          <a:ln>
            <a:miter lim="800000"/>
          </a:ln>
        </p:spPr>
        <p:txBody>
          <a:bodyPr vert="horz" wrap="square" lIns="91440" tIns="45720" rIns="91440" bIns="45720" numCol="1" anchor="t" anchorCtr="0" compatLnSpc="1"/>
          <a:lstStyle>
            <a:lvl1pPr>
              <a:defRPr sz="1000" smtClean="0">
                <a:solidFill>
                  <a:schemeClr val="bg1"/>
                </a:solidFill>
                <a:ea typeface="宋体" panose="02010600030101010101" pitchFamily="2" charset="-122"/>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bg1"/>
              </a:solidFill>
              <a:effectLst/>
              <a:uLnTx/>
              <a:uFillTx/>
              <a:latin typeface="Arial" panose="020B0604020202020204" pitchFamily="34" charset="0"/>
              <a:ea typeface="宋体" panose="02010600030101010101" pitchFamily="2" charset="-122"/>
              <a:cs typeface="+mn-cs"/>
            </a:endParaRPr>
          </a:p>
        </p:txBody>
      </p:sp>
      <p:sp>
        <p:nvSpPr>
          <p:cNvPr id="17" name="Rectangle 6"/>
          <p:cNvSpPr>
            <a:spLocks noGrp="1" noChangeArrowheads="1"/>
          </p:cNvSpPr>
          <p:nvPr>
            <p:ph type="sldNum" sz="quarter" idx="4"/>
          </p:nvPr>
        </p:nvSpPr>
        <p:spPr bwMode="gray">
          <a:xfrm>
            <a:off x="3465513" y="6613525"/>
            <a:ext cx="2133600" cy="168275"/>
          </a:xfrm>
          <a:prstGeom prst="rect">
            <a:avLst/>
          </a:prstGeom>
          <a:ln>
            <a:miter lim="800000"/>
          </a:ln>
        </p:spPr>
        <p:txBody>
          <a:bodyPr vert="horz" wrap="square" lIns="91440" tIns="45720" rIns="91440" bIns="45720" numCol="1" anchor="t" anchorCtr="0" compatLnSpc="1"/>
          <a:lstStyle/>
          <a:p>
            <a:pPr algn="ctr">
              <a:buNone/>
            </a:pPr>
            <a:fld id="{9A0DB2DC-4C9A-4742-B13C-FB6460FD3503}" type="slidenum">
              <a:rPr lang="zh-CN" altLang="en-US" dirty="0">
                <a:ea typeface="宋体" panose="02010600030101010101" pitchFamily="2" charset="-122"/>
              </a:rPr>
              <a:t>‹#›</a:t>
            </a:fld>
            <a:endParaRPr lang="zh-CN" altLang="en-US" dirty="0">
              <a:ea typeface="宋体" panose="02010600030101010101" pitchFamily="2" charset="-122"/>
            </a:endParaRPr>
          </a:p>
        </p:txBody>
      </p:sp>
      <p:sp>
        <p:nvSpPr>
          <p:cNvPr id="18" name="Rectangle 8"/>
          <p:cNvSpPr>
            <a:spLocks noGrp="1" noChangeArrowheads="1"/>
          </p:cNvSpPr>
          <p:nvPr>
            <p:ph type="dt" sz="half" idx="2"/>
          </p:nvPr>
        </p:nvSpPr>
        <p:spPr bwMode="gray">
          <a:xfrm>
            <a:off x="274638" y="6605588"/>
            <a:ext cx="2133600" cy="168275"/>
          </a:xfrm>
          <a:prstGeom prst="rect">
            <a:avLst/>
          </a:prstGeom>
          <a:ln>
            <a:miter lim="800000"/>
          </a:ln>
        </p:spPr>
        <p:txBody>
          <a:bodyPr vert="horz" wrap="square" lIns="91440" tIns="45720" rIns="91440" bIns="45720" numCol="1" anchor="t" anchorCtr="0" compatLnSpc="1"/>
          <a:lstStyle>
            <a:lvl1pPr algn="l">
              <a:defRPr sz="1000" smtClean="0">
                <a:solidFill>
                  <a:schemeClr val="bg1"/>
                </a:solidFill>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bg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500034" y="152400"/>
            <a:ext cx="8001056" cy="685800"/>
          </a:xfrm>
        </p:spPr>
        <p:txBody>
          <a:bodyPr/>
          <a:lstStyle>
            <a:lvl1pPr algn="ctr">
              <a:defRPr b="0">
                <a:latin typeface="黑体" panose="02010609060101010101" pitchFamily="2" charset="-122"/>
                <a:ea typeface="黑体" panose="02010609060101010101" pitchFamily="2" charset="-122"/>
              </a:defRPr>
            </a:lvl1pPr>
          </a:lstStyle>
          <a:p>
            <a:r>
              <a:rPr lang="zh-CN" altLang="en-US" dirty="0" smtClean="0"/>
              <a:t>单击此处编辑母版标题样式</a:t>
            </a:r>
            <a:endParaRPr lang="zh-CN" altLang="en-US" dirty="0"/>
          </a:p>
        </p:txBody>
      </p:sp>
      <p:sp>
        <p:nvSpPr>
          <p:cNvPr id="3" name="内容占位符 2"/>
          <p:cNvSpPr>
            <a:spLocks noGrp="1"/>
          </p:cNvSpPr>
          <p:nvPr>
            <p:ph idx="1"/>
          </p:nvPr>
        </p:nvSpPr>
        <p:spPr/>
        <p:txBody>
          <a:bodyPr/>
          <a:lstStyle>
            <a:lvl1pPr algn="just">
              <a:defRPr sz="3400" b="1">
                <a:latin typeface="Times New Roman" pitchFamily="18" charset="0"/>
                <a:ea typeface="宋体" pitchFamily="2" charset="-122"/>
                <a:cs typeface="Times New Roman" pitchFamily="18" charset="0"/>
              </a:defRPr>
            </a:lvl1pPr>
            <a:lvl2pPr algn="just">
              <a:defRPr sz="3200" b="1">
                <a:latin typeface="Times New Roman" pitchFamily="18" charset="0"/>
                <a:ea typeface="宋体" pitchFamily="2" charset="-122"/>
                <a:cs typeface="Times New Roman" pitchFamily="18" charset="0"/>
              </a:defRPr>
            </a:lvl2pPr>
            <a:lvl3pPr algn="just">
              <a:defRPr sz="2800" b="1">
                <a:latin typeface="Times New Roman" pitchFamily="18" charset="0"/>
                <a:ea typeface="宋体" pitchFamily="2" charset="-122"/>
                <a:cs typeface="Times New Roman" pitchFamily="18" charset="0"/>
              </a:defRPr>
            </a:lvl3pPr>
            <a:lvl4pPr algn="just">
              <a:defRPr b="1">
                <a:latin typeface="Times New Roman" pitchFamily="18" charset="0"/>
                <a:ea typeface="宋体" pitchFamily="2" charset="-122"/>
                <a:cs typeface="Times New Roman" pitchFamily="18" charset="0"/>
              </a:defRPr>
            </a:lvl4pPr>
            <a:lvl5pPr algn="just">
              <a:defRPr b="1">
                <a:latin typeface="Times New Roman" pitchFamily="18" charset="0"/>
                <a:ea typeface="宋体" pitchFamily="2" charset="-122"/>
                <a:cs typeface="Times New Roman" pitchFamily="18" charset="0"/>
              </a:defRPr>
            </a:lvl5pPr>
          </a:lstStyle>
          <a:p>
            <a:pPr lvl="0"/>
            <a:r>
              <a:rPr lang="zh-CN" altLang="en-US" dirty="0" smtClean="0"/>
              <a:t>单击此处编辑母版文本样式</a:t>
            </a:r>
          </a:p>
          <a:p>
            <a:pPr lvl="1"/>
            <a:r>
              <a:rPr lang="zh-CN" altLang="en-US" dirty="0" smtClean="0"/>
              <a:t>第二级</a:t>
            </a:r>
          </a:p>
          <a:p>
            <a:pPr lvl="2"/>
            <a:r>
              <a:rPr lang="zh-CN" altLang="en-US" dirty="0" smtClean="0"/>
              <a:t>第三级</a:t>
            </a:r>
          </a:p>
          <a:p>
            <a:pPr lvl="3"/>
            <a:r>
              <a:rPr lang="zh-CN" altLang="en-US" dirty="0" smtClean="0"/>
              <a:t>第四级</a:t>
            </a:r>
          </a:p>
          <a:p>
            <a:pPr lvl="4"/>
            <a:r>
              <a:rPr lang="zh-CN" altLang="en-US" dirty="0" smtClean="0"/>
              <a:t>第五级</a:t>
            </a:r>
            <a:endParaRPr lang="zh-CN" altLang="en-US" dirty="0"/>
          </a:p>
        </p:txBody>
      </p:sp>
      <p:sp>
        <p:nvSpPr>
          <p:cNvPr id="4" name="灯片编号占位符 3"/>
          <p:cNvSpPr>
            <a:spLocks noGrp="1"/>
          </p:cNvSpPr>
          <p:nvPr>
            <p:ph type="sldNum" sz="quarter" idx="10"/>
          </p:nvPr>
        </p:nvSpPr>
        <p:spPr/>
        <p:txBody>
          <a:bodyPr/>
          <a:lstStyle/>
          <a:p>
            <a:pPr lvl="0" eaLnBrk="1" hangingPunct="1">
              <a:buNone/>
            </a:pPr>
            <a:fld id="{9A0DB2DC-4C9A-4742-B13C-FB6460FD3503}" type="slidenum">
              <a:rPr lang="zh-CN" altLang="en-US" dirty="0"/>
              <a:t>‹#›</a:t>
            </a:fld>
            <a:endParaRPr lang="zh-CN" alt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b="1"/>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dirty="0" smtClean="0"/>
              <a:t>单击此处编辑母版文本样式</a:t>
            </a:r>
          </a:p>
        </p:txBody>
      </p:sp>
      <p:sp>
        <p:nvSpPr>
          <p:cNvPr id="4" name="灯片编号占位符 3"/>
          <p:cNvSpPr>
            <a:spLocks noGrp="1"/>
          </p:cNvSpPr>
          <p:nvPr>
            <p:ph type="sldNum" sz="quarter" idx="10"/>
          </p:nvPr>
        </p:nvSpPr>
        <p:spPr/>
        <p:txBody>
          <a:bodyPr/>
          <a:lstStyle/>
          <a:p>
            <a:pPr lvl="0" eaLnBrk="1" hangingPunct="1">
              <a:buNone/>
            </a:pPr>
            <a:fld id="{9A0DB2DC-4C9A-4742-B13C-FB6460FD3503}" type="slidenum">
              <a:rPr lang="zh-CN" altLang="en-US" dirty="0"/>
              <a:t>‹#›</a:t>
            </a:fld>
            <a:endParaRPr lang="zh-CN" alt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295400"/>
            <a:ext cx="4038600" cy="4876800"/>
          </a:xfrm>
        </p:spPr>
        <p:txBody>
          <a:bodyPr/>
          <a:lstStyle>
            <a:lvl1pPr>
              <a:defRPr sz="2800" b="1"/>
            </a:lvl1pPr>
            <a:lvl2pPr>
              <a:defRPr sz="2400" b="1"/>
            </a:lvl2pPr>
            <a:lvl3pPr>
              <a:defRPr sz="2000" b="1"/>
            </a:lvl3pPr>
            <a:lvl4pPr>
              <a:defRPr sz="1800" b="1"/>
            </a:lvl4pPr>
            <a:lvl5pPr>
              <a:defRPr sz="1800" b="1"/>
            </a:lvl5pPr>
            <a:lvl6pPr>
              <a:defRPr sz="1800"/>
            </a:lvl6pPr>
            <a:lvl7pPr>
              <a:defRPr sz="1800"/>
            </a:lvl7pPr>
            <a:lvl8pPr>
              <a:defRPr sz="1800"/>
            </a:lvl8pPr>
            <a:lvl9pPr>
              <a:defRPr sz="1800"/>
            </a:lvl9pPr>
          </a:lstStyle>
          <a:p>
            <a:pPr lvl="0"/>
            <a:r>
              <a:rPr lang="zh-CN" altLang="en-US" dirty="0" smtClean="0"/>
              <a:t>单击此处编辑母版文本样式</a:t>
            </a:r>
          </a:p>
          <a:p>
            <a:pPr lvl="1"/>
            <a:r>
              <a:rPr lang="zh-CN" altLang="en-US" dirty="0" smtClean="0"/>
              <a:t>第二级</a:t>
            </a:r>
          </a:p>
          <a:p>
            <a:pPr lvl="2"/>
            <a:r>
              <a:rPr lang="zh-CN" altLang="en-US" dirty="0" smtClean="0"/>
              <a:t>第三级</a:t>
            </a:r>
          </a:p>
          <a:p>
            <a:pPr lvl="3"/>
            <a:r>
              <a:rPr lang="zh-CN" altLang="en-US" dirty="0" smtClean="0"/>
              <a:t>第四级</a:t>
            </a:r>
          </a:p>
          <a:p>
            <a:pPr lvl="4"/>
            <a:r>
              <a:rPr lang="zh-CN" altLang="en-US" dirty="0" smtClean="0"/>
              <a:t>第五级</a:t>
            </a:r>
            <a:endParaRPr lang="zh-CN" altLang="en-US" dirty="0"/>
          </a:p>
        </p:txBody>
      </p:sp>
      <p:sp>
        <p:nvSpPr>
          <p:cNvPr id="4" name="内容占位符 3"/>
          <p:cNvSpPr>
            <a:spLocks noGrp="1"/>
          </p:cNvSpPr>
          <p:nvPr>
            <p:ph sz="half" idx="2"/>
          </p:nvPr>
        </p:nvSpPr>
        <p:spPr>
          <a:xfrm>
            <a:off x="4648200" y="1295400"/>
            <a:ext cx="4038600" cy="4876800"/>
          </a:xfrm>
        </p:spPr>
        <p:txBody>
          <a:bodyPr/>
          <a:lstStyle>
            <a:lvl1pPr>
              <a:defRPr sz="2800" b="1"/>
            </a:lvl1pPr>
            <a:lvl2pPr>
              <a:defRPr sz="2400" b="1"/>
            </a:lvl2pPr>
            <a:lvl3pPr>
              <a:defRPr sz="2000" b="1"/>
            </a:lvl3pPr>
            <a:lvl4pPr>
              <a:defRPr sz="1800" b="1"/>
            </a:lvl4pPr>
            <a:lvl5pPr>
              <a:defRPr sz="1800" b="1"/>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灯片编号占位符 4"/>
          <p:cNvSpPr>
            <a:spLocks noGrp="1"/>
          </p:cNvSpPr>
          <p:nvPr>
            <p:ph type="sldNum" sz="quarter" idx="10"/>
          </p:nvPr>
        </p:nvSpPr>
        <p:spPr/>
        <p:txBody>
          <a:bodyPr/>
          <a:lstStyle/>
          <a:p>
            <a:pPr lvl="0" eaLnBrk="1" hangingPunct="1">
              <a:buNone/>
            </a:pPr>
            <a:fld id="{9A0DB2DC-4C9A-4742-B13C-FB6460FD3503}" type="slidenum">
              <a:rPr lang="zh-CN" altLang="en-US" dirty="0"/>
              <a:t>‹#›</a:t>
            </a:fld>
            <a:endParaRPr lang="zh-CN" alt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84"/>
            <a:ext cx="8229600" cy="1143000"/>
          </a:xfrm>
        </p:spPr>
        <p:txBody>
          <a:bodyPr/>
          <a:lstStyle>
            <a:lvl1pPr>
              <a:defRPr b="1"/>
            </a:lvl1pPr>
          </a:lstStyle>
          <a:p>
            <a:r>
              <a:rPr lang="zh-CN" altLang="en-US" dirty="0" smtClean="0"/>
              <a:t>单击此处编辑母版标题样式</a:t>
            </a:r>
            <a:endParaRPr lang="zh-CN" altLang="en-US" dirty="0"/>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b="1"/>
            </a:lvl1pPr>
            <a:lvl2pPr>
              <a:defRPr sz="2000" b="1"/>
            </a:lvl2pPr>
            <a:lvl3pPr>
              <a:defRPr sz="1800" b="1"/>
            </a:lvl3pPr>
            <a:lvl4pPr>
              <a:defRPr sz="1600" b="1"/>
            </a:lvl4pPr>
            <a:lvl5pPr>
              <a:defRPr sz="1600" b="1"/>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b="1"/>
            </a:lvl1pPr>
            <a:lvl2pPr>
              <a:defRPr sz="2000" b="1"/>
            </a:lvl2pPr>
            <a:lvl3pPr>
              <a:defRPr sz="1800" b="1"/>
            </a:lvl3pPr>
            <a:lvl4pPr>
              <a:defRPr sz="1600" b="1"/>
            </a:lvl4pPr>
            <a:lvl5pPr>
              <a:defRPr sz="1600" b="1"/>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灯片编号占位符 6"/>
          <p:cNvSpPr>
            <a:spLocks noGrp="1"/>
          </p:cNvSpPr>
          <p:nvPr>
            <p:ph type="sldNum" sz="quarter" idx="10"/>
          </p:nvPr>
        </p:nvSpPr>
        <p:spPr/>
        <p:txBody>
          <a:bodyPr/>
          <a:lstStyle/>
          <a:p>
            <a:pPr lvl="0" eaLnBrk="1" hangingPunct="1">
              <a:buNone/>
            </a:pPr>
            <a:fld id="{9A0DB2DC-4C9A-4742-B13C-FB6460FD3503}" type="slidenum">
              <a:rPr lang="zh-CN" altLang="en-US" dirty="0"/>
              <a:t>‹#›</a:t>
            </a:fld>
            <a:endParaRPr lang="zh-CN" alt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灯片编号占位符 2"/>
          <p:cNvSpPr>
            <a:spLocks noGrp="1"/>
          </p:cNvSpPr>
          <p:nvPr>
            <p:ph type="sldNum" sz="quarter" idx="10"/>
          </p:nvPr>
        </p:nvSpPr>
        <p:spPr/>
        <p:txBody>
          <a:bodyPr/>
          <a:lstStyle/>
          <a:p>
            <a:pPr lvl="0" eaLnBrk="1" hangingPunct="1">
              <a:buNone/>
            </a:pPr>
            <a:fld id="{9A0DB2DC-4C9A-4742-B13C-FB6460FD3503}" type="slidenum">
              <a:rPr lang="zh-CN" altLang="en-US" dirty="0"/>
              <a:t>‹#›</a:t>
            </a:fld>
            <a:endParaRPr lang="zh-CN" alt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lstStyle/>
          <a:p>
            <a:pPr lvl="0" eaLnBrk="1" hangingPunct="1">
              <a:buNone/>
            </a:pPr>
            <a:fld id="{9A0DB2DC-4C9A-4742-B13C-FB6460FD3503}" type="slidenum">
              <a:rPr lang="zh-CN" altLang="en-US" dirty="0"/>
              <a:t>‹#›</a:t>
            </a:fld>
            <a:endParaRPr lang="zh-CN" alt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b="1"/>
            </a:lvl1pPr>
            <a:lvl2pPr>
              <a:defRPr sz="2800" b="1"/>
            </a:lvl2pPr>
            <a:lvl3pPr>
              <a:defRPr sz="2400" b="1"/>
            </a:lvl3pPr>
            <a:lvl4pPr>
              <a:defRPr sz="2000" b="1"/>
            </a:lvl4pPr>
            <a:lvl5pPr>
              <a:defRPr sz="2000" b="1"/>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b="1"/>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灯片编号占位符 4"/>
          <p:cNvSpPr>
            <a:spLocks noGrp="1"/>
          </p:cNvSpPr>
          <p:nvPr>
            <p:ph type="sldNum" sz="quarter" idx="10"/>
          </p:nvPr>
        </p:nvSpPr>
        <p:spPr/>
        <p:txBody>
          <a:bodyPr/>
          <a:lstStyle/>
          <a:p>
            <a:pPr lvl="0" eaLnBrk="1" hangingPunct="1">
              <a:buNone/>
            </a:pPr>
            <a:fld id="{9A0DB2DC-4C9A-4742-B13C-FB6460FD3503}" type="slidenum">
              <a:rPr lang="zh-CN" altLang="en-US" dirty="0"/>
              <a:t>‹#›</a:t>
            </a:fld>
            <a:endParaRPr lang="zh-CN" alt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atin typeface="宋体" pitchFamily="2" charset="-122"/>
                <a:ea typeface="宋体" pitchFamily="2" charset="-122"/>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chemeClr val="tx1"/>
              </a:buClr>
              <a:buSzTx/>
              <a:buFont typeface="Wingdings" panose="05000000000000000000" pitchFamily="2" charset="2"/>
              <a:buNone/>
              <a:defRPr/>
            </a:pPr>
            <a:endParaRPr kumimoji="0" lang="zh-CN" altLang="en-US" sz="3200" b="1" i="0" u="none" strike="noStrike" kern="0" cap="none" spc="0" normalizeH="0" baseline="0" noProof="0" smtClean="0">
              <a:ln>
                <a:noFill/>
              </a:ln>
              <a:solidFill>
                <a:schemeClr val="tx2"/>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b="1"/>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灯片编号占位符 4"/>
          <p:cNvSpPr>
            <a:spLocks noGrp="1"/>
          </p:cNvSpPr>
          <p:nvPr>
            <p:ph type="sldNum" sz="quarter" idx="10"/>
          </p:nvPr>
        </p:nvSpPr>
        <p:spPr/>
        <p:txBody>
          <a:bodyPr/>
          <a:lstStyle/>
          <a:p>
            <a:pPr lvl="0" eaLnBrk="1" hangingPunct="1">
              <a:buNone/>
            </a:pPr>
            <a:fld id="{9A0DB2DC-4C9A-4742-B13C-FB6460FD3503}" type="slidenum">
              <a:rPr lang="zh-CN" altLang="en-US" dirty="0"/>
              <a:t>‹#›</a:t>
            </a:fld>
            <a:endParaRPr lang="zh-CN" alt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b="1"/>
            </a:lvl1p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lvl1pPr>
              <a:defRPr b="1"/>
            </a:lvl1pPr>
            <a:lvl2pPr>
              <a:defRPr b="1"/>
            </a:lvl2pPr>
            <a:lvl3pPr>
              <a:defRPr b="1"/>
            </a:lvl3pPr>
            <a:lvl4pPr>
              <a:defRPr b="1"/>
            </a:lvl4pPr>
            <a:lvl5pPr>
              <a:defRPr b="1"/>
            </a:lvl5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灯片编号占位符 3"/>
          <p:cNvSpPr>
            <a:spLocks noGrp="1"/>
          </p:cNvSpPr>
          <p:nvPr>
            <p:ph type="sldNum" sz="quarter" idx="10"/>
          </p:nvPr>
        </p:nvSpPr>
        <p:spPr/>
        <p:txBody>
          <a:bodyPr/>
          <a:lstStyle/>
          <a:p>
            <a:pPr lvl="0" eaLnBrk="1" hangingPunct="1">
              <a:buNone/>
            </a:pPr>
            <a:fld id="{9A0DB2DC-4C9A-4742-B13C-FB6460FD3503}" type="slidenum">
              <a:rPr lang="zh-CN" altLang="en-US" dirty="0"/>
              <a:t>‹#›</a:t>
            </a:fld>
            <a:endParaRPr lang="zh-CN" alt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10350" y="152400"/>
            <a:ext cx="2076450" cy="6019800"/>
          </a:xfrm>
        </p:spPr>
        <p:txBody>
          <a:bodyPr vert="eaVert"/>
          <a:lstStyle>
            <a:lvl1pPr>
              <a:defRPr b="1"/>
            </a:lvl1p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381000" y="152400"/>
            <a:ext cx="6076950" cy="6019800"/>
          </a:xfrm>
        </p:spPr>
        <p:txBody>
          <a:bodyPr vert="eaVert"/>
          <a:lstStyle>
            <a:lvl1pPr>
              <a:defRPr b="1"/>
            </a:lvl1pPr>
            <a:lvl2pPr>
              <a:defRPr b="1"/>
            </a:lvl2pPr>
            <a:lvl3pPr>
              <a:defRPr b="1"/>
            </a:lvl3pPr>
            <a:lvl4pPr>
              <a:defRPr b="1"/>
            </a:lvl4pPr>
            <a:lvl5pPr>
              <a:defRPr b="1"/>
            </a:lvl5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灯片编号占位符 3"/>
          <p:cNvSpPr>
            <a:spLocks noGrp="1"/>
          </p:cNvSpPr>
          <p:nvPr>
            <p:ph type="sldNum" sz="quarter" idx="10"/>
          </p:nvPr>
        </p:nvSpPr>
        <p:spPr/>
        <p:txBody>
          <a:bodyPr/>
          <a:lstStyle/>
          <a:p>
            <a:pPr lvl="0" eaLnBrk="1" hangingPunct="1">
              <a:buNone/>
            </a:pPr>
            <a:fld id="{9A0DB2DC-4C9A-4742-B13C-FB6460FD3503}" type="slidenum">
              <a:rPr lang="zh-CN" altLang="en-US" dirty="0"/>
              <a:t>‹#›</a:t>
            </a:fld>
            <a:endParaRPr lang="zh-CN" alt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bl" preserve="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381000" y="152400"/>
            <a:ext cx="6781800" cy="685800"/>
          </a:xfrm>
        </p:spPr>
        <p:txBody>
          <a:bodyPr/>
          <a:lstStyle/>
          <a:p>
            <a:r>
              <a:rPr lang="zh-CN" altLang="en-US" smtClean="0"/>
              <a:t>单击此处编辑母版标题样式</a:t>
            </a:r>
            <a:endParaRPr lang="zh-CN" altLang="en-US"/>
          </a:p>
        </p:txBody>
      </p:sp>
      <p:sp>
        <p:nvSpPr>
          <p:cNvPr id="3" name="表格占位符 2"/>
          <p:cNvSpPr>
            <a:spLocks noGrp="1"/>
          </p:cNvSpPr>
          <p:nvPr>
            <p:ph type="tbl" idx="1"/>
          </p:nvPr>
        </p:nvSpPr>
        <p:spPr>
          <a:xfrm>
            <a:off x="457200" y="1295400"/>
            <a:ext cx="8229600" cy="4876800"/>
          </a:xfrm>
        </p:spPr>
        <p:txBody>
          <a:bodyPr vert="horz" wrap="square" lIns="91440" tIns="45720" rIns="91440" bIns="45720" numCol="1" anchor="t" anchorCtr="0" compatLnSpc="1"/>
          <a:lstStyle>
            <a:lvl1pPr>
              <a:defRPr>
                <a:latin typeface="宋体" pitchFamily="2" charset="-122"/>
                <a:ea typeface="宋体" pitchFamily="2" charset="-122"/>
              </a:defRPr>
            </a:lvl1pPr>
          </a:lstStyle>
          <a:p>
            <a:pPr marL="342900" marR="0" lvl="0" indent="-342900" algn="l" defTabSz="914400" rtl="0" eaLnBrk="0" fontAlgn="base" latinLnBrk="0" hangingPunct="0">
              <a:lnSpc>
                <a:spcPct val="100000"/>
              </a:lnSpc>
              <a:spcBef>
                <a:spcPct val="20000"/>
              </a:spcBef>
              <a:spcAft>
                <a:spcPct val="0"/>
              </a:spcAft>
              <a:buClr>
                <a:schemeClr val="tx1"/>
              </a:buClr>
              <a:buSzTx/>
              <a:buFont typeface="Wingdings" panose="05000000000000000000" pitchFamily="2" charset="2"/>
              <a:buChar char="v"/>
              <a:defRPr/>
            </a:pPr>
            <a:endParaRPr kumimoji="0" lang="zh-CN" altLang="en-US" sz="3200" b="1" i="0" u="none" strike="noStrike" kern="0" cap="none" spc="0" normalizeH="0" baseline="0" noProof="0" dirty="0" smtClean="0">
              <a:ln>
                <a:noFill/>
              </a:ln>
              <a:solidFill>
                <a:schemeClr val="tx2"/>
              </a:solidFill>
              <a:effectLst/>
              <a:uLnTx/>
              <a:uFillTx/>
              <a:latin typeface="+mn-lt"/>
              <a:ea typeface="+mn-ea"/>
              <a:cs typeface="+mn-cs"/>
            </a:endParaRPr>
          </a:p>
        </p:txBody>
      </p:sp>
      <p:sp>
        <p:nvSpPr>
          <p:cNvPr id="4" name="灯片编号占位符 3"/>
          <p:cNvSpPr>
            <a:spLocks noGrp="1"/>
          </p:cNvSpPr>
          <p:nvPr>
            <p:ph type="sldNum" sz="quarter" idx="10"/>
          </p:nvPr>
        </p:nvSpPr>
        <p:spPr/>
        <p:txBody>
          <a:bodyPr/>
          <a:lstStyle/>
          <a:p>
            <a:pPr lvl="0" eaLnBrk="1" hangingPunct="1">
              <a:buNone/>
            </a:pPr>
            <a:fld id="{9A0DB2DC-4C9A-4742-B13C-FB6460FD3503}" type="slidenum">
              <a:rPr lang="zh-CN" altLang="en-US" dirty="0"/>
              <a:t>‹#›</a:t>
            </a:fld>
            <a:endParaRPr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48866" name="Freeform 2"/>
          <p:cNvSpPr/>
          <p:nvPr/>
        </p:nvSpPr>
        <p:spPr bwMode="gray">
          <a:xfrm>
            <a:off x="0" y="5638800"/>
            <a:ext cx="9144000" cy="1219200"/>
          </a:xfrm>
          <a:custGeom>
            <a:avLst/>
            <a:gdLst/>
            <a:ahLst/>
            <a:cxnLst>
              <a:cxn ang="0">
                <a:pos x="0" y="512"/>
              </a:cxn>
              <a:cxn ang="0">
                <a:pos x="5120" y="512"/>
              </a:cxn>
              <a:cxn ang="0">
                <a:pos x="5760" y="0"/>
              </a:cxn>
              <a:cxn ang="0">
                <a:pos x="5760" y="768"/>
              </a:cxn>
              <a:cxn ang="0">
                <a:pos x="0" y="768"/>
              </a:cxn>
              <a:cxn ang="0">
                <a:pos x="0" y="512"/>
              </a:cxn>
            </a:cxnLst>
            <a:rect l="0" t="0" r="r" b="b"/>
            <a:pathLst>
              <a:path w="5760" h="768">
                <a:moveTo>
                  <a:pt x="0" y="512"/>
                </a:moveTo>
                <a:lnTo>
                  <a:pt x="5120" y="512"/>
                </a:lnTo>
                <a:lnTo>
                  <a:pt x="5760" y="0"/>
                </a:lnTo>
                <a:lnTo>
                  <a:pt x="5760" y="768"/>
                </a:lnTo>
                <a:lnTo>
                  <a:pt x="0" y="768"/>
                </a:lnTo>
                <a:lnTo>
                  <a:pt x="0" y="512"/>
                </a:lnTo>
                <a:close/>
              </a:path>
            </a:pathLst>
          </a:custGeom>
          <a:solidFill>
            <a:schemeClr val="accent2"/>
          </a:solidFill>
          <a:ln w="9525">
            <a:noFill/>
            <a:round/>
          </a:ln>
          <a:effectLst/>
        </p:spPr>
        <p:txBody>
          <a:body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Gulim" panose="02010600030101010101" pitchFamily="34" charset="-127"/>
              <a:cs typeface="+mn-cs"/>
            </a:endParaRPr>
          </a:p>
        </p:txBody>
      </p:sp>
      <p:sp>
        <p:nvSpPr>
          <p:cNvPr id="548867" name="Freeform 3"/>
          <p:cNvSpPr/>
          <p:nvPr/>
        </p:nvSpPr>
        <p:spPr bwMode="gray">
          <a:xfrm>
            <a:off x="-3175" y="-3175"/>
            <a:ext cx="9147175" cy="1133475"/>
          </a:xfrm>
          <a:custGeom>
            <a:avLst/>
            <a:gdLst/>
            <a:ahLst/>
            <a:cxnLst>
              <a:cxn ang="0">
                <a:pos x="0" y="0"/>
              </a:cxn>
              <a:cxn ang="0">
                <a:pos x="3790" y="0"/>
              </a:cxn>
              <a:cxn ang="0">
                <a:pos x="3790" y="232"/>
              </a:cxn>
              <a:cxn ang="0">
                <a:pos x="3380" y="712"/>
              </a:cxn>
              <a:cxn ang="0">
                <a:pos x="2" y="714"/>
              </a:cxn>
              <a:cxn ang="0">
                <a:pos x="0" y="0"/>
              </a:cxn>
            </a:cxnLst>
            <a:rect l="0" t="0" r="r" b="b"/>
            <a:pathLst>
              <a:path w="3790" h="714">
                <a:moveTo>
                  <a:pt x="0" y="0"/>
                </a:moveTo>
                <a:lnTo>
                  <a:pt x="3790" y="0"/>
                </a:lnTo>
                <a:lnTo>
                  <a:pt x="3790" y="232"/>
                </a:lnTo>
                <a:lnTo>
                  <a:pt x="3380" y="712"/>
                </a:lnTo>
                <a:lnTo>
                  <a:pt x="2" y="714"/>
                </a:lnTo>
                <a:lnTo>
                  <a:pt x="0" y="0"/>
                </a:lnTo>
                <a:close/>
              </a:path>
            </a:pathLst>
          </a:custGeom>
          <a:solidFill>
            <a:schemeClr val="accent1"/>
          </a:solidFill>
          <a:ln w="9525">
            <a:noFill/>
            <a:round/>
          </a:ln>
          <a:effectLst/>
        </p:spPr>
        <p:txBody>
          <a:bodyPr wrap="none" anchor="ct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Gulim" panose="02010600030101010101" pitchFamily="34" charset="-127"/>
              <a:cs typeface="+mn-cs"/>
            </a:endParaRPr>
          </a:p>
        </p:txBody>
      </p:sp>
      <p:sp>
        <p:nvSpPr>
          <p:cNvPr id="548868" name="Rectangle 4"/>
          <p:cNvSpPr>
            <a:spLocks noChangeArrowheads="1"/>
          </p:cNvSpPr>
          <p:nvPr/>
        </p:nvSpPr>
        <p:spPr bwMode="gray">
          <a:xfrm>
            <a:off x="0" y="882650"/>
            <a:ext cx="7721600" cy="260350"/>
          </a:xfrm>
          <a:prstGeom prst="rect">
            <a:avLst/>
          </a:prstGeom>
          <a:solidFill>
            <a:schemeClr val="hlink"/>
          </a:solidFill>
          <a:ln w="9525">
            <a:noFill/>
            <a:miter lim="800000"/>
          </a:ln>
          <a:effectLst/>
        </p:spPr>
        <p:txBody>
          <a:bodyPr wrap="none" anchor="ct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Gulim" panose="02010600030101010101" pitchFamily="34" charset="-127"/>
              <a:cs typeface="+mn-cs"/>
            </a:endParaRPr>
          </a:p>
        </p:txBody>
      </p:sp>
      <p:sp>
        <p:nvSpPr>
          <p:cNvPr id="1029" name="Rectangle 5"/>
          <p:cNvSpPr>
            <a:spLocks noGrp="1"/>
          </p:cNvSpPr>
          <p:nvPr>
            <p:ph type="body" idx="1"/>
          </p:nvPr>
        </p:nvSpPr>
        <p:spPr>
          <a:xfrm>
            <a:off x="457200" y="1295400"/>
            <a:ext cx="8229600" cy="4876800"/>
          </a:xfrm>
          <a:prstGeom prst="rect">
            <a:avLst/>
          </a:prstGeom>
          <a:noFill/>
          <a:ln w="9525">
            <a:noFill/>
          </a:ln>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48870" name="Rectangle 6"/>
          <p:cNvSpPr>
            <a:spLocks noGrp="1" noChangeArrowheads="1"/>
          </p:cNvSpPr>
          <p:nvPr>
            <p:ph type="sldNum" sz="quarter" idx="4"/>
          </p:nvPr>
        </p:nvSpPr>
        <p:spPr bwMode="gray">
          <a:xfrm>
            <a:off x="3810000" y="6483350"/>
            <a:ext cx="1828800" cy="244475"/>
          </a:xfrm>
          <a:prstGeom prst="rect">
            <a:avLst/>
          </a:prstGeom>
          <a:noFill/>
          <a:ln w="9525">
            <a:noFill/>
            <a:miter lim="800000"/>
          </a:ln>
          <a:effectLst/>
        </p:spPr>
        <p:txBody>
          <a:bodyPr vert="horz" wrap="square" lIns="91440" tIns="45720" rIns="91440" bIns="45720" numCol="1" anchor="t" anchorCtr="0" compatLnSpc="1"/>
          <a:lstStyle>
            <a:lvl1pPr algn="ctr">
              <a:defRPr sz="1000">
                <a:solidFill>
                  <a:schemeClr val="bg1"/>
                </a:solidFill>
                <a:latin typeface="Verdana" panose="020B0604030504040204" pitchFamily="34" charset="0"/>
                <a:ea typeface="宋体" panose="02010600030101010101" pitchFamily="2" charset="-122"/>
              </a:defRPr>
            </a:lvl1pPr>
          </a:lstStyle>
          <a:p>
            <a:pPr lvl="0" eaLnBrk="1" hangingPunct="1">
              <a:buNone/>
            </a:pPr>
            <a:fld id="{9A0DB2DC-4C9A-4742-B13C-FB6460FD3503}" type="slidenum">
              <a:rPr lang="zh-CN" altLang="en-US" dirty="0"/>
              <a:t>‹#›</a:t>
            </a:fld>
            <a:endParaRPr lang="zh-CN" altLang="en-US" dirty="0"/>
          </a:p>
        </p:txBody>
      </p:sp>
      <p:sp>
        <p:nvSpPr>
          <p:cNvPr id="1031" name="Rectangle 7"/>
          <p:cNvSpPr>
            <a:spLocks noGrp="1"/>
          </p:cNvSpPr>
          <p:nvPr>
            <p:ph type="title"/>
          </p:nvPr>
        </p:nvSpPr>
        <p:spPr>
          <a:xfrm>
            <a:off x="381000" y="152400"/>
            <a:ext cx="6781800" cy="685800"/>
          </a:xfrm>
          <a:prstGeom prst="rect">
            <a:avLst/>
          </a:prstGeom>
          <a:noFill/>
          <a:ln w="9525">
            <a:noFill/>
          </a:ln>
        </p:spPr>
        <p:txBody>
          <a:bodyPr anchor="ctr" anchorCtr="0"/>
          <a:lstStyle/>
          <a:p>
            <a:pPr lvl="0"/>
            <a:r>
              <a:rPr lang="zh-CN" altLang="en-US" dirty="0"/>
              <a:t>单击此处编辑母版标题样式</a:t>
            </a:r>
          </a:p>
        </p:txBody>
      </p:sp>
      <p:sp>
        <p:nvSpPr>
          <p:cNvPr id="548872" name="Freeform 8"/>
          <p:cNvSpPr/>
          <p:nvPr/>
        </p:nvSpPr>
        <p:spPr bwMode="gray">
          <a:xfrm>
            <a:off x="6215063" y="881063"/>
            <a:ext cx="2260600" cy="261938"/>
          </a:xfrm>
          <a:custGeom>
            <a:avLst/>
            <a:gdLst/>
            <a:ahLst/>
            <a:cxnLst>
              <a:cxn ang="0">
                <a:pos x="0" y="165"/>
              </a:cxn>
              <a:cxn ang="0">
                <a:pos x="1221" y="164"/>
              </a:cxn>
              <a:cxn ang="0">
                <a:pos x="1424" y="0"/>
              </a:cxn>
              <a:cxn ang="0">
                <a:pos x="189" y="0"/>
              </a:cxn>
              <a:cxn ang="0">
                <a:pos x="0" y="165"/>
              </a:cxn>
            </a:cxnLst>
            <a:rect l="0" t="0" r="r" b="b"/>
            <a:pathLst>
              <a:path w="1424" h="165">
                <a:moveTo>
                  <a:pt x="0" y="165"/>
                </a:moveTo>
                <a:lnTo>
                  <a:pt x="1221" y="164"/>
                </a:lnTo>
                <a:lnTo>
                  <a:pt x="1424" y="0"/>
                </a:lnTo>
                <a:lnTo>
                  <a:pt x="189" y="0"/>
                </a:lnTo>
                <a:lnTo>
                  <a:pt x="0" y="165"/>
                </a:lnTo>
                <a:close/>
              </a:path>
            </a:pathLst>
          </a:custGeom>
          <a:solidFill>
            <a:schemeClr val="accent2"/>
          </a:solidFill>
          <a:ln w="9525">
            <a:noFill/>
            <a:round/>
          </a:ln>
          <a:effectLst/>
        </p:spPr>
        <p:txBody>
          <a:body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Gulim" panose="02010600030101010101" pitchFamily="34" charset="-127"/>
              <a:cs typeface="+mn-cs"/>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iming>
    <p:tnLst>
      <p:par>
        <p:cTn id="1" dur="indefinite" restart="never" nodeType="tmRoot"/>
      </p:par>
    </p:tnLst>
  </p:timing>
  <p:hf sldNum="0" hdr="0" ftr="0" dt="0"/>
  <p:txStyles>
    <p:titleStyle>
      <a:lvl1pPr algn="l" rtl="0" eaLnBrk="0" fontAlgn="base" hangingPunct="0">
        <a:spcBef>
          <a:spcPct val="0"/>
        </a:spcBef>
        <a:spcAft>
          <a:spcPct val="0"/>
        </a:spcAft>
        <a:defRPr sz="3600">
          <a:solidFill>
            <a:schemeClr val="bg1"/>
          </a:solidFill>
          <a:latin typeface="Times New Roman" pitchFamily="18" charset="0"/>
          <a:ea typeface="宋体" pitchFamily="2" charset="-122"/>
          <a:cs typeface="Times New Roman" pitchFamily="18" charset="0"/>
        </a:defRPr>
      </a:lvl1pPr>
      <a:lvl2pPr algn="l" rtl="0" eaLnBrk="0" fontAlgn="base" hangingPunct="0">
        <a:spcBef>
          <a:spcPct val="0"/>
        </a:spcBef>
        <a:spcAft>
          <a:spcPct val="0"/>
        </a:spcAft>
        <a:defRPr sz="3600">
          <a:solidFill>
            <a:schemeClr val="bg1"/>
          </a:solidFill>
          <a:latin typeface="Verdana" panose="020B0604030504040204" pitchFamily="34" charset="0"/>
        </a:defRPr>
      </a:lvl2pPr>
      <a:lvl3pPr algn="l" rtl="0" eaLnBrk="0" fontAlgn="base" hangingPunct="0">
        <a:spcBef>
          <a:spcPct val="0"/>
        </a:spcBef>
        <a:spcAft>
          <a:spcPct val="0"/>
        </a:spcAft>
        <a:defRPr sz="3600">
          <a:solidFill>
            <a:schemeClr val="bg1"/>
          </a:solidFill>
          <a:latin typeface="Verdana" panose="020B0604030504040204" pitchFamily="34" charset="0"/>
        </a:defRPr>
      </a:lvl3pPr>
      <a:lvl4pPr algn="l" rtl="0" eaLnBrk="0" fontAlgn="base" hangingPunct="0">
        <a:spcBef>
          <a:spcPct val="0"/>
        </a:spcBef>
        <a:spcAft>
          <a:spcPct val="0"/>
        </a:spcAft>
        <a:defRPr sz="3600">
          <a:solidFill>
            <a:schemeClr val="bg1"/>
          </a:solidFill>
          <a:latin typeface="Verdana" panose="020B0604030504040204" pitchFamily="34" charset="0"/>
        </a:defRPr>
      </a:lvl4pPr>
      <a:lvl5pPr algn="l" rtl="0" eaLnBrk="0" fontAlgn="base" hangingPunct="0">
        <a:spcBef>
          <a:spcPct val="0"/>
        </a:spcBef>
        <a:spcAft>
          <a:spcPct val="0"/>
        </a:spcAft>
        <a:defRPr sz="3600">
          <a:solidFill>
            <a:schemeClr val="bg1"/>
          </a:solidFill>
          <a:latin typeface="Verdana" panose="020B0604030504040204" pitchFamily="34" charset="0"/>
        </a:defRPr>
      </a:lvl5pPr>
      <a:lvl6pPr marL="457200" algn="l" rtl="0" fontAlgn="base">
        <a:spcBef>
          <a:spcPct val="0"/>
        </a:spcBef>
        <a:spcAft>
          <a:spcPct val="0"/>
        </a:spcAft>
        <a:defRPr sz="3600">
          <a:solidFill>
            <a:schemeClr val="bg1"/>
          </a:solidFill>
          <a:latin typeface="Verdana" panose="020B0604030504040204" pitchFamily="34" charset="0"/>
        </a:defRPr>
      </a:lvl6pPr>
      <a:lvl7pPr marL="914400" algn="l" rtl="0" fontAlgn="base">
        <a:spcBef>
          <a:spcPct val="0"/>
        </a:spcBef>
        <a:spcAft>
          <a:spcPct val="0"/>
        </a:spcAft>
        <a:defRPr sz="3600">
          <a:solidFill>
            <a:schemeClr val="bg1"/>
          </a:solidFill>
          <a:latin typeface="Verdana" panose="020B0604030504040204" pitchFamily="34" charset="0"/>
        </a:defRPr>
      </a:lvl7pPr>
      <a:lvl8pPr marL="1371600" algn="l" rtl="0" fontAlgn="base">
        <a:spcBef>
          <a:spcPct val="0"/>
        </a:spcBef>
        <a:spcAft>
          <a:spcPct val="0"/>
        </a:spcAft>
        <a:defRPr sz="3600">
          <a:solidFill>
            <a:schemeClr val="bg1"/>
          </a:solidFill>
          <a:latin typeface="Verdana" panose="020B0604030504040204" pitchFamily="34" charset="0"/>
        </a:defRPr>
      </a:lvl8pPr>
      <a:lvl9pPr marL="1828800" algn="l" rtl="0" fontAlgn="base">
        <a:spcBef>
          <a:spcPct val="0"/>
        </a:spcBef>
        <a:spcAft>
          <a:spcPct val="0"/>
        </a:spcAft>
        <a:defRPr sz="3600">
          <a:solidFill>
            <a:schemeClr val="bg1"/>
          </a:solidFill>
          <a:latin typeface="Verdana" panose="020B0604030504040204" pitchFamily="34" charset="0"/>
        </a:defRPr>
      </a:lvl9pPr>
    </p:titleStyle>
    <p:bodyStyle>
      <a:lvl1pPr marL="342900" indent="-342900" algn="l" rtl="0" eaLnBrk="0" fontAlgn="base" hangingPunct="0">
        <a:spcBef>
          <a:spcPct val="20000"/>
        </a:spcBef>
        <a:spcAft>
          <a:spcPct val="0"/>
        </a:spcAft>
        <a:buClr>
          <a:schemeClr val="tx1"/>
        </a:buClr>
        <a:buFont typeface="Wingdings" panose="05000000000000000000" pitchFamily="2" charset="2"/>
        <a:buChar char="v"/>
        <a:defRPr sz="3200" b="0">
          <a:solidFill>
            <a:schemeClr val="tx2"/>
          </a:solidFill>
          <a:latin typeface="Times New Roman" pitchFamily="18" charset="0"/>
          <a:ea typeface="宋体" pitchFamily="2" charset="-122"/>
          <a:cs typeface="Times New Roman" pitchFamily="18" charset="0"/>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b="0">
          <a:solidFill>
            <a:schemeClr val="tx2"/>
          </a:solidFill>
          <a:latin typeface="Times New Roman" pitchFamily="18" charset="0"/>
          <a:ea typeface="宋体" pitchFamily="2" charset="-122"/>
          <a:cs typeface="Times New Roman" pitchFamily="18" charset="0"/>
        </a:defRPr>
      </a:lvl2pPr>
      <a:lvl3pPr marL="1143000" indent="-228600" algn="l" rtl="0" eaLnBrk="0" fontAlgn="base" hangingPunct="0">
        <a:spcBef>
          <a:spcPct val="20000"/>
        </a:spcBef>
        <a:spcAft>
          <a:spcPct val="0"/>
        </a:spcAft>
        <a:buClr>
          <a:schemeClr val="hlink"/>
        </a:buClr>
        <a:buChar char="•"/>
        <a:defRPr sz="2400" b="0">
          <a:solidFill>
            <a:schemeClr val="tx2"/>
          </a:solidFill>
          <a:latin typeface="Times New Roman" pitchFamily="18" charset="0"/>
          <a:ea typeface="宋体" pitchFamily="2" charset="-122"/>
          <a:cs typeface="Times New Roman" pitchFamily="18" charset="0"/>
        </a:defRPr>
      </a:lvl3pPr>
      <a:lvl4pPr marL="1600200" indent="-228600" algn="l" rtl="0" eaLnBrk="0" fontAlgn="base" hangingPunct="0">
        <a:spcBef>
          <a:spcPct val="20000"/>
        </a:spcBef>
        <a:spcAft>
          <a:spcPct val="0"/>
        </a:spcAft>
        <a:buChar char="–"/>
        <a:defRPr sz="2000" b="0">
          <a:solidFill>
            <a:schemeClr val="tx2"/>
          </a:solidFill>
          <a:latin typeface="Times New Roman" pitchFamily="18" charset="0"/>
          <a:ea typeface="宋体" pitchFamily="2" charset="-122"/>
          <a:cs typeface="Times New Roman" pitchFamily="18" charset="0"/>
        </a:defRPr>
      </a:lvl4pPr>
      <a:lvl5pPr marL="2057400" indent="-228600" algn="l" rtl="0" eaLnBrk="0" fontAlgn="base" hangingPunct="0">
        <a:spcBef>
          <a:spcPct val="20000"/>
        </a:spcBef>
        <a:spcAft>
          <a:spcPct val="0"/>
        </a:spcAft>
        <a:buChar char="»"/>
        <a:defRPr sz="2000" b="0">
          <a:solidFill>
            <a:schemeClr val="tx2"/>
          </a:solidFill>
          <a:latin typeface="Times New Roman" pitchFamily="18" charset="0"/>
          <a:ea typeface="宋体" pitchFamily="2" charset="-122"/>
          <a:cs typeface="Times New Roman" pitchFamily="18" charset="0"/>
        </a:defRPr>
      </a:lvl5pPr>
      <a:lvl6pPr marL="2514600" indent="-228600" algn="l" rtl="0" fontAlgn="base">
        <a:spcBef>
          <a:spcPct val="20000"/>
        </a:spcBef>
        <a:spcAft>
          <a:spcPct val="0"/>
        </a:spcAft>
        <a:buChar char="»"/>
        <a:defRPr sz="2000">
          <a:solidFill>
            <a:schemeClr val="tx2"/>
          </a:solidFill>
          <a:latin typeface="Arial" panose="020B0604020202020204" pitchFamily="34" charset="0"/>
        </a:defRPr>
      </a:lvl6pPr>
      <a:lvl7pPr marL="2971800" indent="-228600" algn="l" rtl="0" fontAlgn="base">
        <a:spcBef>
          <a:spcPct val="20000"/>
        </a:spcBef>
        <a:spcAft>
          <a:spcPct val="0"/>
        </a:spcAft>
        <a:buChar char="»"/>
        <a:defRPr sz="2000">
          <a:solidFill>
            <a:schemeClr val="tx2"/>
          </a:solidFill>
          <a:latin typeface="Arial" panose="020B0604020202020204" pitchFamily="34" charset="0"/>
        </a:defRPr>
      </a:lvl7pPr>
      <a:lvl8pPr marL="3429000" indent="-228600" algn="l" rtl="0" fontAlgn="base">
        <a:spcBef>
          <a:spcPct val="20000"/>
        </a:spcBef>
        <a:spcAft>
          <a:spcPct val="0"/>
        </a:spcAft>
        <a:buChar char="»"/>
        <a:defRPr sz="2000">
          <a:solidFill>
            <a:schemeClr val="tx2"/>
          </a:solidFill>
          <a:latin typeface="Arial" panose="020B0604020202020204" pitchFamily="34" charset="0"/>
        </a:defRPr>
      </a:lvl8pPr>
      <a:lvl9pPr marL="3886200" indent="-228600" algn="l" rtl="0" fontAlgn="base">
        <a:spcBef>
          <a:spcPct val="20000"/>
        </a:spcBef>
        <a:spcAft>
          <a:spcPct val="0"/>
        </a:spcAft>
        <a:buChar char="»"/>
        <a:defRPr sz="2000">
          <a:solidFill>
            <a:schemeClr val="tx2"/>
          </a:solidFill>
          <a:latin typeface="Arial" panose="020B0604020202020204" pitchFamily="34" charset="0"/>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tags" Target="../tags/tag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image" Target="../media/image3.emf"/><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image" Target="../media/image4.gif"/><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2" Type="http://schemas.openxmlformats.org/officeDocument/2006/relationships/image" Target="../media/image4.gif"/><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2" Type="http://schemas.openxmlformats.org/officeDocument/2006/relationships/image" Target="../media/image4.gif"/><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p:cNvSpPr>
          <p:nvPr>
            <p:ph type="ctrTitle"/>
          </p:nvPr>
        </p:nvSpPr>
        <p:spPr>
          <a:xfrm>
            <a:off x="827088" y="1500188"/>
            <a:ext cx="6769100" cy="1682750"/>
          </a:xfrm>
        </p:spPr>
        <p:txBody>
          <a:bodyPr vert="horz" wrap="square" lIns="91440" tIns="45720" rIns="91440" bIns="45720" anchor="ctr" anchorCtr="0"/>
          <a:lstStyle/>
          <a:p>
            <a:pPr algn="ctr" eaLnBrk="1" hangingPunct="1">
              <a:buClrTx/>
              <a:buSzTx/>
              <a:buFontTx/>
            </a:pPr>
            <a:r>
              <a:rPr lang="zh-CN" altLang="en-US" sz="5400" b="1" dirty="0">
                <a:latin typeface="宋体" pitchFamily="2" charset="-122"/>
                <a:ea typeface="宋体" pitchFamily="2" charset="-122"/>
              </a:rPr>
              <a:t>数据库原理与应用</a:t>
            </a:r>
            <a:r>
              <a:rPr lang="en-US" altLang="zh-CN" sz="5400" b="1" dirty="0">
                <a:latin typeface="宋体" pitchFamily="2" charset="-122"/>
                <a:ea typeface="宋体" pitchFamily="2" charset="-122"/>
              </a:rPr>
              <a:t/>
            </a:r>
            <a:br>
              <a:rPr lang="en-US" altLang="zh-CN" sz="5400" b="1" dirty="0">
                <a:latin typeface="宋体" pitchFamily="2" charset="-122"/>
                <a:ea typeface="宋体" pitchFamily="2" charset="-122"/>
              </a:rPr>
            </a:br>
            <a:r>
              <a:rPr lang="zh-CN" altLang="en-US" sz="5400" b="1" dirty="0">
                <a:latin typeface="宋体" pitchFamily="2" charset="-122"/>
                <a:ea typeface="宋体" pitchFamily="2" charset="-122"/>
              </a:rPr>
              <a:t>（第</a:t>
            </a:r>
            <a:r>
              <a:rPr lang="en-US" altLang="zh-CN" sz="5400" b="1" dirty="0">
                <a:latin typeface="宋体" pitchFamily="2" charset="-122"/>
                <a:ea typeface="宋体" pitchFamily="2" charset="-122"/>
              </a:rPr>
              <a:t>3</a:t>
            </a:r>
            <a:r>
              <a:rPr lang="zh-CN" altLang="en-US" sz="5400" b="1" dirty="0">
                <a:latin typeface="宋体" pitchFamily="2" charset="-122"/>
                <a:ea typeface="宋体" pitchFamily="2" charset="-122"/>
              </a:rPr>
              <a:t>版）</a:t>
            </a:r>
          </a:p>
        </p:txBody>
      </p:sp>
      <p:sp>
        <p:nvSpPr>
          <p:cNvPr id="3075" name="Rectangle 6"/>
          <p:cNvSpPr>
            <a:spLocks noGrp="1"/>
          </p:cNvSpPr>
          <p:nvPr>
            <p:ph type="subTitle" idx="1"/>
          </p:nvPr>
        </p:nvSpPr>
        <p:spPr>
          <a:xfrm>
            <a:off x="2362200" y="5791200"/>
            <a:ext cx="4648200" cy="438785"/>
          </a:xfrm>
        </p:spPr>
        <p:txBody>
          <a:bodyPr vert="horz" wrap="square" lIns="91440" tIns="45720" rIns="91440" bIns="45720" anchor="t" anchorCtr="0"/>
          <a:lstStyle/>
          <a:p>
            <a:pPr eaLnBrk="1" hangingPunct="1">
              <a:lnSpc>
                <a:spcPct val="90000"/>
              </a:lnSpc>
              <a:buSzTx/>
            </a:pPr>
            <a:r>
              <a:rPr lang="zh-CN" altLang="en-US" sz="2800" dirty="0">
                <a:latin typeface="等线" panose="02010600030101010101" charset="-122"/>
                <a:ea typeface="等线" panose="02010600030101010101" charset="-122"/>
                <a:cs typeface="+mn-cs"/>
              </a:rPr>
              <a:t>人民邮电出版社</a:t>
            </a: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p:cNvSpPr>
          <p:nvPr>
            <p:ph type="title"/>
          </p:nvPr>
        </p:nvSpPr>
        <p:spPr>
          <a:xfrm>
            <a:off x="500063" y="152400"/>
            <a:ext cx="8001000" cy="685800"/>
          </a:xfrm>
        </p:spPr>
        <p:txBody>
          <a:bodyPr vert="horz" wrap="square" lIns="91440" tIns="45720" rIns="91440" bIns="45720" anchor="ctr" anchorCtr="0"/>
          <a:lstStyle/>
          <a:p>
            <a:pPr eaLnBrk="1" hangingPunct="1"/>
            <a:r>
              <a:rPr lang="zh-CN" altLang="en-US" sz="4000" b="0" dirty="0">
                <a:latin typeface="黑体" panose="02010609060101010101" pitchFamily="2" charset="-122"/>
                <a:ea typeface="黑体" panose="02010609060101010101" pitchFamily="2" charset="-122"/>
                <a:cs typeface="+mj-cs"/>
              </a:rPr>
              <a:t>第</a:t>
            </a:r>
            <a:r>
              <a:rPr lang="en-US" altLang="zh-CN" sz="4000" b="0" dirty="0">
                <a:latin typeface="黑体" panose="02010609060101010101" pitchFamily="2" charset="-122"/>
                <a:ea typeface="黑体" panose="02010609060101010101" pitchFamily="2" charset="-122"/>
                <a:cs typeface="+mj-cs"/>
              </a:rPr>
              <a:t>4</a:t>
            </a:r>
            <a:r>
              <a:rPr lang="zh-CN" altLang="en-US" sz="4000" b="0" dirty="0">
                <a:latin typeface="黑体" panose="02010609060101010101" pitchFamily="2" charset="-122"/>
                <a:ea typeface="黑体" panose="02010609060101010101" pitchFamily="2" charset="-122"/>
                <a:cs typeface="+mj-cs"/>
              </a:rPr>
              <a:t>章 数据操作语句</a:t>
            </a:r>
          </a:p>
        </p:txBody>
      </p:sp>
      <p:sp>
        <p:nvSpPr>
          <p:cNvPr id="4099" name="Rectangle 3"/>
          <p:cNvSpPr>
            <a:spLocks noGrp="1"/>
          </p:cNvSpPr>
          <p:nvPr>
            <p:ph idx="1"/>
          </p:nvPr>
        </p:nvSpPr>
        <p:spPr>
          <a:xfrm>
            <a:off x="1835696" y="1988840"/>
            <a:ext cx="5843810" cy="2175123"/>
          </a:xfrm>
        </p:spPr>
        <p:txBody>
          <a:bodyPr vert="horz" wrap="square" lIns="91440" tIns="45720" rIns="91440" bIns="45720" anchor="t" anchorCtr="0"/>
          <a:lstStyle/>
          <a:p>
            <a:pPr marL="0" indent="0" eaLnBrk="1" hangingPunct="1">
              <a:spcBef>
                <a:spcPts val="3000"/>
              </a:spcBef>
              <a:buNone/>
            </a:pPr>
            <a:r>
              <a:rPr lang="en-US" altLang="zh-CN" sz="4400" b="1" dirty="0">
                <a:latin typeface="宋体" pitchFamily="2" charset="-122"/>
                <a:ea typeface="宋体" pitchFamily="2" charset="-122"/>
                <a:cs typeface="等线" panose="02010600030101010101" charset="-122"/>
              </a:rPr>
              <a:t>4.1 </a:t>
            </a:r>
            <a:r>
              <a:rPr lang="en-US" altLang="zh-CN" sz="4400" b="1" dirty="0" smtClean="0">
                <a:latin typeface="宋体" pitchFamily="2" charset="-122"/>
                <a:ea typeface="宋体" pitchFamily="2" charset="-122"/>
                <a:cs typeface="等线" panose="02010600030101010101" charset="-122"/>
              </a:rPr>
              <a:t> </a:t>
            </a:r>
            <a:r>
              <a:rPr lang="zh-CN" altLang="en-US" sz="4400" b="1" dirty="0" smtClean="0">
                <a:latin typeface="宋体" pitchFamily="2" charset="-122"/>
                <a:ea typeface="宋体" pitchFamily="2" charset="-122"/>
                <a:cs typeface="等线" panose="02010600030101010101" charset="-122"/>
              </a:rPr>
              <a:t>数据</a:t>
            </a:r>
            <a:r>
              <a:rPr lang="zh-CN" altLang="en-US" sz="4400" b="1" dirty="0">
                <a:latin typeface="宋体" pitchFamily="2" charset="-122"/>
                <a:ea typeface="宋体" pitchFamily="2" charset="-122"/>
                <a:cs typeface="等线" panose="02010600030101010101" charset="-122"/>
              </a:rPr>
              <a:t>查询功能</a:t>
            </a:r>
          </a:p>
          <a:p>
            <a:pPr marL="0" indent="0" eaLnBrk="1" hangingPunct="1">
              <a:spcBef>
                <a:spcPts val="3000"/>
              </a:spcBef>
              <a:buNone/>
            </a:pPr>
            <a:r>
              <a:rPr lang="en-US" altLang="zh-CN" sz="4400" b="1" dirty="0">
                <a:latin typeface="宋体" pitchFamily="2" charset="-122"/>
                <a:ea typeface="宋体" pitchFamily="2" charset="-122"/>
                <a:cs typeface="等线" panose="02010600030101010101" charset="-122"/>
              </a:rPr>
              <a:t>4.2 </a:t>
            </a:r>
            <a:r>
              <a:rPr lang="en-US" altLang="zh-CN" sz="4400" b="1" dirty="0" smtClean="0">
                <a:latin typeface="宋体" pitchFamily="2" charset="-122"/>
                <a:ea typeface="宋体" pitchFamily="2" charset="-122"/>
                <a:cs typeface="等线" panose="02010600030101010101" charset="-122"/>
              </a:rPr>
              <a:t> </a:t>
            </a:r>
            <a:r>
              <a:rPr lang="zh-CN" altLang="en-US" sz="4400" b="1" dirty="0" smtClean="0">
                <a:latin typeface="宋体" pitchFamily="2" charset="-122"/>
                <a:ea typeface="宋体" pitchFamily="2" charset="-122"/>
                <a:cs typeface="等线" panose="02010600030101010101" charset="-122"/>
              </a:rPr>
              <a:t>数据</a:t>
            </a:r>
            <a:r>
              <a:rPr lang="zh-CN" altLang="en-US" sz="4400" b="1" dirty="0">
                <a:latin typeface="宋体" pitchFamily="2" charset="-122"/>
                <a:ea typeface="宋体" pitchFamily="2" charset="-122"/>
                <a:cs typeface="等线" panose="02010600030101010101" charset="-122"/>
              </a:rPr>
              <a:t>更改功能</a:t>
            </a: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p:cNvSpPr>
          <p:nvPr>
            <p:ph type="title"/>
          </p:nvPr>
        </p:nvSpPr>
        <p:spPr>
          <a:xfrm>
            <a:off x="500063" y="152400"/>
            <a:ext cx="8001000" cy="685800"/>
          </a:xfrm>
          <a:noFill/>
          <a:ln w="9525">
            <a:noFill/>
          </a:ln>
        </p:spPr>
        <p:txBody>
          <a:bodyPr vert="horz" wrap="square" lIns="91440" tIns="45720" rIns="91440" bIns="45720" rtlCol="0" anchor="ctr" anchorCtr="0">
            <a:normAutofit fontScale="90000"/>
          </a:bodyPr>
          <a:lstStyle/>
          <a:p>
            <a:pPr lvl="0" algn="ctr" eaLnBrk="1" hangingPunct="1">
              <a:buClrTx/>
              <a:buSzTx/>
              <a:buFontTx/>
            </a:pPr>
            <a:r>
              <a:rPr lang="zh-CN" altLang="en-US" sz="4000" b="0" dirty="0">
                <a:latin typeface="黑体" panose="02010609060101010101" pitchFamily="2" charset="-122"/>
                <a:ea typeface="黑体" panose="02010609060101010101" pitchFamily="2" charset="-122"/>
                <a:sym typeface="+mn-ea"/>
              </a:rPr>
              <a:t>4.1 数据查询功能 </a:t>
            </a:r>
          </a:p>
        </p:txBody>
      </p:sp>
      <p:sp>
        <p:nvSpPr>
          <p:cNvPr id="5123" name="Rectangle 3"/>
          <p:cNvSpPr>
            <a:spLocks noGrp="1"/>
          </p:cNvSpPr>
          <p:nvPr>
            <p:ph idx="1"/>
          </p:nvPr>
        </p:nvSpPr>
        <p:spPr>
          <a:xfrm>
            <a:off x="971233" y="1412240"/>
            <a:ext cx="7658100" cy="4418013"/>
          </a:xfrm>
        </p:spPr>
        <p:txBody>
          <a:bodyPr vert="horz" wrap="square" lIns="91440" tIns="45720" rIns="91440" bIns="45720" anchor="t" anchorCtr="0"/>
          <a:lstStyle/>
          <a:p>
            <a:pPr marL="0" indent="0" algn="just" eaLnBrk="1" hangingPunct="1">
              <a:spcBef>
                <a:spcPts val="2400"/>
              </a:spcBef>
              <a:buNone/>
            </a:pPr>
            <a:r>
              <a:rPr lang="en-US" altLang="zh-CN" sz="3600" b="1" dirty="0">
                <a:latin typeface="Times New Roman" pitchFamily="18" charset="0"/>
                <a:ea typeface="宋体" pitchFamily="2" charset="-122"/>
              </a:rPr>
              <a:t>4.1.1 </a:t>
            </a:r>
            <a:r>
              <a:rPr lang="en-US" altLang="zh-CN" sz="3600" b="1" dirty="0" smtClean="0">
                <a:latin typeface="Times New Roman" pitchFamily="18" charset="0"/>
                <a:ea typeface="宋体" pitchFamily="2" charset="-122"/>
              </a:rPr>
              <a:t> </a:t>
            </a:r>
            <a:r>
              <a:rPr lang="zh-CN" altLang="en-US" sz="3600" b="1" dirty="0" smtClean="0">
                <a:latin typeface="Times New Roman" pitchFamily="18" charset="0"/>
                <a:ea typeface="宋体" pitchFamily="2" charset="-122"/>
              </a:rPr>
              <a:t>查询</a:t>
            </a:r>
            <a:r>
              <a:rPr lang="zh-CN" altLang="en-US" sz="3600" b="1" dirty="0">
                <a:latin typeface="Times New Roman" pitchFamily="18" charset="0"/>
                <a:ea typeface="宋体" pitchFamily="2" charset="-122"/>
              </a:rPr>
              <a:t>语句的基本结构</a:t>
            </a:r>
          </a:p>
          <a:p>
            <a:pPr marL="0" indent="0" algn="just" eaLnBrk="1" hangingPunct="1">
              <a:spcBef>
                <a:spcPts val="2400"/>
              </a:spcBef>
              <a:buNone/>
            </a:pPr>
            <a:r>
              <a:rPr lang="en-US" altLang="zh-CN" sz="3600" b="1" dirty="0">
                <a:latin typeface="Times New Roman" pitchFamily="18" charset="0"/>
                <a:ea typeface="宋体" pitchFamily="2" charset="-122"/>
              </a:rPr>
              <a:t>4.1.2 </a:t>
            </a:r>
            <a:r>
              <a:rPr lang="en-US" altLang="zh-CN" sz="3600" b="1" dirty="0" smtClean="0">
                <a:latin typeface="Times New Roman" pitchFamily="18" charset="0"/>
                <a:ea typeface="宋体" pitchFamily="2" charset="-122"/>
              </a:rPr>
              <a:t> </a:t>
            </a:r>
            <a:r>
              <a:rPr lang="zh-CN" altLang="en-US" sz="3600" b="1" dirty="0" smtClean="0">
                <a:latin typeface="Times New Roman" pitchFamily="18" charset="0"/>
                <a:ea typeface="宋体" pitchFamily="2" charset="-122"/>
              </a:rPr>
              <a:t>简单</a:t>
            </a:r>
            <a:r>
              <a:rPr lang="zh-CN" altLang="en-US" sz="3600" b="1" dirty="0">
                <a:latin typeface="Times New Roman" pitchFamily="18" charset="0"/>
                <a:ea typeface="宋体" pitchFamily="2" charset="-122"/>
              </a:rPr>
              <a:t>查询</a:t>
            </a:r>
          </a:p>
          <a:p>
            <a:pPr marL="0" indent="0" algn="just" eaLnBrk="1" hangingPunct="1">
              <a:spcBef>
                <a:spcPts val="2400"/>
              </a:spcBef>
              <a:buNone/>
            </a:pPr>
            <a:r>
              <a:rPr lang="en-US" altLang="zh-CN" sz="3600" b="1" dirty="0">
                <a:latin typeface="Times New Roman" pitchFamily="18" charset="0"/>
                <a:ea typeface="宋体" pitchFamily="2" charset="-122"/>
              </a:rPr>
              <a:t>4.1.3 </a:t>
            </a:r>
            <a:r>
              <a:rPr lang="en-US" altLang="zh-CN" sz="3600" b="1" dirty="0" smtClean="0">
                <a:latin typeface="Times New Roman" pitchFamily="18" charset="0"/>
                <a:ea typeface="宋体" pitchFamily="2" charset="-122"/>
              </a:rPr>
              <a:t> </a:t>
            </a:r>
            <a:r>
              <a:rPr lang="zh-CN" altLang="en-US" sz="3600" b="1" dirty="0" smtClean="0">
                <a:latin typeface="Times New Roman" pitchFamily="18" charset="0"/>
                <a:ea typeface="宋体" pitchFamily="2" charset="-122"/>
              </a:rPr>
              <a:t>多</a:t>
            </a:r>
            <a:r>
              <a:rPr lang="zh-CN" altLang="en-US" sz="3600" b="1" dirty="0">
                <a:latin typeface="Times New Roman" pitchFamily="18" charset="0"/>
                <a:ea typeface="宋体" pitchFamily="2" charset="-122"/>
              </a:rPr>
              <a:t>表连接查询</a:t>
            </a:r>
          </a:p>
          <a:p>
            <a:pPr marL="0" indent="0" algn="just" eaLnBrk="1" hangingPunct="1">
              <a:spcBef>
                <a:spcPts val="2400"/>
              </a:spcBef>
              <a:buNone/>
            </a:pPr>
            <a:r>
              <a:rPr lang="en-US" altLang="zh-CN" sz="3600" b="1" dirty="0">
                <a:latin typeface="Times New Roman" pitchFamily="18" charset="0"/>
                <a:ea typeface="宋体" pitchFamily="2" charset="-122"/>
              </a:rPr>
              <a:t>4.1.4 </a:t>
            </a:r>
            <a:r>
              <a:rPr lang="en-US" altLang="zh-CN" sz="3600" b="1" dirty="0" smtClean="0">
                <a:latin typeface="Times New Roman" pitchFamily="18" charset="0"/>
                <a:ea typeface="宋体" pitchFamily="2" charset="-122"/>
              </a:rPr>
              <a:t> </a:t>
            </a:r>
            <a:r>
              <a:rPr lang="en-US" altLang="zh-CN" sz="3600" b="1" dirty="0" err="1" smtClean="0">
                <a:latin typeface="Times New Roman" pitchFamily="18" charset="0"/>
                <a:ea typeface="宋体" pitchFamily="2" charset="-122"/>
              </a:rPr>
              <a:t>CASE</a:t>
            </a:r>
            <a:r>
              <a:rPr lang="en-US" altLang="zh-CN" sz="3600" b="1" dirty="0" err="1">
                <a:latin typeface="Times New Roman" pitchFamily="18" charset="0"/>
                <a:ea typeface="宋体" pitchFamily="2" charset="-122"/>
              </a:rPr>
              <a:t>表达式</a:t>
            </a:r>
            <a:endParaRPr lang="zh-CN" altLang="en-US" sz="3600" b="1" dirty="0">
              <a:latin typeface="Times New Roman" pitchFamily="18" charset="0"/>
              <a:ea typeface="宋体" pitchFamily="2" charset="-122"/>
            </a:endParaRPr>
          </a:p>
          <a:p>
            <a:pPr marL="0" indent="0" eaLnBrk="1" hangingPunct="1">
              <a:spcBef>
                <a:spcPts val="2400"/>
              </a:spcBef>
              <a:buNone/>
            </a:pPr>
            <a:r>
              <a:rPr lang="en-US" altLang="zh-CN" sz="3600" b="1" dirty="0">
                <a:latin typeface="Times New Roman" pitchFamily="18" charset="0"/>
                <a:ea typeface="宋体" pitchFamily="2" charset="-122"/>
              </a:rPr>
              <a:t>4.1.5 </a:t>
            </a:r>
            <a:r>
              <a:rPr lang="en-US" altLang="zh-CN" sz="3600" b="1" dirty="0" smtClean="0">
                <a:latin typeface="Times New Roman" pitchFamily="18" charset="0"/>
                <a:ea typeface="宋体" pitchFamily="2" charset="-122"/>
              </a:rPr>
              <a:t> </a:t>
            </a:r>
            <a:r>
              <a:rPr lang="zh-CN" altLang="en-US" sz="3600" b="1" dirty="0" smtClean="0">
                <a:latin typeface="Times New Roman" pitchFamily="18" charset="0"/>
                <a:ea typeface="宋体" pitchFamily="2" charset="-122"/>
              </a:rPr>
              <a:t>子</a:t>
            </a:r>
            <a:r>
              <a:rPr lang="zh-CN" altLang="en-US" sz="3600" b="1" dirty="0">
                <a:latin typeface="Times New Roman" pitchFamily="18" charset="0"/>
                <a:ea typeface="宋体" pitchFamily="2" charset="-122"/>
              </a:rPr>
              <a:t>查询 </a:t>
            </a: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p:cNvSpPr>
          <p:nvPr>
            <p:ph type="title"/>
          </p:nvPr>
        </p:nvSpPr>
        <p:spPr>
          <a:xfrm>
            <a:off x="500063" y="152400"/>
            <a:ext cx="8001000" cy="685800"/>
          </a:xfrm>
          <a:noFill/>
          <a:ln w="9525">
            <a:noFill/>
          </a:ln>
        </p:spPr>
        <p:txBody>
          <a:bodyPr vert="horz" wrap="square" lIns="91440" tIns="45720" rIns="91440" bIns="45720" rtlCol="0" anchor="ctr" anchorCtr="0">
            <a:normAutofit fontScale="90000"/>
          </a:bodyPr>
          <a:lstStyle/>
          <a:p>
            <a:pPr lvl="0" algn="ctr" eaLnBrk="1" hangingPunct="1">
              <a:buClrTx/>
              <a:buSzTx/>
              <a:buFontTx/>
            </a:pPr>
            <a:r>
              <a:rPr lang="zh-CN" altLang="en-US" sz="4000" b="0" dirty="0">
                <a:latin typeface="黑体" panose="02010609060101010101" pitchFamily="2" charset="-122"/>
                <a:ea typeface="黑体" panose="02010609060101010101" pitchFamily="2" charset="-122"/>
                <a:sym typeface="+mn-ea"/>
              </a:rPr>
              <a:t>4.1.1 查询语句基本格式</a:t>
            </a:r>
          </a:p>
        </p:txBody>
      </p:sp>
      <p:sp>
        <p:nvSpPr>
          <p:cNvPr id="6147" name="Rectangle 3"/>
          <p:cNvSpPr>
            <a:spLocks noGrp="1"/>
          </p:cNvSpPr>
          <p:nvPr>
            <p:ph idx="1"/>
          </p:nvPr>
        </p:nvSpPr>
        <p:spPr>
          <a:xfrm>
            <a:off x="611560" y="1412776"/>
            <a:ext cx="8094345" cy="4622800"/>
          </a:xfrm>
        </p:spPr>
        <p:txBody>
          <a:bodyPr vert="horz" wrap="square" lIns="91440" tIns="45720" rIns="91440" bIns="45720" anchor="t" anchorCtr="0"/>
          <a:lstStyle/>
          <a:p>
            <a:pPr eaLnBrk="1" hangingPunct="1">
              <a:spcBef>
                <a:spcPts val="1200"/>
              </a:spcBef>
              <a:buFont typeface="Wingdings" panose="05000000000000000000" pitchFamily="2" charset="2"/>
              <a:buNone/>
            </a:pPr>
            <a:r>
              <a:rPr lang="en-US" altLang="zh-CN" sz="3200" b="1" dirty="0">
                <a:latin typeface="Times New Roman" pitchFamily="18" charset="0"/>
                <a:ea typeface="宋体" pitchFamily="2" charset="-122"/>
              </a:rPr>
              <a:t>SELECT &lt;</a:t>
            </a:r>
            <a:r>
              <a:rPr lang="zh-CN" altLang="en-US" sz="3200" b="1" dirty="0">
                <a:latin typeface="Times New Roman" pitchFamily="18" charset="0"/>
                <a:ea typeface="宋体" pitchFamily="2" charset="-122"/>
              </a:rPr>
              <a:t>目标列名序列</a:t>
            </a:r>
            <a:r>
              <a:rPr lang="en-US" altLang="zh-CN" sz="3200" b="1" dirty="0">
                <a:latin typeface="Times New Roman" pitchFamily="18" charset="0"/>
                <a:ea typeface="宋体" pitchFamily="2" charset="-122"/>
              </a:rPr>
              <a:t>&gt;   </a:t>
            </a:r>
            <a:r>
              <a:rPr lang="en-US" altLang="zh-CN" sz="3200" b="1" dirty="0">
                <a:solidFill>
                  <a:srgbClr val="009900"/>
                </a:solidFill>
                <a:latin typeface="Times New Roman" pitchFamily="18" charset="0"/>
                <a:ea typeface="宋体" pitchFamily="2" charset="-122"/>
              </a:rPr>
              <a:t>--</a:t>
            </a:r>
            <a:r>
              <a:rPr lang="zh-CN" altLang="en-US" sz="3200" b="1" dirty="0">
                <a:solidFill>
                  <a:srgbClr val="009900"/>
                </a:solidFill>
                <a:latin typeface="Times New Roman" pitchFamily="18" charset="0"/>
                <a:ea typeface="宋体" pitchFamily="2" charset="-122"/>
              </a:rPr>
              <a:t>需要哪些列</a:t>
            </a:r>
          </a:p>
          <a:p>
            <a:pPr eaLnBrk="1" hangingPunct="1">
              <a:spcBef>
                <a:spcPts val="1200"/>
              </a:spcBef>
              <a:buFont typeface="Wingdings" panose="05000000000000000000" pitchFamily="2" charset="2"/>
              <a:buNone/>
            </a:pPr>
            <a:r>
              <a:rPr lang="zh-CN" altLang="en-US" sz="3200" b="1" dirty="0">
                <a:latin typeface="Times New Roman" pitchFamily="18" charset="0"/>
                <a:ea typeface="宋体" pitchFamily="2" charset="-122"/>
              </a:rPr>
              <a:t>  </a:t>
            </a:r>
            <a:r>
              <a:rPr lang="en-US" altLang="zh-CN" sz="3200" b="1" dirty="0">
                <a:latin typeface="Times New Roman" pitchFamily="18" charset="0"/>
                <a:ea typeface="宋体" pitchFamily="2" charset="-122"/>
              </a:rPr>
              <a:t>FROM &lt;</a:t>
            </a:r>
            <a:r>
              <a:rPr lang="zh-CN" altLang="en-US" sz="3200" b="1" dirty="0">
                <a:latin typeface="Times New Roman" pitchFamily="18" charset="0"/>
                <a:ea typeface="宋体" pitchFamily="2" charset="-122"/>
              </a:rPr>
              <a:t>数据源</a:t>
            </a:r>
            <a:r>
              <a:rPr lang="en-US" altLang="zh-CN" sz="3200" b="1" dirty="0">
                <a:latin typeface="Times New Roman" pitchFamily="18" charset="0"/>
                <a:ea typeface="宋体" pitchFamily="2" charset="-122"/>
              </a:rPr>
              <a:t>&gt;             </a:t>
            </a:r>
            <a:r>
              <a:rPr lang="en-US" altLang="zh-CN" sz="3200" b="1" dirty="0" smtClean="0">
                <a:latin typeface="Times New Roman" pitchFamily="18" charset="0"/>
                <a:ea typeface="宋体" pitchFamily="2" charset="-122"/>
              </a:rPr>
              <a:t>   </a:t>
            </a:r>
            <a:r>
              <a:rPr lang="en-US" altLang="zh-CN" sz="3200" b="1" dirty="0" smtClean="0">
                <a:solidFill>
                  <a:srgbClr val="009900"/>
                </a:solidFill>
                <a:latin typeface="Times New Roman" pitchFamily="18" charset="0"/>
                <a:ea typeface="宋体" pitchFamily="2" charset="-122"/>
              </a:rPr>
              <a:t>--</a:t>
            </a:r>
            <a:r>
              <a:rPr lang="zh-CN" altLang="en-US" sz="3200" b="1" dirty="0">
                <a:solidFill>
                  <a:srgbClr val="009900"/>
                </a:solidFill>
                <a:latin typeface="Times New Roman" pitchFamily="18" charset="0"/>
                <a:ea typeface="宋体" pitchFamily="2" charset="-122"/>
              </a:rPr>
              <a:t>来自于哪些表</a:t>
            </a:r>
          </a:p>
          <a:p>
            <a:pPr eaLnBrk="1" hangingPunct="1">
              <a:spcBef>
                <a:spcPts val="1200"/>
              </a:spcBef>
              <a:buFont typeface="Wingdings" panose="05000000000000000000" pitchFamily="2" charset="2"/>
              <a:buNone/>
            </a:pPr>
            <a:r>
              <a:rPr lang="zh-CN" altLang="en-US" sz="3200" b="1" dirty="0">
                <a:latin typeface="Times New Roman" pitchFamily="18" charset="0"/>
                <a:ea typeface="宋体" pitchFamily="2" charset="-122"/>
              </a:rPr>
              <a:t> </a:t>
            </a:r>
            <a:r>
              <a:rPr lang="en-US" altLang="zh-CN" sz="3200" b="1" dirty="0">
                <a:latin typeface="Times New Roman" pitchFamily="18" charset="0"/>
                <a:ea typeface="宋体" pitchFamily="2" charset="-122"/>
              </a:rPr>
              <a:t>[WHERE &lt;</a:t>
            </a:r>
            <a:r>
              <a:rPr lang="zh-CN" altLang="en-US" sz="3200" b="1" dirty="0">
                <a:latin typeface="Times New Roman" pitchFamily="18" charset="0"/>
                <a:ea typeface="宋体" pitchFamily="2" charset="-122"/>
              </a:rPr>
              <a:t>检索条件</a:t>
            </a:r>
            <a:r>
              <a:rPr lang="en-US" altLang="zh-CN" sz="3200" b="1" dirty="0">
                <a:latin typeface="Times New Roman" pitchFamily="18" charset="0"/>
                <a:ea typeface="宋体" pitchFamily="2" charset="-122"/>
              </a:rPr>
              <a:t>&gt;]       </a:t>
            </a:r>
            <a:r>
              <a:rPr lang="en-US" altLang="zh-CN" sz="3200" b="1" dirty="0">
                <a:solidFill>
                  <a:srgbClr val="009900"/>
                </a:solidFill>
                <a:latin typeface="Times New Roman" pitchFamily="18" charset="0"/>
                <a:ea typeface="宋体" pitchFamily="2" charset="-122"/>
              </a:rPr>
              <a:t>--</a:t>
            </a:r>
            <a:r>
              <a:rPr lang="zh-CN" altLang="en-US" sz="3200" b="1" dirty="0">
                <a:solidFill>
                  <a:srgbClr val="009900"/>
                </a:solidFill>
                <a:latin typeface="Times New Roman" pitchFamily="18" charset="0"/>
                <a:ea typeface="宋体" pitchFamily="2" charset="-122"/>
              </a:rPr>
              <a:t>根据什么条件</a:t>
            </a:r>
          </a:p>
          <a:p>
            <a:pPr eaLnBrk="1" hangingPunct="1">
              <a:spcBef>
                <a:spcPts val="1200"/>
              </a:spcBef>
              <a:buFont typeface="Wingdings" panose="05000000000000000000" pitchFamily="2" charset="2"/>
              <a:buNone/>
            </a:pPr>
            <a:r>
              <a:rPr lang="zh-CN" altLang="en-US" sz="3200" b="1" dirty="0">
                <a:latin typeface="Times New Roman" pitchFamily="18" charset="0"/>
                <a:ea typeface="宋体" pitchFamily="2" charset="-122"/>
              </a:rPr>
              <a:t> </a:t>
            </a:r>
            <a:r>
              <a:rPr lang="en-US" altLang="zh-CN" sz="3200" b="1" dirty="0">
                <a:latin typeface="Times New Roman" pitchFamily="18" charset="0"/>
                <a:ea typeface="宋体" pitchFamily="2" charset="-122"/>
              </a:rPr>
              <a:t>[GROUP BY &lt;</a:t>
            </a:r>
            <a:r>
              <a:rPr lang="zh-CN" altLang="en-US" sz="3200" b="1" dirty="0">
                <a:latin typeface="Times New Roman" pitchFamily="18" charset="0"/>
                <a:ea typeface="宋体" pitchFamily="2" charset="-122"/>
              </a:rPr>
              <a:t>分组依据列</a:t>
            </a:r>
            <a:r>
              <a:rPr lang="en-US" altLang="zh-CN" sz="3200" b="1" dirty="0">
                <a:latin typeface="Times New Roman" pitchFamily="18" charset="0"/>
                <a:ea typeface="宋体" pitchFamily="2" charset="-122"/>
              </a:rPr>
              <a:t>&gt;]      </a:t>
            </a:r>
          </a:p>
          <a:p>
            <a:pPr eaLnBrk="1" hangingPunct="1">
              <a:spcBef>
                <a:spcPts val="1200"/>
              </a:spcBef>
              <a:buFont typeface="Wingdings" panose="05000000000000000000" pitchFamily="2" charset="2"/>
              <a:buNone/>
            </a:pPr>
            <a:r>
              <a:rPr lang="en-US" altLang="zh-CN" sz="3200" b="1" dirty="0">
                <a:latin typeface="Times New Roman" pitchFamily="18" charset="0"/>
                <a:ea typeface="宋体" pitchFamily="2" charset="-122"/>
              </a:rPr>
              <a:t> [HAVING &lt;</a:t>
            </a:r>
            <a:r>
              <a:rPr lang="zh-CN" altLang="en-US" sz="3200" b="1" dirty="0">
                <a:latin typeface="Times New Roman" pitchFamily="18" charset="0"/>
                <a:ea typeface="宋体" pitchFamily="2" charset="-122"/>
              </a:rPr>
              <a:t>组提取条件</a:t>
            </a:r>
            <a:r>
              <a:rPr lang="en-US" altLang="zh-CN" sz="3200" b="1" dirty="0">
                <a:latin typeface="Times New Roman" pitchFamily="18" charset="0"/>
                <a:ea typeface="宋体" pitchFamily="2" charset="-122"/>
              </a:rPr>
              <a:t>&gt;]</a:t>
            </a:r>
          </a:p>
          <a:p>
            <a:pPr eaLnBrk="1" hangingPunct="1">
              <a:spcBef>
                <a:spcPts val="1200"/>
              </a:spcBef>
              <a:buFont typeface="Wingdings" panose="05000000000000000000" pitchFamily="2" charset="2"/>
              <a:buNone/>
            </a:pPr>
            <a:r>
              <a:rPr lang="en-US" altLang="zh-CN" sz="3200" b="1" dirty="0">
                <a:latin typeface="Times New Roman" pitchFamily="18" charset="0"/>
                <a:ea typeface="宋体" pitchFamily="2" charset="-122"/>
              </a:rPr>
              <a:t> [ORDER BY &lt;</a:t>
            </a:r>
            <a:r>
              <a:rPr lang="zh-CN" altLang="en-US" sz="3200" b="1" dirty="0">
                <a:latin typeface="Times New Roman" pitchFamily="18" charset="0"/>
                <a:ea typeface="宋体" pitchFamily="2" charset="-122"/>
              </a:rPr>
              <a:t>排序依据列</a:t>
            </a:r>
            <a:r>
              <a:rPr lang="en-US" altLang="zh-CN" sz="3200" b="1" dirty="0">
                <a:latin typeface="Times New Roman" pitchFamily="18" charset="0"/>
                <a:ea typeface="宋体" pitchFamily="2" charset="-122"/>
              </a:rPr>
              <a:t>&gt;] </a:t>
            </a:r>
            <a:endParaRPr lang="zh-CN" altLang="en-US" sz="3200" b="1" dirty="0">
              <a:latin typeface="Times New Roman" pitchFamily="18" charset="0"/>
              <a:ea typeface="宋体" pitchFamily="2" charset="-122"/>
            </a:endParaRP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标题 1"/>
          <p:cNvSpPr>
            <a:spLocks noGrp="1"/>
          </p:cNvSpPr>
          <p:nvPr>
            <p:ph type="title"/>
          </p:nvPr>
        </p:nvSpPr>
        <p:spPr>
          <a:xfrm>
            <a:off x="500063" y="152400"/>
            <a:ext cx="8001000" cy="685800"/>
          </a:xfrm>
          <a:noFill/>
          <a:ln w="9525">
            <a:noFill/>
          </a:ln>
        </p:spPr>
        <p:txBody>
          <a:bodyPr vert="horz" wrap="square" lIns="91440" tIns="45720" rIns="91440" bIns="45720" rtlCol="0" anchor="ctr" anchorCtr="0">
            <a:normAutofit fontScale="90000"/>
          </a:bodyPr>
          <a:lstStyle/>
          <a:p>
            <a:pPr lvl="0" algn="ctr" eaLnBrk="1" hangingPunct="1">
              <a:buClrTx/>
              <a:buSzTx/>
              <a:buFontTx/>
            </a:pPr>
            <a:r>
              <a:rPr lang="zh-CN" altLang="en-US" sz="4000" b="0" dirty="0">
                <a:latin typeface="黑体" panose="02010609060101010101" pitchFamily="2" charset="-122"/>
                <a:ea typeface="黑体" panose="02010609060101010101" pitchFamily="2" charset="-122"/>
                <a:sym typeface="+mn-ea"/>
              </a:rPr>
              <a:t>4.1.2 简单查询</a:t>
            </a:r>
          </a:p>
        </p:txBody>
      </p:sp>
      <p:sp>
        <p:nvSpPr>
          <p:cNvPr id="7171" name="内容占位符 2"/>
          <p:cNvSpPr>
            <a:spLocks noGrp="1"/>
          </p:cNvSpPr>
          <p:nvPr>
            <p:ph idx="1"/>
          </p:nvPr>
        </p:nvSpPr>
        <p:spPr>
          <a:xfrm>
            <a:off x="642938" y="1428750"/>
            <a:ext cx="8043862" cy="4743450"/>
          </a:xfrm>
        </p:spPr>
        <p:txBody>
          <a:bodyPr vert="horz" wrap="square" lIns="91440" tIns="45720" rIns="91440" bIns="45720" anchor="t" anchorCtr="0"/>
          <a:lstStyle/>
          <a:p>
            <a:pPr eaLnBrk="1" hangingPunct="1">
              <a:spcBef>
                <a:spcPts val="2400"/>
              </a:spcBef>
            </a:pPr>
            <a:r>
              <a:rPr lang="en-US" altLang="zh-CN" b="1" dirty="0">
                <a:latin typeface="Times New Roman" pitchFamily="18" charset="0"/>
                <a:ea typeface="宋体" pitchFamily="2" charset="-122"/>
              </a:rPr>
              <a:t>1 </a:t>
            </a:r>
            <a:r>
              <a:rPr lang="zh-CN" altLang="en-US" b="1" dirty="0">
                <a:latin typeface="Times New Roman" pitchFamily="18" charset="0"/>
                <a:ea typeface="宋体" pitchFamily="2" charset="-122"/>
              </a:rPr>
              <a:t>选择表中若干列</a:t>
            </a:r>
            <a:endParaRPr lang="en-US" altLang="zh-CN" b="1" dirty="0">
              <a:latin typeface="Times New Roman" pitchFamily="18" charset="0"/>
              <a:ea typeface="宋体" pitchFamily="2" charset="-122"/>
            </a:endParaRPr>
          </a:p>
          <a:p>
            <a:pPr eaLnBrk="1" hangingPunct="1">
              <a:spcBef>
                <a:spcPts val="2400"/>
              </a:spcBef>
            </a:pPr>
            <a:r>
              <a:rPr lang="en-US" altLang="zh-CN" b="1" dirty="0">
                <a:latin typeface="Times New Roman" pitchFamily="18" charset="0"/>
                <a:ea typeface="宋体" pitchFamily="2" charset="-122"/>
              </a:rPr>
              <a:t>2 </a:t>
            </a:r>
            <a:r>
              <a:rPr lang="zh-CN" altLang="en-US" b="1" dirty="0">
                <a:latin typeface="Times New Roman" pitchFamily="18" charset="0"/>
                <a:ea typeface="宋体" pitchFamily="2" charset="-122"/>
              </a:rPr>
              <a:t>选择表中的若干元组</a:t>
            </a:r>
          </a:p>
          <a:p>
            <a:pPr eaLnBrk="1" hangingPunct="1">
              <a:spcBef>
                <a:spcPts val="2400"/>
              </a:spcBef>
            </a:pPr>
            <a:r>
              <a:rPr lang="en-US" altLang="zh-CN" b="1" dirty="0">
                <a:latin typeface="Times New Roman" pitchFamily="18" charset="0"/>
                <a:ea typeface="宋体" pitchFamily="2" charset="-122"/>
              </a:rPr>
              <a:t>3 </a:t>
            </a:r>
            <a:r>
              <a:rPr lang="zh-CN" altLang="en-US" b="1" dirty="0">
                <a:latin typeface="Times New Roman" pitchFamily="18" charset="0"/>
                <a:ea typeface="宋体" pitchFamily="2" charset="-122"/>
              </a:rPr>
              <a:t>对查询结果进行排序</a:t>
            </a:r>
          </a:p>
          <a:p>
            <a:pPr eaLnBrk="1" hangingPunct="1">
              <a:spcBef>
                <a:spcPts val="2400"/>
              </a:spcBef>
            </a:pPr>
            <a:r>
              <a:rPr lang="en-US" altLang="zh-CN" b="1" dirty="0">
                <a:latin typeface="Times New Roman" pitchFamily="18" charset="0"/>
                <a:ea typeface="宋体" pitchFamily="2" charset="-122"/>
              </a:rPr>
              <a:t>4 </a:t>
            </a:r>
            <a:r>
              <a:rPr lang="zh-CN" altLang="en-US" b="1" dirty="0">
                <a:latin typeface="Times New Roman" pitchFamily="18" charset="0"/>
                <a:ea typeface="宋体" pitchFamily="2" charset="-122"/>
              </a:rPr>
              <a:t>使用聚合函数汇总数据</a:t>
            </a:r>
          </a:p>
          <a:p>
            <a:pPr eaLnBrk="1" hangingPunct="1">
              <a:spcBef>
                <a:spcPts val="2400"/>
              </a:spcBef>
            </a:pPr>
            <a:r>
              <a:rPr lang="en-US" altLang="zh-CN" b="1" dirty="0">
                <a:latin typeface="Times New Roman" pitchFamily="18" charset="0"/>
                <a:ea typeface="宋体" pitchFamily="2" charset="-122"/>
              </a:rPr>
              <a:t>5 </a:t>
            </a:r>
            <a:r>
              <a:rPr lang="zh-CN" altLang="en-US" b="1" dirty="0">
                <a:latin typeface="Times New Roman" pitchFamily="18" charset="0"/>
                <a:ea typeface="宋体" pitchFamily="2" charset="-122"/>
              </a:rPr>
              <a:t>对查询结果进行分组</a:t>
            </a:r>
            <a:r>
              <a:rPr lang="zh-CN" altLang="en-US" b="1" dirty="0" smtClean="0">
                <a:latin typeface="Times New Roman" pitchFamily="18" charset="0"/>
                <a:ea typeface="宋体" pitchFamily="2" charset="-122"/>
              </a:rPr>
              <a:t>计算（分组查询）</a:t>
            </a:r>
            <a:endParaRPr lang="zh-CN" altLang="en-US" b="1" dirty="0">
              <a:latin typeface="Times New Roman" pitchFamily="18" charset="0"/>
              <a:ea typeface="宋体" pitchFamily="2" charset="-122"/>
            </a:endParaRP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p:cNvSpPr>
          <p:nvPr>
            <p:ph type="title"/>
          </p:nvPr>
        </p:nvSpPr>
        <p:spPr>
          <a:xfrm>
            <a:off x="500063" y="152400"/>
            <a:ext cx="8001000" cy="685800"/>
          </a:xfrm>
          <a:noFill/>
          <a:ln w="9525">
            <a:noFill/>
          </a:ln>
        </p:spPr>
        <p:txBody>
          <a:bodyPr vert="horz" wrap="square" lIns="91440" tIns="45720" rIns="91440" bIns="45720" rtlCol="0" anchor="ctr" anchorCtr="0">
            <a:normAutofit fontScale="90000"/>
          </a:bodyPr>
          <a:lstStyle/>
          <a:p>
            <a:pPr lvl="0" algn="ctr" eaLnBrk="1" hangingPunct="1">
              <a:buClrTx/>
              <a:buSzTx/>
              <a:buFontTx/>
            </a:pPr>
            <a:r>
              <a:rPr lang="zh-CN" altLang="en-US" sz="4000" b="0" dirty="0">
                <a:latin typeface="黑体" panose="02010609060101010101" pitchFamily="2" charset="-122"/>
                <a:ea typeface="黑体" panose="02010609060101010101" pitchFamily="2" charset="-122"/>
                <a:sym typeface="+mn-ea"/>
              </a:rPr>
              <a:t> 1. 选择表中若干列</a:t>
            </a:r>
          </a:p>
        </p:txBody>
      </p:sp>
      <p:sp>
        <p:nvSpPr>
          <p:cNvPr id="439299" name="Rectangle 3"/>
          <p:cNvSpPr>
            <a:spLocks noGrp="1"/>
          </p:cNvSpPr>
          <p:nvPr>
            <p:ph idx="1"/>
          </p:nvPr>
        </p:nvSpPr>
        <p:spPr>
          <a:xfrm>
            <a:off x="287016" y="1340768"/>
            <a:ext cx="8856984" cy="4829175"/>
          </a:xfrm>
        </p:spPr>
        <p:txBody>
          <a:bodyPr vert="horz" wrap="square" lIns="91440" tIns="45720" rIns="91440" bIns="45720" anchor="t" anchorCtr="0"/>
          <a:lstStyle/>
          <a:p>
            <a:pPr marL="476250" indent="-476250" eaLnBrk="1" hangingPunct="1"/>
            <a:r>
              <a:rPr lang="zh-CN" altLang="en-US" sz="3600" b="1" dirty="0">
                <a:solidFill>
                  <a:srgbClr val="FF0000"/>
                </a:solidFill>
                <a:latin typeface="Times New Roman" pitchFamily="18" charset="0"/>
                <a:ea typeface="宋体" pitchFamily="2" charset="-122"/>
              </a:rPr>
              <a:t>查询表中用户感兴趣的部分属性列。</a:t>
            </a:r>
          </a:p>
          <a:p>
            <a:pPr marL="0" indent="0" eaLnBrk="1" hangingPunct="1">
              <a:spcBef>
                <a:spcPts val="2400"/>
              </a:spcBef>
              <a:buNone/>
            </a:pPr>
            <a:r>
              <a:rPr lang="zh-CN" altLang="en-US" sz="3600" b="1" dirty="0" smtClean="0">
                <a:latin typeface="Times New Roman" pitchFamily="18" charset="0"/>
                <a:ea typeface="宋体" pitchFamily="2" charset="-122"/>
              </a:rPr>
              <a:t>例</a:t>
            </a:r>
            <a:r>
              <a:rPr lang="en-US" altLang="zh-CN" sz="3600" b="1" dirty="0" smtClean="0">
                <a:latin typeface="Times New Roman" pitchFamily="18" charset="0"/>
                <a:ea typeface="宋体" pitchFamily="2" charset="-122"/>
              </a:rPr>
              <a:t>4.1</a:t>
            </a:r>
            <a:r>
              <a:rPr lang="zh-CN" altLang="en-US" sz="3600" b="1" dirty="0" smtClean="0">
                <a:latin typeface="Times New Roman" pitchFamily="18" charset="0"/>
                <a:ea typeface="宋体" pitchFamily="2" charset="-122"/>
              </a:rPr>
              <a:t> 查询</a:t>
            </a:r>
            <a:r>
              <a:rPr lang="zh-CN" altLang="en-US" sz="3600" b="1" dirty="0">
                <a:latin typeface="Times New Roman" pitchFamily="18" charset="0"/>
                <a:ea typeface="宋体" pitchFamily="2" charset="-122"/>
              </a:rPr>
              <a:t>全体学生的学号与姓名。</a:t>
            </a:r>
          </a:p>
          <a:p>
            <a:pPr marL="876300" lvl="1" indent="-419100" eaLnBrk="1" hangingPunct="1">
              <a:buFont typeface="Wingdings" panose="05000000000000000000" pitchFamily="2" charset="2"/>
              <a:buNone/>
            </a:pPr>
            <a:r>
              <a:rPr lang="en-US" altLang="zh-CN" sz="3100" b="1" dirty="0">
                <a:solidFill>
                  <a:srgbClr val="0000FF"/>
                </a:solidFill>
                <a:latin typeface="Times New Roman" pitchFamily="18" charset="0"/>
                <a:ea typeface="宋体" pitchFamily="2" charset="-122"/>
              </a:rPr>
              <a:t>SELECT Sno</a:t>
            </a:r>
            <a:r>
              <a:rPr lang="zh-CN" altLang="en-US" sz="3100" b="1" dirty="0">
                <a:solidFill>
                  <a:srgbClr val="0000FF"/>
                </a:solidFill>
                <a:latin typeface="Times New Roman" pitchFamily="18" charset="0"/>
                <a:ea typeface="宋体" pitchFamily="2" charset="-122"/>
              </a:rPr>
              <a:t>，</a:t>
            </a:r>
            <a:r>
              <a:rPr lang="en-US" altLang="zh-CN" sz="3100" b="1" dirty="0" err="1">
                <a:solidFill>
                  <a:srgbClr val="0000FF"/>
                </a:solidFill>
                <a:latin typeface="Times New Roman" pitchFamily="18" charset="0"/>
                <a:ea typeface="宋体" pitchFamily="2" charset="-122"/>
              </a:rPr>
              <a:t>Sname</a:t>
            </a:r>
            <a:r>
              <a:rPr lang="en-US" altLang="zh-CN" sz="3100" b="1" dirty="0">
                <a:solidFill>
                  <a:srgbClr val="0000FF"/>
                </a:solidFill>
                <a:latin typeface="Times New Roman" pitchFamily="18" charset="0"/>
                <a:ea typeface="宋体" pitchFamily="2" charset="-122"/>
              </a:rPr>
              <a:t> </a:t>
            </a:r>
            <a:endParaRPr lang="en-US" altLang="zh-CN" sz="3100" b="1" dirty="0" smtClean="0">
              <a:solidFill>
                <a:srgbClr val="0000FF"/>
              </a:solidFill>
              <a:latin typeface="Times New Roman" pitchFamily="18" charset="0"/>
              <a:ea typeface="宋体" pitchFamily="2" charset="-122"/>
            </a:endParaRPr>
          </a:p>
          <a:p>
            <a:pPr marL="876300" lvl="1" indent="-419100" eaLnBrk="1" hangingPunct="1">
              <a:buFont typeface="Wingdings" panose="05000000000000000000" pitchFamily="2" charset="2"/>
              <a:buNone/>
            </a:pPr>
            <a:r>
              <a:rPr lang="en-US" altLang="zh-CN" sz="3100" dirty="0">
                <a:solidFill>
                  <a:srgbClr val="0000FF"/>
                </a:solidFill>
              </a:rPr>
              <a:t> </a:t>
            </a:r>
            <a:r>
              <a:rPr lang="en-US" altLang="zh-CN" sz="3100" dirty="0" smtClean="0">
                <a:solidFill>
                  <a:srgbClr val="0000FF"/>
                </a:solidFill>
              </a:rPr>
              <a:t>   </a:t>
            </a:r>
            <a:r>
              <a:rPr lang="en-US" altLang="zh-CN" sz="3100" b="1" dirty="0" smtClean="0">
                <a:solidFill>
                  <a:srgbClr val="0000FF"/>
                </a:solidFill>
                <a:latin typeface="Times New Roman" pitchFamily="18" charset="0"/>
                <a:ea typeface="宋体" pitchFamily="2" charset="-122"/>
              </a:rPr>
              <a:t>FROM </a:t>
            </a:r>
            <a:r>
              <a:rPr lang="en-US" altLang="zh-CN" sz="3100" b="1" dirty="0">
                <a:solidFill>
                  <a:srgbClr val="0000FF"/>
                </a:solidFill>
                <a:latin typeface="Times New Roman" pitchFamily="18" charset="0"/>
                <a:ea typeface="宋体" pitchFamily="2" charset="-122"/>
              </a:rPr>
              <a:t>Student</a:t>
            </a:r>
          </a:p>
          <a:p>
            <a:pPr marL="0" indent="0" eaLnBrk="1" hangingPunct="1">
              <a:spcBef>
                <a:spcPts val="2400"/>
              </a:spcBef>
              <a:buNone/>
            </a:pPr>
            <a:r>
              <a:rPr lang="zh-CN" altLang="en-US" sz="3600" b="1" dirty="0" smtClean="0">
                <a:latin typeface="Times New Roman" pitchFamily="18" charset="0"/>
                <a:ea typeface="宋体" pitchFamily="2" charset="-122"/>
              </a:rPr>
              <a:t>例</a:t>
            </a:r>
            <a:r>
              <a:rPr lang="en-US" altLang="zh-CN" sz="3600" dirty="0" smtClean="0"/>
              <a:t>4.2</a:t>
            </a:r>
            <a:r>
              <a:rPr lang="zh-CN" altLang="en-US" sz="3600" dirty="0"/>
              <a:t> </a:t>
            </a:r>
            <a:r>
              <a:rPr lang="zh-CN" altLang="en-US" sz="3600" b="1" dirty="0" smtClean="0">
                <a:latin typeface="Times New Roman" pitchFamily="18" charset="0"/>
                <a:ea typeface="宋体" pitchFamily="2" charset="-122"/>
              </a:rPr>
              <a:t>查询</a:t>
            </a:r>
            <a:r>
              <a:rPr lang="zh-CN" altLang="en-US" sz="3600" b="1" dirty="0">
                <a:latin typeface="Times New Roman" pitchFamily="18" charset="0"/>
                <a:ea typeface="宋体" pitchFamily="2" charset="-122"/>
              </a:rPr>
              <a:t>全体学生的姓名、学号和所在系。</a:t>
            </a:r>
          </a:p>
          <a:p>
            <a:pPr marL="876300" lvl="1" indent="-419100" eaLnBrk="1" hangingPunct="1">
              <a:buFont typeface="Wingdings" panose="05000000000000000000" pitchFamily="2" charset="2"/>
              <a:buNone/>
            </a:pPr>
            <a:r>
              <a:rPr lang="en-US" altLang="zh-CN" sz="3100" b="1" dirty="0">
                <a:solidFill>
                  <a:srgbClr val="0000FF"/>
                </a:solidFill>
                <a:latin typeface="Times New Roman" pitchFamily="18" charset="0"/>
                <a:ea typeface="宋体" pitchFamily="2" charset="-122"/>
              </a:rPr>
              <a:t>SELECT Sname</a:t>
            </a:r>
            <a:r>
              <a:rPr lang="zh-CN" altLang="en-US" sz="3100" b="1" dirty="0">
                <a:solidFill>
                  <a:srgbClr val="0000FF"/>
                </a:solidFill>
                <a:latin typeface="Times New Roman" pitchFamily="18" charset="0"/>
                <a:ea typeface="宋体" pitchFamily="2" charset="-122"/>
              </a:rPr>
              <a:t>，</a:t>
            </a:r>
            <a:r>
              <a:rPr lang="en-US" altLang="zh-CN" sz="3100" b="1" dirty="0">
                <a:solidFill>
                  <a:srgbClr val="0000FF"/>
                </a:solidFill>
                <a:latin typeface="Times New Roman" pitchFamily="18" charset="0"/>
                <a:ea typeface="宋体" pitchFamily="2" charset="-122"/>
              </a:rPr>
              <a:t>Sno</a:t>
            </a:r>
            <a:r>
              <a:rPr lang="zh-CN" altLang="en-US" sz="3100" b="1" dirty="0">
                <a:solidFill>
                  <a:srgbClr val="0000FF"/>
                </a:solidFill>
                <a:latin typeface="Times New Roman" pitchFamily="18" charset="0"/>
                <a:ea typeface="宋体" pitchFamily="2" charset="-122"/>
              </a:rPr>
              <a:t>，</a:t>
            </a:r>
            <a:r>
              <a:rPr lang="en-US" altLang="zh-CN" sz="3100" b="1" dirty="0">
                <a:solidFill>
                  <a:srgbClr val="0000FF"/>
                </a:solidFill>
                <a:latin typeface="Times New Roman" pitchFamily="18" charset="0"/>
                <a:ea typeface="宋体" pitchFamily="2" charset="-122"/>
              </a:rPr>
              <a:t>Sdept  </a:t>
            </a:r>
          </a:p>
          <a:p>
            <a:pPr marL="876300" lvl="1" indent="-419100" eaLnBrk="1" hangingPunct="1">
              <a:buFont typeface="Wingdings" panose="05000000000000000000" pitchFamily="2" charset="2"/>
              <a:buNone/>
            </a:pPr>
            <a:r>
              <a:rPr lang="en-US" altLang="zh-CN" sz="3100" b="1" dirty="0">
                <a:solidFill>
                  <a:srgbClr val="0000FF"/>
                </a:solidFill>
                <a:latin typeface="Times New Roman" pitchFamily="18" charset="0"/>
                <a:ea typeface="宋体" pitchFamily="2" charset="-122"/>
              </a:rPr>
              <a:t>   FROM Student</a:t>
            </a:r>
            <a:r>
              <a:rPr lang="en-US" altLang="zh-CN" sz="2000" b="1" dirty="0">
                <a:latin typeface="Times New Roman" pitchFamily="18" charset="0"/>
                <a:ea typeface="宋体" pitchFamily="2" charset="-122"/>
              </a:rPr>
              <a:t>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39299">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39299">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39299">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39299">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39299">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p:cNvSpPr>
          <p:nvPr>
            <p:ph type="title"/>
          </p:nvPr>
        </p:nvSpPr>
        <p:spPr>
          <a:xfrm>
            <a:off x="500063" y="152400"/>
            <a:ext cx="8001000" cy="685800"/>
          </a:xfrm>
          <a:noFill/>
          <a:ln w="9525">
            <a:noFill/>
          </a:ln>
        </p:spPr>
        <p:txBody>
          <a:bodyPr vert="horz" wrap="square" lIns="91440" tIns="45720" rIns="91440" bIns="45720" rtlCol="0" anchor="ctr" anchorCtr="0">
            <a:normAutofit fontScale="90000"/>
          </a:bodyPr>
          <a:lstStyle/>
          <a:p>
            <a:pPr lvl="0" algn="ctr" eaLnBrk="1" hangingPunct="1">
              <a:buClrTx/>
              <a:buSzTx/>
              <a:buFontTx/>
            </a:pPr>
            <a:r>
              <a:rPr lang="zh-CN" altLang="en-US" sz="4000" b="0" dirty="0">
                <a:latin typeface="黑体" panose="02010609060101010101" pitchFamily="2" charset="-122"/>
                <a:ea typeface="黑体" panose="02010609060101010101" pitchFamily="2" charset="-122"/>
                <a:sym typeface="+mn-ea"/>
              </a:rPr>
              <a:t> 查询全部列 </a:t>
            </a:r>
          </a:p>
        </p:txBody>
      </p:sp>
      <p:sp>
        <p:nvSpPr>
          <p:cNvPr id="440323" name="Rectangle 3"/>
          <p:cNvSpPr>
            <a:spLocks noGrp="1"/>
          </p:cNvSpPr>
          <p:nvPr>
            <p:ph idx="1"/>
          </p:nvPr>
        </p:nvSpPr>
        <p:spPr>
          <a:xfrm>
            <a:off x="428625" y="1500505"/>
            <a:ext cx="7997190" cy="4554220"/>
          </a:xfrm>
        </p:spPr>
        <p:txBody>
          <a:bodyPr vert="horz" wrap="square" lIns="91440" tIns="45720" rIns="91440" bIns="45720" anchor="t" anchorCtr="0"/>
          <a:lstStyle/>
          <a:p>
            <a:pPr marL="0" indent="0" eaLnBrk="1" hangingPunct="1">
              <a:buNone/>
            </a:pPr>
            <a:r>
              <a:rPr lang="zh-CN" altLang="en-US" sz="3600" dirty="0" smtClean="0"/>
              <a:t>例</a:t>
            </a:r>
            <a:r>
              <a:rPr lang="en-US" altLang="zh-CN" sz="3600" dirty="0" smtClean="0"/>
              <a:t>4.3 </a:t>
            </a:r>
            <a:r>
              <a:rPr lang="zh-CN" altLang="en-US" sz="3600" dirty="0" smtClean="0"/>
              <a:t>查询</a:t>
            </a:r>
            <a:r>
              <a:rPr lang="zh-CN" altLang="en-US" sz="3600" dirty="0"/>
              <a:t>全体学生的记录</a:t>
            </a:r>
          </a:p>
          <a:p>
            <a:pPr eaLnBrk="1" hangingPunct="1">
              <a:buFont typeface="Wingdings" panose="05000000000000000000" pitchFamily="2" charset="2"/>
              <a:buNone/>
            </a:pPr>
            <a:r>
              <a:rPr lang="en-US" altLang="zh-CN" sz="3600" dirty="0">
                <a:solidFill>
                  <a:srgbClr val="0000FF"/>
                </a:solidFill>
              </a:rPr>
              <a:t>   SELECT </a:t>
            </a:r>
            <a:r>
              <a:rPr lang="en-US" altLang="zh-CN" sz="3600" dirty="0" err="1" smtClean="0">
                <a:solidFill>
                  <a:srgbClr val="0000FF"/>
                </a:solidFill>
              </a:rPr>
              <a:t>Sno,Sname,Ssex,Sage</a:t>
            </a:r>
            <a:r>
              <a:rPr lang="en-US" altLang="zh-CN" sz="3600" dirty="0">
                <a:solidFill>
                  <a:srgbClr val="0000FF"/>
                </a:solidFill>
              </a:rPr>
              <a:t>, Sdept         </a:t>
            </a:r>
          </a:p>
          <a:p>
            <a:pPr eaLnBrk="1" hangingPunct="1">
              <a:buFont typeface="Wingdings" panose="05000000000000000000" pitchFamily="2" charset="2"/>
              <a:buNone/>
            </a:pPr>
            <a:r>
              <a:rPr lang="en-US" altLang="zh-CN" sz="3600" dirty="0">
                <a:solidFill>
                  <a:srgbClr val="0000FF"/>
                </a:solidFill>
              </a:rPr>
              <a:t>     FROM Student</a:t>
            </a:r>
          </a:p>
          <a:p>
            <a:pPr eaLnBrk="1" hangingPunct="1">
              <a:spcBef>
                <a:spcPts val="2400"/>
              </a:spcBef>
            </a:pPr>
            <a:r>
              <a:rPr lang="zh-CN" altLang="en-US" sz="3600" dirty="0"/>
              <a:t>等价于：	</a:t>
            </a:r>
          </a:p>
          <a:p>
            <a:pPr eaLnBrk="1" hangingPunct="1">
              <a:buFont typeface="Wingdings" panose="05000000000000000000" pitchFamily="2" charset="2"/>
              <a:buNone/>
            </a:pPr>
            <a:r>
              <a:rPr lang="en-US" altLang="zh-CN" sz="3600" dirty="0"/>
              <a:t>     </a:t>
            </a:r>
            <a:r>
              <a:rPr lang="en-US" altLang="zh-CN" sz="3600" dirty="0">
                <a:solidFill>
                  <a:srgbClr val="0000FF"/>
                </a:solidFill>
              </a:rPr>
              <a:t>SELECT</a:t>
            </a:r>
            <a:r>
              <a:rPr lang="en-US" altLang="zh-CN" sz="3600" dirty="0">
                <a:solidFill>
                  <a:srgbClr val="009900"/>
                </a:solidFill>
              </a:rPr>
              <a:t> </a:t>
            </a:r>
            <a:r>
              <a:rPr lang="en-US" altLang="zh-CN" sz="3600" dirty="0">
                <a:solidFill>
                  <a:srgbClr val="FF0000"/>
                </a:solidFill>
              </a:rPr>
              <a:t>*</a:t>
            </a:r>
            <a:r>
              <a:rPr lang="en-US" altLang="zh-CN" sz="3600" dirty="0">
                <a:solidFill>
                  <a:srgbClr val="009900"/>
                </a:solidFill>
              </a:rPr>
              <a:t> </a:t>
            </a:r>
            <a:r>
              <a:rPr lang="en-US" altLang="zh-CN" sz="3600" dirty="0">
                <a:solidFill>
                  <a:srgbClr val="0000FF"/>
                </a:solidFill>
              </a:rPr>
              <a:t>FROM Student</a:t>
            </a:r>
            <a:r>
              <a:rPr lang="en-US" altLang="zh-CN" sz="3600" dirty="0"/>
              <a:t> </a:t>
            </a:r>
            <a:endParaRPr lang="zh-CN" altLang="en-US" sz="36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40323">
                                            <p:txEl>
                                              <p:pRg st="0" end="0"/>
                                            </p:txEl>
                                          </p:spTgt>
                                        </p:tgtEl>
                                        <p:attrNameLst>
                                          <p:attrName>style.visibility</p:attrName>
                                        </p:attrNameLst>
                                      </p:cBhvr>
                                      <p:to>
                                        <p:strVal val="visible"/>
                                      </p:to>
                                    </p:set>
                                    <p:animEffect transition="in" filter="blinds(horizontal)">
                                      <p:cBhvr>
                                        <p:cTn id="7" dur="500"/>
                                        <p:tgtEl>
                                          <p:spTgt spid="44032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440323">
                                            <p:txEl>
                                              <p:pRg st="1" end="1"/>
                                            </p:txEl>
                                          </p:spTgt>
                                        </p:tgtEl>
                                        <p:attrNameLst>
                                          <p:attrName>style.visibility</p:attrName>
                                        </p:attrNameLst>
                                      </p:cBhvr>
                                      <p:to>
                                        <p:strVal val="visible"/>
                                      </p:to>
                                    </p:set>
                                    <p:animEffect transition="in" filter="blinds(horizontal)">
                                      <p:cBhvr>
                                        <p:cTn id="12" dur="500"/>
                                        <p:tgtEl>
                                          <p:spTgt spid="44032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440323">
                                            <p:txEl>
                                              <p:pRg st="2" end="2"/>
                                            </p:txEl>
                                          </p:spTgt>
                                        </p:tgtEl>
                                        <p:attrNameLst>
                                          <p:attrName>style.visibility</p:attrName>
                                        </p:attrNameLst>
                                      </p:cBhvr>
                                      <p:to>
                                        <p:strVal val="visible"/>
                                      </p:to>
                                    </p:set>
                                    <p:animEffect transition="in" filter="blinds(horizontal)">
                                      <p:cBhvr>
                                        <p:cTn id="17" dur="500"/>
                                        <p:tgtEl>
                                          <p:spTgt spid="44032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440323">
                                            <p:txEl>
                                              <p:pRg st="3" end="3"/>
                                            </p:txEl>
                                          </p:spTgt>
                                        </p:tgtEl>
                                        <p:attrNameLst>
                                          <p:attrName>style.visibility</p:attrName>
                                        </p:attrNameLst>
                                      </p:cBhvr>
                                      <p:to>
                                        <p:strVal val="visible"/>
                                      </p:to>
                                    </p:set>
                                    <p:animEffect transition="in" filter="blinds(horizontal)">
                                      <p:cBhvr>
                                        <p:cTn id="22" dur="500"/>
                                        <p:tgtEl>
                                          <p:spTgt spid="44032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440323">
                                            <p:txEl>
                                              <p:pRg st="4" end="4"/>
                                            </p:txEl>
                                          </p:spTgt>
                                        </p:tgtEl>
                                        <p:attrNameLst>
                                          <p:attrName>style.visibility</p:attrName>
                                        </p:attrNameLst>
                                      </p:cBhvr>
                                      <p:to>
                                        <p:strVal val="visible"/>
                                      </p:to>
                                    </p:set>
                                    <p:animEffect transition="in" filter="blinds(horizontal)">
                                      <p:cBhvr>
                                        <p:cTn id="27" dur="500"/>
                                        <p:tgtEl>
                                          <p:spTgt spid="44032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0323"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p:cNvSpPr>
          <p:nvPr>
            <p:ph type="title"/>
          </p:nvPr>
        </p:nvSpPr>
        <p:spPr>
          <a:xfrm>
            <a:off x="500063" y="152400"/>
            <a:ext cx="8001000" cy="685800"/>
          </a:xfrm>
          <a:noFill/>
          <a:ln w="9525">
            <a:noFill/>
          </a:ln>
        </p:spPr>
        <p:txBody>
          <a:bodyPr vert="horz" wrap="square" lIns="91440" tIns="45720" rIns="91440" bIns="45720" rtlCol="0" anchor="ctr" anchorCtr="0">
            <a:normAutofit fontScale="90000"/>
          </a:bodyPr>
          <a:lstStyle/>
          <a:p>
            <a:pPr lvl="0" algn="ctr" eaLnBrk="1" hangingPunct="1">
              <a:buClrTx/>
              <a:buSzTx/>
              <a:buFontTx/>
            </a:pPr>
            <a:r>
              <a:rPr lang="zh-CN" altLang="en-US" sz="4000" b="0" dirty="0">
                <a:latin typeface="黑体" panose="02010609060101010101" pitchFamily="2" charset="-122"/>
                <a:ea typeface="黑体" panose="02010609060101010101" pitchFamily="2" charset="-122"/>
                <a:sym typeface="+mn-ea"/>
              </a:rPr>
              <a:t> 查询经过计算的列 </a:t>
            </a:r>
          </a:p>
        </p:txBody>
      </p:sp>
      <p:sp>
        <p:nvSpPr>
          <p:cNvPr id="10243" name="Rectangle 3"/>
          <p:cNvSpPr>
            <a:spLocks noGrp="1"/>
          </p:cNvSpPr>
          <p:nvPr>
            <p:ph idx="1"/>
          </p:nvPr>
        </p:nvSpPr>
        <p:spPr/>
        <p:txBody>
          <a:bodyPr vert="horz" wrap="square" lIns="91440" tIns="45720" rIns="91440" bIns="45720" anchor="t" anchorCtr="0"/>
          <a:lstStyle/>
          <a:p>
            <a:pPr marL="0" indent="0" eaLnBrk="1" hangingPunct="1">
              <a:buNone/>
            </a:pPr>
            <a:r>
              <a:rPr lang="zh-CN" altLang="en-US" sz="3200" dirty="0" smtClean="0">
                <a:latin typeface="宋体" pitchFamily="2" charset="-122"/>
                <a:cs typeface="等线" panose="02010600030101010101" charset="-122"/>
              </a:rPr>
              <a:t>例</a:t>
            </a:r>
            <a:r>
              <a:rPr lang="en-US" altLang="zh-CN" sz="3200" dirty="0" smtClean="0"/>
              <a:t>4.4 </a:t>
            </a:r>
            <a:r>
              <a:rPr lang="zh-CN" altLang="en-US" sz="3200" dirty="0" smtClean="0">
                <a:latin typeface="宋体" pitchFamily="2" charset="-122"/>
                <a:cs typeface="等线" panose="02010600030101010101" charset="-122"/>
              </a:rPr>
              <a:t>查询</a:t>
            </a:r>
            <a:r>
              <a:rPr lang="zh-CN" altLang="en-US" sz="3200" dirty="0">
                <a:latin typeface="宋体" pitchFamily="2" charset="-122"/>
                <a:cs typeface="等线" panose="02010600030101010101" charset="-122"/>
              </a:rPr>
              <a:t>全体学生的姓名及其出生年份。</a:t>
            </a:r>
          </a:p>
          <a:p>
            <a:pPr eaLnBrk="1" hangingPunct="1">
              <a:buFont typeface="Wingdings" panose="05000000000000000000" pitchFamily="2" charset="2"/>
              <a:buNone/>
            </a:pPr>
            <a:r>
              <a:rPr lang="en-US" altLang="zh-CN" sz="3000" dirty="0">
                <a:solidFill>
                  <a:srgbClr val="0000FF"/>
                </a:solidFill>
                <a:latin typeface="宋体" pitchFamily="2" charset="-122"/>
                <a:cs typeface="等线" panose="02010600030101010101" charset="-122"/>
              </a:rPr>
              <a:t>	 SELECT Sname, </a:t>
            </a:r>
            <a:r>
              <a:rPr lang="en-US" altLang="zh-CN" sz="3000" dirty="0" smtClean="0">
                <a:solidFill>
                  <a:srgbClr val="0000FF"/>
                </a:solidFill>
                <a:latin typeface="宋体" pitchFamily="2" charset="-122"/>
                <a:cs typeface="等线" panose="02010600030101010101" charset="-122"/>
              </a:rPr>
              <a:t>2022 - Sage </a:t>
            </a:r>
            <a:endParaRPr lang="en-US" altLang="zh-CN" sz="3000" dirty="0">
              <a:solidFill>
                <a:srgbClr val="0000FF"/>
              </a:solidFill>
              <a:latin typeface="宋体" pitchFamily="2" charset="-122"/>
              <a:cs typeface="等线" panose="02010600030101010101" charset="-122"/>
            </a:endParaRPr>
          </a:p>
          <a:p>
            <a:pPr eaLnBrk="1" hangingPunct="1">
              <a:buFont typeface="Wingdings" panose="05000000000000000000" pitchFamily="2" charset="2"/>
              <a:buNone/>
            </a:pPr>
            <a:r>
              <a:rPr lang="en-US" altLang="zh-CN" sz="3000" dirty="0">
                <a:solidFill>
                  <a:srgbClr val="0000FF"/>
                </a:solidFill>
                <a:latin typeface="宋体" pitchFamily="2" charset="-122"/>
                <a:cs typeface="等线" panose="02010600030101010101" charset="-122"/>
              </a:rPr>
              <a:t>    FROM Student</a:t>
            </a:r>
          </a:p>
          <a:p>
            <a:pPr marL="0" indent="0" eaLnBrk="1" hangingPunct="1">
              <a:spcBef>
                <a:spcPts val="3000"/>
              </a:spcBef>
              <a:buNone/>
            </a:pPr>
            <a:r>
              <a:rPr lang="zh-CN" altLang="en-US" sz="3200" dirty="0" smtClean="0">
                <a:latin typeface="宋体" pitchFamily="2" charset="-122"/>
                <a:cs typeface="等线" panose="02010600030101010101" charset="-122"/>
              </a:rPr>
              <a:t>例</a:t>
            </a:r>
            <a:r>
              <a:rPr lang="en-US" altLang="zh-CN" sz="3200" dirty="0" smtClean="0"/>
              <a:t>4.5 </a:t>
            </a:r>
            <a:r>
              <a:rPr lang="zh-CN" altLang="en-US" sz="3200" dirty="0" smtClean="0">
                <a:latin typeface="宋体" pitchFamily="2" charset="-122"/>
                <a:cs typeface="等线" panose="02010600030101010101" charset="-122"/>
              </a:rPr>
              <a:t>含</a:t>
            </a:r>
            <a:r>
              <a:rPr lang="zh-CN" altLang="en-US" sz="3200" dirty="0">
                <a:latin typeface="宋体" pitchFamily="2" charset="-122"/>
                <a:cs typeface="等线" panose="02010600030101010101" charset="-122"/>
              </a:rPr>
              <a:t>字符串常量的列：查询全体学生的姓名和出生年份，并在出生年份列前加一列，此列的每行数据均为“出生年份”常量值。 </a:t>
            </a:r>
          </a:p>
          <a:p>
            <a:pPr lvl="1" eaLnBrk="1" hangingPunct="1">
              <a:buFont typeface="Wingdings" panose="05000000000000000000" pitchFamily="2" charset="2"/>
              <a:buNone/>
            </a:pPr>
            <a:r>
              <a:rPr lang="en-US" altLang="zh-CN" sz="3000" dirty="0">
                <a:solidFill>
                  <a:srgbClr val="0000FF"/>
                </a:solidFill>
                <a:latin typeface="宋体" pitchFamily="2" charset="-122"/>
                <a:cs typeface="等线" panose="02010600030101010101" charset="-122"/>
              </a:rPr>
              <a:t>SELECT Sname, '</a:t>
            </a:r>
            <a:r>
              <a:rPr lang="zh-CN" altLang="en-US" sz="3000" dirty="0">
                <a:solidFill>
                  <a:srgbClr val="0000FF"/>
                </a:solidFill>
                <a:latin typeface="宋体" pitchFamily="2" charset="-122"/>
                <a:cs typeface="等线" panose="02010600030101010101" charset="-122"/>
              </a:rPr>
              <a:t>出生年份</a:t>
            </a:r>
            <a:r>
              <a:rPr lang="en-US" altLang="zh-CN" sz="3000" dirty="0">
                <a:solidFill>
                  <a:srgbClr val="0000FF"/>
                </a:solidFill>
                <a:latin typeface="宋体" pitchFamily="2" charset="-122"/>
                <a:cs typeface="等线" panose="02010600030101010101" charset="-122"/>
              </a:rPr>
              <a:t>', </a:t>
            </a:r>
            <a:r>
              <a:rPr lang="en-US" altLang="zh-CN" sz="3000" dirty="0" smtClean="0">
                <a:solidFill>
                  <a:srgbClr val="0000FF"/>
                </a:solidFill>
                <a:latin typeface="宋体" pitchFamily="2" charset="-122"/>
                <a:cs typeface="等线" panose="02010600030101010101" charset="-122"/>
              </a:rPr>
              <a:t>2022 </a:t>
            </a:r>
            <a:r>
              <a:rPr lang="en-US" altLang="zh-CN" sz="3000" dirty="0">
                <a:solidFill>
                  <a:srgbClr val="0000FF"/>
                </a:solidFill>
                <a:latin typeface="宋体" pitchFamily="2" charset="-122"/>
                <a:cs typeface="等线" panose="02010600030101010101" charset="-122"/>
              </a:rPr>
              <a:t>- Sage  FROM Student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10243">
                                            <p:txEl>
                                              <p:pRg st="1" end="1"/>
                                            </p:txEl>
                                          </p:spTgt>
                                        </p:tgtEl>
                                        <p:attrNameLst>
                                          <p:attrName>style.visibility</p:attrName>
                                        </p:attrNameLst>
                                      </p:cBhvr>
                                      <p:to>
                                        <p:strVal val="visible"/>
                                      </p:to>
                                    </p:set>
                                    <p:anim calcmode="lin" valueType="num">
                                      <p:cBhvr additive="base">
                                        <p:cTn id="7" dur="500" fill="hold"/>
                                        <p:tgtEl>
                                          <p:spTgt spid="10243">
                                            <p:txEl>
                                              <p:pRg st="1" end="1"/>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0243">
                                            <p:txEl>
                                              <p:pRg st="1" end="1"/>
                                            </p:txEl>
                                          </p:spTgt>
                                        </p:tgtEl>
                                        <p:attrNameLst>
                                          <p:attrName>ppt_y</p:attrName>
                                        </p:attrNameLst>
                                      </p:cBhvr>
                                      <p:tavLst>
                                        <p:tav tm="0">
                                          <p:val>
                                            <p:strVal val="#ppt_y"/>
                                          </p:val>
                                        </p:tav>
                                        <p:tav tm="100000">
                                          <p:val>
                                            <p:strVal val="#ppt_y"/>
                                          </p:val>
                                        </p:tav>
                                      </p:tavLst>
                                    </p:anim>
                                  </p:childTnLst>
                                </p:cTn>
                              </p:par>
                              <p:par>
                                <p:cTn id="9" presetID="2" presetClass="entr" presetSubtype="8" fill="hold" nodeType="withEffect">
                                  <p:stCondLst>
                                    <p:cond delay="0"/>
                                  </p:stCondLst>
                                  <p:childTnLst>
                                    <p:set>
                                      <p:cBhvr>
                                        <p:cTn id="10" dur="1" fill="hold">
                                          <p:stCondLst>
                                            <p:cond delay="0"/>
                                          </p:stCondLst>
                                        </p:cTn>
                                        <p:tgtEl>
                                          <p:spTgt spid="10243">
                                            <p:txEl>
                                              <p:pRg st="2" end="2"/>
                                            </p:txEl>
                                          </p:spTgt>
                                        </p:tgtEl>
                                        <p:attrNameLst>
                                          <p:attrName>style.visibility</p:attrName>
                                        </p:attrNameLst>
                                      </p:cBhvr>
                                      <p:to>
                                        <p:strVal val="visible"/>
                                      </p:to>
                                    </p:set>
                                    <p:anim calcmode="lin" valueType="num">
                                      <p:cBhvr additive="base">
                                        <p:cTn id="11" dur="500" fill="hold"/>
                                        <p:tgtEl>
                                          <p:spTgt spid="10243">
                                            <p:txEl>
                                              <p:pRg st="2" end="2"/>
                                            </p:txEl>
                                          </p:spTgt>
                                        </p:tgtEl>
                                        <p:attrNameLst>
                                          <p:attrName>ppt_x</p:attrName>
                                        </p:attrNameLst>
                                      </p:cBhvr>
                                      <p:tavLst>
                                        <p:tav tm="0">
                                          <p:val>
                                            <p:strVal val="0-#ppt_w/2"/>
                                          </p:val>
                                        </p:tav>
                                        <p:tav tm="100000">
                                          <p:val>
                                            <p:strVal val="#ppt_x"/>
                                          </p:val>
                                        </p:tav>
                                      </p:tavLst>
                                    </p:anim>
                                    <p:anim calcmode="lin" valueType="num">
                                      <p:cBhvr additive="base">
                                        <p:cTn id="12" dur="500" fill="hold"/>
                                        <p:tgtEl>
                                          <p:spTgt spid="10243">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nodeType="clickEffect">
                                  <p:stCondLst>
                                    <p:cond delay="0"/>
                                  </p:stCondLst>
                                  <p:childTnLst>
                                    <p:set>
                                      <p:cBhvr>
                                        <p:cTn id="16" dur="1" fill="hold">
                                          <p:stCondLst>
                                            <p:cond delay="0"/>
                                          </p:stCondLst>
                                        </p:cTn>
                                        <p:tgtEl>
                                          <p:spTgt spid="10243">
                                            <p:txEl>
                                              <p:pRg st="3" end="3"/>
                                            </p:txEl>
                                          </p:spTgt>
                                        </p:tgtEl>
                                        <p:attrNameLst>
                                          <p:attrName>style.visibility</p:attrName>
                                        </p:attrNameLst>
                                      </p:cBhvr>
                                      <p:to>
                                        <p:strVal val="visible"/>
                                      </p:to>
                                    </p:set>
                                    <p:animEffect transition="in" filter="barn(inVertical)">
                                      <p:cBhvr>
                                        <p:cTn id="17" dur="500"/>
                                        <p:tgtEl>
                                          <p:spTgt spid="1024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nodeType="clickEffect">
                                  <p:stCondLst>
                                    <p:cond delay="0"/>
                                  </p:stCondLst>
                                  <p:childTnLst>
                                    <p:set>
                                      <p:cBhvr>
                                        <p:cTn id="21" dur="1" fill="hold">
                                          <p:stCondLst>
                                            <p:cond delay="0"/>
                                          </p:stCondLst>
                                        </p:cTn>
                                        <p:tgtEl>
                                          <p:spTgt spid="10243">
                                            <p:txEl>
                                              <p:pRg st="4" end="4"/>
                                            </p:txEl>
                                          </p:spTgt>
                                        </p:tgtEl>
                                        <p:attrNameLst>
                                          <p:attrName>style.visibility</p:attrName>
                                        </p:attrNameLst>
                                      </p:cBhvr>
                                      <p:to>
                                        <p:strVal val="visible"/>
                                      </p:to>
                                    </p:set>
                                    <p:animEffect transition="in" filter="barn(inVertical)">
                                      <p:cBhvr>
                                        <p:cTn id="22" dur="500"/>
                                        <p:tgtEl>
                                          <p:spTgt spid="1024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p:cNvSpPr>
          <p:nvPr>
            <p:ph type="title"/>
          </p:nvPr>
        </p:nvSpPr>
        <p:spPr>
          <a:xfrm>
            <a:off x="500063" y="152400"/>
            <a:ext cx="8001000" cy="685800"/>
          </a:xfrm>
          <a:noFill/>
          <a:ln w="9525">
            <a:noFill/>
          </a:ln>
        </p:spPr>
        <p:txBody>
          <a:bodyPr vert="horz" wrap="square" lIns="91440" tIns="45720" rIns="91440" bIns="45720" rtlCol="0" anchor="ctr" anchorCtr="0">
            <a:normAutofit fontScale="90000"/>
          </a:bodyPr>
          <a:lstStyle/>
          <a:p>
            <a:pPr lvl="0" algn="ctr" eaLnBrk="1" hangingPunct="1">
              <a:buClrTx/>
              <a:buSzTx/>
              <a:buFontTx/>
            </a:pPr>
            <a:r>
              <a:rPr lang="zh-CN" altLang="en-US" sz="4000" b="0" dirty="0">
                <a:latin typeface="黑体" panose="02010609060101010101" pitchFamily="2" charset="-122"/>
                <a:ea typeface="黑体" panose="02010609060101010101" pitchFamily="2" charset="-122"/>
                <a:sym typeface="+mn-ea"/>
              </a:rPr>
              <a:t>改变列标题 </a:t>
            </a:r>
          </a:p>
        </p:txBody>
      </p:sp>
      <p:sp>
        <p:nvSpPr>
          <p:cNvPr id="11267" name="Rectangle 3"/>
          <p:cNvSpPr>
            <a:spLocks noGrp="1"/>
          </p:cNvSpPr>
          <p:nvPr>
            <p:ph idx="1"/>
          </p:nvPr>
        </p:nvSpPr>
        <p:spPr>
          <a:xfrm>
            <a:off x="357188" y="1219200"/>
            <a:ext cx="8358187" cy="5105400"/>
          </a:xfrm>
        </p:spPr>
        <p:txBody>
          <a:bodyPr vert="horz" wrap="square" lIns="91440" tIns="45720" rIns="91440" bIns="45720" anchor="t" anchorCtr="0"/>
          <a:lstStyle/>
          <a:p>
            <a:pPr eaLnBrk="1" hangingPunct="1"/>
            <a:r>
              <a:rPr lang="zh-CN" altLang="en-US" dirty="0">
                <a:latin typeface="宋体" pitchFamily="2" charset="-122"/>
                <a:cs typeface="等线" panose="02010600030101010101" charset="-122"/>
              </a:rPr>
              <a:t>语法：</a:t>
            </a:r>
          </a:p>
          <a:p>
            <a:pPr lvl="1" eaLnBrk="1" hangingPunct="1">
              <a:buFont typeface="Wingdings" panose="05000000000000000000" pitchFamily="2" charset="2"/>
              <a:buNone/>
            </a:pPr>
            <a:r>
              <a:rPr lang="zh-CN" altLang="en-US" dirty="0">
                <a:solidFill>
                  <a:srgbClr val="FF0000"/>
                </a:solidFill>
                <a:latin typeface="宋体" pitchFamily="2" charset="-122"/>
                <a:cs typeface="等线" panose="02010600030101010101" charset="-122"/>
              </a:rPr>
              <a:t>列</a:t>
            </a:r>
            <a:r>
              <a:rPr lang="zh-CN" altLang="en-US" dirty="0" smtClean="0">
                <a:solidFill>
                  <a:srgbClr val="FF0000"/>
                </a:solidFill>
                <a:latin typeface="宋体" pitchFamily="2" charset="-122"/>
                <a:cs typeface="等线" panose="02010600030101010101" charset="-122"/>
              </a:rPr>
              <a:t>名</a:t>
            </a:r>
            <a:r>
              <a:rPr lang="en-US" altLang="zh-CN" dirty="0" smtClean="0">
                <a:solidFill>
                  <a:srgbClr val="FF0000"/>
                </a:solidFill>
                <a:latin typeface="宋体" pitchFamily="2" charset="-122"/>
                <a:cs typeface="等线" panose="02010600030101010101" charset="-122"/>
              </a:rPr>
              <a:t>|</a:t>
            </a:r>
            <a:r>
              <a:rPr lang="zh-CN" altLang="en-US" dirty="0" smtClean="0">
                <a:solidFill>
                  <a:srgbClr val="FF0000"/>
                </a:solidFill>
                <a:latin typeface="宋体" pitchFamily="2" charset="-122"/>
                <a:cs typeface="等线" panose="02010600030101010101" charset="-122"/>
              </a:rPr>
              <a:t>表达式 </a:t>
            </a:r>
            <a:r>
              <a:rPr lang="en-US" altLang="zh-CN" dirty="0" smtClean="0">
                <a:solidFill>
                  <a:srgbClr val="FF0000"/>
                </a:solidFill>
                <a:latin typeface="宋体" pitchFamily="2" charset="-122"/>
                <a:cs typeface="等线" panose="02010600030101010101" charset="-122"/>
              </a:rPr>
              <a:t>[AS] </a:t>
            </a:r>
            <a:r>
              <a:rPr lang="zh-CN" altLang="en-US" dirty="0">
                <a:solidFill>
                  <a:srgbClr val="FF0000"/>
                </a:solidFill>
                <a:latin typeface="宋体" pitchFamily="2" charset="-122"/>
                <a:cs typeface="等线" panose="02010600030101010101" charset="-122"/>
              </a:rPr>
              <a:t>列标题</a:t>
            </a:r>
          </a:p>
          <a:p>
            <a:pPr eaLnBrk="1" hangingPunct="1"/>
            <a:r>
              <a:rPr lang="zh-CN" altLang="en-US" dirty="0">
                <a:latin typeface="宋体" pitchFamily="2" charset="-122"/>
                <a:cs typeface="等线" panose="02010600030101010101" charset="-122"/>
              </a:rPr>
              <a:t>或：</a:t>
            </a:r>
          </a:p>
          <a:p>
            <a:pPr lvl="1" eaLnBrk="1" hangingPunct="1">
              <a:buFont typeface="Wingdings" panose="05000000000000000000" pitchFamily="2" charset="2"/>
              <a:buNone/>
            </a:pPr>
            <a:r>
              <a:rPr lang="zh-CN" altLang="en-US" dirty="0">
                <a:solidFill>
                  <a:srgbClr val="FF0000"/>
                </a:solidFill>
                <a:latin typeface="宋体" pitchFamily="2" charset="-122"/>
                <a:cs typeface="等线" panose="02010600030101010101" charset="-122"/>
              </a:rPr>
              <a:t>列标题 ＝列</a:t>
            </a:r>
            <a:r>
              <a:rPr lang="zh-CN" altLang="en-US" dirty="0" smtClean="0">
                <a:solidFill>
                  <a:srgbClr val="FF0000"/>
                </a:solidFill>
                <a:latin typeface="宋体" pitchFamily="2" charset="-122"/>
                <a:cs typeface="等线" panose="02010600030101010101" charset="-122"/>
              </a:rPr>
              <a:t>名</a:t>
            </a:r>
            <a:r>
              <a:rPr lang="en-US" altLang="zh-CN" dirty="0" smtClean="0">
                <a:solidFill>
                  <a:srgbClr val="FF0000"/>
                </a:solidFill>
                <a:latin typeface="宋体" pitchFamily="2" charset="-122"/>
                <a:cs typeface="等线" panose="02010600030101010101" charset="-122"/>
              </a:rPr>
              <a:t>|</a:t>
            </a:r>
            <a:r>
              <a:rPr lang="zh-CN" altLang="en-US" dirty="0" smtClean="0">
                <a:solidFill>
                  <a:srgbClr val="FF0000"/>
                </a:solidFill>
                <a:latin typeface="宋体" pitchFamily="2" charset="-122"/>
                <a:cs typeface="等线" panose="02010600030101010101" charset="-122"/>
              </a:rPr>
              <a:t>表达式</a:t>
            </a:r>
            <a:endParaRPr lang="zh-CN" altLang="en-US" dirty="0">
              <a:solidFill>
                <a:srgbClr val="FF0000"/>
              </a:solidFill>
              <a:latin typeface="宋体" pitchFamily="2" charset="-122"/>
              <a:cs typeface="等线" panose="02010600030101010101" charset="-122"/>
            </a:endParaRPr>
          </a:p>
          <a:p>
            <a:pPr eaLnBrk="1" hangingPunct="1"/>
            <a:r>
              <a:rPr lang="zh-CN" altLang="en-US" dirty="0">
                <a:latin typeface="宋体" pitchFamily="2" charset="-122"/>
                <a:cs typeface="等线" panose="02010600030101010101" charset="-122"/>
              </a:rPr>
              <a:t>例：</a:t>
            </a:r>
          </a:p>
          <a:p>
            <a:pPr eaLnBrk="1" hangingPunct="1">
              <a:buFont typeface="Wingdings" panose="05000000000000000000" pitchFamily="2" charset="2"/>
              <a:buNone/>
            </a:pPr>
            <a:r>
              <a:rPr lang="en-US" altLang="zh-CN" sz="3200" dirty="0">
                <a:solidFill>
                  <a:srgbClr val="0000FF"/>
                </a:solidFill>
                <a:latin typeface="宋体" pitchFamily="2" charset="-122"/>
                <a:cs typeface="等线" panose="02010600030101010101" charset="-122"/>
              </a:rPr>
              <a:t>  SELECT Sname </a:t>
            </a:r>
            <a:r>
              <a:rPr lang="zh-CN" altLang="en-US" sz="3200" dirty="0">
                <a:solidFill>
                  <a:srgbClr val="0000FF"/>
                </a:solidFill>
                <a:latin typeface="宋体" pitchFamily="2" charset="-122"/>
                <a:cs typeface="等线" panose="02010600030101010101" charset="-122"/>
              </a:rPr>
              <a:t>姓名</a:t>
            </a:r>
            <a:r>
              <a:rPr lang="en-US" altLang="zh-CN" sz="3200" dirty="0">
                <a:solidFill>
                  <a:srgbClr val="0000FF"/>
                </a:solidFill>
                <a:latin typeface="宋体" pitchFamily="2" charset="-122"/>
                <a:cs typeface="等线" panose="02010600030101010101" charset="-122"/>
              </a:rPr>
              <a:t>, </a:t>
            </a:r>
            <a:r>
              <a:rPr lang="en-US" altLang="zh-CN" sz="3200" dirty="0" smtClean="0">
                <a:solidFill>
                  <a:srgbClr val="0000FF"/>
                </a:solidFill>
                <a:latin typeface="宋体" pitchFamily="2" charset="-122"/>
                <a:cs typeface="等线" panose="02010600030101010101" charset="-122"/>
              </a:rPr>
              <a:t>2022 </a:t>
            </a:r>
            <a:r>
              <a:rPr lang="en-US" altLang="zh-CN" sz="3200" dirty="0">
                <a:solidFill>
                  <a:srgbClr val="0000FF"/>
                </a:solidFill>
                <a:latin typeface="宋体" pitchFamily="2" charset="-122"/>
                <a:cs typeface="等线" panose="02010600030101010101" charset="-122"/>
              </a:rPr>
              <a:t>- Sage </a:t>
            </a:r>
            <a:r>
              <a:rPr lang="zh-CN" altLang="en-US" sz="3200" dirty="0">
                <a:solidFill>
                  <a:srgbClr val="0000FF"/>
                </a:solidFill>
                <a:latin typeface="宋体" pitchFamily="2" charset="-122"/>
                <a:cs typeface="等线" panose="02010600030101010101" charset="-122"/>
              </a:rPr>
              <a:t>年份 </a:t>
            </a:r>
          </a:p>
          <a:p>
            <a:pPr eaLnBrk="1" hangingPunct="1">
              <a:buFont typeface="Wingdings" panose="05000000000000000000" pitchFamily="2" charset="2"/>
              <a:buNone/>
            </a:pPr>
            <a:r>
              <a:rPr lang="en-US" altLang="zh-CN" sz="3200" dirty="0">
                <a:solidFill>
                  <a:srgbClr val="0000FF"/>
                </a:solidFill>
                <a:latin typeface="宋体" pitchFamily="2" charset="-122"/>
                <a:cs typeface="等线" panose="02010600030101010101" charset="-122"/>
              </a:rPr>
              <a:t>    FROM Student</a:t>
            </a:r>
            <a:endParaRPr lang="zh-CN" altLang="en-US" sz="2800" dirty="0">
              <a:solidFill>
                <a:srgbClr val="0000FF"/>
              </a:solidFill>
              <a:latin typeface="宋体" pitchFamily="2" charset="-122"/>
              <a:cs typeface="等线" panose="02010600030101010101" charset="-122"/>
            </a:endParaRP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标题 1"/>
          <p:cNvSpPr>
            <a:spLocks noGrp="1"/>
          </p:cNvSpPr>
          <p:nvPr>
            <p:ph type="title"/>
          </p:nvPr>
        </p:nvSpPr>
        <p:spPr>
          <a:xfrm>
            <a:off x="500063" y="152400"/>
            <a:ext cx="8001000" cy="685800"/>
          </a:xfrm>
          <a:noFill/>
          <a:ln w="9525">
            <a:noFill/>
          </a:ln>
        </p:spPr>
        <p:txBody>
          <a:bodyPr vert="horz" wrap="square" lIns="91440" tIns="45720" rIns="91440" bIns="45720" rtlCol="0" anchor="ctr" anchorCtr="0">
            <a:normAutofit fontScale="90000"/>
          </a:bodyPr>
          <a:lstStyle/>
          <a:p>
            <a:pPr lvl="0" algn="ctr" eaLnBrk="1" hangingPunct="1">
              <a:buClrTx/>
              <a:buSzTx/>
              <a:buFontTx/>
            </a:pPr>
            <a:r>
              <a:rPr lang="zh-CN" altLang="en-US" sz="4000" b="0" dirty="0">
                <a:latin typeface="黑体" panose="02010609060101010101" pitchFamily="2" charset="-122"/>
                <a:ea typeface="黑体" panose="02010609060101010101" pitchFamily="2" charset="-122"/>
                <a:sym typeface="+mn-ea"/>
              </a:rPr>
              <a:t>2 选择表中的若干元组</a:t>
            </a:r>
          </a:p>
        </p:txBody>
      </p:sp>
      <p:sp>
        <p:nvSpPr>
          <p:cNvPr id="12291" name="内容占位符 2"/>
          <p:cNvSpPr>
            <a:spLocks noGrp="1"/>
          </p:cNvSpPr>
          <p:nvPr>
            <p:ph idx="1"/>
          </p:nvPr>
        </p:nvSpPr>
        <p:spPr>
          <a:xfrm>
            <a:off x="1187624" y="1916832"/>
            <a:ext cx="6737945" cy="2216274"/>
          </a:xfrm>
        </p:spPr>
        <p:txBody>
          <a:bodyPr vert="horz" wrap="square" lIns="91440" tIns="45720" rIns="91440" bIns="45720" anchor="t" anchorCtr="0"/>
          <a:lstStyle/>
          <a:p>
            <a:pPr eaLnBrk="1" hangingPunct="1">
              <a:spcBef>
                <a:spcPts val="3000"/>
              </a:spcBef>
            </a:pPr>
            <a:r>
              <a:rPr lang="zh-CN" altLang="en-US" sz="3600" dirty="0">
                <a:latin typeface="宋体" pitchFamily="2" charset="-122"/>
                <a:cs typeface="+mn-cs"/>
              </a:rPr>
              <a:t>消除取值相同的行</a:t>
            </a:r>
          </a:p>
          <a:p>
            <a:pPr eaLnBrk="1" hangingPunct="1">
              <a:spcBef>
                <a:spcPts val="3000"/>
              </a:spcBef>
            </a:pPr>
            <a:r>
              <a:rPr lang="zh-CN" altLang="en-US" sz="3600" dirty="0">
                <a:latin typeface="宋体" pitchFamily="2" charset="-122"/>
                <a:cs typeface="+mn-cs"/>
              </a:rPr>
              <a:t>查询满足条件的元组</a:t>
            </a: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p:cNvSpPr>
          <p:nvPr>
            <p:ph type="title"/>
          </p:nvPr>
        </p:nvSpPr>
        <p:spPr>
          <a:xfrm>
            <a:off x="500063" y="152400"/>
            <a:ext cx="8001000" cy="685800"/>
          </a:xfrm>
          <a:noFill/>
          <a:ln w="9525">
            <a:noFill/>
          </a:ln>
        </p:spPr>
        <p:txBody>
          <a:bodyPr vert="horz" wrap="square" lIns="91440" tIns="45720" rIns="91440" bIns="45720" rtlCol="0" anchor="ctr" anchorCtr="0">
            <a:normAutofit fontScale="90000"/>
          </a:bodyPr>
          <a:lstStyle/>
          <a:p>
            <a:pPr lvl="0" algn="ctr" eaLnBrk="1" hangingPunct="1">
              <a:buClrTx/>
              <a:buSzTx/>
              <a:buFontTx/>
            </a:pPr>
            <a:r>
              <a:rPr lang="zh-CN" altLang="en-US" sz="4000" b="0" dirty="0">
                <a:latin typeface="黑体" panose="02010609060101010101" pitchFamily="2" charset="-122"/>
                <a:ea typeface="黑体" panose="02010609060101010101" pitchFamily="2" charset="-122"/>
                <a:sym typeface="+mn-ea"/>
              </a:rPr>
              <a:t>消除取值相同的记录</a:t>
            </a:r>
          </a:p>
        </p:txBody>
      </p:sp>
      <p:sp>
        <p:nvSpPr>
          <p:cNvPr id="13315" name="Rectangle 3"/>
          <p:cNvSpPr>
            <a:spLocks noGrp="1"/>
          </p:cNvSpPr>
          <p:nvPr>
            <p:ph idx="1"/>
          </p:nvPr>
        </p:nvSpPr>
        <p:spPr/>
        <p:txBody>
          <a:bodyPr vert="horz" wrap="square" lIns="91440" tIns="45720" rIns="91440" bIns="45720" anchor="t" anchorCtr="0"/>
          <a:lstStyle/>
          <a:p>
            <a:pPr marL="0" indent="0" eaLnBrk="1" hangingPunct="1">
              <a:buNone/>
            </a:pPr>
            <a:r>
              <a:rPr lang="zh-CN" altLang="en-US" sz="3000" dirty="0" smtClean="0">
                <a:latin typeface="宋体" pitchFamily="2" charset="-122"/>
                <a:cs typeface="等线" panose="02010600030101010101" charset="-122"/>
              </a:rPr>
              <a:t>例</a:t>
            </a:r>
            <a:r>
              <a:rPr lang="en-US" altLang="zh-CN" sz="3200" dirty="0" smtClean="0"/>
              <a:t>4.6 </a:t>
            </a:r>
            <a:r>
              <a:rPr lang="zh-CN" altLang="en-US" sz="3000" dirty="0" smtClean="0">
                <a:latin typeface="宋体" pitchFamily="2" charset="-122"/>
                <a:cs typeface="等线" panose="02010600030101010101" charset="-122"/>
              </a:rPr>
              <a:t>在</a:t>
            </a:r>
            <a:r>
              <a:rPr lang="zh-CN" altLang="en-US" sz="3000" dirty="0">
                <a:latin typeface="宋体" pitchFamily="2" charset="-122"/>
                <a:cs typeface="等线" panose="02010600030101010101" charset="-122"/>
              </a:rPr>
              <a:t>修课表中查询有哪些学生修了课程，要求列出学生的学号。</a:t>
            </a:r>
          </a:p>
          <a:p>
            <a:pPr eaLnBrk="1" hangingPunct="1">
              <a:buFont typeface="Wingdings" panose="05000000000000000000" pitchFamily="2" charset="2"/>
              <a:buNone/>
            </a:pPr>
            <a:r>
              <a:rPr lang="zh-CN" altLang="en-US" sz="3000" dirty="0">
                <a:latin typeface="宋体" pitchFamily="2" charset="-122"/>
                <a:cs typeface="等线" panose="02010600030101010101" charset="-122"/>
              </a:rPr>
              <a:t>	  </a:t>
            </a:r>
            <a:r>
              <a:rPr lang="en-US" altLang="zh-CN" sz="3000" dirty="0">
                <a:solidFill>
                  <a:srgbClr val="0000FF"/>
                </a:solidFill>
                <a:latin typeface="宋体" pitchFamily="2" charset="-122"/>
                <a:cs typeface="等线" panose="02010600030101010101" charset="-122"/>
              </a:rPr>
              <a:t>SELECT  Sno  FROM  SC</a:t>
            </a:r>
          </a:p>
          <a:p>
            <a:pPr eaLnBrk="1" hangingPunct="1">
              <a:spcBef>
                <a:spcPts val="1800"/>
              </a:spcBef>
            </a:pPr>
            <a:r>
              <a:rPr lang="zh-CN" altLang="en-US" sz="3000" dirty="0">
                <a:latin typeface="宋体" pitchFamily="2" charset="-122"/>
                <a:cs typeface="等线" panose="02010600030101010101" charset="-122"/>
              </a:rPr>
              <a:t>结果中有重复的行。</a:t>
            </a:r>
          </a:p>
          <a:p>
            <a:pPr eaLnBrk="1" hangingPunct="1"/>
            <a:r>
              <a:rPr lang="zh-CN" altLang="en-US" sz="3000" dirty="0">
                <a:latin typeface="宋体" pitchFamily="2" charset="-122"/>
                <a:cs typeface="等线" panose="02010600030101010101" charset="-122"/>
              </a:rPr>
              <a:t>用</a:t>
            </a:r>
            <a:r>
              <a:rPr lang="en-US" altLang="zh-CN" sz="3000" dirty="0">
                <a:latin typeface="宋体" pitchFamily="2" charset="-122"/>
                <a:cs typeface="等线" panose="02010600030101010101" charset="-122"/>
              </a:rPr>
              <a:t>DISTINCT</a:t>
            </a:r>
            <a:r>
              <a:rPr lang="zh-CN" altLang="en-US" sz="3000" dirty="0">
                <a:latin typeface="宋体" pitchFamily="2" charset="-122"/>
                <a:cs typeface="等线" panose="02010600030101010101" charset="-122"/>
              </a:rPr>
              <a:t>关键字可以去掉结果中的重复行。</a:t>
            </a:r>
          </a:p>
          <a:p>
            <a:pPr eaLnBrk="1" hangingPunct="1"/>
            <a:r>
              <a:rPr lang="en-US" altLang="zh-CN" sz="3000" dirty="0">
                <a:latin typeface="宋体" pitchFamily="2" charset="-122"/>
                <a:cs typeface="等线" panose="02010600030101010101" charset="-122"/>
              </a:rPr>
              <a:t>DISTINCT</a:t>
            </a:r>
            <a:r>
              <a:rPr lang="zh-CN" altLang="en-US" sz="3000" dirty="0">
                <a:latin typeface="宋体" pitchFamily="2" charset="-122"/>
                <a:cs typeface="等线" panose="02010600030101010101" charset="-122"/>
              </a:rPr>
              <a:t>关键字放在</a:t>
            </a:r>
            <a:r>
              <a:rPr lang="en-US" altLang="zh-CN" sz="3000" dirty="0">
                <a:latin typeface="宋体" pitchFamily="2" charset="-122"/>
                <a:cs typeface="等线" panose="02010600030101010101" charset="-122"/>
              </a:rPr>
              <a:t>SELECT</a:t>
            </a:r>
            <a:r>
              <a:rPr lang="zh-CN" altLang="en-US" sz="3000" dirty="0">
                <a:latin typeface="宋体" pitchFamily="2" charset="-122"/>
                <a:cs typeface="等线" panose="02010600030101010101" charset="-122"/>
              </a:rPr>
              <a:t>词的后边、目标列名序列的前边。</a:t>
            </a:r>
          </a:p>
          <a:p>
            <a:pPr eaLnBrk="1" hangingPunct="1">
              <a:buFont typeface="Wingdings" panose="05000000000000000000" pitchFamily="2" charset="2"/>
              <a:buNone/>
            </a:pPr>
            <a:r>
              <a:rPr lang="zh-CN" altLang="en-US" sz="3000" dirty="0">
                <a:latin typeface="宋体" pitchFamily="2" charset="-122"/>
                <a:cs typeface="等线" panose="02010600030101010101" charset="-122"/>
              </a:rPr>
              <a:t>	</a:t>
            </a:r>
            <a:r>
              <a:rPr lang="en-US" altLang="zh-CN" sz="3000" dirty="0">
                <a:latin typeface="宋体" pitchFamily="2" charset="-122"/>
                <a:cs typeface="等线" panose="02010600030101010101" charset="-122"/>
              </a:rPr>
              <a:t>  </a:t>
            </a:r>
            <a:r>
              <a:rPr lang="en-US" altLang="zh-CN" sz="3000" dirty="0">
                <a:solidFill>
                  <a:srgbClr val="0000FF"/>
                </a:solidFill>
                <a:latin typeface="宋体" pitchFamily="2" charset="-122"/>
                <a:cs typeface="等线" panose="02010600030101010101" charset="-122"/>
              </a:rPr>
              <a:t>SELECT</a:t>
            </a:r>
            <a:r>
              <a:rPr lang="en-US" altLang="zh-CN" sz="3000" dirty="0">
                <a:solidFill>
                  <a:srgbClr val="009900"/>
                </a:solidFill>
                <a:latin typeface="宋体" pitchFamily="2" charset="-122"/>
                <a:cs typeface="等线" panose="02010600030101010101" charset="-122"/>
              </a:rPr>
              <a:t>  </a:t>
            </a:r>
            <a:r>
              <a:rPr lang="en-US" altLang="zh-CN" sz="3000" dirty="0">
                <a:solidFill>
                  <a:srgbClr val="FF0000"/>
                </a:solidFill>
                <a:latin typeface="宋体" pitchFamily="2" charset="-122"/>
                <a:cs typeface="等线" panose="02010600030101010101" charset="-122"/>
              </a:rPr>
              <a:t>DISTINCT</a:t>
            </a:r>
            <a:r>
              <a:rPr lang="en-US" altLang="zh-CN" sz="3000" dirty="0">
                <a:solidFill>
                  <a:srgbClr val="009900"/>
                </a:solidFill>
                <a:latin typeface="宋体" pitchFamily="2" charset="-122"/>
                <a:cs typeface="等线" panose="02010600030101010101" charset="-122"/>
              </a:rPr>
              <a:t>  </a:t>
            </a:r>
            <a:r>
              <a:rPr lang="en-US" altLang="zh-CN" sz="3000" dirty="0">
                <a:solidFill>
                  <a:srgbClr val="0000FF"/>
                </a:solidFill>
                <a:latin typeface="宋体" pitchFamily="2" charset="-122"/>
                <a:cs typeface="等线" panose="02010600030101010101" charset="-122"/>
              </a:rPr>
              <a:t>Sno  FROM  SC</a:t>
            </a:r>
            <a:endParaRPr lang="zh-CN" altLang="en-US" sz="3000" dirty="0">
              <a:solidFill>
                <a:srgbClr val="0000FF"/>
              </a:solidFill>
              <a:latin typeface="宋体" pitchFamily="2" charset="-122"/>
              <a:cs typeface="等线" panose="02010600030101010101"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315">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315">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3315">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3315">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3315">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p:cNvSpPr>
          <p:nvPr>
            <p:ph type="title"/>
          </p:nvPr>
        </p:nvSpPr>
        <p:spPr>
          <a:noFill/>
          <a:ln w="9525">
            <a:noFill/>
          </a:ln>
        </p:spPr>
        <p:txBody>
          <a:bodyPr vert="horz" wrap="square" lIns="91440" tIns="45720" rIns="91440" bIns="45720" rtlCol="0" anchor="ctr" anchorCtr="0">
            <a:normAutofit fontScale="90000"/>
          </a:bodyPr>
          <a:lstStyle/>
          <a:p>
            <a:pPr lvl="0" algn="ctr" eaLnBrk="1" hangingPunct="1">
              <a:buClrTx/>
              <a:buSzTx/>
              <a:buFontTx/>
            </a:pPr>
            <a:r>
              <a:rPr lang="zh-CN" altLang="en-US" sz="4000" dirty="0">
                <a:latin typeface="黑体" panose="02010609060101010101" pitchFamily="2" charset="-122"/>
                <a:ea typeface="黑体" panose="02010609060101010101" pitchFamily="2" charset="-122"/>
                <a:sym typeface="+mn-ea"/>
              </a:rPr>
              <a:t> 查询满足条件的元组 </a:t>
            </a:r>
          </a:p>
        </p:txBody>
      </p:sp>
      <p:graphicFrame>
        <p:nvGraphicFramePr>
          <p:cNvPr id="445543" name="Group 103"/>
          <p:cNvGraphicFramePr>
            <a:graphicFrameLocks noGrp="1"/>
          </p:cNvGraphicFramePr>
          <p:nvPr>
            <p:ph idx="1"/>
            <p:custDataLst>
              <p:tags r:id="rId1"/>
            </p:custDataLst>
            <p:extLst>
              <p:ext uri="{D42A27DB-BD31-4B8C-83A1-F6EECF244321}">
                <p14:modId xmlns:p14="http://schemas.microsoft.com/office/powerpoint/2010/main" val="1068410296"/>
              </p:ext>
            </p:extLst>
          </p:nvPr>
        </p:nvGraphicFramePr>
        <p:xfrm>
          <a:off x="571500" y="1285875"/>
          <a:ext cx="8102629" cy="4805680"/>
        </p:xfrm>
        <a:graphic>
          <a:graphicData uri="http://schemas.openxmlformats.org/drawingml/2006/table">
            <a:tbl>
              <a:tblPr/>
              <a:tblGrid>
                <a:gridCol w="2595654"/>
                <a:gridCol w="5506975"/>
              </a:tblGrid>
              <a:tr h="579120">
                <a:tc>
                  <a:txBody>
                    <a:bodyPr/>
                    <a:lstStyle/>
                    <a:p>
                      <a:pPr marL="342900" marR="0" lvl="0" indent="-342900" algn="ctr" defTabSz="914400" rtl="0" eaLnBrk="1" fontAlgn="base" latinLnBrk="0" hangingPunct="1">
                        <a:lnSpc>
                          <a:spcPct val="100000"/>
                        </a:lnSpc>
                        <a:spcBef>
                          <a:spcPct val="0"/>
                        </a:spcBef>
                        <a:spcAft>
                          <a:spcPct val="0"/>
                        </a:spcAft>
                        <a:buClr>
                          <a:schemeClr val="bg1"/>
                        </a:buClr>
                        <a:buSzTx/>
                        <a:buFont typeface="Wingdings" panose="05000000000000000000" pitchFamily="2" charset="2"/>
                        <a:buNone/>
                      </a:pPr>
                      <a:r>
                        <a:rPr kumimoji="0" lang="zh-CN" altLang="en-US" sz="3200" b="1" i="0" u="none" strike="noStrike" cap="none" normalizeH="0" baseline="0" dirty="0" smtClean="0">
                          <a:ln>
                            <a:noFill/>
                          </a:ln>
                          <a:solidFill>
                            <a:srgbClr val="FF0000"/>
                          </a:solidFill>
                          <a:effectLst/>
                          <a:latin typeface="宋体" pitchFamily="2" charset="-122"/>
                          <a:ea typeface="宋体" pitchFamily="2" charset="-122"/>
                        </a:rPr>
                        <a:t>查询条件</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
                          <a:schemeClr val="bg1"/>
                        </a:buClr>
                        <a:buSzTx/>
                        <a:buFont typeface="Wingdings" panose="05000000000000000000" pitchFamily="2" charset="2"/>
                        <a:buNone/>
                      </a:pPr>
                      <a:r>
                        <a:rPr kumimoji="0" lang="zh-CN" altLang="en-US" sz="3200" b="1" i="0" u="none" strike="noStrike" cap="none" normalizeH="0" baseline="0" dirty="0" smtClean="0">
                          <a:ln>
                            <a:noFill/>
                          </a:ln>
                          <a:solidFill>
                            <a:srgbClr val="FF0000"/>
                          </a:solidFill>
                          <a:effectLst/>
                          <a:latin typeface="宋体" pitchFamily="2" charset="-122"/>
                          <a:ea typeface="宋体" pitchFamily="2" charset="-122"/>
                          <a:cs typeface="等线" panose="02010600030101010101" charset="-122"/>
                        </a:rPr>
                        <a:t>谓     词</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843280">
                <a:tc>
                  <a:txBody>
                    <a:bodyPr/>
                    <a:lstStyle/>
                    <a:p>
                      <a:pPr marL="342900" marR="0" lvl="0" indent="-342900" algn="l" defTabSz="914400" rtl="0" eaLnBrk="1" fontAlgn="base" latinLnBrk="0" hangingPunct="1">
                        <a:lnSpc>
                          <a:spcPct val="100000"/>
                        </a:lnSpc>
                        <a:spcBef>
                          <a:spcPct val="0"/>
                        </a:spcBef>
                        <a:spcAft>
                          <a:spcPct val="0"/>
                        </a:spcAft>
                        <a:buClr>
                          <a:schemeClr val="bg1"/>
                        </a:buClr>
                        <a:buSzTx/>
                        <a:buFont typeface="Wingdings" panose="05000000000000000000" pitchFamily="2" charset="2"/>
                        <a:buNone/>
                      </a:pPr>
                      <a:r>
                        <a:rPr kumimoji="0" lang="zh-CN" altLang="en-US" sz="3200" b="1" i="0" u="none" strike="noStrike" cap="none" normalizeH="0" baseline="0" dirty="0" smtClean="0">
                          <a:ln>
                            <a:noFill/>
                          </a:ln>
                          <a:solidFill>
                            <a:schemeClr val="tx2"/>
                          </a:solidFill>
                          <a:effectLst/>
                          <a:latin typeface="宋体" pitchFamily="2" charset="-122"/>
                          <a:ea typeface="宋体" pitchFamily="2" charset="-122"/>
                        </a:rPr>
                        <a:t>比较运算符</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14020" marR="0" lvl="0" indent="-342900" algn="l" defTabSz="914400" rtl="0" fontAlgn="base">
                        <a:lnSpc>
                          <a:spcPct val="100000"/>
                        </a:lnSpc>
                        <a:buClr>
                          <a:schemeClr val="bg1"/>
                        </a:buClr>
                        <a:buSzTx/>
                        <a:buFont typeface="Wingdings" panose="05000000000000000000" pitchFamily="2" charset="2"/>
                        <a:buNone/>
                      </a:pPr>
                      <a:r>
                        <a:rPr kumimoji="0" lang="zh-CN" altLang="en-US" sz="3200" b="1" i="0" u="none" strike="noStrike" cap="none" normalizeH="0" baseline="0" dirty="0" smtClean="0">
                          <a:ln>
                            <a:noFill/>
                          </a:ln>
                          <a:solidFill>
                            <a:schemeClr val="tx2"/>
                          </a:solidFill>
                          <a:effectLst/>
                          <a:latin typeface="宋体" pitchFamily="2" charset="-122"/>
                          <a:ea typeface="宋体" pitchFamily="2" charset="-122"/>
                        </a:rPr>
                        <a:t>=, &gt;, &gt;=, &lt;, &lt;=, &lt;&gt;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901700">
                <a:tc>
                  <a:txBody>
                    <a:bodyPr/>
                    <a:lstStyle/>
                    <a:p>
                      <a:pPr marL="342900" marR="0" lvl="0" indent="-342900" algn="l" defTabSz="914400" rtl="0" eaLnBrk="1" fontAlgn="base" latinLnBrk="0" hangingPunct="1">
                        <a:lnSpc>
                          <a:spcPct val="100000"/>
                        </a:lnSpc>
                        <a:spcBef>
                          <a:spcPct val="0"/>
                        </a:spcBef>
                        <a:spcAft>
                          <a:spcPct val="0"/>
                        </a:spcAft>
                        <a:buClr>
                          <a:schemeClr val="bg1"/>
                        </a:buClr>
                        <a:buSzTx/>
                        <a:buFont typeface="Wingdings" panose="05000000000000000000" pitchFamily="2" charset="2"/>
                        <a:buNone/>
                      </a:pPr>
                      <a:r>
                        <a:rPr kumimoji="0" lang="zh-CN" altLang="en-US" sz="3200" b="1" i="0" u="none" strike="noStrike" cap="none" normalizeH="0" baseline="0" dirty="0" smtClean="0">
                          <a:ln>
                            <a:noFill/>
                          </a:ln>
                          <a:solidFill>
                            <a:schemeClr val="tx2"/>
                          </a:solidFill>
                          <a:effectLst/>
                          <a:latin typeface="宋体" pitchFamily="2" charset="-122"/>
                          <a:ea typeface="宋体" pitchFamily="2" charset="-122"/>
                        </a:rPr>
                        <a:t>确定范围</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
                          <a:schemeClr val="bg1"/>
                        </a:buClr>
                        <a:buSzTx/>
                        <a:buFont typeface="Wingdings" panose="05000000000000000000" pitchFamily="2" charset="2"/>
                        <a:buNone/>
                      </a:pPr>
                      <a:r>
                        <a:rPr kumimoji="0" lang="en-US" altLang="zh-CN" sz="3200" b="1" i="0" u="none" strike="noStrike" cap="none" normalizeH="0" baseline="0" smtClean="0">
                          <a:ln>
                            <a:noFill/>
                          </a:ln>
                          <a:solidFill>
                            <a:schemeClr val="tx2"/>
                          </a:solidFill>
                          <a:effectLst/>
                          <a:latin typeface="宋体" pitchFamily="2" charset="-122"/>
                          <a:ea typeface="宋体" pitchFamily="2" charset="-122"/>
                        </a:rPr>
                        <a:t>BETWEEN…AND, </a:t>
                      </a:r>
                    </a:p>
                    <a:p>
                      <a:pPr marL="342900" marR="0" lvl="0" indent="-342900" algn="l" defTabSz="914400" rtl="0" eaLnBrk="1" fontAlgn="base" latinLnBrk="0" hangingPunct="1">
                        <a:lnSpc>
                          <a:spcPct val="100000"/>
                        </a:lnSpc>
                        <a:spcBef>
                          <a:spcPct val="0"/>
                        </a:spcBef>
                        <a:spcAft>
                          <a:spcPct val="0"/>
                        </a:spcAft>
                        <a:buClr>
                          <a:schemeClr val="bg1"/>
                        </a:buClr>
                        <a:buSzTx/>
                        <a:buFont typeface="Wingdings" panose="05000000000000000000" pitchFamily="2" charset="2"/>
                        <a:buNone/>
                      </a:pPr>
                      <a:r>
                        <a:rPr kumimoji="0" lang="en-US" altLang="zh-CN" sz="3200" b="1" i="0" u="none" strike="noStrike" cap="none" normalizeH="0" baseline="0" smtClean="0">
                          <a:ln>
                            <a:noFill/>
                          </a:ln>
                          <a:solidFill>
                            <a:schemeClr val="tx2"/>
                          </a:solidFill>
                          <a:effectLst/>
                          <a:latin typeface="宋体" pitchFamily="2" charset="-122"/>
                          <a:ea typeface="宋体" pitchFamily="2" charset="-122"/>
                        </a:rPr>
                        <a:t>NOT BETWEEN…AND</a:t>
                      </a:r>
                      <a:endParaRPr kumimoji="0" lang="en-US" altLang="zh-CN" sz="6000" b="1" i="0" u="none" strike="noStrike" cap="none" normalizeH="0" baseline="0" smtClean="0">
                        <a:ln>
                          <a:noFill/>
                        </a:ln>
                        <a:solidFill>
                          <a:schemeClr val="tx2"/>
                        </a:solidFill>
                        <a:effectLst/>
                        <a:latin typeface="宋体" pitchFamily="2" charset="-122"/>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550863">
                <a:tc>
                  <a:txBody>
                    <a:bodyPr/>
                    <a:lstStyle/>
                    <a:p>
                      <a:pPr marL="342900" marR="0" lvl="0" indent="-342900" algn="l" defTabSz="914400" rtl="0" eaLnBrk="1" fontAlgn="base" latinLnBrk="0" hangingPunct="1">
                        <a:lnSpc>
                          <a:spcPct val="100000"/>
                        </a:lnSpc>
                        <a:spcBef>
                          <a:spcPct val="0"/>
                        </a:spcBef>
                        <a:spcAft>
                          <a:spcPct val="0"/>
                        </a:spcAft>
                        <a:buClr>
                          <a:schemeClr val="bg1"/>
                        </a:buClr>
                        <a:buSzTx/>
                        <a:buFont typeface="Wingdings" panose="05000000000000000000" pitchFamily="2" charset="2"/>
                        <a:buNone/>
                      </a:pPr>
                      <a:r>
                        <a:rPr kumimoji="0" lang="zh-CN" altLang="en-US" sz="3200" b="1" i="0" u="none" strike="noStrike" cap="none" normalizeH="0" baseline="0" smtClean="0">
                          <a:ln>
                            <a:noFill/>
                          </a:ln>
                          <a:solidFill>
                            <a:schemeClr val="tx2"/>
                          </a:solidFill>
                          <a:effectLst/>
                          <a:latin typeface="宋体" pitchFamily="2" charset="-122"/>
                          <a:ea typeface="宋体" pitchFamily="2" charset="-122"/>
                        </a:rPr>
                        <a:t>确定集合</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
                          <a:schemeClr val="bg1"/>
                        </a:buClr>
                        <a:buSzTx/>
                        <a:buFont typeface="Wingdings" panose="05000000000000000000" pitchFamily="2" charset="2"/>
                        <a:buNone/>
                      </a:pPr>
                      <a:r>
                        <a:rPr kumimoji="0" lang="en-US" altLang="zh-CN" sz="3200" b="1" i="0" u="none" strike="noStrike" cap="none" normalizeH="0" baseline="0" smtClean="0">
                          <a:ln>
                            <a:noFill/>
                          </a:ln>
                          <a:solidFill>
                            <a:schemeClr val="tx2"/>
                          </a:solidFill>
                          <a:effectLst/>
                          <a:latin typeface="宋体" pitchFamily="2" charset="-122"/>
                          <a:ea typeface="宋体" pitchFamily="2" charset="-122"/>
                        </a:rPr>
                        <a:t>IN, NOT IN</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550863">
                <a:tc>
                  <a:txBody>
                    <a:bodyPr/>
                    <a:lstStyle/>
                    <a:p>
                      <a:pPr marL="342900" marR="0" lvl="0" indent="-342900" algn="l" defTabSz="914400" rtl="0" eaLnBrk="1" fontAlgn="base" latinLnBrk="0" hangingPunct="1">
                        <a:lnSpc>
                          <a:spcPct val="100000"/>
                        </a:lnSpc>
                        <a:spcBef>
                          <a:spcPct val="0"/>
                        </a:spcBef>
                        <a:spcAft>
                          <a:spcPct val="0"/>
                        </a:spcAft>
                        <a:buClr>
                          <a:schemeClr val="bg1"/>
                        </a:buClr>
                        <a:buSzTx/>
                        <a:buFont typeface="Wingdings" panose="05000000000000000000" pitchFamily="2" charset="2"/>
                        <a:buNone/>
                      </a:pPr>
                      <a:r>
                        <a:rPr kumimoji="0" lang="zh-CN" altLang="en-US" sz="3200" b="1" i="0" u="none" strike="noStrike" cap="none" normalizeH="0" baseline="0" smtClean="0">
                          <a:ln>
                            <a:noFill/>
                          </a:ln>
                          <a:solidFill>
                            <a:schemeClr val="tx2"/>
                          </a:solidFill>
                          <a:effectLst/>
                          <a:latin typeface="宋体" pitchFamily="2" charset="-122"/>
                          <a:ea typeface="宋体" pitchFamily="2" charset="-122"/>
                        </a:rPr>
                        <a:t>字符匹配</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
                          <a:schemeClr val="bg1"/>
                        </a:buClr>
                        <a:buSzTx/>
                        <a:buFont typeface="Wingdings" panose="05000000000000000000" pitchFamily="2" charset="2"/>
                        <a:buNone/>
                      </a:pPr>
                      <a:r>
                        <a:rPr kumimoji="0" lang="en-US" altLang="zh-CN" sz="3200" b="1" i="0" u="none" strike="noStrike" cap="none" normalizeH="0" baseline="0" smtClean="0">
                          <a:ln>
                            <a:noFill/>
                          </a:ln>
                          <a:solidFill>
                            <a:schemeClr val="tx2"/>
                          </a:solidFill>
                          <a:effectLst/>
                          <a:latin typeface="宋体" pitchFamily="2" charset="-122"/>
                          <a:ea typeface="宋体" pitchFamily="2" charset="-122"/>
                        </a:rPr>
                        <a:t>LIKE, NOT LIKE </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549275">
                <a:tc>
                  <a:txBody>
                    <a:bodyPr/>
                    <a:lstStyle/>
                    <a:p>
                      <a:pPr marL="342900" marR="0" lvl="0" indent="-342900" algn="l" defTabSz="914400" rtl="0" eaLnBrk="1" fontAlgn="base" latinLnBrk="0" hangingPunct="1">
                        <a:lnSpc>
                          <a:spcPct val="100000"/>
                        </a:lnSpc>
                        <a:spcBef>
                          <a:spcPct val="0"/>
                        </a:spcBef>
                        <a:spcAft>
                          <a:spcPct val="0"/>
                        </a:spcAft>
                        <a:buClr>
                          <a:schemeClr val="bg1"/>
                        </a:buClr>
                        <a:buSzTx/>
                        <a:buFont typeface="Wingdings" panose="05000000000000000000" pitchFamily="2" charset="2"/>
                        <a:buNone/>
                      </a:pPr>
                      <a:r>
                        <a:rPr kumimoji="0" lang="zh-CN" altLang="en-US" sz="3200" b="1" i="0" u="none" strike="noStrike" cap="none" normalizeH="0" baseline="0" smtClean="0">
                          <a:ln>
                            <a:noFill/>
                          </a:ln>
                          <a:solidFill>
                            <a:schemeClr val="tx2"/>
                          </a:solidFill>
                          <a:effectLst/>
                          <a:latin typeface="宋体" pitchFamily="2" charset="-122"/>
                          <a:ea typeface="宋体" pitchFamily="2" charset="-122"/>
                        </a:rPr>
                        <a:t>空值</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
                          <a:schemeClr val="bg1"/>
                        </a:buClr>
                        <a:buSzTx/>
                        <a:buFont typeface="Wingdings" panose="05000000000000000000" pitchFamily="2" charset="2"/>
                        <a:buNone/>
                      </a:pPr>
                      <a:r>
                        <a:rPr kumimoji="0" lang="en-US" altLang="zh-CN" sz="3200" b="1" i="0" u="none" strike="noStrike" cap="none" normalizeH="0" baseline="0" smtClean="0">
                          <a:ln>
                            <a:noFill/>
                          </a:ln>
                          <a:solidFill>
                            <a:schemeClr val="tx2"/>
                          </a:solidFill>
                          <a:effectLst/>
                          <a:latin typeface="宋体" pitchFamily="2" charset="-122"/>
                          <a:ea typeface="宋体" pitchFamily="2" charset="-122"/>
                        </a:rPr>
                        <a:t>IS NULL, IS NOT NULL</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512763">
                <a:tc>
                  <a:txBody>
                    <a:bodyPr/>
                    <a:lstStyle/>
                    <a:p>
                      <a:pPr marL="342900" marR="0" lvl="0" indent="-342900" algn="l" defTabSz="914400" rtl="0" eaLnBrk="1" fontAlgn="base" latinLnBrk="0" hangingPunct="1">
                        <a:lnSpc>
                          <a:spcPct val="100000"/>
                        </a:lnSpc>
                        <a:spcBef>
                          <a:spcPct val="0"/>
                        </a:spcBef>
                        <a:spcAft>
                          <a:spcPct val="0"/>
                        </a:spcAft>
                        <a:buClr>
                          <a:schemeClr val="bg1"/>
                        </a:buClr>
                        <a:buSzTx/>
                        <a:buFont typeface="Wingdings" panose="05000000000000000000" pitchFamily="2" charset="2"/>
                        <a:buNone/>
                      </a:pPr>
                      <a:r>
                        <a:rPr kumimoji="0" lang="zh-CN" altLang="en-US" sz="3200" b="1" i="0" u="none" strike="noStrike" cap="none" normalizeH="0" baseline="0" smtClean="0">
                          <a:ln>
                            <a:noFill/>
                          </a:ln>
                          <a:solidFill>
                            <a:schemeClr val="tx2"/>
                          </a:solidFill>
                          <a:effectLst/>
                          <a:latin typeface="宋体" pitchFamily="2" charset="-122"/>
                          <a:ea typeface="宋体" pitchFamily="2" charset="-122"/>
                        </a:rPr>
                        <a:t>逻辑谓词）</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
                          <a:schemeClr val="bg1"/>
                        </a:buClr>
                        <a:buSzTx/>
                        <a:buFont typeface="Wingdings" panose="05000000000000000000" pitchFamily="2" charset="2"/>
                        <a:buNone/>
                      </a:pPr>
                      <a:r>
                        <a:rPr kumimoji="0" lang="en-US" altLang="zh-CN" sz="3200" b="1" i="0" u="none" strike="noStrike" cap="none" normalizeH="0" baseline="0" dirty="0" smtClean="0">
                          <a:ln>
                            <a:noFill/>
                          </a:ln>
                          <a:solidFill>
                            <a:schemeClr val="tx2"/>
                          </a:solidFill>
                          <a:effectLst/>
                          <a:latin typeface="宋体" pitchFamily="2" charset="-122"/>
                          <a:ea typeface="宋体" pitchFamily="2" charset="-122"/>
                        </a:rPr>
                        <a:t>AND, OR</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bl>
          </a:graphicData>
        </a:graphic>
      </p:graphicFrame>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p:cNvSpPr>
          <p:nvPr>
            <p:ph type="title"/>
          </p:nvPr>
        </p:nvSpPr>
        <p:spPr>
          <a:xfrm>
            <a:off x="500063" y="152400"/>
            <a:ext cx="8001000" cy="685800"/>
          </a:xfrm>
          <a:noFill/>
          <a:ln w="9525">
            <a:noFill/>
          </a:ln>
        </p:spPr>
        <p:txBody>
          <a:bodyPr vert="horz" wrap="square" lIns="91440" tIns="45720" rIns="91440" bIns="45720" rtlCol="0" anchor="ctr" anchorCtr="0">
            <a:normAutofit fontScale="90000"/>
          </a:bodyPr>
          <a:lstStyle/>
          <a:p>
            <a:pPr lvl="0" algn="ctr" eaLnBrk="1" hangingPunct="1">
              <a:buClrTx/>
              <a:buSzTx/>
              <a:buFontTx/>
            </a:pPr>
            <a:r>
              <a:rPr lang="zh-CN" altLang="en-US" sz="4000" b="0" dirty="0">
                <a:latin typeface="黑体" panose="02010609060101010101" pitchFamily="2" charset="-122"/>
                <a:ea typeface="黑体" panose="02010609060101010101" pitchFamily="2" charset="-122"/>
                <a:sym typeface="+mn-ea"/>
              </a:rPr>
              <a:t>比较大小</a:t>
            </a:r>
          </a:p>
        </p:txBody>
      </p:sp>
      <p:sp>
        <p:nvSpPr>
          <p:cNvPr id="15363" name="Rectangle 3"/>
          <p:cNvSpPr>
            <a:spLocks noGrp="1"/>
          </p:cNvSpPr>
          <p:nvPr>
            <p:ph idx="1"/>
          </p:nvPr>
        </p:nvSpPr>
        <p:spPr>
          <a:xfrm>
            <a:off x="395536" y="1196752"/>
            <a:ext cx="8395970" cy="5039995"/>
          </a:xfrm>
        </p:spPr>
        <p:txBody>
          <a:bodyPr vert="horz" wrap="square" lIns="91440" tIns="45720" rIns="91440" bIns="45720" anchor="t" anchorCtr="0"/>
          <a:lstStyle/>
          <a:p>
            <a:pPr marL="0" indent="0" eaLnBrk="1" hangingPunct="1">
              <a:buNone/>
            </a:pPr>
            <a:r>
              <a:rPr lang="zh-CN" altLang="en-US" sz="2800" dirty="0" smtClean="0">
                <a:latin typeface="宋体" pitchFamily="2" charset="-122"/>
                <a:cs typeface="等线" panose="02010600030101010101" charset="-122"/>
              </a:rPr>
              <a:t>例</a:t>
            </a:r>
            <a:r>
              <a:rPr lang="en-US" altLang="zh-CN" sz="2800" dirty="0" smtClean="0"/>
              <a:t>4.7 </a:t>
            </a:r>
            <a:r>
              <a:rPr lang="zh-CN" altLang="en-US" sz="2800" dirty="0" smtClean="0">
                <a:latin typeface="宋体" pitchFamily="2" charset="-122"/>
                <a:cs typeface="等线" panose="02010600030101010101" charset="-122"/>
              </a:rPr>
              <a:t>查询</a:t>
            </a:r>
            <a:r>
              <a:rPr lang="zh-CN" altLang="en-US" sz="2800" dirty="0">
                <a:latin typeface="宋体" pitchFamily="2" charset="-122"/>
                <a:cs typeface="等线" panose="02010600030101010101" charset="-122"/>
              </a:rPr>
              <a:t>计算机系全体学生的姓名。</a:t>
            </a:r>
          </a:p>
          <a:p>
            <a:pPr eaLnBrk="1" hangingPunct="1">
              <a:buFont typeface="Wingdings" panose="05000000000000000000" pitchFamily="2" charset="2"/>
              <a:buNone/>
            </a:pPr>
            <a:r>
              <a:rPr lang="zh-CN" altLang="en-US" sz="2800" dirty="0">
                <a:latin typeface="宋体" pitchFamily="2" charset="-122"/>
                <a:cs typeface="等线" panose="02010600030101010101" charset="-122"/>
              </a:rPr>
              <a:t>	</a:t>
            </a:r>
            <a:r>
              <a:rPr lang="en-US" altLang="zh-CN" sz="2800" dirty="0">
                <a:solidFill>
                  <a:srgbClr val="0000FF"/>
                </a:solidFill>
                <a:latin typeface="宋体" pitchFamily="2" charset="-122"/>
                <a:cs typeface="等线" panose="02010600030101010101" charset="-122"/>
              </a:rPr>
              <a:t>SELECT Sname FROM Student </a:t>
            </a:r>
          </a:p>
          <a:p>
            <a:pPr eaLnBrk="1" hangingPunct="1">
              <a:buFont typeface="Wingdings" panose="05000000000000000000" pitchFamily="2" charset="2"/>
              <a:buNone/>
            </a:pPr>
            <a:r>
              <a:rPr lang="en-US" altLang="zh-CN" sz="2800" dirty="0">
                <a:solidFill>
                  <a:srgbClr val="0000FF"/>
                </a:solidFill>
                <a:latin typeface="宋体" pitchFamily="2" charset="-122"/>
                <a:cs typeface="等线" panose="02010600030101010101" charset="-122"/>
              </a:rPr>
              <a:t>    WHERE Sdept</a:t>
            </a:r>
            <a:r>
              <a:rPr lang="en-US" altLang="zh-CN" sz="2800" dirty="0">
                <a:solidFill>
                  <a:srgbClr val="009900"/>
                </a:solidFill>
                <a:latin typeface="宋体" pitchFamily="2" charset="-122"/>
                <a:cs typeface="等线" panose="02010600030101010101" charset="-122"/>
              </a:rPr>
              <a:t> </a:t>
            </a:r>
            <a:r>
              <a:rPr lang="en-US" altLang="zh-CN" sz="2800" dirty="0">
                <a:solidFill>
                  <a:srgbClr val="FF0000"/>
                </a:solidFill>
                <a:latin typeface="宋体" pitchFamily="2" charset="-122"/>
                <a:cs typeface="等线" panose="02010600030101010101" charset="-122"/>
              </a:rPr>
              <a:t>=</a:t>
            </a:r>
            <a:r>
              <a:rPr lang="en-US" altLang="zh-CN" sz="2800" dirty="0">
                <a:solidFill>
                  <a:srgbClr val="009900"/>
                </a:solidFill>
                <a:latin typeface="宋体" pitchFamily="2" charset="-122"/>
                <a:cs typeface="等线" panose="02010600030101010101" charset="-122"/>
              </a:rPr>
              <a:t> </a:t>
            </a:r>
            <a:r>
              <a:rPr lang="en-US" altLang="zh-CN" sz="2800" dirty="0">
                <a:solidFill>
                  <a:srgbClr val="0000FF"/>
                </a:solidFill>
                <a:latin typeface="宋体" pitchFamily="2" charset="-122"/>
                <a:cs typeface="等线" panose="02010600030101010101" charset="-122"/>
              </a:rPr>
              <a:t>'</a:t>
            </a:r>
            <a:r>
              <a:rPr lang="zh-CN" altLang="en-US" sz="2800" dirty="0">
                <a:solidFill>
                  <a:srgbClr val="0000FF"/>
                </a:solidFill>
                <a:latin typeface="宋体" pitchFamily="2" charset="-122"/>
                <a:cs typeface="等线" panose="02010600030101010101" charset="-122"/>
              </a:rPr>
              <a:t>计算机系</a:t>
            </a:r>
            <a:r>
              <a:rPr lang="en-US" altLang="zh-CN" sz="2800" dirty="0">
                <a:solidFill>
                  <a:srgbClr val="0000FF"/>
                </a:solidFill>
                <a:latin typeface="宋体" pitchFamily="2" charset="-122"/>
                <a:cs typeface="等线" panose="02010600030101010101" charset="-122"/>
              </a:rPr>
              <a:t>'</a:t>
            </a:r>
          </a:p>
          <a:p>
            <a:pPr marL="0" indent="0" eaLnBrk="1" hangingPunct="1">
              <a:spcBef>
                <a:spcPts val="1200"/>
              </a:spcBef>
              <a:buNone/>
            </a:pPr>
            <a:r>
              <a:rPr lang="zh-CN" altLang="en-US" sz="2800" dirty="0" smtClean="0">
                <a:latin typeface="宋体" pitchFamily="2" charset="-122"/>
                <a:cs typeface="等线" panose="02010600030101010101" charset="-122"/>
              </a:rPr>
              <a:t>例</a:t>
            </a:r>
            <a:r>
              <a:rPr lang="en-US" altLang="zh-CN" sz="2800" dirty="0" smtClean="0"/>
              <a:t>4.8</a:t>
            </a:r>
            <a:r>
              <a:rPr lang="en-US" altLang="zh-CN" sz="2800" dirty="0" smtClean="0">
                <a:latin typeface="宋体" pitchFamily="2" charset="-122"/>
                <a:cs typeface="等线" panose="02010600030101010101" charset="-122"/>
              </a:rPr>
              <a:t> </a:t>
            </a:r>
            <a:r>
              <a:rPr lang="zh-CN" altLang="en-US" sz="2800" dirty="0" smtClean="0">
                <a:latin typeface="宋体" pitchFamily="2" charset="-122"/>
                <a:cs typeface="等线" panose="02010600030101010101" charset="-122"/>
              </a:rPr>
              <a:t>查询</a:t>
            </a:r>
            <a:r>
              <a:rPr lang="zh-CN" altLang="en-US" sz="2800" dirty="0">
                <a:latin typeface="宋体" pitchFamily="2" charset="-122"/>
                <a:cs typeface="等线" panose="02010600030101010101" charset="-122"/>
              </a:rPr>
              <a:t>年龄在</a:t>
            </a:r>
            <a:r>
              <a:rPr lang="en-US" altLang="zh-CN" sz="2800" dirty="0">
                <a:latin typeface="宋体" pitchFamily="2" charset="-122"/>
                <a:cs typeface="等线" panose="02010600030101010101" charset="-122"/>
              </a:rPr>
              <a:t>20</a:t>
            </a:r>
            <a:r>
              <a:rPr lang="zh-CN" altLang="en-US" sz="2800" dirty="0">
                <a:latin typeface="宋体" pitchFamily="2" charset="-122"/>
                <a:cs typeface="等线" panose="02010600030101010101" charset="-122"/>
              </a:rPr>
              <a:t>岁以下的学生的姓名及年龄。</a:t>
            </a:r>
          </a:p>
          <a:p>
            <a:pPr eaLnBrk="1" hangingPunct="1">
              <a:buFont typeface="Wingdings" panose="05000000000000000000" pitchFamily="2" charset="2"/>
              <a:buNone/>
            </a:pPr>
            <a:r>
              <a:rPr lang="zh-CN" altLang="en-US" sz="2800" dirty="0">
                <a:latin typeface="宋体" pitchFamily="2" charset="-122"/>
                <a:cs typeface="等线" panose="02010600030101010101" charset="-122"/>
              </a:rPr>
              <a:t>	</a:t>
            </a:r>
            <a:r>
              <a:rPr lang="en-US" altLang="zh-CN" sz="2800" dirty="0">
                <a:solidFill>
                  <a:srgbClr val="0000FF"/>
                </a:solidFill>
                <a:latin typeface="宋体" pitchFamily="2" charset="-122"/>
                <a:cs typeface="等线" panose="02010600030101010101" charset="-122"/>
              </a:rPr>
              <a:t>SELECT Sname, </a:t>
            </a:r>
            <a:r>
              <a:rPr lang="en-US" altLang="zh-CN" sz="2800" dirty="0" smtClean="0">
                <a:solidFill>
                  <a:srgbClr val="0000FF"/>
                </a:solidFill>
                <a:latin typeface="宋体" pitchFamily="2" charset="-122"/>
                <a:cs typeface="等线" panose="02010600030101010101" charset="-122"/>
              </a:rPr>
              <a:t>Sage FROM </a:t>
            </a:r>
            <a:r>
              <a:rPr lang="en-US" altLang="zh-CN" sz="2800" dirty="0">
                <a:solidFill>
                  <a:srgbClr val="0000FF"/>
                </a:solidFill>
                <a:latin typeface="宋体" pitchFamily="2" charset="-122"/>
                <a:cs typeface="等线" panose="02010600030101010101" charset="-122"/>
              </a:rPr>
              <a:t>Student </a:t>
            </a:r>
          </a:p>
          <a:p>
            <a:pPr eaLnBrk="1" hangingPunct="1">
              <a:buFont typeface="Wingdings" panose="05000000000000000000" pitchFamily="2" charset="2"/>
              <a:buNone/>
            </a:pPr>
            <a:r>
              <a:rPr lang="en-US" altLang="zh-CN" sz="2800" dirty="0">
                <a:solidFill>
                  <a:srgbClr val="0000FF"/>
                </a:solidFill>
                <a:latin typeface="宋体" pitchFamily="2" charset="-122"/>
                <a:cs typeface="等线" panose="02010600030101010101" charset="-122"/>
              </a:rPr>
              <a:t>    WHERE Sage</a:t>
            </a:r>
            <a:r>
              <a:rPr lang="en-US" altLang="zh-CN" sz="2800" dirty="0">
                <a:solidFill>
                  <a:srgbClr val="009900"/>
                </a:solidFill>
                <a:latin typeface="宋体" pitchFamily="2" charset="-122"/>
                <a:cs typeface="等线" panose="02010600030101010101" charset="-122"/>
              </a:rPr>
              <a:t> </a:t>
            </a:r>
            <a:r>
              <a:rPr lang="en-US" altLang="zh-CN" sz="2800" dirty="0">
                <a:solidFill>
                  <a:srgbClr val="FF0000"/>
                </a:solidFill>
                <a:latin typeface="宋体" pitchFamily="2" charset="-122"/>
                <a:cs typeface="等线" panose="02010600030101010101" charset="-122"/>
              </a:rPr>
              <a:t>&lt;</a:t>
            </a:r>
            <a:r>
              <a:rPr lang="en-US" altLang="zh-CN" sz="2800" dirty="0">
                <a:solidFill>
                  <a:srgbClr val="009900"/>
                </a:solidFill>
                <a:latin typeface="宋体" pitchFamily="2" charset="-122"/>
                <a:cs typeface="等线" panose="02010600030101010101" charset="-122"/>
              </a:rPr>
              <a:t> </a:t>
            </a:r>
            <a:r>
              <a:rPr lang="en-US" altLang="zh-CN" sz="2800" dirty="0">
                <a:solidFill>
                  <a:srgbClr val="0000FF"/>
                </a:solidFill>
                <a:latin typeface="宋体" pitchFamily="2" charset="-122"/>
                <a:cs typeface="等线" panose="02010600030101010101" charset="-122"/>
              </a:rPr>
              <a:t>20</a:t>
            </a:r>
          </a:p>
          <a:p>
            <a:pPr marL="0" indent="0" eaLnBrk="1" hangingPunct="1">
              <a:spcBef>
                <a:spcPts val="1200"/>
              </a:spcBef>
              <a:buNone/>
            </a:pPr>
            <a:r>
              <a:rPr lang="zh-CN" altLang="en-US" sz="2800" dirty="0" smtClean="0">
                <a:latin typeface="宋体" pitchFamily="2" charset="-122"/>
                <a:cs typeface="等线" panose="02010600030101010101" charset="-122"/>
              </a:rPr>
              <a:t>例</a:t>
            </a:r>
            <a:r>
              <a:rPr lang="en-US" altLang="zh-CN" sz="2800" dirty="0" smtClean="0"/>
              <a:t>4.9</a:t>
            </a:r>
            <a:r>
              <a:rPr lang="zh-CN" altLang="en-US" sz="2800" dirty="0" smtClean="0">
                <a:latin typeface="宋体" pitchFamily="2" charset="-122"/>
                <a:cs typeface="等线" panose="02010600030101010101" charset="-122"/>
              </a:rPr>
              <a:t> 查询</a:t>
            </a:r>
            <a:r>
              <a:rPr lang="zh-CN" altLang="en-US" sz="2800" dirty="0">
                <a:latin typeface="宋体" pitchFamily="2" charset="-122"/>
                <a:cs typeface="等线" panose="02010600030101010101" charset="-122"/>
              </a:rPr>
              <a:t>考试成绩有不及格的学生的学号</a:t>
            </a:r>
          </a:p>
          <a:p>
            <a:pPr eaLnBrk="1" hangingPunct="1">
              <a:buFont typeface="Wingdings" panose="05000000000000000000" pitchFamily="2" charset="2"/>
              <a:buNone/>
            </a:pPr>
            <a:r>
              <a:rPr lang="en-US" altLang="zh-CN" sz="2800" dirty="0">
                <a:solidFill>
                  <a:srgbClr val="0000FF"/>
                </a:solidFill>
                <a:latin typeface="宋体" pitchFamily="2" charset="-122"/>
                <a:cs typeface="等线" panose="02010600030101010101" charset="-122"/>
              </a:rPr>
              <a:t>   SELECT DISTINCT </a:t>
            </a:r>
            <a:r>
              <a:rPr lang="en-US" altLang="zh-CN" sz="2800" dirty="0" err="1" smtClean="0">
                <a:solidFill>
                  <a:srgbClr val="0000FF"/>
                </a:solidFill>
                <a:latin typeface="宋体" pitchFamily="2" charset="-122"/>
                <a:cs typeface="等线" panose="02010600030101010101" charset="-122"/>
              </a:rPr>
              <a:t>Sno</a:t>
            </a:r>
            <a:r>
              <a:rPr lang="en-US" altLang="zh-CN" sz="2800" dirty="0" smtClean="0">
                <a:solidFill>
                  <a:srgbClr val="0000FF"/>
                </a:solidFill>
                <a:latin typeface="宋体" pitchFamily="2" charset="-122"/>
                <a:cs typeface="等线" panose="02010600030101010101" charset="-122"/>
              </a:rPr>
              <a:t> FROM </a:t>
            </a:r>
            <a:r>
              <a:rPr lang="en-US" altLang="zh-CN" sz="2800" dirty="0">
                <a:solidFill>
                  <a:srgbClr val="0000FF"/>
                </a:solidFill>
                <a:latin typeface="宋体" pitchFamily="2" charset="-122"/>
                <a:cs typeface="等线" panose="02010600030101010101" charset="-122"/>
              </a:rPr>
              <a:t>SC </a:t>
            </a:r>
          </a:p>
          <a:p>
            <a:pPr eaLnBrk="1" hangingPunct="1">
              <a:buFont typeface="Wingdings" panose="05000000000000000000" pitchFamily="2" charset="2"/>
              <a:buNone/>
            </a:pPr>
            <a:r>
              <a:rPr lang="en-US" altLang="zh-CN" sz="2800" dirty="0">
                <a:solidFill>
                  <a:srgbClr val="0000FF"/>
                </a:solidFill>
                <a:latin typeface="宋体" pitchFamily="2" charset="-122"/>
                <a:cs typeface="等线" panose="02010600030101010101" charset="-122"/>
              </a:rPr>
              <a:t>    WHERE Grade</a:t>
            </a:r>
            <a:r>
              <a:rPr lang="en-US" altLang="zh-CN" sz="2800" dirty="0">
                <a:solidFill>
                  <a:srgbClr val="009900"/>
                </a:solidFill>
                <a:latin typeface="宋体" pitchFamily="2" charset="-122"/>
                <a:cs typeface="等线" panose="02010600030101010101" charset="-122"/>
              </a:rPr>
              <a:t> </a:t>
            </a:r>
            <a:r>
              <a:rPr lang="en-US" altLang="zh-CN" sz="2800" dirty="0">
                <a:solidFill>
                  <a:srgbClr val="FF0000"/>
                </a:solidFill>
                <a:latin typeface="宋体" pitchFamily="2" charset="-122"/>
                <a:cs typeface="等线" panose="02010600030101010101" charset="-122"/>
              </a:rPr>
              <a:t>&lt;</a:t>
            </a:r>
            <a:r>
              <a:rPr lang="en-US" altLang="zh-CN" sz="2800" dirty="0">
                <a:solidFill>
                  <a:srgbClr val="009900"/>
                </a:solidFill>
                <a:latin typeface="宋体" pitchFamily="2" charset="-122"/>
                <a:cs typeface="等线" panose="02010600030101010101" charset="-122"/>
              </a:rPr>
              <a:t> </a:t>
            </a:r>
            <a:r>
              <a:rPr lang="en-US" altLang="zh-CN" sz="2800" dirty="0">
                <a:solidFill>
                  <a:srgbClr val="0000FF"/>
                </a:solidFill>
                <a:latin typeface="宋体" pitchFamily="2" charset="-122"/>
                <a:cs typeface="等线" panose="02010600030101010101" charset="-122"/>
              </a:rPr>
              <a:t>60</a:t>
            </a:r>
            <a:endParaRPr lang="zh-CN" altLang="en-US" sz="2800" dirty="0">
              <a:solidFill>
                <a:srgbClr val="0000FF"/>
              </a:solidFill>
              <a:latin typeface="宋体" pitchFamily="2" charset="-122"/>
              <a:cs typeface="等线" panose="02010600030101010101"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7" presetClass="emph" presetSubtype="0" fill="remove" nodeType="clickEffect">
                                  <p:stCondLst>
                                    <p:cond delay="0"/>
                                  </p:stCondLst>
                                  <p:childTnLst>
                                    <p:animClr clrSpc="rgb" dir="cw">
                                      <p:cBhvr override="childStyle">
                                        <p:cTn id="6" dur="250" autoRev="1" fill="remove"/>
                                        <p:tgtEl>
                                          <p:spTgt spid="15363">
                                            <p:txEl>
                                              <p:pRg st="2" end="2"/>
                                            </p:txEl>
                                          </p:spTgt>
                                        </p:tgtEl>
                                        <p:attrNameLst>
                                          <p:attrName>style.color</p:attrName>
                                        </p:attrNameLst>
                                      </p:cBhvr>
                                      <p:to>
                                        <a:schemeClr val="bg1"/>
                                      </p:to>
                                    </p:animClr>
                                    <p:animClr clrSpc="rgb" dir="cw">
                                      <p:cBhvr>
                                        <p:cTn id="7" dur="250" autoRev="1" fill="remove"/>
                                        <p:tgtEl>
                                          <p:spTgt spid="15363">
                                            <p:txEl>
                                              <p:pRg st="2" end="2"/>
                                            </p:txEl>
                                          </p:spTgt>
                                        </p:tgtEl>
                                        <p:attrNameLst>
                                          <p:attrName>fillcolor</p:attrName>
                                        </p:attrNameLst>
                                      </p:cBhvr>
                                      <p:to>
                                        <a:schemeClr val="bg1"/>
                                      </p:to>
                                    </p:animClr>
                                    <p:set>
                                      <p:cBhvr>
                                        <p:cTn id="8" dur="250" autoRev="1" fill="remove"/>
                                        <p:tgtEl>
                                          <p:spTgt spid="15363">
                                            <p:txEl>
                                              <p:pRg st="2" end="2"/>
                                            </p:txEl>
                                          </p:spTgt>
                                        </p:tgtEl>
                                        <p:attrNameLst>
                                          <p:attrName>fill.type</p:attrName>
                                        </p:attrNameLst>
                                      </p:cBhvr>
                                      <p:to>
                                        <p:strVal val="solid"/>
                                      </p:to>
                                    </p:set>
                                    <p:set>
                                      <p:cBhvr>
                                        <p:cTn id="9" dur="250" autoRev="1" fill="remove"/>
                                        <p:tgtEl>
                                          <p:spTgt spid="15363">
                                            <p:txEl>
                                              <p:pRg st="2" end="2"/>
                                            </p:txEl>
                                          </p:spTgt>
                                        </p:tgtEl>
                                        <p:attrNameLst>
                                          <p:attrName>fill.on</p:attrName>
                                        </p:attrNameLst>
                                      </p:cBhvr>
                                      <p:to>
                                        <p:strVal val="true"/>
                                      </p:to>
                                    </p:set>
                                  </p:childTnLst>
                                </p:cTn>
                              </p:par>
                            </p:childTnLst>
                          </p:cTn>
                        </p:par>
                      </p:childTnLst>
                    </p:cTn>
                  </p:par>
                  <p:par>
                    <p:cTn id="10" fill="hold">
                      <p:stCondLst>
                        <p:cond delay="indefinite"/>
                      </p:stCondLst>
                      <p:childTnLst>
                        <p:par>
                          <p:cTn id="11" fill="hold">
                            <p:stCondLst>
                              <p:cond delay="0"/>
                            </p:stCondLst>
                            <p:childTnLst>
                              <p:par>
                                <p:cTn id="12" presetID="27" presetClass="emph" presetSubtype="0" fill="remove" nodeType="clickEffect">
                                  <p:stCondLst>
                                    <p:cond delay="0"/>
                                  </p:stCondLst>
                                  <p:childTnLst>
                                    <p:animClr clrSpc="rgb" dir="cw">
                                      <p:cBhvr override="childStyle">
                                        <p:cTn id="13" dur="250" autoRev="1" fill="remove"/>
                                        <p:tgtEl>
                                          <p:spTgt spid="15363">
                                            <p:txEl>
                                              <p:pRg st="5" end="5"/>
                                            </p:txEl>
                                          </p:spTgt>
                                        </p:tgtEl>
                                        <p:attrNameLst>
                                          <p:attrName>style.color</p:attrName>
                                        </p:attrNameLst>
                                      </p:cBhvr>
                                      <p:to>
                                        <a:schemeClr val="bg1"/>
                                      </p:to>
                                    </p:animClr>
                                    <p:animClr clrSpc="rgb" dir="cw">
                                      <p:cBhvr>
                                        <p:cTn id="14" dur="250" autoRev="1" fill="remove"/>
                                        <p:tgtEl>
                                          <p:spTgt spid="15363">
                                            <p:txEl>
                                              <p:pRg st="5" end="5"/>
                                            </p:txEl>
                                          </p:spTgt>
                                        </p:tgtEl>
                                        <p:attrNameLst>
                                          <p:attrName>fillcolor</p:attrName>
                                        </p:attrNameLst>
                                      </p:cBhvr>
                                      <p:to>
                                        <a:schemeClr val="bg1"/>
                                      </p:to>
                                    </p:animClr>
                                    <p:set>
                                      <p:cBhvr>
                                        <p:cTn id="15" dur="250" autoRev="1" fill="remove"/>
                                        <p:tgtEl>
                                          <p:spTgt spid="15363">
                                            <p:txEl>
                                              <p:pRg st="5" end="5"/>
                                            </p:txEl>
                                          </p:spTgt>
                                        </p:tgtEl>
                                        <p:attrNameLst>
                                          <p:attrName>fill.type</p:attrName>
                                        </p:attrNameLst>
                                      </p:cBhvr>
                                      <p:to>
                                        <p:strVal val="solid"/>
                                      </p:to>
                                    </p:set>
                                    <p:set>
                                      <p:cBhvr>
                                        <p:cTn id="16" dur="250" autoRev="1" fill="remove"/>
                                        <p:tgtEl>
                                          <p:spTgt spid="15363">
                                            <p:txEl>
                                              <p:pRg st="5" end="5"/>
                                            </p:txEl>
                                          </p:spTgt>
                                        </p:tgtEl>
                                        <p:attrNameLst>
                                          <p:attrName>fill.on</p:attrName>
                                        </p:attrNameLst>
                                      </p:cBhvr>
                                      <p:to>
                                        <p:strVal val="true"/>
                                      </p:to>
                                    </p:set>
                                  </p:childTnLst>
                                </p:cTn>
                              </p:par>
                            </p:childTnLst>
                          </p:cTn>
                        </p:par>
                      </p:childTnLst>
                    </p:cTn>
                  </p:par>
                  <p:par>
                    <p:cTn id="17" fill="hold">
                      <p:stCondLst>
                        <p:cond delay="indefinite"/>
                      </p:stCondLst>
                      <p:childTnLst>
                        <p:par>
                          <p:cTn id="18" fill="hold">
                            <p:stCondLst>
                              <p:cond delay="0"/>
                            </p:stCondLst>
                            <p:childTnLst>
                              <p:par>
                                <p:cTn id="19" presetID="27" presetClass="emph" presetSubtype="0" fill="remove" nodeType="clickEffect">
                                  <p:stCondLst>
                                    <p:cond delay="0"/>
                                  </p:stCondLst>
                                  <p:childTnLst>
                                    <p:animClr clrSpc="rgb" dir="cw">
                                      <p:cBhvr override="childStyle">
                                        <p:cTn id="20" dur="250" autoRev="1" fill="remove"/>
                                        <p:tgtEl>
                                          <p:spTgt spid="15363">
                                            <p:txEl>
                                              <p:pRg st="8" end="8"/>
                                            </p:txEl>
                                          </p:spTgt>
                                        </p:tgtEl>
                                        <p:attrNameLst>
                                          <p:attrName>style.color</p:attrName>
                                        </p:attrNameLst>
                                      </p:cBhvr>
                                      <p:to>
                                        <a:schemeClr val="bg1"/>
                                      </p:to>
                                    </p:animClr>
                                    <p:animClr clrSpc="rgb" dir="cw">
                                      <p:cBhvr>
                                        <p:cTn id="21" dur="250" autoRev="1" fill="remove"/>
                                        <p:tgtEl>
                                          <p:spTgt spid="15363">
                                            <p:txEl>
                                              <p:pRg st="8" end="8"/>
                                            </p:txEl>
                                          </p:spTgt>
                                        </p:tgtEl>
                                        <p:attrNameLst>
                                          <p:attrName>fillcolor</p:attrName>
                                        </p:attrNameLst>
                                      </p:cBhvr>
                                      <p:to>
                                        <a:schemeClr val="bg1"/>
                                      </p:to>
                                    </p:animClr>
                                    <p:set>
                                      <p:cBhvr>
                                        <p:cTn id="22" dur="250" autoRev="1" fill="remove"/>
                                        <p:tgtEl>
                                          <p:spTgt spid="15363">
                                            <p:txEl>
                                              <p:pRg st="8" end="8"/>
                                            </p:txEl>
                                          </p:spTgt>
                                        </p:tgtEl>
                                        <p:attrNameLst>
                                          <p:attrName>fill.type</p:attrName>
                                        </p:attrNameLst>
                                      </p:cBhvr>
                                      <p:to>
                                        <p:strVal val="solid"/>
                                      </p:to>
                                    </p:set>
                                    <p:set>
                                      <p:cBhvr>
                                        <p:cTn id="23" dur="250" autoRev="1" fill="remove"/>
                                        <p:tgtEl>
                                          <p:spTgt spid="15363">
                                            <p:txEl>
                                              <p:pRg st="8" end="8"/>
                                            </p:txEl>
                                          </p:spTgt>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p:cNvSpPr>
          <p:nvPr>
            <p:ph type="title"/>
          </p:nvPr>
        </p:nvSpPr>
        <p:spPr>
          <a:xfrm>
            <a:off x="500063" y="152400"/>
            <a:ext cx="8001000" cy="685800"/>
          </a:xfrm>
          <a:noFill/>
          <a:ln w="9525">
            <a:noFill/>
          </a:ln>
        </p:spPr>
        <p:txBody>
          <a:bodyPr vert="horz" wrap="square" lIns="91440" tIns="45720" rIns="91440" bIns="45720" rtlCol="0" anchor="ctr" anchorCtr="0">
            <a:normAutofit fontScale="90000"/>
          </a:bodyPr>
          <a:lstStyle/>
          <a:p>
            <a:pPr lvl="0" algn="ctr" eaLnBrk="1" hangingPunct="1">
              <a:buClrTx/>
              <a:buSzTx/>
              <a:buFontTx/>
            </a:pPr>
            <a:r>
              <a:rPr lang="zh-CN" altLang="en-US" sz="4000" b="0" dirty="0">
                <a:latin typeface="黑体" panose="02010609060101010101" pitchFamily="2" charset="-122"/>
                <a:ea typeface="黑体" panose="02010609060101010101" pitchFamily="2" charset="-122"/>
                <a:sym typeface="+mn-ea"/>
              </a:rPr>
              <a:t>确定范围</a:t>
            </a:r>
          </a:p>
        </p:txBody>
      </p:sp>
      <p:sp>
        <p:nvSpPr>
          <p:cNvPr id="16387" name="Rectangle 3"/>
          <p:cNvSpPr>
            <a:spLocks noGrp="1"/>
          </p:cNvSpPr>
          <p:nvPr>
            <p:ph idx="1"/>
          </p:nvPr>
        </p:nvSpPr>
        <p:spPr>
          <a:xfrm>
            <a:off x="251520" y="1196752"/>
            <a:ext cx="8736013" cy="4983162"/>
          </a:xfrm>
        </p:spPr>
        <p:txBody>
          <a:bodyPr vert="horz" wrap="square" lIns="91440" tIns="45720" rIns="91440" bIns="45720" anchor="t" anchorCtr="0"/>
          <a:lstStyle/>
          <a:p>
            <a:pPr eaLnBrk="1" hangingPunct="1">
              <a:lnSpc>
                <a:spcPct val="110000"/>
              </a:lnSpc>
              <a:spcBef>
                <a:spcPts val="1200"/>
              </a:spcBef>
            </a:pPr>
            <a:r>
              <a:rPr lang="en-US" altLang="zh-CN" sz="2600" dirty="0" smtClean="0">
                <a:latin typeface="宋体" pitchFamily="2" charset="-122"/>
                <a:cs typeface="等线" panose="02010600030101010101" charset="-122"/>
              </a:rPr>
              <a:t>BETWEEN…AND</a:t>
            </a:r>
            <a:r>
              <a:rPr lang="zh-CN" altLang="en-US" sz="2600" dirty="0" smtClean="0">
                <a:latin typeface="宋体" pitchFamily="2" charset="-122"/>
                <a:cs typeface="等线" panose="02010600030101010101" charset="-122"/>
              </a:rPr>
              <a:t>、 </a:t>
            </a:r>
            <a:r>
              <a:rPr lang="en-US" altLang="zh-CN" sz="2600" dirty="0" smtClean="0">
                <a:latin typeface="宋体" pitchFamily="2" charset="-122"/>
                <a:cs typeface="等线" panose="02010600030101010101" charset="-122"/>
              </a:rPr>
              <a:t>NOT </a:t>
            </a:r>
            <a:r>
              <a:rPr lang="en-US" altLang="zh-CN" sz="2600" dirty="0">
                <a:latin typeface="宋体" pitchFamily="2" charset="-122"/>
                <a:cs typeface="等线" panose="02010600030101010101" charset="-122"/>
              </a:rPr>
              <a:t>BETWEEN…AND</a:t>
            </a:r>
            <a:endParaRPr lang="zh-CN" altLang="en-US" sz="2600" dirty="0">
              <a:latin typeface="宋体" pitchFamily="2" charset="-122"/>
              <a:cs typeface="等线" panose="02010600030101010101" charset="-122"/>
            </a:endParaRPr>
          </a:p>
          <a:p>
            <a:pPr eaLnBrk="1" hangingPunct="1">
              <a:lnSpc>
                <a:spcPct val="110000"/>
              </a:lnSpc>
              <a:spcBef>
                <a:spcPts val="1200"/>
              </a:spcBef>
            </a:pPr>
            <a:r>
              <a:rPr lang="zh-CN" altLang="en-US" sz="2600" dirty="0" smtClean="0">
                <a:latin typeface="宋体" pitchFamily="2" charset="-122"/>
                <a:cs typeface="等线" panose="02010600030101010101" charset="-122"/>
              </a:rPr>
              <a:t>逻辑运算</a:t>
            </a:r>
            <a:r>
              <a:rPr lang="zh-CN" altLang="en-US" sz="2600" dirty="0">
                <a:latin typeface="宋体" pitchFamily="2" charset="-122"/>
                <a:cs typeface="等线" panose="02010600030101010101" charset="-122"/>
              </a:rPr>
              <a:t>符，可以用来查找属性值在或不在指定范围内的元组，其中</a:t>
            </a:r>
            <a:r>
              <a:rPr lang="en-US" altLang="zh-CN" sz="2600" dirty="0">
                <a:latin typeface="宋体" pitchFamily="2" charset="-122"/>
                <a:cs typeface="等线" panose="02010600030101010101" charset="-122"/>
              </a:rPr>
              <a:t>BETWEEN</a:t>
            </a:r>
            <a:r>
              <a:rPr lang="zh-CN" altLang="en-US" sz="2600" dirty="0">
                <a:latin typeface="宋体" pitchFamily="2" charset="-122"/>
                <a:cs typeface="等线" panose="02010600030101010101" charset="-122"/>
              </a:rPr>
              <a:t>后边指定范围的下限，</a:t>
            </a:r>
            <a:r>
              <a:rPr lang="en-US" altLang="zh-CN" sz="2600" dirty="0">
                <a:latin typeface="宋体" pitchFamily="2" charset="-122"/>
                <a:cs typeface="等线" panose="02010600030101010101" charset="-122"/>
              </a:rPr>
              <a:t>AND</a:t>
            </a:r>
            <a:r>
              <a:rPr lang="zh-CN" altLang="en-US" sz="2600" dirty="0">
                <a:latin typeface="宋体" pitchFamily="2" charset="-122"/>
                <a:cs typeface="等线" panose="02010600030101010101" charset="-122"/>
              </a:rPr>
              <a:t>后边指定范围的上限。</a:t>
            </a:r>
          </a:p>
          <a:p>
            <a:pPr eaLnBrk="1" hangingPunct="1">
              <a:lnSpc>
                <a:spcPct val="110000"/>
              </a:lnSpc>
              <a:spcBef>
                <a:spcPts val="1200"/>
              </a:spcBef>
            </a:pPr>
            <a:r>
              <a:rPr lang="en-US" altLang="zh-CN" sz="2600" dirty="0">
                <a:latin typeface="宋体" pitchFamily="2" charset="-122"/>
                <a:cs typeface="等线" panose="02010600030101010101" charset="-122"/>
              </a:rPr>
              <a:t>BETWEEN…AND…</a:t>
            </a:r>
            <a:r>
              <a:rPr lang="zh-CN" altLang="en-US" sz="2600" dirty="0">
                <a:latin typeface="宋体" pitchFamily="2" charset="-122"/>
                <a:cs typeface="等线" panose="02010600030101010101" charset="-122"/>
              </a:rPr>
              <a:t>的格式为：</a:t>
            </a:r>
          </a:p>
          <a:p>
            <a:pPr eaLnBrk="1" hangingPunct="1">
              <a:lnSpc>
                <a:spcPct val="110000"/>
              </a:lnSpc>
              <a:spcBef>
                <a:spcPts val="1200"/>
              </a:spcBef>
              <a:buFont typeface="Wingdings" panose="05000000000000000000" pitchFamily="2" charset="2"/>
              <a:buNone/>
            </a:pPr>
            <a:r>
              <a:rPr lang="zh-CN" altLang="en-US" sz="2600" dirty="0">
                <a:latin typeface="宋体" pitchFamily="2" charset="-122"/>
                <a:cs typeface="等线" panose="02010600030101010101" charset="-122"/>
              </a:rPr>
              <a:t>   </a:t>
            </a:r>
            <a:r>
              <a:rPr lang="zh-CN" altLang="en-US" sz="2600" dirty="0">
                <a:solidFill>
                  <a:srgbClr val="FF0000"/>
                </a:solidFill>
                <a:latin typeface="宋体" pitchFamily="2" charset="-122"/>
                <a:cs typeface="等线" panose="02010600030101010101" charset="-122"/>
              </a:rPr>
              <a:t>列</a:t>
            </a:r>
            <a:r>
              <a:rPr lang="zh-CN" altLang="en-US" sz="2600" dirty="0" smtClean="0">
                <a:solidFill>
                  <a:srgbClr val="FF0000"/>
                </a:solidFill>
                <a:latin typeface="宋体" pitchFamily="2" charset="-122"/>
                <a:cs typeface="等线" panose="02010600030101010101" charset="-122"/>
              </a:rPr>
              <a:t>名</a:t>
            </a:r>
            <a:r>
              <a:rPr lang="en-US" altLang="zh-CN" sz="2600" dirty="0" smtClean="0">
                <a:solidFill>
                  <a:srgbClr val="FF0000"/>
                </a:solidFill>
                <a:latin typeface="宋体" pitchFamily="2" charset="-122"/>
                <a:cs typeface="等线" panose="02010600030101010101" charset="-122"/>
              </a:rPr>
              <a:t>|</a:t>
            </a:r>
            <a:r>
              <a:rPr lang="zh-CN" altLang="en-US" sz="2600" dirty="0" smtClean="0">
                <a:solidFill>
                  <a:srgbClr val="FF0000"/>
                </a:solidFill>
                <a:latin typeface="宋体" pitchFamily="2" charset="-122"/>
                <a:cs typeface="等线" panose="02010600030101010101" charset="-122"/>
              </a:rPr>
              <a:t>表达式 </a:t>
            </a:r>
            <a:r>
              <a:rPr lang="en-US" altLang="zh-CN" sz="2600" dirty="0" smtClean="0">
                <a:solidFill>
                  <a:srgbClr val="FF0000"/>
                </a:solidFill>
                <a:latin typeface="宋体" pitchFamily="2" charset="-122"/>
                <a:cs typeface="等线" panose="02010600030101010101" charset="-122"/>
              </a:rPr>
              <a:t>[NOT] </a:t>
            </a:r>
            <a:r>
              <a:rPr lang="en-US" altLang="zh-CN" sz="2600" dirty="0">
                <a:solidFill>
                  <a:srgbClr val="FF0000"/>
                </a:solidFill>
                <a:latin typeface="宋体" pitchFamily="2" charset="-122"/>
                <a:cs typeface="等线" panose="02010600030101010101" charset="-122"/>
              </a:rPr>
              <a:t>BETWEEN </a:t>
            </a:r>
            <a:r>
              <a:rPr lang="zh-CN" altLang="en-US" sz="2600" dirty="0">
                <a:solidFill>
                  <a:srgbClr val="FF0000"/>
                </a:solidFill>
                <a:latin typeface="宋体" pitchFamily="2" charset="-122"/>
                <a:cs typeface="等线" panose="02010600030101010101" charset="-122"/>
              </a:rPr>
              <a:t>下限值 </a:t>
            </a:r>
            <a:r>
              <a:rPr lang="en-US" altLang="zh-CN" sz="2600" dirty="0">
                <a:solidFill>
                  <a:srgbClr val="FF0000"/>
                </a:solidFill>
                <a:latin typeface="宋体" pitchFamily="2" charset="-122"/>
                <a:cs typeface="等线" panose="02010600030101010101" charset="-122"/>
              </a:rPr>
              <a:t>AND </a:t>
            </a:r>
            <a:r>
              <a:rPr lang="zh-CN" altLang="en-US" sz="2600" dirty="0">
                <a:solidFill>
                  <a:srgbClr val="FF0000"/>
                </a:solidFill>
                <a:latin typeface="宋体" pitchFamily="2" charset="-122"/>
                <a:cs typeface="等线" panose="02010600030101010101" charset="-122"/>
              </a:rPr>
              <a:t>上限值</a:t>
            </a:r>
          </a:p>
          <a:p>
            <a:pPr eaLnBrk="1" hangingPunct="1">
              <a:lnSpc>
                <a:spcPct val="110000"/>
              </a:lnSpc>
              <a:spcBef>
                <a:spcPts val="1200"/>
              </a:spcBef>
            </a:pPr>
            <a:r>
              <a:rPr lang="zh-CN" altLang="en-US" sz="2600" dirty="0">
                <a:latin typeface="宋体" pitchFamily="2" charset="-122"/>
                <a:cs typeface="等线" panose="02010600030101010101" charset="-122"/>
              </a:rPr>
              <a:t>如果列或表达式的值在（或不在）下限值和上限值范围内，则结果为</a:t>
            </a:r>
            <a:r>
              <a:rPr lang="en-US" altLang="zh-CN" sz="2600" dirty="0">
                <a:latin typeface="宋体" pitchFamily="2" charset="-122"/>
                <a:cs typeface="等线" panose="02010600030101010101" charset="-122"/>
              </a:rPr>
              <a:t>True</a:t>
            </a:r>
            <a:r>
              <a:rPr lang="zh-CN" altLang="en-US" sz="2600" dirty="0">
                <a:latin typeface="宋体" pitchFamily="2" charset="-122"/>
                <a:cs typeface="等线" panose="02010600030101010101" charset="-122"/>
              </a:rPr>
              <a:t>，表明此记录符合查询条件。  </a:t>
            </a:r>
          </a:p>
          <a:p>
            <a:pPr eaLnBrk="1" hangingPunct="1">
              <a:lnSpc>
                <a:spcPct val="110000"/>
              </a:lnSpc>
              <a:spcBef>
                <a:spcPts val="1200"/>
              </a:spcBef>
            </a:pPr>
            <a:r>
              <a:rPr lang="en-US" altLang="zh-CN" sz="2600" dirty="0">
                <a:latin typeface="宋体" pitchFamily="2" charset="-122"/>
                <a:cs typeface="等线" panose="02010600030101010101" charset="-122"/>
              </a:rPr>
              <a:t>BETWEEN…AND…</a:t>
            </a:r>
            <a:r>
              <a:rPr lang="zh-CN" altLang="en-US" sz="2600" dirty="0">
                <a:latin typeface="宋体" pitchFamily="2" charset="-122"/>
                <a:cs typeface="等线" panose="02010600030101010101" charset="-122"/>
              </a:rPr>
              <a:t>包括</a:t>
            </a:r>
            <a:r>
              <a:rPr lang="zh-CN" altLang="en-US" sz="2600" dirty="0">
                <a:solidFill>
                  <a:srgbClr val="0000FF"/>
                </a:solidFill>
                <a:latin typeface="宋体" pitchFamily="2" charset="-122"/>
                <a:cs typeface="等线" panose="02010600030101010101" charset="-122"/>
              </a:rPr>
              <a:t>边界值</a:t>
            </a:r>
            <a:r>
              <a:rPr lang="zh-CN" altLang="en-US" sz="2600" dirty="0">
                <a:latin typeface="宋体" pitchFamily="2" charset="-122"/>
                <a:cs typeface="等线" panose="02010600030101010101" charset="-122"/>
              </a:rPr>
              <a:t>。</a:t>
            </a: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p:cNvSpPr>
          <p:nvPr>
            <p:ph type="title"/>
          </p:nvPr>
        </p:nvSpPr>
        <p:spPr>
          <a:xfrm>
            <a:off x="500063" y="152400"/>
            <a:ext cx="8001000" cy="685800"/>
          </a:xfrm>
          <a:noFill/>
          <a:ln w="9525">
            <a:noFill/>
          </a:ln>
        </p:spPr>
        <p:txBody>
          <a:bodyPr vert="horz" wrap="square" lIns="91440" tIns="45720" rIns="91440" bIns="45720" rtlCol="0" anchor="ctr" anchorCtr="0">
            <a:normAutofit fontScale="90000"/>
          </a:bodyPr>
          <a:lstStyle/>
          <a:p>
            <a:pPr lvl="0" algn="ctr" eaLnBrk="1" hangingPunct="1">
              <a:buClrTx/>
              <a:buSzTx/>
              <a:buFontTx/>
            </a:pPr>
            <a:r>
              <a:rPr lang="zh-CN" altLang="en-US" sz="4000" b="0" dirty="0">
                <a:latin typeface="黑体" panose="02010609060101010101" pitchFamily="2" charset="-122"/>
                <a:ea typeface="黑体" panose="02010609060101010101" pitchFamily="2" charset="-122"/>
                <a:sym typeface="+mn-ea"/>
              </a:rPr>
              <a:t>示例</a:t>
            </a:r>
          </a:p>
        </p:txBody>
      </p:sp>
      <p:sp>
        <p:nvSpPr>
          <p:cNvPr id="17411" name="Rectangle 3"/>
          <p:cNvSpPr>
            <a:spLocks noGrp="1"/>
          </p:cNvSpPr>
          <p:nvPr>
            <p:ph idx="1"/>
          </p:nvPr>
        </p:nvSpPr>
        <p:spPr>
          <a:xfrm>
            <a:off x="467544" y="1196752"/>
            <a:ext cx="8291513" cy="4929187"/>
          </a:xfrm>
        </p:spPr>
        <p:txBody>
          <a:bodyPr vert="horz" wrap="square" lIns="91440" tIns="45720" rIns="91440" bIns="45720" anchor="t" anchorCtr="0"/>
          <a:lstStyle/>
          <a:p>
            <a:pPr marL="0" indent="0" eaLnBrk="1" hangingPunct="1">
              <a:buNone/>
            </a:pPr>
            <a:r>
              <a:rPr lang="zh-CN" altLang="en-US" sz="3100" dirty="0" smtClean="0">
                <a:latin typeface="宋体" pitchFamily="2" charset="-122"/>
                <a:cs typeface="等线" panose="02010600030101010101" charset="-122"/>
              </a:rPr>
              <a:t>例</a:t>
            </a:r>
            <a:r>
              <a:rPr lang="en-US" altLang="zh-CN" sz="3200" dirty="0" smtClean="0"/>
              <a:t>4.10 </a:t>
            </a:r>
            <a:r>
              <a:rPr lang="zh-CN" altLang="en-US" sz="3100" dirty="0" smtClean="0">
                <a:latin typeface="宋体" pitchFamily="2" charset="-122"/>
                <a:cs typeface="等线" panose="02010600030101010101" charset="-122"/>
              </a:rPr>
              <a:t>查询</a:t>
            </a:r>
            <a:r>
              <a:rPr lang="zh-CN" altLang="en-US" sz="3100" dirty="0">
                <a:latin typeface="宋体" pitchFamily="2" charset="-122"/>
                <a:cs typeface="等线" panose="02010600030101010101" charset="-122"/>
              </a:rPr>
              <a:t>年龄在</a:t>
            </a:r>
            <a:r>
              <a:rPr lang="en-US" altLang="zh-CN" sz="3100" dirty="0">
                <a:latin typeface="宋体" pitchFamily="2" charset="-122"/>
                <a:cs typeface="等线" panose="02010600030101010101" charset="-122"/>
              </a:rPr>
              <a:t>20</a:t>
            </a:r>
            <a:r>
              <a:rPr lang="zh-CN" altLang="en-US" sz="3100" dirty="0">
                <a:latin typeface="宋体" pitchFamily="2" charset="-122"/>
                <a:cs typeface="等线" panose="02010600030101010101" charset="-122"/>
              </a:rPr>
              <a:t>～</a:t>
            </a:r>
            <a:r>
              <a:rPr lang="en-US" altLang="zh-CN" sz="3100" dirty="0">
                <a:latin typeface="宋体" pitchFamily="2" charset="-122"/>
                <a:cs typeface="等线" panose="02010600030101010101" charset="-122"/>
              </a:rPr>
              <a:t>23</a:t>
            </a:r>
            <a:r>
              <a:rPr lang="zh-CN" altLang="en-US" sz="3100" dirty="0">
                <a:latin typeface="宋体" pitchFamily="2" charset="-122"/>
                <a:cs typeface="等线" panose="02010600030101010101" charset="-122"/>
              </a:rPr>
              <a:t>岁之间的学生的姓名、所在系和年龄。</a:t>
            </a:r>
          </a:p>
          <a:p>
            <a:pPr lvl="1" eaLnBrk="1" hangingPunct="1">
              <a:buFont typeface="Wingdings" panose="05000000000000000000" pitchFamily="2" charset="2"/>
              <a:buNone/>
            </a:pPr>
            <a:r>
              <a:rPr lang="en-US" altLang="zh-CN" sz="2900" dirty="0">
                <a:solidFill>
                  <a:srgbClr val="0000FF"/>
                </a:solidFill>
                <a:latin typeface="宋体" pitchFamily="2" charset="-122"/>
                <a:cs typeface="等线" panose="02010600030101010101" charset="-122"/>
              </a:rPr>
              <a:t>SELECT Sname, Sdept, Sage  </a:t>
            </a:r>
          </a:p>
          <a:p>
            <a:pPr lvl="1" eaLnBrk="1" hangingPunct="1">
              <a:buFont typeface="Wingdings" panose="05000000000000000000" pitchFamily="2" charset="2"/>
              <a:buNone/>
            </a:pPr>
            <a:r>
              <a:rPr lang="en-US" altLang="zh-CN" sz="2900" dirty="0">
                <a:solidFill>
                  <a:srgbClr val="0000FF"/>
                </a:solidFill>
                <a:latin typeface="宋体" pitchFamily="2" charset="-122"/>
                <a:cs typeface="等线" panose="02010600030101010101" charset="-122"/>
              </a:rPr>
              <a:t>  FROM Student </a:t>
            </a:r>
          </a:p>
          <a:p>
            <a:pPr lvl="1" eaLnBrk="1" hangingPunct="1">
              <a:buFont typeface="Wingdings" panose="05000000000000000000" pitchFamily="2" charset="2"/>
              <a:buNone/>
            </a:pPr>
            <a:r>
              <a:rPr lang="en-US" altLang="zh-CN" sz="2900" dirty="0">
                <a:solidFill>
                  <a:srgbClr val="0000FF"/>
                </a:solidFill>
                <a:latin typeface="宋体" pitchFamily="2" charset="-122"/>
                <a:cs typeface="等线" panose="02010600030101010101" charset="-122"/>
              </a:rPr>
              <a:t>	WHERE Sage</a:t>
            </a:r>
            <a:r>
              <a:rPr lang="en-US" altLang="zh-CN" sz="2900" dirty="0">
                <a:solidFill>
                  <a:srgbClr val="009900"/>
                </a:solidFill>
                <a:latin typeface="宋体" pitchFamily="2" charset="-122"/>
                <a:cs typeface="等线" panose="02010600030101010101" charset="-122"/>
              </a:rPr>
              <a:t> </a:t>
            </a:r>
            <a:r>
              <a:rPr lang="en-US" altLang="zh-CN" sz="2900" dirty="0">
                <a:solidFill>
                  <a:srgbClr val="FF0000"/>
                </a:solidFill>
                <a:latin typeface="宋体" pitchFamily="2" charset="-122"/>
                <a:cs typeface="等线" panose="02010600030101010101" charset="-122"/>
              </a:rPr>
              <a:t>BETWEEN</a:t>
            </a:r>
            <a:r>
              <a:rPr lang="en-US" altLang="zh-CN" sz="2900" dirty="0">
                <a:solidFill>
                  <a:srgbClr val="009900"/>
                </a:solidFill>
                <a:latin typeface="宋体" pitchFamily="2" charset="-122"/>
                <a:cs typeface="等线" panose="02010600030101010101" charset="-122"/>
              </a:rPr>
              <a:t> </a:t>
            </a:r>
            <a:r>
              <a:rPr lang="en-US" altLang="zh-CN" sz="2900" dirty="0">
                <a:solidFill>
                  <a:srgbClr val="0000FF"/>
                </a:solidFill>
                <a:latin typeface="宋体" pitchFamily="2" charset="-122"/>
                <a:cs typeface="等线" panose="02010600030101010101" charset="-122"/>
              </a:rPr>
              <a:t>20</a:t>
            </a:r>
            <a:r>
              <a:rPr lang="en-US" altLang="zh-CN" sz="2900" dirty="0">
                <a:solidFill>
                  <a:srgbClr val="009900"/>
                </a:solidFill>
                <a:latin typeface="宋体" pitchFamily="2" charset="-122"/>
                <a:cs typeface="等线" panose="02010600030101010101" charset="-122"/>
              </a:rPr>
              <a:t> </a:t>
            </a:r>
            <a:r>
              <a:rPr lang="en-US" altLang="zh-CN" sz="2900" dirty="0">
                <a:solidFill>
                  <a:srgbClr val="FF0000"/>
                </a:solidFill>
                <a:latin typeface="宋体" pitchFamily="2" charset="-122"/>
                <a:cs typeface="等线" panose="02010600030101010101" charset="-122"/>
              </a:rPr>
              <a:t>AND</a:t>
            </a:r>
            <a:r>
              <a:rPr lang="en-US" altLang="zh-CN" sz="2900" dirty="0">
                <a:solidFill>
                  <a:srgbClr val="009900"/>
                </a:solidFill>
                <a:latin typeface="宋体" pitchFamily="2" charset="-122"/>
                <a:cs typeface="等线" panose="02010600030101010101" charset="-122"/>
              </a:rPr>
              <a:t> </a:t>
            </a:r>
            <a:r>
              <a:rPr lang="en-US" altLang="zh-CN" sz="2900" dirty="0">
                <a:solidFill>
                  <a:srgbClr val="0000FF"/>
                </a:solidFill>
                <a:latin typeface="宋体" pitchFamily="2" charset="-122"/>
                <a:cs typeface="等线" panose="02010600030101010101" charset="-122"/>
              </a:rPr>
              <a:t>23</a:t>
            </a:r>
          </a:p>
          <a:p>
            <a:pPr marL="0" indent="0" eaLnBrk="1" hangingPunct="1">
              <a:buNone/>
            </a:pPr>
            <a:r>
              <a:rPr lang="zh-CN" altLang="en-US" sz="3100" dirty="0">
                <a:latin typeface="宋体" pitchFamily="2" charset="-122"/>
                <a:cs typeface="等线" panose="02010600030101010101" charset="-122"/>
              </a:rPr>
              <a:t>等价于：</a:t>
            </a:r>
          </a:p>
          <a:p>
            <a:pPr lvl="1" eaLnBrk="1" hangingPunct="1">
              <a:buFont typeface="Wingdings" panose="05000000000000000000" pitchFamily="2" charset="2"/>
              <a:buNone/>
            </a:pPr>
            <a:r>
              <a:rPr lang="en-US" altLang="zh-CN" sz="2900" dirty="0">
                <a:solidFill>
                  <a:srgbClr val="0000FF"/>
                </a:solidFill>
                <a:latin typeface="宋体" pitchFamily="2" charset="-122"/>
                <a:cs typeface="等线" panose="02010600030101010101" charset="-122"/>
              </a:rPr>
              <a:t>SELECT Sname, Sdept, Sage  </a:t>
            </a:r>
          </a:p>
          <a:p>
            <a:pPr lvl="1" eaLnBrk="1" hangingPunct="1">
              <a:buFont typeface="Wingdings" panose="05000000000000000000" pitchFamily="2" charset="2"/>
              <a:buNone/>
            </a:pPr>
            <a:r>
              <a:rPr lang="en-US" altLang="zh-CN" sz="2900" dirty="0">
                <a:solidFill>
                  <a:srgbClr val="0000FF"/>
                </a:solidFill>
                <a:latin typeface="宋体" pitchFamily="2" charset="-122"/>
                <a:cs typeface="等线" panose="02010600030101010101" charset="-122"/>
              </a:rPr>
              <a:t>  FROM Student </a:t>
            </a:r>
          </a:p>
          <a:p>
            <a:pPr lvl="1" eaLnBrk="1" hangingPunct="1">
              <a:buFont typeface="Wingdings" panose="05000000000000000000" pitchFamily="2" charset="2"/>
              <a:buNone/>
            </a:pPr>
            <a:r>
              <a:rPr lang="en-US" altLang="zh-CN" sz="2900" dirty="0">
                <a:solidFill>
                  <a:srgbClr val="0000FF"/>
                </a:solidFill>
                <a:latin typeface="宋体" pitchFamily="2" charset="-122"/>
                <a:cs typeface="等线" panose="02010600030101010101" charset="-122"/>
              </a:rPr>
              <a:t>  WHERE Sage &gt;=20 AND Sage&lt;=23</a:t>
            </a:r>
            <a:r>
              <a:rPr lang="en-US" altLang="zh-CN" dirty="0">
                <a:latin typeface="宋体" pitchFamily="2" charset="-122"/>
                <a:cs typeface="等线" panose="02010600030101010101" charset="-122"/>
              </a:rPr>
              <a:t> </a:t>
            </a:r>
            <a:endParaRPr lang="zh-CN" altLang="en-US" dirty="0">
              <a:latin typeface="宋体" pitchFamily="2" charset="-122"/>
              <a:cs typeface="等线" panose="02010600030101010101"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17411">
                                            <p:txEl>
                                              <p:pRg st="3" end="3"/>
                                            </p:txEl>
                                          </p:spTgt>
                                        </p:tgtEl>
                                        <p:attrNameLst>
                                          <p:attrName>style.visibility</p:attrName>
                                        </p:attrNameLst>
                                      </p:cBhvr>
                                      <p:to>
                                        <p:strVal val="visible"/>
                                      </p:to>
                                    </p:set>
                                    <p:anim calcmode="lin" valueType="num">
                                      <p:cBhvr additive="base">
                                        <p:cTn id="7" dur="500" fill="hold"/>
                                        <p:tgtEl>
                                          <p:spTgt spid="17411">
                                            <p:txEl>
                                              <p:pRg st="3" end="3"/>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7411">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7411">
                                            <p:txEl>
                                              <p:pRg st="4" end="4"/>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nodeType="clickEffect">
                                  <p:stCondLst>
                                    <p:cond delay="0"/>
                                  </p:stCondLst>
                                  <p:childTnLst>
                                    <p:set>
                                      <p:cBhvr>
                                        <p:cTn id="16" dur="1" fill="hold">
                                          <p:stCondLst>
                                            <p:cond delay="0"/>
                                          </p:stCondLst>
                                        </p:cTn>
                                        <p:tgtEl>
                                          <p:spTgt spid="17411">
                                            <p:txEl>
                                              <p:pRg st="7" end="7"/>
                                            </p:txEl>
                                          </p:spTgt>
                                        </p:tgtEl>
                                        <p:attrNameLst>
                                          <p:attrName>style.visibility</p:attrName>
                                        </p:attrNameLst>
                                      </p:cBhvr>
                                      <p:to>
                                        <p:strVal val="visible"/>
                                      </p:to>
                                    </p:set>
                                    <p:anim calcmode="lin" valueType="num">
                                      <p:cBhvr additive="base">
                                        <p:cTn id="17" dur="500" fill="hold"/>
                                        <p:tgtEl>
                                          <p:spTgt spid="17411">
                                            <p:txEl>
                                              <p:pRg st="7" end="7"/>
                                            </p:txEl>
                                          </p:spTgt>
                                        </p:tgtEl>
                                        <p:attrNameLst>
                                          <p:attrName>ppt_x</p:attrName>
                                        </p:attrNameLst>
                                      </p:cBhvr>
                                      <p:tavLst>
                                        <p:tav tm="0">
                                          <p:val>
                                            <p:strVal val="0-#ppt_w/2"/>
                                          </p:val>
                                        </p:tav>
                                        <p:tav tm="100000">
                                          <p:val>
                                            <p:strVal val="#ppt_x"/>
                                          </p:val>
                                        </p:tav>
                                      </p:tavLst>
                                    </p:anim>
                                    <p:anim calcmode="lin" valueType="num">
                                      <p:cBhvr additive="base">
                                        <p:cTn id="18" dur="500" fill="hold"/>
                                        <p:tgtEl>
                                          <p:spTgt spid="17411">
                                            <p:txEl>
                                              <p:pRg st="7" end="7"/>
                                            </p:txEl>
                                          </p:spTgt>
                                        </p:tgtEl>
                                        <p:attrNameLst>
                                          <p:attrName>ppt_y</p:attrName>
                                        </p:attrNameLst>
                                      </p:cBhvr>
                                      <p:tavLst>
                                        <p:tav tm="0">
                                          <p:val>
                                            <p:strVal val="#ppt_y"/>
                                          </p:val>
                                        </p:tav>
                                        <p:tav tm="100000">
                                          <p:val>
                                            <p:strVal val="#ppt_y"/>
                                          </p:val>
                                        </p:tav>
                                      </p:tavLst>
                                    </p:anim>
                                  </p:childTnLst>
                                </p:cTn>
                              </p:par>
                              <p:par>
                                <p:cTn id="19" presetID="1" presetClass="entr" presetSubtype="0" fill="hold" nodeType="withEffect">
                                  <p:stCondLst>
                                    <p:cond delay="0"/>
                                  </p:stCondLst>
                                  <p:childTnLst>
                                    <p:set>
                                      <p:cBhvr>
                                        <p:cTn id="20" dur="1" fill="hold">
                                          <p:stCondLst>
                                            <p:cond delay="0"/>
                                          </p:stCondLst>
                                        </p:cTn>
                                        <p:tgtEl>
                                          <p:spTgt spid="17411">
                                            <p:txEl>
                                              <p:pRg st="6" end="6"/>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7411">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p:cNvSpPr>
          <p:nvPr>
            <p:ph type="title"/>
          </p:nvPr>
        </p:nvSpPr>
        <p:spPr>
          <a:xfrm>
            <a:off x="500063" y="152400"/>
            <a:ext cx="8001000" cy="685800"/>
          </a:xfrm>
          <a:noFill/>
          <a:ln w="9525">
            <a:noFill/>
          </a:ln>
        </p:spPr>
        <p:txBody>
          <a:bodyPr vert="horz" wrap="square" lIns="91440" tIns="45720" rIns="91440" bIns="45720" rtlCol="0" anchor="ctr" anchorCtr="0">
            <a:normAutofit fontScale="90000"/>
          </a:bodyPr>
          <a:lstStyle/>
          <a:p>
            <a:pPr lvl="0" algn="ctr" eaLnBrk="1" hangingPunct="1">
              <a:buClrTx/>
              <a:buSzTx/>
              <a:buFontTx/>
            </a:pPr>
            <a:r>
              <a:rPr lang="zh-CN" altLang="en-US" sz="4000" b="0" dirty="0">
                <a:latin typeface="黑体" panose="02010609060101010101" pitchFamily="2" charset="-122"/>
                <a:ea typeface="黑体" panose="02010609060101010101" pitchFamily="2" charset="-122"/>
                <a:sym typeface="+mn-ea"/>
              </a:rPr>
              <a:t>示例</a:t>
            </a:r>
          </a:p>
        </p:txBody>
      </p:sp>
      <p:sp>
        <p:nvSpPr>
          <p:cNvPr id="18435" name="Rectangle 3"/>
          <p:cNvSpPr>
            <a:spLocks noGrp="1"/>
          </p:cNvSpPr>
          <p:nvPr>
            <p:ph idx="1"/>
          </p:nvPr>
        </p:nvSpPr>
        <p:spPr>
          <a:xfrm>
            <a:off x="500063" y="1214438"/>
            <a:ext cx="8186737" cy="4957762"/>
          </a:xfrm>
        </p:spPr>
        <p:txBody>
          <a:bodyPr vert="horz" wrap="square" lIns="91440" tIns="45720" rIns="91440" bIns="45720" anchor="t" anchorCtr="0"/>
          <a:lstStyle/>
          <a:p>
            <a:pPr marL="0" indent="0" eaLnBrk="1" hangingPunct="1">
              <a:buNone/>
            </a:pPr>
            <a:r>
              <a:rPr lang="zh-CN" altLang="en-US" sz="3100" dirty="0" smtClean="0">
                <a:latin typeface="宋体" pitchFamily="2" charset="-122"/>
                <a:cs typeface="等线" panose="02010600030101010101" charset="-122"/>
              </a:rPr>
              <a:t>例</a:t>
            </a:r>
            <a:r>
              <a:rPr lang="en-US" altLang="zh-CN" sz="3200" dirty="0" smtClean="0"/>
              <a:t>4.11 </a:t>
            </a:r>
            <a:r>
              <a:rPr lang="zh-CN" altLang="en-US" sz="3100" dirty="0" smtClean="0">
                <a:latin typeface="宋体" pitchFamily="2" charset="-122"/>
                <a:cs typeface="等线" panose="02010600030101010101" charset="-122"/>
              </a:rPr>
              <a:t>查询</a:t>
            </a:r>
            <a:r>
              <a:rPr lang="zh-CN" altLang="en-US" sz="3100" dirty="0">
                <a:latin typeface="宋体" pitchFamily="2" charset="-122"/>
                <a:cs typeface="等线" panose="02010600030101010101" charset="-122"/>
              </a:rPr>
              <a:t>年龄不在</a:t>
            </a:r>
            <a:r>
              <a:rPr lang="en-US" altLang="zh-CN" sz="3100" dirty="0">
                <a:latin typeface="宋体" pitchFamily="2" charset="-122"/>
                <a:cs typeface="等线" panose="02010600030101010101" charset="-122"/>
              </a:rPr>
              <a:t>20</a:t>
            </a:r>
            <a:r>
              <a:rPr lang="zh-CN" altLang="en-US" sz="3100" dirty="0">
                <a:latin typeface="宋体" pitchFamily="2" charset="-122"/>
                <a:cs typeface="等线" panose="02010600030101010101" charset="-122"/>
              </a:rPr>
              <a:t>～</a:t>
            </a:r>
            <a:r>
              <a:rPr lang="en-US" altLang="zh-CN" sz="3100" dirty="0">
                <a:latin typeface="宋体" pitchFamily="2" charset="-122"/>
                <a:cs typeface="等线" panose="02010600030101010101" charset="-122"/>
              </a:rPr>
              <a:t>23</a:t>
            </a:r>
            <a:r>
              <a:rPr lang="zh-CN" altLang="en-US" sz="3100" dirty="0">
                <a:latin typeface="宋体" pitchFamily="2" charset="-122"/>
                <a:cs typeface="等线" panose="02010600030101010101" charset="-122"/>
              </a:rPr>
              <a:t>之间的学生姓名、所在系和年龄。</a:t>
            </a:r>
          </a:p>
          <a:p>
            <a:pPr lvl="1" eaLnBrk="1" hangingPunct="1">
              <a:buFont typeface="Wingdings" panose="05000000000000000000" pitchFamily="2" charset="2"/>
              <a:buNone/>
            </a:pPr>
            <a:r>
              <a:rPr lang="en-US" altLang="zh-CN" sz="2900" dirty="0">
                <a:solidFill>
                  <a:srgbClr val="0000FF"/>
                </a:solidFill>
                <a:latin typeface="宋体" pitchFamily="2" charset="-122"/>
                <a:cs typeface="等线" panose="02010600030101010101" charset="-122"/>
              </a:rPr>
              <a:t>SELECT Sname, Sdept, Sage  </a:t>
            </a:r>
          </a:p>
          <a:p>
            <a:pPr lvl="1" eaLnBrk="1" hangingPunct="1">
              <a:buFont typeface="Wingdings" panose="05000000000000000000" pitchFamily="2" charset="2"/>
              <a:buNone/>
            </a:pPr>
            <a:r>
              <a:rPr lang="en-US" altLang="zh-CN" sz="2900" dirty="0">
                <a:solidFill>
                  <a:srgbClr val="0000FF"/>
                </a:solidFill>
                <a:latin typeface="宋体" pitchFamily="2" charset="-122"/>
                <a:cs typeface="等线" panose="02010600030101010101" charset="-122"/>
              </a:rPr>
              <a:t>   FROM Student </a:t>
            </a:r>
          </a:p>
          <a:p>
            <a:pPr lvl="1" eaLnBrk="1" hangingPunct="1">
              <a:buFont typeface="Wingdings" panose="05000000000000000000" pitchFamily="2" charset="2"/>
              <a:buNone/>
            </a:pPr>
            <a:r>
              <a:rPr lang="en-US" altLang="zh-CN" sz="2900" dirty="0">
                <a:solidFill>
                  <a:srgbClr val="0000FF"/>
                </a:solidFill>
                <a:latin typeface="宋体" pitchFamily="2" charset="-122"/>
                <a:cs typeface="等线" panose="02010600030101010101" charset="-122"/>
              </a:rPr>
              <a:t>	WHERE Sage</a:t>
            </a:r>
            <a:r>
              <a:rPr lang="en-US" altLang="zh-CN" sz="2900" dirty="0">
                <a:solidFill>
                  <a:srgbClr val="009900"/>
                </a:solidFill>
                <a:latin typeface="宋体" pitchFamily="2" charset="-122"/>
                <a:cs typeface="等线" panose="02010600030101010101" charset="-122"/>
              </a:rPr>
              <a:t> </a:t>
            </a:r>
            <a:r>
              <a:rPr lang="en-US" altLang="zh-CN" sz="2900" dirty="0">
                <a:solidFill>
                  <a:srgbClr val="FF0000"/>
                </a:solidFill>
                <a:latin typeface="宋体" pitchFamily="2" charset="-122"/>
                <a:cs typeface="等线" panose="02010600030101010101" charset="-122"/>
              </a:rPr>
              <a:t>NOT BETWEEN</a:t>
            </a:r>
            <a:r>
              <a:rPr lang="en-US" altLang="zh-CN" sz="2900" dirty="0">
                <a:solidFill>
                  <a:srgbClr val="009900"/>
                </a:solidFill>
                <a:latin typeface="宋体" pitchFamily="2" charset="-122"/>
                <a:cs typeface="等线" panose="02010600030101010101" charset="-122"/>
              </a:rPr>
              <a:t> </a:t>
            </a:r>
            <a:r>
              <a:rPr lang="en-US" altLang="zh-CN" sz="2900" dirty="0">
                <a:solidFill>
                  <a:srgbClr val="0000FF"/>
                </a:solidFill>
                <a:latin typeface="宋体" pitchFamily="2" charset="-122"/>
                <a:cs typeface="等线" panose="02010600030101010101" charset="-122"/>
              </a:rPr>
              <a:t>20</a:t>
            </a:r>
            <a:r>
              <a:rPr lang="en-US" altLang="zh-CN" sz="2900" dirty="0">
                <a:solidFill>
                  <a:srgbClr val="009900"/>
                </a:solidFill>
                <a:latin typeface="宋体" pitchFamily="2" charset="-122"/>
                <a:cs typeface="等线" panose="02010600030101010101" charset="-122"/>
              </a:rPr>
              <a:t> </a:t>
            </a:r>
            <a:r>
              <a:rPr lang="en-US" altLang="zh-CN" sz="2900" dirty="0">
                <a:solidFill>
                  <a:srgbClr val="FF0000"/>
                </a:solidFill>
                <a:latin typeface="宋体" pitchFamily="2" charset="-122"/>
                <a:cs typeface="等线" panose="02010600030101010101" charset="-122"/>
              </a:rPr>
              <a:t>AND</a:t>
            </a:r>
            <a:r>
              <a:rPr lang="en-US" altLang="zh-CN" sz="2900" dirty="0">
                <a:solidFill>
                  <a:srgbClr val="009900"/>
                </a:solidFill>
                <a:latin typeface="宋体" pitchFamily="2" charset="-122"/>
                <a:cs typeface="等线" panose="02010600030101010101" charset="-122"/>
              </a:rPr>
              <a:t> </a:t>
            </a:r>
            <a:r>
              <a:rPr lang="en-US" altLang="zh-CN" sz="2900" dirty="0">
                <a:solidFill>
                  <a:srgbClr val="0000FF"/>
                </a:solidFill>
                <a:latin typeface="宋体" pitchFamily="2" charset="-122"/>
                <a:cs typeface="等线" panose="02010600030101010101" charset="-122"/>
              </a:rPr>
              <a:t>23</a:t>
            </a:r>
            <a:endParaRPr lang="zh-CN" altLang="en-US" sz="2900" dirty="0">
              <a:solidFill>
                <a:srgbClr val="0000FF"/>
              </a:solidFill>
              <a:latin typeface="宋体" pitchFamily="2" charset="-122"/>
              <a:cs typeface="等线" panose="02010600030101010101" charset="-122"/>
            </a:endParaRPr>
          </a:p>
          <a:p>
            <a:pPr marL="0" indent="0" eaLnBrk="1" hangingPunct="1">
              <a:buNone/>
            </a:pPr>
            <a:r>
              <a:rPr lang="zh-CN" altLang="en-US" sz="3200" dirty="0">
                <a:latin typeface="宋体" pitchFamily="2" charset="-122"/>
                <a:cs typeface="等线" panose="02010600030101010101" charset="-122"/>
              </a:rPr>
              <a:t>等价于：</a:t>
            </a:r>
          </a:p>
          <a:p>
            <a:pPr lvl="1" eaLnBrk="1" hangingPunct="1">
              <a:buFont typeface="Wingdings" panose="05000000000000000000" pitchFamily="2" charset="2"/>
              <a:buNone/>
            </a:pPr>
            <a:r>
              <a:rPr lang="en-US" altLang="zh-CN" sz="2900" dirty="0">
                <a:solidFill>
                  <a:srgbClr val="0000FF"/>
                </a:solidFill>
                <a:latin typeface="宋体" pitchFamily="2" charset="-122"/>
                <a:cs typeface="等线" panose="02010600030101010101" charset="-122"/>
              </a:rPr>
              <a:t>SELECT Sname, Sdept, Sage  </a:t>
            </a:r>
          </a:p>
          <a:p>
            <a:pPr lvl="1" eaLnBrk="1" hangingPunct="1">
              <a:buFont typeface="Wingdings" panose="05000000000000000000" pitchFamily="2" charset="2"/>
              <a:buNone/>
            </a:pPr>
            <a:r>
              <a:rPr lang="en-US" altLang="zh-CN" sz="2900" dirty="0">
                <a:solidFill>
                  <a:srgbClr val="0000FF"/>
                </a:solidFill>
                <a:latin typeface="宋体" pitchFamily="2" charset="-122"/>
                <a:cs typeface="等线" panose="02010600030101010101" charset="-122"/>
              </a:rPr>
              <a:t>  FROM Student </a:t>
            </a:r>
          </a:p>
          <a:p>
            <a:pPr lvl="1" eaLnBrk="1" hangingPunct="1">
              <a:buFont typeface="Wingdings" panose="05000000000000000000" pitchFamily="2" charset="2"/>
              <a:buNone/>
            </a:pPr>
            <a:r>
              <a:rPr lang="en-US" altLang="zh-CN" sz="2900" dirty="0">
                <a:solidFill>
                  <a:srgbClr val="0000FF"/>
                </a:solidFill>
                <a:latin typeface="宋体" pitchFamily="2" charset="-122"/>
                <a:cs typeface="等线" panose="02010600030101010101" charset="-122"/>
              </a:rPr>
              <a:t>  WHERE Sage &lt;20 OR Sage&gt;23</a:t>
            </a:r>
            <a:r>
              <a:rPr lang="en-US" altLang="zh-CN" dirty="0">
                <a:latin typeface="宋体" pitchFamily="2" charset="-122"/>
                <a:cs typeface="等线" panose="02010600030101010101" charset="-122"/>
              </a:rPr>
              <a:t> </a:t>
            </a:r>
            <a:endParaRPr lang="zh-CN" altLang="en-US" dirty="0">
              <a:latin typeface="宋体" pitchFamily="2" charset="-122"/>
              <a:cs typeface="等线" panose="02010600030101010101" charset="-122"/>
            </a:endParaRP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p:cNvSpPr>
          <p:nvPr>
            <p:ph type="title"/>
          </p:nvPr>
        </p:nvSpPr>
        <p:spPr>
          <a:xfrm>
            <a:off x="500063" y="152400"/>
            <a:ext cx="8001000" cy="685800"/>
          </a:xfrm>
          <a:noFill/>
          <a:ln w="9525">
            <a:noFill/>
          </a:ln>
        </p:spPr>
        <p:txBody>
          <a:bodyPr vert="horz" wrap="square" lIns="91440" tIns="45720" rIns="91440" bIns="45720" rtlCol="0" anchor="ctr" anchorCtr="0">
            <a:normAutofit fontScale="90000"/>
          </a:bodyPr>
          <a:lstStyle/>
          <a:p>
            <a:pPr lvl="0" algn="ctr" eaLnBrk="1" hangingPunct="1">
              <a:buClrTx/>
              <a:buSzTx/>
              <a:buFontTx/>
            </a:pPr>
            <a:r>
              <a:rPr lang="zh-CN" altLang="en-US" sz="4000" b="0" dirty="0">
                <a:latin typeface="黑体" panose="02010609060101010101" pitchFamily="2" charset="-122"/>
                <a:ea typeface="黑体" panose="02010609060101010101" pitchFamily="2" charset="-122"/>
                <a:sym typeface="+mn-ea"/>
              </a:rPr>
              <a:t>示例</a:t>
            </a:r>
          </a:p>
        </p:txBody>
      </p:sp>
      <p:sp>
        <p:nvSpPr>
          <p:cNvPr id="19459" name="Rectangle 3"/>
          <p:cNvSpPr>
            <a:spLocks noGrp="1"/>
          </p:cNvSpPr>
          <p:nvPr>
            <p:ph idx="1"/>
          </p:nvPr>
        </p:nvSpPr>
        <p:spPr>
          <a:xfrm>
            <a:off x="357188" y="1214438"/>
            <a:ext cx="8429625" cy="5143500"/>
          </a:xfrm>
        </p:spPr>
        <p:txBody>
          <a:bodyPr vert="horz" wrap="square" lIns="91440" tIns="45720" rIns="91440" bIns="45720" anchor="t" anchorCtr="0"/>
          <a:lstStyle/>
          <a:p>
            <a:pPr marL="0" indent="0" eaLnBrk="1" hangingPunct="1">
              <a:spcBef>
                <a:spcPts val="300"/>
              </a:spcBef>
              <a:buNone/>
            </a:pPr>
            <a:r>
              <a:rPr lang="zh-CN" altLang="en-US" sz="3200" dirty="0" smtClean="0">
                <a:latin typeface="宋体" pitchFamily="2" charset="-122"/>
                <a:cs typeface="等线" panose="02010600030101010101" charset="-122"/>
              </a:rPr>
              <a:t>例</a:t>
            </a:r>
            <a:r>
              <a:rPr lang="en-US" altLang="zh-CN" sz="3200" dirty="0" smtClean="0"/>
              <a:t>4.12</a:t>
            </a:r>
            <a:r>
              <a:rPr lang="en-US" altLang="zh-CN" sz="3200" dirty="0" smtClean="0">
                <a:latin typeface="宋体" pitchFamily="2" charset="-122"/>
                <a:cs typeface="等线" panose="02010600030101010101" charset="-122"/>
              </a:rPr>
              <a:t> </a:t>
            </a:r>
            <a:r>
              <a:rPr lang="zh-CN" altLang="en-US" sz="3000" dirty="0">
                <a:latin typeface="宋体" pitchFamily="2" charset="-122"/>
                <a:cs typeface="等线" panose="02010600030101010101" charset="-122"/>
              </a:rPr>
              <a:t>对于日期类型的数据也可以使用基于围的查找。设有教师表（</a:t>
            </a:r>
            <a:r>
              <a:rPr lang="en-US" altLang="zh-CN" sz="3000" dirty="0">
                <a:latin typeface="宋体" pitchFamily="2" charset="-122"/>
                <a:cs typeface="等线" panose="02010600030101010101" charset="-122"/>
              </a:rPr>
              <a:t>Teachers</a:t>
            </a:r>
            <a:r>
              <a:rPr lang="zh-CN" altLang="en-US" sz="3000" dirty="0">
                <a:latin typeface="宋体" pitchFamily="2" charset="-122"/>
                <a:cs typeface="等线" panose="02010600030101010101" charset="-122"/>
              </a:rPr>
              <a:t>）</a:t>
            </a:r>
            <a:r>
              <a:rPr lang="en-US" altLang="zh-CN" sz="3000" dirty="0">
                <a:latin typeface="宋体" pitchFamily="2" charset="-122"/>
                <a:cs typeface="等线" panose="02010600030101010101" charset="-122"/>
              </a:rPr>
              <a:t>,</a:t>
            </a:r>
            <a:r>
              <a:rPr lang="zh-CN" altLang="en-US" sz="3000" dirty="0">
                <a:latin typeface="宋体" pitchFamily="2" charset="-122"/>
                <a:cs typeface="等线" panose="02010600030101010101" charset="-122"/>
              </a:rPr>
              <a:t>有</a:t>
            </a:r>
            <a:r>
              <a:rPr lang="en-US" altLang="zh-CN" sz="3000" dirty="0">
                <a:latin typeface="宋体" pitchFamily="2" charset="-122"/>
                <a:cs typeface="等线" panose="02010600030101010101" charset="-122"/>
              </a:rPr>
              <a:t>:</a:t>
            </a:r>
            <a:r>
              <a:rPr lang="zh-CN" altLang="en-US" sz="3000" dirty="0">
                <a:latin typeface="宋体" pitchFamily="2" charset="-122"/>
                <a:cs typeface="等线" panose="02010600030101010101" charset="-122"/>
              </a:rPr>
              <a:t>工号（</a:t>
            </a:r>
            <a:r>
              <a:rPr lang="en-US" altLang="zh-CN" sz="3000" dirty="0">
                <a:latin typeface="宋体" pitchFamily="2" charset="-122"/>
                <a:cs typeface="等线" panose="02010600030101010101" charset="-122"/>
              </a:rPr>
              <a:t>Tid</a:t>
            </a:r>
            <a:r>
              <a:rPr lang="zh-CN" altLang="en-US" sz="3000" dirty="0">
                <a:latin typeface="宋体" pitchFamily="2" charset="-122"/>
                <a:cs typeface="等线" panose="02010600030101010101" charset="-122"/>
              </a:rPr>
              <a:t>）、姓名（</a:t>
            </a:r>
            <a:r>
              <a:rPr lang="en-US" altLang="zh-CN" sz="3000" dirty="0">
                <a:latin typeface="宋体" pitchFamily="2" charset="-122"/>
                <a:cs typeface="等线" panose="02010600030101010101" charset="-122"/>
              </a:rPr>
              <a:t>Tname</a:t>
            </a:r>
            <a:r>
              <a:rPr lang="zh-CN" altLang="en-US" sz="3000" dirty="0">
                <a:latin typeface="宋体" pitchFamily="2" charset="-122"/>
                <a:cs typeface="等线" panose="02010600030101010101" charset="-122"/>
              </a:rPr>
              <a:t>）和出生日期（</a:t>
            </a:r>
            <a:r>
              <a:rPr lang="en-US" altLang="zh-CN" sz="3000" dirty="0">
                <a:latin typeface="宋体" pitchFamily="2" charset="-122"/>
                <a:cs typeface="等线" panose="02010600030101010101" charset="-122"/>
              </a:rPr>
              <a:t>BirthDate</a:t>
            </a:r>
            <a:r>
              <a:rPr lang="zh-CN" altLang="en-US" sz="3000" dirty="0">
                <a:latin typeface="宋体" pitchFamily="2" charset="-122"/>
                <a:cs typeface="等线" panose="02010600030101010101" charset="-122"/>
              </a:rPr>
              <a:t>）列。</a:t>
            </a:r>
            <a:endParaRPr lang="en-US" altLang="zh-CN" sz="3000" dirty="0">
              <a:latin typeface="宋体" pitchFamily="2" charset="-122"/>
              <a:cs typeface="等线" panose="02010600030101010101" charset="-122"/>
            </a:endParaRPr>
          </a:p>
          <a:p>
            <a:pPr eaLnBrk="1" hangingPunct="1">
              <a:spcBef>
                <a:spcPts val="1800"/>
              </a:spcBef>
            </a:pPr>
            <a:r>
              <a:rPr lang="zh-CN" altLang="en-US" sz="3200" dirty="0">
                <a:latin typeface="宋体" pitchFamily="2" charset="-122"/>
                <a:cs typeface="等线" panose="02010600030101010101" charset="-122"/>
              </a:rPr>
              <a:t>查询</a:t>
            </a:r>
            <a:r>
              <a:rPr lang="en-US" altLang="zh-CN" sz="3200" dirty="0">
                <a:latin typeface="宋体" pitchFamily="2" charset="-122"/>
                <a:cs typeface="等线" panose="02010600030101010101" charset="-122"/>
              </a:rPr>
              <a:t>1970</a:t>
            </a:r>
            <a:r>
              <a:rPr lang="zh-CN" altLang="en-US" sz="3200" dirty="0">
                <a:latin typeface="宋体" pitchFamily="2" charset="-122"/>
                <a:cs typeface="等线" panose="02010600030101010101" charset="-122"/>
              </a:rPr>
              <a:t>年</a:t>
            </a:r>
            <a:r>
              <a:rPr lang="en-US" altLang="zh-CN" sz="3200" dirty="0">
                <a:latin typeface="宋体" pitchFamily="2" charset="-122"/>
                <a:cs typeface="等线" panose="02010600030101010101" charset="-122"/>
              </a:rPr>
              <a:t>1</a:t>
            </a:r>
            <a:r>
              <a:rPr lang="zh-CN" altLang="en-US" sz="3200" dirty="0">
                <a:latin typeface="宋体" pitchFamily="2" charset="-122"/>
                <a:cs typeface="等线" panose="02010600030101010101" charset="-122"/>
              </a:rPr>
              <a:t>月</a:t>
            </a:r>
            <a:r>
              <a:rPr lang="en-US" altLang="zh-CN" sz="3200" dirty="0">
                <a:latin typeface="宋体" pitchFamily="2" charset="-122"/>
                <a:cs typeface="等线" panose="02010600030101010101" charset="-122"/>
              </a:rPr>
              <a:t>1</a:t>
            </a:r>
            <a:r>
              <a:rPr lang="zh-CN" altLang="en-US" sz="3200" dirty="0">
                <a:latin typeface="宋体" pitchFamily="2" charset="-122"/>
                <a:cs typeface="等线" panose="02010600030101010101" charset="-122"/>
              </a:rPr>
              <a:t>日至</a:t>
            </a:r>
            <a:r>
              <a:rPr lang="en-US" altLang="zh-CN" sz="3200" dirty="0">
                <a:latin typeface="宋体" pitchFamily="2" charset="-122"/>
                <a:cs typeface="等线" panose="02010600030101010101" charset="-122"/>
              </a:rPr>
              <a:t>1979</a:t>
            </a:r>
            <a:r>
              <a:rPr lang="zh-CN" altLang="en-US" sz="3200" dirty="0">
                <a:latin typeface="宋体" pitchFamily="2" charset="-122"/>
                <a:cs typeface="等线" panose="02010600030101010101" charset="-122"/>
              </a:rPr>
              <a:t>年</a:t>
            </a:r>
            <a:r>
              <a:rPr lang="en-US" altLang="zh-CN" sz="3200" dirty="0">
                <a:latin typeface="宋体" pitchFamily="2" charset="-122"/>
                <a:cs typeface="等线" panose="02010600030101010101" charset="-122"/>
              </a:rPr>
              <a:t>12</a:t>
            </a:r>
            <a:r>
              <a:rPr lang="zh-CN" altLang="en-US" sz="3200" dirty="0">
                <a:latin typeface="宋体" pitchFamily="2" charset="-122"/>
                <a:cs typeface="等线" panose="02010600030101010101" charset="-122"/>
              </a:rPr>
              <a:t>月</a:t>
            </a:r>
            <a:r>
              <a:rPr lang="en-US" altLang="zh-CN" sz="3200" dirty="0">
                <a:latin typeface="宋体" pitchFamily="2" charset="-122"/>
                <a:cs typeface="等线" panose="02010600030101010101" charset="-122"/>
              </a:rPr>
              <a:t>31</a:t>
            </a:r>
            <a:r>
              <a:rPr lang="zh-CN" altLang="en-US" sz="3200" dirty="0">
                <a:latin typeface="宋体" pitchFamily="2" charset="-122"/>
                <a:cs typeface="等线" panose="02010600030101010101" charset="-122"/>
              </a:rPr>
              <a:t>日出生的教师信息。</a:t>
            </a:r>
          </a:p>
          <a:p>
            <a:pPr eaLnBrk="1" hangingPunct="1">
              <a:spcBef>
                <a:spcPts val="300"/>
              </a:spcBef>
              <a:buFont typeface="Wingdings" panose="05000000000000000000" pitchFamily="2" charset="2"/>
              <a:buNone/>
            </a:pPr>
            <a:r>
              <a:rPr lang="en-US" altLang="zh-CN" sz="2800" dirty="0">
                <a:solidFill>
                  <a:srgbClr val="0000FF"/>
                </a:solidFill>
                <a:latin typeface="宋体" pitchFamily="2" charset="-122"/>
                <a:cs typeface="等线" panose="02010600030101010101" charset="-122"/>
              </a:rPr>
              <a:t>  SELECT Tid, Tname, </a:t>
            </a:r>
            <a:r>
              <a:rPr lang="en-US" altLang="zh-CN" sz="2800" dirty="0" err="1" smtClean="0">
                <a:solidFill>
                  <a:srgbClr val="0000FF"/>
                </a:solidFill>
                <a:latin typeface="宋体" pitchFamily="2" charset="-122"/>
                <a:cs typeface="等线" panose="02010600030101010101" charset="-122"/>
              </a:rPr>
              <a:t>BirthDate</a:t>
            </a:r>
            <a:endParaRPr lang="en-US" altLang="zh-CN" sz="2800" dirty="0" smtClean="0">
              <a:solidFill>
                <a:srgbClr val="0000FF"/>
              </a:solidFill>
              <a:latin typeface="宋体" pitchFamily="2" charset="-122"/>
              <a:cs typeface="等线" panose="02010600030101010101" charset="-122"/>
            </a:endParaRPr>
          </a:p>
          <a:p>
            <a:pPr eaLnBrk="1" hangingPunct="1">
              <a:spcBef>
                <a:spcPts val="300"/>
              </a:spcBef>
              <a:buFont typeface="Wingdings" panose="05000000000000000000" pitchFamily="2" charset="2"/>
              <a:buNone/>
            </a:pPr>
            <a:r>
              <a:rPr lang="en-US" altLang="zh-CN" sz="2800" dirty="0">
                <a:solidFill>
                  <a:srgbClr val="0000FF"/>
                </a:solidFill>
                <a:latin typeface="宋体" pitchFamily="2" charset="-122"/>
                <a:cs typeface="等线" panose="02010600030101010101" charset="-122"/>
              </a:rPr>
              <a:t> </a:t>
            </a:r>
            <a:r>
              <a:rPr lang="en-US" altLang="zh-CN" sz="2800" dirty="0" smtClean="0">
                <a:solidFill>
                  <a:srgbClr val="0000FF"/>
                </a:solidFill>
                <a:latin typeface="宋体" pitchFamily="2" charset="-122"/>
                <a:cs typeface="等线" panose="02010600030101010101" charset="-122"/>
              </a:rPr>
              <a:t>   </a:t>
            </a:r>
            <a:r>
              <a:rPr lang="en-US" altLang="zh-CN" sz="2800" dirty="0">
                <a:solidFill>
                  <a:srgbClr val="0000FF"/>
                </a:solidFill>
                <a:latin typeface="宋体" pitchFamily="2" charset="-122"/>
                <a:cs typeface="等线" panose="02010600030101010101" charset="-122"/>
              </a:rPr>
              <a:t>from Teachers </a:t>
            </a:r>
            <a:endParaRPr lang="zh-CN" altLang="en-US" sz="2800" dirty="0">
              <a:solidFill>
                <a:srgbClr val="0000FF"/>
              </a:solidFill>
              <a:latin typeface="宋体" pitchFamily="2" charset="-122"/>
              <a:cs typeface="等线" panose="02010600030101010101" charset="-122"/>
            </a:endParaRPr>
          </a:p>
          <a:p>
            <a:pPr eaLnBrk="1" hangingPunct="1">
              <a:spcBef>
                <a:spcPts val="300"/>
              </a:spcBef>
              <a:buFont typeface="Wingdings" panose="05000000000000000000" pitchFamily="2" charset="2"/>
              <a:buNone/>
            </a:pPr>
            <a:r>
              <a:rPr lang="en-US" altLang="zh-CN" sz="2800" dirty="0">
                <a:solidFill>
                  <a:srgbClr val="0000FF"/>
                </a:solidFill>
                <a:latin typeface="宋体" pitchFamily="2" charset="-122"/>
                <a:cs typeface="等线" panose="02010600030101010101" charset="-122"/>
              </a:rPr>
              <a:t>    WHERE  BirthDate between </a:t>
            </a:r>
            <a:r>
              <a:rPr lang="en-US" altLang="zh-CN" sz="2800" dirty="0" smtClean="0">
                <a:solidFill>
                  <a:srgbClr val="0000FF"/>
                </a:solidFill>
                <a:latin typeface="宋体" pitchFamily="2" charset="-122"/>
                <a:cs typeface="等线" panose="02010600030101010101" charset="-122"/>
              </a:rPr>
              <a:t>'1970/1/1</a:t>
            </a:r>
            <a:r>
              <a:rPr lang="en-US" altLang="zh-CN" sz="2800" dirty="0">
                <a:solidFill>
                  <a:srgbClr val="0000FF"/>
                </a:solidFill>
                <a:latin typeface="宋体" pitchFamily="2" charset="-122"/>
                <a:cs typeface="等线" panose="02010600030101010101" charset="-122"/>
              </a:rPr>
              <a:t>' and   </a:t>
            </a:r>
          </a:p>
          <a:p>
            <a:pPr eaLnBrk="1" hangingPunct="1">
              <a:spcBef>
                <a:spcPts val="300"/>
              </a:spcBef>
              <a:buFont typeface="Wingdings" panose="05000000000000000000" pitchFamily="2" charset="2"/>
              <a:buNone/>
            </a:pPr>
            <a:r>
              <a:rPr lang="en-US" altLang="zh-CN" sz="2800" dirty="0">
                <a:solidFill>
                  <a:srgbClr val="0000FF"/>
                </a:solidFill>
                <a:latin typeface="宋体" pitchFamily="2" charset="-122"/>
                <a:cs typeface="等线" panose="02010600030101010101" charset="-122"/>
              </a:rPr>
              <a:t>                             '1979/12/31'</a:t>
            </a:r>
            <a:endParaRPr lang="zh-CN" altLang="en-US" sz="2800" dirty="0">
              <a:solidFill>
                <a:srgbClr val="0000FF"/>
              </a:solidFill>
              <a:latin typeface="宋体" pitchFamily="2" charset="-122"/>
              <a:cs typeface="等线" panose="02010600030101010101"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19459">
                                            <p:txEl>
                                              <p:pRg st="4" end="4"/>
                                            </p:txEl>
                                          </p:spTgt>
                                        </p:tgtEl>
                                        <p:attrNameLst>
                                          <p:attrName>style.visibility</p:attrName>
                                        </p:attrNameLst>
                                      </p:cBhvr>
                                      <p:to>
                                        <p:strVal val="visible"/>
                                      </p:to>
                                    </p:set>
                                    <p:animEffect transition="in" filter="circle(in)">
                                      <p:cBhvr>
                                        <p:cTn id="7" dur="2000"/>
                                        <p:tgtEl>
                                          <p:spTgt spid="19459">
                                            <p:txEl>
                                              <p:pRg st="4" end="4"/>
                                            </p:txEl>
                                          </p:spTgt>
                                        </p:tgtEl>
                                      </p:cBhvr>
                                    </p:animEffect>
                                  </p:childTnLst>
                                </p:cTn>
                              </p:par>
                              <p:par>
                                <p:cTn id="8" presetID="6" presetClass="entr" presetSubtype="16" fill="hold" nodeType="withEffect">
                                  <p:stCondLst>
                                    <p:cond delay="0"/>
                                  </p:stCondLst>
                                  <p:childTnLst>
                                    <p:set>
                                      <p:cBhvr>
                                        <p:cTn id="9" dur="1" fill="hold">
                                          <p:stCondLst>
                                            <p:cond delay="0"/>
                                          </p:stCondLst>
                                        </p:cTn>
                                        <p:tgtEl>
                                          <p:spTgt spid="19459">
                                            <p:txEl>
                                              <p:pRg st="5" end="5"/>
                                            </p:txEl>
                                          </p:spTgt>
                                        </p:tgtEl>
                                        <p:attrNameLst>
                                          <p:attrName>style.visibility</p:attrName>
                                        </p:attrNameLst>
                                      </p:cBhvr>
                                      <p:to>
                                        <p:strVal val="visible"/>
                                      </p:to>
                                    </p:set>
                                    <p:animEffect transition="in" filter="circle(in)">
                                      <p:cBhvr>
                                        <p:cTn id="10" dur="2000"/>
                                        <p:tgtEl>
                                          <p:spTgt spid="19459">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p:cNvSpPr>
          <p:nvPr>
            <p:ph type="title"/>
          </p:nvPr>
        </p:nvSpPr>
        <p:spPr>
          <a:xfrm>
            <a:off x="500063" y="152400"/>
            <a:ext cx="8001000" cy="685800"/>
          </a:xfrm>
          <a:noFill/>
          <a:ln w="9525">
            <a:noFill/>
          </a:ln>
        </p:spPr>
        <p:txBody>
          <a:bodyPr vert="horz" wrap="square" lIns="91440" tIns="45720" rIns="91440" bIns="45720" rtlCol="0" anchor="ctr" anchorCtr="0">
            <a:normAutofit fontScale="90000"/>
          </a:bodyPr>
          <a:lstStyle/>
          <a:p>
            <a:pPr lvl="0" algn="ctr" eaLnBrk="1" hangingPunct="1">
              <a:buClrTx/>
              <a:buSzTx/>
              <a:buFontTx/>
            </a:pPr>
            <a:r>
              <a:rPr lang="zh-CN" altLang="en-US" sz="4000" b="0" dirty="0">
                <a:latin typeface="黑体" panose="02010609060101010101" pitchFamily="2" charset="-122"/>
                <a:ea typeface="黑体" panose="02010609060101010101" pitchFamily="2" charset="-122"/>
                <a:sym typeface="+mn-ea"/>
              </a:rPr>
              <a:t>确定集合</a:t>
            </a:r>
          </a:p>
        </p:txBody>
      </p:sp>
      <p:sp>
        <p:nvSpPr>
          <p:cNvPr id="20483" name="Rectangle 3"/>
          <p:cNvSpPr>
            <a:spLocks noGrp="1"/>
          </p:cNvSpPr>
          <p:nvPr>
            <p:ph idx="1"/>
          </p:nvPr>
        </p:nvSpPr>
        <p:spPr>
          <a:xfrm>
            <a:off x="323850" y="1214438"/>
            <a:ext cx="8568630" cy="5167312"/>
          </a:xfrm>
        </p:spPr>
        <p:txBody>
          <a:bodyPr vert="horz" wrap="square" lIns="91440" tIns="45720" rIns="91440" bIns="45720" anchor="t" anchorCtr="0"/>
          <a:lstStyle/>
          <a:p>
            <a:pPr eaLnBrk="1" hangingPunct="1">
              <a:spcBef>
                <a:spcPts val="1800"/>
              </a:spcBef>
            </a:pPr>
            <a:r>
              <a:rPr lang="zh-CN" altLang="en-US" sz="3000" dirty="0">
                <a:latin typeface="宋体" pitchFamily="2" charset="-122"/>
                <a:cs typeface="等线" panose="02010600030101010101" charset="-122"/>
              </a:rPr>
              <a:t>用来查找属性值属于指定集合的元组。</a:t>
            </a:r>
          </a:p>
          <a:p>
            <a:pPr eaLnBrk="1" hangingPunct="1">
              <a:spcBef>
                <a:spcPts val="1800"/>
              </a:spcBef>
            </a:pPr>
            <a:r>
              <a:rPr lang="zh-CN" altLang="en-US" sz="3000" dirty="0">
                <a:latin typeface="宋体" pitchFamily="2" charset="-122"/>
                <a:cs typeface="等线" panose="02010600030101010101" charset="-122"/>
              </a:rPr>
              <a:t>格式为：</a:t>
            </a:r>
          </a:p>
          <a:p>
            <a:pPr eaLnBrk="1" hangingPunct="1">
              <a:spcBef>
                <a:spcPts val="1800"/>
              </a:spcBef>
              <a:buFont typeface="Wingdings" panose="05000000000000000000" pitchFamily="2" charset="2"/>
              <a:buNone/>
            </a:pPr>
            <a:r>
              <a:rPr lang="zh-CN" altLang="en-US" sz="3000" dirty="0">
                <a:solidFill>
                  <a:srgbClr val="FF0000"/>
                </a:solidFill>
                <a:latin typeface="宋体" pitchFamily="2" charset="-122"/>
                <a:cs typeface="等线" panose="02010600030101010101" charset="-122"/>
              </a:rPr>
              <a:t>  列名 </a:t>
            </a:r>
            <a:r>
              <a:rPr lang="en-US" altLang="zh-CN" sz="3000" dirty="0">
                <a:solidFill>
                  <a:srgbClr val="FF0000"/>
                </a:solidFill>
                <a:latin typeface="宋体" pitchFamily="2" charset="-122"/>
                <a:cs typeface="等线" panose="02010600030101010101" charset="-122"/>
              </a:rPr>
              <a:t>[NOT] IN</a:t>
            </a:r>
            <a:r>
              <a:rPr lang="zh-CN" altLang="en-US" sz="3000" dirty="0">
                <a:solidFill>
                  <a:srgbClr val="FF0000"/>
                </a:solidFill>
                <a:latin typeface="宋体" pitchFamily="2" charset="-122"/>
                <a:cs typeface="等线" panose="02010600030101010101" charset="-122"/>
              </a:rPr>
              <a:t>（常量</a:t>
            </a:r>
            <a:r>
              <a:rPr lang="en-US" altLang="zh-CN" sz="3000" dirty="0">
                <a:solidFill>
                  <a:srgbClr val="FF0000"/>
                </a:solidFill>
                <a:latin typeface="宋体" pitchFamily="2" charset="-122"/>
                <a:cs typeface="等线" panose="02010600030101010101" charset="-122"/>
              </a:rPr>
              <a:t>1, </a:t>
            </a:r>
            <a:r>
              <a:rPr lang="zh-CN" altLang="en-US" sz="3000" dirty="0">
                <a:solidFill>
                  <a:srgbClr val="FF0000"/>
                </a:solidFill>
                <a:latin typeface="宋体" pitchFamily="2" charset="-122"/>
                <a:cs typeface="等线" panose="02010600030101010101" charset="-122"/>
              </a:rPr>
              <a:t>常量</a:t>
            </a:r>
            <a:r>
              <a:rPr lang="en-US" altLang="zh-CN" sz="3000" dirty="0">
                <a:solidFill>
                  <a:srgbClr val="FF0000"/>
                </a:solidFill>
                <a:latin typeface="宋体" pitchFamily="2" charset="-122"/>
                <a:cs typeface="等线" panose="02010600030101010101" charset="-122"/>
              </a:rPr>
              <a:t>2,…</a:t>
            </a:r>
            <a:r>
              <a:rPr lang="zh-CN" altLang="en-US" sz="3000" dirty="0">
                <a:solidFill>
                  <a:srgbClr val="FF0000"/>
                </a:solidFill>
                <a:latin typeface="宋体" pitchFamily="2" charset="-122"/>
                <a:cs typeface="等线" panose="02010600030101010101" charset="-122"/>
              </a:rPr>
              <a:t>常量</a:t>
            </a:r>
            <a:r>
              <a:rPr lang="en-US" altLang="zh-CN" sz="3000" dirty="0">
                <a:solidFill>
                  <a:srgbClr val="FF0000"/>
                </a:solidFill>
                <a:latin typeface="宋体" pitchFamily="2" charset="-122"/>
                <a:cs typeface="等线" panose="02010600030101010101" charset="-122"/>
              </a:rPr>
              <a:t>n</a:t>
            </a:r>
            <a:r>
              <a:rPr lang="zh-CN" altLang="en-US" sz="3000" dirty="0">
                <a:solidFill>
                  <a:srgbClr val="FF0000"/>
                </a:solidFill>
                <a:latin typeface="宋体" pitchFamily="2" charset="-122"/>
                <a:cs typeface="等线" panose="02010600030101010101" charset="-122"/>
              </a:rPr>
              <a:t>）</a:t>
            </a:r>
          </a:p>
          <a:p>
            <a:pPr eaLnBrk="1" hangingPunct="1">
              <a:spcBef>
                <a:spcPts val="1800"/>
              </a:spcBef>
            </a:pPr>
            <a:r>
              <a:rPr lang="en-US" altLang="zh-CN" sz="3000" dirty="0">
                <a:solidFill>
                  <a:srgbClr val="0000FF"/>
                </a:solidFill>
                <a:latin typeface="宋体" pitchFamily="2" charset="-122"/>
                <a:cs typeface="等线" panose="02010600030101010101" charset="-122"/>
              </a:rPr>
              <a:t>IN</a:t>
            </a:r>
            <a:r>
              <a:rPr lang="zh-CN" altLang="en-US" sz="3000" dirty="0">
                <a:latin typeface="宋体" pitchFamily="2" charset="-122"/>
                <a:cs typeface="等线" panose="02010600030101010101" charset="-122"/>
              </a:rPr>
              <a:t>：当列中的值与</a:t>
            </a:r>
            <a:r>
              <a:rPr lang="en-US" altLang="zh-CN" sz="3000" dirty="0">
                <a:latin typeface="宋体" pitchFamily="2" charset="-122"/>
                <a:cs typeface="等线" panose="02010600030101010101" charset="-122"/>
              </a:rPr>
              <a:t>IN</a:t>
            </a:r>
            <a:r>
              <a:rPr lang="zh-CN" altLang="en-US" sz="3000" dirty="0">
                <a:latin typeface="宋体" pitchFamily="2" charset="-122"/>
                <a:cs typeface="等线" panose="02010600030101010101" charset="-122"/>
              </a:rPr>
              <a:t>中的某个常量值相等时，则结果为</a:t>
            </a:r>
            <a:r>
              <a:rPr lang="en-US" altLang="zh-CN" sz="3000" dirty="0">
                <a:latin typeface="宋体" pitchFamily="2" charset="-122"/>
                <a:cs typeface="等线" panose="02010600030101010101" charset="-122"/>
              </a:rPr>
              <a:t>True</a:t>
            </a:r>
            <a:r>
              <a:rPr lang="zh-CN" altLang="en-US" sz="3000" dirty="0">
                <a:latin typeface="宋体" pitchFamily="2" charset="-122"/>
                <a:cs typeface="等线" panose="02010600030101010101" charset="-122"/>
              </a:rPr>
              <a:t>，表明此记录为符合查询条件的记录。</a:t>
            </a:r>
          </a:p>
          <a:p>
            <a:pPr eaLnBrk="1" hangingPunct="1">
              <a:spcBef>
                <a:spcPts val="1800"/>
              </a:spcBef>
            </a:pPr>
            <a:r>
              <a:rPr lang="en-US" altLang="zh-CN" sz="3000" dirty="0">
                <a:solidFill>
                  <a:srgbClr val="0000FF"/>
                </a:solidFill>
                <a:latin typeface="宋体" pitchFamily="2" charset="-122"/>
                <a:cs typeface="等线" panose="02010600030101010101" charset="-122"/>
              </a:rPr>
              <a:t>NOT IN</a:t>
            </a:r>
            <a:r>
              <a:rPr lang="zh-CN" altLang="en-US" sz="3000" dirty="0">
                <a:latin typeface="宋体" pitchFamily="2" charset="-122"/>
                <a:cs typeface="等线" panose="02010600030101010101" charset="-122"/>
              </a:rPr>
              <a:t>：当列中的值与某个常量值相等时，结果为</a:t>
            </a:r>
            <a:r>
              <a:rPr lang="en-US" altLang="zh-CN" sz="3000" dirty="0">
                <a:latin typeface="宋体" pitchFamily="2" charset="-122"/>
                <a:cs typeface="等线" panose="02010600030101010101" charset="-122"/>
              </a:rPr>
              <a:t>False</a:t>
            </a:r>
            <a:r>
              <a:rPr lang="zh-CN" altLang="en-US" sz="3000" dirty="0">
                <a:latin typeface="宋体" pitchFamily="2" charset="-122"/>
                <a:cs typeface="等线" panose="02010600030101010101" charset="-122"/>
              </a:rPr>
              <a:t>，表明此记录为不符合查询条件的记录。</a:t>
            </a: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p:cNvSpPr>
          <p:nvPr>
            <p:ph type="title"/>
          </p:nvPr>
        </p:nvSpPr>
        <p:spPr>
          <a:xfrm>
            <a:off x="500063" y="152400"/>
            <a:ext cx="8001000" cy="685800"/>
          </a:xfrm>
          <a:noFill/>
          <a:ln w="9525">
            <a:noFill/>
          </a:ln>
        </p:spPr>
        <p:txBody>
          <a:bodyPr vert="horz" wrap="square" lIns="91440" tIns="45720" rIns="91440" bIns="45720" rtlCol="0" anchor="ctr" anchorCtr="0">
            <a:normAutofit fontScale="90000"/>
          </a:bodyPr>
          <a:lstStyle/>
          <a:p>
            <a:pPr lvl="0" algn="ctr" eaLnBrk="1" hangingPunct="1">
              <a:buClrTx/>
              <a:buSzTx/>
              <a:buFontTx/>
            </a:pPr>
            <a:r>
              <a:rPr lang="zh-CN" altLang="en-US" sz="4000" b="0" dirty="0">
                <a:latin typeface="黑体" panose="02010609060101010101" pitchFamily="2" charset="-122"/>
                <a:ea typeface="黑体" panose="02010609060101010101" pitchFamily="2" charset="-122"/>
                <a:sym typeface="+mn-ea"/>
              </a:rPr>
              <a:t>示例</a:t>
            </a:r>
          </a:p>
        </p:txBody>
      </p:sp>
      <p:sp>
        <p:nvSpPr>
          <p:cNvPr id="21507" name="Rectangle 3"/>
          <p:cNvSpPr>
            <a:spLocks noGrp="1"/>
          </p:cNvSpPr>
          <p:nvPr>
            <p:ph idx="1"/>
          </p:nvPr>
        </p:nvSpPr>
        <p:spPr>
          <a:xfrm>
            <a:off x="285750" y="1214438"/>
            <a:ext cx="8572500" cy="5167312"/>
          </a:xfrm>
        </p:spPr>
        <p:txBody>
          <a:bodyPr vert="horz" wrap="square" lIns="91440" tIns="45720" rIns="91440" bIns="45720" anchor="t" anchorCtr="0"/>
          <a:lstStyle/>
          <a:p>
            <a:pPr marL="0" indent="0" eaLnBrk="1" hangingPunct="1">
              <a:spcBef>
                <a:spcPts val="200"/>
              </a:spcBef>
              <a:buNone/>
            </a:pPr>
            <a:r>
              <a:rPr lang="zh-CN" altLang="en-US" sz="3200" dirty="0" smtClean="0">
                <a:latin typeface="宋体" pitchFamily="2" charset="-122"/>
                <a:cs typeface="等线" panose="02010600030101010101" charset="-122"/>
              </a:rPr>
              <a:t>例</a:t>
            </a:r>
            <a:r>
              <a:rPr lang="en-US" altLang="zh-CN" sz="3200" dirty="0" smtClean="0"/>
              <a:t>4.13</a:t>
            </a:r>
            <a:r>
              <a:rPr lang="en-US" altLang="zh-CN" sz="3200" dirty="0" smtClean="0">
                <a:latin typeface="宋体" pitchFamily="2" charset="-122"/>
                <a:cs typeface="等线" panose="02010600030101010101" charset="-122"/>
              </a:rPr>
              <a:t> </a:t>
            </a:r>
            <a:r>
              <a:rPr lang="zh-CN" altLang="en-US" sz="3200" dirty="0" smtClean="0">
                <a:latin typeface="宋体" pitchFamily="2" charset="-122"/>
                <a:cs typeface="等线" panose="02010600030101010101" charset="-122"/>
              </a:rPr>
              <a:t>查询</a:t>
            </a:r>
            <a:r>
              <a:rPr lang="zh-CN" altLang="en-US" sz="3200" dirty="0">
                <a:latin typeface="宋体" pitchFamily="2" charset="-122"/>
                <a:cs typeface="等线" panose="02010600030101010101" charset="-122"/>
              </a:rPr>
              <a:t>信息管理系、通信工程系和计算机系学生的姓名和性别。</a:t>
            </a:r>
          </a:p>
          <a:p>
            <a:pPr lvl="1" eaLnBrk="1" hangingPunct="1">
              <a:spcBef>
                <a:spcPts val="200"/>
              </a:spcBef>
              <a:buFont typeface="Wingdings" panose="05000000000000000000" pitchFamily="2" charset="2"/>
              <a:buNone/>
            </a:pPr>
            <a:r>
              <a:rPr lang="en-US" altLang="zh-CN" sz="2800" dirty="0">
                <a:solidFill>
                  <a:srgbClr val="0000FF"/>
                </a:solidFill>
                <a:latin typeface="宋体" pitchFamily="2" charset="-122"/>
                <a:cs typeface="等线" panose="02010600030101010101" charset="-122"/>
              </a:rPr>
              <a:t>SELECT Sname, Ssex  FROM Student </a:t>
            </a:r>
          </a:p>
          <a:p>
            <a:pPr lvl="1" eaLnBrk="1" hangingPunct="1">
              <a:spcBef>
                <a:spcPts val="200"/>
              </a:spcBef>
              <a:buFont typeface="Wingdings" panose="05000000000000000000" pitchFamily="2" charset="2"/>
              <a:buNone/>
            </a:pPr>
            <a:r>
              <a:rPr lang="en-US" altLang="zh-CN" sz="2800" dirty="0">
                <a:solidFill>
                  <a:srgbClr val="0000FF"/>
                </a:solidFill>
                <a:latin typeface="宋体" pitchFamily="2" charset="-122"/>
                <a:cs typeface="等线" panose="02010600030101010101" charset="-122"/>
              </a:rPr>
              <a:t>  WHERE Sdept </a:t>
            </a:r>
            <a:r>
              <a:rPr lang="en-US" altLang="zh-CN" sz="2800" dirty="0">
                <a:solidFill>
                  <a:srgbClr val="FF0000"/>
                </a:solidFill>
                <a:latin typeface="宋体" pitchFamily="2" charset="-122"/>
                <a:cs typeface="等线" panose="02010600030101010101" charset="-122"/>
              </a:rPr>
              <a:t>IN</a:t>
            </a:r>
            <a:r>
              <a:rPr lang="en-US" altLang="zh-CN" sz="2800" dirty="0">
                <a:solidFill>
                  <a:srgbClr val="0000FF"/>
                </a:solidFill>
                <a:latin typeface="宋体" pitchFamily="2" charset="-122"/>
                <a:cs typeface="等线" panose="02010600030101010101" charset="-122"/>
              </a:rPr>
              <a:t> ('</a:t>
            </a:r>
            <a:r>
              <a:rPr lang="zh-CN" altLang="en-US" sz="2800" dirty="0">
                <a:solidFill>
                  <a:srgbClr val="0000FF"/>
                </a:solidFill>
                <a:latin typeface="宋体" pitchFamily="2" charset="-122"/>
                <a:cs typeface="等线" panose="02010600030101010101" charset="-122"/>
              </a:rPr>
              <a:t>信息管理系</a:t>
            </a:r>
            <a:r>
              <a:rPr lang="en-US" altLang="zh-CN" sz="2800" dirty="0">
                <a:solidFill>
                  <a:srgbClr val="0000FF"/>
                </a:solidFill>
                <a:latin typeface="宋体" pitchFamily="2" charset="-122"/>
                <a:cs typeface="等线" panose="02010600030101010101" charset="-122"/>
              </a:rPr>
              <a:t>', '</a:t>
            </a:r>
            <a:r>
              <a:rPr lang="zh-CN" altLang="en-US" sz="2800" dirty="0">
                <a:solidFill>
                  <a:srgbClr val="0000FF"/>
                </a:solidFill>
                <a:latin typeface="宋体" pitchFamily="2" charset="-122"/>
                <a:cs typeface="等线" panose="02010600030101010101" charset="-122"/>
              </a:rPr>
              <a:t>通信工程系</a:t>
            </a:r>
            <a:r>
              <a:rPr lang="en-US" altLang="zh-CN" sz="2800" dirty="0">
                <a:solidFill>
                  <a:srgbClr val="0000FF"/>
                </a:solidFill>
                <a:latin typeface="宋体" pitchFamily="2" charset="-122"/>
                <a:cs typeface="等线" panose="02010600030101010101" charset="-122"/>
              </a:rPr>
              <a:t>', </a:t>
            </a:r>
          </a:p>
          <a:p>
            <a:pPr lvl="1" eaLnBrk="1" hangingPunct="1">
              <a:spcBef>
                <a:spcPts val="200"/>
              </a:spcBef>
              <a:buFont typeface="Wingdings" panose="05000000000000000000" pitchFamily="2" charset="2"/>
              <a:buNone/>
            </a:pPr>
            <a:r>
              <a:rPr lang="en-US" altLang="zh-CN" sz="2800" dirty="0">
                <a:solidFill>
                  <a:srgbClr val="0000FF"/>
                </a:solidFill>
                <a:latin typeface="宋体" pitchFamily="2" charset="-122"/>
                <a:cs typeface="等线" panose="02010600030101010101" charset="-122"/>
              </a:rPr>
              <a:t>      '</a:t>
            </a:r>
            <a:r>
              <a:rPr lang="zh-CN" altLang="en-US" sz="2800" dirty="0">
                <a:solidFill>
                  <a:srgbClr val="0000FF"/>
                </a:solidFill>
                <a:latin typeface="宋体" pitchFamily="2" charset="-122"/>
                <a:cs typeface="等线" panose="02010600030101010101" charset="-122"/>
              </a:rPr>
              <a:t>计算机系</a:t>
            </a:r>
            <a:r>
              <a:rPr lang="en-US" altLang="zh-CN" sz="2800" dirty="0">
                <a:solidFill>
                  <a:srgbClr val="0000FF"/>
                </a:solidFill>
                <a:latin typeface="宋体" pitchFamily="2" charset="-122"/>
                <a:cs typeface="等线" panose="02010600030101010101" charset="-122"/>
              </a:rPr>
              <a:t>')</a:t>
            </a:r>
            <a:endParaRPr lang="en-US" altLang="zh-CN" dirty="0">
              <a:solidFill>
                <a:srgbClr val="0000FF"/>
              </a:solidFill>
              <a:latin typeface="宋体" pitchFamily="2" charset="-122"/>
              <a:cs typeface="等线" panose="02010600030101010101" charset="-122"/>
            </a:endParaRPr>
          </a:p>
          <a:p>
            <a:pPr eaLnBrk="1" hangingPunct="1">
              <a:spcBef>
                <a:spcPts val="200"/>
              </a:spcBef>
            </a:pPr>
            <a:r>
              <a:rPr lang="zh-CN" altLang="en-US" sz="2800" dirty="0">
                <a:latin typeface="宋体" pitchFamily="2" charset="-122"/>
                <a:cs typeface="等线" panose="02010600030101010101" charset="-122"/>
              </a:rPr>
              <a:t>等价于：</a:t>
            </a:r>
          </a:p>
          <a:p>
            <a:pPr lvl="1" eaLnBrk="1" hangingPunct="1">
              <a:spcBef>
                <a:spcPts val="200"/>
              </a:spcBef>
              <a:buFont typeface="Wingdings" panose="05000000000000000000" pitchFamily="2" charset="2"/>
              <a:buNone/>
            </a:pPr>
            <a:r>
              <a:rPr lang="en-US" altLang="zh-CN" sz="2800" dirty="0">
                <a:solidFill>
                  <a:srgbClr val="0000FF"/>
                </a:solidFill>
                <a:latin typeface="宋体" pitchFamily="2" charset="-122"/>
                <a:cs typeface="等线" panose="02010600030101010101" charset="-122"/>
              </a:rPr>
              <a:t>SELECT Sname, Ssex  FROM Student </a:t>
            </a:r>
          </a:p>
          <a:p>
            <a:pPr lvl="1" eaLnBrk="1" hangingPunct="1">
              <a:spcBef>
                <a:spcPts val="200"/>
              </a:spcBef>
              <a:buFont typeface="Wingdings" panose="05000000000000000000" pitchFamily="2" charset="2"/>
              <a:buNone/>
            </a:pPr>
            <a:r>
              <a:rPr lang="en-US" altLang="zh-CN" sz="2800" dirty="0">
                <a:solidFill>
                  <a:srgbClr val="0000FF"/>
                </a:solidFill>
                <a:latin typeface="宋体" pitchFamily="2" charset="-122"/>
                <a:cs typeface="等线" panose="02010600030101010101" charset="-122"/>
              </a:rPr>
              <a:t>WHERE Sdept = '</a:t>
            </a:r>
            <a:r>
              <a:rPr lang="zh-CN" altLang="en-US" sz="2800" dirty="0">
                <a:solidFill>
                  <a:srgbClr val="0000FF"/>
                </a:solidFill>
                <a:latin typeface="宋体" pitchFamily="2" charset="-122"/>
                <a:cs typeface="等线" panose="02010600030101010101" charset="-122"/>
              </a:rPr>
              <a:t>信息管理系</a:t>
            </a:r>
            <a:r>
              <a:rPr lang="en-US" altLang="zh-CN" sz="2800" dirty="0">
                <a:solidFill>
                  <a:srgbClr val="0000FF"/>
                </a:solidFill>
                <a:latin typeface="宋体" pitchFamily="2" charset="-122"/>
                <a:cs typeface="等线" panose="02010600030101010101" charset="-122"/>
              </a:rPr>
              <a:t>'</a:t>
            </a:r>
          </a:p>
          <a:p>
            <a:pPr lvl="1" eaLnBrk="1" hangingPunct="1">
              <a:spcBef>
                <a:spcPts val="200"/>
              </a:spcBef>
              <a:buFont typeface="Wingdings" panose="05000000000000000000" pitchFamily="2" charset="2"/>
              <a:buNone/>
            </a:pPr>
            <a:r>
              <a:rPr lang="en-US" altLang="zh-CN" sz="2800" dirty="0">
                <a:solidFill>
                  <a:srgbClr val="0000FF"/>
                </a:solidFill>
                <a:latin typeface="宋体" pitchFamily="2" charset="-122"/>
                <a:cs typeface="等线" panose="02010600030101010101" charset="-122"/>
              </a:rPr>
              <a:t>        OR Sdept = '</a:t>
            </a:r>
            <a:r>
              <a:rPr lang="zh-CN" altLang="en-US" sz="2800" dirty="0">
                <a:solidFill>
                  <a:srgbClr val="0000FF"/>
                </a:solidFill>
                <a:latin typeface="宋体" pitchFamily="2" charset="-122"/>
                <a:cs typeface="等线" panose="02010600030101010101" charset="-122"/>
              </a:rPr>
              <a:t>通信工程系</a:t>
            </a:r>
            <a:r>
              <a:rPr lang="en-US" altLang="zh-CN" sz="2800" dirty="0">
                <a:solidFill>
                  <a:srgbClr val="0000FF"/>
                </a:solidFill>
                <a:latin typeface="宋体" pitchFamily="2" charset="-122"/>
                <a:cs typeface="等线" panose="02010600030101010101" charset="-122"/>
              </a:rPr>
              <a:t>'</a:t>
            </a:r>
          </a:p>
          <a:p>
            <a:pPr lvl="1" eaLnBrk="1" hangingPunct="1">
              <a:spcBef>
                <a:spcPts val="200"/>
              </a:spcBef>
              <a:buFont typeface="Wingdings" panose="05000000000000000000" pitchFamily="2" charset="2"/>
              <a:buNone/>
            </a:pPr>
            <a:r>
              <a:rPr lang="en-US" altLang="zh-CN" sz="2800" dirty="0">
                <a:solidFill>
                  <a:srgbClr val="0000FF"/>
                </a:solidFill>
                <a:latin typeface="宋体" pitchFamily="2" charset="-122"/>
                <a:cs typeface="等线" panose="02010600030101010101" charset="-122"/>
              </a:rPr>
              <a:t>        OR Sdept = '</a:t>
            </a:r>
            <a:r>
              <a:rPr lang="zh-CN" altLang="en-US" sz="2800" dirty="0">
                <a:solidFill>
                  <a:srgbClr val="0000FF"/>
                </a:solidFill>
                <a:latin typeface="宋体" pitchFamily="2" charset="-122"/>
                <a:cs typeface="等线" panose="02010600030101010101" charset="-122"/>
              </a:rPr>
              <a:t>计算机系</a:t>
            </a:r>
            <a:r>
              <a:rPr lang="en-US" altLang="zh-CN" sz="2800" dirty="0">
                <a:solidFill>
                  <a:srgbClr val="0000FF"/>
                </a:solidFill>
                <a:latin typeface="宋体" pitchFamily="2" charset="-122"/>
                <a:cs typeface="等线" panose="02010600030101010101" charset="-122"/>
              </a:rPr>
              <a:t>' </a:t>
            </a:r>
            <a:endParaRPr lang="zh-CN" altLang="en-US" sz="2800" dirty="0">
              <a:solidFill>
                <a:srgbClr val="0000FF"/>
              </a:solidFill>
              <a:latin typeface="宋体" pitchFamily="2" charset="-122"/>
              <a:cs typeface="等线" panose="02010600030101010101" charset="-122"/>
            </a:endParaRP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p:cNvSpPr>
          <p:nvPr>
            <p:ph type="title"/>
          </p:nvPr>
        </p:nvSpPr>
        <p:spPr>
          <a:xfrm>
            <a:off x="500063" y="152400"/>
            <a:ext cx="8001000" cy="685800"/>
          </a:xfrm>
          <a:noFill/>
          <a:ln w="9525">
            <a:noFill/>
          </a:ln>
        </p:spPr>
        <p:txBody>
          <a:bodyPr vert="horz" wrap="square" lIns="91440" tIns="45720" rIns="91440" bIns="45720" rtlCol="0" anchor="ctr" anchorCtr="0">
            <a:normAutofit fontScale="90000"/>
          </a:bodyPr>
          <a:lstStyle/>
          <a:p>
            <a:pPr lvl="0" algn="ctr" eaLnBrk="1" hangingPunct="1">
              <a:buClrTx/>
              <a:buSzTx/>
              <a:buFontTx/>
            </a:pPr>
            <a:r>
              <a:rPr lang="zh-CN" altLang="en-US" sz="4000" b="0" dirty="0">
                <a:latin typeface="黑体" panose="02010609060101010101" pitchFamily="2" charset="-122"/>
                <a:ea typeface="黑体" panose="02010609060101010101" pitchFamily="2" charset="-122"/>
                <a:sym typeface="+mn-ea"/>
              </a:rPr>
              <a:t>示例（续）</a:t>
            </a:r>
          </a:p>
        </p:txBody>
      </p:sp>
      <p:sp>
        <p:nvSpPr>
          <p:cNvPr id="22531" name="Rectangle 3"/>
          <p:cNvSpPr>
            <a:spLocks noGrp="1"/>
          </p:cNvSpPr>
          <p:nvPr>
            <p:ph idx="1"/>
          </p:nvPr>
        </p:nvSpPr>
        <p:spPr>
          <a:xfrm>
            <a:off x="323528" y="1196752"/>
            <a:ext cx="8329613" cy="5095875"/>
          </a:xfrm>
        </p:spPr>
        <p:txBody>
          <a:bodyPr vert="horz" wrap="square" lIns="91440" tIns="45720" rIns="91440" bIns="45720" anchor="t" anchorCtr="0"/>
          <a:lstStyle/>
          <a:p>
            <a:pPr marL="0" indent="0" eaLnBrk="1" hangingPunct="1">
              <a:lnSpc>
                <a:spcPct val="110000"/>
              </a:lnSpc>
              <a:spcBef>
                <a:spcPts val="200"/>
              </a:spcBef>
              <a:spcAft>
                <a:spcPts val="0"/>
              </a:spcAft>
              <a:buNone/>
            </a:pPr>
            <a:r>
              <a:rPr lang="zh-CN" altLang="en-US" sz="3200" dirty="0" smtClean="0">
                <a:latin typeface="宋体" pitchFamily="2" charset="-122"/>
                <a:cs typeface="等线" panose="02010600030101010101" charset="-122"/>
              </a:rPr>
              <a:t>例</a:t>
            </a:r>
            <a:r>
              <a:rPr lang="en-US" altLang="zh-CN" sz="3200" dirty="0" smtClean="0"/>
              <a:t>4.14 </a:t>
            </a:r>
            <a:r>
              <a:rPr lang="zh-CN" altLang="en-US" sz="3200" dirty="0" smtClean="0">
                <a:latin typeface="宋体" pitchFamily="2" charset="-122"/>
                <a:cs typeface="等线" panose="02010600030101010101" charset="-122"/>
              </a:rPr>
              <a:t>查询</a:t>
            </a:r>
            <a:r>
              <a:rPr lang="zh-CN" altLang="en-US" sz="3200" dirty="0">
                <a:latin typeface="宋体" pitchFamily="2" charset="-122"/>
                <a:cs typeface="等线" panose="02010600030101010101" charset="-122"/>
              </a:rPr>
              <a:t>不在第2、4、6学期开设的课程的课程名和开课学期。</a:t>
            </a:r>
          </a:p>
          <a:p>
            <a:pPr lvl="1" eaLnBrk="1" hangingPunct="1">
              <a:lnSpc>
                <a:spcPct val="110000"/>
              </a:lnSpc>
              <a:spcBef>
                <a:spcPts val="200"/>
              </a:spcBef>
              <a:spcAft>
                <a:spcPts val="0"/>
              </a:spcAft>
              <a:buFont typeface="Wingdings" panose="05000000000000000000" pitchFamily="2" charset="2"/>
              <a:buNone/>
            </a:pPr>
            <a:r>
              <a:rPr lang="en-US" altLang="zh-CN" dirty="0">
                <a:solidFill>
                  <a:srgbClr val="0000FF"/>
                </a:solidFill>
                <a:latin typeface="宋体" pitchFamily="2" charset="-122"/>
                <a:cs typeface="等线" panose="02010600030101010101" charset="-122"/>
              </a:rPr>
              <a:t>SELECT Cname, Semester FROM Course</a:t>
            </a:r>
          </a:p>
          <a:p>
            <a:pPr lvl="1" eaLnBrk="1" hangingPunct="1">
              <a:lnSpc>
                <a:spcPct val="110000"/>
              </a:lnSpc>
              <a:spcBef>
                <a:spcPts val="200"/>
              </a:spcBef>
              <a:spcAft>
                <a:spcPts val="0"/>
              </a:spcAft>
              <a:buFont typeface="Wingdings" panose="05000000000000000000" pitchFamily="2" charset="2"/>
              <a:buNone/>
            </a:pPr>
            <a:r>
              <a:rPr lang="en-US" altLang="zh-CN" dirty="0">
                <a:solidFill>
                  <a:srgbClr val="0000FF"/>
                </a:solidFill>
                <a:latin typeface="宋体" pitchFamily="2" charset="-122"/>
                <a:cs typeface="等线" panose="02010600030101010101" charset="-122"/>
              </a:rPr>
              <a:t>  WHERE Semester NOT </a:t>
            </a:r>
            <a:r>
              <a:rPr lang="en-US" altLang="zh-CN" dirty="0" smtClean="0">
                <a:solidFill>
                  <a:srgbClr val="0000FF"/>
                </a:solidFill>
                <a:latin typeface="宋体" pitchFamily="2" charset="-122"/>
                <a:cs typeface="等线" panose="02010600030101010101" charset="-122"/>
              </a:rPr>
              <a:t>IN(2,4,6)</a:t>
            </a:r>
            <a:endParaRPr lang="en-US" altLang="zh-CN" dirty="0">
              <a:solidFill>
                <a:srgbClr val="0000FF"/>
              </a:solidFill>
              <a:latin typeface="宋体" pitchFamily="2" charset="-122"/>
              <a:cs typeface="等线" panose="02010600030101010101" charset="-122"/>
            </a:endParaRPr>
          </a:p>
          <a:p>
            <a:pPr eaLnBrk="1" hangingPunct="1">
              <a:lnSpc>
                <a:spcPct val="110000"/>
              </a:lnSpc>
              <a:spcBef>
                <a:spcPts val="200"/>
              </a:spcBef>
              <a:spcAft>
                <a:spcPts val="0"/>
              </a:spcAft>
            </a:pPr>
            <a:r>
              <a:rPr lang="zh-CN" altLang="en-US" sz="3200" dirty="0">
                <a:latin typeface="宋体" pitchFamily="2" charset="-122"/>
                <a:cs typeface="等线" panose="02010600030101010101" charset="-122"/>
              </a:rPr>
              <a:t>等价于：</a:t>
            </a:r>
          </a:p>
          <a:p>
            <a:pPr lvl="1" eaLnBrk="1" hangingPunct="1">
              <a:lnSpc>
                <a:spcPct val="105000"/>
              </a:lnSpc>
              <a:spcBef>
                <a:spcPts val="200"/>
              </a:spcBef>
              <a:spcAft>
                <a:spcPts val="0"/>
              </a:spcAft>
              <a:buFont typeface="Wingdings" panose="05000000000000000000" pitchFamily="2" charset="2"/>
              <a:buNone/>
            </a:pPr>
            <a:r>
              <a:rPr lang="en-US" altLang="zh-CN" dirty="0">
                <a:solidFill>
                  <a:srgbClr val="0000FF"/>
                </a:solidFill>
                <a:latin typeface="宋体" pitchFamily="2" charset="-122"/>
                <a:cs typeface="等线" panose="02010600030101010101" charset="-122"/>
              </a:rPr>
              <a:t>SELECT Cname, Semester FROM Course</a:t>
            </a:r>
          </a:p>
          <a:p>
            <a:pPr lvl="1" eaLnBrk="1" hangingPunct="1">
              <a:lnSpc>
                <a:spcPct val="105000"/>
              </a:lnSpc>
              <a:spcBef>
                <a:spcPts val="200"/>
              </a:spcBef>
              <a:spcAft>
                <a:spcPts val="0"/>
              </a:spcAft>
              <a:buFont typeface="Wingdings" panose="05000000000000000000" pitchFamily="2" charset="2"/>
              <a:buNone/>
            </a:pPr>
            <a:r>
              <a:rPr lang="en-US" altLang="zh-CN" dirty="0">
                <a:solidFill>
                  <a:srgbClr val="0000FF"/>
                </a:solidFill>
                <a:latin typeface="宋体" pitchFamily="2" charset="-122"/>
                <a:cs typeface="等线" panose="02010600030101010101" charset="-122"/>
              </a:rPr>
              <a:t>WHERE </a:t>
            </a:r>
            <a:r>
              <a:rPr lang="en-US" altLang="zh-CN" dirty="0" smtClean="0">
                <a:solidFill>
                  <a:srgbClr val="0000FF"/>
                </a:solidFill>
                <a:latin typeface="宋体" pitchFamily="2" charset="-122"/>
                <a:cs typeface="等线" panose="02010600030101010101" charset="-122"/>
              </a:rPr>
              <a:t>Semester !=2 </a:t>
            </a:r>
            <a:endParaRPr lang="en-US" altLang="zh-CN" dirty="0">
              <a:solidFill>
                <a:srgbClr val="0000FF"/>
              </a:solidFill>
              <a:latin typeface="宋体" pitchFamily="2" charset="-122"/>
              <a:cs typeface="等线" panose="02010600030101010101" charset="-122"/>
            </a:endParaRPr>
          </a:p>
          <a:p>
            <a:pPr lvl="1" eaLnBrk="1" hangingPunct="1">
              <a:lnSpc>
                <a:spcPct val="105000"/>
              </a:lnSpc>
              <a:spcBef>
                <a:spcPts val="200"/>
              </a:spcBef>
              <a:spcAft>
                <a:spcPts val="0"/>
              </a:spcAft>
              <a:buFont typeface="Wingdings" panose="05000000000000000000" pitchFamily="2" charset="2"/>
              <a:buNone/>
            </a:pPr>
            <a:r>
              <a:rPr lang="en-US" altLang="zh-CN" dirty="0">
                <a:solidFill>
                  <a:srgbClr val="0000FF"/>
                </a:solidFill>
                <a:latin typeface="宋体" pitchFamily="2" charset="-122"/>
                <a:cs typeface="等线" panose="02010600030101010101" charset="-122"/>
              </a:rPr>
              <a:t>    AND </a:t>
            </a:r>
            <a:r>
              <a:rPr lang="en-US" altLang="zh-CN" dirty="0" smtClean="0">
                <a:solidFill>
                  <a:srgbClr val="0000FF"/>
                </a:solidFill>
                <a:latin typeface="宋体" pitchFamily="2" charset="-122"/>
                <a:cs typeface="等线" panose="02010600030101010101" charset="-122"/>
              </a:rPr>
              <a:t>Semester !=4 </a:t>
            </a:r>
            <a:endParaRPr lang="en-US" altLang="zh-CN" dirty="0">
              <a:solidFill>
                <a:srgbClr val="0000FF"/>
              </a:solidFill>
              <a:latin typeface="宋体" pitchFamily="2" charset="-122"/>
              <a:cs typeface="等线" panose="02010600030101010101" charset="-122"/>
            </a:endParaRPr>
          </a:p>
          <a:p>
            <a:pPr lvl="1" eaLnBrk="1" hangingPunct="1">
              <a:lnSpc>
                <a:spcPct val="105000"/>
              </a:lnSpc>
              <a:spcBef>
                <a:spcPts val="200"/>
              </a:spcBef>
              <a:spcAft>
                <a:spcPts val="0"/>
              </a:spcAft>
              <a:buFont typeface="Wingdings" panose="05000000000000000000" pitchFamily="2" charset="2"/>
              <a:buNone/>
            </a:pPr>
            <a:r>
              <a:rPr lang="en-US" altLang="zh-CN" dirty="0">
                <a:solidFill>
                  <a:srgbClr val="0000FF"/>
                </a:solidFill>
                <a:latin typeface="宋体" pitchFamily="2" charset="-122"/>
                <a:cs typeface="等线" panose="02010600030101010101" charset="-122"/>
              </a:rPr>
              <a:t>    AND </a:t>
            </a:r>
            <a:r>
              <a:rPr lang="en-US" altLang="zh-CN" dirty="0" smtClean="0">
                <a:solidFill>
                  <a:srgbClr val="0000FF"/>
                </a:solidFill>
                <a:latin typeface="宋体" pitchFamily="2" charset="-122"/>
                <a:cs typeface="等线" panose="02010600030101010101" charset="-122"/>
              </a:rPr>
              <a:t>Semester !=6</a:t>
            </a:r>
            <a:r>
              <a:rPr lang="en-US" altLang="zh-CN" dirty="0" smtClean="0">
                <a:latin typeface="宋体" pitchFamily="2" charset="-122"/>
                <a:cs typeface="等线" panose="02010600030101010101" charset="-122"/>
              </a:rPr>
              <a:t> </a:t>
            </a:r>
            <a:endParaRPr lang="zh-CN" altLang="en-US" dirty="0">
              <a:latin typeface="宋体" pitchFamily="2" charset="-122"/>
              <a:cs typeface="等线" panose="02010600030101010101" charset="-122"/>
            </a:endParaRPr>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p:cNvSpPr>
          <p:nvPr>
            <p:ph type="title"/>
          </p:nvPr>
        </p:nvSpPr>
        <p:spPr>
          <a:xfrm>
            <a:off x="500063" y="152400"/>
            <a:ext cx="8001000" cy="685800"/>
          </a:xfrm>
          <a:noFill/>
          <a:ln w="9525">
            <a:noFill/>
          </a:ln>
        </p:spPr>
        <p:txBody>
          <a:bodyPr vert="horz" wrap="square" lIns="91440" tIns="45720" rIns="91440" bIns="45720" rtlCol="0" anchor="ctr" anchorCtr="0">
            <a:normAutofit fontScale="90000"/>
          </a:bodyPr>
          <a:lstStyle/>
          <a:p>
            <a:pPr lvl="0" algn="ctr" eaLnBrk="1" hangingPunct="1">
              <a:buClrTx/>
              <a:buSzTx/>
              <a:buFontTx/>
            </a:pPr>
            <a:r>
              <a:rPr lang="zh-CN" altLang="en-US" sz="4000" b="0" dirty="0">
                <a:latin typeface="黑体" panose="02010609060101010101" pitchFamily="2" charset="-122"/>
                <a:ea typeface="黑体" panose="02010609060101010101" pitchFamily="2" charset="-122"/>
                <a:sym typeface="+mn-ea"/>
              </a:rPr>
              <a:t>字符匹配</a:t>
            </a:r>
          </a:p>
        </p:txBody>
      </p:sp>
      <p:sp>
        <p:nvSpPr>
          <p:cNvPr id="23555" name="Rectangle 3"/>
          <p:cNvSpPr>
            <a:spLocks noGrp="1"/>
          </p:cNvSpPr>
          <p:nvPr>
            <p:ph idx="1"/>
          </p:nvPr>
        </p:nvSpPr>
        <p:spPr>
          <a:xfrm>
            <a:off x="269875" y="1143000"/>
            <a:ext cx="8516938" cy="5143500"/>
          </a:xfrm>
        </p:spPr>
        <p:txBody>
          <a:bodyPr vert="horz" wrap="square" lIns="91440" tIns="45720" rIns="91440" bIns="45720" anchor="t" anchorCtr="0"/>
          <a:lstStyle/>
          <a:p>
            <a:pPr eaLnBrk="1" hangingPunct="1">
              <a:spcBef>
                <a:spcPts val="600"/>
              </a:spcBef>
            </a:pPr>
            <a:r>
              <a:rPr lang="zh-CN" altLang="en-US" sz="3000" dirty="0">
                <a:latin typeface="宋体" pitchFamily="2" charset="-122"/>
                <a:cs typeface="等线" panose="02010600030101010101" charset="-122"/>
              </a:rPr>
              <a:t>一般形式为：</a:t>
            </a:r>
          </a:p>
          <a:p>
            <a:pPr eaLnBrk="1" hangingPunct="1">
              <a:spcBef>
                <a:spcPts val="600"/>
              </a:spcBef>
              <a:buFont typeface="Wingdings" panose="05000000000000000000" pitchFamily="2" charset="2"/>
              <a:buNone/>
            </a:pPr>
            <a:r>
              <a:rPr lang="zh-CN" altLang="en-US" sz="3000" dirty="0">
                <a:latin typeface="宋体" pitchFamily="2" charset="-122"/>
                <a:cs typeface="等线" panose="02010600030101010101" charset="-122"/>
              </a:rPr>
              <a:t>	  </a:t>
            </a:r>
            <a:r>
              <a:rPr lang="zh-CN" altLang="en-US" sz="3000" dirty="0">
                <a:solidFill>
                  <a:srgbClr val="FF0000"/>
                </a:solidFill>
                <a:latin typeface="宋体" pitchFamily="2" charset="-122"/>
                <a:cs typeface="等线" panose="02010600030101010101" charset="-122"/>
              </a:rPr>
              <a:t>列名  </a:t>
            </a:r>
            <a:r>
              <a:rPr lang="en-US" altLang="zh-CN" sz="3000" dirty="0">
                <a:solidFill>
                  <a:srgbClr val="FF0000"/>
                </a:solidFill>
                <a:latin typeface="宋体" pitchFamily="2" charset="-122"/>
                <a:cs typeface="等线" panose="02010600030101010101" charset="-122"/>
              </a:rPr>
              <a:t>[NOT ]  LIKE  &lt;</a:t>
            </a:r>
            <a:r>
              <a:rPr lang="zh-CN" altLang="en-US" sz="3000" dirty="0">
                <a:solidFill>
                  <a:srgbClr val="FF0000"/>
                </a:solidFill>
                <a:latin typeface="宋体" pitchFamily="2" charset="-122"/>
                <a:cs typeface="等线" panose="02010600030101010101" charset="-122"/>
              </a:rPr>
              <a:t>匹配串</a:t>
            </a:r>
            <a:r>
              <a:rPr lang="en-US" altLang="zh-CN" sz="3000" dirty="0">
                <a:solidFill>
                  <a:srgbClr val="FF0000"/>
                </a:solidFill>
                <a:latin typeface="宋体" pitchFamily="2" charset="-122"/>
                <a:cs typeface="等线" panose="02010600030101010101" charset="-122"/>
              </a:rPr>
              <a:t>&gt;</a:t>
            </a:r>
          </a:p>
          <a:p>
            <a:pPr eaLnBrk="1" hangingPunct="1">
              <a:spcBef>
                <a:spcPts val="1800"/>
              </a:spcBef>
            </a:pPr>
            <a:r>
              <a:rPr lang="zh-CN" altLang="en-US" sz="3000" dirty="0">
                <a:latin typeface="宋体" pitchFamily="2" charset="-122"/>
                <a:cs typeface="等线" panose="02010600030101010101" charset="-122"/>
              </a:rPr>
              <a:t>匹配串中可包含如下四种通配符：</a:t>
            </a:r>
          </a:p>
          <a:p>
            <a:pPr lvl="1" eaLnBrk="1" hangingPunct="1">
              <a:spcBef>
                <a:spcPts val="1200"/>
              </a:spcBef>
            </a:pPr>
            <a:r>
              <a:rPr lang="en-US" altLang="zh-CN" sz="3000" dirty="0">
                <a:solidFill>
                  <a:srgbClr val="FF0000"/>
                </a:solidFill>
                <a:latin typeface="宋体" pitchFamily="2" charset="-122"/>
                <a:cs typeface="等线" panose="02010600030101010101" charset="-122"/>
              </a:rPr>
              <a:t>_</a:t>
            </a:r>
            <a:r>
              <a:rPr lang="zh-CN" altLang="en-US" sz="3000" dirty="0">
                <a:latin typeface="宋体" pitchFamily="2" charset="-122"/>
                <a:cs typeface="等线" panose="02010600030101010101" charset="-122"/>
              </a:rPr>
              <a:t>：匹配任意一个字符；</a:t>
            </a:r>
          </a:p>
          <a:p>
            <a:pPr lvl="1" eaLnBrk="1" hangingPunct="1">
              <a:spcBef>
                <a:spcPts val="1200"/>
              </a:spcBef>
            </a:pPr>
            <a:r>
              <a:rPr lang="en-US" altLang="zh-CN" sz="3000" dirty="0">
                <a:solidFill>
                  <a:srgbClr val="FF0000"/>
                </a:solidFill>
                <a:latin typeface="宋体" pitchFamily="2" charset="-122"/>
                <a:cs typeface="等线" panose="02010600030101010101" charset="-122"/>
              </a:rPr>
              <a:t>%</a:t>
            </a:r>
            <a:r>
              <a:rPr lang="zh-CN" altLang="en-US" sz="3000" dirty="0">
                <a:latin typeface="宋体" pitchFamily="2" charset="-122"/>
                <a:cs typeface="等线" panose="02010600030101010101" charset="-122"/>
              </a:rPr>
              <a:t>：匹配</a:t>
            </a:r>
            <a:r>
              <a:rPr lang="en-US" altLang="zh-CN" sz="3000" dirty="0">
                <a:latin typeface="宋体" pitchFamily="2" charset="-122"/>
                <a:cs typeface="等线" panose="02010600030101010101" charset="-122"/>
              </a:rPr>
              <a:t>0</a:t>
            </a:r>
            <a:r>
              <a:rPr lang="zh-CN" altLang="en-US" sz="3000" dirty="0">
                <a:latin typeface="宋体" pitchFamily="2" charset="-122"/>
                <a:cs typeface="等线" panose="02010600030101010101" charset="-122"/>
              </a:rPr>
              <a:t>个或多个字符；</a:t>
            </a:r>
          </a:p>
          <a:p>
            <a:pPr lvl="1" eaLnBrk="1" hangingPunct="1">
              <a:spcBef>
                <a:spcPts val="1200"/>
              </a:spcBef>
            </a:pPr>
            <a:r>
              <a:rPr lang="en-US" altLang="zh-CN" sz="3000" dirty="0">
                <a:solidFill>
                  <a:srgbClr val="FF0000"/>
                </a:solidFill>
                <a:latin typeface="宋体" pitchFamily="2" charset="-122"/>
                <a:cs typeface="等线" panose="02010600030101010101" charset="-122"/>
              </a:rPr>
              <a:t>[ ]</a:t>
            </a:r>
            <a:r>
              <a:rPr lang="zh-CN" altLang="en-US" sz="3000" dirty="0">
                <a:latin typeface="宋体" pitchFamily="2" charset="-122"/>
                <a:cs typeface="等线" panose="02010600030101010101" charset="-122"/>
              </a:rPr>
              <a:t>：匹配</a:t>
            </a:r>
            <a:r>
              <a:rPr lang="en-US" altLang="zh-CN" sz="3000" dirty="0">
                <a:latin typeface="宋体" pitchFamily="2" charset="-122"/>
                <a:cs typeface="等线" panose="02010600030101010101" charset="-122"/>
              </a:rPr>
              <a:t>[ ]</a:t>
            </a:r>
            <a:r>
              <a:rPr lang="zh-CN" altLang="en-US" sz="3000" dirty="0">
                <a:latin typeface="宋体" pitchFamily="2" charset="-122"/>
                <a:cs typeface="等线" panose="02010600030101010101" charset="-122"/>
              </a:rPr>
              <a:t>中的任意一个字符</a:t>
            </a:r>
            <a:r>
              <a:rPr lang="en-US" altLang="zh-CN" sz="3000" dirty="0">
                <a:latin typeface="宋体" pitchFamily="2" charset="-122"/>
                <a:cs typeface="等线" panose="02010600030101010101" charset="-122"/>
              </a:rPr>
              <a:t>(</a:t>
            </a:r>
            <a:r>
              <a:rPr lang="zh-CN" altLang="en-US" sz="3000" dirty="0">
                <a:latin typeface="宋体" pitchFamily="2" charset="-122"/>
                <a:cs typeface="等线" panose="02010600030101010101" charset="-122"/>
              </a:rPr>
              <a:t>若要比较的字符是连续的，则可以用连字符“</a:t>
            </a:r>
            <a:r>
              <a:rPr lang="en-US" altLang="zh-CN" sz="3000" dirty="0">
                <a:latin typeface="宋体" pitchFamily="2" charset="-122"/>
                <a:cs typeface="等线" panose="02010600030101010101" charset="-122"/>
              </a:rPr>
              <a:t>-”</a:t>
            </a:r>
            <a:r>
              <a:rPr lang="zh-CN" altLang="en-US" sz="3000" dirty="0">
                <a:latin typeface="宋体" pitchFamily="2" charset="-122"/>
                <a:cs typeface="等线" panose="02010600030101010101" charset="-122"/>
              </a:rPr>
              <a:t>表达 </a:t>
            </a:r>
            <a:r>
              <a:rPr lang="en-US" altLang="zh-CN" sz="3000" dirty="0">
                <a:latin typeface="宋体" pitchFamily="2" charset="-122"/>
                <a:cs typeface="等线" panose="02010600030101010101" charset="-122"/>
              </a:rPr>
              <a:t>)</a:t>
            </a:r>
            <a:r>
              <a:rPr lang="zh-CN" altLang="en-US" sz="3000" dirty="0">
                <a:latin typeface="宋体" pitchFamily="2" charset="-122"/>
                <a:cs typeface="等线" panose="02010600030101010101" charset="-122"/>
              </a:rPr>
              <a:t>；</a:t>
            </a:r>
          </a:p>
          <a:p>
            <a:pPr lvl="1" eaLnBrk="1" hangingPunct="1">
              <a:spcBef>
                <a:spcPts val="1200"/>
              </a:spcBef>
            </a:pPr>
            <a:r>
              <a:rPr lang="en-US" altLang="zh-CN" sz="3000" dirty="0">
                <a:solidFill>
                  <a:srgbClr val="FF0000"/>
                </a:solidFill>
                <a:latin typeface="宋体" pitchFamily="2" charset="-122"/>
                <a:cs typeface="等线" panose="02010600030101010101" charset="-122"/>
              </a:rPr>
              <a:t>[^ ]</a:t>
            </a:r>
            <a:r>
              <a:rPr lang="zh-CN" altLang="en-US" sz="3000" dirty="0">
                <a:latin typeface="宋体" pitchFamily="2" charset="-122"/>
                <a:cs typeface="等线" panose="02010600030101010101" charset="-122"/>
              </a:rPr>
              <a:t>：不匹配</a:t>
            </a:r>
            <a:r>
              <a:rPr lang="en-US" altLang="zh-CN" sz="3000" dirty="0">
                <a:latin typeface="宋体" pitchFamily="2" charset="-122"/>
                <a:cs typeface="等线" panose="02010600030101010101" charset="-122"/>
              </a:rPr>
              <a:t>[ ]</a:t>
            </a:r>
            <a:r>
              <a:rPr lang="zh-CN" altLang="en-US" sz="3000" dirty="0">
                <a:latin typeface="宋体" pitchFamily="2" charset="-122"/>
                <a:cs typeface="等线" panose="02010600030101010101" charset="-122"/>
              </a:rPr>
              <a:t>中的任意一个字符。</a:t>
            </a:r>
            <a:r>
              <a:rPr lang="en-US" altLang="zh-CN" sz="3000" dirty="0">
                <a:latin typeface="宋体" pitchFamily="2" charset="-122"/>
                <a:cs typeface="等线" panose="02010600030101010101" charset="-122"/>
              </a:rPr>
              <a:t> </a:t>
            </a:r>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p:cNvSpPr>
          <p:nvPr>
            <p:ph type="title"/>
          </p:nvPr>
        </p:nvSpPr>
        <p:spPr>
          <a:xfrm>
            <a:off x="500063" y="152400"/>
            <a:ext cx="8001000" cy="685800"/>
          </a:xfrm>
          <a:noFill/>
          <a:ln w="9525">
            <a:noFill/>
          </a:ln>
        </p:spPr>
        <p:txBody>
          <a:bodyPr vert="horz" wrap="square" lIns="91440" tIns="45720" rIns="91440" bIns="45720" rtlCol="0" anchor="ctr" anchorCtr="0">
            <a:normAutofit fontScale="90000"/>
          </a:bodyPr>
          <a:lstStyle/>
          <a:p>
            <a:pPr lvl="0" algn="ctr" eaLnBrk="1" hangingPunct="1">
              <a:buClrTx/>
              <a:buSzTx/>
              <a:buFontTx/>
            </a:pPr>
            <a:r>
              <a:rPr lang="zh-CN" altLang="en-US" sz="4000" b="0" dirty="0">
                <a:latin typeface="黑体" panose="02010609060101010101" pitchFamily="2" charset="-122"/>
                <a:ea typeface="黑体" panose="02010609060101010101" pitchFamily="2" charset="-122"/>
                <a:sym typeface="+mn-ea"/>
              </a:rPr>
              <a:t>示例</a:t>
            </a:r>
          </a:p>
        </p:txBody>
      </p:sp>
      <p:sp>
        <p:nvSpPr>
          <p:cNvPr id="24579" name="Rectangle 3"/>
          <p:cNvSpPr>
            <a:spLocks noGrp="1"/>
          </p:cNvSpPr>
          <p:nvPr>
            <p:ph idx="1"/>
          </p:nvPr>
        </p:nvSpPr>
        <p:spPr>
          <a:xfrm>
            <a:off x="326390" y="1357630"/>
            <a:ext cx="8406765" cy="4839970"/>
          </a:xfrm>
        </p:spPr>
        <p:txBody>
          <a:bodyPr vert="horz" wrap="square" lIns="91440" tIns="45720" rIns="91440" bIns="45720" anchor="t" anchorCtr="0"/>
          <a:lstStyle/>
          <a:p>
            <a:pPr marL="0" indent="0" eaLnBrk="1" hangingPunct="1">
              <a:buNone/>
            </a:pPr>
            <a:r>
              <a:rPr lang="zh-CN" altLang="en-US" dirty="0" smtClean="0">
                <a:latin typeface="宋体" pitchFamily="2" charset="-122"/>
                <a:cs typeface="等线" panose="02010600030101010101" charset="-122"/>
              </a:rPr>
              <a:t>例</a:t>
            </a:r>
            <a:r>
              <a:rPr lang="en-US" altLang="zh-CN" sz="3200" dirty="0" smtClean="0"/>
              <a:t>4.15 </a:t>
            </a:r>
            <a:r>
              <a:rPr lang="zh-CN" altLang="en-US" dirty="0" smtClean="0">
                <a:latin typeface="宋体" pitchFamily="2" charset="-122"/>
                <a:cs typeface="等线" panose="02010600030101010101" charset="-122"/>
              </a:rPr>
              <a:t>查询</a:t>
            </a:r>
            <a:r>
              <a:rPr lang="zh-CN" altLang="en-US" dirty="0">
                <a:latin typeface="宋体" pitchFamily="2" charset="-122"/>
                <a:cs typeface="等线" panose="02010600030101010101" charset="-122"/>
              </a:rPr>
              <a:t>学生表中姓‘王’的学生的详细信息。</a:t>
            </a:r>
          </a:p>
          <a:p>
            <a:pPr eaLnBrk="1" hangingPunct="1">
              <a:buFont typeface="Wingdings" panose="05000000000000000000" pitchFamily="2" charset="2"/>
              <a:buNone/>
            </a:pPr>
            <a:r>
              <a:rPr lang="zh-CN" altLang="en-US" dirty="0">
                <a:latin typeface="宋体" pitchFamily="2" charset="-122"/>
                <a:cs typeface="等线" panose="02010600030101010101" charset="-122"/>
              </a:rPr>
              <a:t>	</a:t>
            </a:r>
            <a:r>
              <a:rPr lang="en-US" altLang="zh-CN" dirty="0">
                <a:solidFill>
                  <a:srgbClr val="0000FF"/>
                </a:solidFill>
                <a:latin typeface="宋体" pitchFamily="2" charset="-122"/>
                <a:cs typeface="等线" panose="02010600030101010101" charset="-122"/>
              </a:rPr>
              <a:t>SELECT * FROM Student </a:t>
            </a:r>
          </a:p>
          <a:p>
            <a:pPr eaLnBrk="1" hangingPunct="1">
              <a:buFont typeface="Wingdings" panose="05000000000000000000" pitchFamily="2" charset="2"/>
              <a:buNone/>
            </a:pPr>
            <a:r>
              <a:rPr lang="en-US" altLang="zh-CN" dirty="0">
                <a:solidFill>
                  <a:srgbClr val="0000FF"/>
                </a:solidFill>
                <a:latin typeface="宋体" pitchFamily="2" charset="-122"/>
                <a:cs typeface="等线" panose="02010600030101010101" charset="-122"/>
              </a:rPr>
              <a:t>     WHERE Sname</a:t>
            </a:r>
            <a:r>
              <a:rPr lang="en-US" altLang="zh-CN" dirty="0">
                <a:solidFill>
                  <a:srgbClr val="009900"/>
                </a:solidFill>
                <a:latin typeface="宋体" pitchFamily="2" charset="-122"/>
                <a:cs typeface="等线" panose="02010600030101010101" charset="-122"/>
              </a:rPr>
              <a:t> </a:t>
            </a:r>
            <a:r>
              <a:rPr lang="en-US" altLang="zh-CN" dirty="0">
                <a:solidFill>
                  <a:srgbClr val="FF0000"/>
                </a:solidFill>
                <a:latin typeface="宋体" pitchFamily="2" charset="-122"/>
                <a:cs typeface="等线" panose="02010600030101010101" charset="-122"/>
              </a:rPr>
              <a:t>LIKE</a:t>
            </a:r>
            <a:r>
              <a:rPr lang="en-US" altLang="zh-CN" dirty="0">
                <a:solidFill>
                  <a:srgbClr val="009900"/>
                </a:solidFill>
                <a:latin typeface="宋体" pitchFamily="2" charset="-122"/>
                <a:cs typeface="等线" panose="02010600030101010101" charset="-122"/>
              </a:rPr>
              <a:t> </a:t>
            </a:r>
            <a:r>
              <a:rPr lang="en-US" altLang="zh-CN" dirty="0">
                <a:solidFill>
                  <a:srgbClr val="0000FF"/>
                </a:solidFill>
                <a:latin typeface="宋体" pitchFamily="2" charset="-122"/>
                <a:cs typeface="等线" panose="02010600030101010101" charset="-122"/>
              </a:rPr>
              <a:t>‘</a:t>
            </a:r>
            <a:r>
              <a:rPr lang="zh-CN" altLang="en-US" dirty="0">
                <a:solidFill>
                  <a:srgbClr val="0000FF"/>
                </a:solidFill>
                <a:latin typeface="宋体" pitchFamily="2" charset="-122"/>
                <a:cs typeface="等线" panose="02010600030101010101" charset="-122"/>
              </a:rPr>
              <a:t>王</a:t>
            </a:r>
            <a:r>
              <a:rPr lang="en-US" altLang="zh-CN" dirty="0">
                <a:solidFill>
                  <a:srgbClr val="0000FF"/>
                </a:solidFill>
                <a:latin typeface="宋体" pitchFamily="2" charset="-122"/>
                <a:cs typeface="等线" panose="02010600030101010101" charset="-122"/>
              </a:rPr>
              <a:t>%'</a:t>
            </a:r>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标题 1"/>
          <p:cNvSpPr>
            <a:spLocks noGrp="1"/>
          </p:cNvSpPr>
          <p:nvPr>
            <p:ph type="title"/>
          </p:nvPr>
        </p:nvSpPr>
        <p:spPr>
          <a:xfrm>
            <a:off x="500063" y="152400"/>
            <a:ext cx="8001000" cy="685800"/>
          </a:xfrm>
          <a:noFill/>
          <a:ln w="9525">
            <a:noFill/>
          </a:ln>
        </p:spPr>
        <p:txBody>
          <a:bodyPr vert="horz" wrap="square" lIns="91440" tIns="45720" rIns="91440" bIns="45720" rtlCol="0" anchor="ctr" anchorCtr="0">
            <a:normAutofit fontScale="90000"/>
          </a:bodyPr>
          <a:lstStyle/>
          <a:p>
            <a:pPr lvl="0" algn="ctr" eaLnBrk="1" hangingPunct="1">
              <a:buClrTx/>
              <a:buSzTx/>
              <a:buFontTx/>
            </a:pPr>
            <a:r>
              <a:rPr lang="zh-CN" altLang="en-US" sz="4000" b="0" dirty="0">
                <a:latin typeface="黑体" panose="02010609060101010101" pitchFamily="2" charset="-122"/>
                <a:ea typeface="黑体" panose="02010609060101010101" pitchFamily="2" charset="-122"/>
                <a:sym typeface="+mn-ea"/>
              </a:rPr>
              <a:t>示例（续）</a:t>
            </a:r>
          </a:p>
        </p:txBody>
      </p:sp>
      <p:sp>
        <p:nvSpPr>
          <p:cNvPr id="25603" name="内容占位符 2"/>
          <p:cNvSpPr>
            <a:spLocks noGrp="1"/>
          </p:cNvSpPr>
          <p:nvPr>
            <p:ph idx="1"/>
          </p:nvPr>
        </p:nvSpPr>
        <p:spPr>
          <a:xfrm>
            <a:off x="357188" y="1214438"/>
            <a:ext cx="8572500" cy="5143500"/>
          </a:xfrm>
        </p:spPr>
        <p:txBody>
          <a:bodyPr vert="horz" wrap="square" lIns="91440" tIns="45720" rIns="91440" bIns="45720" anchor="t" anchorCtr="0"/>
          <a:lstStyle/>
          <a:p>
            <a:pPr marL="0" indent="0" eaLnBrk="1" hangingPunct="1">
              <a:lnSpc>
                <a:spcPct val="110000"/>
              </a:lnSpc>
              <a:spcBef>
                <a:spcPts val="400"/>
              </a:spcBef>
              <a:spcAft>
                <a:spcPts val="0"/>
              </a:spcAft>
              <a:buNone/>
            </a:pPr>
            <a:r>
              <a:rPr lang="zh-CN" altLang="en-US" sz="3200" dirty="0" smtClean="0">
                <a:latin typeface="宋体" pitchFamily="2" charset="-122"/>
                <a:cs typeface="等线" panose="02010600030101010101" charset="-122"/>
              </a:rPr>
              <a:t>例</a:t>
            </a:r>
            <a:r>
              <a:rPr lang="en-US" altLang="zh-CN" sz="3200" dirty="0" smtClean="0"/>
              <a:t>4.16 </a:t>
            </a:r>
            <a:r>
              <a:rPr lang="zh-CN" altLang="en-US" sz="3200" dirty="0" smtClean="0">
                <a:latin typeface="宋体" pitchFamily="2" charset="-122"/>
                <a:cs typeface="等线" panose="02010600030101010101" charset="-122"/>
              </a:rPr>
              <a:t>查询</a:t>
            </a:r>
            <a:r>
              <a:rPr lang="zh-CN" altLang="en-US" sz="3200" dirty="0">
                <a:latin typeface="宋体" pitchFamily="2" charset="-122"/>
                <a:cs typeface="等线" panose="02010600030101010101" charset="-122"/>
              </a:rPr>
              <a:t>姓“王”且名字是</a:t>
            </a:r>
            <a:r>
              <a:rPr lang="en-US" altLang="zh-CN" sz="3200" dirty="0">
                <a:latin typeface="宋体" pitchFamily="2" charset="-122"/>
                <a:cs typeface="等线" panose="02010600030101010101" charset="-122"/>
              </a:rPr>
              <a:t>3</a:t>
            </a:r>
            <a:r>
              <a:rPr lang="zh-CN" altLang="en-US" sz="3200" dirty="0">
                <a:latin typeface="宋体" pitchFamily="2" charset="-122"/>
                <a:cs typeface="等线" panose="02010600030101010101" charset="-122"/>
              </a:rPr>
              <a:t>个字的学生姓名。</a:t>
            </a:r>
          </a:p>
          <a:p>
            <a:pPr lvl="1" eaLnBrk="1" hangingPunct="1">
              <a:lnSpc>
                <a:spcPct val="110000"/>
              </a:lnSpc>
              <a:spcBef>
                <a:spcPts val="400"/>
              </a:spcBef>
              <a:spcAft>
                <a:spcPts val="0"/>
              </a:spcAft>
              <a:buFont typeface="Wingdings" panose="05000000000000000000" pitchFamily="2" charset="2"/>
              <a:buNone/>
            </a:pPr>
            <a:r>
              <a:rPr lang="en-US" altLang="zh-CN" dirty="0">
                <a:solidFill>
                  <a:srgbClr val="0000FF"/>
                </a:solidFill>
                <a:latin typeface="宋体" pitchFamily="2" charset="-122"/>
                <a:cs typeface="等线" panose="02010600030101010101" charset="-122"/>
              </a:rPr>
              <a:t>SELECT * FROM Student </a:t>
            </a:r>
          </a:p>
          <a:p>
            <a:pPr lvl="1" eaLnBrk="1" hangingPunct="1">
              <a:lnSpc>
                <a:spcPct val="110000"/>
              </a:lnSpc>
              <a:spcBef>
                <a:spcPts val="400"/>
              </a:spcBef>
              <a:spcAft>
                <a:spcPts val="0"/>
              </a:spcAft>
              <a:buFont typeface="Wingdings" panose="05000000000000000000" pitchFamily="2" charset="2"/>
              <a:buNone/>
            </a:pPr>
            <a:r>
              <a:rPr lang="en-US" altLang="zh-CN" dirty="0">
                <a:solidFill>
                  <a:srgbClr val="0000FF"/>
                </a:solidFill>
                <a:latin typeface="宋体" pitchFamily="2" charset="-122"/>
                <a:cs typeface="等线" panose="02010600030101010101" charset="-122"/>
              </a:rPr>
              <a:t>  WHERE Sname LIKE  '</a:t>
            </a:r>
            <a:r>
              <a:rPr lang="zh-CN" altLang="en-US" dirty="0">
                <a:solidFill>
                  <a:srgbClr val="0000FF"/>
                </a:solidFill>
                <a:latin typeface="宋体" pitchFamily="2" charset="-122"/>
                <a:cs typeface="等线" panose="02010600030101010101" charset="-122"/>
              </a:rPr>
              <a:t>王</a:t>
            </a:r>
            <a:r>
              <a:rPr lang="en-US" altLang="zh-CN" dirty="0" smtClean="0">
                <a:solidFill>
                  <a:srgbClr val="0000FF"/>
                </a:solidFill>
                <a:latin typeface="宋体" pitchFamily="2" charset="-122"/>
                <a:cs typeface="等线" panose="02010600030101010101" charset="-122"/>
              </a:rPr>
              <a:t>__'</a:t>
            </a:r>
            <a:endParaRPr lang="zh-CN" altLang="en-US" dirty="0">
              <a:solidFill>
                <a:srgbClr val="0000FF"/>
              </a:solidFill>
              <a:latin typeface="宋体" pitchFamily="2" charset="-122"/>
              <a:cs typeface="等线" panose="02010600030101010101" charset="-122"/>
            </a:endParaRPr>
          </a:p>
          <a:p>
            <a:pPr eaLnBrk="1" hangingPunct="1">
              <a:lnSpc>
                <a:spcPct val="110000"/>
              </a:lnSpc>
              <a:spcBef>
                <a:spcPts val="1800"/>
              </a:spcBef>
              <a:spcAft>
                <a:spcPts val="400"/>
              </a:spcAft>
            </a:pPr>
            <a:r>
              <a:rPr lang="zh-CN" altLang="en-US" sz="2800" dirty="0">
                <a:latin typeface="宋体" pitchFamily="2" charset="-122"/>
                <a:cs typeface="等线" panose="02010600030101010101" charset="-122"/>
              </a:rPr>
              <a:t>这个查询在</a:t>
            </a:r>
            <a:r>
              <a:rPr lang="en-US" altLang="zh-CN" sz="2800" dirty="0">
                <a:latin typeface="宋体" pitchFamily="2" charset="-122"/>
                <a:cs typeface="等线" panose="02010600030101010101" charset="-122"/>
              </a:rPr>
              <a:t>SQL Server </a:t>
            </a:r>
            <a:r>
              <a:rPr lang="zh-CN" altLang="en-US" sz="2800" dirty="0">
                <a:latin typeface="宋体" pitchFamily="2" charset="-122"/>
                <a:cs typeface="等线" panose="02010600030101010101" charset="-122"/>
              </a:rPr>
              <a:t>中执行</a:t>
            </a:r>
            <a:r>
              <a:rPr lang="zh-CN" altLang="en-US" sz="2800" b="1" i="1" u="sng" dirty="0">
                <a:latin typeface="宋体" pitchFamily="2" charset="-122"/>
                <a:cs typeface="等线" panose="02010600030101010101" charset="-122"/>
              </a:rPr>
              <a:t>可能</a:t>
            </a:r>
            <a:r>
              <a:rPr lang="zh-CN" altLang="en-US" sz="2800" dirty="0">
                <a:latin typeface="宋体" pitchFamily="2" charset="-122"/>
                <a:cs typeface="等线" panose="02010600030101010101" charset="-122"/>
              </a:rPr>
              <a:t>没有结果。原因是</a:t>
            </a:r>
            <a:r>
              <a:rPr lang="en-US" altLang="zh-CN" sz="2800" dirty="0">
                <a:latin typeface="宋体" pitchFamily="2" charset="-122"/>
                <a:cs typeface="等线" panose="02010600030101010101" charset="-122"/>
              </a:rPr>
              <a:t>Sname</a:t>
            </a:r>
            <a:r>
              <a:rPr lang="zh-CN" altLang="en-US" sz="2800" dirty="0">
                <a:latin typeface="宋体" pitchFamily="2" charset="-122"/>
                <a:cs typeface="等线" panose="02010600030101010101" charset="-122"/>
              </a:rPr>
              <a:t>列的类型是</a:t>
            </a:r>
            <a:r>
              <a:rPr lang="en-US" altLang="zh-CN" sz="2800" dirty="0">
                <a:latin typeface="宋体" pitchFamily="2" charset="-122"/>
                <a:cs typeface="等线" panose="02010600030101010101" charset="-122"/>
              </a:rPr>
              <a:t>Nchar(5)</a:t>
            </a:r>
            <a:r>
              <a:rPr lang="zh-CN" altLang="en-US" sz="2800" dirty="0">
                <a:latin typeface="宋体" pitchFamily="2" charset="-122"/>
                <a:cs typeface="等线" panose="02010600030101010101" charset="-122"/>
              </a:rPr>
              <a:t>，而当姓名少于</a:t>
            </a:r>
            <a:r>
              <a:rPr lang="en-US" altLang="zh-CN" sz="2800" dirty="0">
                <a:latin typeface="宋体" pitchFamily="2" charset="-122"/>
                <a:cs typeface="等线" panose="02010600030101010101" charset="-122"/>
              </a:rPr>
              <a:t>5</a:t>
            </a:r>
            <a:r>
              <a:rPr lang="zh-CN" altLang="en-US" sz="2800" dirty="0">
                <a:latin typeface="宋体" pitchFamily="2" charset="-122"/>
                <a:cs typeface="等线" panose="02010600030101010101" charset="-122"/>
              </a:rPr>
              <a:t>个汉字时，系统在存储这些数据时自动在后边补空格，比如“王大力”实际存储的字符是“王大力</a:t>
            </a:r>
            <a:r>
              <a:rPr lang="en-US" altLang="zh-CN" sz="2800" dirty="0">
                <a:latin typeface="宋体" pitchFamily="2" charset="-122"/>
                <a:cs typeface="等线" panose="02010600030101010101" charset="-122"/>
              </a:rPr>
              <a:t>  </a:t>
            </a:r>
            <a:r>
              <a:rPr lang="zh-CN" altLang="en-US" sz="2800" dirty="0">
                <a:latin typeface="宋体" pitchFamily="2" charset="-122"/>
                <a:cs typeface="等线" panose="02010600030101010101" charset="-122"/>
              </a:rPr>
              <a:t>”。空格作为一个字符，也参加</a:t>
            </a:r>
            <a:r>
              <a:rPr lang="en-US" altLang="zh-CN" sz="2800" dirty="0">
                <a:latin typeface="宋体" pitchFamily="2" charset="-122"/>
                <a:cs typeface="等线" panose="02010600030101010101" charset="-122"/>
              </a:rPr>
              <a:t>LIKE</a:t>
            </a:r>
            <a:r>
              <a:rPr lang="zh-CN" altLang="en-US" sz="2800" dirty="0">
                <a:latin typeface="宋体" pitchFamily="2" charset="-122"/>
                <a:cs typeface="等线" panose="02010600030101010101" charset="-122"/>
              </a:rPr>
              <a:t>的比较。</a:t>
            </a:r>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标题 1"/>
          <p:cNvSpPr>
            <a:spLocks noGrp="1"/>
          </p:cNvSpPr>
          <p:nvPr>
            <p:ph type="title"/>
          </p:nvPr>
        </p:nvSpPr>
        <p:spPr>
          <a:xfrm>
            <a:off x="500063" y="152400"/>
            <a:ext cx="8001000" cy="685800"/>
          </a:xfrm>
          <a:noFill/>
          <a:ln w="9525">
            <a:noFill/>
          </a:ln>
        </p:spPr>
        <p:txBody>
          <a:bodyPr vert="horz" wrap="square" lIns="91440" tIns="45720" rIns="91440" bIns="45720" rtlCol="0" anchor="ctr" anchorCtr="0">
            <a:normAutofit fontScale="90000"/>
          </a:bodyPr>
          <a:lstStyle/>
          <a:p>
            <a:pPr lvl="0" algn="ctr" eaLnBrk="1" hangingPunct="1">
              <a:buClrTx/>
              <a:buSzTx/>
              <a:buFontTx/>
            </a:pPr>
            <a:r>
              <a:rPr lang="zh-CN" altLang="en-US" sz="4000" b="0" dirty="0">
                <a:latin typeface="黑体" panose="02010609060101010101" pitchFamily="2" charset="-122"/>
                <a:ea typeface="黑体" panose="02010609060101010101" pitchFamily="2" charset="-122"/>
                <a:sym typeface="+mn-ea"/>
              </a:rPr>
              <a:t>示例（续）</a:t>
            </a:r>
          </a:p>
        </p:txBody>
      </p:sp>
      <p:sp>
        <p:nvSpPr>
          <p:cNvPr id="26627" name="内容占位符 2"/>
          <p:cNvSpPr>
            <a:spLocks noGrp="1"/>
          </p:cNvSpPr>
          <p:nvPr>
            <p:ph idx="1"/>
          </p:nvPr>
        </p:nvSpPr>
        <p:spPr>
          <a:xfrm>
            <a:off x="457200" y="1295400"/>
            <a:ext cx="8229600" cy="2349624"/>
          </a:xfrm>
        </p:spPr>
        <p:txBody>
          <a:bodyPr vert="horz" wrap="square" lIns="91440" tIns="45720" rIns="91440" bIns="45720" anchor="t" anchorCtr="0"/>
          <a:lstStyle/>
          <a:p>
            <a:pPr marL="0" indent="0" eaLnBrk="1" hangingPunct="1">
              <a:buNone/>
            </a:pPr>
            <a:r>
              <a:rPr lang="zh-CN" altLang="en-US" dirty="0" smtClean="0">
                <a:latin typeface="宋体" pitchFamily="2" charset="-122"/>
                <a:cs typeface="等线" panose="02010600030101010101" charset="-122"/>
              </a:rPr>
              <a:t>例</a:t>
            </a:r>
            <a:r>
              <a:rPr lang="en-US" altLang="zh-CN" sz="3200" dirty="0" smtClean="0"/>
              <a:t>4.17 </a:t>
            </a:r>
            <a:r>
              <a:rPr lang="zh-CN" altLang="en-US" dirty="0" smtClean="0">
                <a:latin typeface="宋体" pitchFamily="2" charset="-122"/>
                <a:cs typeface="等线" panose="02010600030101010101" charset="-122"/>
              </a:rPr>
              <a:t>查询</a:t>
            </a:r>
            <a:r>
              <a:rPr lang="zh-CN" altLang="en-US" dirty="0">
                <a:latin typeface="宋体" pitchFamily="2" charset="-122"/>
                <a:cs typeface="等线" panose="02010600030101010101" charset="-122"/>
              </a:rPr>
              <a:t>姓“张”、姓“李”和姓“刘”的学生详细信息。</a:t>
            </a:r>
          </a:p>
          <a:p>
            <a:pPr eaLnBrk="1" hangingPunct="1">
              <a:buFont typeface="Wingdings" panose="05000000000000000000" pitchFamily="2" charset="2"/>
              <a:buNone/>
            </a:pPr>
            <a:r>
              <a:rPr lang="zh-CN" altLang="en-US" dirty="0">
                <a:latin typeface="宋体" pitchFamily="2" charset="-122"/>
                <a:cs typeface="等线" panose="02010600030101010101" charset="-122"/>
              </a:rPr>
              <a:t>	</a:t>
            </a:r>
            <a:r>
              <a:rPr lang="en-US" altLang="zh-CN" dirty="0">
                <a:solidFill>
                  <a:srgbClr val="0000FF"/>
                </a:solidFill>
                <a:latin typeface="宋体" pitchFamily="2" charset="-122"/>
                <a:cs typeface="等线" panose="02010600030101010101" charset="-122"/>
              </a:rPr>
              <a:t>SELECT * FROM Student </a:t>
            </a:r>
          </a:p>
          <a:p>
            <a:pPr eaLnBrk="1" hangingPunct="1">
              <a:buFont typeface="Wingdings" panose="05000000000000000000" pitchFamily="2" charset="2"/>
              <a:buNone/>
            </a:pPr>
            <a:r>
              <a:rPr lang="en-US" altLang="zh-CN" dirty="0">
                <a:solidFill>
                  <a:srgbClr val="0000FF"/>
                </a:solidFill>
                <a:latin typeface="宋体" pitchFamily="2" charset="-122"/>
                <a:cs typeface="等线" panose="02010600030101010101" charset="-122"/>
              </a:rPr>
              <a:t>     WHERE Sname</a:t>
            </a:r>
            <a:r>
              <a:rPr lang="en-US" altLang="zh-CN" dirty="0">
                <a:solidFill>
                  <a:srgbClr val="009900"/>
                </a:solidFill>
                <a:latin typeface="宋体" pitchFamily="2" charset="-122"/>
                <a:cs typeface="等线" panose="02010600030101010101" charset="-122"/>
              </a:rPr>
              <a:t> </a:t>
            </a:r>
            <a:r>
              <a:rPr lang="en-US" altLang="zh-CN" dirty="0">
                <a:solidFill>
                  <a:srgbClr val="FF0000"/>
                </a:solidFill>
                <a:latin typeface="宋体" pitchFamily="2" charset="-122"/>
                <a:cs typeface="等线" panose="02010600030101010101" charset="-122"/>
              </a:rPr>
              <a:t>LIKE</a:t>
            </a:r>
            <a:r>
              <a:rPr lang="en-US" altLang="zh-CN" dirty="0">
                <a:solidFill>
                  <a:srgbClr val="009900"/>
                </a:solidFill>
                <a:latin typeface="宋体" pitchFamily="2" charset="-122"/>
                <a:cs typeface="等线" panose="02010600030101010101" charset="-122"/>
              </a:rPr>
              <a:t> </a:t>
            </a:r>
            <a:r>
              <a:rPr lang="en-US" altLang="zh-CN" dirty="0">
                <a:solidFill>
                  <a:srgbClr val="0000FF"/>
                </a:solidFill>
                <a:latin typeface="宋体" pitchFamily="2" charset="-122"/>
                <a:cs typeface="等线" panose="02010600030101010101" charset="-122"/>
              </a:rPr>
              <a:t>'[</a:t>
            </a:r>
            <a:r>
              <a:rPr lang="zh-CN" altLang="en-US" dirty="0">
                <a:solidFill>
                  <a:srgbClr val="0000FF"/>
                </a:solidFill>
                <a:latin typeface="宋体" pitchFamily="2" charset="-122"/>
                <a:cs typeface="等线" panose="02010600030101010101" charset="-122"/>
              </a:rPr>
              <a:t>张李刘</a:t>
            </a:r>
            <a:r>
              <a:rPr lang="en-US" altLang="zh-CN" dirty="0">
                <a:solidFill>
                  <a:srgbClr val="0000FF"/>
                </a:solidFill>
                <a:latin typeface="宋体" pitchFamily="2" charset="-122"/>
                <a:cs typeface="等线" panose="02010600030101010101" charset="-122"/>
              </a:rPr>
              <a:t>]%'</a:t>
            </a:r>
          </a:p>
          <a:p>
            <a:pPr eaLnBrk="1" hangingPunct="1"/>
            <a:endParaRPr lang="zh-CN" altLang="en-US" dirty="0">
              <a:latin typeface="宋体" pitchFamily="2" charset="-122"/>
              <a:cs typeface="等线" panose="02010600030101010101" charset="-122"/>
            </a:endParaRPr>
          </a:p>
        </p:txBody>
      </p:sp>
      <p:sp>
        <p:nvSpPr>
          <p:cNvPr id="2" name="矩形 1"/>
          <p:cNvSpPr/>
          <p:nvPr/>
        </p:nvSpPr>
        <p:spPr>
          <a:xfrm>
            <a:off x="467544" y="3933056"/>
            <a:ext cx="8136904" cy="2215991"/>
          </a:xfrm>
          <a:prstGeom prst="rect">
            <a:avLst/>
          </a:prstGeom>
        </p:spPr>
        <p:txBody>
          <a:bodyPr wrap="square">
            <a:spAutoFit/>
          </a:bodyPr>
          <a:lstStyle/>
          <a:p>
            <a:pPr algn="just">
              <a:spcBef>
                <a:spcPct val="20000"/>
              </a:spcBef>
              <a:buClr>
                <a:schemeClr val="tx1"/>
              </a:buClr>
            </a:pPr>
            <a:r>
              <a:rPr lang="zh-CN" altLang="en-US" sz="3400" b="1" dirty="0" smtClean="0">
                <a:solidFill>
                  <a:schemeClr val="tx2"/>
                </a:solidFill>
                <a:latin typeface="宋体" pitchFamily="2" charset="-122"/>
                <a:ea typeface="宋体" pitchFamily="2" charset="-122"/>
                <a:cs typeface="等线" panose="02010600030101010101" charset="-122"/>
              </a:rPr>
              <a:t>例</a:t>
            </a:r>
            <a:r>
              <a:rPr lang="en-US" altLang="zh-CN" sz="3200" b="1" dirty="0" smtClean="0">
                <a:latin typeface="Times New Roman" pitchFamily="18" charset="0"/>
                <a:ea typeface="宋体" pitchFamily="2" charset="-122"/>
              </a:rPr>
              <a:t>4.18 </a:t>
            </a:r>
            <a:r>
              <a:rPr lang="zh-CN" altLang="en-US" sz="3400" b="1" dirty="0" smtClean="0">
                <a:solidFill>
                  <a:schemeClr val="tx2"/>
                </a:solidFill>
                <a:latin typeface="宋体" pitchFamily="2" charset="-122"/>
                <a:ea typeface="宋体" pitchFamily="2" charset="-122"/>
                <a:cs typeface="等线" panose="02010600030101010101" charset="-122"/>
              </a:rPr>
              <a:t>查询</a:t>
            </a:r>
            <a:r>
              <a:rPr lang="zh-CN" altLang="en-US" sz="3400" b="1" dirty="0">
                <a:solidFill>
                  <a:schemeClr val="tx2"/>
                </a:solidFill>
                <a:latin typeface="宋体" pitchFamily="2" charset="-122"/>
                <a:ea typeface="宋体" pitchFamily="2" charset="-122"/>
                <a:cs typeface="等线" panose="02010600030101010101" charset="-122"/>
              </a:rPr>
              <a:t>名字中第</a:t>
            </a:r>
            <a:r>
              <a:rPr lang="en-US" altLang="zh-CN" sz="3400" b="1" dirty="0">
                <a:solidFill>
                  <a:schemeClr val="tx2"/>
                </a:solidFill>
                <a:latin typeface="宋体" pitchFamily="2" charset="-122"/>
                <a:ea typeface="宋体" pitchFamily="2" charset="-122"/>
                <a:cs typeface="等线" panose="02010600030101010101" charset="-122"/>
              </a:rPr>
              <a:t>2</a:t>
            </a:r>
            <a:r>
              <a:rPr lang="zh-CN" altLang="en-US" sz="3400" b="1" dirty="0">
                <a:solidFill>
                  <a:schemeClr val="tx2"/>
                </a:solidFill>
                <a:latin typeface="宋体" pitchFamily="2" charset="-122"/>
                <a:ea typeface="宋体" pitchFamily="2" charset="-122"/>
                <a:cs typeface="等线" panose="02010600030101010101" charset="-122"/>
              </a:rPr>
              <a:t>个字为“小”或“大”字的学生的姓名和学号。</a:t>
            </a:r>
          </a:p>
          <a:p>
            <a:pPr lvl="1" algn="l"/>
            <a:r>
              <a:rPr lang="en-US" altLang="zh-CN" sz="3400" b="1" dirty="0">
                <a:solidFill>
                  <a:srgbClr val="0000FF"/>
                </a:solidFill>
                <a:latin typeface="宋体" pitchFamily="2" charset="-122"/>
                <a:ea typeface="宋体" pitchFamily="2" charset="-122"/>
                <a:cs typeface="等线" panose="02010600030101010101" charset="-122"/>
              </a:rPr>
              <a:t>SELECT </a:t>
            </a:r>
            <a:r>
              <a:rPr lang="en-US" altLang="zh-CN" sz="3400" b="1" dirty="0" err="1">
                <a:solidFill>
                  <a:srgbClr val="0000FF"/>
                </a:solidFill>
                <a:latin typeface="宋体" pitchFamily="2" charset="-122"/>
                <a:ea typeface="宋体" pitchFamily="2" charset="-122"/>
                <a:cs typeface="等线" panose="02010600030101010101" charset="-122"/>
              </a:rPr>
              <a:t>Sname</a:t>
            </a:r>
            <a:r>
              <a:rPr lang="en-US" altLang="zh-CN" sz="3400" b="1" dirty="0">
                <a:solidFill>
                  <a:srgbClr val="0000FF"/>
                </a:solidFill>
                <a:latin typeface="宋体" pitchFamily="2" charset="-122"/>
                <a:ea typeface="宋体" pitchFamily="2" charset="-122"/>
                <a:cs typeface="等线" panose="02010600030101010101" charset="-122"/>
              </a:rPr>
              <a:t>, </a:t>
            </a:r>
            <a:r>
              <a:rPr lang="en-US" altLang="zh-CN" sz="3400" b="1" dirty="0" err="1">
                <a:solidFill>
                  <a:srgbClr val="0000FF"/>
                </a:solidFill>
                <a:latin typeface="宋体" pitchFamily="2" charset="-122"/>
                <a:ea typeface="宋体" pitchFamily="2" charset="-122"/>
                <a:cs typeface="等线" panose="02010600030101010101" charset="-122"/>
              </a:rPr>
              <a:t>Sno</a:t>
            </a:r>
            <a:r>
              <a:rPr lang="en-US" altLang="zh-CN" sz="3400" b="1" dirty="0">
                <a:solidFill>
                  <a:srgbClr val="0000FF"/>
                </a:solidFill>
                <a:latin typeface="宋体" pitchFamily="2" charset="-122"/>
                <a:ea typeface="宋体" pitchFamily="2" charset="-122"/>
                <a:cs typeface="等线" panose="02010600030101010101" charset="-122"/>
              </a:rPr>
              <a:t> </a:t>
            </a:r>
            <a:r>
              <a:rPr lang="en-US" altLang="zh-CN" sz="3400" b="1" dirty="0" smtClean="0">
                <a:solidFill>
                  <a:srgbClr val="0000FF"/>
                </a:solidFill>
                <a:latin typeface="宋体" pitchFamily="2" charset="-122"/>
                <a:ea typeface="宋体" pitchFamily="2" charset="-122"/>
                <a:cs typeface="等线" panose="02010600030101010101" charset="-122"/>
              </a:rPr>
              <a:t>FROM </a:t>
            </a:r>
            <a:r>
              <a:rPr lang="en-US" altLang="zh-CN" sz="3400" b="1" dirty="0">
                <a:solidFill>
                  <a:srgbClr val="0000FF"/>
                </a:solidFill>
                <a:latin typeface="宋体" pitchFamily="2" charset="-122"/>
                <a:ea typeface="宋体" pitchFamily="2" charset="-122"/>
                <a:cs typeface="等线" panose="02010600030101010101" charset="-122"/>
              </a:rPr>
              <a:t>Student </a:t>
            </a:r>
          </a:p>
          <a:p>
            <a:pPr lvl="1" algn="l"/>
            <a:r>
              <a:rPr lang="en-US" altLang="zh-CN" sz="3400" b="1" dirty="0">
                <a:solidFill>
                  <a:srgbClr val="0000FF"/>
                </a:solidFill>
                <a:latin typeface="宋体" pitchFamily="2" charset="-122"/>
                <a:ea typeface="宋体" pitchFamily="2" charset="-122"/>
                <a:cs typeface="等线" panose="02010600030101010101" charset="-122"/>
              </a:rPr>
              <a:t>   WHERE </a:t>
            </a:r>
            <a:r>
              <a:rPr lang="en-US" altLang="zh-CN" sz="3400" b="1" dirty="0" err="1">
                <a:solidFill>
                  <a:srgbClr val="0000FF"/>
                </a:solidFill>
                <a:latin typeface="宋体" pitchFamily="2" charset="-122"/>
                <a:ea typeface="宋体" pitchFamily="2" charset="-122"/>
                <a:cs typeface="等线" panose="02010600030101010101" charset="-122"/>
              </a:rPr>
              <a:t>Sname</a:t>
            </a:r>
            <a:r>
              <a:rPr lang="en-US" altLang="zh-CN" sz="3400" b="1" dirty="0">
                <a:solidFill>
                  <a:srgbClr val="0000FF"/>
                </a:solidFill>
                <a:latin typeface="宋体" pitchFamily="2" charset="-122"/>
                <a:ea typeface="宋体" pitchFamily="2" charset="-122"/>
                <a:cs typeface="等线" panose="02010600030101010101" charset="-122"/>
              </a:rPr>
              <a:t> LIKE '_[</a:t>
            </a:r>
            <a:r>
              <a:rPr lang="zh-CN" altLang="en-US" sz="3400" b="1" dirty="0">
                <a:solidFill>
                  <a:srgbClr val="0000FF"/>
                </a:solidFill>
                <a:latin typeface="宋体" pitchFamily="2" charset="-122"/>
                <a:ea typeface="宋体" pitchFamily="2" charset="-122"/>
                <a:cs typeface="等线" panose="02010600030101010101" charset="-122"/>
              </a:rPr>
              <a:t>小大</a:t>
            </a:r>
            <a:r>
              <a:rPr lang="en-US" altLang="zh-CN" sz="3400" b="1" dirty="0">
                <a:solidFill>
                  <a:srgbClr val="0000FF"/>
                </a:solidFill>
                <a:latin typeface="宋体" pitchFamily="2" charset="-122"/>
                <a:ea typeface="宋体" pitchFamily="2" charset="-122"/>
                <a:cs typeface="等线" panose="02010600030101010101" charset="-122"/>
              </a:rPr>
              <a:t>]%'</a:t>
            </a:r>
            <a:endParaRPr lang="zh-CN" altLang="en-US" sz="3400" b="1" dirty="0">
              <a:solidFill>
                <a:srgbClr val="0000FF"/>
              </a:solidFill>
              <a:latin typeface="宋体" pitchFamily="2" charset="-122"/>
              <a:ea typeface="宋体" pitchFamily="2" charset="-122"/>
              <a:cs typeface="等线" panose="02010600030101010101"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p:cNvSpPr>
          <p:nvPr>
            <p:ph type="title"/>
          </p:nvPr>
        </p:nvSpPr>
        <p:spPr>
          <a:xfrm>
            <a:off x="500063" y="152400"/>
            <a:ext cx="8001000" cy="685800"/>
          </a:xfrm>
          <a:noFill/>
          <a:ln w="9525">
            <a:noFill/>
          </a:ln>
        </p:spPr>
        <p:txBody>
          <a:bodyPr vert="horz" wrap="square" lIns="91440" tIns="45720" rIns="91440" bIns="45720" rtlCol="0" anchor="ctr" anchorCtr="0">
            <a:normAutofit fontScale="90000"/>
          </a:bodyPr>
          <a:lstStyle/>
          <a:p>
            <a:pPr lvl="0" algn="ctr" eaLnBrk="1" hangingPunct="1">
              <a:buClrTx/>
              <a:buSzTx/>
              <a:buFontTx/>
            </a:pPr>
            <a:r>
              <a:rPr lang="zh-CN" altLang="en-US" sz="4000" b="0" dirty="0">
                <a:latin typeface="黑体" panose="02010609060101010101" pitchFamily="2" charset="-122"/>
                <a:ea typeface="黑体" panose="02010609060101010101" pitchFamily="2" charset="-122"/>
                <a:sym typeface="+mn-ea"/>
              </a:rPr>
              <a:t>示例（续）</a:t>
            </a:r>
          </a:p>
        </p:txBody>
      </p:sp>
      <p:sp>
        <p:nvSpPr>
          <p:cNvPr id="28675" name="Rectangle 3"/>
          <p:cNvSpPr>
            <a:spLocks noGrp="1"/>
          </p:cNvSpPr>
          <p:nvPr>
            <p:ph idx="1"/>
          </p:nvPr>
        </p:nvSpPr>
        <p:spPr/>
        <p:txBody>
          <a:bodyPr vert="horz" wrap="square" lIns="91440" tIns="45720" rIns="91440" bIns="45720" anchor="t" anchorCtr="0"/>
          <a:lstStyle/>
          <a:p>
            <a:pPr marL="0" indent="0" eaLnBrk="1" hangingPunct="1">
              <a:buNone/>
            </a:pPr>
            <a:r>
              <a:rPr lang="zh-CN" altLang="en-US" dirty="0" smtClean="0">
                <a:latin typeface="宋体" pitchFamily="2" charset="-122"/>
                <a:cs typeface="等线" panose="02010600030101010101" charset="-122"/>
              </a:rPr>
              <a:t>例</a:t>
            </a:r>
            <a:r>
              <a:rPr lang="en-US" altLang="zh-CN" sz="3200" dirty="0" smtClean="0"/>
              <a:t>4.19 </a:t>
            </a:r>
            <a:r>
              <a:rPr dirty="0" err="1" smtClean="0">
                <a:latin typeface="宋体" pitchFamily="2" charset="-122"/>
                <a:cs typeface="等线" panose="02010600030101010101" charset="-122"/>
              </a:rPr>
              <a:t>查询所有不姓</a:t>
            </a:r>
            <a:r>
              <a:rPr dirty="0" err="1">
                <a:latin typeface="宋体" pitchFamily="2" charset="-122"/>
                <a:cs typeface="等线" panose="02010600030101010101" charset="-122"/>
              </a:rPr>
              <a:t>“刘”的学生</a:t>
            </a:r>
            <a:r>
              <a:rPr lang="zh-CN" altLang="en-US" dirty="0">
                <a:latin typeface="宋体" pitchFamily="2" charset="-122"/>
                <a:cs typeface="等线" panose="02010600030101010101" charset="-122"/>
              </a:rPr>
              <a:t>。</a:t>
            </a:r>
          </a:p>
          <a:p>
            <a:pPr lvl="1" eaLnBrk="1" hangingPunct="1">
              <a:buFont typeface="Wingdings" panose="05000000000000000000" pitchFamily="2" charset="2"/>
              <a:buNone/>
            </a:pPr>
            <a:r>
              <a:rPr lang="en-US" altLang="zh-CN" dirty="0">
                <a:solidFill>
                  <a:srgbClr val="0000FF"/>
                </a:solidFill>
                <a:latin typeface="宋体" pitchFamily="2" charset="-122"/>
                <a:cs typeface="等线" panose="02010600030101010101" charset="-122"/>
              </a:rPr>
              <a:t>SELECT Sname FROM Student </a:t>
            </a:r>
          </a:p>
          <a:p>
            <a:pPr lvl="1" eaLnBrk="1" hangingPunct="1">
              <a:buFont typeface="Wingdings" panose="05000000000000000000" pitchFamily="2" charset="2"/>
              <a:buNone/>
            </a:pPr>
            <a:r>
              <a:rPr lang="en-US" altLang="zh-CN" dirty="0">
                <a:solidFill>
                  <a:srgbClr val="0000FF"/>
                </a:solidFill>
                <a:latin typeface="宋体" pitchFamily="2" charset="-122"/>
                <a:cs typeface="等线" panose="02010600030101010101" charset="-122"/>
              </a:rPr>
              <a:t>  WHERE Sname NOT </a:t>
            </a:r>
            <a:r>
              <a:rPr lang="en-US" altLang="zh-CN" dirty="0">
                <a:solidFill>
                  <a:srgbClr val="FF0000"/>
                </a:solidFill>
                <a:latin typeface="宋体" pitchFamily="2" charset="-122"/>
                <a:cs typeface="等线" panose="02010600030101010101" charset="-122"/>
              </a:rPr>
              <a:t>LIKE</a:t>
            </a:r>
            <a:r>
              <a:rPr lang="en-US" altLang="zh-CN" dirty="0">
                <a:solidFill>
                  <a:srgbClr val="0000FF"/>
                </a:solidFill>
                <a:latin typeface="宋体" pitchFamily="2" charset="-122"/>
                <a:cs typeface="等线" panose="02010600030101010101" charset="-122"/>
              </a:rPr>
              <a:t> '刘%'</a:t>
            </a:r>
          </a:p>
          <a:p>
            <a:pPr marL="0" indent="0" eaLnBrk="1" hangingPunct="1">
              <a:spcBef>
                <a:spcPts val="2400"/>
              </a:spcBef>
              <a:buNone/>
            </a:pPr>
            <a:r>
              <a:rPr lang="zh-CN" altLang="en-US" dirty="0" smtClean="0">
                <a:latin typeface="宋体" pitchFamily="2" charset="-122"/>
                <a:cs typeface="等线" panose="02010600030101010101" charset="-122"/>
              </a:rPr>
              <a:t>例</a:t>
            </a:r>
            <a:r>
              <a:rPr lang="en-US" altLang="zh-CN" sz="3200" dirty="0" smtClean="0"/>
              <a:t>4.20 </a:t>
            </a:r>
            <a:r>
              <a:rPr dirty="0" smtClean="0">
                <a:latin typeface="宋体" pitchFamily="2" charset="-122"/>
                <a:cs typeface="等线" panose="02010600030101010101" charset="-122"/>
              </a:rPr>
              <a:t>查询学号的最后一位不是</a:t>
            </a:r>
            <a:r>
              <a:rPr dirty="0">
                <a:latin typeface="宋体" pitchFamily="2" charset="-122"/>
                <a:cs typeface="等线" panose="02010600030101010101" charset="-122"/>
              </a:rPr>
              <a:t>2、3、5的学生信息</a:t>
            </a:r>
            <a:r>
              <a:rPr lang="zh-CN" altLang="en-US" dirty="0">
                <a:latin typeface="宋体" pitchFamily="2" charset="-122"/>
                <a:cs typeface="等线" panose="02010600030101010101" charset="-122"/>
              </a:rPr>
              <a:t>。</a:t>
            </a:r>
          </a:p>
          <a:p>
            <a:pPr lvl="1" eaLnBrk="1" hangingPunct="1">
              <a:buFont typeface="Wingdings" panose="05000000000000000000" pitchFamily="2" charset="2"/>
              <a:buNone/>
            </a:pPr>
            <a:r>
              <a:rPr lang="en-US" altLang="zh-CN" dirty="0">
                <a:solidFill>
                  <a:srgbClr val="0000FF"/>
                </a:solidFill>
                <a:latin typeface="宋体" pitchFamily="2" charset="-122"/>
                <a:cs typeface="等线" panose="02010600030101010101" charset="-122"/>
              </a:rPr>
              <a:t>SELECT * FROM Student </a:t>
            </a:r>
          </a:p>
          <a:p>
            <a:pPr lvl="1" eaLnBrk="1" hangingPunct="1">
              <a:buFont typeface="Wingdings" panose="05000000000000000000" pitchFamily="2" charset="2"/>
              <a:buNone/>
            </a:pPr>
            <a:r>
              <a:rPr lang="en-US" altLang="zh-CN" dirty="0">
                <a:solidFill>
                  <a:srgbClr val="0000FF"/>
                </a:solidFill>
                <a:latin typeface="宋体" pitchFamily="2" charset="-122"/>
                <a:cs typeface="等线" panose="02010600030101010101" charset="-122"/>
              </a:rPr>
              <a:t>    WHERE Sno </a:t>
            </a:r>
            <a:r>
              <a:rPr lang="en-US" altLang="zh-CN" dirty="0">
                <a:solidFill>
                  <a:srgbClr val="FF0000"/>
                </a:solidFill>
                <a:latin typeface="宋体" pitchFamily="2" charset="-122"/>
                <a:cs typeface="等线" panose="02010600030101010101" charset="-122"/>
              </a:rPr>
              <a:t>LIKE</a:t>
            </a:r>
            <a:r>
              <a:rPr lang="en-US" altLang="zh-CN" dirty="0">
                <a:solidFill>
                  <a:srgbClr val="0000FF"/>
                </a:solidFill>
                <a:latin typeface="宋体" pitchFamily="2" charset="-122"/>
                <a:cs typeface="等线" panose="02010600030101010101" charset="-122"/>
              </a:rPr>
              <a:t> '%[^235]'</a:t>
            </a:r>
            <a:r>
              <a:rPr lang="en-US" altLang="zh-CN" dirty="0">
                <a:latin typeface="宋体" pitchFamily="2" charset="-122"/>
                <a:cs typeface="等线" panose="02010600030101010101" charset="-122"/>
              </a:rPr>
              <a:t> </a:t>
            </a:r>
            <a:endParaRPr lang="zh-CN" altLang="en-US" dirty="0">
              <a:latin typeface="宋体" pitchFamily="2" charset="-122"/>
              <a:cs typeface="等线" panose="02010600030101010101" charset="-122"/>
            </a:endParaRPr>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p:cNvSpPr>
          <p:nvPr>
            <p:ph type="title"/>
          </p:nvPr>
        </p:nvSpPr>
        <p:spPr>
          <a:xfrm>
            <a:off x="500063" y="152400"/>
            <a:ext cx="8001000" cy="685800"/>
          </a:xfrm>
          <a:noFill/>
          <a:ln w="9525">
            <a:noFill/>
          </a:ln>
        </p:spPr>
        <p:txBody>
          <a:bodyPr vert="horz" wrap="square" lIns="91440" tIns="45720" rIns="91440" bIns="45720" rtlCol="0" anchor="ctr" anchorCtr="0">
            <a:normAutofit fontScale="90000"/>
          </a:bodyPr>
          <a:lstStyle/>
          <a:p>
            <a:pPr lvl="0" algn="ctr" eaLnBrk="1" hangingPunct="1">
              <a:buClrTx/>
              <a:buSzTx/>
              <a:buFontTx/>
            </a:pPr>
            <a:r>
              <a:rPr lang="zh-CN" altLang="en-US" sz="4000" b="0" dirty="0">
                <a:latin typeface="黑体" panose="02010609060101010101" pitchFamily="2" charset="-122"/>
                <a:ea typeface="黑体" panose="02010609060101010101" pitchFamily="2" charset="-122"/>
                <a:sym typeface="+mn-ea"/>
              </a:rPr>
              <a:t>转义字符 </a:t>
            </a:r>
          </a:p>
        </p:txBody>
      </p:sp>
      <p:sp>
        <p:nvSpPr>
          <p:cNvPr id="29699" name="Rectangle 3"/>
          <p:cNvSpPr>
            <a:spLocks noGrp="1"/>
          </p:cNvSpPr>
          <p:nvPr>
            <p:ph idx="1"/>
          </p:nvPr>
        </p:nvSpPr>
        <p:spPr>
          <a:xfrm>
            <a:off x="395536" y="1484784"/>
            <a:ext cx="8329612" cy="4392488"/>
          </a:xfrm>
        </p:spPr>
        <p:txBody>
          <a:bodyPr vert="horz" wrap="square" lIns="91440" tIns="45720" rIns="91440" bIns="45720" anchor="t" anchorCtr="0"/>
          <a:lstStyle/>
          <a:p>
            <a:pPr marL="609600" indent="-609600" algn="just" eaLnBrk="1" hangingPunct="1">
              <a:spcBef>
                <a:spcPts val="1800"/>
              </a:spcBef>
            </a:pPr>
            <a:r>
              <a:rPr lang="zh-CN" altLang="en-US" sz="3000" dirty="0">
                <a:latin typeface="宋体" pitchFamily="2" charset="-122"/>
                <a:cs typeface="等线" panose="02010600030101010101" charset="-122"/>
              </a:rPr>
              <a:t>如果要查找的字符串正好含有通配符，比如下划线或百分号，就需要使用一个特殊子句来告诉系统这里的下划线或百分号是一个普通的字符，而不是一个通配符，</a:t>
            </a:r>
          </a:p>
          <a:p>
            <a:pPr marL="609600" indent="-609600" algn="just" eaLnBrk="1" hangingPunct="1">
              <a:spcBef>
                <a:spcPts val="1800"/>
              </a:spcBef>
            </a:pPr>
            <a:r>
              <a:rPr lang="zh-CN" altLang="en-US" sz="3000" dirty="0">
                <a:latin typeface="宋体" pitchFamily="2" charset="-122"/>
                <a:cs typeface="等线" panose="02010600030101010101" charset="-122"/>
              </a:rPr>
              <a:t>这个特殊的子句就是</a:t>
            </a:r>
            <a:r>
              <a:rPr lang="en-US" altLang="zh-CN" sz="3000" dirty="0">
                <a:latin typeface="宋体" pitchFamily="2" charset="-122"/>
                <a:cs typeface="等线" panose="02010600030101010101" charset="-122"/>
              </a:rPr>
              <a:t>ESCAPE</a:t>
            </a:r>
            <a:r>
              <a:rPr lang="zh-CN" altLang="en-US" sz="3000" dirty="0">
                <a:latin typeface="宋体" pitchFamily="2" charset="-122"/>
                <a:cs typeface="等线" panose="02010600030101010101" charset="-122"/>
              </a:rPr>
              <a:t>。</a:t>
            </a:r>
          </a:p>
          <a:p>
            <a:pPr marL="609600" indent="-609600" algn="just" eaLnBrk="1" hangingPunct="1">
              <a:spcBef>
                <a:spcPts val="1800"/>
              </a:spcBef>
            </a:pPr>
            <a:r>
              <a:rPr lang="en-US" altLang="zh-CN" sz="3000" dirty="0">
                <a:latin typeface="宋体" pitchFamily="2" charset="-122"/>
                <a:cs typeface="等线" panose="02010600030101010101" charset="-122"/>
              </a:rPr>
              <a:t>ESCAPE</a:t>
            </a:r>
            <a:r>
              <a:rPr lang="zh-CN" altLang="en-US" sz="3000" dirty="0">
                <a:latin typeface="宋体" pitchFamily="2" charset="-122"/>
                <a:cs typeface="等线" panose="02010600030101010101" charset="-122"/>
              </a:rPr>
              <a:t>的语法格式</a:t>
            </a:r>
            <a:r>
              <a:rPr lang="zh-CN" altLang="en-US" sz="3000" dirty="0" smtClean="0">
                <a:latin typeface="宋体" pitchFamily="2" charset="-122"/>
                <a:cs typeface="等线" panose="02010600030101010101" charset="-122"/>
              </a:rPr>
              <a:t>：</a:t>
            </a:r>
            <a:r>
              <a:rPr lang="en-US" altLang="zh-CN" sz="3000" dirty="0" smtClean="0">
                <a:solidFill>
                  <a:srgbClr val="FF0000"/>
                </a:solidFill>
                <a:latin typeface="宋体" pitchFamily="2" charset="-122"/>
                <a:cs typeface="等线" panose="02010600030101010101" charset="-122"/>
              </a:rPr>
              <a:t> </a:t>
            </a:r>
            <a:r>
              <a:rPr lang="en-US" altLang="zh-CN" sz="3000" dirty="0">
                <a:solidFill>
                  <a:srgbClr val="FF0000"/>
                </a:solidFill>
                <a:latin typeface="宋体" pitchFamily="2" charset="-122"/>
                <a:cs typeface="等线" panose="02010600030101010101" charset="-122"/>
              </a:rPr>
              <a:t>ESCAPE</a:t>
            </a:r>
            <a:r>
              <a:rPr lang="zh-CN" altLang="en-US" sz="3000" dirty="0">
                <a:solidFill>
                  <a:srgbClr val="FF0000"/>
                </a:solidFill>
                <a:latin typeface="宋体" pitchFamily="2" charset="-122"/>
                <a:cs typeface="等线" panose="02010600030101010101" charset="-122"/>
              </a:rPr>
              <a:t>转义字符</a:t>
            </a:r>
          </a:p>
          <a:p>
            <a:pPr marL="609600" indent="-609600" algn="just" eaLnBrk="1" hangingPunct="1">
              <a:spcBef>
                <a:spcPts val="1800"/>
              </a:spcBef>
            </a:pPr>
            <a:r>
              <a:rPr lang="zh-CN" altLang="en-US" sz="3000" dirty="0">
                <a:latin typeface="宋体" pitchFamily="2" charset="-122"/>
                <a:cs typeface="等线" panose="02010600030101010101" charset="-122"/>
              </a:rPr>
              <a:t>其中“转义字符”可以是任何有效的字符。  </a:t>
            </a:r>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p:cNvSpPr>
          <p:nvPr>
            <p:ph type="title"/>
          </p:nvPr>
        </p:nvSpPr>
        <p:spPr>
          <a:xfrm>
            <a:off x="500063" y="152400"/>
            <a:ext cx="8001000" cy="685800"/>
          </a:xfrm>
          <a:noFill/>
          <a:ln w="9525">
            <a:noFill/>
          </a:ln>
        </p:spPr>
        <p:txBody>
          <a:bodyPr vert="horz" wrap="square" lIns="91440" tIns="45720" rIns="91440" bIns="45720" rtlCol="0" anchor="ctr" anchorCtr="0">
            <a:normAutofit fontScale="90000"/>
          </a:bodyPr>
          <a:lstStyle/>
          <a:p>
            <a:pPr lvl="0" algn="ctr" eaLnBrk="1" hangingPunct="1">
              <a:buClrTx/>
              <a:buSzTx/>
              <a:buFontTx/>
            </a:pPr>
            <a:r>
              <a:rPr lang="zh-CN" altLang="en-US" sz="4000" b="0" dirty="0">
                <a:latin typeface="黑体" panose="02010609060101010101" pitchFamily="2" charset="-122"/>
                <a:ea typeface="黑体" panose="02010609060101010101" pitchFamily="2" charset="-122"/>
                <a:sym typeface="+mn-ea"/>
              </a:rPr>
              <a:t>示例</a:t>
            </a:r>
          </a:p>
        </p:txBody>
      </p:sp>
      <p:sp>
        <p:nvSpPr>
          <p:cNvPr id="30723" name="Rectangle 3"/>
          <p:cNvSpPr>
            <a:spLocks noGrp="1"/>
          </p:cNvSpPr>
          <p:nvPr>
            <p:ph idx="1"/>
          </p:nvPr>
        </p:nvSpPr>
        <p:spPr/>
        <p:txBody>
          <a:bodyPr vert="horz" wrap="square" lIns="91440" tIns="45720" rIns="91440" bIns="45720" anchor="t" anchorCtr="0"/>
          <a:lstStyle/>
          <a:p>
            <a:pPr marL="0" indent="0" algn="just" eaLnBrk="1" hangingPunct="1">
              <a:buNone/>
            </a:pPr>
            <a:r>
              <a:rPr lang="zh-CN" altLang="en-US" dirty="0">
                <a:latin typeface="宋体" pitchFamily="2" charset="-122"/>
                <a:cs typeface="等线" panose="02010600030101010101" charset="-122"/>
              </a:rPr>
              <a:t>例如，为查找</a:t>
            </a:r>
            <a:r>
              <a:rPr lang="en-US" altLang="zh-CN" dirty="0">
                <a:latin typeface="宋体" pitchFamily="2" charset="-122"/>
                <a:cs typeface="等线" panose="02010600030101010101" charset="-122"/>
              </a:rPr>
              <a:t>field1</a:t>
            </a:r>
            <a:r>
              <a:rPr lang="zh-CN" altLang="en-US" dirty="0">
                <a:latin typeface="宋体" pitchFamily="2" charset="-122"/>
                <a:cs typeface="等线" panose="02010600030101010101" charset="-122"/>
              </a:rPr>
              <a:t>字段中包含字符串“</a:t>
            </a:r>
            <a:r>
              <a:rPr lang="en-US" altLang="zh-CN" dirty="0">
                <a:latin typeface="宋体" pitchFamily="2" charset="-122"/>
                <a:cs typeface="等线" panose="02010600030101010101" charset="-122"/>
              </a:rPr>
              <a:t>30%”</a:t>
            </a:r>
            <a:r>
              <a:rPr lang="zh-CN" altLang="en-US" dirty="0">
                <a:latin typeface="宋体" pitchFamily="2" charset="-122"/>
                <a:cs typeface="等线" panose="02010600030101010101" charset="-122"/>
              </a:rPr>
              <a:t>的记录，可在</a:t>
            </a:r>
            <a:r>
              <a:rPr lang="en-US" altLang="zh-CN" dirty="0">
                <a:latin typeface="宋体" pitchFamily="2" charset="-122"/>
                <a:cs typeface="等线" panose="02010600030101010101" charset="-122"/>
              </a:rPr>
              <a:t>WHERE</a:t>
            </a:r>
            <a:r>
              <a:rPr lang="zh-CN" altLang="en-US" dirty="0">
                <a:latin typeface="宋体" pitchFamily="2" charset="-122"/>
                <a:cs typeface="等线" panose="02010600030101010101" charset="-122"/>
              </a:rPr>
              <a:t>子句中指定：</a:t>
            </a:r>
          </a:p>
          <a:p>
            <a:pPr lvl="1" algn="just" eaLnBrk="1" hangingPunct="1">
              <a:buFont typeface="Wingdings" panose="05000000000000000000" pitchFamily="2" charset="2"/>
              <a:buNone/>
            </a:pPr>
            <a:r>
              <a:rPr lang="en-US" altLang="zh-CN" dirty="0">
                <a:solidFill>
                  <a:srgbClr val="0000FF"/>
                </a:solidFill>
                <a:latin typeface="宋体" pitchFamily="2" charset="-122"/>
                <a:cs typeface="等线" panose="02010600030101010101" charset="-122"/>
              </a:rPr>
              <a:t>WHERE  field1 </a:t>
            </a:r>
            <a:r>
              <a:rPr lang="en-US" altLang="zh-CN" dirty="0">
                <a:solidFill>
                  <a:srgbClr val="FF0000"/>
                </a:solidFill>
                <a:latin typeface="宋体" pitchFamily="2" charset="-122"/>
                <a:cs typeface="等线" panose="02010600030101010101" charset="-122"/>
              </a:rPr>
              <a:t>LIKE</a:t>
            </a:r>
            <a:r>
              <a:rPr lang="en-US" altLang="zh-CN" dirty="0">
                <a:solidFill>
                  <a:srgbClr val="0000FF"/>
                </a:solidFill>
                <a:latin typeface="宋体" pitchFamily="2" charset="-122"/>
                <a:cs typeface="等线" panose="02010600030101010101" charset="-122"/>
              </a:rPr>
              <a:t> </a:t>
            </a:r>
            <a:r>
              <a:rPr lang="en-US" altLang="zh-CN" dirty="0" smtClean="0">
                <a:solidFill>
                  <a:srgbClr val="0000FF"/>
                </a:solidFill>
                <a:latin typeface="宋体" pitchFamily="2" charset="-122"/>
                <a:cs typeface="等线" panose="02010600030101010101" charset="-122"/>
              </a:rPr>
              <a:t>'%</a:t>
            </a:r>
            <a:r>
              <a:rPr lang="en-US" altLang="zh-CN" dirty="0">
                <a:solidFill>
                  <a:srgbClr val="0000FF"/>
                </a:solidFill>
                <a:latin typeface="宋体" pitchFamily="2" charset="-122"/>
                <a:cs typeface="等线" panose="02010600030101010101" charset="-122"/>
              </a:rPr>
              <a:t>30!%%'  </a:t>
            </a:r>
          </a:p>
          <a:p>
            <a:pPr lvl="1" algn="just" eaLnBrk="1" hangingPunct="1">
              <a:spcBef>
                <a:spcPct val="0"/>
              </a:spcBef>
              <a:buFont typeface="Wingdings" panose="05000000000000000000" pitchFamily="2" charset="2"/>
              <a:buNone/>
            </a:pPr>
            <a:r>
              <a:rPr lang="en-US" altLang="zh-CN" dirty="0">
                <a:solidFill>
                  <a:srgbClr val="0000FF"/>
                </a:solidFill>
                <a:latin typeface="宋体" pitchFamily="2" charset="-122"/>
                <a:cs typeface="等线" panose="02010600030101010101" charset="-122"/>
              </a:rPr>
              <a:t>  </a:t>
            </a:r>
            <a:r>
              <a:rPr lang="en-US" altLang="zh-CN" dirty="0">
                <a:solidFill>
                  <a:srgbClr val="FF0000"/>
                </a:solidFill>
                <a:latin typeface="宋体" pitchFamily="2" charset="-122"/>
                <a:cs typeface="等线" panose="02010600030101010101" charset="-122"/>
              </a:rPr>
              <a:t>ESCAPE</a:t>
            </a:r>
            <a:r>
              <a:rPr lang="en-US" altLang="zh-CN" dirty="0">
                <a:solidFill>
                  <a:srgbClr val="0000FF"/>
                </a:solidFill>
                <a:latin typeface="宋体" pitchFamily="2" charset="-122"/>
                <a:cs typeface="等线" panose="02010600030101010101" charset="-122"/>
              </a:rPr>
              <a:t>  '!'</a:t>
            </a:r>
          </a:p>
          <a:p>
            <a:pPr marL="0" indent="0" algn="just" eaLnBrk="1" hangingPunct="1">
              <a:spcBef>
                <a:spcPts val="3000"/>
              </a:spcBef>
              <a:buNone/>
            </a:pPr>
            <a:r>
              <a:rPr lang="zh-CN" altLang="en-US" dirty="0">
                <a:latin typeface="宋体" pitchFamily="2" charset="-122"/>
                <a:cs typeface="等线" panose="02010600030101010101" charset="-122"/>
              </a:rPr>
              <a:t>又如，为查找</a:t>
            </a:r>
            <a:r>
              <a:rPr lang="en-US" altLang="zh-CN" dirty="0">
                <a:latin typeface="宋体" pitchFamily="2" charset="-122"/>
                <a:cs typeface="等线" panose="02010600030101010101" charset="-122"/>
              </a:rPr>
              <a:t>field1</a:t>
            </a:r>
            <a:r>
              <a:rPr lang="zh-CN" altLang="en-US" dirty="0">
                <a:latin typeface="宋体" pitchFamily="2" charset="-122"/>
                <a:cs typeface="等线" panose="02010600030101010101" charset="-122"/>
              </a:rPr>
              <a:t>字段中包含下划线（</a:t>
            </a:r>
            <a:r>
              <a:rPr lang="en-US" altLang="zh-CN" dirty="0">
                <a:latin typeface="宋体" pitchFamily="2" charset="-122"/>
                <a:cs typeface="等线" panose="02010600030101010101" charset="-122"/>
              </a:rPr>
              <a:t>_</a:t>
            </a:r>
            <a:r>
              <a:rPr lang="zh-CN" altLang="en-US" dirty="0">
                <a:latin typeface="宋体" pitchFamily="2" charset="-122"/>
                <a:cs typeface="等线" panose="02010600030101010101" charset="-122"/>
              </a:rPr>
              <a:t>）的记录，可在</a:t>
            </a:r>
            <a:r>
              <a:rPr lang="en-US" altLang="zh-CN" dirty="0">
                <a:latin typeface="宋体" pitchFamily="2" charset="-122"/>
                <a:cs typeface="等线" panose="02010600030101010101" charset="-122"/>
              </a:rPr>
              <a:t>WHERE</a:t>
            </a:r>
            <a:r>
              <a:rPr lang="zh-CN" altLang="en-US" dirty="0">
                <a:latin typeface="宋体" pitchFamily="2" charset="-122"/>
                <a:cs typeface="等线" panose="02010600030101010101" charset="-122"/>
              </a:rPr>
              <a:t>子句中指定：</a:t>
            </a:r>
          </a:p>
          <a:p>
            <a:pPr lvl="1" algn="just" eaLnBrk="1" hangingPunct="1">
              <a:buFont typeface="Wingdings" panose="05000000000000000000" pitchFamily="2" charset="2"/>
              <a:buNone/>
            </a:pPr>
            <a:r>
              <a:rPr lang="en-US" altLang="zh-CN" dirty="0">
                <a:solidFill>
                  <a:srgbClr val="0000FF"/>
                </a:solidFill>
                <a:latin typeface="宋体" pitchFamily="2" charset="-122"/>
                <a:cs typeface="等线" panose="02010600030101010101" charset="-122"/>
              </a:rPr>
              <a:t>WHERE  field1 </a:t>
            </a:r>
            <a:r>
              <a:rPr lang="en-US" altLang="zh-CN" dirty="0" smtClean="0">
                <a:solidFill>
                  <a:srgbClr val="FF0000"/>
                </a:solidFill>
                <a:latin typeface="宋体" pitchFamily="2" charset="-122"/>
                <a:cs typeface="等线" panose="02010600030101010101" charset="-122"/>
              </a:rPr>
              <a:t>LIKE</a:t>
            </a:r>
            <a:r>
              <a:rPr lang="en-US" altLang="zh-CN" dirty="0" smtClean="0">
                <a:solidFill>
                  <a:srgbClr val="0000FF"/>
                </a:solidFill>
                <a:latin typeface="宋体" pitchFamily="2" charset="-122"/>
                <a:cs typeface="等线" panose="02010600030101010101" charset="-122"/>
              </a:rPr>
              <a:t> </a:t>
            </a:r>
            <a:r>
              <a:rPr lang="en-US" altLang="zh-CN" dirty="0">
                <a:solidFill>
                  <a:srgbClr val="0000FF"/>
                </a:solidFill>
                <a:latin typeface="宋体" pitchFamily="2" charset="-122"/>
                <a:cs typeface="等线" panose="02010600030101010101" charset="-122"/>
              </a:rPr>
              <a:t>'%!_%'  </a:t>
            </a:r>
          </a:p>
          <a:p>
            <a:pPr lvl="1" algn="just" eaLnBrk="1" hangingPunct="1">
              <a:spcBef>
                <a:spcPct val="0"/>
              </a:spcBef>
              <a:buFont typeface="Wingdings" panose="05000000000000000000" pitchFamily="2" charset="2"/>
              <a:buNone/>
            </a:pPr>
            <a:r>
              <a:rPr lang="en-US" altLang="zh-CN" dirty="0">
                <a:solidFill>
                  <a:srgbClr val="0000FF"/>
                </a:solidFill>
                <a:latin typeface="宋体" pitchFamily="2" charset="-122"/>
                <a:cs typeface="等线" panose="02010600030101010101" charset="-122"/>
              </a:rPr>
              <a:t>  </a:t>
            </a:r>
            <a:r>
              <a:rPr lang="en-US" altLang="zh-CN" dirty="0">
                <a:solidFill>
                  <a:srgbClr val="FF0000"/>
                </a:solidFill>
                <a:latin typeface="宋体" pitchFamily="2" charset="-122"/>
                <a:cs typeface="等线" panose="02010600030101010101" charset="-122"/>
              </a:rPr>
              <a:t>ESCAPE</a:t>
            </a:r>
            <a:r>
              <a:rPr lang="en-US" altLang="zh-CN" dirty="0">
                <a:solidFill>
                  <a:srgbClr val="0000FF"/>
                </a:solidFill>
                <a:latin typeface="宋体" pitchFamily="2" charset="-122"/>
                <a:cs typeface="等线" panose="02010600030101010101" charset="-122"/>
              </a:rPr>
              <a:t>  '!'</a:t>
            </a:r>
            <a:endParaRPr lang="zh-CN" altLang="en-US" dirty="0">
              <a:solidFill>
                <a:srgbClr val="0000FF"/>
              </a:solidFill>
              <a:latin typeface="宋体" pitchFamily="2" charset="-122"/>
              <a:cs typeface="等线" panose="02010600030101010101" charset="-122"/>
            </a:endParaRPr>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p:cNvSpPr>
          <p:nvPr>
            <p:ph type="title"/>
          </p:nvPr>
        </p:nvSpPr>
        <p:spPr>
          <a:xfrm>
            <a:off x="500063" y="152400"/>
            <a:ext cx="8001000" cy="685800"/>
          </a:xfrm>
          <a:noFill/>
          <a:ln w="9525">
            <a:noFill/>
          </a:ln>
        </p:spPr>
        <p:txBody>
          <a:bodyPr vert="horz" wrap="square" lIns="91440" tIns="45720" rIns="91440" bIns="45720" rtlCol="0" anchor="ctr" anchorCtr="0">
            <a:normAutofit fontScale="90000"/>
          </a:bodyPr>
          <a:lstStyle/>
          <a:p>
            <a:pPr lvl="0" algn="ctr" eaLnBrk="1" hangingPunct="1">
              <a:buClrTx/>
              <a:buSzTx/>
              <a:buFontTx/>
            </a:pPr>
            <a:r>
              <a:rPr lang="zh-CN" altLang="en-US" sz="4000" b="0" dirty="0">
                <a:latin typeface="黑体" panose="02010609060101010101" pitchFamily="2" charset="-122"/>
                <a:ea typeface="黑体" panose="02010609060101010101" pitchFamily="2" charset="-122"/>
                <a:sym typeface="+mn-ea"/>
              </a:rPr>
              <a:t>涉及空值的查询</a:t>
            </a:r>
          </a:p>
        </p:txBody>
      </p:sp>
      <p:sp>
        <p:nvSpPr>
          <p:cNvPr id="31747" name="Rectangle 3"/>
          <p:cNvSpPr>
            <a:spLocks noGrp="1"/>
          </p:cNvSpPr>
          <p:nvPr>
            <p:ph idx="1"/>
          </p:nvPr>
        </p:nvSpPr>
        <p:spPr>
          <a:xfrm>
            <a:off x="395536" y="1484784"/>
            <a:ext cx="8569325" cy="4248472"/>
          </a:xfrm>
        </p:spPr>
        <p:txBody>
          <a:bodyPr vert="horz" wrap="square" lIns="91440" tIns="45720" rIns="91440" bIns="45720" anchor="t" anchorCtr="0"/>
          <a:lstStyle/>
          <a:p>
            <a:pPr eaLnBrk="1" hangingPunct="1">
              <a:spcBef>
                <a:spcPts val="1200"/>
              </a:spcBef>
            </a:pPr>
            <a:r>
              <a:rPr lang="zh-CN" altLang="en-US" sz="2800" dirty="0">
                <a:latin typeface="宋体" pitchFamily="2" charset="-122"/>
                <a:cs typeface="等线" panose="02010600030101010101" charset="-122"/>
              </a:rPr>
              <a:t>空值（</a:t>
            </a:r>
            <a:r>
              <a:rPr lang="en-US" altLang="zh-CN" sz="2800" dirty="0">
                <a:latin typeface="宋体" pitchFamily="2" charset="-122"/>
                <a:cs typeface="等线" panose="02010600030101010101" charset="-122"/>
              </a:rPr>
              <a:t>NULL</a:t>
            </a:r>
            <a:r>
              <a:rPr lang="zh-CN" altLang="en-US" sz="2800" dirty="0">
                <a:latin typeface="宋体" pitchFamily="2" charset="-122"/>
                <a:cs typeface="等线" panose="02010600030101010101" charset="-122"/>
              </a:rPr>
              <a:t>）在数据库中表示不确定的值。</a:t>
            </a:r>
          </a:p>
          <a:p>
            <a:pPr marL="0" indent="0" eaLnBrk="1" hangingPunct="1">
              <a:spcBef>
                <a:spcPts val="1200"/>
              </a:spcBef>
              <a:buNone/>
            </a:pPr>
            <a:r>
              <a:rPr lang="zh-CN" altLang="en-US" sz="2800" dirty="0">
                <a:latin typeface="宋体" pitchFamily="2" charset="-122"/>
                <a:cs typeface="等线" panose="02010600030101010101" charset="-122"/>
              </a:rPr>
              <a:t>例如，学生选修课程后还没有考试时，这些学生有选课记录，但没有考试成绩，因此考试成绩为空值。</a:t>
            </a:r>
          </a:p>
          <a:p>
            <a:pPr eaLnBrk="1" hangingPunct="1">
              <a:spcBef>
                <a:spcPts val="3000"/>
              </a:spcBef>
            </a:pPr>
            <a:r>
              <a:rPr lang="zh-CN" altLang="en-US" sz="2800" dirty="0">
                <a:latin typeface="宋体" pitchFamily="2" charset="-122"/>
                <a:cs typeface="等线" panose="02010600030101010101" charset="-122"/>
              </a:rPr>
              <a:t>判断某个值是否为</a:t>
            </a:r>
            <a:r>
              <a:rPr lang="en-US" altLang="zh-CN" sz="2800" dirty="0">
                <a:latin typeface="宋体" pitchFamily="2" charset="-122"/>
                <a:cs typeface="等线" panose="02010600030101010101" charset="-122"/>
              </a:rPr>
              <a:t>NULL</a:t>
            </a:r>
            <a:r>
              <a:rPr lang="zh-CN" altLang="en-US" sz="2800" dirty="0">
                <a:latin typeface="宋体" pitchFamily="2" charset="-122"/>
                <a:cs typeface="等线" panose="02010600030101010101" charset="-122"/>
              </a:rPr>
              <a:t>值，不能使用普通的比较运算符。</a:t>
            </a:r>
          </a:p>
          <a:p>
            <a:pPr marL="0" indent="0" eaLnBrk="1" hangingPunct="1">
              <a:spcBef>
                <a:spcPts val="1200"/>
              </a:spcBef>
              <a:buNone/>
            </a:pPr>
            <a:r>
              <a:rPr lang="zh-CN" altLang="en-US" sz="2800" dirty="0" smtClean="0">
                <a:latin typeface="宋体" pitchFamily="2" charset="-122"/>
                <a:cs typeface="等线" panose="02010600030101010101" charset="-122"/>
              </a:rPr>
              <a:t>  判断</a:t>
            </a:r>
            <a:r>
              <a:rPr lang="zh-CN" altLang="en-US" sz="2800" dirty="0">
                <a:latin typeface="宋体" pitchFamily="2" charset="-122"/>
                <a:cs typeface="等线" panose="02010600030101010101" charset="-122"/>
              </a:rPr>
              <a:t>取值为空的语句格式为</a:t>
            </a:r>
            <a:r>
              <a:rPr lang="zh-CN" altLang="en-US" sz="2800" dirty="0" smtClean="0">
                <a:latin typeface="宋体" pitchFamily="2" charset="-122"/>
                <a:cs typeface="等线" panose="02010600030101010101" charset="-122"/>
              </a:rPr>
              <a:t>：</a:t>
            </a:r>
            <a:r>
              <a:rPr lang="zh-CN" altLang="en-US" sz="2800" dirty="0" smtClean="0">
                <a:solidFill>
                  <a:srgbClr val="FF0000"/>
                </a:solidFill>
                <a:latin typeface="宋体" pitchFamily="2" charset="-122"/>
                <a:cs typeface="等线" panose="02010600030101010101" charset="-122"/>
              </a:rPr>
              <a:t>列</a:t>
            </a:r>
            <a:r>
              <a:rPr lang="zh-CN" altLang="en-US" sz="2800" dirty="0">
                <a:solidFill>
                  <a:srgbClr val="FF0000"/>
                </a:solidFill>
                <a:latin typeface="宋体" pitchFamily="2" charset="-122"/>
                <a:cs typeface="等线" panose="02010600030101010101" charset="-122"/>
              </a:rPr>
              <a:t>名 </a:t>
            </a:r>
            <a:r>
              <a:rPr lang="en-US" altLang="zh-CN" sz="2800" dirty="0">
                <a:solidFill>
                  <a:srgbClr val="FF0000"/>
                </a:solidFill>
                <a:latin typeface="宋体" pitchFamily="2" charset="-122"/>
                <a:cs typeface="等线" panose="02010600030101010101" charset="-122"/>
              </a:rPr>
              <a:t>IS NULL</a:t>
            </a:r>
          </a:p>
          <a:p>
            <a:pPr marL="0" indent="0" eaLnBrk="1" hangingPunct="1">
              <a:spcBef>
                <a:spcPts val="1200"/>
              </a:spcBef>
              <a:buNone/>
            </a:pPr>
            <a:r>
              <a:rPr lang="zh-CN" altLang="en-US" sz="2800" dirty="0" smtClean="0">
                <a:latin typeface="宋体" pitchFamily="2" charset="-122"/>
                <a:cs typeface="等线" panose="02010600030101010101" charset="-122"/>
              </a:rPr>
              <a:t>  判断</a:t>
            </a:r>
            <a:r>
              <a:rPr lang="zh-CN" altLang="en-US" sz="2800" dirty="0">
                <a:latin typeface="宋体" pitchFamily="2" charset="-122"/>
                <a:cs typeface="等线" panose="02010600030101010101" charset="-122"/>
              </a:rPr>
              <a:t>取值不为空的语句格式为</a:t>
            </a:r>
            <a:r>
              <a:rPr lang="zh-CN" altLang="en-US" sz="2800" dirty="0" smtClean="0">
                <a:latin typeface="宋体" pitchFamily="2" charset="-122"/>
                <a:cs typeface="等线" panose="02010600030101010101" charset="-122"/>
              </a:rPr>
              <a:t>：</a:t>
            </a:r>
            <a:r>
              <a:rPr lang="zh-CN" altLang="en-US" sz="2800" dirty="0" smtClean="0">
                <a:solidFill>
                  <a:srgbClr val="FF0000"/>
                </a:solidFill>
                <a:latin typeface="宋体" pitchFamily="2" charset="-122"/>
                <a:cs typeface="等线" panose="02010600030101010101" charset="-122"/>
              </a:rPr>
              <a:t>列</a:t>
            </a:r>
            <a:r>
              <a:rPr lang="zh-CN" altLang="en-US" sz="2800" dirty="0">
                <a:solidFill>
                  <a:srgbClr val="FF0000"/>
                </a:solidFill>
                <a:latin typeface="宋体" pitchFamily="2" charset="-122"/>
                <a:cs typeface="等线" panose="02010600030101010101" charset="-122"/>
              </a:rPr>
              <a:t>名 </a:t>
            </a:r>
            <a:r>
              <a:rPr lang="en-US" altLang="zh-CN" sz="2800" dirty="0">
                <a:solidFill>
                  <a:srgbClr val="FF0000"/>
                </a:solidFill>
                <a:latin typeface="宋体" pitchFamily="2" charset="-122"/>
                <a:cs typeface="等线" panose="02010600030101010101" charset="-122"/>
              </a:rPr>
              <a:t>IS NOT NULL</a:t>
            </a:r>
            <a:r>
              <a:rPr lang="en-US" altLang="zh-CN" sz="2800" dirty="0">
                <a:latin typeface="宋体" pitchFamily="2" charset="-122"/>
                <a:cs typeface="等线" panose="02010600030101010101" charset="-122"/>
              </a:rPr>
              <a:t> </a:t>
            </a:r>
            <a:endParaRPr lang="zh-CN" altLang="en-US" sz="2800" dirty="0">
              <a:latin typeface="宋体" pitchFamily="2" charset="-122"/>
              <a:cs typeface="等线" panose="02010600030101010101" charset="-122"/>
            </a:endParaRPr>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p:cNvSpPr>
          <p:nvPr>
            <p:ph type="title"/>
          </p:nvPr>
        </p:nvSpPr>
        <p:spPr>
          <a:xfrm>
            <a:off x="500063" y="152400"/>
            <a:ext cx="8001000" cy="685800"/>
          </a:xfrm>
          <a:noFill/>
          <a:ln w="9525">
            <a:noFill/>
          </a:ln>
        </p:spPr>
        <p:txBody>
          <a:bodyPr vert="horz" wrap="square" lIns="91440" tIns="45720" rIns="91440" bIns="45720" rtlCol="0" anchor="ctr" anchorCtr="0">
            <a:normAutofit fontScale="90000"/>
          </a:bodyPr>
          <a:lstStyle/>
          <a:p>
            <a:pPr lvl="0" algn="ctr" eaLnBrk="1" hangingPunct="1">
              <a:buClrTx/>
              <a:buSzTx/>
              <a:buFontTx/>
            </a:pPr>
            <a:r>
              <a:rPr lang="zh-CN" altLang="en-US" sz="4000" b="0" dirty="0">
                <a:latin typeface="黑体" panose="02010609060101010101" pitchFamily="2" charset="-122"/>
                <a:ea typeface="黑体" panose="02010609060101010101" pitchFamily="2" charset="-122"/>
                <a:sym typeface="+mn-ea"/>
              </a:rPr>
              <a:t>示例</a:t>
            </a:r>
          </a:p>
        </p:txBody>
      </p:sp>
      <p:sp>
        <p:nvSpPr>
          <p:cNvPr id="32771" name="Rectangle 3"/>
          <p:cNvSpPr>
            <a:spLocks noGrp="1"/>
          </p:cNvSpPr>
          <p:nvPr>
            <p:ph idx="1"/>
          </p:nvPr>
        </p:nvSpPr>
        <p:spPr>
          <a:xfrm>
            <a:off x="250825" y="1341438"/>
            <a:ext cx="8435975" cy="4895850"/>
          </a:xfrm>
        </p:spPr>
        <p:txBody>
          <a:bodyPr vert="horz" wrap="square" lIns="91440" tIns="45720" rIns="91440" bIns="45720" anchor="t" anchorCtr="0"/>
          <a:lstStyle/>
          <a:p>
            <a:pPr marL="0" indent="0" eaLnBrk="1" hangingPunct="1">
              <a:buNone/>
            </a:pPr>
            <a:r>
              <a:rPr lang="zh-CN" altLang="en-US" dirty="0" smtClean="0">
                <a:latin typeface="宋体" pitchFamily="2" charset="-122"/>
                <a:cs typeface="等线" panose="02010600030101010101" charset="-122"/>
              </a:rPr>
              <a:t>例</a:t>
            </a:r>
            <a:r>
              <a:rPr lang="en-US" altLang="zh-CN" sz="3200" dirty="0" smtClean="0"/>
              <a:t>4.21 </a:t>
            </a:r>
            <a:r>
              <a:rPr lang="zh-CN" altLang="en-US" dirty="0" smtClean="0">
                <a:latin typeface="宋体" pitchFamily="2" charset="-122"/>
                <a:cs typeface="等线" panose="02010600030101010101" charset="-122"/>
              </a:rPr>
              <a:t>查询</a:t>
            </a:r>
            <a:r>
              <a:rPr lang="zh-CN" altLang="en-US" dirty="0">
                <a:latin typeface="宋体" pitchFamily="2" charset="-122"/>
                <a:cs typeface="等线" panose="02010600030101010101" charset="-122"/>
              </a:rPr>
              <a:t>没有考试的学生的学号和相应的课程号。</a:t>
            </a:r>
          </a:p>
          <a:p>
            <a:pPr lvl="1" algn="just" eaLnBrk="1" hangingPunct="1">
              <a:buFont typeface="Wingdings" panose="05000000000000000000" pitchFamily="2" charset="2"/>
              <a:buNone/>
            </a:pPr>
            <a:r>
              <a:rPr lang="en-US" altLang="zh-CN" dirty="0">
                <a:solidFill>
                  <a:srgbClr val="0000FF"/>
                </a:solidFill>
                <a:latin typeface="宋体" pitchFamily="2" charset="-122"/>
                <a:cs typeface="等线" panose="02010600030101010101" charset="-122"/>
              </a:rPr>
              <a:t>SELECT Sno, Cno FROM SC </a:t>
            </a:r>
          </a:p>
          <a:p>
            <a:pPr lvl="1" algn="just" eaLnBrk="1" hangingPunct="1">
              <a:buFont typeface="Wingdings" panose="05000000000000000000" pitchFamily="2" charset="2"/>
              <a:buNone/>
            </a:pPr>
            <a:r>
              <a:rPr lang="en-US" altLang="zh-CN" dirty="0">
                <a:solidFill>
                  <a:srgbClr val="0000FF"/>
                </a:solidFill>
                <a:latin typeface="宋体" pitchFamily="2" charset="-122"/>
                <a:cs typeface="等线" panose="02010600030101010101" charset="-122"/>
              </a:rPr>
              <a:t>    WHERE Grade </a:t>
            </a:r>
            <a:r>
              <a:rPr lang="en-US" altLang="zh-CN" dirty="0">
                <a:solidFill>
                  <a:srgbClr val="FF0000"/>
                </a:solidFill>
                <a:latin typeface="宋体" pitchFamily="2" charset="-122"/>
                <a:cs typeface="等线" panose="02010600030101010101" charset="-122"/>
              </a:rPr>
              <a:t>IS NULL</a:t>
            </a:r>
          </a:p>
          <a:p>
            <a:pPr marL="0" indent="0" eaLnBrk="1" hangingPunct="1">
              <a:buNone/>
            </a:pPr>
            <a:r>
              <a:rPr lang="zh-CN" altLang="en-US" dirty="0" smtClean="0">
                <a:latin typeface="宋体" pitchFamily="2" charset="-122"/>
                <a:cs typeface="等线" panose="02010600030101010101" charset="-122"/>
              </a:rPr>
              <a:t>例</a:t>
            </a:r>
            <a:r>
              <a:rPr lang="en-US" altLang="zh-CN" sz="3200" dirty="0" smtClean="0"/>
              <a:t>4.22 </a:t>
            </a:r>
            <a:r>
              <a:rPr lang="zh-CN" altLang="en-US" dirty="0" smtClean="0">
                <a:latin typeface="宋体" pitchFamily="2" charset="-122"/>
                <a:cs typeface="等线" panose="02010600030101010101" charset="-122"/>
              </a:rPr>
              <a:t>查询</a:t>
            </a:r>
            <a:r>
              <a:rPr lang="zh-CN" altLang="en-US" dirty="0">
                <a:latin typeface="宋体" pitchFamily="2" charset="-122"/>
                <a:cs typeface="等线" panose="02010600030101010101" charset="-122"/>
              </a:rPr>
              <a:t>所有有考试成绩的学生的学号、课程号和成绩。</a:t>
            </a:r>
          </a:p>
          <a:p>
            <a:pPr lvl="1" algn="just" eaLnBrk="1" hangingPunct="1">
              <a:buFont typeface="Wingdings" panose="05000000000000000000" pitchFamily="2" charset="2"/>
              <a:buNone/>
            </a:pPr>
            <a:r>
              <a:rPr lang="en-US" altLang="zh-CN" dirty="0">
                <a:solidFill>
                  <a:srgbClr val="0000FF"/>
                </a:solidFill>
                <a:latin typeface="宋体" pitchFamily="2" charset="-122"/>
                <a:cs typeface="等线" panose="02010600030101010101" charset="-122"/>
              </a:rPr>
              <a:t>SELECT Sno, Cno FROM SC </a:t>
            </a:r>
          </a:p>
          <a:p>
            <a:pPr lvl="1" algn="just" eaLnBrk="1" hangingPunct="1">
              <a:buFont typeface="Wingdings" panose="05000000000000000000" pitchFamily="2" charset="2"/>
              <a:buNone/>
            </a:pPr>
            <a:r>
              <a:rPr lang="en-US" altLang="zh-CN" dirty="0">
                <a:solidFill>
                  <a:srgbClr val="0000FF"/>
                </a:solidFill>
                <a:latin typeface="宋体" pitchFamily="2" charset="-122"/>
                <a:cs typeface="等线" panose="02010600030101010101" charset="-122"/>
              </a:rPr>
              <a:t>    WHERE Grade </a:t>
            </a:r>
            <a:r>
              <a:rPr lang="en-US" altLang="zh-CN" dirty="0">
                <a:solidFill>
                  <a:srgbClr val="FF0000"/>
                </a:solidFill>
                <a:latin typeface="宋体" pitchFamily="2" charset="-122"/>
                <a:cs typeface="等线" panose="02010600030101010101" charset="-122"/>
              </a:rPr>
              <a:t>IS NOT NULL</a:t>
            </a:r>
            <a:endParaRPr lang="zh-CN" altLang="en-US" dirty="0">
              <a:solidFill>
                <a:srgbClr val="FF0000"/>
              </a:solidFill>
              <a:latin typeface="宋体" pitchFamily="2" charset="-122"/>
              <a:cs typeface="等线" panose="02010600030101010101" charset="-122"/>
            </a:endParaRPr>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p:cNvSpPr>
          <p:nvPr>
            <p:ph type="title"/>
          </p:nvPr>
        </p:nvSpPr>
        <p:spPr>
          <a:xfrm>
            <a:off x="500063" y="152400"/>
            <a:ext cx="8001000" cy="685800"/>
          </a:xfrm>
          <a:noFill/>
          <a:ln w="9525">
            <a:noFill/>
          </a:ln>
        </p:spPr>
        <p:txBody>
          <a:bodyPr vert="horz" wrap="square" lIns="91440" tIns="45720" rIns="91440" bIns="45720" rtlCol="0" anchor="ctr" anchorCtr="0">
            <a:normAutofit fontScale="90000"/>
          </a:bodyPr>
          <a:lstStyle/>
          <a:p>
            <a:pPr lvl="0" algn="ctr" eaLnBrk="1" hangingPunct="1">
              <a:buClrTx/>
              <a:buSzTx/>
              <a:buFontTx/>
            </a:pPr>
            <a:r>
              <a:rPr lang="zh-CN" altLang="en-US" sz="4000" b="0" dirty="0">
                <a:latin typeface="黑体" panose="02010609060101010101" pitchFamily="2" charset="-122"/>
                <a:ea typeface="黑体" panose="02010609060101010101" pitchFamily="2" charset="-122"/>
                <a:sym typeface="+mn-ea"/>
              </a:rPr>
              <a:t>多重条件查询</a:t>
            </a:r>
          </a:p>
        </p:txBody>
      </p:sp>
      <p:sp>
        <p:nvSpPr>
          <p:cNvPr id="33795" name="Rectangle 3"/>
          <p:cNvSpPr>
            <a:spLocks noGrp="1"/>
          </p:cNvSpPr>
          <p:nvPr>
            <p:ph idx="1"/>
          </p:nvPr>
        </p:nvSpPr>
        <p:spPr>
          <a:xfrm>
            <a:off x="395288" y="1285875"/>
            <a:ext cx="8291512" cy="5022850"/>
          </a:xfrm>
        </p:spPr>
        <p:txBody>
          <a:bodyPr vert="horz" wrap="square" lIns="91440" tIns="45720" rIns="91440" bIns="45720" anchor="t" anchorCtr="0"/>
          <a:lstStyle/>
          <a:p>
            <a:pPr marL="0" indent="0" eaLnBrk="1" hangingPunct="1">
              <a:buNone/>
            </a:pPr>
            <a:r>
              <a:rPr lang="zh-CN" altLang="en-US" sz="3200" dirty="0">
                <a:latin typeface="宋体" pitchFamily="2" charset="-122"/>
                <a:cs typeface="等线" panose="02010600030101010101" charset="-122"/>
              </a:rPr>
              <a:t>在</a:t>
            </a:r>
            <a:r>
              <a:rPr lang="en-US" altLang="zh-CN" sz="3200" dirty="0">
                <a:latin typeface="宋体" pitchFamily="2" charset="-122"/>
                <a:cs typeface="等线" panose="02010600030101010101" charset="-122"/>
              </a:rPr>
              <a:t>WHERE</a:t>
            </a:r>
            <a:r>
              <a:rPr lang="zh-CN" altLang="en-US" sz="3200" dirty="0">
                <a:latin typeface="宋体" pitchFamily="2" charset="-122"/>
                <a:cs typeface="等线" panose="02010600030101010101" charset="-122"/>
              </a:rPr>
              <a:t>子句中可以使用逻辑运算符</a:t>
            </a:r>
            <a:r>
              <a:rPr lang="en-US" altLang="zh-CN" sz="3200" dirty="0">
                <a:latin typeface="宋体" pitchFamily="2" charset="-122"/>
                <a:cs typeface="等线" panose="02010600030101010101" charset="-122"/>
              </a:rPr>
              <a:t>AND</a:t>
            </a:r>
            <a:r>
              <a:rPr lang="zh-CN" altLang="en-US" sz="3200" dirty="0">
                <a:latin typeface="宋体" pitchFamily="2" charset="-122"/>
                <a:cs typeface="等线" panose="02010600030101010101" charset="-122"/>
              </a:rPr>
              <a:t>和</a:t>
            </a:r>
            <a:r>
              <a:rPr lang="en-US" altLang="zh-CN" sz="3200" dirty="0">
                <a:latin typeface="宋体" pitchFamily="2" charset="-122"/>
                <a:cs typeface="等线" panose="02010600030101010101" charset="-122"/>
              </a:rPr>
              <a:t>OR</a:t>
            </a:r>
            <a:r>
              <a:rPr lang="zh-CN" altLang="en-US" sz="3200" dirty="0">
                <a:latin typeface="宋体" pitchFamily="2" charset="-122"/>
                <a:cs typeface="等线" panose="02010600030101010101" charset="-122"/>
              </a:rPr>
              <a:t>来组成多条件查询。</a:t>
            </a:r>
          </a:p>
          <a:p>
            <a:pPr eaLnBrk="1" hangingPunct="1">
              <a:spcBef>
                <a:spcPts val="2400"/>
              </a:spcBef>
            </a:pPr>
            <a:r>
              <a:rPr lang="zh-CN" altLang="en-US" sz="3200" dirty="0">
                <a:latin typeface="宋体" pitchFamily="2" charset="-122"/>
                <a:cs typeface="等线" panose="02010600030101010101" charset="-122"/>
              </a:rPr>
              <a:t>使用</a:t>
            </a:r>
            <a:r>
              <a:rPr lang="en-US" altLang="zh-CN" sz="3200" dirty="0">
                <a:latin typeface="宋体" pitchFamily="2" charset="-122"/>
                <a:cs typeface="等线" panose="02010600030101010101" charset="-122"/>
              </a:rPr>
              <a:t>AND</a:t>
            </a:r>
            <a:r>
              <a:rPr lang="zh-CN" altLang="en-US" sz="3200" dirty="0">
                <a:latin typeface="宋体" pitchFamily="2" charset="-122"/>
                <a:cs typeface="等线" panose="02010600030101010101" charset="-122"/>
              </a:rPr>
              <a:t>谓词的语法格式如下：</a:t>
            </a:r>
          </a:p>
          <a:p>
            <a:pPr lvl="1" eaLnBrk="1" hangingPunct="1">
              <a:buFont typeface="Wingdings" panose="05000000000000000000" pitchFamily="2" charset="2"/>
              <a:buNone/>
            </a:pPr>
            <a:r>
              <a:rPr lang="zh-CN" altLang="en-US" dirty="0">
                <a:solidFill>
                  <a:srgbClr val="FF0000"/>
                </a:solidFill>
                <a:latin typeface="宋体" pitchFamily="2" charset="-122"/>
                <a:cs typeface="等线" panose="02010600030101010101" charset="-122"/>
              </a:rPr>
              <a:t>布尔表达式</a:t>
            </a:r>
            <a:r>
              <a:rPr lang="en-US" altLang="zh-CN" dirty="0">
                <a:solidFill>
                  <a:srgbClr val="FF0000"/>
                </a:solidFill>
                <a:latin typeface="宋体" pitchFamily="2" charset="-122"/>
                <a:cs typeface="等线" panose="02010600030101010101" charset="-122"/>
              </a:rPr>
              <a:t>1 AND </a:t>
            </a:r>
            <a:r>
              <a:rPr lang="zh-CN" altLang="en-US" dirty="0">
                <a:solidFill>
                  <a:srgbClr val="FF0000"/>
                </a:solidFill>
                <a:latin typeface="宋体" pitchFamily="2" charset="-122"/>
                <a:cs typeface="等线" panose="02010600030101010101" charset="-122"/>
              </a:rPr>
              <a:t>布尔表达式</a:t>
            </a:r>
            <a:r>
              <a:rPr lang="en-US" altLang="zh-CN" dirty="0">
                <a:solidFill>
                  <a:srgbClr val="FF0000"/>
                </a:solidFill>
                <a:latin typeface="宋体" pitchFamily="2" charset="-122"/>
                <a:cs typeface="等线" panose="02010600030101010101" charset="-122"/>
              </a:rPr>
              <a:t>2 AND … AND </a:t>
            </a:r>
            <a:r>
              <a:rPr lang="zh-CN" altLang="en-US" dirty="0">
                <a:solidFill>
                  <a:srgbClr val="FF0000"/>
                </a:solidFill>
                <a:latin typeface="宋体" pitchFamily="2" charset="-122"/>
                <a:cs typeface="等线" panose="02010600030101010101" charset="-122"/>
              </a:rPr>
              <a:t>布尔表达式</a:t>
            </a:r>
            <a:r>
              <a:rPr lang="en-US" altLang="zh-CN" dirty="0">
                <a:solidFill>
                  <a:srgbClr val="FF0000"/>
                </a:solidFill>
                <a:latin typeface="宋体" pitchFamily="2" charset="-122"/>
                <a:cs typeface="等线" panose="02010600030101010101" charset="-122"/>
              </a:rPr>
              <a:t>n</a:t>
            </a:r>
          </a:p>
          <a:p>
            <a:pPr marL="0" indent="0" eaLnBrk="1" hangingPunct="1">
              <a:buNone/>
            </a:pPr>
            <a:r>
              <a:rPr lang="zh-CN" altLang="en-US" sz="3200" dirty="0" smtClean="0">
                <a:latin typeface="宋体" pitchFamily="2" charset="-122"/>
                <a:cs typeface="等线" panose="02010600030101010101" charset="-122"/>
              </a:rPr>
              <a:t>只有</a:t>
            </a:r>
            <a:r>
              <a:rPr lang="zh-CN" altLang="en-US" sz="3200" dirty="0">
                <a:latin typeface="宋体" pitchFamily="2" charset="-122"/>
                <a:cs typeface="等线" panose="02010600030101010101" charset="-122"/>
              </a:rPr>
              <a:t>当全部的布尔表达式均为真时，整个表达式的结果才为真，只要有一个布尔表达式的结果为假，则整个表达式结果即为假。</a:t>
            </a:r>
          </a:p>
          <a:p>
            <a:pPr lvl="1" eaLnBrk="1" hangingPunct="1"/>
            <a:endParaRPr lang="zh-CN" altLang="en-US" sz="3200" dirty="0">
              <a:latin typeface="宋体" pitchFamily="2" charset="-122"/>
              <a:cs typeface="等线" panose="02010600030101010101" charset="-122"/>
            </a:endParaRPr>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p:cNvSpPr>
          <p:nvPr>
            <p:ph type="title"/>
          </p:nvPr>
        </p:nvSpPr>
        <p:spPr>
          <a:xfrm>
            <a:off x="500063" y="152400"/>
            <a:ext cx="8001000" cy="685800"/>
          </a:xfrm>
          <a:noFill/>
          <a:ln w="9525">
            <a:noFill/>
          </a:ln>
        </p:spPr>
        <p:txBody>
          <a:bodyPr vert="horz" wrap="square" lIns="91440" tIns="45720" rIns="91440" bIns="45720" rtlCol="0" anchor="ctr" anchorCtr="0">
            <a:normAutofit fontScale="90000"/>
          </a:bodyPr>
          <a:lstStyle/>
          <a:p>
            <a:pPr lvl="0" algn="ctr" eaLnBrk="1" hangingPunct="1">
              <a:buClrTx/>
              <a:buSzTx/>
              <a:buFontTx/>
            </a:pPr>
            <a:r>
              <a:rPr lang="zh-CN" altLang="en-US" sz="4000" b="0" dirty="0">
                <a:latin typeface="黑体" panose="02010609060101010101" pitchFamily="2" charset="-122"/>
                <a:ea typeface="黑体" panose="02010609060101010101" pitchFamily="2" charset="-122"/>
                <a:sym typeface="+mn-ea"/>
              </a:rPr>
              <a:t>多重条件查询（续）</a:t>
            </a:r>
          </a:p>
        </p:txBody>
      </p:sp>
      <p:sp>
        <p:nvSpPr>
          <p:cNvPr id="34819" name="Rectangle 3"/>
          <p:cNvSpPr>
            <a:spLocks noGrp="1"/>
          </p:cNvSpPr>
          <p:nvPr>
            <p:ph idx="1"/>
          </p:nvPr>
        </p:nvSpPr>
        <p:spPr>
          <a:xfrm>
            <a:off x="683568" y="1412776"/>
            <a:ext cx="7859216" cy="4810125"/>
          </a:xfrm>
        </p:spPr>
        <p:txBody>
          <a:bodyPr vert="horz" wrap="square" lIns="91440" tIns="45720" rIns="91440" bIns="45720" anchor="t" anchorCtr="0"/>
          <a:lstStyle/>
          <a:p>
            <a:pPr algn="just" eaLnBrk="1" hangingPunct="1"/>
            <a:r>
              <a:rPr lang="zh-CN" altLang="en-US" dirty="0">
                <a:latin typeface="宋体" pitchFamily="2" charset="-122"/>
                <a:cs typeface="等线" panose="02010600030101010101" charset="-122"/>
              </a:rPr>
              <a:t>使用</a:t>
            </a:r>
            <a:r>
              <a:rPr lang="en-US" altLang="zh-CN" dirty="0">
                <a:latin typeface="宋体" pitchFamily="2" charset="-122"/>
                <a:cs typeface="等线" panose="02010600030101010101" charset="-122"/>
              </a:rPr>
              <a:t>OR</a:t>
            </a:r>
            <a:r>
              <a:rPr lang="zh-CN" altLang="en-US" dirty="0">
                <a:latin typeface="宋体" pitchFamily="2" charset="-122"/>
                <a:cs typeface="等线" panose="02010600030101010101" charset="-122"/>
              </a:rPr>
              <a:t>谓词的语法格式</a:t>
            </a:r>
            <a:r>
              <a:rPr lang="zh-CN" altLang="en-US" dirty="0" smtClean="0">
                <a:latin typeface="宋体" pitchFamily="2" charset="-122"/>
                <a:cs typeface="等线" panose="02010600030101010101" charset="-122"/>
              </a:rPr>
              <a:t>如下：</a:t>
            </a:r>
            <a:endParaRPr lang="zh-CN" altLang="en-US" dirty="0">
              <a:latin typeface="宋体" pitchFamily="2" charset="-122"/>
              <a:cs typeface="等线" panose="02010600030101010101" charset="-122"/>
            </a:endParaRPr>
          </a:p>
          <a:p>
            <a:pPr algn="just" eaLnBrk="1" hangingPunct="1">
              <a:buFont typeface="Wingdings" panose="05000000000000000000" pitchFamily="2" charset="2"/>
              <a:buNone/>
            </a:pPr>
            <a:r>
              <a:rPr lang="zh-CN" altLang="en-US" sz="3200" dirty="0">
                <a:solidFill>
                  <a:srgbClr val="FF0000"/>
                </a:solidFill>
                <a:latin typeface="宋体" pitchFamily="2" charset="-122"/>
                <a:cs typeface="等线" panose="02010600030101010101" charset="-122"/>
              </a:rPr>
              <a:t>布尔表达式</a:t>
            </a:r>
            <a:r>
              <a:rPr lang="en-US" altLang="zh-CN" sz="3200" dirty="0">
                <a:solidFill>
                  <a:srgbClr val="FF0000"/>
                </a:solidFill>
                <a:latin typeface="宋体" pitchFamily="2" charset="-122"/>
                <a:cs typeface="等线" panose="02010600030101010101" charset="-122"/>
              </a:rPr>
              <a:t>1 OR </a:t>
            </a:r>
            <a:r>
              <a:rPr lang="zh-CN" altLang="en-US" sz="3200" dirty="0">
                <a:solidFill>
                  <a:srgbClr val="FF0000"/>
                </a:solidFill>
                <a:latin typeface="宋体" pitchFamily="2" charset="-122"/>
                <a:cs typeface="等线" panose="02010600030101010101" charset="-122"/>
              </a:rPr>
              <a:t>布尔表达式</a:t>
            </a:r>
            <a:r>
              <a:rPr lang="en-US" altLang="zh-CN" sz="3200" dirty="0">
                <a:solidFill>
                  <a:srgbClr val="FF0000"/>
                </a:solidFill>
                <a:latin typeface="宋体" pitchFamily="2" charset="-122"/>
                <a:cs typeface="等线" panose="02010600030101010101" charset="-122"/>
              </a:rPr>
              <a:t>2 OR … OR </a:t>
            </a:r>
            <a:r>
              <a:rPr lang="zh-CN" altLang="en-US" sz="3200" dirty="0">
                <a:solidFill>
                  <a:srgbClr val="FF0000"/>
                </a:solidFill>
                <a:latin typeface="宋体" pitchFamily="2" charset="-122"/>
                <a:cs typeface="等线" panose="02010600030101010101" charset="-122"/>
              </a:rPr>
              <a:t>布尔表达式</a:t>
            </a:r>
            <a:r>
              <a:rPr lang="en-US" altLang="zh-CN" sz="3200" dirty="0">
                <a:solidFill>
                  <a:srgbClr val="FF0000"/>
                </a:solidFill>
                <a:latin typeface="宋体" pitchFamily="2" charset="-122"/>
                <a:cs typeface="等线" panose="02010600030101010101" charset="-122"/>
              </a:rPr>
              <a:t>n</a:t>
            </a:r>
            <a:endParaRPr lang="zh-CN" altLang="en-US" sz="3200" dirty="0">
              <a:solidFill>
                <a:srgbClr val="FF0000"/>
              </a:solidFill>
              <a:latin typeface="宋体" pitchFamily="2" charset="-122"/>
              <a:cs typeface="等线" panose="02010600030101010101" charset="-122"/>
            </a:endParaRPr>
          </a:p>
          <a:p>
            <a:pPr marL="0" indent="0" algn="just" eaLnBrk="1" hangingPunct="1">
              <a:spcBef>
                <a:spcPts val="1200"/>
              </a:spcBef>
              <a:buNone/>
            </a:pPr>
            <a:r>
              <a:rPr lang="zh-CN" altLang="en-US" dirty="0" smtClean="0">
                <a:latin typeface="宋体" pitchFamily="2" charset="-122"/>
                <a:cs typeface="等线" panose="02010600030101010101" charset="-122"/>
              </a:rPr>
              <a:t>表示</a:t>
            </a:r>
            <a:r>
              <a:rPr lang="zh-CN" altLang="en-US" dirty="0">
                <a:latin typeface="宋体" pitchFamily="2" charset="-122"/>
                <a:cs typeface="等线" panose="02010600030101010101" charset="-122"/>
              </a:rPr>
              <a:t>只要其中一个布尔表达式为真，则整个表达式的结果即为真；只有当全部布尔表达式的结果均为假时，整个表达式结果才为假。</a:t>
            </a:r>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p:cNvSpPr>
          <p:nvPr>
            <p:ph type="title"/>
          </p:nvPr>
        </p:nvSpPr>
        <p:spPr>
          <a:xfrm>
            <a:off x="500063" y="152400"/>
            <a:ext cx="8001000" cy="685800"/>
          </a:xfrm>
          <a:noFill/>
          <a:ln w="9525">
            <a:noFill/>
          </a:ln>
        </p:spPr>
        <p:txBody>
          <a:bodyPr vert="horz" wrap="square" lIns="91440" tIns="45720" rIns="91440" bIns="45720" rtlCol="0" anchor="ctr" anchorCtr="0">
            <a:normAutofit fontScale="90000"/>
          </a:bodyPr>
          <a:lstStyle/>
          <a:p>
            <a:pPr lvl="0" algn="ctr" eaLnBrk="1" hangingPunct="1">
              <a:buClrTx/>
              <a:buSzTx/>
              <a:buFontTx/>
            </a:pPr>
            <a:r>
              <a:rPr lang="zh-CN" altLang="en-US" sz="4000" b="0" dirty="0">
                <a:latin typeface="黑体" panose="02010609060101010101" pitchFamily="2" charset="-122"/>
                <a:ea typeface="黑体" panose="02010609060101010101" pitchFamily="2" charset="-122"/>
                <a:sym typeface="+mn-ea"/>
              </a:rPr>
              <a:t>示例</a:t>
            </a:r>
          </a:p>
        </p:txBody>
      </p:sp>
      <p:sp>
        <p:nvSpPr>
          <p:cNvPr id="35843" name="Rectangle 3"/>
          <p:cNvSpPr>
            <a:spLocks noGrp="1"/>
          </p:cNvSpPr>
          <p:nvPr>
            <p:ph idx="1"/>
          </p:nvPr>
        </p:nvSpPr>
        <p:spPr>
          <a:xfrm>
            <a:off x="323850" y="1295400"/>
            <a:ext cx="8401050" cy="4149824"/>
          </a:xfrm>
        </p:spPr>
        <p:txBody>
          <a:bodyPr vert="horz" wrap="square" lIns="91440" tIns="45720" rIns="91440" bIns="45720" anchor="t" anchorCtr="0"/>
          <a:lstStyle/>
          <a:p>
            <a:pPr marL="0" indent="0" eaLnBrk="1" hangingPunct="1">
              <a:buNone/>
            </a:pPr>
            <a:r>
              <a:rPr lang="zh-CN" altLang="en-US" dirty="0" smtClean="0">
                <a:latin typeface="宋体" pitchFamily="2" charset="-122"/>
                <a:cs typeface="等线" panose="02010600030101010101" charset="-122"/>
              </a:rPr>
              <a:t>例</a:t>
            </a:r>
            <a:r>
              <a:rPr lang="en-US" altLang="zh-CN" sz="3200" dirty="0" smtClean="0"/>
              <a:t>4.23 </a:t>
            </a:r>
            <a:r>
              <a:rPr dirty="0" smtClean="0">
                <a:latin typeface="宋体" pitchFamily="2" charset="-122"/>
                <a:cs typeface="等线" panose="02010600030101010101" charset="-122"/>
              </a:rPr>
              <a:t>查询计算机系年龄在</a:t>
            </a:r>
            <a:r>
              <a:rPr dirty="0">
                <a:latin typeface="宋体" pitchFamily="2" charset="-122"/>
                <a:cs typeface="等线" panose="02010600030101010101" charset="-122"/>
              </a:rPr>
              <a:t>20岁以下的学生姓名和年龄</a:t>
            </a:r>
            <a:r>
              <a:rPr lang="zh-CN" dirty="0">
                <a:latin typeface="宋体" pitchFamily="2" charset="-122"/>
                <a:cs typeface="等线" panose="02010600030101010101" charset="-122"/>
              </a:rPr>
              <a:t>。</a:t>
            </a:r>
            <a:endParaRPr dirty="0">
              <a:latin typeface="宋体" pitchFamily="2" charset="-122"/>
              <a:cs typeface="等线" panose="02010600030101010101" charset="-122"/>
            </a:endParaRPr>
          </a:p>
          <a:p>
            <a:pPr eaLnBrk="1" hangingPunct="1">
              <a:buFont typeface="Wingdings" panose="05000000000000000000" pitchFamily="2" charset="2"/>
              <a:buNone/>
            </a:pPr>
            <a:r>
              <a:rPr lang="en-US" altLang="zh-CN" dirty="0">
                <a:solidFill>
                  <a:srgbClr val="0000FF"/>
                </a:solidFill>
                <a:latin typeface="宋体" pitchFamily="2" charset="-122"/>
                <a:cs typeface="等线" panose="02010600030101010101" charset="-122"/>
              </a:rPr>
              <a:t> SELECT Sname, Sage </a:t>
            </a:r>
            <a:endParaRPr lang="en-US" altLang="zh-CN" dirty="0" smtClean="0">
              <a:solidFill>
                <a:srgbClr val="0000FF"/>
              </a:solidFill>
              <a:latin typeface="宋体" pitchFamily="2" charset="-122"/>
              <a:cs typeface="等线" panose="02010600030101010101" charset="-122"/>
            </a:endParaRPr>
          </a:p>
          <a:p>
            <a:pPr eaLnBrk="1" hangingPunct="1">
              <a:buFont typeface="Wingdings" panose="05000000000000000000" pitchFamily="2" charset="2"/>
              <a:buNone/>
            </a:pPr>
            <a:r>
              <a:rPr lang="en-US" altLang="zh-CN" dirty="0">
                <a:solidFill>
                  <a:srgbClr val="0000FF"/>
                </a:solidFill>
                <a:latin typeface="宋体" pitchFamily="2" charset="-122"/>
                <a:cs typeface="等线" panose="02010600030101010101" charset="-122"/>
              </a:rPr>
              <a:t> </a:t>
            </a:r>
            <a:r>
              <a:rPr lang="en-US" altLang="zh-CN" dirty="0" smtClean="0">
                <a:solidFill>
                  <a:srgbClr val="0000FF"/>
                </a:solidFill>
                <a:latin typeface="宋体" pitchFamily="2" charset="-122"/>
                <a:cs typeface="等线" panose="02010600030101010101" charset="-122"/>
              </a:rPr>
              <a:t>  FROM </a:t>
            </a:r>
            <a:r>
              <a:rPr lang="en-US" altLang="zh-CN" dirty="0">
                <a:solidFill>
                  <a:srgbClr val="0000FF"/>
                </a:solidFill>
                <a:latin typeface="宋体" pitchFamily="2" charset="-122"/>
                <a:cs typeface="等线" panose="02010600030101010101" charset="-122"/>
              </a:rPr>
              <a:t>Student </a:t>
            </a:r>
          </a:p>
          <a:p>
            <a:pPr eaLnBrk="1" hangingPunct="1">
              <a:buFont typeface="Wingdings" panose="05000000000000000000" pitchFamily="2" charset="2"/>
              <a:buNone/>
            </a:pPr>
            <a:r>
              <a:rPr lang="en-US" altLang="zh-CN" dirty="0">
                <a:solidFill>
                  <a:srgbClr val="0000FF"/>
                </a:solidFill>
                <a:latin typeface="宋体" pitchFamily="2" charset="-122"/>
                <a:cs typeface="等线" panose="02010600030101010101" charset="-122"/>
              </a:rPr>
              <a:t>   WHERE Sdept = '</a:t>
            </a:r>
            <a:r>
              <a:rPr lang="zh-CN" altLang="en-US" dirty="0">
                <a:solidFill>
                  <a:srgbClr val="0000FF"/>
                </a:solidFill>
                <a:latin typeface="宋体" pitchFamily="2" charset="-122"/>
                <a:cs typeface="等线" panose="02010600030101010101" charset="-122"/>
              </a:rPr>
              <a:t>计算机系</a:t>
            </a:r>
            <a:r>
              <a:rPr lang="en-US" altLang="zh-CN" dirty="0">
                <a:solidFill>
                  <a:srgbClr val="0000FF"/>
                </a:solidFill>
                <a:latin typeface="宋体" pitchFamily="2" charset="-122"/>
                <a:cs typeface="等线" panose="02010600030101010101" charset="-122"/>
              </a:rPr>
              <a:t>' </a:t>
            </a:r>
          </a:p>
          <a:p>
            <a:pPr eaLnBrk="1" hangingPunct="1">
              <a:buFont typeface="Wingdings" panose="05000000000000000000" pitchFamily="2" charset="2"/>
              <a:buNone/>
            </a:pPr>
            <a:r>
              <a:rPr lang="en-US" altLang="zh-CN" dirty="0" smtClean="0">
                <a:solidFill>
                  <a:srgbClr val="0000FF"/>
                </a:solidFill>
                <a:latin typeface="宋体" pitchFamily="2" charset="-122"/>
                <a:cs typeface="等线" panose="02010600030101010101" charset="-122"/>
              </a:rPr>
              <a:t>          AND Sage </a:t>
            </a:r>
            <a:r>
              <a:rPr lang="en-US" altLang="zh-CN" dirty="0">
                <a:solidFill>
                  <a:srgbClr val="0000FF"/>
                </a:solidFill>
                <a:latin typeface="宋体" pitchFamily="2" charset="-122"/>
                <a:cs typeface="等线" panose="02010600030101010101" charset="-122"/>
              </a:rPr>
              <a:t>&lt; 20</a:t>
            </a:r>
          </a:p>
          <a:p>
            <a:pPr eaLnBrk="1" hangingPunct="1">
              <a:buFont typeface="Wingdings" panose="05000000000000000000" pitchFamily="2" charset="2"/>
              <a:buNone/>
            </a:pPr>
            <a:endParaRPr lang="en-US" altLang="zh-CN" sz="1800" dirty="0">
              <a:solidFill>
                <a:srgbClr val="0000FF"/>
              </a:solidFill>
              <a:latin typeface="宋体" pitchFamily="2" charset="-122"/>
              <a:cs typeface="等线" panose="02010600030101010101" charset="-122"/>
            </a:endParaRPr>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p:cNvSpPr>
          <p:nvPr>
            <p:ph type="title"/>
          </p:nvPr>
        </p:nvSpPr>
        <p:spPr>
          <a:xfrm>
            <a:off x="500063" y="152400"/>
            <a:ext cx="8001000" cy="685800"/>
          </a:xfrm>
          <a:noFill/>
          <a:ln w="9525">
            <a:noFill/>
          </a:ln>
        </p:spPr>
        <p:txBody>
          <a:bodyPr vert="horz" wrap="square" lIns="91440" tIns="45720" rIns="91440" bIns="45720" rtlCol="0" anchor="ctr" anchorCtr="0">
            <a:normAutofit fontScale="90000"/>
          </a:bodyPr>
          <a:lstStyle/>
          <a:p>
            <a:pPr lvl="0" algn="ctr" eaLnBrk="1" hangingPunct="1">
              <a:buClrTx/>
              <a:buSzTx/>
              <a:buFontTx/>
            </a:pPr>
            <a:r>
              <a:rPr lang="zh-CN" altLang="en-US" sz="4000" b="0" dirty="0">
                <a:latin typeface="黑体" panose="02010609060101010101" pitchFamily="2" charset="-122"/>
                <a:ea typeface="黑体" panose="02010609060101010101" pitchFamily="2" charset="-122"/>
                <a:sym typeface="+mn-ea"/>
              </a:rPr>
              <a:t>示例（续）</a:t>
            </a:r>
          </a:p>
        </p:txBody>
      </p:sp>
      <p:sp>
        <p:nvSpPr>
          <p:cNvPr id="36867" name="Rectangle 3"/>
          <p:cNvSpPr>
            <a:spLocks noGrp="1"/>
          </p:cNvSpPr>
          <p:nvPr>
            <p:ph idx="1"/>
          </p:nvPr>
        </p:nvSpPr>
        <p:spPr>
          <a:xfrm>
            <a:off x="323215" y="1268730"/>
            <a:ext cx="8362950" cy="4941888"/>
          </a:xfrm>
        </p:spPr>
        <p:txBody>
          <a:bodyPr vert="horz" wrap="square" lIns="91440" tIns="45720" rIns="91440" bIns="45720" anchor="t" anchorCtr="0"/>
          <a:lstStyle/>
          <a:p>
            <a:pPr marL="0" indent="0" eaLnBrk="1" hangingPunct="1">
              <a:lnSpc>
                <a:spcPct val="85000"/>
              </a:lnSpc>
              <a:buNone/>
            </a:pPr>
            <a:r>
              <a:rPr lang="zh-CN" altLang="en-US" sz="2800" dirty="0" smtClean="0">
                <a:latin typeface="宋体" pitchFamily="2" charset="-122"/>
                <a:cs typeface="等线" panose="02010600030101010101" charset="-122"/>
              </a:rPr>
              <a:t>例</a:t>
            </a:r>
            <a:r>
              <a:rPr lang="en-US" altLang="zh-CN" sz="2800" dirty="0" smtClean="0"/>
              <a:t>4.24 </a:t>
            </a:r>
            <a:r>
              <a:rPr sz="2800" dirty="0" smtClean="0">
                <a:latin typeface="宋体" pitchFamily="2" charset="-122"/>
                <a:cs typeface="等线" panose="02010600030101010101" charset="-122"/>
              </a:rPr>
              <a:t>查询计算机系和信息管理系学生中年龄在</a:t>
            </a:r>
            <a:r>
              <a:rPr sz="2800" dirty="0">
                <a:latin typeface="宋体" pitchFamily="2" charset="-122"/>
                <a:cs typeface="等线" panose="02010600030101010101" charset="-122"/>
              </a:rPr>
              <a:t>18到20之间的学生的学号、姓名、所在系和年龄。</a:t>
            </a:r>
            <a:endParaRPr lang="zh-CN" altLang="en-US" sz="2800" dirty="0">
              <a:latin typeface="宋体" pitchFamily="2" charset="-122"/>
              <a:cs typeface="等线" panose="02010600030101010101" charset="-122"/>
            </a:endParaRPr>
          </a:p>
          <a:p>
            <a:pPr eaLnBrk="1" hangingPunct="1">
              <a:lnSpc>
                <a:spcPct val="85000"/>
              </a:lnSpc>
              <a:buFont typeface="Wingdings" panose="05000000000000000000" pitchFamily="2" charset="2"/>
              <a:buNone/>
            </a:pPr>
            <a:r>
              <a:rPr lang="en-US" altLang="zh-CN" sz="2800" dirty="0">
                <a:solidFill>
                  <a:srgbClr val="0000FF"/>
                </a:solidFill>
                <a:latin typeface="宋体" pitchFamily="2" charset="-122"/>
                <a:cs typeface="等线" panose="02010600030101010101" charset="-122"/>
              </a:rPr>
              <a:t>SELECT Sno, Sname, Sdept, Sage </a:t>
            </a:r>
          </a:p>
          <a:p>
            <a:pPr eaLnBrk="1" hangingPunct="1">
              <a:lnSpc>
                <a:spcPct val="85000"/>
              </a:lnSpc>
              <a:buFont typeface="Wingdings" panose="05000000000000000000" pitchFamily="2" charset="2"/>
              <a:buNone/>
            </a:pPr>
            <a:r>
              <a:rPr lang="en-US" altLang="zh-CN" sz="2800" dirty="0">
                <a:solidFill>
                  <a:srgbClr val="0000FF"/>
                </a:solidFill>
                <a:latin typeface="宋体" pitchFamily="2" charset="-122"/>
                <a:cs typeface="等线" panose="02010600030101010101" charset="-122"/>
              </a:rPr>
              <a:t>   FROM Student</a:t>
            </a:r>
          </a:p>
          <a:p>
            <a:pPr eaLnBrk="1" hangingPunct="1">
              <a:lnSpc>
                <a:spcPct val="85000"/>
              </a:lnSpc>
              <a:buFont typeface="Wingdings" panose="05000000000000000000" pitchFamily="2" charset="2"/>
              <a:buNone/>
            </a:pPr>
            <a:r>
              <a:rPr lang="en-US" altLang="zh-CN" sz="2800" dirty="0" smtClean="0">
                <a:solidFill>
                  <a:srgbClr val="0000FF"/>
                </a:solidFill>
                <a:latin typeface="宋体" pitchFamily="2" charset="-122"/>
                <a:cs typeface="等线" panose="02010600030101010101" charset="-122"/>
              </a:rPr>
              <a:t>WHERE </a:t>
            </a:r>
            <a:r>
              <a:rPr lang="en-US" altLang="zh-CN" sz="2800" dirty="0">
                <a:solidFill>
                  <a:srgbClr val="0000FF"/>
                </a:solidFill>
                <a:latin typeface="宋体" pitchFamily="2" charset="-122"/>
                <a:cs typeface="等线" panose="02010600030101010101" charset="-122"/>
              </a:rPr>
              <a:t>(</a:t>
            </a:r>
            <a:r>
              <a:rPr lang="en-US" altLang="zh-CN" sz="2800" dirty="0" err="1" smtClean="0">
                <a:solidFill>
                  <a:srgbClr val="0000FF"/>
                </a:solidFill>
                <a:latin typeface="宋体" pitchFamily="2" charset="-122"/>
                <a:cs typeface="等线" panose="02010600030101010101" charset="-122"/>
              </a:rPr>
              <a:t>Sdept</a:t>
            </a:r>
            <a:r>
              <a:rPr lang="en-US" altLang="zh-CN" sz="2800" dirty="0" smtClean="0">
                <a:solidFill>
                  <a:srgbClr val="0000FF"/>
                </a:solidFill>
                <a:latin typeface="宋体" pitchFamily="2" charset="-122"/>
                <a:cs typeface="等线" panose="02010600030101010101" charset="-122"/>
              </a:rPr>
              <a:t>='</a:t>
            </a:r>
            <a:r>
              <a:rPr lang="zh-CN" altLang="en-US" sz="2800" dirty="0">
                <a:solidFill>
                  <a:srgbClr val="0000FF"/>
                </a:solidFill>
                <a:latin typeface="宋体" pitchFamily="2" charset="-122"/>
                <a:cs typeface="等线" panose="02010600030101010101" charset="-122"/>
              </a:rPr>
              <a:t>计算机系</a:t>
            </a:r>
            <a:r>
              <a:rPr lang="en-US" altLang="zh-CN" sz="2800" dirty="0">
                <a:solidFill>
                  <a:srgbClr val="0000FF"/>
                </a:solidFill>
                <a:latin typeface="宋体" pitchFamily="2" charset="-122"/>
                <a:cs typeface="等线" panose="02010600030101010101" charset="-122"/>
              </a:rPr>
              <a:t>' OR </a:t>
            </a:r>
            <a:r>
              <a:rPr lang="en-US" altLang="zh-CN" sz="2800" dirty="0" err="1" smtClean="0">
                <a:solidFill>
                  <a:srgbClr val="0000FF"/>
                </a:solidFill>
                <a:latin typeface="宋体" pitchFamily="2" charset="-122"/>
                <a:cs typeface="等线" panose="02010600030101010101" charset="-122"/>
              </a:rPr>
              <a:t>Sdept</a:t>
            </a:r>
            <a:r>
              <a:rPr lang="en-US" altLang="zh-CN" sz="2800" dirty="0" smtClean="0">
                <a:solidFill>
                  <a:srgbClr val="0000FF"/>
                </a:solidFill>
                <a:latin typeface="宋体" pitchFamily="2" charset="-122"/>
                <a:cs typeface="等线" panose="02010600030101010101" charset="-122"/>
              </a:rPr>
              <a:t>='</a:t>
            </a:r>
            <a:r>
              <a:rPr lang="zh-CN" altLang="en-US" sz="2800" dirty="0">
                <a:solidFill>
                  <a:srgbClr val="0000FF"/>
                </a:solidFill>
                <a:latin typeface="宋体" pitchFamily="2" charset="-122"/>
                <a:cs typeface="等线" panose="02010600030101010101" charset="-122"/>
              </a:rPr>
              <a:t>信息管理系</a:t>
            </a:r>
            <a:r>
              <a:rPr lang="en-US" altLang="zh-CN" sz="2800" dirty="0">
                <a:solidFill>
                  <a:srgbClr val="0000FF"/>
                </a:solidFill>
                <a:latin typeface="宋体" pitchFamily="2" charset="-122"/>
                <a:cs typeface="等线" panose="02010600030101010101" charset="-122"/>
              </a:rPr>
              <a:t>') AND Sage between 18 and 20</a:t>
            </a:r>
            <a:endParaRPr lang="zh-CN" altLang="en-US" sz="2800" dirty="0">
              <a:solidFill>
                <a:srgbClr val="0000FF"/>
              </a:solidFill>
              <a:latin typeface="宋体" pitchFamily="2" charset="-122"/>
              <a:cs typeface="等线" panose="02010600030101010101" charset="-122"/>
            </a:endParaRPr>
          </a:p>
          <a:p>
            <a:pPr eaLnBrk="1" hangingPunct="1">
              <a:lnSpc>
                <a:spcPct val="90000"/>
              </a:lnSpc>
              <a:spcBef>
                <a:spcPts val="800"/>
              </a:spcBef>
              <a:spcAft>
                <a:spcPts val="0"/>
              </a:spcAft>
            </a:pPr>
            <a:r>
              <a:rPr lang="zh-CN" altLang="en-US" sz="2800" dirty="0">
                <a:solidFill>
                  <a:srgbClr val="FF0000"/>
                </a:solidFill>
                <a:latin typeface="宋体" pitchFamily="2" charset="-122"/>
                <a:cs typeface="等线" panose="02010600030101010101" charset="-122"/>
              </a:rPr>
              <a:t>也可写为：</a:t>
            </a:r>
          </a:p>
          <a:p>
            <a:pPr eaLnBrk="1" hangingPunct="1">
              <a:lnSpc>
                <a:spcPct val="85000"/>
              </a:lnSpc>
              <a:buFont typeface="Wingdings" panose="05000000000000000000" pitchFamily="2" charset="2"/>
              <a:buNone/>
            </a:pPr>
            <a:r>
              <a:rPr lang="en-US" altLang="zh-CN" sz="2800" dirty="0">
                <a:solidFill>
                  <a:srgbClr val="0000FF"/>
                </a:solidFill>
                <a:latin typeface="宋体" pitchFamily="2" charset="-122"/>
                <a:cs typeface="等线" panose="02010600030101010101" charset="-122"/>
              </a:rPr>
              <a:t>SELECT Sno, Sname, Sdept, Sage </a:t>
            </a:r>
          </a:p>
          <a:p>
            <a:pPr eaLnBrk="1" hangingPunct="1">
              <a:lnSpc>
                <a:spcPct val="85000"/>
              </a:lnSpc>
              <a:buFont typeface="Wingdings" panose="05000000000000000000" pitchFamily="2" charset="2"/>
              <a:buNone/>
            </a:pPr>
            <a:r>
              <a:rPr lang="en-US" altLang="zh-CN" sz="2800" dirty="0">
                <a:solidFill>
                  <a:srgbClr val="0000FF"/>
                </a:solidFill>
                <a:latin typeface="宋体" pitchFamily="2" charset="-122"/>
                <a:cs typeface="等线" panose="02010600030101010101" charset="-122"/>
              </a:rPr>
              <a:t>   FROM Student</a:t>
            </a:r>
          </a:p>
          <a:p>
            <a:pPr eaLnBrk="1" hangingPunct="1">
              <a:lnSpc>
                <a:spcPct val="85000"/>
              </a:lnSpc>
              <a:buFont typeface="Wingdings" panose="05000000000000000000" pitchFamily="2" charset="2"/>
              <a:buNone/>
            </a:pPr>
            <a:r>
              <a:rPr lang="en-US" altLang="zh-CN" sz="2800" dirty="0">
                <a:solidFill>
                  <a:srgbClr val="0000FF"/>
                </a:solidFill>
                <a:latin typeface="宋体" pitchFamily="2" charset="-122"/>
                <a:cs typeface="等线" panose="02010600030101010101" charset="-122"/>
              </a:rPr>
              <a:t>   WHERE Sdept in </a:t>
            </a:r>
            <a:r>
              <a:rPr lang="en-US" altLang="zh-CN" sz="2800" dirty="0" smtClean="0">
                <a:solidFill>
                  <a:srgbClr val="0000FF"/>
                </a:solidFill>
                <a:latin typeface="宋体" pitchFamily="2" charset="-122"/>
                <a:cs typeface="等线" panose="02010600030101010101" charset="-122"/>
              </a:rPr>
              <a:t>('</a:t>
            </a:r>
            <a:r>
              <a:rPr lang="zh-CN" altLang="en-US" sz="2800" dirty="0">
                <a:solidFill>
                  <a:srgbClr val="0000FF"/>
                </a:solidFill>
                <a:latin typeface="宋体" pitchFamily="2" charset="-122"/>
                <a:cs typeface="等线" panose="02010600030101010101" charset="-122"/>
              </a:rPr>
              <a:t>计算机系</a:t>
            </a:r>
            <a:r>
              <a:rPr lang="en-US" altLang="zh-CN" sz="2800" dirty="0" smtClean="0">
                <a:solidFill>
                  <a:srgbClr val="0000FF"/>
                </a:solidFill>
                <a:latin typeface="宋体" pitchFamily="2" charset="-122"/>
                <a:cs typeface="等线" panose="02010600030101010101" charset="-122"/>
              </a:rPr>
              <a:t>','</a:t>
            </a:r>
            <a:r>
              <a:rPr lang="zh-CN" altLang="en-US" sz="2800" dirty="0">
                <a:solidFill>
                  <a:srgbClr val="0000FF"/>
                </a:solidFill>
                <a:latin typeface="宋体" pitchFamily="2" charset="-122"/>
                <a:cs typeface="等线" panose="02010600030101010101" charset="-122"/>
              </a:rPr>
              <a:t>信息管理系</a:t>
            </a:r>
            <a:r>
              <a:rPr lang="en-US" altLang="zh-CN" sz="2800" dirty="0">
                <a:solidFill>
                  <a:srgbClr val="0000FF"/>
                </a:solidFill>
                <a:latin typeface="宋体" pitchFamily="2" charset="-122"/>
                <a:cs typeface="等线" panose="02010600030101010101" charset="-122"/>
              </a:rPr>
              <a:t>')</a:t>
            </a:r>
          </a:p>
          <a:p>
            <a:pPr eaLnBrk="1" hangingPunct="1">
              <a:lnSpc>
                <a:spcPct val="85000"/>
              </a:lnSpc>
              <a:buFont typeface="Wingdings" panose="05000000000000000000" pitchFamily="2" charset="2"/>
              <a:buNone/>
            </a:pPr>
            <a:r>
              <a:rPr lang="en-US" altLang="zh-CN" sz="2800" dirty="0">
                <a:solidFill>
                  <a:srgbClr val="0000FF"/>
                </a:solidFill>
                <a:latin typeface="宋体" pitchFamily="2" charset="-122"/>
                <a:cs typeface="等线" panose="02010600030101010101" charset="-122"/>
              </a:rPr>
              <a:t>      AND Sage between 18 and 20</a:t>
            </a:r>
            <a:endParaRPr lang="zh-CN" altLang="en-US" sz="2800" dirty="0">
              <a:solidFill>
                <a:srgbClr val="0000FF"/>
              </a:solidFill>
              <a:latin typeface="宋体" pitchFamily="2" charset="-122"/>
              <a:cs typeface="等线" panose="02010600030101010101" charset="-122"/>
            </a:endParaRPr>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p:cNvSpPr>
          <p:nvPr>
            <p:ph type="title"/>
          </p:nvPr>
        </p:nvSpPr>
        <p:spPr>
          <a:xfrm>
            <a:off x="500063" y="152400"/>
            <a:ext cx="8001000" cy="685800"/>
          </a:xfrm>
          <a:noFill/>
          <a:ln w="9525">
            <a:noFill/>
          </a:ln>
        </p:spPr>
        <p:txBody>
          <a:bodyPr vert="horz" wrap="square" lIns="91440" tIns="45720" rIns="91440" bIns="45720" rtlCol="0" anchor="ctr" anchorCtr="0">
            <a:normAutofit fontScale="90000"/>
          </a:bodyPr>
          <a:lstStyle/>
          <a:p>
            <a:pPr lvl="0" algn="ctr" eaLnBrk="1" hangingPunct="1">
              <a:buClrTx/>
              <a:buSzTx/>
              <a:buFontTx/>
            </a:pPr>
            <a:r>
              <a:rPr lang="zh-CN" altLang="en-US" sz="4000" b="0" dirty="0">
                <a:latin typeface="黑体" panose="02010609060101010101" pitchFamily="2" charset="-122"/>
                <a:ea typeface="黑体" panose="02010609060101010101" pitchFamily="2" charset="-122"/>
                <a:sym typeface="+mn-ea"/>
              </a:rPr>
              <a:t>3. 对查询结果进行排序</a:t>
            </a:r>
          </a:p>
        </p:txBody>
      </p:sp>
      <p:sp>
        <p:nvSpPr>
          <p:cNvPr id="37891" name="Rectangle 3"/>
          <p:cNvSpPr>
            <a:spLocks noGrp="1"/>
          </p:cNvSpPr>
          <p:nvPr>
            <p:ph idx="1"/>
          </p:nvPr>
        </p:nvSpPr>
        <p:spPr>
          <a:xfrm>
            <a:off x="468313" y="1341438"/>
            <a:ext cx="8229600" cy="4554537"/>
          </a:xfrm>
        </p:spPr>
        <p:txBody>
          <a:bodyPr vert="horz" wrap="square" lIns="91440" tIns="45720" rIns="91440" bIns="45720" anchor="t" anchorCtr="0"/>
          <a:lstStyle/>
          <a:p>
            <a:pPr eaLnBrk="1" hangingPunct="1"/>
            <a:r>
              <a:rPr lang="zh-CN" altLang="en-US" sz="3600" dirty="0">
                <a:solidFill>
                  <a:schemeClr val="tx1"/>
                </a:solidFill>
                <a:latin typeface="宋体" pitchFamily="2" charset="-122"/>
                <a:cs typeface="等线" panose="02010600030101010101" charset="-122"/>
              </a:rPr>
              <a:t>可对查询结果进行排序。 </a:t>
            </a:r>
          </a:p>
          <a:p>
            <a:pPr eaLnBrk="1" hangingPunct="1">
              <a:spcBef>
                <a:spcPts val="1800"/>
              </a:spcBef>
            </a:pPr>
            <a:r>
              <a:rPr lang="zh-CN" altLang="en-US" sz="3600" dirty="0">
                <a:solidFill>
                  <a:schemeClr val="tx1"/>
                </a:solidFill>
                <a:latin typeface="宋体" pitchFamily="2" charset="-122"/>
                <a:cs typeface="等线" panose="02010600030101010101" charset="-122"/>
              </a:rPr>
              <a:t>排序子句为：</a:t>
            </a:r>
          </a:p>
          <a:p>
            <a:pPr algn="just" eaLnBrk="1" hangingPunct="1">
              <a:buFont typeface="Wingdings" panose="05000000000000000000" pitchFamily="2" charset="2"/>
              <a:buNone/>
            </a:pPr>
            <a:r>
              <a:rPr lang="zh-CN" altLang="en-US" sz="2800" dirty="0">
                <a:solidFill>
                  <a:srgbClr val="FF0000"/>
                </a:solidFill>
                <a:latin typeface="宋体" pitchFamily="2" charset="-122"/>
                <a:cs typeface="等线" panose="02010600030101010101" charset="-122"/>
              </a:rPr>
              <a:t>	</a:t>
            </a:r>
            <a:r>
              <a:rPr lang="en-US" altLang="zh-CN" sz="3100" dirty="0">
                <a:solidFill>
                  <a:srgbClr val="FF0000"/>
                </a:solidFill>
                <a:latin typeface="宋体" pitchFamily="2" charset="-122"/>
                <a:cs typeface="等线" panose="02010600030101010101" charset="-122"/>
              </a:rPr>
              <a:t>ORDER BY &lt;</a:t>
            </a:r>
            <a:r>
              <a:rPr lang="zh-CN" altLang="en-US" sz="3100" dirty="0">
                <a:solidFill>
                  <a:srgbClr val="FF0000"/>
                </a:solidFill>
                <a:latin typeface="宋体" pitchFamily="2" charset="-122"/>
                <a:cs typeface="等线" panose="02010600030101010101" charset="-122"/>
              </a:rPr>
              <a:t>列名</a:t>
            </a:r>
            <a:r>
              <a:rPr lang="en-US" altLang="zh-CN" sz="3100" dirty="0">
                <a:solidFill>
                  <a:srgbClr val="FF0000"/>
                </a:solidFill>
                <a:latin typeface="宋体" pitchFamily="2" charset="-122"/>
                <a:cs typeface="等线" panose="02010600030101010101" charset="-122"/>
              </a:rPr>
              <a:t>&gt; [ASC | DESC ]</a:t>
            </a:r>
          </a:p>
          <a:p>
            <a:pPr algn="just" eaLnBrk="1" hangingPunct="1">
              <a:buFont typeface="Wingdings" panose="05000000000000000000" pitchFamily="2" charset="2"/>
              <a:buNone/>
            </a:pPr>
            <a:r>
              <a:rPr lang="en-US" altLang="zh-CN" sz="3100" dirty="0">
                <a:solidFill>
                  <a:srgbClr val="FF0000"/>
                </a:solidFill>
                <a:latin typeface="宋体" pitchFamily="2" charset="-122"/>
                <a:cs typeface="等线" panose="02010600030101010101" charset="-122"/>
              </a:rPr>
              <a:t>                    [,&lt;</a:t>
            </a:r>
            <a:r>
              <a:rPr lang="zh-CN" altLang="en-US" sz="3100" dirty="0">
                <a:solidFill>
                  <a:srgbClr val="FF0000"/>
                </a:solidFill>
                <a:latin typeface="宋体" pitchFamily="2" charset="-122"/>
                <a:cs typeface="等线" panose="02010600030101010101" charset="-122"/>
              </a:rPr>
              <a:t>列名</a:t>
            </a:r>
            <a:r>
              <a:rPr lang="en-US" altLang="zh-CN" sz="3100" dirty="0">
                <a:solidFill>
                  <a:srgbClr val="FF0000"/>
                </a:solidFill>
                <a:latin typeface="宋体" pitchFamily="2" charset="-122"/>
                <a:cs typeface="等线" panose="02010600030101010101" charset="-122"/>
              </a:rPr>
              <a:t>&gt; … ]</a:t>
            </a:r>
          </a:p>
          <a:p>
            <a:pPr marL="0" indent="0" eaLnBrk="1" hangingPunct="1">
              <a:spcBef>
                <a:spcPts val="1200"/>
              </a:spcBef>
              <a:buNone/>
            </a:pPr>
            <a:r>
              <a:rPr lang="zh-CN" altLang="en-US" sz="3200" dirty="0">
                <a:solidFill>
                  <a:schemeClr val="tx1"/>
                </a:solidFill>
                <a:latin typeface="宋体" pitchFamily="2" charset="-122"/>
                <a:cs typeface="等线" panose="02010600030101010101" charset="-122"/>
              </a:rPr>
              <a:t>说明：按</a:t>
            </a:r>
            <a:r>
              <a:rPr lang="en-US" altLang="zh-CN" sz="3200" dirty="0">
                <a:solidFill>
                  <a:schemeClr val="tx1"/>
                </a:solidFill>
                <a:latin typeface="宋体" pitchFamily="2" charset="-122"/>
                <a:cs typeface="等线" panose="02010600030101010101" charset="-122"/>
              </a:rPr>
              <a:t>&lt;</a:t>
            </a:r>
            <a:r>
              <a:rPr lang="zh-CN" altLang="en-US" sz="3200" dirty="0">
                <a:solidFill>
                  <a:schemeClr val="tx1"/>
                </a:solidFill>
                <a:latin typeface="宋体" pitchFamily="2" charset="-122"/>
                <a:cs typeface="等线" panose="02010600030101010101" charset="-122"/>
              </a:rPr>
              <a:t>列名</a:t>
            </a:r>
            <a:r>
              <a:rPr lang="en-US" altLang="zh-CN" sz="3200" dirty="0">
                <a:solidFill>
                  <a:schemeClr val="tx1"/>
                </a:solidFill>
                <a:latin typeface="宋体" pitchFamily="2" charset="-122"/>
                <a:cs typeface="等线" panose="02010600030101010101" charset="-122"/>
              </a:rPr>
              <a:t>&gt;</a:t>
            </a:r>
            <a:r>
              <a:rPr lang="zh-CN" altLang="en-US" sz="3200" dirty="0">
                <a:solidFill>
                  <a:schemeClr val="tx1"/>
                </a:solidFill>
                <a:latin typeface="宋体" pitchFamily="2" charset="-122"/>
                <a:cs typeface="等线" panose="02010600030101010101" charset="-122"/>
              </a:rPr>
              <a:t>进行升序（</a:t>
            </a:r>
            <a:r>
              <a:rPr lang="en-US" altLang="zh-CN" sz="3200" dirty="0">
                <a:solidFill>
                  <a:schemeClr val="tx1"/>
                </a:solidFill>
                <a:latin typeface="宋体" pitchFamily="2" charset="-122"/>
                <a:cs typeface="等线" panose="02010600030101010101" charset="-122"/>
              </a:rPr>
              <a:t>ASC</a:t>
            </a:r>
            <a:r>
              <a:rPr lang="zh-CN" altLang="en-US" sz="3200" dirty="0">
                <a:solidFill>
                  <a:schemeClr val="tx1"/>
                </a:solidFill>
                <a:latin typeface="宋体" pitchFamily="2" charset="-122"/>
                <a:cs typeface="等线" panose="02010600030101010101" charset="-122"/>
              </a:rPr>
              <a:t>）</a:t>
            </a:r>
            <a:r>
              <a:rPr lang="zh-CN" altLang="en-US" sz="3200" dirty="0" smtClean="0">
                <a:solidFill>
                  <a:schemeClr val="tx1"/>
                </a:solidFill>
                <a:latin typeface="宋体" pitchFamily="2" charset="-122"/>
                <a:cs typeface="等线" panose="02010600030101010101" charset="-122"/>
              </a:rPr>
              <a:t>或</a:t>
            </a:r>
            <a:endParaRPr lang="en-US" altLang="zh-CN" sz="3200" dirty="0" smtClean="0">
              <a:solidFill>
                <a:schemeClr val="tx1"/>
              </a:solidFill>
              <a:latin typeface="宋体" pitchFamily="2" charset="-122"/>
              <a:cs typeface="等线" panose="02010600030101010101" charset="-122"/>
            </a:endParaRPr>
          </a:p>
          <a:p>
            <a:pPr marL="0" indent="0" eaLnBrk="1" hangingPunct="1">
              <a:buNone/>
            </a:pPr>
            <a:r>
              <a:rPr lang="en-US" altLang="zh-CN" sz="3200" dirty="0">
                <a:solidFill>
                  <a:schemeClr val="tx1"/>
                </a:solidFill>
                <a:latin typeface="宋体" pitchFamily="2" charset="-122"/>
                <a:cs typeface="等线" panose="02010600030101010101" charset="-122"/>
              </a:rPr>
              <a:t> </a:t>
            </a:r>
            <a:r>
              <a:rPr lang="en-US" altLang="zh-CN" sz="3200" dirty="0" smtClean="0">
                <a:solidFill>
                  <a:schemeClr val="tx1"/>
                </a:solidFill>
                <a:latin typeface="宋体" pitchFamily="2" charset="-122"/>
                <a:cs typeface="等线" panose="02010600030101010101" charset="-122"/>
              </a:rPr>
              <a:t>                 </a:t>
            </a:r>
            <a:r>
              <a:rPr lang="zh-CN" altLang="en-US" sz="3200" dirty="0" smtClean="0">
                <a:solidFill>
                  <a:schemeClr val="tx1"/>
                </a:solidFill>
                <a:latin typeface="宋体" pitchFamily="2" charset="-122"/>
                <a:cs typeface="等线" panose="02010600030101010101" charset="-122"/>
              </a:rPr>
              <a:t>降序</a:t>
            </a:r>
            <a:r>
              <a:rPr lang="zh-CN" altLang="en-US" sz="3200" dirty="0">
                <a:solidFill>
                  <a:schemeClr val="tx1"/>
                </a:solidFill>
                <a:latin typeface="宋体" pitchFamily="2" charset="-122"/>
                <a:cs typeface="等线" panose="02010600030101010101" charset="-122"/>
              </a:rPr>
              <a:t>（</a:t>
            </a:r>
            <a:r>
              <a:rPr lang="en-US" altLang="zh-CN" sz="3200" dirty="0">
                <a:solidFill>
                  <a:schemeClr val="tx1"/>
                </a:solidFill>
                <a:latin typeface="宋体" pitchFamily="2" charset="-122"/>
                <a:cs typeface="等线" panose="02010600030101010101" charset="-122"/>
              </a:rPr>
              <a:t>DESC</a:t>
            </a:r>
            <a:r>
              <a:rPr lang="zh-CN" altLang="en-US" sz="3200" dirty="0">
                <a:solidFill>
                  <a:schemeClr val="tx1"/>
                </a:solidFill>
                <a:latin typeface="宋体" pitchFamily="2" charset="-122"/>
                <a:cs typeface="等线" panose="02010600030101010101" charset="-122"/>
              </a:rPr>
              <a:t>）排序。</a:t>
            </a:r>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p:cNvSpPr>
          <p:nvPr>
            <p:ph type="title"/>
          </p:nvPr>
        </p:nvSpPr>
        <p:spPr>
          <a:xfrm>
            <a:off x="500063" y="152400"/>
            <a:ext cx="8001000" cy="685800"/>
          </a:xfrm>
          <a:noFill/>
          <a:ln w="9525">
            <a:noFill/>
          </a:ln>
        </p:spPr>
        <p:txBody>
          <a:bodyPr vert="horz" wrap="square" lIns="91440" tIns="45720" rIns="91440" bIns="45720" rtlCol="0" anchor="ctr" anchorCtr="0">
            <a:normAutofit fontScale="90000"/>
          </a:bodyPr>
          <a:lstStyle/>
          <a:p>
            <a:pPr lvl="0" algn="ctr" eaLnBrk="1" hangingPunct="1">
              <a:buClrTx/>
              <a:buSzTx/>
              <a:buFontTx/>
            </a:pPr>
            <a:r>
              <a:rPr lang="zh-CN" altLang="en-US" sz="4000" b="0" dirty="0">
                <a:latin typeface="黑体" panose="02010609060101010101" pitchFamily="2" charset="-122"/>
                <a:ea typeface="黑体" panose="02010609060101010101" pitchFamily="2" charset="-122"/>
                <a:sym typeface="+mn-ea"/>
              </a:rPr>
              <a:t>示例</a:t>
            </a:r>
          </a:p>
        </p:txBody>
      </p:sp>
      <p:sp>
        <p:nvSpPr>
          <p:cNvPr id="38915" name="Rectangle 3"/>
          <p:cNvSpPr>
            <a:spLocks noGrp="1"/>
          </p:cNvSpPr>
          <p:nvPr>
            <p:ph idx="1"/>
          </p:nvPr>
        </p:nvSpPr>
        <p:spPr>
          <a:xfrm>
            <a:off x="467360" y="1228090"/>
            <a:ext cx="8329930" cy="5111750"/>
          </a:xfrm>
        </p:spPr>
        <p:txBody>
          <a:bodyPr vert="horz" wrap="square" lIns="91440" tIns="45720" rIns="91440" bIns="45720" anchor="t" anchorCtr="0"/>
          <a:lstStyle/>
          <a:p>
            <a:pPr marL="0" indent="0" eaLnBrk="1" hangingPunct="1">
              <a:spcBef>
                <a:spcPts val="600"/>
              </a:spcBef>
              <a:buNone/>
            </a:pPr>
            <a:r>
              <a:rPr lang="zh-CN" altLang="en-US" sz="3200" dirty="0" smtClean="0">
                <a:latin typeface="宋体" pitchFamily="2" charset="-122"/>
                <a:cs typeface="等线" panose="02010600030101010101" charset="-122"/>
              </a:rPr>
              <a:t>例</a:t>
            </a:r>
            <a:r>
              <a:rPr lang="en-US" altLang="zh-CN" sz="3200" dirty="0" smtClean="0"/>
              <a:t>4.25 </a:t>
            </a:r>
            <a:r>
              <a:rPr lang="zh-CN" altLang="en-US" sz="3200" dirty="0" smtClean="0">
                <a:latin typeface="宋体" pitchFamily="2" charset="-122"/>
                <a:cs typeface="等线" panose="02010600030101010101" charset="-122"/>
              </a:rPr>
              <a:t>将</a:t>
            </a:r>
            <a:r>
              <a:rPr lang="zh-CN" altLang="en-US" sz="3200" dirty="0">
                <a:latin typeface="宋体" pitchFamily="2" charset="-122"/>
                <a:cs typeface="等线" panose="02010600030101010101" charset="-122"/>
              </a:rPr>
              <a:t>学生按年龄的升序排序。</a:t>
            </a:r>
          </a:p>
          <a:p>
            <a:pPr eaLnBrk="1" hangingPunct="1">
              <a:spcBef>
                <a:spcPts val="600"/>
              </a:spcBef>
              <a:buFont typeface="Wingdings" panose="05000000000000000000" pitchFamily="2" charset="2"/>
              <a:buNone/>
            </a:pPr>
            <a:r>
              <a:rPr lang="en-US" altLang="zh-CN" sz="3200" dirty="0">
                <a:solidFill>
                  <a:srgbClr val="0000FF"/>
                </a:solidFill>
                <a:latin typeface="宋体" pitchFamily="2" charset="-122"/>
                <a:cs typeface="等线" panose="02010600030101010101" charset="-122"/>
              </a:rPr>
              <a:t>   SELECT * FROM Student </a:t>
            </a:r>
          </a:p>
          <a:p>
            <a:pPr eaLnBrk="1" hangingPunct="1">
              <a:spcBef>
                <a:spcPts val="600"/>
              </a:spcBef>
              <a:buFont typeface="Wingdings" panose="05000000000000000000" pitchFamily="2" charset="2"/>
              <a:buNone/>
            </a:pPr>
            <a:r>
              <a:rPr lang="en-US" altLang="zh-CN" sz="3200" dirty="0">
                <a:solidFill>
                  <a:srgbClr val="0000FF"/>
                </a:solidFill>
                <a:latin typeface="宋体" pitchFamily="2" charset="-122"/>
                <a:cs typeface="等线" panose="02010600030101010101" charset="-122"/>
              </a:rPr>
              <a:t>     </a:t>
            </a:r>
            <a:r>
              <a:rPr lang="en-US" altLang="zh-CN" sz="3200" dirty="0">
                <a:solidFill>
                  <a:srgbClr val="FF0000"/>
                </a:solidFill>
                <a:latin typeface="宋体" pitchFamily="2" charset="-122"/>
                <a:cs typeface="等线" panose="02010600030101010101" charset="-122"/>
              </a:rPr>
              <a:t>ORDER BY</a:t>
            </a:r>
            <a:r>
              <a:rPr lang="en-US" altLang="zh-CN" sz="3200" dirty="0">
                <a:solidFill>
                  <a:srgbClr val="0000FF"/>
                </a:solidFill>
                <a:latin typeface="宋体" pitchFamily="2" charset="-122"/>
                <a:cs typeface="等线" panose="02010600030101010101" charset="-122"/>
              </a:rPr>
              <a:t> Sage	</a:t>
            </a:r>
          </a:p>
          <a:p>
            <a:pPr marL="0" indent="0" eaLnBrk="1" hangingPunct="1">
              <a:spcBef>
                <a:spcPts val="3000"/>
              </a:spcBef>
              <a:buNone/>
            </a:pPr>
            <a:r>
              <a:rPr lang="zh-CN" altLang="en-US" sz="3200" dirty="0" smtClean="0">
                <a:latin typeface="宋体" pitchFamily="2" charset="-122"/>
                <a:cs typeface="等线" panose="02010600030101010101" charset="-122"/>
              </a:rPr>
              <a:t>例</a:t>
            </a:r>
            <a:r>
              <a:rPr lang="en-US" altLang="zh-CN" sz="3200" dirty="0" smtClean="0"/>
              <a:t>4.26 </a:t>
            </a:r>
            <a:r>
              <a:rPr lang="zh-CN" altLang="en-US" sz="3200" dirty="0" smtClean="0">
                <a:latin typeface="宋体" pitchFamily="2" charset="-122"/>
                <a:cs typeface="等线" panose="02010600030101010101" charset="-122"/>
              </a:rPr>
              <a:t>查询</a:t>
            </a:r>
            <a:r>
              <a:rPr lang="zh-CN" altLang="en-US" sz="3200" dirty="0">
                <a:latin typeface="宋体" pitchFamily="2" charset="-122"/>
                <a:cs typeface="等线" panose="02010600030101010101" charset="-122"/>
              </a:rPr>
              <a:t>选修了“</a:t>
            </a:r>
            <a:r>
              <a:rPr lang="en-US" altLang="zh-CN" sz="3200" dirty="0">
                <a:latin typeface="宋体" pitchFamily="2" charset="-122"/>
                <a:cs typeface="等线" panose="02010600030101010101" charset="-122"/>
              </a:rPr>
              <a:t>C002”</a:t>
            </a:r>
            <a:r>
              <a:rPr lang="zh-CN" altLang="en-US" sz="3200" dirty="0">
                <a:latin typeface="宋体" pitchFamily="2" charset="-122"/>
                <a:cs typeface="等线" panose="02010600030101010101" charset="-122"/>
              </a:rPr>
              <a:t>号课程的学生的学号及其成绩，查询结果按成绩降序排列。</a:t>
            </a:r>
          </a:p>
          <a:p>
            <a:pPr eaLnBrk="1" hangingPunct="1">
              <a:spcBef>
                <a:spcPts val="600"/>
              </a:spcBef>
              <a:buFont typeface="Wingdings" panose="05000000000000000000" pitchFamily="2" charset="2"/>
              <a:buNone/>
            </a:pPr>
            <a:r>
              <a:rPr lang="en-US" altLang="zh-CN" sz="3200" dirty="0">
                <a:solidFill>
                  <a:srgbClr val="0000FF"/>
                </a:solidFill>
                <a:latin typeface="宋体" pitchFamily="2" charset="-122"/>
                <a:cs typeface="等线" panose="02010600030101010101" charset="-122"/>
              </a:rPr>
              <a:t>  SELECT Sno, Grade FROM SC</a:t>
            </a:r>
          </a:p>
          <a:p>
            <a:pPr eaLnBrk="1" hangingPunct="1">
              <a:spcBef>
                <a:spcPts val="600"/>
              </a:spcBef>
              <a:buFont typeface="Wingdings" panose="05000000000000000000" pitchFamily="2" charset="2"/>
              <a:buNone/>
            </a:pPr>
            <a:r>
              <a:rPr lang="en-US" altLang="zh-CN" sz="3200" dirty="0">
                <a:solidFill>
                  <a:srgbClr val="0000FF"/>
                </a:solidFill>
                <a:latin typeface="宋体" pitchFamily="2" charset="-122"/>
                <a:cs typeface="等线" panose="02010600030101010101" charset="-122"/>
              </a:rPr>
              <a:t>    WHERE Cno='C002' </a:t>
            </a:r>
          </a:p>
          <a:p>
            <a:pPr eaLnBrk="1" hangingPunct="1">
              <a:spcBef>
                <a:spcPts val="600"/>
              </a:spcBef>
              <a:buFont typeface="Wingdings" panose="05000000000000000000" pitchFamily="2" charset="2"/>
              <a:buNone/>
            </a:pPr>
            <a:r>
              <a:rPr lang="en-US" altLang="zh-CN" sz="3200" dirty="0">
                <a:solidFill>
                  <a:srgbClr val="0000FF"/>
                </a:solidFill>
                <a:latin typeface="宋体" pitchFamily="2" charset="-122"/>
                <a:cs typeface="等线" panose="02010600030101010101" charset="-122"/>
              </a:rPr>
              <a:t>    </a:t>
            </a:r>
            <a:r>
              <a:rPr lang="en-US" altLang="zh-CN" sz="3200" dirty="0">
                <a:solidFill>
                  <a:srgbClr val="FF0000"/>
                </a:solidFill>
                <a:latin typeface="宋体" pitchFamily="2" charset="-122"/>
                <a:cs typeface="等线" panose="02010600030101010101" charset="-122"/>
              </a:rPr>
              <a:t>ORDER BY</a:t>
            </a:r>
            <a:r>
              <a:rPr lang="en-US" altLang="zh-CN" sz="3200" dirty="0">
                <a:solidFill>
                  <a:srgbClr val="0000FF"/>
                </a:solidFill>
                <a:latin typeface="宋体" pitchFamily="2" charset="-122"/>
                <a:cs typeface="等线" panose="02010600030101010101" charset="-122"/>
              </a:rPr>
              <a:t> Grade </a:t>
            </a:r>
            <a:r>
              <a:rPr lang="en-US" altLang="zh-CN" sz="3200" dirty="0">
                <a:solidFill>
                  <a:srgbClr val="FF0000"/>
                </a:solidFill>
                <a:latin typeface="宋体" pitchFamily="2" charset="-122"/>
                <a:cs typeface="等线" panose="02010600030101010101" charset="-122"/>
              </a:rPr>
              <a:t>DESC</a:t>
            </a:r>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p:cNvSpPr>
          <p:nvPr>
            <p:ph type="title"/>
          </p:nvPr>
        </p:nvSpPr>
        <p:spPr>
          <a:xfrm>
            <a:off x="500063" y="152400"/>
            <a:ext cx="8001000" cy="685800"/>
          </a:xfrm>
          <a:noFill/>
          <a:ln w="9525">
            <a:noFill/>
          </a:ln>
        </p:spPr>
        <p:txBody>
          <a:bodyPr vert="horz" wrap="square" lIns="91440" tIns="45720" rIns="91440" bIns="45720" rtlCol="0" anchor="ctr" anchorCtr="0">
            <a:normAutofit fontScale="90000"/>
          </a:bodyPr>
          <a:lstStyle/>
          <a:p>
            <a:pPr lvl="0" algn="ctr" eaLnBrk="1" hangingPunct="1">
              <a:buClrTx/>
              <a:buSzTx/>
              <a:buFontTx/>
            </a:pPr>
            <a:r>
              <a:rPr lang="zh-CN" altLang="en-US" sz="4000" b="0" dirty="0">
                <a:latin typeface="黑体" panose="02010609060101010101" pitchFamily="2" charset="-122"/>
                <a:ea typeface="黑体" panose="02010609060101010101" pitchFamily="2" charset="-122"/>
                <a:sym typeface="+mn-ea"/>
              </a:rPr>
              <a:t>示例（续）</a:t>
            </a:r>
          </a:p>
        </p:txBody>
      </p:sp>
      <p:sp>
        <p:nvSpPr>
          <p:cNvPr id="39939" name="Rectangle 3"/>
          <p:cNvSpPr>
            <a:spLocks noGrp="1"/>
          </p:cNvSpPr>
          <p:nvPr>
            <p:ph idx="1"/>
          </p:nvPr>
        </p:nvSpPr>
        <p:spPr>
          <a:xfrm>
            <a:off x="468630" y="1484630"/>
            <a:ext cx="8170545" cy="4687570"/>
          </a:xfrm>
        </p:spPr>
        <p:txBody>
          <a:bodyPr vert="horz" wrap="square" lIns="91440" tIns="45720" rIns="91440" bIns="45720" anchor="t" anchorCtr="0"/>
          <a:lstStyle/>
          <a:p>
            <a:pPr marL="0" indent="0" eaLnBrk="1" hangingPunct="1">
              <a:buNone/>
            </a:pPr>
            <a:r>
              <a:rPr lang="zh-CN" altLang="en-US" dirty="0" smtClean="0">
                <a:latin typeface="宋体" pitchFamily="2" charset="-122"/>
                <a:cs typeface="等线" panose="02010600030101010101" charset="-122"/>
              </a:rPr>
              <a:t>例</a:t>
            </a:r>
            <a:r>
              <a:rPr lang="en-US" altLang="zh-CN" sz="3200" dirty="0" smtClean="0"/>
              <a:t>4.27 </a:t>
            </a:r>
            <a:r>
              <a:rPr lang="zh-CN" altLang="en-US" dirty="0" smtClean="0">
                <a:latin typeface="宋体" pitchFamily="2" charset="-122"/>
                <a:cs typeface="等线" panose="02010600030101010101" charset="-122"/>
              </a:rPr>
              <a:t>查询</a:t>
            </a:r>
            <a:r>
              <a:rPr lang="zh-CN" altLang="en-US" dirty="0">
                <a:latin typeface="宋体" pitchFamily="2" charset="-122"/>
                <a:cs typeface="等线" panose="02010600030101010101" charset="-122"/>
              </a:rPr>
              <a:t>全体学生的信息，查询结果按所在系的系名升序排列，同一系的学生按年龄降序排列。</a:t>
            </a:r>
          </a:p>
          <a:p>
            <a:pPr lvl="1" algn="just" eaLnBrk="1" hangingPunct="1">
              <a:buFont typeface="Wingdings" panose="05000000000000000000" pitchFamily="2" charset="2"/>
              <a:buNone/>
            </a:pPr>
            <a:r>
              <a:rPr lang="en-US" altLang="zh-CN" dirty="0">
                <a:solidFill>
                  <a:srgbClr val="0000FF"/>
                </a:solidFill>
                <a:latin typeface="宋体" pitchFamily="2" charset="-122"/>
                <a:cs typeface="等线" panose="02010600030101010101" charset="-122"/>
              </a:rPr>
              <a:t>SELECT * FROM Student </a:t>
            </a:r>
          </a:p>
          <a:p>
            <a:pPr lvl="1" algn="just" eaLnBrk="1" hangingPunct="1">
              <a:buFont typeface="Wingdings" panose="05000000000000000000" pitchFamily="2" charset="2"/>
              <a:buNone/>
            </a:pPr>
            <a:r>
              <a:rPr lang="en-US" altLang="zh-CN" dirty="0">
                <a:solidFill>
                  <a:srgbClr val="0000FF"/>
                </a:solidFill>
                <a:latin typeface="宋体" pitchFamily="2" charset="-122"/>
                <a:cs typeface="等线" panose="02010600030101010101" charset="-122"/>
              </a:rPr>
              <a:t>   ORDER BY Sdept, Sage DESC</a:t>
            </a:r>
            <a:endParaRPr lang="zh-CN" altLang="en-US" dirty="0">
              <a:latin typeface="宋体" pitchFamily="2" charset="-122"/>
              <a:cs typeface="等线" panose="02010600030101010101" charset="-122"/>
            </a:endParaRPr>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p:cNvSpPr>
          <p:nvPr>
            <p:ph type="title"/>
          </p:nvPr>
        </p:nvSpPr>
        <p:spPr>
          <a:xfrm>
            <a:off x="500063" y="152400"/>
            <a:ext cx="8001000" cy="685800"/>
          </a:xfrm>
          <a:noFill/>
          <a:ln w="9525">
            <a:noFill/>
          </a:ln>
        </p:spPr>
        <p:txBody>
          <a:bodyPr vert="horz" wrap="square" lIns="91440" tIns="45720" rIns="91440" bIns="45720" rtlCol="0" anchor="ctr" anchorCtr="0">
            <a:normAutofit fontScale="90000"/>
          </a:bodyPr>
          <a:lstStyle/>
          <a:p>
            <a:pPr lvl="0" algn="ctr" eaLnBrk="1" hangingPunct="1">
              <a:buClrTx/>
              <a:buSzTx/>
              <a:buFontTx/>
            </a:pPr>
            <a:r>
              <a:rPr lang="zh-CN" altLang="en-US" sz="4000" b="0" dirty="0">
                <a:latin typeface="黑体" panose="02010609060101010101" pitchFamily="2" charset="-122"/>
                <a:ea typeface="黑体" panose="02010609060101010101" pitchFamily="2" charset="-122"/>
                <a:sym typeface="+mn-ea"/>
              </a:rPr>
              <a:t>4. 使用聚合函数汇总数据 </a:t>
            </a:r>
          </a:p>
        </p:txBody>
      </p:sp>
      <p:sp>
        <p:nvSpPr>
          <p:cNvPr id="40963" name="Rectangle 3"/>
          <p:cNvSpPr>
            <a:spLocks noGrp="1"/>
          </p:cNvSpPr>
          <p:nvPr>
            <p:ph idx="1"/>
          </p:nvPr>
        </p:nvSpPr>
        <p:spPr>
          <a:xfrm>
            <a:off x="214313" y="1214438"/>
            <a:ext cx="8569325" cy="5157787"/>
          </a:xfrm>
        </p:spPr>
        <p:txBody>
          <a:bodyPr vert="horz" wrap="square" lIns="91440" tIns="45720" rIns="91440" bIns="45720" anchor="t" anchorCtr="0"/>
          <a:lstStyle/>
          <a:p>
            <a:pPr algn="just" eaLnBrk="1" hangingPunct="1">
              <a:spcBef>
                <a:spcPts val="200"/>
              </a:spcBef>
            </a:pPr>
            <a:r>
              <a:rPr lang="en-US" altLang="zh-CN" sz="3000" dirty="0">
                <a:latin typeface="宋体" pitchFamily="2" charset="-122"/>
                <a:cs typeface="等线" panose="02010600030101010101" charset="-122"/>
              </a:rPr>
              <a:t>SQL</a:t>
            </a:r>
            <a:r>
              <a:rPr lang="zh-CN" altLang="en-US" sz="3000" dirty="0">
                <a:latin typeface="宋体" pitchFamily="2" charset="-122"/>
                <a:cs typeface="等线" panose="02010600030101010101" charset="-122"/>
              </a:rPr>
              <a:t>提供的统计函数有：</a:t>
            </a:r>
          </a:p>
          <a:p>
            <a:pPr lvl="1" algn="just" eaLnBrk="1" hangingPunct="1">
              <a:spcBef>
                <a:spcPts val="200"/>
              </a:spcBef>
            </a:pPr>
            <a:r>
              <a:rPr lang="en-US" altLang="zh-CN" sz="3000" dirty="0">
                <a:solidFill>
                  <a:srgbClr val="FF0000"/>
                </a:solidFill>
                <a:latin typeface="宋体" pitchFamily="2" charset="-122"/>
                <a:cs typeface="等线" panose="02010600030101010101" charset="-122"/>
              </a:rPr>
              <a:t>COUNT(*)</a:t>
            </a:r>
            <a:r>
              <a:rPr lang="zh-CN" altLang="en-US" sz="3000" dirty="0">
                <a:latin typeface="宋体" pitchFamily="2" charset="-122"/>
                <a:cs typeface="等线" panose="02010600030101010101" charset="-122"/>
              </a:rPr>
              <a:t>：统计表中元组个数；</a:t>
            </a:r>
          </a:p>
          <a:p>
            <a:pPr lvl="1" algn="just" eaLnBrk="1" hangingPunct="1">
              <a:spcBef>
                <a:spcPts val="200"/>
              </a:spcBef>
            </a:pPr>
            <a:r>
              <a:rPr lang="en-US" altLang="zh-CN" sz="3000" dirty="0">
                <a:solidFill>
                  <a:srgbClr val="FF0000"/>
                </a:solidFill>
                <a:latin typeface="宋体" pitchFamily="2" charset="-122"/>
                <a:cs typeface="等线" panose="02010600030101010101" charset="-122"/>
              </a:rPr>
              <a:t>COUNT([DISTINCT] &lt;</a:t>
            </a:r>
            <a:r>
              <a:rPr lang="zh-CN" altLang="en-US" sz="3000" dirty="0">
                <a:solidFill>
                  <a:srgbClr val="FF0000"/>
                </a:solidFill>
                <a:latin typeface="宋体" pitchFamily="2" charset="-122"/>
                <a:cs typeface="等线" panose="02010600030101010101" charset="-122"/>
              </a:rPr>
              <a:t>列名</a:t>
            </a:r>
            <a:r>
              <a:rPr lang="en-US" altLang="zh-CN" sz="3000" dirty="0">
                <a:solidFill>
                  <a:srgbClr val="FF0000"/>
                </a:solidFill>
                <a:latin typeface="宋体" pitchFamily="2" charset="-122"/>
                <a:cs typeface="等线" panose="02010600030101010101" charset="-122"/>
              </a:rPr>
              <a:t>&gt;)</a:t>
            </a:r>
            <a:r>
              <a:rPr lang="zh-CN" altLang="en-US" sz="3000" dirty="0">
                <a:latin typeface="宋体" pitchFamily="2" charset="-122"/>
                <a:cs typeface="等线" panose="02010600030101010101" charset="-122"/>
              </a:rPr>
              <a:t>：统计本列列值个数；</a:t>
            </a:r>
          </a:p>
          <a:p>
            <a:pPr lvl="1" algn="just" eaLnBrk="1" hangingPunct="1">
              <a:spcBef>
                <a:spcPts val="200"/>
              </a:spcBef>
            </a:pPr>
            <a:r>
              <a:rPr lang="en-US" altLang="zh-CN" sz="3000" dirty="0">
                <a:solidFill>
                  <a:srgbClr val="FF0000"/>
                </a:solidFill>
                <a:latin typeface="宋体" pitchFamily="2" charset="-122"/>
                <a:cs typeface="等线" panose="02010600030101010101" charset="-122"/>
              </a:rPr>
              <a:t>SUM(&lt;</a:t>
            </a:r>
            <a:r>
              <a:rPr lang="zh-CN" altLang="en-US" sz="3000" dirty="0">
                <a:solidFill>
                  <a:srgbClr val="FF0000"/>
                </a:solidFill>
                <a:latin typeface="宋体" pitchFamily="2" charset="-122"/>
                <a:cs typeface="等线" panose="02010600030101010101" charset="-122"/>
              </a:rPr>
              <a:t>列名</a:t>
            </a:r>
            <a:r>
              <a:rPr lang="en-US" altLang="zh-CN" sz="3000" dirty="0">
                <a:solidFill>
                  <a:srgbClr val="FF0000"/>
                </a:solidFill>
                <a:latin typeface="宋体" pitchFamily="2" charset="-122"/>
                <a:cs typeface="等线" panose="02010600030101010101" charset="-122"/>
              </a:rPr>
              <a:t>&gt;)</a:t>
            </a:r>
            <a:r>
              <a:rPr lang="zh-CN" altLang="en-US" sz="3000" dirty="0">
                <a:latin typeface="宋体" pitchFamily="2" charset="-122"/>
                <a:cs typeface="等线" panose="02010600030101010101" charset="-122"/>
              </a:rPr>
              <a:t>：计算列值总和；</a:t>
            </a:r>
          </a:p>
          <a:p>
            <a:pPr lvl="1" algn="just" eaLnBrk="1" hangingPunct="1">
              <a:spcBef>
                <a:spcPts val="200"/>
              </a:spcBef>
            </a:pPr>
            <a:r>
              <a:rPr lang="en-US" altLang="zh-CN" sz="3000" dirty="0">
                <a:solidFill>
                  <a:srgbClr val="FF0000"/>
                </a:solidFill>
                <a:latin typeface="宋体" pitchFamily="2" charset="-122"/>
                <a:cs typeface="等线" panose="02010600030101010101" charset="-122"/>
              </a:rPr>
              <a:t>AVG(&lt;</a:t>
            </a:r>
            <a:r>
              <a:rPr lang="zh-CN" altLang="en-US" sz="3000" dirty="0">
                <a:solidFill>
                  <a:srgbClr val="FF0000"/>
                </a:solidFill>
                <a:latin typeface="宋体" pitchFamily="2" charset="-122"/>
                <a:cs typeface="等线" panose="02010600030101010101" charset="-122"/>
              </a:rPr>
              <a:t>列名</a:t>
            </a:r>
            <a:r>
              <a:rPr lang="en-US" altLang="zh-CN" sz="3000" dirty="0">
                <a:solidFill>
                  <a:srgbClr val="FF0000"/>
                </a:solidFill>
                <a:latin typeface="宋体" pitchFamily="2" charset="-122"/>
                <a:cs typeface="等线" panose="02010600030101010101" charset="-122"/>
              </a:rPr>
              <a:t>&gt;)</a:t>
            </a:r>
            <a:r>
              <a:rPr lang="zh-CN" altLang="en-US" sz="3000" dirty="0">
                <a:latin typeface="宋体" pitchFamily="2" charset="-122"/>
                <a:cs typeface="等线" panose="02010600030101010101" charset="-122"/>
              </a:rPr>
              <a:t>：计算列值平均值；</a:t>
            </a:r>
          </a:p>
          <a:p>
            <a:pPr lvl="1" algn="just" eaLnBrk="1" hangingPunct="1">
              <a:spcBef>
                <a:spcPts val="200"/>
              </a:spcBef>
            </a:pPr>
            <a:r>
              <a:rPr lang="en-US" altLang="zh-CN" sz="3000" dirty="0">
                <a:solidFill>
                  <a:srgbClr val="FF0000"/>
                </a:solidFill>
                <a:latin typeface="宋体" pitchFamily="2" charset="-122"/>
                <a:cs typeface="等线" panose="02010600030101010101" charset="-122"/>
              </a:rPr>
              <a:t>MAX(&lt;</a:t>
            </a:r>
            <a:r>
              <a:rPr lang="zh-CN" altLang="en-US" sz="3000" dirty="0">
                <a:solidFill>
                  <a:srgbClr val="FF0000"/>
                </a:solidFill>
                <a:latin typeface="宋体" pitchFamily="2" charset="-122"/>
                <a:cs typeface="等线" panose="02010600030101010101" charset="-122"/>
              </a:rPr>
              <a:t>列名</a:t>
            </a:r>
            <a:r>
              <a:rPr lang="en-US" altLang="zh-CN" sz="3000" dirty="0">
                <a:solidFill>
                  <a:srgbClr val="FF0000"/>
                </a:solidFill>
                <a:latin typeface="宋体" pitchFamily="2" charset="-122"/>
                <a:cs typeface="等线" panose="02010600030101010101" charset="-122"/>
              </a:rPr>
              <a:t>&gt;)</a:t>
            </a:r>
            <a:r>
              <a:rPr lang="zh-CN" altLang="en-US" sz="3000" dirty="0">
                <a:latin typeface="宋体" pitchFamily="2" charset="-122"/>
                <a:cs typeface="等线" panose="02010600030101010101" charset="-122"/>
              </a:rPr>
              <a:t>：求列值最大值； </a:t>
            </a:r>
          </a:p>
          <a:p>
            <a:pPr lvl="1" algn="just" eaLnBrk="1" hangingPunct="1">
              <a:spcBef>
                <a:spcPts val="200"/>
              </a:spcBef>
            </a:pPr>
            <a:r>
              <a:rPr lang="en-US" altLang="zh-CN" sz="3000" dirty="0">
                <a:solidFill>
                  <a:srgbClr val="FF0000"/>
                </a:solidFill>
                <a:latin typeface="宋体" pitchFamily="2" charset="-122"/>
                <a:cs typeface="等线" panose="02010600030101010101" charset="-122"/>
              </a:rPr>
              <a:t>MIN(&lt;</a:t>
            </a:r>
            <a:r>
              <a:rPr lang="zh-CN" altLang="en-US" sz="3000" dirty="0">
                <a:solidFill>
                  <a:srgbClr val="FF0000"/>
                </a:solidFill>
                <a:latin typeface="宋体" pitchFamily="2" charset="-122"/>
                <a:cs typeface="等线" panose="02010600030101010101" charset="-122"/>
              </a:rPr>
              <a:t>列名</a:t>
            </a:r>
            <a:r>
              <a:rPr lang="en-US" altLang="zh-CN" sz="3000" dirty="0">
                <a:solidFill>
                  <a:srgbClr val="FF0000"/>
                </a:solidFill>
                <a:latin typeface="宋体" pitchFamily="2" charset="-122"/>
                <a:cs typeface="等线" panose="02010600030101010101" charset="-122"/>
              </a:rPr>
              <a:t>&gt;)</a:t>
            </a:r>
            <a:r>
              <a:rPr lang="zh-CN" altLang="en-US" sz="3000" dirty="0">
                <a:latin typeface="宋体" pitchFamily="2" charset="-122"/>
                <a:cs typeface="等线" panose="02010600030101010101" charset="-122"/>
              </a:rPr>
              <a:t>：求列值最小值。</a:t>
            </a:r>
          </a:p>
          <a:p>
            <a:pPr algn="just" eaLnBrk="1" hangingPunct="1">
              <a:spcBef>
                <a:spcPts val="1200"/>
              </a:spcBef>
            </a:pPr>
            <a:r>
              <a:rPr lang="zh-CN" altLang="en-US" sz="3000" dirty="0">
                <a:solidFill>
                  <a:srgbClr val="009900"/>
                </a:solidFill>
                <a:latin typeface="宋体" pitchFamily="2" charset="-122"/>
                <a:cs typeface="等线" panose="02010600030101010101" charset="-122"/>
              </a:rPr>
              <a:t>上述函数中除</a:t>
            </a:r>
            <a:r>
              <a:rPr lang="en-US" altLang="zh-CN" sz="3000" dirty="0">
                <a:solidFill>
                  <a:srgbClr val="009900"/>
                </a:solidFill>
                <a:latin typeface="宋体" pitchFamily="2" charset="-122"/>
                <a:cs typeface="等线" panose="02010600030101010101" charset="-122"/>
              </a:rPr>
              <a:t>COUNT(*)</a:t>
            </a:r>
            <a:r>
              <a:rPr lang="zh-CN" altLang="en-US" sz="3000" dirty="0">
                <a:solidFill>
                  <a:srgbClr val="009900"/>
                </a:solidFill>
                <a:latin typeface="宋体" pitchFamily="2" charset="-122"/>
                <a:cs typeface="等线" panose="02010600030101010101" charset="-122"/>
              </a:rPr>
              <a:t>外，其他函数在计算过程中均忽略</a:t>
            </a:r>
            <a:r>
              <a:rPr lang="en-US" altLang="zh-CN" sz="3000" dirty="0">
                <a:solidFill>
                  <a:srgbClr val="009900"/>
                </a:solidFill>
                <a:latin typeface="宋体" pitchFamily="2" charset="-122"/>
                <a:cs typeface="等线" panose="02010600030101010101" charset="-122"/>
              </a:rPr>
              <a:t>NULL</a:t>
            </a:r>
            <a:r>
              <a:rPr lang="zh-CN" altLang="en-US" sz="3000" dirty="0">
                <a:solidFill>
                  <a:srgbClr val="009900"/>
                </a:solidFill>
                <a:latin typeface="宋体" pitchFamily="2" charset="-122"/>
                <a:cs typeface="等线" panose="02010600030101010101" charset="-122"/>
              </a:rPr>
              <a:t>值。</a:t>
            </a:r>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Grp="1"/>
          </p:cNvSpPr>
          <p:nvPr>
            <p:ph type="title"/>
          </p:nvPr>
        </p:nvSpPr>
        <p:spPr>
          <a:xfrm>
            <a:off x="500063" y="152400"/>
            <a:ext cx="8001000" cy="685800"/>
          </a:xfrm>
          <a:noFill/>
          <a:ln w="9525">
            <a:noFill/>
          </a:ln>
        </p:spPr>
        <p:txBody>
          <a:bodyPr vert="horz" wrap="square" lIns="91440" tIns="45720" rIns="91440" bIns="45720" rtlCol="0" anchor="ctr" anchorCtr="0">
            <a:normAutofit fontScale="90000"/>
          </a:bodyPr>
          <a:lstStyle/>
          <a:p>
            <a:pPr lvl="0" algn="ctr" eaLnBrk="1" hangingPunct="1">
              <a:buClrTx/>
              <a:buSzTx/>
              <a:buFontTx/>
            </a:pPr>
            <a:r>
              <a:rPr lang="zh-CN" altLang="en-US" sz="4000" b="0" dirty="0">
                <a:latin typeface="黑体" panose="02010609060101010101" pitchFamily="2" charset="-122"/>
                <a:ea typeface="黑体" panose="02010609060101010101" pitchFamily="2" charset="-122"/>
                <a:sym typeface="+mn-ea"/>
              </a:rPr>
              <a:t>示例</a:t>
            </a:r>
          </a:p>
        </p:txBody>
      </p:sp>
      <p:sp>
        <p:nvSpPr>
          <p:cNvPr id="41987" name="Rectangle 3"/>
          <p:cNvSpPr>
            <a:spLocks noGrp="1"/>
          </p:cNvSpPr>
          <p:nvPr>
            <p:ph idx="1"/>
          </p:nvPr>
        </p:nvSpPr>
        <p:spPr>
          <a:xfrm>
            <a:off x="107504" y="1196022"/>
            <a:ext cx="8856984" cy="5185305"/>
          </a:xfrm>
        </p:spPr>
        <p:txBody>
          <a:bodyPr vert="horz" wrap="square" lIns="91440" tIns="45720" rIns="91440" bIns="45720" anchor="t" anchorCtr="0"/>
          <a:lstStyle/>
          <a:p>
            <a:pPr marL="0" indent="0" eaLnBrk="1" hangingPunct="1">
              <a:buNone/>
            </a:pPr>
            <a:r>
              <a:rPr lang="zh-CN" altLang="en-US" sz="3100" dirty="0" smtClean="0">
                <a:latin typeface="宋体" pitchFamily="2" charset="-122"/>
                <a:cs typeface="等线" panose="02010600030101010101" charset="-122"/>
              </a:rPr>
              <a:t>例</a:t>
            </a:r>
            <a:r>
              <a:rPr lang="en-US" altLang="zh-CN" sz="3200" dirty="0" smtClean="0"/>
              <a:t>4.28 </a:t>
            </a:r>
            <a:r>
              <a:rPr lang="zh-CN" altLang="en-US" sz="3100" dirty="0" smtClean="0">
                <a:latin typeface="宋体" pitchFamily="2" charset="-122"/>
                <a:cs typeface="等线" panose="02010600030101010101" charset="-122"/>
              </a:rPr>
              <a:t>统计</a:t>
            </a:r>
            <a:r>
              <a:rPr lang="zh-CN" altLang="en-US" sz="3100" dirty="0">
                <a:latin typeface="宋体" pitchFamily="2" charset="-122"/>
                <a:cs typeface="等线" panose="02010600030101010101" charset="-122"/>
              </a:rPr>
              <a:t>学生总人数。</a:t>
            </a:r>
          </a:p>
          <a:p>
            <a:pPr algn="just" eaLnBrk="1" hangingPunct="1">
              <a:buFont typeface="Wingdings" panose="05000000000000000000" pitchFamily="2" charset="2"/>
              <a:buNone/>
            </a:pPr>
            <a:r>
              <a:rPr lang="zh-CN" altLang="en-US" sz="3100" dirty="0">
                <a:latin typeface="宋体" pitchFamily="2" charset="-122"/>
                <a:cs typeface="等线" panose="02010600030101010101" charset="-122"/>
              </a:rPr>
              <a:t>	</a:t>
            </a:r>
            <a:r>
              <a:rPr lang="en-US" altLang="zh-CN" sz="3100" dirty="0">
                <a:solidFill>
                  <a:srgbClr val="0000FF"/>
                </a:solidFill>
                <a:latin typeface="宋体" pitchFamily="2" charset="-122"/>
                <a:cs typeface="等线" panose="02010600030101010101" charset="-122"/>
              </a:rPr>
              <a:t>SELECT</a:t>
            </a:r>
            <a:r>
              <a:rPr lang="en-US" altLang="zh-CN" sz="3100" dirty="0">
                <a:solidFill>
                  <a:srgbClr val="009900"/>
                </a:solidFill>
                <a:latin typeface="宋体" pitchFamily="2" charset="-122"/>
                <a:cs typeface="等线" panose="02010600030101010101" charset="-122"/>
              </a:rPr>
              <a:t> </a:t>
            </a:r>
            <a:r>
              <a:rPr lang="en-US" altLang="zh-CN" sz="3100" dirty="0">
                <a:solidFill>
                  <a:srgbClr val="FF0000"/>
                </a:solidFill>
                <a:latin typeface="宋体" pitchFamily="2" charset="-122"/>
                <a:cs typeface="等线" panose="02010600030101010101" charset="-122"/>
              </a:rPr>
              <a:t>COUNT(*) </a:t>
            </a:r>
            <a:r>
              <a:rPr lang="en-US" altLang="zh-CN" sz="3100" dirty="0">
                <a:solidFill>
                  <a:srgbClr val="0000FF"/>
                </a:solidFill>
                <a:latin typeface="宋体" pitchFamily="2" charset="-122"/>
                <a:cs typeface="等线" panose="02010600030101010101" charset="-122"/>
              </a:rPr>
              <a:t>FROM Student</a:t>
            </a:r>
            <a:r>
              <a:rPr lang="en-US" altLang="zh-CN" sz="3100" dirty="0">
                <a:latin typeface="宋体" pitchFamily="2" charset="-122"/>
                <a:cs typeface="等线" panose="02010600030101010101" charset="-122"/>
              </a:rPr>
              <a:t> </a:t>
            </a:r>
          </a:p>
          <a:p>
            <a:pPr marL="0" indent="0" eaLnBrk="1" hangingPunct="1">
              <a:spcBef>
                <a:spcPts val="2400"/>
              </a:spcBef>
              <a:buNone/>
            </a:pPr>
            <a:r>
              <a:rPr lang="zh-CN" altLang="en-US" sz="3100" dirty="0" smtClean="0">
                <a:latin typeface="宋体" pitchFamily="2" charset="-122"/>
                <a:cs typeface="等线" panose="02010600030101010101" charset="-122"/>
              </a:rPr>
              <a:t>例</a:t>
            </a:r>
            <a:r>
              <a:rPr lang="en-US" altLang="zh-CN" sz="3200" dirty="0" smtClean="0"/>
              <a:t>4.29 </a:t>
            </a:r>
            <a:r>
              <a:rPr lang="zh-CN" altLang="en-US" sz="3100" dirty="0" smtClean="0">
                <a:latin typeface="宋体" pitchFamily="2" charset="-122"/>
                <a:cs typeface="等线" panose="02010600030101010101" charset="-122"/>
              </a:rPr>
              <a:t>统计</a:t>
            </a:r>
            <a:r>
              <a:rPr lang="zh-CN" altLang="en-US" sz="3100" dirty="0">
                <a:latin typeface="宋体" pitchFamily="2" charset="-122"/>
                <a:cs typeface="等线" panose="02010600030101010101" charset="-122"/>
              </a:rPr>
              <a:t>选修了课程的学生的人数。</a:t>
            </a:r>
          </a:p>
          <a:p>
            <a:pPr algn="just" eaLnBrk="1" hangingPunct="1">
              <a:buFont typeface="Wingdings" panose="05000000000000000000" pitchFamily="2" charset="2"/>
              <a:buNone/>
            </a:pPr>
            <a:r>
              <a:rPr lang="zh-CN" altLang="en-US" sz="3100" dirty="0">
                <a:latin typeface="宋体" pitchFamily="2" charset="-122"/>
                <a:cs typeface="等线" panose="02010600030101010101" charset="-122"/>
              </a:rPr>
              <a:t>	</a:t>
            </a:r>
            <a:r>
              <a:rPr lang="en-US" altLang="zh-CN" sz="3100" dirty="0">
                <a:solidFill>
                  <a:srgbClr val="0000FF"/>
                </a:solidFill>
                <a:latin typeface="宋体" pitchFamily="2" charset="-122"/>
                <a:cs typeface="等线" panose="02010600030101010101" charset="-122"/>
              </a:rPr>
              <a:t>SELECT</a:t>
            </a:r>
            <a:r>
              <a:rPr lang="en-US" altLang="zh-CN" sz="3100" dirty="0">
                <a:solidFill>
                  <a:srgbClr val="009900"/>
                </a:solidFill>
                <a:latin typeface="宋体" pitchFamily="2" charset="-122"/>
                <a:cs typeface="等线" panose="02010600030101010101" charset="-122"/>
              </a:rPr>
              <a:t> </a:t>
            </a:r>
            <a:r>
              <a:rPr lang="en-US" altLang="zh-CN" sz="3100" dirty="0">
                <a:solidFill>
                  <a:srgbClr val="FF0000"/>
                </a:solidFill>
                <a:latin typeface="宋体" pitchFamily="2" charset="-122"/>
                <a:cs typeface="等线" panose="02010600030101010101" charset="-122"/>
              </a:rPr>
              <a:t>COUNT (DISTINCT Sno)</a:t>
            </a:r>
            <a:endParaRPr lang="zh-CN" altLang="en-US" sz="3100" dirty="0">
              <a:solidFill>
                <a:srgbClr val="009900"/>
              </a:solidFill>
              <a:latin typeface="宋体" pitchFamily="2" charset="-122"/>
              <a:cs typeface="等线" panose="02010600030101010101" charset="-122"/>
            </a:endParaRPr>
          </a:p>
          <a:p>
            <a:pPr algn="just" eaLnBrk="1" hangingPunct="1">
              <a:buFont typeface="Wingdings" panose="05000000000000000000" pitchFamily="2" charset="2"/>
              <a:buNone/>
            </a:pPr>
            <a:r>
              <a:rPr lang="en-US" altLang="zh-CN" sz="3100" dirty="0">
                <a:solidFill>
                  <a:srgbClr val="009900"/>
                </a:solidFill>
                <a:latin typeface="宋体" pitchFamily="2" charset="-122"/>
                <a:cs typeface="等线" panose="02010600030101010101" charset="-122"/>
              </a:rPr>
              <a:t>      </a:t>
            </a:r>
            <a:r>
              <a:rPr lang="en-US" altLang="zh-CN" sz="3100" dirty="0">
                <a:solidFill>
                  <a:srgbClr val="0000FF"/>
                </a:solidFill>
                <a:latin typeface="宋体" pitchFamily="2" charset="-122"/>
                <a:cs typeface="等线" panose="02010600030101010101" charset="-122"/>
              </a:rPr>
              <a:t>FROM SC</a:t>
            </a:r>
          </a:p>
          <a:p>
            <a:pPr marL="0" indent="0" eaLnBrk="1" hangingPunct="1">
              <a:spcBef>
                <a:spcPts val="3000"/>
              </a:spcBef>
              <a:buNone/>
            </a:pPr>
            <a:r>
              <a:rPr lang="zh-CN" altLang="en-US" sz="3100" dirty="0" smtClean="0">
                <a:latin typeface="宋体" pitchFamily="2" charset="-122"/>
                <a:cs typeface="等线" panose="02010600030101010101" charset="-122"/>
              </a:rPr>
              <a:t>例</a:t>
            </a:r>
            <a:r>
              <a:rPr lang="en-US" altLang="zh-CN" sz="3200" dirty="0" smtClean="0"/>
              <a:t>4.32 </a:t>
            </a:r>
            <a:r>
              <a:rPr lang="zh-CN" altLang="en-US" sz="3100" dirty="0" smtClean="0">
                <a:latin typeface="宋体" pitchFamily="2" charset="-122"/>
                <a:cs typeface="等线" panose="02010600030101010101" charset="-122"/>
              </a:rPr>
              <a:t>查询</a:t>
            </a:r>
            <a:r>
              <a:rPr lang="zh-CN" altLang="en-US" sz="3100" dirty="0">
                <a:latin typeface="宋体" pitchFamily="2" charset="-122"/>
                <a:cs typeface="等线" panose="02010600030101010101" charset="-122"/>
              </a:rPr>
              <a:t>选了“</a:t>
            </a:r>
            <a:r>
              <a:rPr lang="en-US" altLang="zh-CN" sz="3100" dirty="0">
                <a:latin typeface="宋体" pitchFamily="2" charset="-122"/>
                <a:cs typeface="等线" panose="02010600030101010101" charset="-122"/>
              </a:rPr>
              <a:t>C001”</a:t>
            </a:r>
            <a:r>
              <a:rPr lang="zh-CN" altLang="en-US" sz="3100" dirty="0">
                <a:latin typeface="宋体" pitchFamily="2" charset="-122"/>
                <a:cs typeface="等线" panose="02010600030101010101" charset="-122"/>
              </a:rPr>
              <a:t> 课程的最高分和最低分。</a:t>
            </a:r>
          </a:p>
          <a:p>
            <a:pPr eaLnBrk="1" hangingPunct="1">
              <a:buNone/>
            </a:pPr>
            <a:r>
              <a:rPr lang="en-US" altLang="zh-CN" sz="3100" dirty="0">
                <a:solidFill>
                  <a:srgbClr val="0000FF"/>
                </a:solidFill>
                <a:latin typeface="宋体" pitchFamily="2" charset="-122"/>
                <a:cs typeface="等线" panose="02010600030101010101" charset="-122"/>
              </a:rPr>
              <a:t> </a:t>
            </a:r>
            <a:r>
              <a:rPr lang="en-US" altLang="zh-CN" sz="3100" dirty="0" smtClean="0">
                <a:solidFill>
                  <a:srgbClr val="0000FF"/>
                </a:solidFill>
                <a:latin typeface="宋体" pitchFamily="2" charset="-122"/>
                <a:cs typeface="等线" panose="02010600030101010101" charset="-122"/>
              </a:rPr>
              <a:t>SELECT </a:t>
            </a:r>
            <a:r>
              <a:rPr lang="en-US" altLang="zh-CN" sz="3100" dirty="0">
                <a:solidFill>
                  <a:srgbClr val="FF0000"/>
                </a:solidFill>
                <a:latin typeface="宋体" pitchFamily="2" charset="-122"/>
                <a:cs typeface="等线" panose="02010600030101010101" charset="-122"/>
              </a:rPr>
              <a:t>MAX(Grade</a:t>
            </a:r>
            <a:r>
              <a:rPr lang="en-US" altLang="zh-CN" sz="3100" dirty="0" smtClean="0">
                <a:solidFill>
                  <a:srgbClr val="FF0000"/>
                </a:solidFill>
                <a:latin typeface="宋体" pitchFamily="2" charset="-122"/>
                <a:cs typeface="等线" panose="02010600030101010101" charset="-122"/>
              </a:rPr>
              <a:t>) </a:t>
            </a:r>
            <a:r>
              <a:rPr lang="zh-CN" altLang="en-US" sz="3100" dirty="0" smtClean="0">
                <a:solidFill>
                  <a:srgbClr val="0000FF"/>
                </a:solidFill>
                <a:latin typeface="宋体" pitchFamily="2" charset="-122"/>
                <a:cs typeface="等线" panose="02010600030101010101" charset="-122"/>
              </a:rPr>
              <a:t>最高</a:t>
            </a:r>
            <a:r>
              <a:rPr lang="zh-CN" altLang="en-US" sz="3100" dirty="0">
                <a:solidFill>
                  <a:srgbClr val="0000FF"/>
                </a:solidFill>
                <a:latin typeface="宋体" pitchFamily="2" charset="-122"/>
                <a:cs typeface="等线" panose="02010600030101010101" charset="-122"/>
              </a:rPr>
              <a:t>分</a:t>
            </a:r>
            <a:r>
              <a:rPr lang="en-US" altLang="zh-CN" sz="3100" dirty="0" smtClean="0">
                <a:solidFill>
                  <a:srgbClr val="0000FF"/>
                </a:solidFill>
                <a:latin typeface="宋体" pitchFamily="2" charset="-122"/>
                <a:cs typeface="等线" panose="02010600030101010101" charset="-122"/>
              </a:rPr>
              <a:t>,</a:t>
            </a:r>
            <a:r>
              <a:rPr lang="en-US" altLang="zh-CN" sz="3100" dirty="0" smtClean="0">
                <a:solidFill>
                  <a:srgbClr val="FF0000"/>
                </a:solidFill>
                <a:latin typeface="宋体" pitchFamily="2" charset="-122"/>
                <a:cs typeface="等线" panose="02010600030101010101" charset="-122"/>
              </a:rPr>
              <a:t>MIN(Grade</a:t>
            </a:r>
            <a:r>
              <a:rPr lang="en-US" altLang="zh-CN" sz="3100" dirty="0">
                <a:solidFill>
                  <a:srgbClr val="FF0000"/>
                </a:solidFill>
                <a:latin typeface="宋体" pitchFamily="2" charset="-122"/>
                <a:cs typeface="等线" panose="02010600030101010101" charset="-122"/>
              </a:rPr>
              <a:t>) </a:t>
            </a:r>
            <a:r>
              <a:rPr lang="zh-CN" altLang="en-US" sz="3100" dirty="0">
                <a:solidFill>
                  <a:srgbClr val="0000FF"/>
                </a:solidFill>
                <a:latin typeface="宋体" pitchFamily="2" charset="-122"/>
                <a:cs typeface="等线" panose="02010600030101010101" charset="-122"/>
              </a:rPr>
              <a:t>最低分</a:t>
            </a:r>
          </a:p>
          <a:p>
            <a:pPr lvl="1" eaLnBrk="1" hangingPunct="1">
              <a:buNone/>
            </a:pPr>
            <a:r>
              <a:rPr lang="zh-CN" altLang="en-US" sz="3100" dirty="0">
                <a:solidFill>
                  <a:srgbClr val="0000FF"/>
                </a:solidFill>
                <a:latin typeface="宋体" pitchFamily="2" charset="-122"/>
                <a:cs typeface="等线" panose="02010600030101010101" charset="-122"/>
              </a:rPr>
              <a:t>  </a:t>
            </a:r>
            <a:r>
              <a:rPr lang="en-US" altLang="zh-CN" sz="3100" dirty="0">
                <a:solidFill>
                  <a:srgbClr val="0000FF"/>
                </a:solidFill>
                <a:latin typeface="宋体" pitchFamily="2" charset="-122"/>
                <a:cs typeface="等线" panose="02010600030101010101" charset="-122"/>
              </a:rPr>
              <a:t>FROM SC WHERE </a:t>
            </a:r>
            <a:r>
              <a:rPr lang="en-US" altLang="zh-CN" sz="3100" dirty="0" err="1">
                <a:solidFill>
                  <a:srgbClr val="0000FF"/>
                </a:solidFill>
                <a:latin typeface="宋体" pitchFamily="2" charset="-122"/>
                <a:cs typeface="等线" panose="02010600030101010101" charset="-122"/>
              </a:rPr>
              <a:t>Cno</a:t>
            </a:r>
            <a:r>
              <a:rPr lang="en-US" altLang="zh-CN" sz="3100" dirty="0">
                <a:solidFill>
                  <a:srgbClr val="0000FF"/>
                </a:solidFill>
                <a:latin typeface="宋体" pitchFamily="2" charset="-122"/>
                <a:cs typeface="等线" panose="02010600030101010101" charset="-122"/>
              </a:rPr>
              <a:t>='C001' </a:t>
            </a:r>
            <a:endParaRPr lang="zh-CN" altLang="en-US" sz="3100" dirty="0">
              <a:solidFill>
                <a:srgbClr val="0000FF"/>
              </a:solidFill>
              <a:latin typeface="宋体" pitchFamily="2" charset="-122"/>
              <a:cs typeface="等线" panose="02010600030101010101" charset="-122"/>
            </a:endParaRPr>
          </a:p>
        </p:txBody>
      </p: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p:cNvSpPr>
          <p:nvPr>
            <p:ph type="title"/>
          </p:nvPr>
        </p:nvSpPr>
        <p:spPr>
          <a:xfrm>
            <a:off x="500063" y="152400"/>
            <a:ext cx="8001000" cy="685800"/>
          </a:xfrm>
          <a:noFill/>
          <a:ln w="9525">
            <a:noFill/>
          </a:ln>
        </p:spPr>
        <p:txBody>
          <a:bodyPr vert="horz" wrap="square" lIns="91440" tIns="45720" rIns="91440" bIns="45720" rtlCol="0" anchor="ctr" anchorCtr="0">
            <a:normAutofit fontScale="90000"/>
          </a:bodyPr>
          <a:lstStyle/>
          <a:p>
            <a:pPr lvl="0" algn="ctr" eaLnBrk="1" hangingPunct="1">
              <a:buClrTx/>
              <a:buSzTx/>
              <a:buFontTx/>
            </a:pPr>
            <a:r>
              <a:rPr lang="zh-CN" altLang="en-US" sz="4000" b="0" dirty="0">
                <a:latin typeface="黑体" panose="02010609060101010101" pitchFamily="2" charset="-122"/>
                <a:ea typeface="黑体" panose="02010609060101010101" pitchFamily="2" charset="-122"/>
                <a:sym typeface="+mn-ea"/>
              </a:rPr>
              <a:t>注意</a:t>
            </a:r>
          </a:p>
        </p:txBody>
      </p:sp>
      <p:sp>
        <p:nvSpPr>
          <p:cNvPr id="44035" name="Rectangle 3"/>
          <p:cNvSpPr>
            <a:spLocks noGrp="1"/>
          </p:cNvSpPr>
          <p:nvPr>
            <p:ph idx="1"/>
          </p:nvPr>
        </p:nvSpPr>
        <p:spPr>
          <a:xfrm>
            <a:off x="467544" y="1700808"/>
            <a:ext cx="8229600" cy="3535288"/>
          </a:xfrm>
        </p:spPr>
        <p:txBody>
          <a:bodyPr vert="horz" wrap="square" lIns="91440" tIns="45720" rIns="91440" bIns="45720" anchor="t" anchorCtr="0"/>
          <a:lstStyle/>
          <a:p>
            <a:pPr eaLnBrk="1" hangingPunct="1"/>
            <a:r>
              <a:rPr lang="zh-CN" altLang="en-US" dirty="0">
                <a:latin typeface="宋体" pitchFamily="2" charset="-122"/>
                <a:cs typeface="等线" panose="02010600030101010101" charset="-122"/>
              </a:rPr>
              <a:t>统计函数不能出现在</a:t>
            </a:r>
            <a:r>
              <a:rPr lang="en-US" altLang="zh-CN" dirty="0">
                <a:latin typeface="宋体" pitchFamily="2" charset="-122"/>
                <a:cs typeface="等线" panose="02010600030101010101" charset="-122"/>
              </a:rPr>
              <a:t>WHERE</a:t>
            </a:r>
            <a:r>
              <a:rPr lang="zh-CN" altLang="en-US" dirty="0">
                <a:latin typeface="宋体" pitchFamily="2" charset="-122"/>
                <a:cs typeface="等线" panose="02010600030101010101" charset="-122"/>
              </a:rPr>
              <a:t>子句中。</a:t>
            </a:r>
          </a:p>
          <a:p>
            <a:pPr marL="0" indent="0" eaLnBrk="1" hangingPunct="1">
              <a:spcBef>
                <a:spcPts val="1800"/>
              </a:spcBef>
              <a:buNone/>
            </a:pPr>
            <a:r>
              <a:rPr lang="zh-CN" altLang="en-US" dirty="0">
                <a:latin typeface="宋体" pitchFamily="2" charset="-122"/>
                <a:cs typeface="等线" panose="02010600030101010101" charset="-122"/>
              </a:rPr>
              <a:t>例如，查询年龄最大的学生的姓名，如下写法是错误的：</a:t>
            </a:r>
          </a:p>
          <a:p>
            <a:pPr lvl="1" eaLnBrk="1" hangingPunct="1">
              <a:buFont typeface="Wingdings" panose="05000000000000000000" pitchFamily="2" charset="2"/>
              <a:buNone/>
            </a:pPr>
            <a:r>
              <a:rPr lang="en-US" altLang="zh-CN" dirty="0">
                <a:solidFill>
                  <a:srgbClr val="0000FF"/>
                </a:solidFill>
                <a:latin typeface="宋体" pitchFamily="2" charset="-122"/>
                <a:cs typeface="等线" panose="02010600030101010101" charset="-122"/>
              </a:rPr>
              <a:t>SELECT Sname FROM Student </a:t>
            </a:r>
          </a:p>
          <a:p>
            <a:pPr lvl="1" eaLnBrk="1" hangingPunct="1">
              <a:buFont typeface="Wingdings" panose="05000000000000000000" pitchFamily="2" charset="2"/>
              <a:buNone/>
            </a:pPr>
            <a:r>
              <a:rPr lang="en-US" altLang="zh-CN" dirty="0">
                <a:solidFill>
                  <a:srgbClr val="0000FF"/>
                </a:solidFill>
                <a:latin typeface="宋体" pitchFamily="2" charset="-122"/>
                <a:cs typeface="等线" panose="02010600030101010101" charset="-122"/>
              </a:rPr>
              <a:t>   WHERE Sage = MAX(Sage) </a:t>
            </a:r>
            <a:endParaRPr lang="zh-CN" altLang="en-US" dirty="0">
              <a:solidFill>
                <a:srgbClr val="0000FF"/>
              </a:solidFill>
              <a:latin typeface="宋体" pitchFamily="2" charset="-122"/>
              <a:cs typeface="等线" panose="02010600030101010101" charset="-122"/>
            </a:endParaRPr>
          </a:p>
        </p:txBody>
      </p: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p:cNvSpPr>
          <p:nvPr>
            <p:ph type="title"/>
          </p:nvPr>
        </p:nvSpPr>
        <p:spPr>
          <a:xfrm>
            <a:off x="500063" y="152400"/>
            <a:ext cx="8001000" cy="685800"/>
          </a:xfrm>
          <a:noFill/>
          <a:ln w="9525">
            <a:noFill/>
          </a:ln>
        </p:spPr>
        <p:txBody>
          <a:bodyPr vert="horz" wrap="square" lIns="91440" tIns="45720" rIns="91440" bIns="45720" rtlCol="0" anchor="ctr" anchorCtr="0">
            <a:normAutofit fontScale="90000"/>
          </a:bodyPr>
          <a:lstStyle/>
          <a:p>
            <a:pPr lvl="0" algn="ctr" eaLnBrk="1" hangingPunct="1">
              <a:buClrTx/>
              <a:buSzTx/>
              <a:buFontTx/>
            </a:pPr>
            <a:r>
              <a:rPr lang="zh-CN" altLang="en-US" sz="4000" b="0" dirty="0">
                <a:latin typeface="黑体" panose="02010609060101010101" pitchFamily="2" charset="-122"/>
                <a:ea typeface="黑体" panose="02010609060101010101" pitchFamily="2" charset="-122"/>
                <a:sym typeface="+mn-ea"/>
              </a:rPr>
              <a:t>5. 对查询结果进行分组计算 </a:t>
            </a:r>
          </a:p>
        </p:txBody>
      </p:sp>
      <p:sp>
        <p:nvSpPr>
          <p:cNvPr id="45059" name="Rectangle 3"/>
          <p:cNvSpPr>
            <a:spLocks noGrp="1"/>
          </p:cNvSpPr>
          <p:nvPr>
            <p:ph idx="1"/>
          </p:nvPr>
        </p:nvSpPr>
        <p:spPr>
          <a:xfrm>
            <a:off x="571500" y="1357313"/>
            <a:ext cx="7932738" cy="4622800"/>
          </a:xfrm>
        </p:spPr>
        <p:txBody>
          <a:bodyPr vert="horz" wrap="square" lIns="91440" tIns="45720" rIns="91440" bIns="45720" anchor="t" anchorCtr="0"/>
          <a:lstStyle/>
          <a:p>
            <a:pPr algn="just" eaLnBrk="1" hangingPunct="1">
              <a:spcBef>
                <a:spcPts val="1800"/>
              </a:spcBef>
            </a:pPr>
            <a:r>
              <a:rPr lang="zh-CN" altLang="en-US" sz="3600" dirty="0">
                <a:latin typeface="宋体" pitchFamily="2" charset="-122"/>
                <a:cs typeface="等线" panose="02010600030101010101" charset="-122"/>
              </a:rPr>
              <a:t>作用：可以控制计算的级别：对全表还是对一组。</a:t>
            </a:r>
          </a:p>
          <a:p>
            <a:pPr algn="just" eaLnBrk="1" hangingPunct="1">
              <a:spcBef>
                <a:spcPts val="1800"/>
              </a:spcBef>
            </a:pPr>
            <a:r>
              <a:rPr lang="zh-CN" altLang="en-US" sz="3600" dirty="0">
                <a:latin typeface="宋体" pitchFamily="2" charset="-122"/>
                <a:cs typeface="等线" panose="02010600030101010101" charset="-122"/>
              </a:rPr>
              <a:t>目的：细化计算函数的作用对象。</a:t>
            </a:r>
          </a:p>
          <a:p>
            <a:pPr algn="just" eaLnBrk="1" hangingPunct="1">
              <a:spcBef>
                <a:spcPts val="1800"/>
              </a:spcBef>
            </a:pPr>
            <a:r>
              <a:rPr lang="zh-CN" altLang="en-US" sz="3600" dirty="0">
                <a:latin typeface="宋体" pitchFamily="2" charset="-122"/>
                <a:cs typeface="等线" panose="02010600030101010101" charset="-122"/>
              </a:rPr>
              <a:t>分组语句的一般形式：</a:t>
            </a:r>
          </a:p>
          <a:p>
            <a:pPr eaLnBrk="1" hangingPunct="1">
              <a:spcBef>
                <a:spcPts val="1800"/>
              </a:spcBef>
              <a:buFont typeface="Wingdings" panose="05000000000000000000" pitchFamily="2" charset="2"/>
              <a:buNone/>
            </a:pPr>
            <a:r>
              <a:rPr lang="en-US" altLang="zh-CN" sz="3600" dirty="0">
                <a:solidFill>
                  <a:srgbClr val="FF0000"/>
                </a:solidFill>
                <a:latin typeface="宋体" pitchFamily="2" charset="-122"/>
                <a:cs typeface="等线" panose="02010600030101010101" charset="-122"/>
              </a:rPr>
              <a:t>	  [GROUP BY &lt;</a:t>
            </a:r>
            <a:r>
              <a:rPr lang="zh-CN" altLang="en-US" sz="3600" dirty="0">
                <a:solidFill>
                  <a:srgbClr val="FF0000"/>
                </a:solidFill>
                <a:latin typeface="宋体" pitchFamily="2" charset="-122"/>
                <a:cs typeface="等线" panose="02010600030101010101" charset="-122"/>
              </a:rPr>
              <a:t>分组条件</a:t>
            </a:r>
            <a:r>
              <a:rPr lang="en-US" altLang="zh-CN" sz="3600" dirty="0">
                <a:solidFill>
                  <a:srgbClr val="FF0000"/>
                </a:solidFill>
                <a:latin typeface="宋体" pitchFamily="2" charset="-122"/>
                <a:cs typeface="等线" panose="02010600030101010101" charset="-122"/>
              </a:rPr>
              <a:t>&gt;] </a:t>
            </a:r>
          </a:p>
          <a:p>
            <a:pPr eaLnBrk="1" hangingPunct="1">
              <a:spcBef>
                <a:spcPts val="1800"/>
              </a:spcBef>
              <a:buFont typeface="Wingdings" panose="05000000000000000000" pitchFamily="2" charset="2"/>
              <a:buNone/>
            </a:pPr>
            <a:r>
              <a:rPr lang="en-US" altLang="zh-CN" sz="3600" dirty="0">
                <a:solidFill>
                  <a:srgbClr val="FF0000"/>
                </a:solidFill>
                <a:latin typeface="宋体" pitchFamily="2" charset="-122"/>
                <a:cs typeface="等线" panose="02010600030101010101" charset="-122"/>
              </a:rPr>
              <a:t>	  [HAVING &lt;</a:t>
            </a:r>
            <a:r>
              <a:rPr lang="zh-CN" altLang="en-US" sz="3600" dirty="0">
                <a:solidFill>
                  <a:srgbClr val="FF0000"/>
                </a:solidFill>
                <a:latin typeface="宋体" pitchFamily="2" charset="-122"/>
                <a:cs typeface="等线" panose="02010600030101010101" charset="-122"/>
              </a:rPr>
              <a:t>组过滤条件</a:t>
            </a:r>
            <a:r>
              <a:rPr lang="en-US" altLang="zh-CN" sz="3600" dirty="0">
                <a:solidFill>
                  <a:srgbClr val="FF0000"/>
                </a:solidFill>
                <a:latin typeface="宋体" pitchFamily="2" charset="-122"/>
                <a:cs typeface="等线" panose="02010600030101010101" charset="-122"/>
              </a:rPr>
              <a:t>&gt;]</a:t>
            </a:r>
            <a:r>
              <a:rPr lang="en-US" altLang="zh-CN" sz="2800" dirty="0">
                <a:solidFill>
                  <a:srgbClr val="FF0000"/>
                </a:solidFill>
                <a:latin typeface="宋体" pitchFamily="2" charset="-122"/>
                <a:cs typeface="等线" panose="02010600030101010101" charset="-122"/>
              </a:rPr>
              <a:t> </a:t>
            </a:r>
          </a:p>
          <a:p>
            <a:pPr eaLnBrk="1" hangingPunct="1">
              <a:spcBef>
                <a:spcPts val="1800"/>
              </a:spcBef>
            </a:pPr>
            <a:endParaRPr lang="zh-CN" altLang="en-US" sz="2800" dirty="0">
              <a:latin typeface="宋体" pitchFamily="2" charset="-122"/>
              <a:cs typeface="等线" panose="02010600030101010101" charset="-122"/>
            </a:endParaRPr>
          </a:p>
        </p:txBody>
      </p:sp>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p:cNvSpPr>
          <p:nvPr>
            <p:ph type="title"/>
          </p:nvPr>
        </p:nvSpPr>
        <p:spPr>
          <a:xfrm>
            <a:off x="500063" y="152400"/>
            <a:ext cx="8001000" cy="685800"/>
          </a:xfrm>
          <a:noFill/>
          <a:ln w="9525">
            <a:noFill/>
          </a:ln>
        </p:spPr>
        <p:txBody>
          <a:bodyPr vert="horz" wrap="square" lIns="91440" tIns="45720" rIns="91440" bIns="45720" rtlCol="0" anchor="ctr" anchorCtr="0">
            <a:normAutofit fontScale="90000"/>
          </a:bodyPr>
          <a:lstStyle/>
          <a:p>
            <a:pPr lvl="0" algn="ctr" eaLnBrk="1" hangingPunct="1">
              <a:buClrTx/>
              <a:buSzTx/>
              <a:buFontTx/>
            </a:pPr>
            <a:r>
              <a:rPr lang="zh-CN" altLang="en-US" sz="4000" b="0" dirty="0">
                <a:latin typeface="黑体" panose="02010609060101010101" pitchFamily="2" charset="-122"/>
                <a:ea typeface="黑体" panose="02010609060101010101" pitchFamily="2" charset="-122"/>
                <a:sym typeface="+mn-ea"/>
              </a:rPr>
              <a:t>使用GROUP BY示例</a:t>
            </a:r>
          </a:p>
        </p:txBody>
      </p:sp>
      <p:sp>
        <p:nvSpPr>
          <p:cNvPr id="46083" name="Rectangle 3"/>
          <p:cNvSpPr>
            <a:spLocks noGrp="1"/>
          </p:cNvSpPr>
          <p:nvPr>
            <p:ph idx="1"/>
          </p:nvPr>
        </p:nvSpPr>
        <p:spPr>
          <a:xfrm>
            <a:off x="250825" y="1844824"/>
            <a:ext cx="8569325" cy="4536926"/>
          </a:xfrm>
        </p:spPr>
        <p:txBody>
          <a:bodyPr vert="horz" wrap="square" lIns="91440" tIns="45720" rIns="91440" bIns="45720" anchor="t" anchorCtr="0"/>
          <a:lstStyle/>
          <a:p>
            <a:pPr marL="0" indent="0" eaLnBrk="1" hangingPunct="1">
              <a:spcBef>
                <a:spcPts val="300"/>
              </a:spcBef>
              <a:buNone/>
            </a:pPr>
            <a:r>
              <a:rPr lang="zh-CN" altLang="en-US" sz="3200" dirty="0" smtClean="0">
                <a:latin typeface="宋体" pitchFamily="2" charset="-122"/>
                <a:cs typeface="等线" panose="02010600030101010101" charset="-122"/>
              </a:rPr>
              <a:t>例</a:t>
            </a:r>
            <a:r>
              <a:rPr lang="en-US" altLang="zh-CN" sz="3200" dirty="0" smtClean="0"/>
              <a:t>4.33 </a:t>
            </a:r>
            <a:r>
              <a:rPr lang="zh-CN" altLang="en-US" sz="3200" dirty="0" smtClean="0">
                <a:latin typeface="宋体" pitchFamily="2" charset="-122"/>
                <a:cs typeface="等线" panose="02010600030101010101" charset="-122"/>
              </a:rPr>
              <a:t>统计</a:t>
            </a:r>
            <a:r>
              <a:rPr lang="zh-CN" altLang="en-US" sz="3200" dirty="0">
                <a:latin typeface="宋体" pitchFamily="2" charset="-122"/>
                <a:cs typeface="等线" panose="02010600030101010101" charset="-122"/>
              </a:rPr>
              <a:t>每门课程的选课人数，列出课程号和人数。</a:t>
            </a:r>
          </a:p>
          <a:p>
            <a:pPr marL="876300" lvl="1" indent="-419100" algn="just" eaLnBrk="1" hangingPunct="1">
              <a:spcBef>
                <a:spcPts val="300"/>
              </a:spcBef>
              <a:buFont typeface="Wingdings" panose="05000000000000000000" pitchFamily="2" charset="2"/>
              <a:buNone/>
            </a:pPr>
            <a:r>
              <a:rPr lang="en-US" altLang="zh-CN" dirty="0">
                <a:solidFill>
                  <a:srgbClr val="0000FF"/>
                </a:solidFill>
                <a:latin typeface="宋体" pitchFamily="2" charset="-122"/>
                <a:cs typeface="等线" panose="02010600030101010101" charset="-122"/>
              </a:rPr>
              <a:t>SELECT Cno as </a:t>
            </a:r>
            <a:r>
              <a:rPr lang="zh-CN" altLang="en-US" dirty="0">
                <a:solidFill>
                  <a:srgbClr val="0000FF"/>
                </a:solidFill>
                <a:latin typeface="宋体" pitchFamily="2" charset="-122"/>
                <a:cs typeface="等线" panose="02010600030101010101" charset="-122"/>
              </a:rPr>
              <a:t>课程号</a:t>
            </a:r>
            <a:r>
              <a:rPr lang="en-US" altLang="zh-CN" dirty="0">
                <a:solidFill>
                  <a:srgbClr val="0000FF"/>
                </a:solidFill>
                <a:latin typeface="宋体" pitchFamily="2" charset="-122"/>
                <a:cs typeface="等线" panose="02010600030101010101" charset="-122"/>
              </a:rPr>
              <a:t>, </a:t>
            </a:r>
          </a:p>
          <a:p>
            <a:pPr marL="876300" lvl="1" indent="-419100" algn="just" eaLnBrk="1" hangingPunct="1">
              <a:spcBef>
                <a:spcPts val="300"/>
              </a:spcBef>
              <a:buFont typeface="Wingdings" panose="05000000000000000000" pitchFamily="2" charset="2"/>
              <a:buNone/>
            </a:pPr>
            <a:r>
              <a:rPr lang="en-US" altLang="zh-CN" dirty="0">
                <a:solidFill>
                  <a:srgbClr val="0000FF"/>
                </a:solidFill>
                <a:latin typeface="宋体" pitchFamily="2" charset="-122"/>
                <a:cs typeface="等线" panose="02010600030101010101" charset="-122"/>
              </a:rPr>
              <a:t>   COUNT(Sno) as </a:t>
            </a:r>
            <a:r>
              <a:rPr lang="zh-CN" altLang="en-US" dirty="0">
                <a:solidFill>
                  <a:srgbClr val="0000FF"/>
                </a:solidFill>
                <a:latin typeface="宋体" pitchFamily="2" charset="-122"/>
                <a:cs typeface="等线" panose="02010600030101010101" charset="-122"/>
              </a:rPr>
              <a:t>选课人数 </a:t>
            </a:r>
          </a:p>
          <a:p>
            <a:pPr marL="876300" lvl="1" indent="-419100" algn="just" eaLnBrk="1" hangingPunct="1">
              <a:spcBef>
                <a:spcPts val="300"/>
              </a:spcBef>
              <a:buFont typeface="Wingdings" panose="05000000000000000000" pitchFamily="2" charset="2"/>
              <a:buNone/>
            </a:pPr>
            <a:r>
              <a:rPr lang="en-US" altLang="zh-CN" dirty="0">
                <a:solidFill>
                  <a:srgbClr val="0000FF"/>
                </a:solidFill>
                <a:latin typeface="宋体" pitchFamily="2" charset="-122"/>
                <a:cs typeface="等线" panose="02010600030101010101" charset="-122"/>
              </a:rPr>
              <a:t>   FROM SC </a:t>
            </a:r>
          </a:p>
          <a:p>
            <a:pPr marL="876300" lvl="1" indent="-419100" algn="just" eaLnBrk="1" hangingPunct="1">
              <a:spcBef>
                <a:spcPts val="300"/>
              </a:spcBef>
              <a:buFont typeface="Wingdings" panose="05000000000000000000" pitchFamily="2" charset="2"/>
              <a:buNone/>
            </a:pPr>
            <a:r>
              <a:rPr lang="en-US" altLang="zh-CN" dirty="0">
                <a:solidFill>
                  <a:srgbClr val="0000FF"/>
                </a:solidFill>
                <a:latin typeface="宋体" pitchFamily="2" charset="-122"/>
                <a:cs typeface="等线" panose="02010600030101010101" charset="-122"/>
              </a:rPr>
              <a:t>   </a:t>
            </a:r>
            <a:r>
              <a:rPr lang="en-US" altLang="zh-CN" dirty="0">
                <a:solidFill>
                  <a:srgbClr val="FF0000"/>
                </a:solidFill>
                <a:latin typeface="宋体" pitchFamily="2" charset="-122"/>
                <a:cs typeface="等线" panose="02010600030101010101" charset="-122"/>
              </a:rPr>
              <a:t>GROUP BY </a:t>
            </a:r>
            <a:r>
              <a:rPr lang="en-US" altLang="zh-CN" dirty="0" err="1" smtClean="0">
                <a:solidFill>
                  <a:srgbClr val="FF0000"/>
                </a:solidFill>
                <a:latin typeface="宋体" pitchFamily="2" charset="-122"/>
                <a:cs typeface="等线" panose="02010600030101010101" charset="-122"/>
              </a:rPr>
              <a:t>Cno</a:t>
            </a:r>
            <a:endParaRPr lang="en-US" altLang="zh-CN" dirty="0" smtClean="0">
              <a:solidFill>
                <a:srgbClr val="FF0000"/>
              </a:solidFill>
              <a:latin typeface="宋体" pitchFamily="2" charset="-122"/>
              <a:cs typeface="等线" panose="02010600030101010101" charset="-122"/>
            </a:endParaRPr>
          </a:p>
        </p:txBody>
      </p:sp>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p:cNvSpPr>
          <p:nvPr>
            <p:ph type="title"/>
          </p:nvPr>
        </p:nvSpPr>
        <p:spPr>
          <a:xfrm>
            <a:off x="500063" y="152400"/>
            <a:ext cx="8001000" cy="685800"/>
          </a:xfrm>
          <a:noFill/>
          <a:ln w="9525">
            <a:noFill/>
          </a:ln>
        </p:spPr>
        <p:txBody>
          <a:bodyPr vert="horz" wrap="square" lIns="91440" tIns="45720" rIns="91440" bIns="45720" rtlCol="0" anchor="ctr" anchorCtr="0">
            <a:normAutofit fontScale="90000"/>
          </a:bodyPr>
          <a:lstStyle/>
          <a:p>
            <a:pPr lvl="0" algn="ctr" eaLnBrk="1" hangingPunct="1">
              <a:buClrTx/>
              <a:buSzTx/>
              <a:buFontTx/>
            </a:pPr>
            <a:r>
              <a:rPr lang="zh-CN" altLang="en-US" sz="4000" b="0" dirty="0">
                <a:latin typeface="黑体" panose="02010609060101010101" pitchFamily="2" charset="-122"/>
                <a:ea typeface="黑体" panose="02010609060101010101" pitchFamily="2" charset="-122"/>
                <a:sym typeface="+mn-ea"/>
              </a:rPr>
              <a:t>示例（续）</a:t>
            </a:r>
          </a:p>
        </p:txBody>
      </p:sp>
      <p:sp>
        <p:nvSpPr>
          <p:cNvPr id="47107" name="Rectangle 3"/>
          <p:cNvSpPr>
            <a:spLocks noGrp="1"/>
          </p:cNvSpPr>
          <p:nvPr>
            <p:ph idx="1"/>
          </p:nvPr>
        </p:nvSpPr>
        <p:spPr>
          <a:xfrm>
            <a:off x="571500" y="1357313"/>
            <a:ext cx="8147050" cy="4687887"/>
          </a:xfrm>
        </p:spPr>
        <p:txBody>
          <a:bodyPr vert="horz" wrap="square" lIns="91440" tIns="45720" rIns="91440" bIns="45720" anchor="t" anchorCtr="0"/>
          <a:lstStyle/>
          <a:p>
            <a:pPr marL="0" indent="0" eaLnBrk="1" hangingPunct="1">
              <a:buNone/>
            </a:pPr>
            <a:r>
              <a:rPr lang="zh-CN" altLang="en-US" sz="3600" dirty="0" smtClean="0">
                <a:latin typeface="宋体" pitchFamily="2" charset="-122"/>
                <a:cs typeface="等线" panose="02010600030101010101" charset="-122"/>
              </a:rPr>
              <a:t>例</a:t>
            </a:r>
            <a:r>
              <a:rPr lang="en-US" altLang="zh-CN" sz="3600" dirty="0" smtClean="0"/>
              <a:t>4.34 </a:t>
            </a:r>
            <a:r>
              <a:rPr lang="zh-CN" altLang="en-US" sz="3600" dirty="0" smtClean="0">
                <a:latin typeface="宋体" pitchFamily="2" charset="-122"/>
                <a:cs typeface="等线" panose="02010600030101010101" charset="-122"/>
              </a:rPr>
              <a:t>查询</a:t>
            </a:r>
            <a:r>
              <a:rPr lang="zh-CN" altLang="en-US" sz="3600" dirty="0">
                <a:latin typeface="宋体" pitchFamily="2" charset="-122"/>
                <a:cs typeface="等线" panose="02010600030101010101" charset="-122"/>
              </a:rPr>
              <a:t>每名学生的选课门数和平均成绩。</a:t>
            </a:r>
          </a:p>
          <a:p>
            <a:pPr lvl="1" algn="just" eaLnBrk="1" hangingPunct="1">
              <a:buFont typeface="Wingdings" panose="05000000000000000000" pitchFamily="2" charset="2"/>
              <a:buNone/>
            </a:pPr>
            <a:r>
              <a:rPr lang="en-US" altLang="zh-CN" sz="3600" dirty="0">
                <a:solidFill>
                  <a:srgbClr val="0000FF"/>
                </a:solidFill>
                <a:latin typeface="宋体" pitchFamily="2" charset="-122"/>
                <a:cs typeface="等线" panose="02010600030101010101" charset="-122"/>
              </a:rPr>
              <a:t>SELECT Sno </a:t>
            </a:r>
            <a:r>
              <a:rPr lang="zh-CN" altLang="en-US" sz="3600" dirty="0">
                <a:solidFill>
                  <a:srgbClr val="0000FF"/>
                </a:solidFill>
                <a:latin typeface="宋体" pitchFamily="2" charset="-122"/>
                <a:cs typeface="等线" panose="02010600030101010101" charset="-122"/>
              </a:rPr>
              <a:t>学号</a:t>
            </a:r>
            <a:r>
              <a:rPr lang="en-US" altLang="zh-CN" sz="3600" dirty="0">
                <a:solidFill>
                  <a:srgbClr val="0000FF"/>
                </a:solidFill>
                <a:latin typeface="宋体" pitchFamily="2" charset="-122"/>
                <a:cs typeface="等线" panose="02010600030101010101" charset="-122"/>
              </a:rPr>
              <a:t>, </a:t>
            </a:r>
          </a:p>
          <a:p>
            <a:pPr lvl="1" algn="just" eaLnBrk="1" hangingPunct="1">
              <a:buFont typeface="Wingdings" panose="05000000000000000000" pitchFamily="2" charset="2"/>
              <a:buNone/>
            </a:pPr>
            <a:r>
              <a:rPr lang="en-US" altLang="zh-CN" sz="3600" dirty="0">
                <a:solidFill>
                  <a:srgbClr val="0000FF"/>
                </a:solidFill>
                <a:latin typeface="宋体" pitchFamily="2" charset="-122"/>
                <a:cs typeface="等线" panose="02010600030101010101" charset="-122"/>
              </a:rPr>
              <a:t>   COUNT(*) </a:t>
            </a:r>
            <a:r>
              <a:rPr lang="zh-CN" altLang="en-US" sz="3600" dirty="0">
                <a:solidFill>
                  <a:srgbClr val="0000FF"/>
                </a:solidFill>
                <a:latin typeface="宋体" pitchFamily="2" charset="-122"/>
                <a:cs typeface="等线" panose="02010600030101010101" charset="-122"/>
              </a:rPr>
              <a:t>选课门数</a:t>
            </a:r>
            <a:r>
              <a:rPr lang="en-US" altLang="zh-CN" sz="3600" dirty="0">
                <a:solidFill>
                  <a:srgbClr val="0000FF"/>
                </a:solidFill>
                <a:latin typeface="宋体" pitchFamily="2" charset="-122"/>
                <a:cs typeface="等线" panose="02010600030101010101" charset="-122"/>
              </a:rPr>
              <a:t>,</a:t>
            </a:r>
          </a:p>
          <a:p>
            <a:pPr lvl="1" algn="just" eaLnBrk="1" hangingPunct="1">
              <a:buFont typeface="Wingdings" panose="05000000000000000000" pitchFamily="2" charset="2"/>
              <a:buNone/>
            </a:pPr>
            <a:r>
              <a:rPr lang="en-US" altLang="zh-CN" sz="3600" dirty="0">
                <a:solidFill>
                  <a:srgbClr val="0000FF"/>
                </a:solidFill>
                <a:latin typeface="宋体" pitchFamily="2" charset="-122"/>
                <a:cs typeface="等线" panose="02010600030101010101" charset="-122"/>
              </a:rPr>
              <a:t>   AVG(Grade) </a:t>
            </a:r>
            <a:r>
              <a:rPr lang="zh-CN" altLang="en-US" sz="3600" dirty="0">
                <a:solidFill>
                  <a:srgbClr val="0000FF"/>
                </a:solidFill>
                <a:latin typeface="宋体" pitchFamily="2" charset="-122"/>
                <a:cs typeface="等线" panose="02010600030101010101" charset="-122"/>
              </a:rPr>
              <a:t>平均成绩 </a:t>
            </a:r>
          </a:p>
          <a:p>
            <a:pPr lvl="1" algn="just" eaLnBrk="1" hangingPunct="1">
              <a:buFont typeface="Wingdings" panose="05000000000000000000" pitchFamily="2" charset="2"/>
              <a:buNone/>
            </a:pPr>
            <a:r>
              <a:rPr lang="en-US" altLang="zh-CN" sz="3600" dirty="0">
                <a:solidFill>
                  <a:srgbClr val="0000FF"/>
                </a:solidFill>
                <a:latin typeface="宋体" pitchFamily="2" charset="-122"/>
                <a:cs typeface="等线" panose="02010600030101010101" charset="-122"/>
              </a:rPr>
              <a:t>   FROM SC </a:t>
            </a:r>
          </a:p>
          <a:p>
            <a:pPr lvl="1" algn="just" eaLnBrk="1" hangingPunct="1">
              <a:buFont typeface="Wingdings" panose="05000000000000000000" pitchFamily="2" charset="2"/>
              <a:buNone/>
            </a:pPr>
            <a:r>
              <a:rPr lang="en-US" altLang="zh-CN" sz="3600" dirty="0">
                <a:solidFill>
                  <a:srgbClr val="0000FF"/>
                </a:solidFill>
                <a:latin typeface="宋体" pitchFamily="2" charset="-122"/>
                <a:cs typeface="等线" panose="02010600030101010101" charset="-122"/>
              </a:rPr>
              <a:t>   </a:t>
            </a:r>
            <a:r>
              <a:rPr lang="en-US" altLang="zh-CN" sz="3600" dirty="0">
                <a:solidFill>
                  <a:srgbClr val="FF0000"/>
                </a:solidFill>
                <a:latin typeface="宋体" pitchFamily="2" charset="-122"/>
                <a:cs typeface="等线" panose="02010600030101010101" charset="-122"/>
              </a:rPr>
              <a:t>GROUP BY Sno</a:t>
            </a:r>
            <a:endParaRPr lang="zh-CN" altLang="en-US" sz="3600" dirty="0">
              <a:solidFill>
                <a:srgbClr val="FF0000"/>
              </a:solidFill>
              <a:latin typeface="宋体" pitchFamily="2" charset="-122"/>
              <a:cs typeface="等线" panose="02010600030101010101" charset="-122"/>
            </a:endParaRPr>
          </a:p>
        </p:txBody>
      </p:sp>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p:cNvSpPr>
          <p:nvPr>
            <p:ph type="title"/>
          </p:nvPr>
        </p:nvSpPr>
        <p:spPr>
          <a:xfrm>
            <a:off x="500063" y="152400"/>
            <a:ext cx="8001000" cy="685800"/>
          </a:xfrm>
          <a:noFill/>
          <a:ln w="9525">
            <a:noFill/>
          </a:ln>
        </p:spPr>
        <p:txBody>
          <a:bodyPr vert="horz" wrap="square" lIns="91440" tIns="45720" rIns="91440" bIns="45720" rtlCol="0" anchor="ctr" anchorCtr="0">
            <a:normAutofit fontScale="90000"/>
          </a:bodyPr>
          <a:lstStyle/>
          <a:p>
            <a:pPr lvl="0" algn="ctr" eaLnBrk="1" hangingPunct="1">
              <a:buClrTx/>
              <a:buSzTx/>
              <a:buFontTx/>
            </a:pPr>
            <a:r>
              <a:rPr lang="zh-CN" altLang="en-US" sz="4000" b="0" dirty="0">
                <a:latin typeface="黑体" panose="02010609060101010101" pitchFamily="2" charset="-122"/>
                <a:ea typeface="黑体" panose="02010609060101010101" pitchFamily="2" charset="-122"/>
                <a:sym typeface="+mn-ea"/>
              </a:rPr>
              <a:t>注意</a:t>
            </a:r>
          </a:p>
        </p:txBody>
      </p:sp>
      <p:sp>
        <p:nvSpPr>
          <p:cNvPr id="48131" name="Rectangle 3"/>
          <p:cNvSpPr>
            <a:spLocks noGrp="1"/>
          </p:cNvSpPr>
          <p:nvPr>
            <p:ph idx="1"/>
          </p:nvPr>
        </p:nvSpPr>
        <p:spPr/>
        <p:txBody>
          <a:bodyPr vert="horz" wrap="square" lIns="91440" tIns="45720" rIns="91440" bIns="45720" anchor="t" anchorCtr="0"/>
          <a:lstStyle/>
          <a:p>
            <a:pPr algn="just" eaLnBrk="1" hangingPunct="1">
              <a:lnSpc>
                <a:spcPct val="110000"/>
              </a:lnSpc>
            </a:pPr>
            <a:r>
              <a:rPr lang="en-US" altLang="zh-CN" dirty="0">
                <a:latin typeface="宋体" pitchFamily="2" charset="-122"/>
                <a:cs typeface="等线" panose="02010600030101010101" charset="-122"/>
              </a:rPr>
              <a:t>GROUP BY</a:t>
            </a:r>
            <a:r>
              <a:rPr lang="zh-CN" altLang="en-US" dirty="0">
                <a:latin typeface="宋体" pitchFamily="2" charset="-122"/>
                <a:cs typeface="等线" panose="02010600030101010101" charset="-122"/>
              </a:rPr>
              <a:t>子句中的分组依据列必须是表中存在的列名，不能使用</a:t>
            </a:r>
            <a:r>
              <a:rPr lang="en-US" altLang="zh-CN" dirty="0">
                <a:latin typeface="宋体" pitchFamily="2" charset="-122"/>
                <a:cs typeface="等线" panose="02010600030101010101" charset="-122"/>
              </a:rPr>
              <a:t>AS</a:t>
            </a:r>
            <a:r>
              <a:rPr lang="zh-CN" altLang="en-US" dirty="0">
                <a:latin typeface="宋体" pitchFamily="2" charset="-122"/>
                <a:cs typeface="等线" panose="02010600030101010101" charset="-122"/>
              </a:rPr>
              <a:t>子句指派的结果集列的别名。</a:t>
            </a:r>
            <a:endParaRPr lang="zh-CN" altLang="en-US" dirty="0">
              <a:latin typeface="宋体" pitchFamily="2" charset="-122"/>
              <a:cs typeface="等线" panose="02010600030101010101" charset="-122"/>
              <a:sym typeface="Symbol" panose="05050102010706020507" pitchFamily="18" charset="2"/>
            </a:endParaRPr>
          </a:p>
          <a:p>
            <a:pPr algn="just" eaLnBrk="1" hangingPunct="1">
              <a:lnSpc>
                <a:spcPct val="110000"/>
              </a:lnSpc>
              <a:spcBef>
                <a:spcPts val="2400"/>
              </a:spcBef>
            </a:pPr>
            <a:r>
              <a:rPr lang="zh-CN" altLang="en-US" dirty="0">
                <a:latin typeface="宋体" pitchFamily="2" charset="-122"/>
                <a:cs typeface="等线" panose="02010600030101010101" charset="-122"/>
              </a:rPr>
              <a:t>带有</a:t>
            </a:r>
            <a:r>
              <a:rPr lang="en-US" altLang="zh-CN" dirty="0">
                <a:latin typeface="宋体" pitchFamily="2" charset="-122"/>
                <a:cs typeface="等线" panose="02010600030101010101" charset="-122"/>
              </a:rPr>
              <a:t>GROUP BY </a:t>
            </a:r>
            <a:r>
              <a:rPr lang="zh-CN" altLang="en-US" dirty="0">
                <a:latin typeface="宋体" pitchFamily="2" charset="-122"/>
                <a:cs typeface="等线" panose="02010600030101010101" charset="-122"/>
              </a:rPr>
              <a:t>子句的</a:t>
            </a:r>
            <a:r>
              <a:rPr lang="en-US" altLang="zh-CN" dirty="0">
                <a:latin typeface="宋体" pitchFamily="2" charset="-122"/>
                <a:cs typeface="等线" panose="02010600030101010101" charset="-122"/>
              </a:rPr>
              <a:t>SELECT</a:t>
            </a:r>
            <a:r>
              <a:rPr lang="zh-CN" altLang="en-US" dirty="0">
                <a:latin typeface="宋体" pitchFamily="2" charset="-122"/>
                <a:cs typeface="等线" panose="02010600030101010101" charset="-122"/>
              </a:rPr>
              <a:t>语句的查询列表中只能出现分组依据列或统计函数，因为分组后每个组只返回一行结果。 </a:t>
            </a:r>
          </a:p>
        </p:txBody>
      </p:sp>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p:cNvSpPr>
            <a:spLocks noGrp="1"/>
          </p:cNvSpPr>
          <p:nvPr>
            <p:ph type="title"/>
          </p:nvPr>
        </p:nvSpPr>
        <p:spPr>
          <a:xfrm>
            <a:off x="500063" y="152400"/>
            <a:ext cx="8001000" cy="685800"/>
          </a:xfrm>
          <a:noFill/>
          <a:ln w="9525">
            <a:noFill/>
          </a:ln>
        </p:spPr>
        <p:txBody>
          <a:bodyPr vert="horz" wrap="square" lIns="91440" tIns="45720" rIns="91440" bIns="45720" rtlCol="0" anchor="ctr" anchorCtr="0">
            <a:normAutofit fontScale="90000"/>
          </a:bodyPr>
          <a:lstStyle/>
          <a:p>
            <a:pPr lvl="0" algn="ctr" eaLnBrk="1" hangingPunct="1">
              <a:buClrTx/>
              <a:buSzTx/>
              <a:buFontTx/>
            </a:pPr>
            <a:r>
              <a:rPr lang="zh-CN" altLang="en-US" sz="4000" b="0" dirty="0">
                <a:latin typeface="黑体" panose="02010609060101010101" pitchFamily="2" charset="-122"/>
                <a:ea typeface="黑体" panose="02010609060101010101" pitchFamily="2" charset="-122"/>
                <a:sym typeface="+mn-ea"/>
              </a:rPr>
              <a:t>示例（续）</a:t>
            </a:r>
          </a:p>
        </p:txBody>
      </p:sp>
      <p:sp>
        <p:nvSpPr>
          <p:cNvPr id="50179" name="Rectangle 3"/>
          <p:cNvSpPr>
            <a:spLocks noGrp="1"/>
          </p:cNvSpPr>
          <p:nvPr>
            <p:ph idx="1"/>
          </p:nvPr>
        </p:nvSpPr>
        <p:spPr>
          <a:xfrm>
            <a:off x="467544" y="2204864"/>
            <a:ext cx="8229600" cy="3384376"/>
          </a:xfrm>
        </p:spPr>
        <p:txBody>
          <a:bodyPr vert="horz" wrap="square" lIns="91440" tIns="45720" rIns="91440" bIns="45720" anchor="t" anchorCtr="0"/>
          <a:lstStyle/>
          <a:p>
            <a:pPr marL="0" indent="0" eaLnBrk="1" hangingPunct="1">
              <a:buNone/>
            </a:pPr>
            <a:r>
              <a:rPr lang="zh-CN" altLang="en-US" dirty="0" smtClean="0">
                <a:latin typeface="宋体" pitchFamily="2" charset="-122"/>
                <a:cs typeface="等线" panose="02010600030101010101" charset="-122"/>
              </a:rPr>
              <a:t>例</a:t>
            </a:r>
            <a:r>
              <a:rPr lang="en-US" altLang="zh-CN" sz="3200" dirty="0" smtClean="0"/>
              <a:t>4.36 </a:t>
            </a:r>
            <a:r>
              <a:rPr lang="zh-CN" altLang="en-US" dirty="0" smtClean="0">
                <a:latin typeface="宋体" pitchFamily="2" charset="-122"/>
                <a:cs typeface="等线" panose="02010600030101010101" charset="-122"/>
              </a:rPr>
              <a:t>统计</a:t>
            </a:r>
            <a:r>
              <a:rPr lang="zh-CN" altLang="en-US" dirty="0">
                <a:latin typeface="宋体" pitchFamily="2" charset="-122"/>
                <a:cs typeface="等线" panose="02010600030101010101" charset="-122"/>
              </a:rPr>
              <a:t>每个系的女生人数。</a:t>
            </a:r>
          </a:p>
          <a:p>
            <a:pPr lvl="1" algn="just" eaLnBrk="1" hangingPunct="1">
              <a:spcBef>
                <a:spcPts val="1800"/>
              </a:spcBef>
              <a:buFont typeface="Wingdings" panose="05000000000000000000" pitchFamily="2" charset="2"/>
              <a:buNone/>
            </a:pPr>
            <a:r>
              <a:rPr lang="en-US" altLang="zh-CN" dirty="0">
                <a:solidFill>
                  <a:srgbClr val="0000FF"/>
                </a:solidFill>
                <a:latin typeface="宋体" pitchFamily="2" charset="-122"/>
                <a:cs typeface="等线" panose="02010600030101010101" charset="-122"/>
              </a:rPr>
              <a:t>SELECT Sdept, Count(*) </a:t>
            </a:r>
            <a:r>
              <a:rPr lang="zh-CN" altLang="en-US" dirty="0">
                <a:solidFill>
                  <a:srgbClr val="0000FF"/>
                </a:solidFill>
                <a:latin typeface="宋体" pitchFamily="2" charset="-122"/>
                <a:cs typeface="等线" panose="02010600030101010101" charset="-122"/>
              </a:rPr>
              <a:t>女生人数 </a:t>
            </a:r>
          </a:p>
          <a:p>
            <a:pPr lvl="1" algn="just" eaLnBrk="1" hangingPunct="1">
              <a:buFont typeface="Wingdings" panose="05000000000000000000" pitchFamily="2" charset="2"/>
              <a:buNone/>
            </a:pPr>
            <a:r>
              <a:rPr lang="en-US" altLang="zh-CN" dirty="0">
                <a:solidFill>
                  <a:srgbClr val="0000FF"/>
                </a:solidFill>
                <a:latin typeface="宋体" pitchFamily="2" charset="-122"/>
                <a:cs typeface="等线" panose="02010600030101010101" charset="-122"/>
              </a:rPr>
              <a:t>   FROM Student  </a:t>
            </a:r>
          </a:p>
          <a:p>
            <a:pPr lvl="1" algn="just" eaLnBrk="1" hangingPunct="1">
              <a:buFont typeface="Wingdings" panose="05000000000000000000" pitchFamily="2" charset="2"/>
              <a:buNone/>
            </a:pPr>
            <a:r>
              <a:rPr lang="en-US" altLang="zh-CN" dirty="0">
                <a:solidFill>
                  <a:srgbClr val="0000FF"/>
                </a:solidFill>
                <a:latin typeface="宋体" pitchFamily="2" charset="-122"/>
                <a:cs typeface="等线" panose="02010600030101010101" charset="-122"/>
              </a:rPr>
              <a:t>   WHERE Ssex = '</a:t>
            </a:r>
            <a:r>
              <a:rPr lang="zh-CN" altLang="en-US" dirty="0">
                <a:solidFill>
                  <a:srgbClr val="0000FF"/>
                </a:solidFill>
                <a:latin typeface="宋体" pitchFamily="2" charset="-122"/>
                <a:cs typeface="等线" panose="02010600030101010101" charset="-122"/>
              </a:rPr>
              <a:t>女</a:t>
            </a:r>
            <a:r>
              <a:rPr lang="en-US" altLang="zh-CN" dirty="0">
                <a:solidFill>
                  <a:srgbClr val="0000FF"/>
                </a:solidFill>
                <a:latin typeface="宋体" pitchFamily="2" charset="-122"/>
                <a:cs typeface="等线" panose="02010600030101010101" charset="-122"/>
              </a:rPr>
              <a:t>'</a:t>
            </a:r>
          </a:p>
          <a:p>
            <a:pPr lvl="1" algn="just" eaLnBrk="1" hangingPunct="1">
              <a:buFont typeface="Wingdings" panose="05000000000000000000" pitchFamily="2" charset="2"/>
              <a:buNone/>
            </a:pPr>
            <a:r>
              <a:rPr lang="en-US" altLang="zh-CN" dirty="0">
                <a:solidFill>
                  <a:srgbClr val="0000FF"/>
                </a:solidFill>
                <a:latin typeface="宋体" pitchFamily="2" charset="-122"/>
                <a:cs typeface="等线" panose="02010600030101010101" charset="-122"/>
              </a:rPr>
              <a:t>   GROUP BY Sdept</a:t>
            </a:r>
            <a:endParaRPr lang="zh-CN" altLang="en-US" dirty="0">
              <a:solidFill>
                <a:srgbClr val="0000FF"/>
              </a:solidFill>
              <a:latin typeface="宋体" pitchFamily="2" charset="-122"/>
              <a:cs typeface="等线" panose="02010600030101010101" charset="-122"/>
            </a:endParaRPr>
          </a:p>
        </p:txBody>
      </p:sp>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p:cNvSpPr>
          <p:nvPr>
            <p:ph type="title"/>
          </p:nvPr>
        </p:nvSpPr>
        <p:spPr>
          <a:xfrm>
            <a:off x="500063" y="152400"/>
            <a:ext cx="8001000" cy="685800"/>
          </a:xfrm>
          <a:noFill/>
          <a:ln w="9525">
            <a:noFill/>
          </a:ln>
        </p:spPr>
        <p:txBody>
          <a:bodyPr vert="horz" wrap="square" lIns="91440" tIns="45720" rIns="91440" bIns="45720" rtlCol="0" anchor="ctr" anchorCtr="0">
            <a:normAutofit fontScale="90000"/>
          </a:bodyPr>
          <a:lstStyle/>
          <a:p>
            <a:pPr lvl="0" algn="ctr" eaLnBrk="1" hangingPunct="1">
              <a:buClrTx/>
              <a:buSzTx/>
              <a:buFontTx/>
            </a:pPr>
            <a:r>
              <a:rPr lang="zh-CN" altLang="en-US" sz="4000" b="0" dirty="0">
                <a:latin typeface="黑体" panose="02010609060101010101" pitchFamily="2" charset="-122"/>
                <a:ea typeface="黑体" panose="02010609060101010101" pitchFamily="2" charset="-122"/>
                <a:sym typeface="+mn-ea"/>
              </a:rPr>
              <a:t>示例（续）</a:t>
            </a:r>
          </a:p>
        </p:txBody>
      </p:sp>
      <p:sp>
        <p:nvSpPr>
          <p:cNvPr id="51203" name="Rectangle 3"/>
          <p:cNvSpPr>
            <a:spLocks noGrp="1"/>
          </p:cNvSpPr>
          <p:nvPr>
            <p:ph idx="1"/>
          </p:nvPr>
        </p:nvSpPr>
        <p:spPr>
          <a:xfrm>
            <a:off x="323850" y="1295400"/>
            <a:ext cx="8496300" cy="5086350"/>
          </a:xfrm>
        </p:spPr>
        <p:txBody>
          <a:bodyPr vert="horz" wrap="square" lIns="91440" tIns="45720" rIns="91440" bIns="45720" anchor="t" anchorCtr="0"/>
          <a:lstStyle/>
          <a:p>
            <a:pPr marL="0" indent="0" eaLnBrk="1" hangingPunct="1">
              <a:buNone/>
            </a:pPr>
            <a:r>
              <a:rPr lang="zh-CN" altLang="en-US" dirty="0" smtClean="0">
                <a:latin typeface="宋体" pitchFamily="2" charset="-122"/>
                <a:cs typeface="等线" panose="02010600030101010101" charset="-122"/>
              </a:rPr>
              <a:t>例</a:t>
            </a:r>
            <a:r>
              <a:rPr lang="en-US" altLang="zh-CN" sz="3200" dirty="0" smtClean="0"/>
              <a:t>4.37 </a:t>
            </a:r>
            <a:r>
              <a:rPr lang="zh-CN" altLang="en-US" dirty="0" smtClean="0">
                <a:latin typeface="宋体" pitchFamily="2" charset="-122"/>
                <a:cs typeface="等线" panose="02010600030101010101" charset="-122"/>
              </a:rPr>
              <a:t>统计</a:t>
            </a:r>
            <a:r>
              <a:rPr lang="zh-CN" altLang="en-US" dirty="0">
                <a:latin typeface="宋体" pitchFamily="2" charset="-122"/>
                <a:cs typeface="等线" panose="02010600030101010101" charset="-122"/>
              </a:rPr>
              <a:t>每个系的男生人数和女生人数以及男生的最大年龄和女生的最大年龄。结果按系名升序排序。</a:t>
            </a:r>
          </a:p>
          <a:p>
            <a:pPr lvl="1" algn="just" eaLnBrk="1" hangingPunct="1">
              <a:spcBef>
                <a:spcPts val="1800"/>
              </a:spcBef>
              <a:buFont typeface="Wingdings" panose="05000000000000000000" pitchFamily="2" charset="2"/>
              <a:buNone/>
            </a:pPr>
            <a:r>
              <a:rPr lang="en-US" altLang="zh-CN" dirty="0">
                <a:solidFill>
                  <a:srgbClr val="0000FF"/>
                </a:solidFill>
                <a:latin typeface="宋体" pitchFamily="2" charset="-122"/>
                <a:cs typeface="等线" panose="02010600030101010101" charset="-122"/>
              </a:rPr>
              <a:t>SELECT Sdept, Ssex, Count(*) </a:t>
            </a:r>
            <a:r>
              <a:rPr lang="zh-CN" altLang="en-US" dirty="0">
                <a:solidFill>
                  <a:srgbClr val="0000FF"/>
                </a:solidFill>
                <a:latin typeface="宋体" pitchFamily="2" charset="-122"/>
                <a:cs typeface="等线" panose="02010600030101010101" charset="-122"/>
              </a:rPr>
              <a:t>人数</a:t>
            </a:r>
            <a:r>
              <a:rPr lang="en-US" altLang="zh-CN" dirty="0">
                <a:solidFill>
                  <a:srgbClr val="0000FF"/>
                </a:solidFill>
                <a:latin typeface="宋体" pitchFamily="2" charset="-122"/>
                <a:cs typeface="等线" panose="02010600030101010101" charset="-122"/>
              </a:rPr>
              <a:t>, </a:t>
            </a:r>
          </a:p>
          <a:p>
            <a:pPr lvl="1" algn="just" eaLnBrk="1" hangingPunct="1">
              <a:buFont typeface="Wingdings" panose="05000000000000000000" pitchFamily="2" charset="2"/>
              <a:buNone/>
            </a:pPr>
            <a:r>
              <a:rPr lang="en-US" altLang="zh-CN" dirty="0">
                <a:solidFill>
                  <a:srgbClr val="0000FF"/>
                </a:solidFill>
                <a:latin typeface="宋体" pitchFamily="2" charset="-122"/>
                <a:cs typeface="等线" panose="02010600030101010101" charset="-122"/>
              </a:rPr>
              <a:t>             Max(Sage) </a:t>
            </a:r>
            <a:r>
              <a:rPr lang="zh-CN" altLang="en-US" dirty="0">
                <a:solidFill>
                  <a:srgbClr val="0000FF"/>
                </a:solidFill>
                <a:latin typeface="宋体" pitchFamily="2" charset="-122"/>
                <a:cs typeface="等线" panose="02010600030101010101" charset="-122"/>
              </a:rPr>
              <a:t>最大年龄</a:t>
            </a:r>
          </a:p>
          <a:p>
            <a:pPr lvl="1" algn="just" eaLnBrk="1" hangingPunct="1">
              <a:buFont typeface="Wingdings" panose="05000000000000000000" pitchFamily="2" charset="2"/>
              <a:buNone/>
            </a:pPr>
            <a:r>
              <a:rPr lang="zh-CN" altLang="en-US" dirty="0">
                <a:solidFill>
                  <a:srgbClr val="0000FF"/>
                </a:solidFill>
                <a:latin typeface="宋体" pitchFamily="2" charset="-122"/>
                <a:cs typeface="等线" panose="02010600030101010101" charset="-122"/>
              </a:rPr>
              <a:t>    </a:t>
            </a:r>
            <a:r>
              <a:rPr lang="en-US" altLang="zh-CN" dirty="0">
                <a:solidFill>
                  <a:srgbClr val="0000FF"/>
                </a:solidFill>
                <a:latin typeface="宋体" pitchFamily="2" charset="-122"/>
                <a:cs typeface="等线" panose="02010600030101010101" charset="-122"/>
              </a:rPr>
              <a:t>FROM Student </a:t>
            </a:r>
          </a:p>
          <a:p>
            <a:pPr lvl="1" algn="just" eaLnBrk="1" hangingPunct="1">
              <a:buFont typeface="Wingdings" panose="05000000000000000000" pitchFamily="2" charset="2"/>
              <a:buNone/>
            </a:pPr>
            <a:r>
              <a:rPr lang="en-US" altLang="zh-CN" dirty="0">
                <a:solidFill>
                  <a:srgbClr val="0000FF"/>
                </a:solidFill>
                <a:latin typeface="宋体" pitchFamily="2" charset="-122"/>
                <a:cs typeface="等线" panose="02010600030101010101" charset="-122"/>
              </a:rPr>
              <a:t>    GROUP BY Sdept, Ssex</a:t>
            </a:r>
          </a:p>
          <a:p>
            <a:pPr lvl="1" algn="just" eaLnBrk="1" hangingPunct="1">
              <a:buFont typeface="Wingdings" panose="05000000000000000000" pitchFamily="2" charset="2"/>
              <a:buNone/>
            </a:pPr>
            <a:r>
              <a:rPr lang="en-US" altLang="zh-CN" dirty="0">
                <a:solidFill>
                  <a:srgbClr val="0000FF"/>
                </a:solidFill>
                <a:latin typeface="宋体" pitchFamily="2" charset="-122"/>
                <a:cs typeface="等线" panose="02010600030101010101" charset="-122"/>
              </a:rPr>
              <a:t>    ORDER BY Sdept</a:t>
            </a:r>
            <a:r>
              <a:rPr lang="en-US" altLang="zh-CN" dirty="0">
                <a:latin typeface="宋体" pitchFamily="2" charset="-122"/>
                <a:cs typeface="等线" panose="02010600030101010101" charset="-122"/>
              </a:rPr>
              <a:t> </a:t>
            </a:r>
            <a:endParaRPr lang="zh-CN" altLang="en-US" dirty="0">
              <a:latin typeface="宋体" pitchFamily="2" charset="-122"/>
              <a:cs typeface="等线" panose="02010600030101010101" charset="-122"/>
            </a:endParaRPr>
          </a:p>
        </p:txBody>
      </p:sp>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p:cNvSpPr>
            <a:spLocks noGrp="1"/>
          </p:cNvSpPr>
          <p:nvPr>
            <p:ph type="title"/>
          </p:nvPr>
        </p:nvSpPr>
        <p:spPr>
          <a:xfrm>
            <a:off x="500063" y="152400"/>
            <a:ext cx="8001000" cy="685800"/>
          </a:xfrm>
          <a:noFill/>
          <a:ln w="9525">
            <a:noFill/>
          </a:ln>
        </p:spPr>
        <p:txBody>
          <a:bodyPr vert="horz" wrap="square" lIns="91440" tIns="45720" rIns="91440" bIns="45720" rtlCol="0" anchor="ctr" anchorCtr="0">
            <a:normAutofit fontScale="90000"/>
          </a:bodyPr>
          <a:lstStyle/>
          <a:p>
            <a:pPr lvl="0" algn="ctr" eaLnBrk="1" hangingPunct="1">
              <a:buClrTx/>
              <a:buSzTx/>
              <a:buFontTx/>
            </a:pPr>
            <a:r>
              <a:rPr lang="zh-CN" altLang="en-US" sz="4000" b="0" dirty="0">
                <a:latin typeface="黑体" panose="02010609060101010101" pitchFamily="2" charset="-122"/>
                <a:ea typeface="黑体" panose="02010609060101010101" pitchFamily="2" charset="-122"/>
                <a:sym typeface="+mn-ea"/>
              </a:rPr>
              <a:t>使用HAVING</a:t>
            </a:r>
          </a:p>
        </p:txBody>
      </p:sp>
      <p:sp>
        <p:nvSpPr>
          <p:cNvPr id="52227" name="Rectangle 3"/>
          <p:cNvSpPr>
            <a:spLocks noGrp="1"/>
          </p:cNvSpPr>
          <p:nvPr>
            <p:ph idx="1"/>
          </p:nvPr>
        </p:nvSpPr>
        <p:spPr>
          <a:xfrm>
            <a:off x="395288" y="1268761"/>
            <a:ext cx="8291512" cy="4903440"/>
          </a:xfrm>
        </p:spPr>
        <p:txBody>
          <a:bodyPr vert="horz" wrap="square" lIns="91440" tIns="45720" rIns="91440" bIns="45720" anchor="t" anchorCtr="0"/>
          <a:lstStyle/>
          <a:p>
            <a:pPr marL="476250" indent="-476250" algn="just" eaLnBrk="1" hangingPunct="1">
              <a:spcBef>
                <a:spcPts val="3000"/>
              </a:spcBef>
            </a:pPr>
            <a:r>
              <a:rPr lang="en-US" altLang="zh-CN" dirty="0">
                <a:latin typeface="宋体" pitchFamily="2" charset="-122"/>
                <a:cs typeface="等线" panose="02010600030101010101" charset="-122"/>
              </a:rPr>
              <a:t>HAVING</a:t>
            </a:r>
            <a:r>
              <a:rPr lang="zh-CN" altLang="en-US" dirty="0">
                <a:latin typeface="宋体" pitchFamily="2" charset="-122"/>
                <a:cs typeface="等线" panose="02010600030101010101" charset="-122"/>
              </a:rPr>
              <a:t>子句用于对分组后的结果再进行过滤</a:t>
            </a:r>
            <a:r>
              <a:rPr lang="zh-CN" altLang="en-US" dirty="0" smtClean="0">
                <a:latin typeface="宋体" pitchFamily="2" charset="-122"/>
                <a:cs typeface="等线" panose="02010600030101010101" charset="-122"/>
              </a:rPr>
              <a:t>，它</a:t>
            </a:r>
            <a:r>
              <a:rPr lang="zh-CN" altLang="en-US" dirty="0">
                <a:latin typeface="宋体" pitchFamily="2" charset="-122"/>
                <a:cs typeface="等线" panose="02010600030101010101" charset="-122"/>
              </a:rPr>
              <a:t>的功能有点像</a:t>
            </a:r>
            <a:r>
              <a:rPr lang="en-US" altLang="zh-CN" dirty="0">
                <a:latin typeface="宋体" pitchFamily="2" charset="-122"/>
                <a:cs typeface="等线" panose="02010600030101010101" charset="-122"/>
              </a:rPr>
              <a:t>WHERE</a:t>
            </a:r>
            <a:r>
              <a:rPr lang="zh-CN" altLang="en-US" dirty="0">
                <a:latin typeface="宋体" pitchFamily="2" charset="-122"/>
                <a:cs typeface="等线" panose="02010600030101010101" charset="-122"/>
              </a:rPr>
              <a:t>子句，但它用于组而不是单个记录。</a:t>
            </a:r>
          </a:p>
          <a:p>
            <a:pPr marL="476250" indent="-476250" algn="just" eaLnBrk="1" hangingPunct="1">
              <a:spcBef>
                <a:spcPts val="3000"/>
              </a:spcBef>
            </a:pPr>
            <a:r>
              <a:rPr lang="zh-CN" altLang="en-US" dirty="0">
                <a:latin typeface="宋体" pitchFamily="2" charset="-122"/>
                <a:cs typeface="等线" panose="02010600030101010101" charset="-122"/>
              </a:rPr>
              <a:t>在</a:t>
            </a:r>
            <a:r>
              <a:rPr lang="en-US" altLang="zh-CN" dirty="0">
                <a:latin typeface="宋体" pitchFamily="2" charset="-122"/>
                <a:cs typeface="等线" panose="02010600030101010101" charset="-122"/>
              </a:rPr>
              <a:t>HAVING</a:t>
            </a:r>
            <a:r>
              <a:rPr lang="zh-CN" altLang="en-US" dirty="0">
                <a:latin typeface="宋体" pitchFamily="2" charset="-122"/>
                <a:cs typeface="等线" panose="02010600030101010101" charset="-122"/>
              </a:rPr>
              <a:t>子句中可以使用统计函数，但在</a:t>
            </a:r>
            <a:r>
              <a:rPr lang="en-US" altLang="zh-CN" dirty="0">
                <a:latin typeface="宋体" pitchFamily="2" charset="-122"/>
                <a:cs typeface="等线" panose="02010600030101010101" charset="-122"/>
              </a:rPr>
              <a:t>WHERE</a:t>
            </a:r>
            <a:r>
              <a:rPr lang="zh-CN" altLang="en-US" dirty="0">
                <a:latin typeface="宋体" pitchFamily="2" charset="-122"/>
                <a:cs typeface="等线" panose="02010600030101010101" charset="-122"/>
              </a:rPr>
              <a:t>子句中则不能。</a:t>
            </a:r>
          </a:p>
          <a:p>
            <a:pPr marL="476250" indent="-476250" algn="just" eaLnBrk="1" hangingPunct="1">
              <a:spcBef>
                <a:spcPts val="3000"/>
              </a:spcBef>
            </a:pPr>
            <a:r>
              <a:rPr lang="en-US" altLang="zh-CN" dirty="0">
                <a:latin typeface="宋体" pitchFamily="2" charset="-122"/>
                <a:cs typeface="等线" panose="02010600030101010101" charset="-122"/>
              </a:rPr>
              <a:t>HAVING</a:t>
            </a:r>
            <a:r>
              <a:rPr lang="zh-CN" altLang="en-US" dirty="0">
                <a:latin typeface="宋体" pitchFamily="2" charset="-122"/>
                <a:cs typeface="等线" panose="02010600030101010101" charset="-122"/>
              </a:rPr>
              <a:t>通常与</a:t>
            </a:r>
            <a:r>
              <a:rPr lang="en-US" altLang="zh-CN" dirty="0">
                <a:latin typeface="宋体" pitchFamily="2" charset="-122"/>
                <a:cs typeface="等线" panose="02010600030101010101" charset="-122"/>
              </a:rPr>
              <a:t>GROUP BY</a:t>
            </a:r>
            <a:r>
              <a:rPr lang="zh-CN" altLang="en-US" dirty="0">
                <a:latin typeface="宋体" pitchFamily="2" charset="-122"/>
                <a:cs typeface="等线" panose="02010600030101010101" charset="-122"/>
              </a:rPr>
              <a:t>子句一起使用。</a:t>
            </a:r>
          </a:p>
        </p:txBody>
      </p:sp>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p:cNvSpPr>
            <a:spLocks noGrp="1"/>
          </p:cNvSpPr>
          <p:nvPr>
            <p:ph type="title"/>
          </p:nvPr>
        </p:nvSpPr>
        <p:spPr>
          <a:xfrm>
            <a:off x="500063" y="152400"/>
            <a:ext cx="8001000" cy="685800"/>
          </a:xfrm>
          <a:noFill/>
          <a:ln w="9525">
            <a:noFill/>
          </a:ln>
        </p:spPr>
        <p:txBody>
          <a:bodyPr vert="horz" wrap="square" lIns="91440" tIns="45720" rIns="91440" bIns="45720" rtlCol="0" anchor="ctr" anchorCtr="0">
            <a:normAutofit fontScale="90000"/>
          </a:bodyPr>
          <a:lstStyle/>
          <a:p>
            <a:pPr lvl="0" algn="ctr" eaLnBrk="1" hangingPunct="1">
              <a:buClrTx/>
              <a:buSzTx/>
              <a:buFontTx/>
            </a:pPr>
            <a:r>
              <a:rPr lang="zh-CN" altLang="en-US" sz="4000" b="0" dirty="0">
                <a:latin typeface="黑体" panose="02010609060101010101" pitchFamily="2" charset="-122"/>
                <a:ea typeface="黑体" panose="02010609060101010101" pitchFamily="2" charset="-122"/>
                <a:sym typeface="+mn-ea"/>
              </a:rPr>
              <a:t>示例</a:t>
            </a:r>
          </a:p>
        </p:txBody>
      </p:sp>
      <p:sp>
        <p:nvSpPr>
          <p:cNvPr id="53251" name="Rectangle 3"/>
          <p:cNvSpPr>
            <a:spLocks noGrp="1"/>
          </p:cNvSpPr>
          <p:nvPr>
            <p:ph idx="1"/>
          </p:nvPr>
        </p:nvSpPr>
        <p:spPr>
          <a:xfrm>
            <a:off x="457200" y="1412875"/>
            <a:ext cx="8229600" cy="4759325"/>
          </a:xfrm>
        </p:spPr>
        <p:txBody>
          <a:bodyPr vert="horz" wrap="square" lIns="91440" tIns="45720" rIns="91440" bIns="45720" anchor="t" anchorCtr="0"/>
          <a:lstStyle/>
          <a:p>
            <a:pPr marL="0" indent="0" eaLnBrk="1" hangingPunct="1">
              <a:buNone/>
            </a:pPr>
            <a:r>
              <a:rPr lang="zh-CN" altLang="en-US" sz="3600" dirty="0" smtClean="0">
                <a:latin typeface="宋体" pitchFamily="2" charset="-122"/>
                <a:cs typeface="等线" panose="02010600030101010101" charset="-122"/>
              </a:rPr>
              <a:t>例</a:t>
            </a:r>
            <a:r>
              <a:rPr lang="en-US" altLang="zh-CN" sz="3600" dirty="0" smtClean="0"/>
              <a:t>4.38 </a:t>
            </a:r>
            <a:r>
              <a:rPr sz="3600" dirty="0" smtClean="0">
                <a:latin typeface="宋体" pitchFamily="2" charset="-122"/>
                <a:cs typeface="等线" panose="02010600030101010101" charset="-122"/>
              </a:rPr>
              <a:t>查询选课门数超过</a:t>
            </a:r>
            <a:r>
              <a:rPr sz="3600" dirty="0">
                <a:latin typeface="宋体" pitchFamily="2" charset="-122"/>
                <a:cs typeface="等线" panose="02010600030101010101" charset="-122"/>
              </a:rPr>
              <a:t>3门的学生的学号和选课门数</a:t>
            </a:r>
            <a:r>
              <a:rPr lang="zh-CN" altLang="en-US" sz="3600" dirty="0">
                <a:latin typeface="宋体" pitchFamily="2" charset="-122"/>
                <a:cs typeface="等线" panose="02010600030101010101" charset="-122"/>
              </a:rPr>
              <a:t>。</a:t>
            </a:r>
          </a:p>
          <a:p>
            <a:pPr lvl="1" eaLnBrk="1" hangingPunct="1">
              <a:spcBef>
                <a:spcPts val="1200"/>
              </a:spcBef>
              <a:buFont typeface="Wingdings" panose="05000000000000000000" pitchFamily="2" charset="2"/>
              <a:buNone/>
            </a:pPr>
            <a:r>
              <a:rPr lang="en-US" altLang="zh-CN" dirty="0">
                <a:solidFill>
                  <a:srgbClr val="0000FF"/>
                </a:solidFill>
                <a:latin typeface="宋体" pitchFamily="2" charset="-122"/>
                <a:cs typeface="等线" panose="02010600030101010101" charset="-122"/>
              </a:rPr>
              <a:t>SELECT Sno, count(*) </a:t>
            </a:r>
            <a:r>
              <a:rPr lang="zh-CN" altLang="en-US" dirty="0">
                <a:solidFill>
                  <a:srgbClr val="0000FF"/>
                </a:solidFill>
                <a:latin typeface="宋体" pitchFamily="2" charset="-122"/>
                <a:cs typeface="等线" panose="02010600030101010101" charset="-122"/>
              </a:rPr>
              <a:t>选课门数 </a:t>
            </a:r>
          </a:p>
          <a:p>
            <a:pPr lvl="1" eaLnBrk="1" hangingPunct="1">
              <a:buFont typeface="Wingdings" panose="05000000000000000000" pitchFamily="2" charset="2"/>
              <a:buNone/>
            </a:pPr>
            <a:r>
              <a:rPr lang="en-US" altLang="zh-CN" dirty="0">
                <a:solidFill>
                  <a:srgbClr val="0000FF"/>
                </a:solidFill>
                <a:latin typeface="宋体" pitchFamily="2" charset="-122"/>
                <a:cs typeface="等线" panose="02010600030101010101" charset="-122"/>
              </a:rPr>
              <a:t>   FROM SC </a:t>
            </a:r>
          </a:p>
          <a:p>
            <a:pPr lvl="1" eaLnBrk="1" hangingPunct="1">
              <a:buFont typeface="Wingdings" panose="05000000000000000000" pitchFamily="2" charset="2"/>
              <a:buNone/>
            </a:pPr>
            <a:r>
              <a:rPr lang="en-US" altLang="zh-CN" dirty="0">
                <a:solidFill>
                  <a:srgbClr val="0000FF"/>
                </a:solidFill>
                <a:latin typeface="宋体" pitchFamily="2" charset="-122"/>
                <a:cs typeface="等线" panose="02010600030101010101" charset="-122"/>
              </a:rPr>
              <a:t>   GROUP BY Sno </a:t>
            </a:r>
          </a:p>
          <a:p>
            <a:pPr lvl="1" eaLnBrk="1" hangingPunct="1">
              <a:buFont typeface="Wingdings" panose="05000000000000000000" pitchFamily="2" charset="2"/>
              <a:buNone/>
            </a:pPr>
            <a:r>
              <a:rPr lang="en-US" altLang="zh-CN" dirty="0">
                <a:solidFill>
                  <a:srgbClr val="0000FF"/>
                </a:solidFill>
                <a:latin typeface="宋体" pitchFamily="2" charset="-122"/>
                <a:cs typeface="等线" panose="02010600030101010101" charset="-122"/>
              </a:rPr>
              <a:t>   </a:t>
            </a:r>
            <a:r>
              <a:rPr lang="en-US" altLang="zh-CN" dirty="0">
                <a:solidFill>
                  <a:srgbClr val="FF0000"/>
                </a:solidFill>
                <a:latin typeface="宋体" pitchFamily="2" charset="-122"/>
                <a:cs typeface="等线" panose="02010600030101010101" charset="-122"/>
              </a:rPr>
              <a:t>HAVING COUNT(*) &gt; 3</a:t>
            </a:r>
            <a:endParaRPr lang="zh-CN" altLang="en-US" dirty="0">
              <a:solidFill>
                <a:srgbClr val="FF0000"/>
              </a:solidFill>
              <a:latin typeface="宋体" pitchFamily="2" charset="-122"/>
              <a:cs typeface="等线" panose="02010600030101010101" charset="-122"/>
            </a:endParaRPr>
          </a:p>
        </p:txBody>
      </p:sp>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Grp="1"/>
          </p:cNvSpPr>
          <p:nvPr>
            <p:ph type="title"/>
          </p:nvPr>
        </p:nvSpPr>
        <p:spPr>
          <a:xfrm>
            <a:off x="500063" y="152400"/>
            <a:ext cx="8001000" cy="685800"/>
          </a:xfrm>
          <a:noFill/>
          <a:ln w="9525">
            <a:noFill/>
          </a:ln>
        </p:spPr>
        <p:txBody>
          <a:bodyPr vert="horz" wrap="square" lIns="91440" tIns="45720" rIns="91440" bIns="45720" rtlCol="0" anchor="ctr" anchorCtr="0">
            <a:normAutofit fontScale="90000"/>
          </a:bodyPr>
          <a:lstStyle/>
          <a:p>
            <a:pPr lvl="0" algn="ctr" eaLnBrk="1" hangingPunct="1">
              <a:buClrTx/>
              <a:buSzTx/>
              <a:buFontTx/>
            </a:pPr>
            <a:r>
              <a:rPr lang="zh-CN" altLang="en-US" sz="4000" b="0" dirty="0">
                <a:latin typeface="黑体" panose="02010609060101010101" pitchFamily="2" charset="-122"/>
                <a:ea typeface="黑体" panose="02010609060101010101" pitchFamily="2" charset="-122"/>
                <a:sym typeface="+mn-ea"/>
              </a:rPr>
              <a:t>示例（续）</a:t>
            </a:r>
          </a:p>
        </p:txBody>
      </p:sp>
      <p:sp>
        <p:nvSpPr>
          <p:cNvPr id="54275" name="Rectangle 3"/>
          <p:cNvSpPr>
            <a:spLocks noGrp="1"/>
          </p:cNvSpPr>
          <p:nvPr>
            <p:ph idx="1"/>
          </p:nvPr>
        </p:nvSpPr>
        <p:spPr>
          <a:xfrm>
            <a:off x="457200" y="1340485"/>
            <a:ext cx="8229600" cy="4176747"/>
          </a:xfrm>
        </p:spPr>
        <p:txBody>
          <a:bodyPr vert="horz" wrap="square" lIns="91440" tIns="45720" rIns="91440" bIns="45720" anchor="t" anchorCtr="0"/>
          <a:lstStyle/>
          <a:p>
            <a:pPr marL="0" indent="0">
              <a:buNone/>
            </a:pPr>
            <a:r>
              <a:rPr lang="zh-CN" altLang="en-US" sz="3600" dirty="0" smtClean="0">
                <a:latin typeface="宋体" pitchFamily="2" charset="-122"/>
                <a:cs typeface="等线" panose="02010600030101010101" charset="-122"/>
              </a:rPr>
              <a:t>例</a:t>
            </a:r>
            <a:r>
              <a:rPr lang="en-US" altLang="zh-CN" sz="3600" dirty="0" smtClean="0"/>
              <a:t>4.39 </a:t>
            </a:r>
            <a:r>
              <a:rPr sz="3600" dirty="0" smtClean="0">
                <a:latin typeface="宋体" pitchFamily="2" charset="-122"/>
                <a:cs typeface="等线" panose="02010600030101010101" charset="-122"/>
              </a:rPr>
              <a:t>查询平均成绩大于等于</a:t>
            </a:r>
            <a:r>
              <a:rPr sz="3600" dirty="0">
                <a:latin typeface="宋体" pitchFamily="2" charset="-122"/>
                <a:cs typeface="等线" panose="02010600030101010101" charset="-122"/>
              </a:rPr>
              <a:t>80的学生的学号、选课门数和平均成绩</a:t>
            </a:r>
            <a:r>
              <a:rPr lang="zh-CN" altLang="en-US" sz="3600" dirty="0">
                <a:latin typeface="宋体" pitchFamily="2" charset="-122"/>
                <a:cs typeface="等线" panose="02010600030101010101" charset="-122"/>
              </a:rPr>
              <a:t>。</a:t>
            </a:r>
          </a:p>
          <a:p>
            <a:pPr>
              <a:spcBef>
                <a:spcPts val="1800"/>
              </a:spcBef>
              <a:buFont typeface="Wingdings" panose="05000000000000000000" pitchFamily="2" charset="2"/>
              <a:buNone/>
            </a:pPr>
            <a:r>
              <a:rPr lang="en-US" altLang="zh-CN" sz="3200" dirty="0">
                <a:latin typeface="宋体" pitchFamily="2" charset="-122"/>
                <a:cs typeface="等线" panose="02010600030101010101" charset="-122"/>
              </a:rPr>
              <a:t>	 </a:t>
            </a:r>
            <a:r>
              <a:rPr lang="en-US" altLang="zh-CN" sz="3200" dirty="0">
                <a:solidFill>
                  <a:srgbClr val="0000FF"/>
                </a:solidFill>
                <a:latin typeface="宋体" pitchFamily="2" charset="-122"/>
                <a:cs typeface="等线" panose="02010600030101010101" charset="-122"/>
              </a:rPr>
              <a:t>SELECT Sno, COUNT(*) </a:t>
            </a:r>
            <a:r>
              <a:rPr lang="zh-CN" altLang="en-US" sz="3200" dirty="0">
                <a:solidFill>
                  <a:srgbClr val="0000FF"/>
                </a:solidFill>
                <a:latin typeface="宋体" pitchFamily="2" charset="-122"/>
                <a:cs typeface="等线" panose="02010600030101010101" charset="-122"/>
              </a:rPr>
              <a:t>选课门数</a:t>
            </a:r>
            <a:r>
              <a:rPr lang="en-US" altLang="zh-CN" sz="3200" dirty="0">
                <a:solidFill>
                  <a:srgbClr val="0000FF"/>
                </a:solidFill>
                <a:latin typeface="宋体" pitchFamily="2" charset="-122"/>
                <a:cs typeface="等线" panose="02010600030101010101" charset="-122"/>
              </a:rPr>
              <a:t>,</a:t>
            </a:r>
          </a:p>
          <a:p>
            <a:pPr>
              <a:buFont typeface="Wingdings" panose="05000000000000000000" pitchFamily="2" charset="2"/>
              <a:buNone/>
            </a:pPr>
            <a:r>
              <a:rPr lang="en-US" altLang="zh-CN" sz="3200" dirty="0">
                <a:solidFill>
                  <a:srgbClr val="0000FF"/>
                </a:solidFill>
                <a:latin typeface="宋体" pitchFamily="2" charset="-122"/>
                <a:cs typeface="等线" panose="02010600030101010101" charset="-122"/>
              </a:rPr>
              <a:t>    AVG(Grade) </a:t>
            </a:r>
            <a:r>
              <a:rPr lang="zh-CN" altLang="en-US" sz="3200" dirty="0">
                <a:solidFill>
                  <a:srgbClr val="0000FF"/>
                </a:solidFill>
                <a:latin typeface="宋体" pitchFamily="2" charset="-122"/>
                <a:cs typeface="等线" panose="02010600030101010101" charset="-122"/>
              </a:rPr>
              <a:t>平均成绩 </a:t>
            </a:r>
            <a:r>
              <a:rPr lang="en-US" altLang="zh-CN" sz="3200" dirty="0">
                <a:solidFill>
                  <a:srgbClr val="0000FF"/>
                </a:solidFill>
                <a:latin typeface="宋体" pitchFamily="2" charset="-122"/>
                <a:cs typeface="等线" panose="02010600030101010101" charset="-122"/>
              </a:rPr>
              <a:t>FROM SC</a:t>
            </a:r>
            <a:endParaRPr lang="zh-CN" altLang="en-US" sz="3200" dirty="0">
              <a:solidFill>
                <a:srgbClr val="0000FF"/>
              </a:solidFill>
              <a:latin typeface="宋体" pitchFamily="2" charset="-122"/>
              <a:cs typeface="等线" panose="02010600030101010101" charset="-122"/>
            </a:endParaRPr>
          </a:p>
          <a:p>
            <a:pPr>
              <a:buFont typeface="Wingdings" panose="05000000000000000000" pitchFamily="2" charset="2"/>
              <a:buNone/>
            </a:pPr>
            <a:r>
              <a:rPr lang="en-US" altLang="zh-CN" sz="3200" dirty="0">
                <a:solidFill>
                  <a:srgbClr val="0000FF"/>
                </a:solidFill>
                <a:latin typeface="宋体" pitchFamily="2" charset="-122"/>
                <a:cs typeface="等线" panose="02010600030101010101" charset="-122"/>
              </a:rPr>
              <a:t>	   GROUP BY Sno </a:t>
            </a:r>
          </a:p>
          <a:p>
            <a:pPr>
              <a:buFont typeface="Wingdings" panose="05000000000000000000" pitchFamily="2" charset="2"/>
              <a:buNone/>
            </a:pPr>
            <a:r>
              <a:rPr lang="en-US" altLang="zh-CN" sz="3200" dirty="0">
                <a:solidFill>
                  <a:srgbClr val="0000FF"/>
                </a:solidFill>
                <a:latin typeface="宋体" pitchFamily="2" charset="-122"/>
                <a:cs typeface="等线" panose="02010600030101010101" charset="-122"/>
              </a:rPr>
              <a:t>      HAVING AVG(Grade) &gt;= 80</a:t>
            </a:r>
          </a:p>
        </p:txBody>
      </p:sp>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Grp="1"/>
          </p:cNvSpPr>
          <p:nvPr>
            <p:ph type="title"/>
          </p:nvPr>
        </p:nvSpPr>
        <p:spPr>
          <a:xfrm>
            <a:off x="500063" y="152400"/>
            <a:ext cx="8001000" cy="685800"/>
          </a:xfrm>
          <a:noFill/>
          <a:ln w="9525">
            <a:noFill/>
          </a:ln>
        </p:spPr>
        <p:txBody>
          <a:bodyPr vert="horz" wrap="square" lIns="91440" tIns="45720" rIns="91440" bIns="45720" rtlCol="0" anchor="ctr" anchorCtr="0">
            <a:normAutofit fontScale="90000"/>
          </a:bodyPr>
          <a:lstStyle/>
          <a:p>
            <a:pPr lvl="0" algn="ctr" eaLnBrk="1" hangingPunct="1">
              <a:buClrTx/>
              <a:buSzTx/>
              <a:buFontTx/>
            </a:pPr>
            <a:r>
              <a:rPr lang="zh-CN" altLang="en-US" sz="4000" b="0" dirty="0">
                <a:latin typeface="黑体" panose="02010609060101010101" pitchFamily="2" charset="-122"/>
                <a:ea typeface="黑体" panose="02010609060101010101" pitchFamily="2" charset="-122"/>
                <a:sym typeface="+mn-ea"/>
              </a:rPr>
              <a:t>说明</a:t>
            </a:r>
          </a:p>
        </p:txBody>
      </p:sp>
      <p:sp>
        <p:nvSpPr>
          <p:cNvPr id="55299" name="Rectangle 3"/>
          <p:cNvSpPr>
            <a:spLocks noGrp="1"/>
          </p:cNvSpPr>
          <p:nvPr>
            <p:ph idx="1"/>
          </p:nvPr>
        </p:nvSpPr>
        <p:spPr>
          <a:xfrm>
            <a:off x="457200" y="1341438"/>
            <a:ext cx="8229600" cy="4830762"/>
          </a:xfrm>
        </p:spPr>
        <p:txBody>
          <a:bodyPr vert="horz" wrap="square" lIns="91440" tIns="45720" rIns="91440" bIns="45720" anchor="t" anchorCtr="0"/>
          <a:lstStyle/>
          <a:p>
            <a:pPr algn="just" eaLnBrk="1" hangingPunct="1">
              <a:lnSpc>
                <a:spcPct val="114000"/>
              </a:lnSpc>
            </a:pPr>
            <a:r>
              <a:rPr lang="en-US" altLang="zh-CN" sz="3600" dirty="0">
                <a:solidFill>
                  <a:srgbClr val="FF0000"/>
                </a:solidFill>
                <a:latin typeface="宋体" pitchFamily="2" charset="-122"/>
                <a:cs typeface="等线" panose="02010600030101010101" charset="-122"/>
              </a:rPr>
              <a:t>WHERE</a:t>
            </a:r>
            <a:r>
              <a:rPr lang="zh-CN" altLang="en-US" sz="3600" dirty="0">
                <a:latin typeface="宋体" pitchFamily="2" charset="-122"/>
                <a:cs typeface="等线" panose="02010600030101010101" charset="-122"/>
              </a:rPr>
              <a:t>子句用来筛选</a:t>
            </a:r>
            <a:r>
              <a:rPr lang="en-US" altLang="zh-CN" sz="3600" dirty="0">
                <a:latin typeface="宋体" pitchFamily="2" charset="-122"/>
                <a:cs typeface="等线" panose="02010600030101010101" charset="-122"/>
              </a:rPr>
              <a:t>FROM</a:t>
            </a:r>
            <a:r>
              <a:rPr lang="zh-CN" altLang="en-US" sz="3600" dirty="0">
                <a:latin typeface="宋体" pitchFamily="2" charset="-122"/>
                <a:cs typeface="等线" panose="02010600030101010101" charset="-122"/>
              </a:rPr>
              <a:t>子句中指定的数据源所产生的行数据。</a:t>
            </a:r>
            <a:endParaRPr lang="zh-CN" altLang="en-US" sz="3600" dirty="0">
              <a:latin typeface="宋体" pitchFamily="2" charset="-122"/>
              <a:cs typeface="等线" panose="02010600030101010101" charset="-122"/>
              <a:sym typeface="Symbol" panose="05050102010706020507" pitchFamily="18" charset="2"/>
            </a:endParaRPr>
          </a:p>
          <a:p>
            <a:pPr algn="just" eaLnBrk="1" hangingPunct="1">
              <a:lnSpc>
                <a:spcPct val="114000"/>
              </a:lnSpc>
            </a:pPr>
            <a:r>
              <a:rPr lang="en-US" altLang="zh-CN" sz="3600" dirty="0">
                <a:solidFill>
                  <a:srgbClr val="FF0000"/>
                </a:solidFill>
                <a:latin typeface="宋体" pitchFamily="2" charset="-122"/>
                <a:cs typeface="等线" panose="02010600030101010101" charset="-122"/>
              </a:rPr>
              <a:t>GROUP BY</a:t>
            </a:r>
            <a:r>
              <a:rPr lang="zh-CN" altLang="en-US" sz="3600" dirty="0">
                <a:latin typeface="宋体" pitchFamily="2" charset="-122"/>
                <a:cs typeface="等线" panose="02010600030101010101" charset="-122"/>
              </a:rPr>
              <a:t>子句用来对经</a:t>
            </a:r>
            <a:r>
              <a:rPr lang="en-US" altLang="zh-CN" sz="3600" dirty="0">
                <a:latin typeface="宋体" pitchFamily="2" charset="-122"/>
                <a:cs typeface="等线" panose="02010600030101010101" charset="-122"/>
              </a:rPr>
              <a:t>WHERE</a:t>
            </a:r>
            <a:r>
              <a:rPr lang="zh-CN" altLang="en-US" sz="3600" dirty="0">
                <a:latin typeface="宋体" pitchFamily="2" charset="-122"/>
                <a:cs typeface="等线" panose="02010600030101010101" charset="-122"/>
              </a:rPr>
              <a:t>子句筛选后的结果数据进行分组。</a:t>
            </a:r>
            <a:endParaRPr lang="zh-CN" altLang="en-US" sz="3600" dirty="0">
              <a:latin typeface="宋体" pitchFamily="2" charset="-122"/>
              <a:cs typeface="等线" panose="02010600030101010101" charset="-122"/>
              <a:sym typeface="Symbol" panose="05050102010706020507" pitchFamily="18" charset="2"/>
            </a:endParaRPr>
          </a:p>
          <a:p>
            <a:pPr algn="just" eaLnBrk="1" hangingPunct="1">
              <a:lnSpc>
                <a:spcPct val="114000"/>
              </a:lnSpc>
            </a:pPr>
            <a:r>
              <a:rPr lang="en-US" altLang="zh-CN" sz="3600" dirty="0">
                <a:solidFill>
                  <a:srgbClr val="FF0000"/>
                </a:solidFill>
                <a:latin typeface="宋体" pitchFamily="2" charset="-122"/>
                <a:cs typeface="等线" panose="02010600030101010101" charset="-122"/>
              </a:rPr>
              <a:t>HAVING</a:t>
            </a:r>
            <a:r>
              <a:rPr lang="zh-CN" altLang="en-US" sz="3600" dirty="0">
                <a:latin typeface="宋体" pitchFamily="2" charset="-122"/>
                <a:cs typeface="等线" panose="02010600030101010101" charset="-122"/>
              </a:rPr>
              <a:t>子句用来对分组后的结果数据再进行筛选。</a:t>
            </a:r>
          </a:p>
        </p:txBody>
      </p:sp>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标题 1"/>
          <p:cNvSpPr>
            <a:spLocks noGrp="1"/>
          </p:cNvSpPr>
          <p:nvPr>
            <p:ph type="title"/>
          </p:nvPr>
        </p:nvSpPr>
        <p:spPr/>
        <p:txBody>
          <a:bodyPr/>
          <a:lstStyle/>
          <a:p>
            <a:pPr eaLnBrk="1" hangingPunct="1"/>
            <a:r>
              <a:rPr lang="zh-CN" altLang="en-US" smtClean="0"/>
              <a:t>示例</a:t>
            </a:r>
          </a:p>
        </p:txBody>
      </p:sp>
      <p:sp>
        <p:nvSpPr>
          <p:cNvPr id="50179" name="内容占位符 2"/>
          <p:cNvSpPr>
            <a:spLocks noGrp="1"/>
          </p:cNvSpPr>
          <p:nvPr>
            <p:ph idx="1"/>
          </p:nvPr>
        </p:nvSpPr>
        <p:spPr>
          <a:xfrm>
            <a:off x="250825" y="1052513"/>
            <a:ext cx="8610600" cy="5329237"/>
          </a:xfrm>
        </p:spPr>
        <p:txBody>
          <a:bodyPr/>
          <a:lstStyle/>
          <a:p>
            <a:pPr marL="0" indent="0" eaLnBrk="1" hangingPunct="1">
              <a:buNone/>
            </a:pPr>
            <a:r>
              <a:rPr lang="zh-CN" altLang="en-US" sz="2800" b="1" dirty="0" smtClean="0"/>
              <a:t>查询计算机系和信息管理系的学生人数。</a:t>
            </a:r>
          </a:p>
          <a:p>
            <a:pPr eaLnBrk="1" hangingPunct="1">
              <a:spcBef>
                <a:spcPts val="1800"/>
              </a:spcBef>
            </a:pPr>
            <a:r>
              <a:rPr lang="zh-CN" altLang="en-US" sz="2400" b="1" dirty="0" smtClean="0"/>
              <a:t>方法</a:t>
            </a:r>
            <a:r>
              <a:rPr lang="en-US" altLang="zh-CN" sz="2400" b="1" dirty="0" smtClean="0"/>
              <a:t>1</a:t>
            </a:r>
            <a:r>
              <a:rPr lang="zh-CN" altLang="en-US" sz="2400" b="1" dirty="0" smtClean="0"/>
              <a:t>：</a:t>
            </a:r>
          </a:p>
          <a:p>
            <a:pPr lvl="1" eaLnBrk="1" hangingPunct="1">
              <a:buFontTx/>
              <a:buNone/>
            </a:pPr>
            <a:r>
              <a:rPr lang="en-US" altLang="zh-CN" sz="2400" b="1" dirty="0" smtClean="0">
                <a:solidFill>
                  <a:srgbClr val="009900"/>
                </a:solidFill>
              </a:rPr>
              <a:t>SELECT </a:t>
            </a:r>
            <a:r>
              <a:rPr lang="en-US" altLang="zh-CN" sz="2400" b="1" dirty="0" err="1" smtClean="0">
                <a:solidFill>
                  <a:srgbClr val="009900"/>
                </a:solidFill>
              </a:rPr>
              <a:t>Sdept</a:t>
            </a:r>
            <a:r>
              <a:rPr lang="en-US" altLang="zh-CN" sz="2400" b="1" dirty="0" smtClean="0">
                <a:solidFill>
                  <a:srgbClr val="009900"/>
                </a:solidFill>
              </a:rPr>
              <a:t>, COUNT(*)  FROM Student</a:t>
            </a:r>
            <a:endParaRPr lang="zh-CN" altLang="en-US" sz="2400" b="1" dirty="0" smtClean="0">
              <a:solidFill>
                <a:srgbClr val="009900"/>
              </a:solidFill>
            </a:endParaRPr>
          </a:p>
          <a:p>
            <a:pPr lvl="1" eaLnBrk="1" hangingPunct="1">
              <a:buFontTx/>
              <a:buNone/>
            </a:pPr>
            <a:r>
              <a:rPr lang="en-US" altLang="zh-CN" sz="2400" b="1" dirty="0" smtClean="0">
                <a:solidFill>
                  <a:srgbClr val="009900"/>
                </a:solidFill>
              </a:rPr>
              <a:t>  GROUP BY </a:t>
            </a:r>
            <a:r>
              <a:rPr lang="en-US" altLang="zh-CN" sz="2400" b="1" dirty="0" err="1" smtClean="0">
                <a:solidFill>
                  <a:srgbClr val="009900"/>
                </a:solidFill>
              </a:rPr>
              <a:t>Sdept</a:t>
            </a:r>
            <a:endParaRPr lang="zh-CN" altLang="en-US" sz="2400" b="1" dirty="0" smtClean="0">
              <a:solidFill>
                <a:srgbClr val="009900"/>
              </a:solidFill>
            </a:endParaRPr>
          </a:p>
          <a:p>
            <a:pPr lvl="1" eaLnBrk="1" hangingPunct="1">
              <a:buFontTx/>
              <a:buNone/>
            </a:pPr>
            <a:r>
              <a:rPr lang="en-US" altLang="zh-CN" sz="2400" b="1" dirty="0" smtClean="0">
                <a:solidFill>
                  <a:srgbClr val="009900"/>
                </a:solidFill>
              </a:rPr>
              <a:t>  HAVING </a:t>
            </a:r>
            <a:r>
              <a:rPr lang="en-US" altLang="zh-CN" sz="2400" b="1" dirty="0" err="1" smtClean="0">
                <a:solidFill>
                  <a:srgbClr val="009900"/>
                </a:solidFill>
              </a:rPr>
              <a:t>Sdept</a:t>
            </a:r>
            <a:r>
              <a:rPr lang="en-US" altLang="zh-CN" sz="2400" b="1" dirty="0" smtClean="0">
                <a:solidFill>
                  <a:srgbClr val="009900"/>
                </a:solidFill>
              </a:rPr>
              <a:t> IN ( </a:t>
            </a:r>
            <a:r>
              <a:rPr lang="en-US" altLang="zh-CN" sz="2400" b="1" dirty="0" smtClean="0">
                <a:solidFill>
                  <a:srgbClr val="009900"/>
                </a:solidFill>
                <a:latin typeface="Courier New" pitchFamily="49" charset="0"/>
                <a:cs typeface="Courier New" pitchFamily="49" charset="0"/>
              </a:rPr>
              <a:t>'</a:t>
            </a:r>
            <a:r>
              <a:rPr lang="zh-CN" altLang="en-US" sz="2400" b="1" dirty="0" smtClean="0">
                <a:solidFill>
                  <a:srgbClr val="009900"/>
                </a:solidFill>
              </a:rPr>
              <a:t>计算机系</a:t>
            </a:r>
            <a:r>
              <a:rPr lang="en-US" altLang="zh-CN" sz="2400" b="1" dirty="0" smtClean="0">
                <a:solidFill>
                  <a:srgbClr val="009900"/>
                </a:solidFill>
                <a:latin typeface="Courier New" pitchFamily="49" charset="0"/>
                <a:cs typeface="Courier New" pitchFamily="49" charset="0"/>
              </a:rPr>
              <a:t>'</a:t>
            </a:r>
            <a:r>
              <a:rPr lang="en-US" altLang="zh-CN" sz="2400" b="1" dirty="0" smtClean="0">
                <a:solidFill>
                  <a:srgbClr val="009900"/>
                </a:solidFill>
              </a:rPr>
              <a:t>, </a:t>
            </a:r>
            <a:r>
              <a:rPr lang="en-US" altLang="zh-CN" sz="2400" b="1" dirty="0" smtClean="0">
                <a:solidFill>
                  <a:srgbClr val="009900"/>
                </a:solidFill>
                <a:latin typeface="Courier New" pitchFamily="49" charset="0"/>
                <a:cs typeface="Courier New" pitchFamily="49" charset="0"/>
              </a:rPr>
              <a:t>'</a:t>
            </a:r>
            <a:r>
              <a:rPr lang="zh-CN" altLang="en-US" sz="2400" b="1" dirty="0" smtClean="0">
                <a:solidFill>
                  <a:srgbClr val="009900"/>
                </a:solidFill>
              </a:rPr>
              <a:t>信息管理系</a:t>
            </a:r>
            <a:r>
              <a:rPr lang="en-US" altLang="zh-CN" sz="2400" b="1" dirty="0" smtClean="0">
                <a:solidFill>
                  <a:srgbClr val="009900"/>
                </a:solidFill>
                <a:latin typeface="Courier New" pitchFamily="49" charset="0"/>
                <a:cs typeface="Courier New" pitchFamily="49" charset="0"/>
              </a:rPr>
              <a:t>'</a:t>
            </a:r>
            <a:r>
              <a:rPr lang="en-US" altLang="zh-CN" sz="2400" b="1" dirty="0" smtClean="0">
                <a:solidFill>
                  <a:srgbClr val="009900"/>
                </a:solidFill>
              </a:rPr>
              <a:t>)</a:t>
            </a:r>
            <a:endParaRPr lang="zh-CN" altLang="en-US" sz="2400" b="1" dirty="0" smtClean="0">
              <a:solidFill>
                <a:srgbClr val="009900"/>
              </a:solidFill>
            </a:endParaRPr>
          </a:p>
          <a:p>
            <a:pPr eaLnBrk="1" hangingPunct="1">
              <a:spcBef>
                <a:spcPts val="1800"/>
              </a:spcBef>
            </a:pPr>
            <a:r>
              <a:rPr lang="zh-CN" altLang="en-US" sz="2400" b="1" dirty="0" smtClean="0"/>
              <a:t>方法</a:t>
            </a:r>
            <a:r>
              <a:rPr lang="en-US" altLang="zh-CN" sz="2400" b="1" dirty="0" smtClean="0"/>
              <a:t>2</a:t>
            </a:r>
            <a:r>
              <a:rPr lang="zh-CN" altLang="en-US" sz="2400" b="1" dirty="0" smtClean="0"/>
              <a:t>：</a:t>
            </a:r>
          </a:p>
          <a:p>
            <a:pPr lvl="1" eaLnBrk="1" hangingPunct="1">
              <a:buFontTx/>
              <a:buNone/>
            </a:pPr>
            <a:r>
              <a:rPr lang="en-US" altLang="zh-CN" sz="2400" b="1" dirty="0" smtClean="0">
                <a:solidFill>
                  <a:srgbClr val="009900"/>
                </a:solidFill>
              </a:rPr>
              <a:t>SELECT </a:t>
            </a:r>
            <a:r>
              <a:rPr lang="en-US" altLang="zh-CN" sz="2400" b="1" dirty="0" err="1" smtClean="0">
                <a:solidFill>
                  <a:srgbClr val="009900"/>
                </a:solidFill>
              </a:rPr>
              <a:t>sdept</a:t>
            </a:r>
            <a:r>
              <a:rPr lang="en-US" altLang="zh-CN" sz="2400" b="1" dirty="0" smtClean="0">
                <a:solidFill>
                  <a:srgbClr val="009900"/>
                </a:solidFill>
              </a:rPr>
              <a:t>, COUNT (*)  FROM Student</a:t>
            </a:r>
            <a:endParaRPr lang="zh-CN" altLang="en-US" sz="2400" b="1" dirty="0" smtClean="0">
              <a:solidFill>
                <a:srgbClr val="009900"/>
              </a:solidFill>
            </a:endParaRPr>
          </a:p>
          <a:p>
            <a:pPr lvl="1" eaLnBrk="1" hangingPunct="1">
              <a:buFontTx/>
              <a:buNone/>
            </a:pPr>
            <a:r>
              <a:rPr lang="en-US" altLang="zh-CN" sz="2400" b="1" dirty="0" smtClean="0">
                <a:solidFill>
                  <a:srgbClr val="009900"/>
                </a:solidFill>
              </a:rPr>
              <a:t>  WHERE </a:t>
            </a:r>
            <a:r>
              <a:rPr lang="en-US" altLang="zh-CN" sz="2400" b="1" dirty="0" err="1" smtClean="0">
                <a:solidFill>
                  <a:srgbClr val="009900"/>
                </a:solidFill>
              </a:rPr>
              <a:t>Sdept</a:t>
            </a:r>
            <a:r>
              <a:rPr lang="en-US" altLang="zh-CN" sz="2400" b="1" dirty="0" smtClean="0">
                <a:solidFill>
                  <a:srgbClr val="009900"/>
                </a:solidFill>
              </a:rPr>
              <a:t> IN (</a:t>
            </a:r>
            <a:r>
              <a:rPr lang="en-US" altLang="zh-CN" sz="2400" b="1" dirty="0" smtClean="0">
                <a:solidFill>
                  <a:srgbClr val="009900"/>
                </a:solidFill>
                <a:latin typeface="Courier New" pitchFamily="49" charset="0"/>
                <a:cs typeface="Courier New" pitchFamily="49" charset="0"/>
              </a:rPr>
              <a:t>'</a:t>
            </a:r>
            <a:r>
              <a:rPr lang="zh-CN" altLang="en-US" sz="2400" b="1" dirty="0" smtClean="0">
                <a:solidFill>
                  <a:srgbClr val="009900"/>
                </a:solidFill>
              </a:rPr>
              <a:t>计算机系</a:t>
            </a:r>
            <a:r>
              <a:rPr lang="en-US" altLang="zh-CN" sz="2400" b="1" dirty="0" smtClean="0">
                <a:solidFill>
                  <a:srgbClr val="009900"/>
                </a:solidFill>
                <a:latin typeface="Courier New" pitchFamily="49" charset="0"/>
                <a:cs typeface="Courier New" pitchFamily="49" charset="0"/>
              </a:rPr>
              <a:t>'</a:t>
            </a:r>
            <a:r>
              <a:rPr lang="en-US" altLang="zh-CN" sz="2400" b="1" dirty="0" smtClean="0">
                <a:solidFill>
                  <a:srgbClr val="009900"/>
                </a:solidFill>
              </a:rPr>
              <a:t>, </a:t>
            </a:r>
            <a:r>
              <a:rPr lang="en-US" altLang="zh-CN" sz="2400" b="1" dirty="0" smtClean="0">
                <a:solidFill>
                  <a:srgbClr val="009900"/>
                </a:solidFill>
                <a:latin typeface="Courier New" pitchFamily="49" charset="0"/>
                <a:cs typeface="Courier New" pitchFamily="49" charset="0"/>
              </a:rPr>
              <a:t>'</a:t>
            </a:r>
            <a:r>
              <a:rPr lang="zh-CN" altLang="en-US" sz="2400" b="1" dirty="0" smtClean="0">
                <a:solidFill>
                  <a:srgbClr val="009900"/>
                </a:solidFill>
              </a:rPr>
              <a:t>信息管理系</a:t>
            </a:r>
            <a:r>
              <a:rPr lang="en-US" altLang="zh-CN" sz="2400" b="1" dirty="0" smtClean="0">
                <a:solidFill>
                  <a:srgbClr val="009900"/>
                </a:solidFill>
                <a:latin typeface="Courier New" pitchFamily="49" charset="0"/>
                <a:cs typeface="Courier New" pitchFamily="49" charset="0"/>
              </a:rPr>
              <a:t>'</a:t>
            </a:r>
            <a:r>
              <a:rPr lang="en-US" altLang="zh-CN" sz="2400" b="1" dirty="0" smtClean="0">
                <a:solidFill>
                  <a:srgbClr val="009900"/>
                </a:solidFill>
              </a:rPr>
              <a:t>)</a:t>
            </a:r>
            <a:endParaRPr lang="zh-CN" altLang="en-US" sz="2400" b="1" dirty="0" smtClean="0">
              <a:solidFill>
                <a:srgbClr val="009900"/>
              </a:solidFill>
            </a:endParaRPr>
          </a:p>
          <a:p>
            <a:pPr lvl="1" eaLnBrk="1" hangingPunct="1">
              <a:buFontTx/>
              <a:buNone/>
            </a:pPr>
            <a:r>
              <a:rPr lang="en-US" altLang="zh-CN" sz="2400" b="1" dirty="0" smtClean="0">
                <a:solidFill>
                  <a:srgbClr val="009900"/>
                </a:solidFill>
              </a:rPr>
              <a:t>  GROUP BY </a:t>
            </a:r>
            <a:r>
              <a:rPr lang="en-US" altLang="zh-CN" sz="2400" b="1" dirty="0" err="1" smtClean="0">
                <a:solidFill>
                  <a:srgbClr val="009900"/>
                </a:solidFill>
              </a:rPr>
              <a:t>Sdept</a:t>
            </a:r>
            <a:endParaRPr lang="zh-CN" altLang="en-US" sz="2400" b="1" dirty="0" smtClean="0">
              <a:solidFill>
                <a:srgbClr val="009900"/>
              </a:solidFill>
            </a:endParaRPr>
          </a:p>
          <a:p>
            <a:pPr eaLnBrk="1" hangingPunct="1">
              <a:spcBef>
                <a:spcPts val="1800"/>
              </a:spcBef>
            </a:pPr>
            <a:r>
              <a:rPr lang="zh-CN" altLang="en-US" sz="2400" b="1" dirty="0" smtClean="0">
                <a:solidFill>
                  <a:srgbClr val="FF0000"/>
                </a:solidFill>
              </a:rPr>
              <a:t>第二种写法比第一种写法执行效率高。</a:t>
            </a:r>
            <a:r>
              <a:rPr lang="zh-CN" altLang="en-US" sz="2400" dirty="0">
                <a:latin typeface="等线" panose="02010600030101010101" charset="-122"/>
                <a:ea typeface="等线" panose="02010600030101010101" charset="-122"/>
                <a:cs typeface="等线" panose="02010600030101010101" charset="-122"/>
              </a:rPr>
              <a:t>因为参与分组的数据会比较少。</a:t>
            </a:r>
            <a:endParaRPr lang="zh-CN" altLang="en-US" sz="2400" b="1" dirty="0" smtClean="0">
              <a:solidFill>
                <a:srgbClr val="FF0000"/>
              </a:solidFill>
            </a:endParaRPr>
          </a:p>
        </p:txBody>
      </p:sp>
    </p:spTree>
    <p:extLst>
      <p:ext uri="{BB962C8B-B14F-4D97-AF65-F5344CB8AC3E}">
        <p14:creationId xmlns:p14="http://schemas.microsoft.com/office/powerpoint/2010/main" val="556837860"/>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标题 1"/>
          <p:cNvSpPr>
            <a:spLocks noGrp="1"/>
          </p:cNvSpPr>
          <p:nvPr>
            <p:ph type="title"/>
          </p:nvPr>
        </p:nvSpPr>
        <p:spPr/>
        <p:txBody>
          <a:bodyPr/>
          <a:lstStyle/>
          <a:p>
            <a:pPr eaLnBrk="1" hangingPunct="1"/>
            <a:r>
              <a:rPr lang="zh-CN" altLang="en-US" smtClean="0"/>
              <a:t>示例</a:t>
            </a:r>
          </a:p>
        </p:txBody>
      </p:sp>
      <p:sp>
        <p:nvSpPr>
          <p:cNvPr id="51203" name="内容占位符 2"/>
          <p:cNvSpPr>
            <a:spLocks noGrp="1"/>
          </p:cNvSpPr>
          <p:nvPr>
            <p:ph idx="1"/>
          </p:nvPr>
        </p:nvSpPr>
        <p:spPr>
          <a:xfrm>
            <a:off x="228600" y="1214438"/>
            <a:ext cx="8610600" cy="5143500"/>
          </a:xfrm>
        </p:spPr>
        <p:txBody>
          <a:bodyPr/>
          <a:lstStyle/>
          <a:p>
            <a:pPr eaLnBrk="1" hangingPunct="1">
              <a:spcBef>
                <a:spcPts val="600"/>
              </a:spcBef>
            </a:pPr>
            <a:r>
              <a:rPr lang="zh-CN" altLang="en-US" sz="2800" b="1" dirty="0" smtClean="0"/>
              <a:t>查询每个系年龄小于等于</a:t>
            </a:r>
            <a:r>
              <a:rPr lang="en-US" altLang="zh-CN" sz="2800" b="1" dirty="0" smtClean="0"/>
              <a:t>20</a:t>
            </a:r>
            <a:r>
              <a:rPr lang="zh-CN" altLang="en-US" sz="2800" b="1" dirty="0" smtClean="0"/>
              <a:t>岁的学生人数。</a:t>
            </a:r>
          </a:p>
          <a:p>
            <a:pPr lvl="1" eaLnBrk="1" hangingPunct="1">
              <a:spcBef>
                <a:spcPts val="600"/>
              </a:spcBef>
              <a:buFontTx/>
              <a:buNone/>
            </a:pPr>
            <a:r>
              <a:rPr lang="en-US" altLang="zh-CN" sz="2800" b="1" dirty="0" smtClean="0">
                <a:solidFill>
                  <a:srgbClr val="009900"/>
                </a:solidFill>
              </a:rPr>
              <a:t>SELECT </a:t>
            </a:r>
            <a:r>
              <a:rPr lang="en-US" altLang="zh-CN" sz="2800" b="1" dirty="0" err="1" smtClean="0">
                <a:solidFill>
                  <a:srgbClr val="009900"/>
                </a:solidFill>
              </a:rPr>
              <a:t>Sdept</a:t>
            </a:r>
            <a:r>
              <a:rPr lang="en-US" altLang="zh-CN" sz="2800" b="1" dirty="0" smtClean="0">
                <a:solidFill>
                  <a:srgbClr val="009900"/>
                </a:solidFill>
              </a:rPr>
              <a:t>, COUNT (*)  FROM Student</a:t>
            </a:r>
            <a:endParaRPr lang="zh-CN" altLang="en-US" sz="2800" b="1" dirty="0" smtClean="0">
              <a:solidFill>
                <a:srgbClr val="009900"/>
              </a:solidFill>
            </a:endParaRPr>
          </a:p>
          <a:p>
            <a:pPr lvl="1" eaLnBrk="1" hangingPunct="1">
              <a:spcBef>
                <a:spcPts val="600"/>
              </a:spcBef>
              <a:buFontTx/>
              <a:buNone/>
            </a:pPr>
            <a:r>
              <a:rPr lang="en-US" altLang="zh-CN" sz="2800" b="1" dirty="0" smtClean="0">
                <a:solidFill>
                  <a:srgbClr val="009900"/>
                </a:solidFill>
              </a:rPr>
              <a:t>  WHERE Sage &lt;= 20</a:t>
            </a:r>
            <a:endParaRPr lang="zh-CN" altLang="en-US" sz="2800" b="1" dirty="0" smtClean="0">
              <a:solidFill>
                <a:srgbClr val="009900"/>
              </a:solidFill>
            </a:endParaRPr>
          </a:p>
          <a:p>
            <a:pPr lvl="1" eaLnBrk="1" hangingPunct="1">
              <a:spcBef>
                <a:spcPts val="600"/>
              </a:spcBef>
              <a:buFontTx/>
              <a:buNone/>
            </a:pPr>
            <a:r>
              <a:rPr lang="en-US" altLang="zh-CN" sz="2800" b="1" dirty="0" smtClean="0">
                <a:solidFill>
                  <a:srgbClr val="009900"/>
                </a:solidFill>
              </a:rPr>
              <a:t>  GROUP BY </a:t>
            </a:r>
            <a:r>
              <a:rPr lang="en-US" altLang="zh-CN" sz="2800" b="1" dirty="0" err="1" smtClean="0">
                <a:solidFill>
                  <a:srgbClr val="009900"/>
                </a:solidFill>
              </a:rPr>
              <a:t>Sdept</a:t>
            </a:r>
            <a:endParaRPr lang="zh-CN" altLang="en-US" sz="2800" b="1" dirty="0" smtClean="0">
              <a:solidFill>
                <a:srgbClr val="009900"/>
              </a:solidFill>
            </a:endParaRPr>
          </a:p>
          <a:p>
            <a:pPr eaLnBrk="1" hangingPunct="1">
              <a:spcBef>
                <a:spcPts val="2400"/>
              </a:spcBef>
            </a:pPr>
            <a:r>
              <a:rPr lang="zh-CN" altLang="en-US" sz="2800" b="1" dirty="0" smtClean="0">
                <a:solidFill>
                  <a:srgbClr val="FF0000"/>
                </a:solidFill>
              </a:rPr>
              <a:t>该查询语句不能写成：</a:t>
            </a:r>
          </a:p>
          <a:p>
            <a:pPr lvl="1" eaLnBrk="1" hangingPunct="1">
              <a:spcBef>
                <a:spcPts val="600"/>
              </a:spcBef>
              <a:buFontTx/>
              <a:buNone/>
            </a:pPr>
            <a:r>
              <a:rPr lang="en-US" altLang="zh-CN" sz="2800" b="1" dirty="0" smtClean="0">
                <a:solidFill>
                  <a:srgbClr val="009900"/>
                </a:solidFill>
              </a:rPr>
              <a:t>SELECT </a:t>
            </a:r>
            <a:r>
              <a:rPr lang="en-US" altLang="zh-CN" sz="2800" b="1" dirty="0" err="1" smtClean="0">
                <a:solidFill>
                  <a:srgbClr val="009900"/>
                </a:solidFill>
              </a:rPr>
              <a:t>Sdept</a:t>
            </a:r>
            <a:r>
              <a:rPr lang="en-US" altLang="zh-CN" sz="2800" b="1" dirty="0" smtClean="0">
                <a:solidFill>
                  <a:srgbClr val="009900"/>
                </a:solidFill>
              </a:rPr>
              <a:t>, COUNT(*)  FROM Student</a:t>
            </a:r>
            <a:endParaRPr lang="zh-CN" altLang="en-US" sz="2800" b="1" dirty="0" smtClean="0">
              <a:solidFill>
                <a:srgbClr val="009900"/>
              </a:solidFill>
            </a:endParaRPr>
          </a:p>
          <a:p>
            <a:pPr lvl="1" eaLnBrk="1" hangingPunct="1">
              <a:spcBef>
                <a:spcPts val="600"/>
              </a:spcBef>
              <a:buFontTx/>
              <a:buNone/>
            </a:pPr>
            <a:r>
              <a:rPr lang="en-US" altLang="zh-CN" sz="2800" b="1" dirty="0" smtClean="0">
                <a:solidFill>
                  <a:srgbClr val="009900"/>
                </a:solidFill>
              </a:rPr>
              <a:t>  GROUP BY </a:t>
            </a:r>
            <a:r>
              <a:rPr lang="en-US" altLang="zh-CN" sz="2800" b="1" dirty="0" err="1" smtClean="0">
                <a:solidFill>
                  <a:srgbClr val="009900"/>
                </a:solidFill>
              </a:rPr>
              <a:t>Sdept</a:t>
            </a:r>
            <a:endParaRPr lang="zh-CN" altLang="en-US" sz="2800" b="1" dirty="0" smtClean="0">
              <a:solidFill>
                <a:srgbClr val="009900"/>
              </a:solidFill>
            </a:endParaRPr>
          </a:p>
          <a:p>
            <a:pPr lvl="1" eaLnBrk="1" hangingPunct="1">
              <a:spcBef>
                <a:spcPts val="600"/>
              </a:spcBef>
              <a:buFontTx/>
              <a:buNone/>
            </a:pPr>
            <a:r>
              <a:rPr lang="en-US" altLang="zh-CN" sz="2800" b="1" dirty="0" smtClean="0">
                <a:solidFill>
                  <a:srgbClr val="009900"/>
                </a:solidFill>
              </a:rPr>
              <a:t>  HAVING Sage &lt;= 20</a:t>
            </a:r>
            <a:endParaRPr lang="zh-CN" altLang="en-US" sz="2800" b="1" dirty="0" smtClean="0">
              <a:solidFill>
                <a:srgbClr val="009900"/>
              </a:solidFill>
            </a:endParaRPr>
          </a:p>
        </p:txBody>
      </p:sp>
    </p:spTree>
    <p:extLst>
      <p:ext uri="{BB962C8B-B14F-4D97-AF65-F5344CB8AC3E}">
        <p14:creationId xmlns:p14="http://schemas.microsoft.com/office/powerpoint/2010/main" val="3355482352"/>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a:spLocks noGrp="1"/>
          </p:cNvSpPr>
          <p:nvPr>
            <p:ph type="title"/>
          </p:nvPr>
        </p:nvSpPr>
        <p:spPr>
          <a:xfrm>
            <a:off x="500063" y="152400"/>
            <a:ext cx="8001000" cy="685800"/>
          </a:xfrm>
          <a:noFill/>
          <a:ln w="9525">
            <a:noFill/>
          </a:ln>
        </p:spPr>
        <p:txBody>
          <a:bodyPr vert="horz" wrap="square" lIns="91440" tIns="45720" rIns="91440" bIns="45720" rtlCol="0" anchor="ctr" anchorCtr="0">
            <a:normAutofit fontScale="90000"/>
          </a:bodyPr>
          <a:lstStyle/>
          <a:p>
            <a:pPr lvl="0" algn="ctr" eaLnBrk="1" hangingPunct="1">
              <a:buClrTx/>
              <a:buSzTx/>
              <a:buFontTx/>
            </a:pPr>
            <a:r>
              <a:rPr lang="zh-CN" altLang="en-US" sz="4000" b="0" dirty="0" smtClean="0">
                <a:latin typeface="黑体" panose="02010609060101010101" pitchFamily="2" charset="-122"/>
                <a:ea typeface="黑体" panose="02010609060101010101" pitchFamily="2" charset="-122"/>
                <a:sym typeface="+mn-ea"/>
              </a:rPr>
              <a:t>知识点小结</a:t>
            </a:r>
            <a:endParaRPr lang="zh-CN" altLang="en-US" sz="4000" b="0" dirty="0">
              <a:latin typeface="黑体" panose="02010609060101010101" pitchFamily="2" charset="-122"/>
              <a:ea typeface="黑体" panose="02010609060101010101" pitchFamily="2" charset="-122"/>
              <a:sym typeface="+mn-ea"/>
            </a:endParaRPr>
          </a:p>
        </p:txBody>
      </p:sp>
      <p:sp>
        <p:nvSpPr>
          <p:cNvPr id="56323" name="Rectangle 3"/>
          <p:cNvSpPr>
            <a:spLocks noGrp="1"/>
          </p:cNvSpPr>
          <p:nvPr>
            <p:ph idx="1"/>
          </p:nvPr>
        </p:nvSpPr>
        <p:spPr>
          <a:xfrm>
            <a:off x="395536" y="2636912"/>
            <a:ext cx="8229600" cy="1512198"/>
          </a:xfrm>
        </p:spPr>
        <p:txBody>
          <a:bodyPr vert="horz" wrap="square" lIns="91440" tIns="45720" rIns="91440" bIns="45720" anchor="t" anchorCtr="0"/>
          <a:lstStyle/>
          <a:p>
            <a:pPr algn="just" eaLnBrk="1" hangingPunct="1">
              <a:lnSpc>
                <a:spcPct val="110000"/>
              </a:lnSpc>
            </a:pPr>
            <a:r>
              <a:rPr lang="zh-CN" altLang="en-US" sz="3200" dirty="0" smtClean="0">
                <a:latin typeface="宋体" pitchFamily="2" charset="-122"/>
                <a:cs typeface="等线" panose="02010600030101010101" charset="-122"/>
              </a:rPr>
              <a:t>建议</a:t>
            </a:r>
            <a:r>
              <a:rPr lang="zh-CN" altLang="en-US" sz="3200" dirty="0">
                <a:latin typeface="宋体" pitchFamily="2" charset="-122"/>
                <a:cs typeface="等线" panose="02010600030101010101" charset="-122"/>
              </a:rPr>
              <a:t>将所有行搜索条件放在</a:t>
            </a:r>
            <a:r>
              <a:rPr lang="en-US" altLang="zh-CN" sz="3200" dirty="0">
                <a:latin typeface="宋体" pitchFamily="2" charset="-122"/>
                <a:cs typeface="等线" panose="02010600030101010101" charset="-122"/>
              </a:rPr>
              <a:t>WHERE</a:t>
            </a:r>
            <a:r>
              <a:rPr lang="zh-CN" altLang="en-US" sz="3200" dirty="0">
                <a:latin typeface="宋体" pitchFamily="2" charset="-122"/>
                <a:cs typeface="等线" panose="02010600030101010101" charset="-122"/>
              </a:rPr>
              <a:t>子句中而不是</a:t>
            </a:r>
            <a:r>
              <a:rPr lang="en-US" altLang="zh-CN" sz="3200" dirty="0">
                <a:latin typeface="宋体" pitchFamily="2" charset="-122"/>
                <a:cs typeface="等线" panose="02010600030101010101" charset="-122"/>
              </a:rPr>
              <a:t>HAVING</a:t>
            </a:r>
            <a:r>
              <a:rPr lang="zh-CN" altLang="en-US" sz="3200" dirty="0">
                <a:latin typeface="宋体" pitchFamily="2" charset="-122"/>
                <a:cs typeface="等线" panose="02010600030101010101" charset="-122"/>
              </a:rPr>
              <a:t>子句中。  </a:t>
            </a:r>
          </a:p>
        </p:txBody>
      </p:sp>
    </p:spTree>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p:cNvSpPr>
            <a:spLocks noGrp="1"/>
          </p:cNvSpPr>
          <p:nvPr>
            <p:ph type="title"/>
          </p:nvPr>
        </p:nvSpPr>
        <p:spPr>
          <a:xfrm>
            <a:off x="500063" y="152400"/>
            <a:ext cx="8001000" cy="685800"/>
          </a:xfrm>
          <a:noFill/>
          <a:ln w="9525">
            <a:noFill/>
          </a:ln>
        </p:spPr>
        <p:txBody>
          <a:bodyPr vert="horz" wrap="square" lIns="91440" tIns="45720" rIns="91440" bIns="45720" rtlCol="0" anchor="ctr" anchorCtr="0">
            <a:normAutofit fontScale="90000"/>
          </a:bodyPr>
          <a:lstStyle/>
          <a:p>
            <a:pPr lvl="0" algn="ctr" eaLnBrk="1" hangingPunct="1">
              <a:buClrTx/>
              <a:buSzTx/>
              <a:buFontTx/>
            </a:pPr>
            <a:r>
              <a:rPr lang="zh-CN" altLang="en-US" sz="4000" b="0" dirty="0">
                <a:latin typeface="黑体" panose="02010609060101010101" pitchFamily="2" charset="-122"/>
                <a:ea typeface="黑体" panose="02010609060101010101" pitchFamily="2" charset="-122"/>
                <a:sym typeface="+mn-ea"/>
              </a:rPr>
              <a:t>4.1.3 多表连接查询 </a:t>
            </a:r>
          </a:p>
        </p:txBody>
      </p:sp>
      <p:sp>
        <p:nvSpPr>
          <p:cNvPr id="58371" name="Rectangle 3"/>
          <p:cNvSpPr>
            <a:spLocks noGrp="1"/>
          </p:cNvSpPr>
          <p:nvPr>
            <p:ph idx="1"/>
          </p:nvPr>
        </p:nvSpPr>
        <p:spPr>
          <a:xfrm>
            <a:off x="395536" y="1428750"/>
            <a:ext cx="8496944" cy="4691063"/>
          </a:xfrm>
        </p:spPr>
        <p:txBody>
          <a:bodyPr vert="horz" wrap="square" lIns="91440" tIns="45720" rIns="91440" bIns="45720" anchor="t" anchorCtr="0"/>
          <a:lstStyle/>
          <a:p>
            <a:pPr eaLnBrk="1" hangingPunct="1">
              <a:lnSpc>
                <a:spcPct val="114000"/>
              </a:lnSpc>
              <a:spcBef>
                <a:spcPts val="2400"/>
              </a:spcBef>
            </a:pPr>
            <a:r>
              <a:rPr lang="zh-CN" altLang="en-US" sz="3600" dirty="0">
                <a:latin typeface="宋体" pitchFamily="2" charset="-122"/>
                <a:cs typeface="+mn-cs"/>
              </a:rPr>
              <a:t>若一个查询同时涉及两个或两个以上的表，则称之为</a:t>
            </a:r>
            <a:r>
              <a:rPr lang="zh-CN" altLang="en-US" sz="3600" dirty="0">
                <a:solidFill>
                  <a:srgbClr val="FF0000"/>
                </a:solidFill>
                <a:latin typeface="宋体" pitchFamily="2" charset="-122"/>
                <a:cs typeface="+mn-cs"/>
              </a:rPr>
              <a:t>连接查询</a:t>
            </a:r>
            <a:r>
              <a:rPr lang="zh-CN" altLang="en-US" sz="3600" dirty="0">
                <a:latin typeface="宋体" pitchFamily="2" charset="-122"/>
                <a:cs typeface="+mn-cs"/>
              </a:rPr>
              <a:t>。</a:t>
            </a:r>
          </a:p>
          <a:p>
            <a:pPr eaLnBrk="1" hangingPunct="1">
              <a:lnSpc>
                <a:spcPct val="114000"/>
              </a:lnSpc>
              <a:spcBef>
                <a:spcPts val="2400"/>
              </a:spcBef>
            </a:pPr>
            <a:r>
              <a:rPr lang="zh-CN" altLang="en-US" sz="3600" dirty="0">
                <a:latin typeface="宋体" pitchFamily="2" charset="-122"/>
                <a:cs typeface="+mn-cs"/>
              </a:rPr>
              <a:t>连接查询是关系数据库中最主要的查询。</a:t>
            </a:r>
          </a:p>
          <a:p>
            <a:pPr eaLnBrk="1" hangingPunct="1">
              <a:lnSpc>
                <a:spcPct val="114000"/>
              </a:lnSpc>
              <a:spcBef>
                <a:spcPts val="2400"/>
              </a:spcBef>
            </a:pPr>
            <a:r>
              <a:rPr lang="zh-CN" altLang="en-US" sz="3600" dirty="0">
                <a:latin typeface="宋体" pitchFamily="2" charset="-122"/>
                <a:cs typeface="+mn-cs"/>
              </a:rPr>
              <a:t>连接查询包括内连接、外连接和交叉连接等。</a:t>
            </a:r>
          </a:p>
        </p:txBody>
      </p:sp>
    </p:spTree>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p:cNvSpPr>
            <a:spLocks noGrp="1"/>
          </p:cNvSpPr>
          <p:nvPr>
            <p:ph type="title"/>
          </p:nvPr>
        </p:nvSpPr>
        <p:spPr>
          <a:xfrm>
            <a:off x="500063" y="152400"/>
            <a:ext cx="8001000" cy="685800"/>
          </a:xfrm>
          <a:noFill/>
          <a:ln w="9525">
            <a:noFill/>
          </a:ln>
        </p:spPr>
        <p:txBody>
          <a:bodyPr vert="horz" wrap="square" lIns="91440" tIns="45720" rIns="91440" bIns="45720" rtlCol="0" anchor="ctr" anchorCtr="0">
            <a:normAutofit fontScale="90000"/>
          </a:bodyPr>
          <a:lstStyle/>
          <a:p>
            <a:pPr lvl="0" algn="ctr" eaLnBrk="1" hangingPunct="1">
              <a:buClrTx/>
              <a:buSzTx/>
              <a:buFontTx/>
            </a:pPr>
            <a:r>
              <a:rPr lang="zh-CN" altLang="en-US" sz="4000" b="0" dirty="0">
                <a:latin typeface="黑体" panose="02010609060101010101" pitchFamily="2" charset="-122"/>
                <a:ea typeface="黑体" panose="02010609060101010101" pitchFamily="2" charset="-122"/>
                <a:sym typeface="+mn-ea"/>
              </a:rPr>
              <a:t>连接基础知识</a:t>
            </a:r>
          </a:p>
        </p:txBody>
      </p:sp>
      <p:sp>
        <p:nvSpPr>
          <p:cNvPr id="59395" name="Rectangle 3"/>
          <p:cNvSpPr>
            <a:spLocks noGrp="1"/>
          </p:cNvSpPr>
          <p:nvPr>
            <p:ph idx="1"/>
          </p:nvPr>
        </p:nvSpPr>
        <p:spPr>
          <a:xfrm>
            <a:off x="457200" y="1481138"/>
            <a:ext cx="8229600" cy="2543175"/>
          </a:xfrm>
        </p:spPr>
        <p:txBody>
          <a:bodyPr vert="horz" wrap="square" lIns="91440" tIns="45720" rIns="91440" bIns="45720" anchor="t" anchorCtr="0"/>
          <a:lstStyle/>
          <a:p>
            <a:pPr eaLnBrk="1" hangingPunct="1"/>
            <a:r>
              <a:rPr lang="zh-CN" altLang="en-US" dirty="0">
                <a:latin typeface="宋体" pitchFamily="2" charset="-122"/>
                <a:cs typeface="等线" panose="02010600030101010101" charset="-122"/>
              </a:rPr>
              <a:t>连接查询中用于连接两个表的条件称为连接条件或连接谓词。 </a:t>
            </a:r>
          </a:p>
          <a:p>
            <a:pPr eaLnBrk="1" hangingPunct="1"/>
            <a:r>
              <a:rPr lang="zh-CN" altLang="en-US" dirty="0">
                <a:latin typeface="宋体" pitchFamily="2" charset="-122"/>
                <a:cs typeface="等线" panose="02010600030101010101" charset="-122"/>
              </a:rPr>
              <a:t>一般格式为：</a:t>
            </a:r>
          </a:p>
          <a:p>
            <a:pPr eaLnBrk="1" hangingPunct="1">
              <a:buFont typeface="Wingdings" panose="05000000000000000000" pitchFamily="2" charset="2"/>
              <a:buNone/>
            </a:pPr>
            <a:r>
              <a:rPr lang="en-US" altLang="zh-CN" b="0" dirty="0">
                <a:solidFill>
                  <a:srgbClr val="FF0000"/>
                </a:solidFill>
                <a:latin typeface="宋体" pitchFamily="2" charset="-122"/>
                <a:cs typeface="等线" panose="02010600030101010101" charset="-122"/>
              </a:rPr>
              <a:t> </a:t>
            </a:r>
            <a:r>
              <a:rPr lang="en-US" altLang="zh-CN" sz="3200" dirty="0">
                <a:solidFill>
                  <a:srgbClr val="FF0000"/>
                </a:solidFill>
                <a:latin typeface="宋体" pitchFamily="2" charset="-122"/>
                <a:cs typeface="等线" panose="02010600030101010101" charset="-122"/>
              </a:rPr>
              <a:t>[&lt;</a:t>
            </a:r>
            <a:r>
              <a:rPr lang="zh-CN" altLang="en-US" sz="3200" dirty="0">
                <a:solidFill>
                  <a:srgbClr val="FF0000"/>
                </a:solidFill>
                <a:latin typeface="宋体" pitchFamily="2" charset="-122"/>
                <a:cs typeface="等线" panose="02010600030101010101" charset="-122"/>
              </a:rPr>
              <a:t>表名</a:t>
            </a:r>
            <a:r>
              <a:rPr lang="en-US" altLang="zh-CN" sz="3200" dirty="0">
                <a:solidFill>
                  <a:srgbClr val="FF0000"/>
                </a:solidFill>
                <a:latin typeface="宋体" pitchFamily="2" charset="-122"/>
                <a:cs typeface="等线" panose="02010600030101010101" charset="-122"/>
              </a:rPr>
              <a:t>1&gt;</a:t>
            </a:r>
            <a:r>
              <a:rPr lang="en-US" altLang="zh-CN" sz="3200" dirty="0">
                <a:solidFill>
                  <a:srgbClr val="FF0000"/>
                </a:solidFill>
                <a:latin typeface="宋体" pitchFamily="2" charset="-122"/>
                <a:cs typeface="等线" panose="02010600030101010101" charset="-122"/>
                <a:sym typeface="+mn-ea"/>
              </a:rPr>
              <a:t>.</a:t>
            </a:r>
            <a:r>
              <a:rPr lang="en-US" altLang="zh-CN" sz="3200" dirty="0">
                <a:solidFill>
                  <a:srgbClr val="FF0000"/>
                </a:solidFill>
                <a:latin typeface="宋体" pitchFamily="2" charset="-122"/>
                <a:cs typeface="等线" panose="02010600030101010101" charset="-122"/>
              </a:rPr>
              <a:t>]&lt;</a:t>
            </a:r>
            <a:r>
              <a:rPr lang="zh-CN" altLang="en-US" sz="3200" dirty="0">
                <a:solidFill>
                  <a:srgbClr val="FF0000"/>
                </a:solidFill>
                <a:latin typeface="宋体" pitchFamily="2" charset="-122"/>
                <a:cs typeface="等线" panose="02010600030101010101" charset="-122"/>
              </a:rPr>
              <a:t>列名</a:t>
            </a:r>
            <a:r>
              <a:rPr lang="en-US" altLang="zh-CN" sz="3200" dirty="0">
                <a:solidFill>
                  <a:srgbClr val="FF0000"/>
                </a:solidFill>
                <a:latin typeface="宋体" pitchFamily="2" charset="-122"/>
                <a:cs typeface="等线" panose="02010600030101010101" charset="-122"/>
              </a:rPr>
              <a:t>1&gt;=[&lt;</a:t>
            </a:r>
            <a:r>
              <a:rPr lang="zh-CN" altLang="en-US" sz="3200" dirty="0">
                <a:solidFill>
                  <a:srgbClr val="FF0000"/>
                </a:solidFill>
                <a:latin typeface="宋体" pitchFamily="2" charset="-122"/>
                <a:cs typeface="等线" panose="02010600030101010101" charset="-122"/>
              </a:rPr>
              <a:t>表名</a:t>
            </a:r>
            <a:r>
              <a:rPr lang="en-US" altLang="zh-CN" sz="3200" dirty="0">
                <a:solidFill>
                  <a:srgbClr val="FF0000"/>
                </a:solidFill>
                <a:latin typeface="宋体" pitchFamily="2" charset="-122"/>
                <a:cs typeface="等线" panose="02010600030101010101" charset="-122"/>
              </a:rPr>
              <a:t>2&gt;</a:t>
            </a:r>
            <a:r>
              <a:rPr lang="en-US" altLang="zh-CN" sz="3200" dirty="0">
                <a:solidFill>
                  <a:srgbClr val="FF0000"/>
                </a:solidFill>
                <a:latin typeface="宋体" pitchFamily="2" charset="-122"/>
                <a:cs typeface="等线" panose="02010600030101010101" charset="-122"/>
                <a:sym typeface="+mn-ea"/>
              </a:rPr>
              <a:t>.</a:t>
            </a:r>
            <a:r>
              <a:rPr lang="en-US" altLang="zh-CN" sz="3200" dirty="0">
                <a:solidFill>
                  <a:srgbClr val="FF0000"/>
                </a:solidFill>
                <a:latin typeface="宋体" pitchFamily="2" charset="-122"/>
                <a:cs typeface="等线" panose="02010600030101010101" charset="-122"/>
              </a:rPr>
              <a:t>]&lt;</a:t>
            </a:r>
            <a:r>
              <a:rPr lang="zh-CN" altLang="en-US" sz="3200" dirty="0">
                <a:solidFill>
                  <a:srgbClr val="FF0000"/>
                </a:solidFill>
                <a:latin typeface="宋体" pitchFamily="2" charset="-122"/>
                <a:cs typeface="等线" panose="02010600030101010101" charset="-122"/>
              </a:rPr>
              <a:t>列名</a:t>
            </a:r>
            <a:r>
              <a:rPr lang="en-US" altLang="zh-CN" sz="3200" dirty="0">
                <a:solidFill>
                  <a:srgbClr val="FF0000"/>
                </a:solidFill>
                <a:latin typeface="宋体" pitchFamily="2" charset="-122"/>
                <a:cs typeface="等线" panose="02010600030101010101" charset="-122"/>
              </a:rPr>
              <a:t>2&gt;</a:t>
            </a:r>
            <a:endParaRPr lang="zh-CN" altLang="en-US" sz="2800" dirty="0">
              <a:solidFill>
                <a:srgbClr val="FF0000"/>
              </a:solidFill>
              <a:latin typeface="宋体" pitchFamily="2" charset="-122"/>
              <a:cs typeface="等线" panose="02010600030101010101" charset="-122"/>
            </a:endParaRPr>
          </a:p>
        </p:txBody>
      </p:sp>
      <p:sp>
        <p:nvSpPr>
          <p:cNvPr id="474116" name="AutoShape 4"/>
          <p:cNvSpPr/>
          <p:nvPr/>
        </p:nvSpPr>
        <p:spPr>
          <a:xfrm>
            <a:off x="3059113" y="4581525"/>
            <a:ext cx="4114800" cy="1447800"/>
          </a:xfrm>
          <a:prstGeom prst="irregularSeal1">
            <a:avLst/>
          </a:prstGeom>
          <a:solidFill>
            <a:srgbClr val="FFFFCC"/>
          </a:solidFill>
          <a:ln w="9525" cap="flat" cmpd="sng">
            <a:solidFill>
              <a:schemeClr val="tx1"/>
            </a:solidFill>
            <a:prstDash val="solid"/>
            <a:miter/>
            <a:headEnd type="none" w="med" len="med"/>
            <a:tailEnd type="none" w="med" len="med"/>
          </a:ln>
        </p:spPr>
        <p:txBody>
          <a:bodyPr wrap="none" anchor="ctr" anchorCtr="0"/>
          <a:lstStyle/>
          <a:p>
            <a:pPr algn="ctr"/>
            <a:r>
              <a:rPr lang="zh-CN" altLang="en-US" sz="2400" b="1" dirty="0">
                <a:solidFill>
                  <a:srgbClr val="FF0000"/>
                </a:solidFill>
                <a:latin typeface="Times New Roman" panose="02020603050405020304" pitchFamily="18" charset="0"/>
                <a:ea typeface="宋体" panose="02010600030101010101" pitchFamily="2" charset="-122"/>
              </a:rPr>
              <a:t>必须是可比的</a:t>
            </a:r>
          </a:p>
        </p:txBody>
      </p:sp>
      <p:sp>
        <p:nvSpPr>
          <p:cNvPr id="474117" name="Line 5"/>
          <p:cNvSpPr/>
          <p:nvPr/>
        </p:nvSpPr>
        <p:spPr>
          <a:xfrm flipH="1" flipV="1">
            <a:off x="3492500" y="3871913"/>
            <a:ext cx="698500" cy="842962"/>
          </a:xfrm>
          <a:prstGeom prst="line">
            <a:avLst/>
          </a:prstGeom>
          <a:ln w="57150" cap="flat" cmpd="sng">
            <a:solidFill>
              <a:srgbClr val="00CC00"/>
            </a:solidFill>
            <a:prstDash val="solid"/>
            <a:headEnd type="none" w="med" len="med"/>
            <a:tailEnd type="triangle" w="med" len="med"/>
          </a:ln>
        </p:spPr>
      </p:sp>
      <p:sp>
        <p:nvSpPr>
          <p:cNvPr id="474118" name="Line 6"/>
          <p:cNvSpPr/>
          <p:nvPr/>
        </p:nvSpPr>
        <p:spPr>
          <a:xfrm flipV="1">
            <a:off x="6072188" y="3857625"/>
            <a:ext cx="1000125" cy="928688"/>
          </a:xfrm>
          <a:prstGeom prst="line">
            <a:avLst/>
          </a:prstGeom>
          <a:ln w="57150" cap="flat" cmpd="sng">
            <a:solidFill>
              <a:srgbClr val="00CC00"/>
            </a:solidFill>
            <a:prstDash val="solid"/>
            <a:headEnd type="none" w="med" len="med"/>
            <a:tailEnd type="triangle" w="med" len="med"/>
          </a:ln>
        </p:spPr>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grpId="0" nodeType="clickEffect">
                                  <p:stCondLst>
                                    <p:cond delay="0"/>
                                  </p:stCondLst>
                                  <p:childTnLst>
                                    <p:set>
                                      <p:cBhvr>
                                        <p:cTn id="6" dur="1" fill="hold">
                                          <p:stCondLst>
                                            <p:cond delay="0"/>
                                          </p:stCondLst>
                                        </p:cTn>
                                        <p:tgtEl>
                                          <p:spTgt spid="474116"/>
                                        </p:tgtEl>
                                        <p:attrNameLst>
                                          <p:attrName>style.visibility</p:attrName>
                                        </p:attrNameLst>
                                      </p:cBhvr>
                                      <p:to>
                                        <p:strVal val="visible"/>
                                      </p:to>
                                    </p:set>
                                    <p:anim calcmode="lin" valueType="num">
                                      <p:cBhvr>
                                        <p:cTn id="7" dur="500" fill="hold"/>
                                        <p:tgtEl>
                                          <p:spTgt spid="474116"/>
                                        </p:tgtEl>
                                        <p:attrNameLst>
                                          <p:attrName>ppt_w</p:attrName>
                                        </p:attrNameLst>
                                      </p:cBhvr>
                                      <p:tavLst>
                                        <p:tav tm="0">
                                          <p:val>
                                            <p:fltVal val="0"/>
                                          </p:val>
                                        </p:tav>
                                        <p:tav tm="100000">
                                          <p:val>
                                            <p:strVal val="#ppt_w"/>
                                          </p:val>
                                        </p:tav>
                                      </p:tavLst>
                                    </p:anim>
                                    <p:anim calcmode="lin" valueType="num">
                                      <p:cBhvr>
                                        <p:cTn id="8" dur="500" fill="hold"/>
                                        <p:tgtEl>
                                          <p:spTgt spid="474116"/>
                                        </p:tgtEl>
                                        <p:attrNameLst>
                                          <p:attrName>ppt_h</p:attrName>
                                        </p:attrNameLst>
                                      </p:cBhvr>
                                      <p:tavLst>
                                        <p:tav tm="0">
                                          <p:val>
                                            <p:fltVal val="0"/>
                                          </p:val>
                                        </p:tav>
                                        <p:tav tm="100000">
                                          <p:val>
                                            <p:strVal val="#ppt_h"/>
                                          </p:val>
                                        </p:tav>
                                      </p:tavLst>
                                    </p:anim>
                                  </p:childTnLst>
                                  <p:subTnLst>
                                    <p:audio>
                                      <p:cMediaNode>
                                        <p:cTn display="0" masterRel="sameClick">
                                          <p:stCondLst>
                                            <p:cond evt="begin" delay="0">
                                              <p:tn val="5"/>
                                            </p:cond>
                                          </p:stCondLst>
                                          <p:endCondLst>
                                            <p:cond evt="onStopAudio" delay="0">
                                              <p:tgtEl>
                                                <p:sldTgt/>
                                              </p:tgtEl>
                                            </p:cond>
                                          </p:endCondLst>
                                        </p:cTn>
                                        <p:tgtEl>
                                          <p:sndTgt r:embed="rId2" name="carbrake.wav"/>
                                        </p:tgtEl>
                                      </p:cMediaNode>
                                    </p:audio>
                                  </p:subTnLst>
                                </p:cTn>
                              </p:par>
                            </p:childTnLst>
                          </p:cTn>
                        </p:par>
                        <p:par>
                          <p:cTn id="9" fill="hold">
                            <p:stCondLst>
                              <p:cond delay="500"/>
                            </p:stCondLst>
                            <p:childTnLst>
                              <p:par>
                                <p:cTn id="10" presetID="16" presetClass="entr" presetSubtype="37" fill="hold" nodeType="afterEffect">
                                  <p:stCondLst>
                                    <p:cond delay="0"/>
                                  </p:stCondLst>
                                  <p:childTnLst>
                                    <p:set>
                                      <p:cBhvr>
                                        <p:cTn id="11" dur="1" fill="hold">
                                          <p:stCondLst>
                                            <p:cond delay="0"/>
                                          </p:stCondLst>
                                        </p:cTn>
                                        <p:tgtEl>
                                          <p:spTgt spid="474117"/>
                                        </p:tgtEl>
                                        <p:attrNameLst>
                                          <p:attrName>style.visibility</p:attrName>
                                        </p:attrNameLst>
                                      </p:cBhvr>
                                      <p:to>
                                        <p:strVal val="visible"/>
                                      </p:to>
                                    </p:set>
                                    <p:animEffect transition="in" filter="barn(outVertical)">
                                      <p:cBhvr>
                                        <p:cTn id="12" dur="500"/>
                                        <p:tgtEl>
                                          <p:spTgt spid="474117"/>
                                        </p:tgtEl>
                                      </p:cBhvr>
                                    </p:animEffect>
                                  </p:childTnLst>
                                </p:cTn>
                              </p:par>
                            </p:childTnLst>
                          </p:cTn>
                        </p:par>
                        <p:par>
                          <p:cTn id="13" fill="hold">
                            <p:stCondLst>
                              <p:cond delay="1000"/>
                            </p:stCondLst>
                            <p:childTnLst>
                              <p:par>
                                <p:cTn id="14" presetID="16" presetClass="entr" presetSubtype="37" fill="hold" nodeType="afterEffect">
                                  <p:stCondLst>
                                    <p:cond delay="0"/>
                                  </p:stCondLst>
                                  <p:childTnLst>
                                    <p:set>
                                      <p:cBhvr>
                                        <p:cTn id="15" dur="1" fill="hold">
                                          <p:stCondLst>
                                            <p:cond delay="0"/>
                                          </p:stCondLst>
                                        </p:cTn>
                                        <p:tgtEl>
                                          <p:spTgt spid="474118"/>
                                        </p:tgtEl>
                                        <p:attrNameLst>
                                          <p:attrName>style.visibility</p:attrName>
                                        </p:attrNameLst>
                                      </p:cBhvr>
                                      <p:to>
                                        <p:strVal val="visible"/>
                                      </p:to>
                                    </p:set>
                                    <p:animEffect transition="in" filter="barn(outVertical)">
                                      <p:cBhvr>
                                        <p:cTn id="16" dur="500"/>
                                        <p:tgtEl>
                                          <p:spTgt spid="4741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4116" grpId="0" animBg="1"/>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p:cNvSpPr>
          <p:nvPr>
            <p:ph type="title"/>
          </p:nvPr>
        </p:nvSpPr>
        <p:spPr>
          <a:xfrm>
            <a:off x="500063" y="152400"/>
            <a:ext cx="8001000" cy="685800"/>
          </a:xfrm>
          <a:noFill/>
          <a:ln w="9525">
            <a:noFill/>
          </a:ln>
        </p:spPr>
        <p:txBody>
          <a:bodyPr vert="horz" wrap="square" lIns="91440" tIns="45720" rIns="91440" bIns="45720" rtlCol="0" anchor="ctr" anchorCtr="0">
            <a:normAutofit fontScale="90000"/>
          </a:bodyPr>
          <a:lstStyle/>
          <a:p>
            <a:pPr lvl="0" algn="ctr" eaLnBrk="1" hangingPunct="1">
              <a:buClrTx/>
              <a:buSzTx/>
              <a:buFontTx/>
            </a:pPr>
            <a:r>
              <a:rPr lang="zh-CN" altLang="en-US" sz="4000" b="0" dirty="0">
                <a:latin typeface="黑体" panose="02010609060101010101" pitchFamily="2" charset="-122"/>
                <a:ea typeface="黑体" panose="02010609060101010101" pitchFamily="2" charset="-122"/>
                <a:sym typeface="+mn-ea"/>
              </a:rPr>
              <a:t>1 内连接</a:t>
            </a:r>
          </a:p>
        </p:txBody>
      </p:sp>
      <p:sp>
        <p:nvSpPr>
          <p:cNvPr id="60419" name="Rectangle 3"/>
          <p:cNvSpPr>
            <a:spLocks noGrp="1"/>
          </p:cNvSpPr>
          <p:nvPr>
            <p:ph idx="1"/>
          </p:nvPr>
        </p:nvSpPr>
        <p:spPr>
          <a:xfrm>
            <a:off x="539750" y="1412875"/>
            <a:ext cx="8001000" cy="4622800"/>
          </a:xfrm>
        </p:spPr>
        <p:txBody>
          <a:bodyPr vert="horz" wrap="square" lIns="91440" tIns="45720" rIns="91440" bIns="45720" anchor="t" anchorCtr="0"/>
          <a:lstStyle/>
          <a:p>
            <a:pPr eaLnBrk="1" hangingPunct="1"/>
            <a:r>
              <a:rPr lang="en-US" altLang="zh-CN" sz="3600" dirty="0">
                <a:latin typeface="宋体" pitchFamily="2" charset="-122"/>
                <a:cs typeface="等线" panose="02010600030101010101" charset="-122"/>
              </a:rPr>
              <a:t>SQL-92 </a:t>
            </a:r>
            <a:r>
              <a:rPr lang="zh-CN" altLang="en-US" sz="3600" dirty="0">
                <a:latin typeface="宋体" pitchFamily="2" charset="-122"/>
                <a:cs typeface="等线" panose="02010600030101010101" charset="-122"/>
              </a:rPr>
              <a:t>内连接语法如下：</a:t>
            </a:r>
          </a:p>
          <a:p>
            <a:pPr algn="just" eaLnBrk="1" hangingPunct="1">
              <a:spcBef>
                <a:spcPts val="1200"/>
              </a:spcBef>
              <a:buFont typeface="Wingdings" panose="05000000000000000000" pitchFamily="2" charset="2"/>
              <a:buNone/>
            </a:pPr>
            <a:r>
              <a:rPr lang="zh-CN" altLang="en-US" sz="3500" dirty="0">
                <a:solidFill>
                  <a:srgbClr val="FF0000"/>
                </a:solidFill>
                <a:latin typeface="宋体" pitchFamily="2" charset="-122"/>
                <a:cs typeface="等线" panose="02010600030101010101" charset="-122"/>
              </a:rPr>
              <a:t>    </a:t>
            </a:r>
            <a:r>
              <a:rPr lang="en-US" altLang="zh-CN" sz="3500" dirty="0">
                <a:solidFill>
                  <a:srgbClr val="D60093"/>
                </a:solidFill>
                <a:latin typeface="宋体" pitchFamily="2" charset="-122"/>
                <a:cs typeface="等线" panose="02010600030101010101" charset="-122"/>
              </a:rPr>
              <a:t>SELECT …</a:t>
            </a:r>
          </a:p>
          <a:p>
            <a:pPr algn="just" eaLnBrk="1" hangingPunct="1">
              <a:buFont typeface="Wingdings" panose="05000000000000000000" pitchFamily="2" charset="2"/>
              <a:buNone/>
            </a:pPr>
            <a:r>
              <a:rPr lang="en-US" altLang="zh-CN" sz="3500" dirty="0">
                <a:solidFill>
                  <a:srgbClr val="FF0000"/>
                </a:solidFill>
                <a:latin typeface="宋体" pitchFamily="2" charset="-122"/>
                <a:cs typeface="等线" panose="02010600030101010101" charset="-122"/>
              </a:rPr>
              <a:t>       FROM </a:t>
            </a:r>
            <a:r>
              <a:rPr lang="zh-CN" altLang="en-US" sz="3500" dirty="0">
                <a:solidFill>
                  <a:srgbClr val="FF0000"/>
                </a:solidFill>
                <a:latin typeface="宋体" pitchFamily="2" charset="-122"/>
                <a:cs typeface="等线" panose="02010600030101010101" charset="-122"/>
              </a:rPr>
              <a:t>表名  </a:t>
            </a:r>
          </a:p>
          <a:p>
            <a:pPr algn="just" eaLnBrk="1" hangingPunct="1">
              <a:buFont typeface="Wingdings" panose="05000000000000000000" pitchFamily="2" charset="2"/>
              <a:buNone/>
            </a:pPr>
            <a:r>
              <a:rPr lang="en-US" altLang="zh-CN" sz="3500" dirty="0">
                <a:solidFill>
                  <a:srgbClr val="FF0000"/>
                </a:solidFill>
                <a:latin typeface="宋体" pitchFamily="2" charset="-122"/>
                <a:cs typeface="等线" panose="02010600030101010101" charset="-122"/>
              </a:rPr>
              <a:t>       [INNER] JOIN</a:t>
            </a:r>
            <a:r>
              <a:rPr lang="zh-CN" altLang="en-US" sz="3500" dirty="0">
                <a:solidFill>
                  <a:srgbClr val="FF0000"/>
                </a:solidFill>
                <a:latin typeface="宋体" pitchFamily="2" charset="-122"/>
                <a:cs typeface="等线" panose="02010600030101010101" charset="-122"/>
              </a:rPr>
              <a:t> 被连接表</a:t>
            </a:r>
          </a:p>
          <a:p>
            <a:pPr eaLnBrk="1" hangingPunct="1">
              <a:buFont typeface="Wingdings" panose="05000000000000000000" pitchFamily="2" charset="2"/>
              <a:buNone/>
            </a:pPr>
            <a:r>
              <a:rPr lang="zh-CN" altLang="en-US" sz="3500" dirty="0">
                <a:solidFill>
                  <a:srgbClr val="FF0000"/>
                </a:solidFill>
                <a:latin typeface="宋体" pitchFamily="2" charset="-122"/>
                <a:cs typeface="等线" panose="02010600030101010101" charset="-122"/>
              </a:rPr>
              <a:t>       </a:t>
            </a:r>
            <a:r>
              <a:rPr lang="en-US" altLang="zh-CN" sz="3500" dirty="0">
                <a:solidFill>
                  <a:srgbClr val="FF0000"/>
                </a:solidFill>
                <a:latin typeface="宋体" pitchFamily="2" charset="-122"/>
                <a:cs typeface="等线" panose="02010600030101010101" charset="-122"/>
              </a:rPr>
              <a:t>ON </a:t>
            </a:r>
            <a:r>
              <a:rPr lang="zh-CN" altLang="en-US" sz="3500" dirty="0">
                <a:solidFill>
                  <a:srgbClr val="FF0000"/>
                </a:solidFill>
                <a:latin typeface="宋体" pitchFamily="2" charset="-122"/>
                <a:cs typeface="等线" panose="02010600030101010101" charset="-122"/>
              </a:rPr>
              <a:t>连接条件</a:t>
            </a:r>
          </a:p>
        </p:txBody>
      </p:sp>
    </p:spTree>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2"/>
          <p:cNvSpPr>
            <a:spLocks noGrp="1"/>
          </p:cNvSpPr>
          <p:nvPr>
            <p:ph type="title"/>
          </p:nvPr>
        </p:nvSpPr>
        <p:spPr>
          <a:xfrm>
            <a:off x="500063" y="152400"/>
            <a:ext cx="8001000" cy="685800"/>
          </a:xfrm>
          <a:noFill/>
          <a:ln w="9525">
            <a:noFill/>
          </a:ln>
        </p:spPr>
        <p:txBody>
          <a:bodyPr vert="horz" wrap="square" lIns="91440" tIns="45720" rIns="91440" bIns="45720" rtlCol="0" anchor="ctr" anchorCtr="0">
            <a:normAutofit fontScale="90000"/>
          </a:bodyPr>
          <a:lstStyle/>
          <a:p>
            <a:pPr lvl="0" algn="ctr" eaLnBrk="1" hangingPunct="1">
              <a:buClrTx/>
              <a:buSzTx/>
              <a:buFontTx/>
            </a:pPr>
            <a:r>
              <a:rPr lang="zh-CN" altLang="en-US" sz="4000" b="0" dirty="0">
                <a:latin typeface="黑体" panose="02010609060101010101" pitchFamily="2" charset="-122"/>
                <a:ea typeface="黑体" panose="02010609060101010101" pitchFamily="2" charset="-122"/>
                <a:sym typeface="+mn-ea"/>
              </a:rPr>
              <a:t>示例</a:t>
            </a:r>
          </a:p>
        </p:txBody>
      </p:sp>
      <p:sp>
        <p:nvSpPr>
          <p:cNvPr id="477187" name="Rectangle 3"/>
          <p:cNvSpPr>
            <a:spLocks noGrp="1"/>
          </p:cNvSpPr>
          <p:nvPr>
            <p:ph idx="1"/>
          </p:nvPr>
        </p:nvSpPr>
        <p:spPr>
          <a:xfrm>
            <a:off x="323528" y="1052736"/>
            <a:ext cx="8568630" cy="4759325"/>
          </a:xfrm>
        </p:spPr>
        <p:txBody>
          <a:bodyPr vert="horz" wrap="square" lIns="91440" tIns="45720" rIns="91440" bIns="45720" anchor="t" anchorCtr="0"/>
          <a:lstStyle/>
          <a:p>
            <a:pPr marL="0" indent="0" eaLnBrk="1" hangingPunct="1">
              <a:buNone/>
            </a:pPr>
            <a:r>
              <a:rPr lang="zh-CN" altLang="en-US" sz="2800" dirty="0" smtClean="0">
                <a:latin typeface="宋体" pitchFamily="2" charset="-122"/>
                <a:cs typeface="等线" panose="02010600030101010101" charset="-122"/>
              </a:rPr>
              <a:t>例</a:t>
            </a:r>
            <a:r>
              <a:rPr lang="en-US" altLang="zh-CN" sz="2800" dirty="0" smtClean="0"/>
              <a:t>4.40 </a:t>
            </a:r>
            <a:r>
              <a:rPr lang="zh-CN" altLang="en-US" sz="2800" dirty="0" smtClean="0">
                <a:latin typeface="宋体" pitchFamily="2" charset="-122"/>
                <a:cs typeface="等线" panose="02010600030101010101" charset="-122"/>
              </a:rPr>
              <a:t>查询</a:t>
            </a:r>
            <a:r>
              <a:rPr lang="zh-CN" altLang="en-US" sz="2800" dirty="0">
                <a:latin typeface="宋体" pitchFamily="2" charset="-122"/>
                <a:cs typeface="等线" panose="02010600030101010101" charset="-122"/>
              </a:rPr>
              <a:t>每个学生及其选课的详细信息。</a:t>
            </a:r>
          </a:p>
          <a:p>
            <a:pPr lvl="1" algn="just" eaLnBrk="1" hangingPunct="1">
              <a:spcBef>
                <a:spcPts val="0"/>
              </a:spcBef>
              <a:buFont typeface="Wingdings" panose="05000000000000000000" pitchFamily="2" charset="2"/>
              <a:buNone/>
            </a:pPr>
            <a:r>
              <a:rPr lang="en-US" altLang="zh-CN" sz="2800" dirty="0">
                <a:solidFill>
                  <a:srgbClr val="0000FF"/>
                </a:solidFill>
                <a:latin typeface="宋体" pitchFamily="2" charset="-122"/>
                <a:cs typeface="等线" panose="02010600030101010101" charset="-122"/>
              </a:rPr>
              <a:t>SELECT * FROM Student </a:t>
            </a:r>
          </a:p>
          <a:p>
            <a:pPr lvl="1" algn="just" eaLnBrk="1" hangingPunct="1">
              <a:spcBef>
                <a:spcPts val="0"/>
              </a:spcBef>
              <a:buFont typeface="Wingdings" panose="05000000000000000000" pitchFamily="2" charset="2"/>
              <a:buNone/>
            </a:pPr>
            <a:r>
              <a:rPr lang="en-US" altLang="zh-CN" sz="2800" dirty="0">
                <a:solidFill>
                  <a:srgbClr val="0000FF"/>
                </a:solidFill>
                <a:latin typeface="宋体" pitchFamily="2" charset="-122"/>
                <a:cs typeface="等线" panose="02010600030101010101" charset="-122"/>
              </a:rPr>
              <a:t>   </a:t>
            </a:r>
            <a:r>
              <a:rPr lang="en-US" altLang="zh-CN" sz="2800" dirty="0">
                <a:solidFill>
                  <a:srgbClr val="FF0000"/>
                </a:solidFill>
                <a:latin typeface="宋体" pitchFamily="2" charset="-122"/>
                <a:cs typeface="等线" panose="02010600030101010101" charset="-122"/>
              </a:rPr>
              <a:t>INNER JOIN</a:t>
            </a:r>
            <a:r>
              <a:rPr lang="en-US" altLang="zh-CN" sz="2800" dirty="0">
                <a:solidFill>
                  <a:srgbClr val="0000FF"/>
                </a:solidFill>
                <a:latin typeface="宋体" pitchFamily="2" charset="-122"/>
                <a:cs typeface="等线" panose="02010600030101010101" charset="-122"/>
              </a:rPr>
              <a:t>  SC</a:t>
            </a:r>
          </a:p>
          <a:p>
            <a:pPr lvl="1" algn="just" eaLnBrk="1" hangingPunct="1">
              <a:spcBef>
                <a:spcPts val="0"/>
              </a:spcBef>
              <a:buFont typeface="Wingdings" panose="05000000000000000000" pitchFamily="2" charset="2"/>
              <a:buNone/>
            </a:pPr>
            <a:r>
              <a:rPr lang="en-US" altLang="zh-CN" sz="2800" dirty="0">
                <a:solidFill>
                  <a:srgbClr val="0000FF"/>
                </a:solidFill>
                <a:latin typeface="宋体" pitchFamily="2" charset="-122"/>
                <a:cs typeface="等线" panose="02010600030101010101" charset="-122"/>
              </a:rPr>
              <a:t>   ON Student.Sno = SC.Sno</a:t>
            </a:r>
          </a:p>
          <a:p>
            <a:pPr algn="just" eaLnBrk="1" hangingPunct="1">
              <a:spcBef>
                <a:spcPts val="1800"/>
              </a:spcBef>
            </a:pPr>
            <a:r>
              <a:rPr lang="zh-CN" altLang="en-US" sz="2800" dirty="0">
                <a:latin typeface="宋体" pitchFamily="2" charset="-122"/>
                <a:cs typeface="等线" panose="02010600030101010101" charset="-122"/>
              </a:rPr>
              <a:t>结果中有重复的列：</a:t>
            </a:r>
            <a:r>
              <a:rPr lang="en-US" altLang="zh-CN" sz="2800" dirty="0">
                <a:latin typeface="宋体" pitchFamily="2" charset="-122"/>
                <a:cs typeface="等线" panose="02010600030101010101" charset="-122"/>
              </a:rPr>
              <a:t>Sno</a:t>
            </a:r>
            <a:r>
              <a:rPr lang="zh-CN" altLang="en-US" sz="2800" dirty="0">
                <a:latin typeface="宋体" pitchFamily="2" charset="-122"/>
                <a:cs typeface="等线" panose="02010600030101010101" charset="-122"/>
              </a:rPr>
              <a:t>。</a:t>
            </a:r>
            <a:r>
              <a:rPr lang="en-US" altLang="zh-CN" sz="2800" dirty="0">
                <a:latin typeface="宋体" pitchFamily="2" charset="-122"/>
                <a:cs typeface="等线" panose="02010600030101010101" charset="-122"/>
              </a:rPr>
              <a:t>	</a:t>
            </a:r>
          </a:p>
        </p:txBody>
      </p:sp>
      <p:sp>
        <p:nvSpPr>
          <p:cNvPr id="4" name="Rectangle 3"/>
          <p:cNvSpPr txBox="1">
            <a:spLocks/>
          </p:cNvSpPr>
          <p:nvPr/>
        </p:nvSpPr>
        <p:spPr>
          <a:xfrm>
            <a:off x="200773" y="3861048"/>
            <a:ext cx="8820067" cy="2304256"/>
          </a:xfrm>
          <a:prstGeom prst="rect">
            <a:avLst/>
          </a:prstGeom>
          <a:noFill/>
          <a:ln w="9525">
            <a:noFill/>
          </a:ln>
        </p:spPr>
        <p:txBody>
          <a:bodyPr vert="horz" wrap="square" lIns="91440" tIns="45720" rIns="91440" bIns="45720" anchor="t" anchorCtr="0"/>
          <a:lstStyle>
            <a:lvl1pPr marL="342900" indent="-342900" algn="just" rtl="0" eaLnBrk="0" fontAlgn="base" hangingPunct="0">
              <a:spcBef>
                <a:spcPct val="20000"/>
              </a:spcBef>
              <a:spcAft>
                <a:spcPct val="0"/>
              </a:spcAft>
              <a:buClr>
                <a:schemeClr val="tx1"/>
              </a:buClr>
              <a:buFont typeface="Wingdings" panose="05000000000000000000" pitchFamily="2" charset="2"/>
              <a:buChar char="v"/>
              <a:defRPr sz="3400" b="1">
                <a:solidFill>
                  <a:schemeClr val="tx2"/>
                </a:solidFill>
                <a:latin typeface="Times New Roman" pitchFamily="18" charset="0"/>
                <a:ea typeface="宋体" pitchFamily="2" charset="-122"/>
                <a:cs typeface="Times New Roman" pitchFamily="18" charset="0"/>
              </a:defRPr>
            </a:lvl1pPr>
            <a:lvl2pPr marL="742950" indent="-285750" algn="just" rtl="0" eaLnBrk="0" fontAlgn="base" hangingPunct="0">
              <a:spcBef>
                <a:spcPct val="20000"/>
              </a:spcBef>
              <a:spcAft>
                <a:spcPct val="0"/>
              </a:spcAft>
              <a:buClr>
                <a:schemeClr val="tx2"/>
              </a:buClr>
              <a:buFont typeface="Wingdings" panose="05000000000000000000" pitchFamily="2" charset="2"/>
              <a:buChar char="§"/>
              <a:defRPr sz="3200" b="1">
                <a:solidFill>
                  <a:schemeClr val="tx2"/>
                </a:solidFill>
                <a:latin typeface="Times New Roman" pitchFamily="18" charset="0"/>
                <a:ea typeface="宋体" pitchFamily="2" charset="-122"/>
                <a:cs typeface="Times New Roman" pitchFamily="18" charset="0"/>
              </a:defRPr>
            </a:lvl2pPr>
            <a:lvl3pPr marL="1143000" indent="-228600" algn="just" rtl="0" eaLnBrk="0" fontAlgn="base" hangingPunct="0">
              <a:spcBef>
                <a:spcPct val="20000"/>
              </a:spcBef>
              <a:spcAft>
                <a:spcPct val="0"/>
              </a:spcAft>
              <a:buClr>
                <a:schemeClr val="hlink"/>
              </a:buClr>
              <a:buChar char="•"/>
              <a:defRPr sz="2800" b="1">
                <a:solidFill>
                  <a:schemeClr val="tx2"/>
                </a:solidFill>
                <a:latin typeface="Times New Roman" pitchFamily="18" charset="0"/>
                <a:ea typeface="宋体" pitchFamily="2" charset="-122"/>
                <a:cs typeface="Times New Roman" pitchFamily="18" charset="0"/>
              </a:defRPr>
            </a:lvl3pPr>
            <a:lvl4pPr marL="1600200" indent="-228600" algn="just" rtl="0" eaLnBrk="0" fontAlgn="base" hangingPunct="0">
              <a:spcBef>
                <a:spcPct val="20000"/>
              </a:spcBef>
              <a:spcAft>
                <a:spcPct val="0"/>
              </a:spcAft>
              <a:buChar char="–"/>
              <a:defRPr sz="2000" b="1">
                <a:solidFill>
                  <a:schemeClr val="tx2"/>
                </a:solidFill>
                <a:latin typeface="Times New Roman" pitchFamily="18" charset="0"/>
                <a:ea typeface="宋体" pitchFamily="2" charset="-122"/>
                <a:cs typeface="Times New Roman" pitchFamily="18" charset="0"/>
              </a:defRPr>
            </a:lvl4pPr>
            <a:lvl5pPr marL="2057400" indent="-228600" algn="just" rtl="0" eaLnBrk="0" fontAlgn="base" hangingPunct="0">
              <a:spcBef>
                <a:spcPct val="20000"/>
              </a:spcBef>
              <a:spcAft>
                <a:spcPct val="0"/>
              </a:spcAft>
              <a:buChar char="»"/>
              <a:defRPr sz="2000" b="1">
                <a:solidFill>
                  <a:schemeClr val="tx2"/>
                </a:solidFill>
                <a:latin typeface="Times New Roman" pitchFamily="18" charset="0"/>
                <a:ea typeface="宋体" pitchFamily="2" charset="-122"/>
                <a:cs typeface="Times New Roman" pitchFamily="18" charset="0"/>
              </a:defRPr>
            </a:lvl5pPr>
            <a:lvl6pPr marL="2514600" indent="-228600" algn="l" rtl="0" fontAlgn="base">
              <a:spcBef>
                <a:spcPct val="20000"/>
              </a:spcBef>
              <a:spcAft>
                <a:spcPct val="0"/>
              </a:spcAft>
              <a:buChar char="»"/>
              <a:defRPr sz="2000">
                <a:solidFill>
                  <a:schemeClr val="tx2"/>
                </a:solidFill>
                <a:latin typeface="Arial" panose="020B0604020202020204" pitchFamily="34" charset="0"/>
              </a:defRPr>
            </a:lvl6pPr>
            <a:lvl7pPr marL="2971800" indent="-228600" algn="l" rtl="0" fontAlgn="base">
              <a:spcBef>
                <a:spcPct val="20000"/>
              </a:spcBef>
              <a:spcAft>
                <a:spcPct val="0"/>
              </a:spcAft>
              <a:buChar char="»"/>
              <a:defRPr sz="2000">
                <a:solidFill>
                  <a:schemeClr val="tx2"/>
                </a:solidFill>
                <a:latin typeface="Arial" panose="020B0604020202020204" pitchFamily="34" charset="0"/>
              </a:defRPr>
            </a:lvl7pPr>
            <a:lvl8pPr marL="3429000" indent="-228600" algn="l" rtl="0" fontAlgn="base">
              <a:spcBef>
                <a:spcPct val="20000"/>
              </a:spcBef>
              <a:spcAft>
                <a:spcPct val="0"/>
              </a:spcAft>
              <a:buChar char="»"/>
              <a:defRPr sz="2000">
                <a:solidFill>
                  <a:schemeClr val="tx2"/>
                </a:solidFill>
                <a:latin typeface="Arial" panose="020B0604020202020204" pitchFamily="34" charset="0"/>
              </a:defRPr>
            </a:lvl8pPr>
            <a:lvl9pPr marL="3886200" indent="-228600" algn="l" rtl="0" fontAlgn="base">
              <a:spcBef>
                <a:spcPct val="20000"/>
              </a:spcBef>
              <a:spcAft>
                <a:spcPct val="0"/>
              </a:spcAft>
              <a:buChar char="»"/>
              <a:defRPr sz="2000">
                <a:solidFill>
                  <a:schemeClr val="tx2"/>
                </a:solidFill>
                <a:latin typeface="Arial" panose="020B0604020202020204" pitchFamily="34" charset="0"/>
              </a:defRPr>
            </a:lvl9pPr>
          </a:lstStyle>
          <a:p>
            <a:pPr marL="0" indent="0" eaLnBrk="1" hangingPunct="1">
              <a:buNone/>
            </a:pPr>
            <a:r>
              <a:rPr lang="zh-CN" altLang="en-US" sz="2800" dirty="0" smtClean="0">
                <a:latin typeface="宋体" pitchFamily="2" charset="-122"/>
                <a:cs typeface="等线" panose="02010600030101010101" charset="-122"/>
              </a:rPr>
              <a:t>例</a:t>
            </a:r>
            <a:r>
              <a:rPr lang="en-US" altLang="zh-CN" sz="2800" dirty="0" smtClean="0"/>
              <a:t>4.41 </a:t>
            </a:r>
            <a:r>
              <a:rPr lang="zh-CN" altLang="en-US" sz="2800" dirty="0" smtClean="0">
                <a:latin typeface="宋体" pitchFamily="2" charset="-122"/>
                <a:cs typeface="等线" panose="02010600030101010101" charset="-122"/>
              </a:rPr>
              <a:t>去掉例</a:t>
            </a:r>
            <a:r>
              <a:rPr lang="en-US" altLang="zh-CN" sz="2800" dirty="0" smtClean="0">
                <a:latin typeface="宋体" pitchFamily="2" charset="-122"/>
                <a:cs typeface="等线" panose="02010600030101010101" charset="-122"/>
              </a:rPr>
              <a:t>40</a:t>
            </a:r>
            <a:r>
              <a:rPr lang="zh-CN" altLang="en-US" sz="2800" dirty="0" smtClean="0">
                <a:latin typeface="宋体" pitchFamily="2" charset="-122"/>
                <a:cs typeface="等线" panose="02010600030101010101" charset="-122"/>
              </a:rPr>
              <a:t>中的重复列。</a:t>
            </a:r>
            <a:endParaRPr lang="en-US" altLang="zh-CN" sz="2800" dirty="0" smtClean="0">
              <a:latin typeface="宋体" pitchFamily="2" charset="-122"/>
              <a:cs typeface="等线" panose="02010600030101010101" charset="-122"/>
            </a:endParaRPr>
          </a:p>
          <a:p>
            <a:pPr marL="0" indent="0" eaLnBrk="1" hangingPunct="1">
              <a:buFont typeface="Wingdings" panose="05000000000000000000" pitchFamily="2" charset="2"/>
              <a:buNone/>
            </a:pPr>
            <a:r>
              <a:rPr lang="en-US" altLang="zh-CN" sz="2600" dirty="0" smtClean="0">
                <a:solidFill>
                  <a:srgbClr val="0000FF"/>
                </a:solidFill>
                <a:latin typeface="宋体" pitchFamily="2" charset="-122"/>
                <a:cs typeface="等线" panose="02010600030101010101" charset="-122"/>
              </a:rPr>
              <a:t>SELECT </a:t>
            </a:r>
            <a:r>
              <a:rPr lang="en-US" altLang="zh-CN" sz="2600" dirty="0" err="1" smtClean="0">
                <a:solidFill>
                  <a:srgbClr val="0000FF"/>
                </a:solidFill>
                <a:latin typeface="宋体" pitchFamily="2" charset="-122"/>
                <a:cs typeface="等线" panose="02010600030101010101" charset="-122"/>
              </a:rPr>
              <a:t>Student.Sno,Sname,Ssex,Sage,Sdept,Cno</a:t>
            </a:r>
            <a:r>
              <a:rPr lang="en-US" altLang="zh-CN" sz="2600" dirty="0" smtClean="0">
                <a:solidFill>
                  <a:srgbClr val="0000FF"/>
                </a:solidFill>
                <a:latin typeface="宋体" pitchFamily="2" charset="-122"/>
                <a:cs typeface="等线" panose="02010600030101010101" charset="-122"/>
              </a:rPr>
              <a:t>, Grade  </a:t>
            </a:r>
          </a:p>
          <a:p>
            <a:pPr lvl="1" eaLnBrk="1" hangingPunct="1">
              <a:buFont typeface="Wingdings" panose="05000000000000000000" pitchFamily="2" charset="2"/>
              <a:buNone/>
            </a:pPr>
            <a:r>
              <a:rPr lang="en-US" altLang="zh-CN" sz="2800" dirty="0" smtClean="0">
                <a:solidFill>
                  <a:srgbClr val="0000FF"/>
                </a:solidFill>
                <a:latin typeface="宋体" pitchFamily="2" charset="-122"/>
                <a:cs typeface="等线" panose="02010600030101010101" charset="-122"/>
              </a:rPr>
              <a:t>  FROM Student  </a:t>
            </a:r>
            <a:r>
              <a:rPr lang="en-US" altLang="zh-CN" sz="2800" dirty="0" smtClean="0">
                <a:solidFill>
                  <a:srgbClr val="FF0000"/>
                </a:solidFill>
                <a:latin typeface="宋体" pitchFamily="2" charset="-122"/>
                <a:cs typeface="等线" panose="02010600030101010101" charset="-122"/>
              </a:rPr>
              <a:t>JOIN</a:t>
            </a:r>
            <a:r>
              <a:rPr lang="en-US" altLang="zh-CN" sz="2800" dirty="0" smtClean="0">
                <a:solidFill>
                  <a:srgbClr val="0000FF"/>
                </a:solidFill>
                <a:latin typeface="宋体" pitchFamily="2" charset="-122"/>
                <a:cs typeface="等线" panose="02010600030101010101" charset="-122"/>
              </a:rPr>
              <a:t>  SC  </a:t>
            </a:r>
          </a:p>
          <a:p>
            <a:pPr lvl="1" eaLnBrk="1" hangingPunct="1">
              <a:buFont typeface="Wingdings" panose="05000000000000000000" pitchFamily="2" charset="2"/>
              <a:buNone/>
            </a:pPr>
            <a:r>
              <a:rPr lang="en-US" altLang="zh-CN" sz="2800" dirty="0" smtClean="0">
                <a:solidFill>
                  <a:srgbClr val="0000FF"/>
                </a:solidFill>
                <a:latin typeface="宋体" pitchFamily="2" charset="-122"/>
                <a:cs typeface="等线" panose="02010600030101010101" charset="-122"/>
              </a:rPr>
              <a:t>       ON  </a:t>
            </a:r>
            <a:r>
              <a:rPr lang="en-US" altLang="zh-CN" sz="2800" dirty="0" err="1" smtClean="0">
                <a:solidFill>
                  <a:srgbClr val="0000FF"/>
                </a:solidFill>
                <a:latin typeface="宋体" pitchFamily="2" charset="-122"/>
                <a:cs typeface="等线" panose="02010600030101010101" charset="-122"/>
              </a:rPr>
              <a:t>Student.Sno</a:t>
            </a:r>
            <a:r>
              <a:rPr lang="en-US" altLang="zh-CN" sz="2800" dirty="0" smtClean="0">
                <a:solidFill>
                  <a:srgbClr val="0000FF"/>
                </a:solidFill>
                <a:latin typeface="宋体" pitchFamily="2" charset="-122"/>
                <a:cs typeface="等线" panose="02010600030101010101" charset="-122"/>
              </a:rPr>
              <a:t> = </a:t>
            </a:r>
            <a:r>
              <a:rPr lang="en-US" altLang="zh-CN" sz="2800" dirty="0" err="1" smtClean="0">
                <a:solidFill>
                  <a:srgbClr val="0000FF"/>
                </a:solidFill>
                <a:latin typeface="宋体" pitchFamily="2" charset="-122"/>
                <a:cs typeface="等线" panose="02010600030101010101" charset="-122"/>
              </a:rPr>
              <a:t>SC.Sno</a:t>
            </a:r>
            <a:r>
              <a:rPr lang="en-US" altLang="zh-CN" sz="2800" dirty="0" smtClean="0">
                <a:solidFill>
                  <a:srgbClr val="0000FF"/>
                </a:solidFill>
                <a:latin typeface="宋体" pitchFamily="2" charset="-122"/>
                <a:cs typeface="等线" panose="02010600030101010101" charset="-122"/>
              </a:rPr>
              <a:t> </a:t>
            </a:r>
            <a:endParaRPr lang="zh-CN" altLang="en-US" sz="2800" dirty="0">
              <a:solidFill>
                <a:srgbClr val="0000FF"/>
              </a:solidFill>
              <a:latin typeface="宋体" pitchFamily="2" charset="-122"/>
              <a:cs typeface="等线" panose="02010600030101010101"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77187">
                                            <p:txEl>
                                              <p:pRg st="0" end="0"/>
                                            </p:txEl>
                                          </p:spTgt>
                                        </p:tgtEl>
                                        <p:attrNameLst>
                                          <p:attrName>style.visibility</p:attrName>
                                        </p:attrNameLst>
                                      </p:cBhvr>
                                      <p:to>
                                        <p:strVal val="visible"/>
                                      </p:to>
                                    </p:set>
                                    <p:animEffect transition="in" filter="blinds(horizontal)">
                                      <p:cBhvr>
                                        <p:cTn id="7" dur="500"/>
                                        <p:tgtEl>
                                          <p:spTgt spid="477187">
                                            <p:txEl>
                                              <p:pRg st="0" end="0"/>
                                            </p:txEl>
                                          </p:spTgt>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477187">
                                            <p:txEl>
                                              <p:pRg st="1" end="1"/>
                                            </p:txEl>
                                          </p:spTgt>
                                        </p:tgtEl>
                                        <p:attrNameLst>
                                          <p:attrName>style.visibility</p:attrName>
                                        </p:attrNameLst>
                                      </p:cBhvr>
                                      <p:to>
                                        <p:strVal val="visible"/>
                                      </p:to>
                                    </p:set>
                                    <p:animEffect transition="in" filter="blinds(horizontal)">
                                      <p:cBhvr>
                                        <p:cTn id="10" dur="500"/>
                                        <p:tgtEl>
                                          <p:spTgt spid="477187">
                                            <p:txEl>
                                              <p:pRg st="1" end="1"/>
                                            </p:txEl>
                                          </p:spTgt>
                                        </p:tgtEl>
                                      </p:cBhvr>
                                    </p:animEffect>
                                  </p:childTnLst>
                                </p:cTn>
                              </p:par>
                              <p:par>
                                <p:cTn id="11" presetID="3" presetClass="entr" presetSubtype="10" fill="hold" grpId="0" nodeType="withEffect">
                                  <p:stCondLst>
                                    <p:cond delay="0"/>
                                  </p:stCondLst>
                                  <p:childTnLst>
                                    <p:set>
                                      <p:cBhvr>
                                        <p:cTn id="12" dur="1" fill="hold">
                                          <p:stCondLst>
                                            <p:cond delay="0"/>
                                          </p:stCondLst>
                                        </p:cTn>
                                        <p:tgtEl>
                                          <p:spTgt spid="477187">
                                            <p:txEl>
                                              <p:pRg st="2" end="2"/>
                                            </p:txEl>
                                          </p:spTgt>
                                        </p:tgtEl>
                                        <p:attrNameLst>
                                          <p:attrName>style.visibility</p:attrName>
                                        </p:attrNameLst>
                                      </p:cBhvr>
                                      <p:to>
                                        <p:strVal val="visible"/>
                                      </p:to>
                                    </p:set>
                                    <p:animEffect transition="in" filter="blinds(horizontal)">
                                      <p:cBhvr>
                                        <p:cTn id="13" dur="500"/>
                                        <p:tgtEl>
                                          <p:spTgt spid="477187">
                                            <p:txEl>
                                              <p:pRg st="2" end="2"/>
                                            </p:txEl>
                                          </p:spTgt>
                                        </p:tgtEl>
                                      </p:cBhvr>
                                    </p:animEffect>
                                  </p:childTnLst>
                                </p:cTn>
                              </p:par>
                              <p:par>
                                <p:cTn id="14" presetID="3" presetClass="entr" presetSubtype="10" fill="hold" grpId="0" nodeType="withEffect">
                                  <p:stCondLst>
                                    <p:cond delay="0"/>
                                  </p:stCondLst>
                                  <p:childTnLst>
                                    <p:set>
                                      <p:cBhvr>
                                        <p:cTn id="15" dur="1" fill="hold">
                                          <p:stCondLst>
                                            <p:cond delay="0"/>
                                          </p:stCondLst>
                                        </p:cTn>
                                        <p:tgtEl>
                                          <p:spTgt spid="477187">
                                            <p:txEl>
                                              <p:pRg st="3" end="3"/>
                                            </p:txEl>
                                          </p:spTgt>
                                        </p:tgtEl>
                                        <p:attrNameLst>
                                          <p:attrName>style.visibility</p:attrName>
                                        </p:attrNameLst>
                                      </p:cBhvr>
                                      <p:to>
                                        <p:strVal val="visible"/>
                                      </p:to>
                                    </p:set>
                                    <p:animEffect transition="in" filter="blinds(horizontal)">
                                      <p:cBhvr>
                                        <p:cTn id="16" dur="500"/>
                                        <p:tgtEl>
                                          <p:spTgt spid="477187">
                                            <p:txEl>
                                              <p:pRg st="3" end="3"/>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3" presetClass="entr" presetSubtype="10" fill="hold" grpId="0" nodeType="clickEffect">
                                  <p:stCondLst>
                                    <p:cond delay="0"/>
                                  </p:stCondLst>
                                  <p:childTnLst>
                                    <p:set>
                                      <p:cBhvr>
                                        <p:cTn id="20" dur="1" fill="hold">
                                          <p:stCondLst>
                                            <p:cond delay="0"/>
                                          </p:stCondLst>
                                        </p:cTn>
                                        <p:tgtEl>
                                          <p:spTgt spid="477187">
                                            <p:txEl>
                                              <p:pRg st="4" end="4"/>
                                            </p:txEl>
                                          </p:spTgt>
                                        </p:tgtEl>
                                        <p:attrNameLst>
                                          <p:attrName>style.visibility</p:attrName>
                                        </p:attrNameLst>
                                      </p:cBhvr>
                                      <p:to>
                                        <p:strVal val="visible"/>
                                      </p:to>
                                    </p:set>
                                    <p:animEffect transition="in" filter="blinds(horizontal)">
                                      <p:cBhvr>
                                        <p:cTn id="21" dur="500"/>
                                        <p:tgtEl>
                                          <p:spTgt spid="477187">
                                            <p:txEl>
                                              <p:pRg st="4" end="4"/>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nodeType="clickEffect">
                                  <p:stCondLst>
                                    <p:cond delay="0"/>
                                  </p:stCondLst>
                                  <p:childTnLst>
                                    <p:set>
                                      <p:cBhvr>
                                        <p:cTn id="29" dur="1" fill="hold">
                                          <p:stCondLst>
                                            <p:cond delay="0"/>
                                          </p:stCondLst>
                                        </p:cTn>
                                        <p:tgtEl>
                                          <p:spTgt spid="4">
                                            <p:txEl>
                                              <p:pRg st="1" end="1"/>
                                            </p:txEl>
                                          </p:spTgt>
                                        </p:tgtEl>
                                        <p:attrNameLst>
                                          <p:attrName>style.visibility</p:attrName>
                                        </p:attrNameLst>
                                      </p:cBhvr>
                                      <p:to>
                                        <p:strVal val="visible"/>
                                      </p:to>
                                    </p:set>
                                  </p:childTnLst>
                                </p:cTn>
                              </p:par>
                              <p:par>
                                <p:cTn id="30" presetID="1" presetClass="entr" presetSubtype="0" fill="hold" nodeType="withEffect">
                                  <p:stCondLst>
                                    <p:cond delay="0"/>
                                  </p:stCondLst>
                                  <p:childTnLst>
                                    <p:set>
                                      <p:cBhvr>
                                        <p:cTn id="31" dur="1" fill="hold">
                                          <p:stCondLst>
                                            <p:cond delay="0"/>
                                          </p:stCondLst>
                                        </p:cTn>
                                        <p:tgtEl>
                                          <p:spTgt spid="4">
                                            <p:txEl>
                                              <p:pRg st="2" end="2"/>
                                            </p:txEl>
                                          </p:spTgt>
                                        </p:tgtEl>
                                        <p:attrNameLst>
                                          <p:attrName>style.visibility</p:attrName>
                                        </p:attrNameLst>
                                      </p:cBhvr>
                                      <p:to>
                                        <p:strVal val="visible"/>
                                      </p:to>
                                    </p:set>
                                  </p:childTnLst>
                                </p:cTn>
                              </p:par>
                              <p:par>
                                <p:cTn id="32" presetID="1" presetClass="entr" presetSubtype="0" fill="hold" nodeType="withEffect">
                                  <p:stCondLst>
                                    <p:cond delay="0"/>
                                  </p:stCondLst>
                                  <p:childTnLst>
                                    <p:set>
                                      <p:cBhvr>
                                        <p:cTn id="33"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7187" grpId="0" build="p"/>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p:cNvSpPr>
            <a:spLocks noGrp="1"/>
          </p:cNvSpPr>
          <p:nvPr>
            <p:ph type="title"/>
          </p:nvPr>
        </p:nvSpPr>
        <p:spPr>
          <a:xfrm>
            <a:off x="500063" y="152400"/>
            <a:ext cx="8001000" cy="685800"/>
          </a:xfrm>
          <a:noFill/>
          <a:ln w="9525">
            <a:noFill/>
          </a:ln>
        </p:spPr>
        <p:txBody>
          <a:bodyPr vert="horz" wrap="square" lIns="91440" tIns="45720" rIns="91440" bIns="45720" rtlCol="0" anchor="ctr" anchorCtr="0">
            <a:normAutofit fontScale="90000"/>
          </a:bodyPr>
          <a:lstStyle/>
          <a:p>
            <a:pPr lvl="0" algn="ctr" eaLnBrk="1" hangingPunct="1">
              <a:buClrTx/>
              <a:buSzTx/>
              <a:buFontTx/>
            </a:pPr>
            <a:r>
              <a:rPr lang="zh-CN" altLang="en-US" sz="4000" b="0" dirty="0">
                <a:latin typeface="黑体" panose="02010609060101010101" pitchFamily="2" charset="-122"/>
                <a:ea typeface="黑体" panose="02010609060101010101" pitchFamily="2" charset="-122"/>
                <a:sym typeface="+mn-ea"/>
              </a:rPr>
              <a:t>示例（续）</a:t>
            </a:r>
          </a:p>
        </p:txBody>
      </p:sp>
      <p:sp>
        <p:nvSpPr>
          <p:cNvPr id="64515" name="Rectangle 3"/>
          <p:cNvSpPr>
            <a:spLocks noGrp="1"/>
          </p:cNvSpPr>
          <p:nvPr>
            <p:ph idx="1"/>
          </p:nvPr>
        </p:nvSpPr>
        <p:spPr>
          <a:xfrm>
            <a:off x="457200" y="1341438"/>
            <a:ext cx="8229600" cy="4830762"/>
          </a:xfrm>
        </p:spPr>
        <p:txBody>
          <a:bodyPr vert="horz" wrap="square" lIns="91440" tIns="45720" rIns="91440" bIns="45720" anchor="t" anchorCtr="0"/>
          <a:lstStyle/>
          <a:p>
            <a:pPr marL="0" indent="0" eaLnBrk="1" hangingPunct="1">
              <a:buNone/>
            </a:pPr>
            <a:r>
              <a:rPr lang="zh-CN" altLang="en-US" sz="3600" dirty="0" smtClean="0">
                <a:latin typeface="宋体" pitchFamily="2" charset="-122"/>
                <a:cs typeface="等线" panose="02010600030101010101" charset="-122"/>
              </a:rPr>
              <a:t>例</a:t>
            </a:r>
            <a:r>
              <a:rPr lang="en-US" altLang="zh-CN" sz="3600" dirty="0" smtClean="0"/>
              <a:t>4.42 </a:t>
            </a:r>
            <a:r>
              <a:rPr lang="zh-CN" altLang="en-US" sz="3600" dirty="0" smtClean="0">
                <a:latin typeface="宋体" pitchFamily="2" charset="-122"/>
                <a:cs typeface="等线" panose="02010600030101010101" charset="-122"/>
              </a:rPr>
              <a:t>查询</a:t>
            </a:r>
            <a:r>
              <a:rPr lang="zh-CN" altLang="en-US" sz="3600" dirty="0">
                <a:latin typeface="宋体" pitchFamily="2" charset="-122"/>
                <a:cs typeface="等线" panose="02010600030101010101" charset="-122"/>
              </a:rPr>
              <a:t>计算机系学生的修课情况，要求列出学生的名字、所修课的课程号和成绩。</a:t>
            </a:r>
          </a:p>
          <a:p>
            <a:pPr lvl="1" algn="just" eaLnBrk="1" hangingPunct="1">
              <a:buFont typeface="Wingdings" panose="05000000000000000000" pitchFamily="2" charset="2"/>
              <a:buNone/>
            </a:pPr>
            <a:r>
              <a:rPr lang="en-US" altLang="zh-CN" sz="3600" dirty="0">
                <a:solidFill>
                  <a:srgbClr val="0000FF"/>
                </a:solidFill>
                <a:latin typeface="宋体" pitchFamily="2" charset="-122"/>
                <a:cs typeface="等线" panose="02010600030101010101" charset="-122"/>
              </a:rPr>
              <a:t>SELECT Sname, Cno, Grade  </a:t>
            </a:r>
          </a:p>
          <a:p>
            <a:pPr lvl="1" algn="just" eaLnBrk="1" hangingPunct="1">
              <a:buFont typeface="Wingdings" panose="05000000000000000000" pitchFamily="2" charset="2"/>
              <a:buNone/>
            </a:pPr>
            <a:r>
              <a:rPr lang="en-US" altLang="zh-CN" sz="3600" dirty="0">
                <a:solidFill>
                  <a:srgbClr val="0000FF"/>
                </a:solidFill>
                <a:latin typeface="宋体" pitchFamily="2" charset="-122"/>
                <a:cs typeface="等线" panose="02010600030101010101" charset="-122"/>
              </a:rPr>
              <a:t>   FROM Student </a:t>
            </a:r>
            <a:r>
              <a:rPr lang="en-US" altLang="zh-CN" sz="3600" dirty="0">
                <a:solidFill>
                  <a:srgbClr val="FF0000"/>
                </a:solidFill>
                <a:latin typeface="宋体" pitchFamily="2" charset="-122"/>
                <a:cs typeface="等线" panose="02010600030101010101" charset="-122"/>
              </a:rPr>
              <a:t>JOIN </a:t>
            </a:r>
            <a:r>
              <a:rPr lang="en-US" altLang="zh-CN" sz="3600" dirty="0">
                <a:solidFill>
                  <a:srgbClr val="0000FF"/>
                </a:solidFill>
                <a:latin typeface="宋体" pitchFamily="2" charset="-122"/>
                <a:cs typeface="等线" panose="02010600030101010101" charset="-122"/>
              </a:rPr>
              <a:t>SC  </a:t>
            </a:r>
          </a:p>
          <a:p>
            <a:pPr lvl="1" algn="just" eaLnBrk="1" hangingPunct="1">
              <a:buFont typeface="Wingdings" panose="05000000000000000000" pitchFamily="2" charset="2"/>
              <a:buNone/>
            </a:pPr>
            <a:r>
              <a:rPr lang="en-US" altLang="zh-CN" sz="3600" dirty="0">
                <a:solidFill>
                  <a:srgbClr val="0000FF"/>
                </a:solidFill>
                <a:latin typeface="宋体" pitchFamily="2" charset="-122"/>
                <a:cs typeface="等线" panose="02010600030101010101" charset="-122"/>
              </a:rPr>
              <a:t>   </a:t>
            </a:r>
            <a:r>
              <a:rPr lang="en-US" altLang="zh-CN" sz="3600" dirty="0" smtClean="0">
                <a:solidFill>
                  <a:srgbClr val="0000FF"/>
                </a:solidFill>
                <a:latin typeface="宋体" pitchFamily="2" charset="-122"/>
                <a:cs typeface="等线" panose="02010600030101010101" charset="-122"/>
              </a:rPr>
              <a:t>      ON </a:t>
            </a:r>
            <a:r>
              <a:rPr lang="en-US" altLang="zh-CN" sz="3600" dirty="0" err="1" smtClean="0">
                <a:solidFill>
                  <a:srgbClr val="0000FF"/>
                </a:solidFill>
                <a:latin typeface="宋体" pitchFamily="2" charset="-122"/>
                <a:cs typeface="等线" panose="02010600030101010101" charset="-122"/>
              </a:rPr>
              <a:t>Student.Sno</a:t>
            </a:r>
            <a:r>
              <a:rPr lang="en-US" altLang="zh-CN" sz="3600" dirty="0" smtClean="0">
                <a:solidFill>
                  <a:srgbClr val="0000FF"/>
                </a:solidFill>
                <a:latin typeface="宋体" pitchFamily="2" charset="-122"/>
                <a:cs typeface="等线" panose="02010600030101010101" charset="-122"/>
              </a:rPr>
              <a:t> </a:t>
            </a:r>
            <a:r>
              <a:rPr lang="en-US" altLang="zh-CN" sz="3600" dirty="0">
                <a:solidFill>
                  <a:srgbClr val="0000FF"/>
                </a:solidFill>
                <a:latin typeface="宋体" pitchFamily="2" charset="-122"/>
                <a:cs typeface="等线" panose="02010600030101010101" charset="-122"/>
              </a:rPr>
              <a:t>= SC.Sno</a:t>
            </a:r>
            <a:endParaRPr lang="zh-CN" altLang="en-US" sz="3600" dirty="0">
              <a:solidFill>
                <a:srgbClr val="0000FF"/>
              </a:solidFill>
              <a:latin typeface="宋体" pitchFamily="2" charset="-122"/>
              <a:cs typeface="等线" panose="02010600030101010101" charset="-122"/>
            </a:endParaRPr>
          </a:p>
          <a:p>
            <a:pPr lvl="1" algn="just" eaLnBrk="1" hangingPunct="1">
              <a:buFont typeface="Wingdings" panose="05000000000000000000" pitchFamily="2" charset="2"/>
              <a:buNone/>
            </a:pPr>
            <a:r>
              <a:rPr lang="en-US" altLang="zh-CN" sz="3600" dirty="0">
                <a:solidFill>
                  <a:srgbClr val="0000FF"/>
                </a:solidFill>
                <a:latin typeface="宋体" pitchFamily="2" charset="-122"/>
                <a:cs typeface="等线" panose="02010600030101010101" charset="-122"/>
              </a:rPr>
              <a:t>   WHERE Sdept = '</a:t>
            </a:r>
            <a:r>
              <a:rPr lang="zh-CN" altLang="en-US" sz="3600" dirty="0">
                <a:solidFill>
                  <a:srgbClr val="0000FF"/>
                </a:solidFill>
                <a:latin typeface="宋体" pitchFamily="2" charset="-122"/>
                <a:cs typeface="等线" panose="02010600030101010101" charset="-122"/>
              </a:rPr>
              <a:t>计算机系</a:t>
            </a:r>
            <a:r>
              <a:rPr lang="en-US" altLang="zh-CN" sz="3600" dirty="0">
                <a:solidFill>
                  <a:srgbClr val="0000FF"/>
                </a:solidFill>
                <a:latin typeface="宋体" pitchFamily="2" charset="-122"/>
                <a:cs typeface="等线" panose="02010600030101010101" charset="-122"/>
              </a:rPr>
              <a:t>' </a:t>
            </a:r>
            <a:endParaRPr lang="zh-CN" altLang="en-US" sz="3600" dirty="0">
              <a:solidFill>
                <a:srgbClr val="0000FF"/>
              </a:solidFill>
              <a:latin typeface="宋体" pitchFamily="2" charset="-122"/>
              <a:cs typeface="等线" panose="02010600030101010101" charset="-122"/>
            </a:endParaRPr>
          </a:p>
        </p:txBody>
      </p:sp>
    </p:spTree>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2"/>
          <p:cNvSpPr>
            <a:spLocks noGrp="1"/>
          </p:cNvSpPr>
          <p:nvPr>
            <p:ph type="title"/>
          </p:nvPr>
        </p:nvSpPr>
        <p:spPr>
          <a:xfrm>
            <a:off x="500063" y="152400"/>
            <a:ext cx="8001000" cy="685800"/>
          </a:xfrm>
          <a:noFill/>
          <a:ln w="9525">
            <a:noFill/>
          </a:ln>
        </p:spPr>
        <p:txBody>
          <a:bodyPr vert="horz" wrap="square" lIns="91440" tIns="45720" rIns="91440" bIns="45720" rtlCol="0" anchor="ctr" anchorCtr="0">
            <a:normAutofit fontScale="90000"/>
          </a:bodyPr>
          <a:lstStyle/>
          <a:p>
            <a:pPr lvl="0" algn="ctr" eaLnBrk="1" hangingPunct="1">
              <a:buClrTx/>
              <a:buSzTx/>
              <a:buFontTx/>
            </a:pPr>
            <a:r>
              <a:rPr lang="zh-CN" altLang="en-US" sz="4000" b="0" dirty="0">
                <a:latin typeface="黑体" panose="02010609060101010101" pitchFamily="2" charset="-122"/>
                <a:ea typeface="黑体" panose="02010609060101010101" pitchFamily="2" charset="-122"/>
                <a:sym typeface="+mn-ea"/>
              </a:rPr>
              <a:t>表别名</a:t>
            </a:r>
          </a:p>
        </p:txBody>
      </p:sp>
      <p:sp>
        <p:nvSpPr>
          <p:cNvPr id="65539" name="Rectangle 3"/>
          <p:cNvSpPr>
            <a:spLocks noGrp="1"/>
          </p:cNvSpPr>
          <p:nvPr>
            <p:ph idx="1"/>
          </p:nvPr>
        </p:nvSpPr>
        <p:spPr/>
        <p:txBody>
          <a:bodyPr vert="horz" wrap="square" lIns="91440" tIns="45720" rIns="91440" bIns="45720" anchor="t" anchorCtr="0"/>
          <a:lstStyle/>
          <a:p>
            <a:pPr eaLnBrk="1" hangingPunct="1">
              <a:lnSpc>
                <a:spcPct val="90000"/>
              </a:lnSpc>
            </a:pPr>
            <a:r>
              <a:rPr lang="zh-CN" altLang="en-US" sz="3000" dirty="0">
                <a:latin typeface="宋体" pitchFamily="2" charset="-122"/>
                <a:cs typeface="等线" panose="02010600030101010101" charset="-122"/>
              </a:rPr>
              <a:t>可以为表提供别名，其格式如下：</a:t>
            </a:r>
          </a:p>
          <a:p>
            <a:pPr lvl="1" eaLnBrk="1" hangingPunct="1">
              <a:lnSpc>
                <a:spcPct val="90000"/>
              </a:lnSpc>
              <a:buFont typeface="Wingdings" panose="05000000000000000000" pitchFamily="2" charset="2"/>
              <a:buNone/>
            </a:pPr>
            <a:r>
              <a:rPr lang="en-US" altLang="zh-CN" sz="3000" dirty="0">
                <a:solidFill>
                  <a:srgbClr val="FF0000"/>
                </a:solidFill>
                <a:latin typeface="宋体" pitchFamily="2" charset="-122"/>
                <a:cs typeface="等线" panose="02010600030101010101" charset="-122"/>
              </a:rPr>
              <a:t>&lt;</a:t>
            </a:r>
            <a:r>
              <a:rPr lang="zh-CN" altLang="en-US" sz="3000" dirty="0">
                <a:solidFill>
                  <a:srgbClr val="FF0000"/>
                </a:solidFill>
                <a:latin typeface="宋体" pitchFamily="2" charset="-122"/>
                <a:cs typeface="等线" panose="02010600030101010101" charset="-122"/>
              </a:rPr>
              <a:t>源表名</a:t>
            </a:r>
            <a:r>
              <a:rPr lang="en-US" altLang="zh-CN" sz="3000" dirty="0">
                <a:solidFill>
                  <a:srgbClr val="FF0000"/>
                </a:solidFill>
                <a:latin typeface="宋体" pitchFamily="2" charset="-122"/>
                <a:cs typeface="等线" panose="02010600030101010101" charset="-122"/>
              </a:rPr>
              <a:t>&gt;  [ AS ] &lt;</a:t>
            </a:r>
            <a:r>
              <a:rPr lang="zh-CN" altLang="en-US" sz="3000" dirty="0">
                <a:solidFill>
                  <a:srgbClr val="FF0000"/>
                </a:solidFill>
                <a:latin typeface="宋体" pitchFamily="2" charset="-122"/>
                <a:cs typeface="等线" panose="02010600030101010101" charset="-122"/>
              </a:rPr>
              <a:t>表别名</a:t>
            </a:r>
            <a:r>
              <a:rPr lang="en-US" altLang="zh-CN" sz="3000" dirty="0">
                <a:solidFill>
                  <a:srgbClr val="FF0000"/>
                </a:solidFill>
                <a:latin typeface="宋体" pitchFamily="2" charset="-122"/>
                <a:cs typeface="等线" panose="02010600030101010101" charset="-122"/>
              </a:rPr>
              <a:t>&gt;</a:t>
            </a:r>
          </a:p>
          <a:p>
            <a:pPr eaLnBrk="1" hangingPunct="1">
              <a:lnSpc>
                <a:spcPct val="90000"/>
              </a:lnSpc>
              <a:spcBef>
                <a:spcPts val="1200"/>
              </a:spcBef>
            </a:pPr>
            <a:r>
              <a:rPr lang="zh-CN" altLang="en-US" sz="3000" dirty="0">
                <a:latin typeface="宋体" pitchFamily="2" charset="-122"/>
                <a:cs typeface="等线" panose="02010600030101010101" charset="-122"/>
              </a:rPr>
              <a:t>使用别名时例</a:t>
            </a:r>
            <a:r>
              <a:rPr lang="en-US" altLang="zh-CN" sz="3000" dirty="0">
                <a:latin typeface="宋体" pitchFamily="2" charset="-122"/>
                <a:cs typeface="等线" panose="02010600030101010101" charset="-122"/>
              </a:rPr>
              <a:t>42</a:t>
            </a:r>
            <a:r>
              <a:rPr lang="zh-CN" altLang="en-US" sz="3000" dirty="0">
                <a:latin typeface="宋体" pitchFamily="2" charset="-122"/>
                <a:cs typeface="等线" panose="02010600030101010101" charset="-122"/>
              </a:rPr>
              <a:t>可写为如下形式：</a:t>
            </a:r>
          </a:p>
          <a:p>
            <a:pPr lvl="1" eaLnBrk="1" hangingPunct="1">
              <a:lnSpc>
                <a:spcPct val="90000"/>
              </a:lnSpc>
              <a:buFont typeface="Wingdings" panose="05000000000000000000" pitchFamily="2" charset="2"/>
              <a:buNone/>
            </a:pPr>
            <a:r>
              <a:rPr lang="en-US" altLang="zh-CN" sz="3000" dirty="0">
                <a:solidFill>
                  <a:srgbClr val="0000FF"/>
                </a:solidFill>
                <a:latin typeface="宋体" pitchFamily="2" charset="-122"/>
                <a:cs typeface="等线" panose="02010600030101010101" charset="-122"/>
              </a:rPr>
              <a:t>SELECT Sname, Cno, Grade </a:t>
            </a:r>
          </a:p>
          <a:p>
            <a:pPr lvl="1" eaLnBrk="1" hangingPunct="1">
              <a:lnSpc>
                <a:spcPct val="90000"/>
              </a:lnSpc>
              <a:buFont typeface="Wingdings" panose="05000000000000000000" pitchFamily="2" charset="2"/>
              <a:buNone/>
            </a:pPr>
            <a:r>
              <a:rPr lang="en-US" altLang="zh-CN" sz="3000" dirty="0">
                <a:solidFill>
                  <a:srgbClr val="0000FF"/>
                </a:solidFill>
                <a:latin typeface="宋体" pitchFamily="2" charset="-122"/>
                <a:cs typeface="等线" panose="02010600030101010101" charset="-122"/>
              </a:rPr>
              <a:t>   FROM Student </a:t>
            </a:r>
            <a:r>
              <a:rPr lang="en-US" altLang="zh-CN" sz="3000" dirty="0" smtClean="0">
                <a:solidFill>
                  <a:srgbClr val="FF0000"/>
                </a:solidFill>
                <a:latin typeface="宋体" pitchFamily="2" charset="-122"/>
                <a:cs typeface="等线" panose="02010600030101010101" charset="-122"/>
              </a:rPr>
              <a:t>S</a:t>
            </a:r>
            <a:r>
              <a:rPr lang="en-US" altLang="zh-CN" sz="3000" dirty="0" smtClean="0">
                <a:solidFill>
                  <a:srgbClr val="0000FF"/>
                </a:solidFill>
                <a:latin typeface="宋体" pitchFamily="2" charset="-122"/>
                <a:cs typeface="等线" panose="02010600030101010101" charset="-122"/>
              </a:rPr>
              <a:t> JOIN  </a:t>
            </a:r>
            <a:r>
              <a:rPr lang="en-US" altLang="zh-CN" sz="3000" dirty="0">
                <a:solidFill>
                  <a:srgbClr val="0000FF"/>
                </a:solidFill>
                <a:latin typeface="宋体" pitchFamily="2" charset="-122"/>
                <a:cs typeface="等线" panose="02010600030101010101" charset="-122"/>
              </a:rPr>
              <a:t>SC  </a:t>
            </a:r>
          </a:p>
          <a:p>
            <a:pPr lvl="1" eaLnBrk="1" hangingPunct="1">
              <a:lnSpc>
                <a:spcPct val="90000"/>
              </a:lnSpc>
              <a:buFont typeface="Wingdings" panose="05000000000000000000" pitchFamily="2" charset="2"/>
              <a:buNone/>
            </a:pPr>
            <a:r>
              <a:rPr lang="en-US" altLang="zh-CN" sz="3000" dirty="0">
                <a:solidFill>
                  <a:srgbClr val="0000FF"/>
                </a:solidFill>
                <a:latin typeface="宋体" pitchFamily="2" charset="-122"/>
                <a:cs typeface="等线" panose="02010600030101010101" charset="-122"/>
              </a:rPr>
              <a:t>   ON </a:t>
            </a:r>
            <a:r>
              <a:rPr lang="en-US" altLang="zh-CN" sz="3000" dirty="0">
                <a:solidFill>
                  <a:srgbClr val="FF0000"/>
                </a:solidFill>
                <a:latin typeface="宋体" pitchFamily="2" charset="-122"/>
                <a:cs typeface="等线" panose="02010600030101010101" charset="-122"/>
              </a:rPr>
              <a:t>S</a:t>
            </a:r>
            <a:r>
              <a:rPr lang="en-US" altLang="zh-CN" sz="3000" dirty="0">
                <a:solidFill>
                  <a:srgbClr val="0000FF"/>
                </a:solidFill>
                <a:latin typeface="宋体" pitchFamily="2" charset="-122"/>
                <a:cs typeface="等线" panose="02010600030101010101" charset="-122"/>
              </a:rPr>
              <a:t>.Sno = SC.Sno</a:t>
            </a:r>
          </a:p>
          <a:p>
            <a:pPr lvl="1" eaLnBrk="1" hangingPunct="1">
              <a:lnSpc>
                <a:spcPct val="90000"/>
              </a:lnSpc>
              <a:buFont typeface="Wingdings" panose="05000000000000000000" pitchFamily="2" charset="2"/>
              <a:buNone/>
            </a:pPr>
            <a:r>
              <a:rPr lang="en-US" altLang="zh-CN" sz="3000" dirty="0">
                <a:solidFill>
                  <a:srgbClr val="0000FF"/>
                </a:solidFill>
                <a:latin typeface="宋体" pitchFamily="2" charset="-122"/>
                <a:cs typeface="等线" panose="02010600030101010101" charset="-122"/>
              </a:rPr>
              <a:t>   WHERE Sdept = '</a:t>
            </a:r>
            <a:r>
              <a:rPr lang="zh-CN" altLang="en-US" sz="3000" dirty="0">
                <a:solidFill>
                  <a:srgbClr val="0000FF"/>
                </a:solidFill>
                <a:latin typeface="宋体" pitchFamily="2" charset="-122"/>
                <a:cs typeface="等线" panose="02010600030101010101" charset="-122"/>
              </a:rPr>
              <a:t>计算机系</a:t>
            </a:r>
            <a:r>
              <a:rPr lang="en-US" altLang="zh-CN" sz="3000" dirty="0">
                <a:solidFill>
                  <a:srgbClr val="0000FF"/>
                </a:solidFill>
                <a:latin typeface="宋体" pitchFamily="2" charset="-122"/>
                <a:cs typeface="等线" panose="02010600030101010101" charset="-122"/>
              </a:rPr>
              <a:t>'</a:t>
            </a:r>
            <a:r>
              <a:rPr lang="en-US" altLang="zh-CN" sz="3000" dirty="0">
                <a:latin typeface="宋体" pitchFamily="2" charset="-122"/>
                <a:cs typeface="等线" panose="02010600030101010101" charset="-122"/>
              </a:rPr>
              <a:t> </a:t>
            </a:r>
          </a:p>
          <a:p>
            <a:pPr eaLnBrk="1" hangingPunct="1">
              <a:lnSpc>
                <a:spcPct val="90000"/>
              </a:lnSpc>
              <a:spcBef>
                <a:spcPts val="1200"/>
              </a:spcBef>
            </a:pPr>
            <a:r>
              <a:rPr lang="zh-CN" altLang="en-US" sz="3000" dirty="0">
                <a:solidFill>
                  <a:srgbClr val="009900"/>
                </a:solidFill>
                <a:latin typeface="宋体" pitchFamily="2" charset="-122"/>
                <a:cs typeface="等线" panose="02010600030101010101" charset="-122"/>
              </a:rPr>
              <a:t>注：如果为表指定了别名，则查询语句中其他所有用到表名的地方都要使用别名。</a:t>
            </a:r>
            <a:r>
              <a:rPr lang="zh-CN" altLang="en-US" sz="3000" dirty="0">
                <a:latin typeface="宋体" pitchFamily="2" charset="-122"/>
                <a:cs typeface="等线" panose="02010600030101010101" charset="-122"/>
              </a:rPr>
              <a:t> </a:t>
            </a:r>
          </a:p>
        </p:txBody>
      </p:sp>
    </p:spTree>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p:cNvSpPr>
            <a:spLocks noGrp="1"/>
          </p:cNvSpPr>
          <p:nvPr>
            <p:ph type="title"/>
          </p:nvPr>
        </p:nvSpPr>
        <p:spPr>
          <a:xfrm>
            <a:off x="500063" y="152400"/>
            <a:ext cx="8001000" cy="685800"/>
          </a:xfrm>
          <a:noFill/>
          <a:ln w="9525">
            <a:noFill/>
          </a:ln>
        </p:spPr>
        <p:txBody>
          <a:bodyPr vert="horz" wrap="square" lIns="91440" tIns="45720" rIns="91440" bIns="45720" rtlCol="0" anchor="ctr" anchorCtr="0">
            <a:normAutofit fontScale="90000"/>
          </a:bodyPr>
          <a:lstStyle/>
          <a:p>
            <a:pPr lvl="0" algn="ctr" eaLnBrk="1" hangingPunct="1">
              <a:buClrTx/>
              <a:buSzTx/>
              <a:buFontTx/>
            </a:pPr>
            <a:r>
              <a:rPr lang="zh-CN" altLang="en-US" sz="4000" b="0" dirty="0">
                <a:latin typeface="黑体" panose="02010609060101010101" pitchFamily="2" charset="-122"/>
                <a:ea typeface="黑体" panose="02010609060101010101" pitchFamily="2" charset="-122"/>
                <a:sym typeface="+mn-ea"/>
              </a:rPr>
              <a:t>示例（续）</a:t>
            </a:r>
          </a:p>
        </p:txBody>
      </p:sp>
      <p:sp>
        <p:nvSpPr>
          <p:cNvPr id="66563" name="Rectangle 3"/>
          <p:cNvSpPr>
            <a:spLocks noGrp="1"/>
          </p:cNvSpPr>
          <p:nvPr>
            <p:ph idx="1"/>
          </p:nvPr>
        </p:nvSpPr>
        <p:spPr>
          <a:xfrm>
            <a:off x="357188" y="1214438"/>
            <a:ext cx="8329612" cy="5143500"/>
          </a:xfrm>
        </p:spPr>
        <p:txBody>
          <a:bodyPr vert="horz" wrap="square" lIns="91440" tIns="45720" rIns="91440" bIns="45720" anchor="t" anchorCtr="0"/>
          <a:lstStyle/>
          <a:p>
            <a:pPr marL="0" indent="0" eaLnBrk="1" hangingPunct="1">
              <a:spcBef>
                <a:spcPts val="600"/>
              </a:spcBef>
              <a:buNone/>
            </a:pPr>
            <a:r>
              <a:rPr lang="zh-CN" altLang="en-US" sz="3200" dirty="0" smtClean="0">
                <a:latin typeface="宋体" pitchFamily="2" charset="-122"/>
                <a:cs typeface="等线" panose="02010600030101010101" charset="-122"/>
              </a:rPr>
              <a:t>例</a:t>
            </a:r>
            <a:r>
              <a:rPr lang="en-US" altLang="zh-CN" sz="3200" dirty="0" smtClean="0"/>
              <a:t>4.43 </a:t>
            </a:r>
            <a:r>
              <a:rPr lang="zh-CN" altLang="en-US" sz="3200" dirty="0" smtClean="0">
                <a:latin typeface="宋体" pitchFamily="2" charset="-122"/>
                <a:cs typeface="等线" panose="02010600030101010101" charset="-122"/>
              </a:rPr>
              <a:t>查询</a:t>
            </a:r>
            <a:r>
              <a:rPr lang="zh-CN" altLang="en-US" sz="3200" dirty="0">
                <a:latin typeface="宋体" pitchFamily="2" charset="-122"/>
                <a:cs typeface="等线" panose="02010600030101010101" charset="-122"/>
              </a:rPr>
              <a:t>“信息管理系”选修了“计算机文化学”课程的学生的成绩，要求列出学生姓名、课程名和成绩。</a:t>
            </a:r>
          </a:p>
          <a:p>
            <a:pPr lvl="1" eaLnBrk="1" hangingPunct="1">
              <a:spcBef>
                <a:spcPts val="600"/>
              </a:spcBef>
              <a:buFont typeface="Wingdings" panose="05000000000000000000" pitchFamily="2" charset="2"/>
              <a:buNone/>
            </a:pPr>
            <a:r>
              <a:rPr lang="en-US" altLang="zh-CN" dirty="0">
                <a:solidFill>
                  <a:srgbClr val="0000FF"/>
                </a:solidFill>
                <a:latin typeface="宋体" pitchFamily="2" charset="-122"/>
                <a:cs typeface="等线" panose="02010600030101010101" charset="-122"/>
              </a:rPr>
              <a:t>SELECT Sname, Cname, Grade</a:t>
            </a:r>
          </a:p>
          <a:p>
            <a:pPr lvl="1" eaLnBrk="1" hangingPunct="1">
              <a:spcBef>
                <a:spcPts val="600"/>
              </a:spcBef>
              <a:buNone/>
            </a:pPr>
            <a:r>
              <a:rPr lang="en-US" altLang="zh-CN" sz="2800" dirty="0" smtClean="0">
                <a:solidFill>
                  <a:srgbClr val="0000FF"/>
                </a:solidFill>
                <a:latin typeface="宋体" pitchFamily="2" charset="-122"/>
                <a:cs typeface="等线" panose="02010600030101010101" charset="-122"/>
              </a:rPr>
              <a:t>FROM </a:t>
            </a:r>
            <a:r>
              <a:rPr lang="en-US" altLang="zh-CN" sz="2800" dirty="0">
                <a:solidFill>
                  <a:srgbClr val="0000FF"/>
                </a:solidFill>
                <a:latin typeface="宋体" pitchFamily="2" charset="-122"/>
                <a:cs typeface="等线" panose="02010600030101010101" charset="-122"/>
              </a:rPr>
              <a:t>Student S </a:t>
            </a:r>
            <a:r>
              <a:rPr lang="en-US" altLang="zh-CN" sz="2800" dirty="0" smtClean="0">
                <a:solidFill>
                  <a:srgbClr val="0000FF"/>
                </a:solidFill>
                <a:latin typeface="宋体" pitchFamily="2" charset="-122"/>
                <a:cs typeface="等线" panose="02010600030101010101" charset="-122"/>
              </a:rPr>
              <a:t>JOIN SC </a:t>
            </a:r>
            <a:r>
              <a:rPr lang="en-US" altLang="zh-CN" sz="2800" dirty="0">
                <a:solidFill>
                  <a:srgbClr val="0000FF"/>
                </a:solidFill>
                <a:latin typeface="宋体" pitchFamily="2" charset="-122"/>
                <a:cs typeface="等线" panose="02010600030101010101" charset="-122"/>
              </a:rPr>
              <a:t>ON </a:t>
            </a:r>
            <a:r>
              <a:rPr lang="en-US" altLang="zh-CN" sz="2800" dirty="0" err="1">
                <a:solidFill>
                  <a:srgbClr val="0000FF"/>
                </a:solidFill>
                <a:latin typeface="宋体" pitchFamily="2" charset="-122"/>
                <a:cs typeface="等线" panose="02010600030101010101" charset="-122"/>
              </a:rPr>
              <a:t>S.Sno</a:t>
            </a:r>
            <a:r>
              <a:rPr lang="en-US" altLang="zh-CN" sz="2800" dirty="0">
                <a:solidFill>
                  <a:srgbClr val="0000FF"/>
                </a:solidFill>
                <a:latin typeface="宋体" pitchFamily="2" charset="-122"/>
                <a:cs typeface="等线" panose="02010600030101010101" charset="-122"/>
              </a:rPr>
              <a:t>=SC. Sno</a:t>
            </a:r>
          </a:p>
          <a:p>
            <a:pPr lvl="1" eaLnBrk="1" hangingPunct="1">
              <a:spcBef>
                <a:spcPts val="600"/>
              </a:spcBef>
              <a:buFont typeface="Wingdings" panose="05000000000000000000" pitchFamily="2" charset="2"/>
              <a:buNone/>
            </a:pPr>
            <a:r>
              <a:rPr lang="en-US" altLang="zh-CN" sz="2800" dirty="0">
                <a:solidFill>
                  <a:srgbClr val="0000FF"/>
                </a:solidFill>
                <a:latin typeface="宋体" pitchFamily="2" charset="-122"/>
                <a:cs typeface="等线" panose="02010600030101010101" charset="-122"/>
              </a:rPr>
              <a:t>   </a:t>
            </a:r>
            <a:r>
              <a:rPr lang="en-US" altLang="zh-CN" sz="2800" dirty="0" smtClean="0">
                <a:solidFill>
                  <a:srgbClr val="0000FF"/>
                </a:solidFill>
                <a:latin typeface="宋体" pitchFamily="2" charset="-122"/>
                <a:cs typeface="等线" panose="02010600030101010101" charset="-122"/>
              </a:rPr>
              <a:t>  JOIN  </a:t>
            </a:r>
            <a:r>
              <a:rPr lang="en-US" altLang="zh-CN" sz="2800" dirty="0">
                <a:solidFill>
                  <a:srgbClr val="0000FF"/>
                </a:solidFill>
                <a:latin typeface="宋体" pitchFamily="2" charset="-122"/>
                <a:cs typeface="等线" panose="02010600030101010101" charset="-122"/>
              </a:rPr>
              <a:t>Course c ON c.Cno = SC.Cno</a:t>
            </a:r>
          </a:p>
          <a:p>
            <a:pPr lvl="1" eaLnBrk="1" hangingPunct="1">
              <a:spcBef>
                <a:spcPts val="600"/>
              </a:spcBef>
              <a:buFont typeface="Wingdings" panose="05000000000000000000" pitchFamily="2" charset="2"/>
              <a:buNone/>
            </a:pPr>
            <a:r>
              <a:rPr lang="en-US" altLang="zh-CN" dirty="0">
                <a:solidFill>
                  <a:srgbClr val="0000FF"/>
                </a:solidFill>
                <a:latin typeface="宋体" pitchFamily="2" charset="-122"/>
                <a:cs typeface="等线" panose="02010600030101010101" charset="-122"/>
              </a:rPr>
              <a:t>   WHERE Sdept = '</a:t>
            </a:r>
            <a:r>
              <a:rPr lang="zh-CN" altLang="en-US" dirty="0">
                <a:solidFill>
                  <a:srgbClr val="0000FF"/>
                </a:solidFill>
                <a:latin typeface="宋体" pitchFamily="2" charset="-122"/>
                <a:cs typeface="等线" panose="02010600030101010101" charset="-122"/>
              </a:rPr>
              <a:t>信息管理系</a:t>
            </a:r>
            <a:r>
              <a:rPr lang="en-US" altLang="zh-CN" dirty="0">
                <a:solidFill>
                  <a:srgbClr val="0000FF"/>
                </a:solidFill>
                <a:latin typeface="宋体" pitchFamily="2" charset="-122"/>
                <a:cs typeface="等线" panose="02010600030101010101" charset="-122"/>
              </a:rPr>
              <a:t>' </a:t>
            </a:r>
          </a:p>
          <a:p>
            <a:pPr lvl="1" eaLnBrk="1" hangingPunct="1">
              <a:spcBef>
                <a:spcPts val="600"/>
              </a:spcBef>
              <a:buFont typeface="Wingdings" panose="05000000000000000000" pitchFamily="2" charset="2"/>
              <a:buNone/>
            </a:pPr>
            <a:r>
              <a:rPr lang="en-US" altLang="zh-CN" dirty="0">
                <a:solidFill>
                  <a:srgbClr val="0000FF"/>
                </a:solidFill>
                <a:latin typeface="宋体" pitchFamily="2" charset="-122"/>
                <a:cs typeface="等线" panose="02010600030101010101" charset="-122"/>
              </a:rPr>
              <a:t>     AND Cname = '</a:t>
            </a:r>
            <a:r>
              <a:rPr lang="zh-CN" altLang="en-US" dirty="0">
                <a:solidFill>
                  <a:srgbClr val="0000FF"/>
                </a:solidFill>
                <a:latin typeface="宋体" pitchFamily="2" charset="-122"/>
                <a:cs typeface="等线" panose="02010600030101010101" charset="-122"/>
              </a:rPr>
              <a:t>计算机文化学</a:t>
            </a:r>
            <a:r>
              <a:rPr lang="en-US" altLang="zh-CN" dirty="0">
                <a:solidFill>
                  <a:srgbClr val="0000FF"/>
                </a:solidFill>
                <a:latin typeface="宋体" pitchFamily="2" charset="-122"/>
                <a:cs typeface="等线" panose="02010600030101010101" charset="-122"/>
              </a:rPr>
              <a:t>'</a:t>
            </a:r>
            <a:endParaRPr lang="zh-CN" altLang="en-US" dirty="0">
              <a:solidFill>
                <a:srgbClr val="0000FF"/>
              </a:solidFill>
              <a:latin typeface="宋体" pitchFamily="2" charset="-122"/>
              <a:cs typeface="等线" panose="02010600030101010101" charset="-122"/>
            </a:endParaRPr>
          </a:p>
        </p:txBody>
      </p:sp>
    </p:spTree>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2"/>
          <p:cNvSpPr>
            <a:spLocks noGrp="1"/>
          </p:cNvSpPr>
          <p:nvPr>
            <p:ph type="title"/>
          </p:nvPr>
        </p:nvSpPr>
        <p:spPr>
          <a:xfrm>
            <a:off x="500063" y="152400"/>
            <a:ext cx="8001000" cy="685800"/>
          </a:xfrm>
          <a:noFill/>
          <a:ln w="9525">
            <a:noFill/>
          </a:ln>
        </p:spPr>
        <p:txBody>
          <a:bodyPr vert="horz" wrap="square" lIns="91440" tIns="45720" rIns="91440" bIns="45720" rtlCol="0" anchor="ctr" anchorCtr="0">
            <a:normAutofit fontScale="90000"/>
          </a:bodyPr>
          <a:lstStyle/>
          <a:p>
            <a:pPr lvl="0" algn="ctr" eaLnBrk="1" hangingPunct="1">
              <a:buClrTx/>
              <a:buSzTx/>
              <a:buFontTx/>
            </a:pPr>
            <a:r>
              <a:rPr lang="zh-CN" altLang="en-US" sz="4000" b="0" dirty="0">
                <a:latin typeface="黑体" panose="02010609060101010101" pitchFamily="2" charset="-122"/>
                <a:ea typeface="黑体" panose="02010609060101010101" pitchFamily="2" charset="-122"/>
                <a:sym typeface="+mn-ea"/>
              </a:rPr>
              <a:t>示例（续）</a:t>
            </a:r>
          </a:p>
        </p:txBody>
      </p:sp>
      <p:sp>
        <p:nvSpPr>
          <p:cNvPr id="68611" name="Rectangle 3"/>
          <p:cNvSpPr>
            <a:spLocks noGrp="1"/>
          </p:cNvSpPr>
          <p:nvPr>
            <p:ph idx="1"/>
          </p:nvPr>
        </p:nvSpPr>
        <p:spPr>
          <a:xfrm>
            <a:off x="457200" y="1295400"/>
            <a:ext cx="8686800" cy="4876800"/>
          </a:xfrm>
        </p:spPr>
        <p:txBody>
          <a:bodyPr vert="horz" wrap="square" lIns="91440" tIns="45720" rIns="91440" bIns="45720" anchor="t" anchorCtr="0"/>
          <a:lstStyle/>
          <a:p>
            <a:pPr marL="0" indent="0" eaLnBrk="1" hangingPunct="1">
              <a:buNone/>
            </a:pPr>
            <a:r>
              <a:rPr lang="zh-CN" altLang="en-US" sz="3200" dirty="0" smtClean="0">
                <a:latin typeface="宋体" pitchFamily="2" charset="-122"/>
                <a:cs typeface="等线" panose="02010600030101010101" charset="-122"/>
              </a:rPr>
              <a:t>例</a:t>
            </a:r>
            <a:r>
              <a:rPr lang="en-US" altLang="zh-CN" sz="3200" dirty="0" smtClean="0"/>
              <a:t>4.45 </a:t>
            </a:r>
            <a:r>
              <a:rPr lang="zh-CN" altLang="en-US" sz="3200" dirty="0" smtClean="0">
                <a:latin typeface="宋体" pitchFamily="2" charset="-122"/>
                <a:cs typeface="等线" panose="02010600030101010101" charset="-122"/>
              </a:rPr>
              <a:t>查询</a:t>
            </a:r>
            <a:r>
              <a:rPr lang="zh-CN" altLang="en-US" sz="3200" dirty="0">
                <a:latin typeface="宋体" pitchFamily="2" charset="-122"/>
                <a:cs typeface="等线" panose="02010600030101010101" charset="-122"/>
              </a:rPr>
              <a:t>每个系的学生的考试平均成绩。</a:t>
            </a:r>
          </a:p>
          <a:p>
            <a:pPr lvl="1" eaLnBrk="1" hangingPunct="1">
              <a:spcBef>
                <a:spcPts val="2400"/>
              </a:spcBef>
              <a:buFont typeface="Wingdings" panose="05000000000000000000" pitchFamily="2" charset="2"/>
              <a:buNone/>
            </a:pPr>
            <a:r>
              <a:rPr lang="en-US" altLang="zh-CN" dirty="0">
                <a:solidFill>
                  <a:srgbClr val="0000FF"/>
                </a:solidFill>
                <a:latin typeface="宋体" pitchFamily="2" charset="-122"/>
                <a:cs typeface="等线" panose="02010600030101010101" charset="-122"/>
              </a:rPr>
              <a:t>SELECT </a:t>
            </a:r>
            <a:r>
              <a:rPr lang="en-US" altLang="zh-CN" dirty="0" err="1" smtClean="0">
                <a:solidFill>
                  <a:srgbClr val="0000FF"/>
                </a:solidFill>
                <a:latin typeface="宋体" pitchFamily="2" charset="-122"/>
                <a:cs typeface="等线" panose="02010600030101010101" charset="-122"/>
              </a:rPr>
              <a:t>Sdept,AVG</a:t>
            </a:r>
            <a:r>
              <a:rPr lang="en-US" altLang="zh-CN" dirty="0" smtClean="0">
                <a:solidFill>
                  <a:srgbClr val="0000FF"/>
                </a:solidFill>
                <a:latin typeface="宋体" pitchFamily="2" charset="-122"/>
                <a:cs typeface="等线" panose="02010600030101010101" charset="-122"/>
              </a:rPr>
              <a:t>(grade</a:t>
            </a:r>
            <a:r>
              <a:rPr lang="en-US" altLang="zh-CN" dirty="0">
                <a:solidFill>
                  <a:srgbClr val="0000FF"/>
                </a:solidFill>
                <a:latin typeface="宋体" pitchFamily="2" charset="-122"/>
                <a:cs typeface="等线" panose="02010600030101010101" charset="-122"/>
              </a:rPr>
              <a:t>) as AverageGrade</a:t>
            </a:r>
          </a:p>
          <a:p>
            <a:pPr lvl="1" eaLnBrk="1" hangingPunct="1">
              <a:buFont typeface="Wingdings" panose="05000000000000000000" pitchFamily="2" charset="2"/>
              <a:buNone/>
            </a:pPr>
            <a:r>
              <a:rPr lang="en-US" altLang="zh-CN" dirty="0">
                <a:solidFill>
                  <a:srgbClr val="0000FF"/>
                </a:solidFill>
                <a:latin typeface="宋体" pitchFamily="2" charset="-122"/>
                <a:cs typeface="等线" panose="02010600030101010101" charset="-122"/>
              </a:rPr>
              <a:t>   FROM student S JOIN SC </a:t>
            </a:r>
          </a:p>
          <a:p>
            <a:pPr lvl="1" eaLnBrk="1" hangingPunct="1">
              <a:buFont typeface="Wingdings" panose="05000000000000000000" pitchFamily="2" charset="2"/>
              <a:buNone/>
            </a:pPr>
            <a:r>
              <a:rPr lang="en-US" altLang="zh-CN" dirty="0">
                <a:solidFill>
                  <a:srgbClr val="0000FF"/>
                </a:solidFill>
                <a:latin typeface="宋体" pitchFamily="2" charset="-122"/>
                <a:cs typeface="等线" panose="02010600030101010101" charset="-122"/>
              </a:rPr>
              <a:t>   </a:t>
            </a:r>
            <a:r>
              <a:rPr lang="en-US" altLang="zh-CN" dirty="0" smtClean="0">
                <a:solidFill>
                  <a:srgbClr val="0000FF"/>
                </a:solidFill>
                <a:latin typeface="宋体" pitchFamily="2" charset="-122"/>
                <a:cs typeface="等线" panose="02010600030101010101" charset="-122"/>
              </a:rPr>
              <a:t>           ON </a:t>
            </a:r>
            <a:r>
              <a:rPr lang="en-US" altLang="zh-CN" dirty="0">
                <a:solidFill>
                  <a:srgbClr val="0000FF"/>
                </a:solidFill>
                <a:latin typeface="宋体" pitchFamily="2" charset="-122"/>
                <a:cs typeface="等线" panose="02010600030101010101" charset="-122"/>
              </a:rPr>
              <a:t>S.Sno = SC.Sno</a:t>
            </a:r>
          </a:p>
          <a:p>
            <a:pPr lvl="1" eaLnBrk="1" hangingPunct="1">
              <a:buFont typeface="Wingdings" panose="05000000000000000000" pitchFamily="2" charset="2"/>
              <a:buNone/>
            </a:pPr>
            <a:r>
              <a:rPr lang="en-US" altLang="zh-CN" dirty="0">
                <a:solidFill>
                  <a:srgbClr val="0000FF"/>
                </a:solidFill>
                <a:latin typeface="宋体" pitchFamily="2" charset="-122"/>
                <a:cs typeface="等线" panose="02010600030101010101" charset="-122"/>
              </a:rPr>
              <a:t>   GROUP BY Sdept</a:t>
            </a:r>
          </a:p>
        </p:txBody>
      </p:sp>
    </p:spTree>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p:cNvSpPr>
            <a:spLocks noGrp="1"/>
          </p:cNvSpPr>
          <p:nvPr>
            <p:ph type="title"/>
          </p:nvPr>
        </p:nvSpPr>
        <p:spPr>
          <a:xfrm>
            <a:off x="500063" y="152400"/>
            <a:ext cx="8001000" cy="685800"/>
          </a:xfrm>
          <a:noFill/>
          <a:ln w="9525">
            <a:noFill/>
          </a:ln>
        </p:spPr>
        <p:txBody>
          <a:bodyPr vert="horz" wrap="square" lIns="91440" tIns="45720" rIns="91440" bIns="45720" rtlCol="0" anchor="ctr" anchorCtr="0">
            <a:normAutofit fontScale="90000"/>
          </a:bodyPr>
          <a:lstStyle/>
          <a:p>
            <a:pPr lvl="0" algn="ctr" eaLnBrk="1" hangingPunct="1">
              <a:buClrTx/>
              <a:buSzTx/>
              <a:buFontTx/>
            </a:pPr>
            <a:r>
              <a:rPr lang="zh-CN" altLang="en-US" sz="4000" b="0" dirty="0">
                <a:latin typeface="黑体" panose="02010609060101010101" pitchFamily="2" charset="-122"/>
                <a:ea typeface="黑体" panose="02010609060101010101" pitchFamily="2" charset="-122"/>
                <a:sym typeface="+mn-ea"/>
              </a:rPr>
              <a:t>示例（续）</a:t>
            </a:r>
          </a:p>
        </p:txBody>
      </p:sp>
      <p:sp>
        <p:nvSpPr>
          <p:cNvPr id="69635" name="Rectangle 3"/>
          <p:cNvSpPr>
            <a:spLocks noGrp="1"/>
          </p:cNvSpPr>
          <p:nvPr>
            <p:ph idx="1"/>
          </p:nvPr>
        </p:nvSpPr>
        <p:spPr>
          <a:xfrm>
            <a:off x="457200" y="1196975"/>
            <a:ext cx="8218488" cy="5160963"/>
          </a:xfrm>
        </p:spPr>
        <p:txBody>
          <a:bodyPr vert="horz" wrap="square" lIns="91440" tIns="45720" rIns="91440" bIns="45720" anchor="t" anchorCtr="0"/>
          <a:lstStyle/>
          <a:p>
            <a:pPr marL="0" indent="0" eaLnBrk="1" hangingPunct="1">
              <a:lnSpc>
                <a:spcPct val="90000"/>
              </a:lnSpc>
              <a:spcBef>
                <a:spcPts val="200"/>
              </a:spcBef>
              <a:buNone/>
            </a:pPr>
            <a:r>
              <a:rPr lang="zh-CN" altLang="en-US" sz="3200" dirty="0" smtClean="0">
                <a:latin typeface="宋体" pitchFamily="2" charset="-122"/>
                <a:cs typeface="等线" panose="02010600030101010101" charset="-122"/>
              </a:rPr>
              <a:t>例</a:t>
            </a:r>
            <a:r>
              <a:rPr lang="en-US" altLang="zh-CN" sz="3200" dirty="0" smtClean="0"/>
              <a:t>4.46 </a:t>
            </a:r>
            <a:r>
              <a:rPr lang="zh-CN" altLang="en-US" sz="3200" dirty="0" smtClean="0">
                <a:latin typeface="宋体" pitchFamily="2" charset="-122"/>
                <a:cs typeface="等线" panose="02010600030101010101" charset="-122"/>
              </a:rPr>
              <a:t>有</a:t>
            </a:r>
            <a:r>
              <a:rPr lang="zh-CN" altLang="en-US" sz="3200" dirty="0">
                <a:latin typeface="宋体" pitchFamily="2" charset="-122"/>
                <a:cs typeface="等线" panose="02010600030101010101" charset="-122"/>
              </a:rPr>
              <a:t>分组和行筛选的多表连接查询。查询计算机系每门课程的选课人数、平均成绩、最高成绩和最低成绩。</a:t>
            </a:r>
          </a:p>
          <a:p>
            <a:pPr lvl="1" algn="just" eaLnBrk="1" hangingPunct="1">
              <a:lnSpc>
                <a:spcPct val="90000"/>
              </a:lnSpc>
              <a:spcBef>
                <a:spcPts val="200"/>
              </a:spcBef>
              <a:buFont typeface="Wingdings" panose="05000000000000000000" pitchFamily="2" charset="2"/>
              <a:buNone/>
            </a:pPr>
            <a:r>
              <a:rPr lang="en-US" altLang="zh-CN" dirty="0">
                <a:solidFill>
                  <a:srgbClr val="0000FF"/>
                </a:solidFill>
                <a:latin typeface="宋体" pitchFamily="2" charset="-122"/>
                <a:cs typeface="等线" panose="02010600030101010101" charset="-122"/>
              </a:rPr>
              <a:t>SELECT Cno, COUNT(*) AS Total, </a:t>
            </a:r>
          </a:p>
          <a:p>
            <a:pPr lvl="1" algn="just" eaLnBrk="1" hangingPunct="1">
              <a:lnSpc>
                <a:spcPct val="90000"/>
              </a:lnSpc>
              <a:spcBef>
                <a:spcPts val="200"/>
              </a:spcBef>
              <a:buFont typeface="Wingdings" panose="05000000000000000000" pitchFamily="2" charset="2"/>
              <a:buNone/>
            </a:pPr>
            <a:r>
              <a:rPr lang="en-US" altLang="zh-CN" dirty="0">
                <a:solidFill>
                  <a:srgbClr val="0000FF"/>
                </a:solidFill>
                <a:latin typeface="宋体" pitchFamily="2" charset="-122"/>
                <a:cs typeface="等线" panose="02010600030101010101" charset="-122"/>
              </a:rPr>
              <a:t>    AVG(Grade) as AvgGrade, </a:t>
            </a:r>
          </a:p>
          <a:p>
            <a:pPr lvl="1" algn="just" eaLnBrk="1" hangingPunct="1">
              <a:lnSpc>
                <a:spcPct val="90000"/>
              </a:lnSpc>
              <a:spcBef>
                <a:spcPts val="200"/>
              </a:spcBef>
              <a:buFont typeface="Wingdings" panose="05000000000000000000" pitchFamily="2" charset="2"/>
              <a:buNone/>
            </a:pPr>
            <a:r>
              <a:rPr lang="en-US" altLang="zh-CN" dirty="0">
                <a:solidFill>
                  <a:srgbClr val="0000FF"/>
                </a:solidFill>
                <a:latin typeface="宋体" pitchFamily="2" charset="-122"/>
                <a:cs typeface="等线" panose="02010600030101010101" charset="-122"/>
              </a:rPr>
              <a:t>    MAX(Grade) as MaxGrade, </a:t>
            </a:r>
          </a:p>
          <a:p>
            <a:pPr lvl="1" algn="just" eaLnBrk="1" hangingPunct="1">
              <a:lnSpc>
                <a:spcPct val="90000"/>
              </a:lnSpc>
              <a:spcBef>
                <a:spcPts val="200"/>
              </a:spcBef>
              <a:buFont typeface="Wingdings" panose="05000000000000000000" pitchFamily="2" charset="2"/>
              <a:buNone/>
            </a:pPr>
            <a:r>
              <a:rPr lang="en-US" altLang="zh-CN" dirty="0">
                <a:solidFill>
                  <a:srgbClr val="0000FF"/>
                </a:solidFill>
                <a:latin typeface="宋体" pitchFamily="2" charset="-122"/>
                <a:cs typeface="等线" panose="02010600030101010101" charset="-122"/>
              </a:rPr>
              <a:t>    MIN(Grade) as MinGrade</a:t>
            </a:r>
          </a:p>
          <a:p>
            <a:pPr lvl="1" algn="just" eaLnBrk="1" hangingPunct="1">
              <a:lnSpc>
                <a:spcPct val="90000"/>
              </a:lnSpc>
              <a:spcBef>
                <a:spcPts val="200"/>
              </a:spcBef>
              <a:buFont typeface="Wingdings" panose="05000000000000000000" pitchFamily="2" charset="2"/>
              <a:buNone/>
            </a:pPr>
            <a:r>
              <a:rPr lang="en-US" altLang="zh-CN" dirty="0">
                <a:solidFill>
                  <a:srgbClr val="0000FF"/>
                </a:solidFill>
                <a:latin typeface="宋体" pitchFamily="2" charset="-122"/>
                <a:cs typeface="等线" panose="02010600030101010101" charset="-122"/>
              </a:rPr>
              <a:t>  FROM Student S JOIN SC </a:t>
            </a:r>
          </a:p>
          <a:p>
            <a:pPr lvl="1" algn="just" eaLnBrk="1" hangingPunct="1">
              <a:lnSpc>
                <a:spcPct val="90000"/>
              </a:lnSpc>
              <a:spcBef>
                <a:spcPts val="200"/>
              </a:spcBef>
              <a:buFont typeface="Wingdings" panose="05000000000000000000" pitchFamily="2" charset="2"/>
              <a:buNone/>
            </a:pPr>
            <a:r>
              <a:rPr lang="en-US" altLang="zh-CN" dirty="0" smtClean="0">
                <a:solidFill>
                  <a:srgbClr val="0000FF"/>
                </a:solidFill>
                <a:latin typeface="宋体" pitchFamily="2" charset="-122"/>
                <a:cs typeface="等线" panose="02010600030101010101" charset="-122"/>
              </a:rPr>
              <a:t>         ON </a:t>
            </a:r>
            <a:r>
              <a:rPr lang="en-US" altLang="zh-CN" dirty="0">
                <a:solidFill>
                  <a:srgbClr val="0000FF"/>
                </a:solidFill>
                <a:latin typeface="宋体" pitchFamily="2" charset="-122"/>
                <a:cs typeface="等线" panose="02010600030101010101" charset="-122"/>
              </a:rPr>
              <a:t>S.Sno = SC.Sno</a:t>
            </a:r>
          </a:p>
          <a:p>
            <a:pPr lvl="1" algn="just" eaLnBrk="1" hangingPunct="1">
              <a:lnSpc>
                <a:spcPct val="90000"/>
              </a:lnSpc>
              <a:spcBef>
                <a:spcPts val="200"/>
              </a:spcBef>
              <a:buFont typeface="Wingdings" panose="05000000000000000000" pitchFamily="2" charset="2"/>
              <a:buNone/>
            </a:pPr>
            <a:r>
              <a:rPr lang="en-US" altLang="zh-CN" dirty="0">
                <a:solidFill>
                  <a:srgbClr val="0000FF"/>
                </a:solidFill>
                <a:latin typeface="宋体" pitchFamily="2" charset="-122"/>
                <a:cs typeface="等线" panose="02010600030101010101" charset="-122"/>
              </a:rPr>
              <a:t>  WHERE Sdept = '</a:t>
            </a:r>
            <a:r>
              <a:rPr lang="zh-CN" altLang="en-US" dirty="0">
                <a:solidFill>
                  <a:srgbClr val="0000FF"/>
                </a:solidFill>
                <a:latin typeface="宋体" pitchFamily="2" charset="-122"/>
                <a:cs typeface="等线" panose="02010600030101010101" charset="-122"/>
              </a:rPr>
              <a:t>计算机系</a:t>
            </a:r>
            <a:r>
              <a:rPr lang="en-US" altLang="zh-CN" dirty="0">
                <a:solidFill>
                  <a:srgbClr val="0000FF"/>
                </a:solidFill>
                <a:latin typeface="宋体" pitchFamily="2" charset="-122"/>
                <a:cs typeface="等线" panose="02010600030101010101" charset="-122"/>
              </a:rPr>
              <a:t>' </a:t>
            </a:r>
          </a:p>
          <a:p>
            <a:pPr lvl="1" algn="just" eaLnBrk="1" hangingPunct="1">
              <a:lnSpc>
                <a:spcPct val="90000"/>
              </a:lnSpc>
              <a:spcBef>
                <a:spcPts val="200"/>
              </a:spcBef>
              <a:buFont typeface="Wingdings" panose="05000000000000000000" pitchFamily="2" charset="2"/>
              <a:buNone/>
            </a:pPr>
            <a:r>
              <a:rPr lang="en-US" altLang="zh-CN" dirty="0">
                <a:solidFill>
                  <a:srgbClr val="0000FF"/>
                </a:solidFill>
                <a:latin typeface="宋体" pitchFamily="2" charset="-122"/>
                <a:cs typeface="等线" panose="02010600030101010101" charset="-122"/>
              </a:rPr>
              <a:t>  GROUP BY Cno</a:t>
            </a:r>
            <a:endParaRPr lang="zh-CN" altLang="en-US" dirty="0">
              <a:solidFill>
                <a:srgbClr val="0000FF"/>
              </a:solidFill>
              <a:latin typeface="宋体" pitchFamily="2" charset="-122"/>
              <a:cs typeface="等线" panose="02010600030101010101" charset="-122"/>
            </a:endParaRPr>
          </a:p>
        </p:txBody>
      </p:sp>
    </p:spTree>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p:cNvSpPr>
            <a:spLocks noGrp="1"/>
          </p:cNvSpPr>
          <p:nvPr>
            <p:ph type="title"/>
          </p:nvPr>
        </p:nvSpPr>
        <p:spPr>
          <a:xfrm>
            <a:off x="500063" y="152400"/>
            <a:ext cx="8001000" cy="685800"/>
          </a:xfrm>
          <a:noFill/>
          <a:ln w="9525">
            <a:noFill/>
          </a:ln>
        </p:spPr>
        <p:txBody>
          <a:bodyPr vert="horz" wrap="square" lIns="91440" tIns="45720" rIns="91440" bIns="45720" rtlCol="0" anchor="ctr" anchorCtr="0">
            <a:normAutofit fontScale="90000"/>
          </a:bodyPr>
          <a:lstStyle/>
          <a:p>
            <a:pPr lvl="0" algn="ctr" eaLnBrk="1" hangingPunct="1">
              <a:buClrTx/>
              <a:buSzTx/>
              <a:buFontTx/>
            </a:pPr>
            <a:r>
              <a:rPr lang="zh-CN" altLang="en-US" sz="4000" b="0" dirty="0">
                <a:latin typeface="黑体" panose="02010609060101010101" pitchFamily="2" charset="-122"/>
                <a:ea typeface="黑体" panose="02010609060101010101" pitchFamily="2" charset="-122"/>
                <a:sym typeface="+mn-ea"/>
              </a:rPr>
              <a:t>2 自连接</a:t>
            </a:r>
          </a:p>
        </p:txBody>
      </p:sp>
      <p:sp>
        <p:nvSpPr>
          <p:cNvPr id="70659" name="Rectangle 3"/>
          <p:cNvSpPr>
            <a:spLocks noGrp="1"/>
          </p:cNvSpPr>
          <p:nvPr>
            <p:ph idx="1"/>
          </p:nvPr>
        </p:nvSpPr>
        <p:spPr>
          <a:xfrm>
            <a:off x="611188" y="1484313"/>
            <a:ext cx="8001000" cy="4418012"/>
          </a:xfrm>
        </p:spPr>
        <p:txBody>
          <a:bodyPr vert="horz" wrap="square" lIns="91440" tIns="45720" rIns="91440" bIns="45720" anchor="t" anchorCtr="0"/>
          <a:lstStyle/>
          <a:p>
            <a:pPr eaLnBrk="1" hangingPunct="1">
              <a:spcBef>
                <a:spcPts val="2400"/>
              </a:spcBef>
            </a:pPr>
            <a:r>
              <a:rPr lang="zh-CN" altLang="en-US" sz="3600" dirty="0" smtClean="0">
                <a:latin typeface="宋体" pitchFamily="2" charset="-122"/>
                <a:cs typeface="+mn-cs"/>
              </a:rPr>
              <a:t>一</a:t>
            </a:r>
            <a:r>
              <a:rPr lang="zh-CN" altLang="en-US" sz="3600" dirty="0">
                <a:latin typeface="宋体" pitchFamily="2" charset="-122"/>
                <a:cs typeface="+mn-cs"/>
              </a:rPr>
              <a:t>种特殊的内连接。</a:t>
            </a:r>
          </a:p>
          <a:p>
            <a:pPr eaLnBrk="1" hangingPunct="1">
              <a:spcBef>
                <a:spcPts val="2400"/>
              </a:spcBef>
            </a:pPr>
            <a:r>
              <a:rPr lang="zh-CN" altLang="en-US" sz="3600" dirty="0">
                <a:latin typeface="宋体" pitchFamily="2" charset="-122"/>
                <a:cs typeface="+mn-cs"/>
              </a:rPr>
              <a:t>相互连接的表物理上为同一张表。</a:t>
            </a:r>
          </a:p>
          <a:p>
            <a:pPr eaLnBrk="1" hangingPunct="1">
              <a:spcBef>
                <a:spcPts val="2400"/>
              </a:spcBef>
            </a:pPr>
            <a:r>
              <a:rPr lang="zh-CN" altLang="en-US" sz="3600" dirty="0">
                <a:latin typeface="宋体" pitchFamily="2" charset="-122"/>
                <a:cs typeface="+mn-cs"/>
              </a:rPr>
              <a:t>通过为两个表取别名，使之在逻辑上成为两个表。</a:t>
            </a:r>
          </a:p>
        </p:txBody>
      </p:sp>
    </p:spTree>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p:cNvSpPr>
            <a:spLocks noGrp="1"/>
          </p:cNvSpPr>
          <p:nvPr>
            <p:ph type="title"/>
          </p:nvPr>
        </p:nvSpPr>
        <p:spPr>
          <a:xfrm>
            <a:off x="500063" y="152400"/>
            <a:ext cx="8001000" cy="685800"/>
          </a:xfrm>
          <a:noFill/>
          <a:ln w="9525">
            <a:noFill/>
          </a:ln>
        </p:spPr>
        <p:txBody>
          <a:bodyPr vert="horz" wrap="square" lIns="91440" tIns="45720" rIns="91440" bIns="45720" rtlCol="0" anchor="ctr" anchorCtr="0">
            <a:normAutofit fontScale="90000"/>
          </a:bodyPr>
          <a:lstStyle/>
          <a:p>
            <a:pPr lvl="0" algn="ctr" eaLnBrk="1" hangingPunct="1">
              <a:buClrTx/>
              <a:buSzTx/>
              <a:buFontTx/>
            </a:pPr>
            <a:r>
              <a:rPr lang="zh-CN" altLang="en-US" sz="4000" b="0" dirty="0">
                <a:latin typeface="黑体" panose="02010609060101010101" pitchFamily="2" charset="-122"/>
                <a:ea typeface="黑体" panose="02010609060101010101" pitchFamily="2" charset="-122"/>
                <a:sym typeface="+mn-ea"/>
              </a:rPr>
              <a:t>示例</a:t>
            </a:r>
          </a:p>
        </p:txBody>
      </p:sp>
      <p:sp>
        <p:nvSpPr>
          <p:cNvPr id="480259" name="Rectangle 3"/>
          <p:cNvSpPr>
            <a:spLocks noGrp="1"/>
          </p:cNvSpPr>
          <p:nvPr>
            <p:ph idx="1"/>
          </p:nvPr>
        </p:nvSpPr>
        <p:spPr>
          <a:xfrm>
            <a:off x="331470" y="1295400"/>
            <a:ext cx="8366125" cy="4876800"/>
          </a:xfrm>
        </p:spPr>
        <p:txBody>
          <a:bodyPr vert="horz" wrap="square" lIns="91440" tIns="45720" rIns="91440" bIns="45720" anchor="t" anchorCtr="0"/>
          <a:lstStyle/>
          <a:p>
            <a:pPr marL="0" indent="0" eaLnBrk="1" hangingPunct="1">
              <a:buNone/>
            </a:pPr>
            <a:r>
              <a:rPr lang="zh-CN" altLang="en-US" sz="3200" dirty="0" smtClean="0">
                <a:latin typeface="宋体" pitchFamily="2" charset="-122"/>
                <a:cs typeface="等线" panose="02010600030101010101" charset="-122"/>
              </a:rPr>
              <a:t>例</a:t>
            </a:r>
            <a:r>
              <a:rPr lang="en-US" altLang="zh-CN" sz="3200" dirty="0" smtClean="0"/>
              <a:t>4.47</a:t>
            </a:r>
            <a:r>
              <a:rPr lang="zh-CN" altLang="en-US" sz="3200" dirty="0"/>
              <a:t> </a:t>
            </a:r>
            <a:r>
              <a:rPr lang="zh-CN" altLang="en-US" sz="3200" dirty="0" smtClean="0">
                <a:latin typeface="宋体" pitchFamily="2" charset="-122"/>
                <a:cs typeface="等线" panose="02010600030101010101" charset="-122"/>
              </a:rPr>
              <a:t>查询</a:t>
            </a:r>
            <a:r>
              <a:rPr lang="zh-CN" altLang="en-US" sz="3200" dirty="0">
                <a:latin typeface="宋体" pitchFamily="2" charset="-122"/>
                <a:cs typeface="等线" panose="02010600030101010101" charset="-122"/>
              </a:rPr>
              <a:t>与刘晨在同一个系学习的学生的姓名和所在的系。</a:t>
            </a:r>
          </a:p>
          <a:p>
            <a:pPr lvl="1" eaLnBrk="1" hangingPunct="1">
              <a:buFont typeface="Wingdings" panose="05000000000000000000" pitchFamily="2" charset="2"/>
              <a:buNone/>
            </a:pPr>
            <a:r>
              <a:rPr lang="en-US" altLang="zh-CN" sz="2800" dirty="0">
                <a:solidFill>
                  <a:srgbClr val="0000FF"/>
                </a:solidFill>
                <a:latin typeface="宋体" pitchFamily="2" charset="-122"/>
                <a:cs typeface="等线" panose="02010600030101010101" charset="-122"/>
              </a:rPr>
              <a:t>SELECT S2.Sname, S2.Sdept       </a:t>
            </a:r>
          </a:p>
          <a:p>
            <a:pPr lvl="1" eaLnBrk="1" hangingPunct="1">
              <a:buFont typeface="Wingdings" panose="05000000000000000000" pitchFamily="2" charset="2"/>
              <a:buNone/>
            </a:pPr>
            <a:r>
              <a:rPr lang="en-US" altLang="zh-CN" sz="2800" dirty="0" smtClean="0">
                <a:solidFill>
                  <a:srgbClr val="0000FF"/>
                </a:solidFill>
                <a:latin typeface="宋体" pitchFamily="2" charset="-122"/>
                <a:cs typeface="等线" panose="02010600030101010101" charset="-122"/>
              </a:rPr>
              <a:t>FROM </a:t>
            </a:r>
            <a:r>
              <a:rPr lang="en-US" altLang="zh-CN" sz="2800" dirty="0">
                <a:solidFill>
                  <a:srgbClr val="0000FF"/>
                </a:solidFill>
                <a:latin typeface="宋体" pitchFamily="2" charset="-122"/>
                <a:cs typeface="等线" panose="02010600030101010101" charset="-122"/>
              </a:rPr>
              <a:t>Student S1 JOIN Student S2 </a:t>
            </a:r>
          </a:p>
          <a:p>
            <a:pPr lvl="1" eaLnBrk="1" hangingPunct="1">
              <a:buFont typeface="Wingdings" panose="05000000000000000000" pitchFamily="2" charset="2"/>
              <a:buNone/>
            </a:pPr>
            <a:r>
              <a:rPr lang="en-US" altLang="zh-CN" sz="2800" dirty="0">
                <a:solidFill>
                  <a:srgbClr val="0000FF"/>
                </a:solidFill>
                <a:latin typeface="宋体" pitchFamily="2" charset="-122"/>
                <a:cs typeface="等线" panose="02010600030101010101" charset="-122"/>
              </a:rPr>
              <a:t>  </a:t>
            </a:r>
            <a:r>
              <a:rPr lang="en-US" altLang="zh-CN" sz="2800" dirty="0" smtClean="0">
                <a:solidFill>
                  <a:srgbClr val="0000FF"/>
                </a:solidFill>
                <a:latin typeface="宋体" pitchFamily="2" charset="-122"/>
                <a:cs typeface="等线" panose="02010600030101010101" charset="-122"/>
              </a:rPr>
              <a:t>ON </a:t>
            </a:r>
            <a:r>
              <a:rPr lang="en-US" altLang="zh-CN" sz="2800" dirty="0">
                <a:solidFill>
                  <a:srgbClr val="0000FF"/>
                </a:solidFill>
                <a:latin typeface="宋体" pitchFamily="2" charset="-122"/>
                <a:cs typeface="等线" panose="02010600030101010101" charset="-122"/>
              </a:rPr>
              <a:t>S1.Sdept = </a:t>
            </a:r>
            <a:r>
              <a:rPr lang="en-US" altLang="zh-CN" sz="2800" dirty="0" smtClean="0">
                <a:solidFill>
                  <a:srgbClr val="0000FF"/>
                </a:solidFill>
                <a:latin typeface="宋体" pitchFamily="2" charset="-122"/>
                <a:cs typeface="等线" panose="02010600030101010101" charset="-122"/>
              </a:rPr>
              <a:t>S2.Sdept </a:t>
            </a:r>
            <a:r>
              <a:rPr lang="en-US" altLang="zh-CN" sz="2800" dirty="0" smtClean="0">
                <a:solidFill>
                  <a:srgbClr val="009900"/>
                </a:solidFill>
                <a:latin typeface="宋体" pitchFamily="2" charset="-122"/>
                <a:cs typeface="等线" panose="02010600030101010101" charset="-122"/>
              </a:rPr>
              <a:t>--</a:t>
            </a:r>
            <a:r>
              <a:rPr lang="zh-CN" altLang="en-US" sz="2800" dirty="0">
                <a:solidFill>
                  <a:srgbClr val="009900"/>
                </a:solidFill>
                <a:latin typeface="宋体" pitchFamily="2" charset="-122"/>
                <a:cs typeface="等线" panose="02010600030101010101" charset="-122"/>
              </a:rPr>
              <a:t>是同一个系的学生</a:t>
            </a:r>
            <a:endParaRPr lang="en-US" altLang="zh-CN" sz="2800" dirty="0">
              <a:solidFill>
                <a:srgbClr val="009900"/>
              </a:solidFill>
              <a:latin typeface="宋体" pitchFamily="2" charset="-122"/>
              <a:cs typeface="等线" panose="02010600030101010101" charset="-122"/>
            </a:endParaRPr>
          </a:p>
          <a:p>
            <a:pPr lvl="1" eaLnBrk="1" hangingPunct="1">
              <a:buFont typeface="Wingdings" panose="05000000000000000000" pitchFamily="2" charset="2"/>
              <a:buNone/>
            </a:pPr>
            <a:r>
              <a:rPr lang="en-US" altLang="zh-CN" sz="2800" dirty="0" smtClean="0">
                <a:solidFill>
                  <a:srgbClr val="0000FF"/>
                </a:solidFill>
                <a:latin typeface="宋体" pitchFamily="2" charset="-122"/>
                <a:cs typeface="等线" panose="02010600030101010101" charset="-122"/>
              </a:rPr>
              <a:t>WHERE S1.Sname= </a:t>
            </a:r>
            <a:r>
              <a:rPr lang="en-US" altLang="zh-CN" sz="2800" dirty="0">
                <a:solidFill>
                  <a:srgbClr val="0000FF"/>
                </a:solidFill>
                <a:latin typeface="宋体" pitchFamily="2" charset="-122"/>
                <a:cs typeface="等线" panose="02010600030101010101" charset="-122"/>
              </a:rPr>
              <a:t>'</a:t>
            </a:r>
            <a:r>
              <a:rPr lang="zh-CN" altLang="en-US" sz="2800" dirty="0">
                <a:solidFill>
                  <a:srgbClr val="0000FF"/>
                </a:solidFill>
                <a:latin typeface="宋体" pitchFamily="2" charset="-122"/>
                <a:cs typeface="等线" panose="02010600030101010101" charset="-122"/>
              </a:rPr>
              <a:t>刘晨</a:t>
            </a:r>
            <a:r>
              <a:rPr lang="en-US" altLang="zh-CN" sz="2800" dirty="0">
                <a:solidFill>
                  <a:srgbClr val="0000FF"/>
                </a:solidFill>
                <a:latin typeface="宋体" pitchFamily="2" charset="-122"/>
                <a:cs typeface="等线" panose="02010600030101010101" charset="-122"/>
              </a:rPr>
              <a:t>' </a:t>
            </a:r>
            <a:r>
              <a:rPr lang="en-US" altLang="zh-CN" sz="2400" dirty="0">
                <a:solidFill>
                  <a:srgbClr val="009900"/>
                </a:solidFill>
                <a:latin typeface="宋体" pitchFamily="2" charset="-122"/>
                <a:cs typeface="等线" panose="02010600030101010101" charset="-122"/>
              </a:rPr>
              <a:t>-- S1</a:t>
            </a:r>
            <a:r>
              <a:rPr lang="zh-CN" altLang="en-US" sz="2400" dirty="0">
                <a:solidFill>
                  <a:srgbClr val="009900"/>
                </a:solidFill>
                <a:latin typeface="宋体" pitchFamily="2" charset="-122"/>
                <a:cs typeface="等线" panose="02010600030101010101" charset="-122"/>
              </a:rPr>
              <a:t>表作为查询条件表</a:t>
            </a:r>
            <a:endParaRPr lang="en-US" altLang="zh-CN" sz="2800" dirty="0">
              <a:solidFill>
                <a:srgbClr val="009900"/>
              </a:solidFill>
              <a:latin typeface="宋体" pitchFamily="2" charset="-122"/>
              <a:cs typeface="等线" panose="02010600030101010101" charset="-122"/>
            </a:endParaRPr>
          </a:p>
          <a:p>
            <a:pPr lvl="1" eaLnBrk="1" hangingPunct="1">
              <a:buFont typeface="Wingdings" panose="05000000000000000000" pitchFamily="2" charset="2"/>
              <a:buNone/>
            </a:pPr>
            <a:r>
              <a:rPr lang="en-US" altLang="zh-CN" sz="2800" dirty="0">
                <a:solidFill>
                  <a:srgbClr val="0000FF"/>
                </a:solidFill>
                <a:latin typeface="宋体" pitchFamily="2" charset="-122"/>
                <a:cs typeface="等线" panose="02010600030101010101" charset="-122"/>
              </a:rPr>
              <a:t>  AND </a:t>
            </a:r>
            <a:r>
              <a:rPr lang="en-US" altLang="zh-CN" sz="2800" dirty="0" smtClean="0">
                <a:solidFill>
                  <a:srgbClr val="0000FF"/>
                </a:solidFill>
                <a:latin typeface="宋体" pitchFamily="2" charset="-122"/>
                <a:cs typeface="等线" panose="02010600030101010101" charset="-122"/>
              </a:rPr>
              <a:t>S2.Sname!= </a:t>
            </a:r>
            <a:r>
              <a:rPr lang="en-US" altLang="zh-CN" sz="2800" dirty="0">
                <a:solidFill>
                  <a:srgbClr val="0000FF"/>
                </a:solidFill>
                <a:latin typeface="宋体" pitchFamily="2" charset="-122"/>
                <a:cs typeface="等线" panose="02010600030101010101" charset="-122"/>
              </a:rPr>
              <a:t>'</a:t>
            </a:r>
            <a:r>
              <a:rPr lang="zh-CN" altLang="en-US" sz="2800" dirty="0">
                <a:solidFill>
                  <a:srgbClr val="0000FF"/>
                </a:solidFill>
                <a:latin typeface="宋体" pitchFamily="2" charset="-122"/>
                <a:cs typeface="等线" panose="02010600030101010101" charset="-122"/>
              </a:rPr>
              <a:t>刘晨</a:t>
            </a:r>
            <a:r>
              <a:rPr lang="en-US" altLang="zh-CN" sz="2800" dirty="0" smtClean="0">
                <a:solidFill>
                  <a:srgbClr val="0000FF"/>
                </a:solidFill>
                <a:latin typeface="宋体" pitchFamily="2" charset="-122"/>
                <a:cs typeface="等线" panose="02010600030101010101" charset="-122"/>
              </a:rPr>
              <a:t>' </a:t>
            </a:r>
            <a:r>
              <a:rPr lang="en-US" altLang="zh-CN" sz="2800" dirty="0">
                <a:solidFill>
                  <a:srgbClr val="009900"/>
                </a:solidFill>
                <a:latin typeface="宋体" pitchFamily="2" charset="-122"/>
                <a:cs typeface="等线" panose="02010600030101010101" charset="-122"/>
              </a:rPr>
              <a:t>-- S2</a:t>
            </a:r>
            <a:r>
              <a:rPr lang="zh-CN" altLang="en-US" sz="2800" dirty="0">
                <a:solidFill>
                  <a:srgbClr val="009900"/>
                </a:solidFill>
                <a:latin typeface="宋体" pitchFamily="2" charset="-122"/>
                <a:cs typeface="等线" panose="02010600030101010101" charset="-122"/>
              </a:rPr>
              <a:t>表作为结果表</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80259">
                                            <p:txEl>
                                              <p:pRg st="0" end="0"/>
                                            </p:txEl>
                                          </p:spTgt>
                                        </p:tgtEl>
                                        <p:attrNameLst>
                                          <p:attrName>style.visibility</p:attrName>
                                        </p:attrNameLst>
                                      </p:cBhvr>
                                      <p:to>
                                        <p:strVal val="visible"/>
                                      </p:to>
                                    </p:set>
                                    <p:animEffect transition="in" filter="blinds(horizontal)">
                                      <p:cBhvr>
                                        <p:cTn id="7" dur="500"/>
                                        <p:tgtEl>
                                          <p:spTgt spid="48025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480259">
                                            <p:txEl>
                                              <p:pRg st="1" end="1"/>
                                            </p:txEl>
                                          </p:spTgt>
                                        </p:tgtEl>
                                        <p:attrNameLst>
                                          <p:attrName>style.visibility</p:attrName>
                                        </p:attrNameLst>
                                      </p:cBhvr>
                                      <p:to>
                                        <p:strVal val="visible"/>
                                      </p:to>
                                    </p:set>
                                    <p:animEffect transition="in" filter="blinds(horizontal)">
                                      <p:cBhvr>
                                        <p:cTn id="12" dur="500"/>
                                        <p:tgtEl>
                                          <p:spTgt spid="480259">
                                            <p:txEl>
                                              <p:pRg st="1" end="1"/>
                                            </p:txEl>
                                          </p:spTgt>
                                        </p:tgtEl>
                                      </p:cBhvr>
                                    </p:animEffect>
                                  </p:childTnLst>
                                </p:cTn>
                              </p:par>
                              <p:par>
                                <p:cTn id="13" presetID="3" presetClass="entr" presetSubtype="10" fill="hold" grpId="0" nodeType="withEffect">
                                  <p:stCondLst>
                                    <p:cond delay="0"/>
                                  </p:stCondLst>
                                  <p:childTnLst>
                                    <p:set>
                                      <p:cBhvr>
                                        <p:cTn id="14" dur="1" fill="hold">
                                          <p:stCondLst>
                                            <p:cond delay="0"/>
                                          </p:stCondLst>
                                        </p:cTn>
                                        <p:tgtEl>
                                          <p:spTgt spid="480259">
                                            <p:txEl>
                                              <p:pRg st="2" end="2"/>
                                            </p:txEl>
                                          </p:spTgt>
                                        </p:tgtEl>
                                        <p:attrNameLst>
                                          <p:attrName>style.visibility</p:attrName>
                                        </p:attrNameLst>
                                      </p:cBhvr>
                                      <p:to>
                                        <p:strVal val="visible"/>
                                      </p:to>
                                    </p:set>
                                    <p:animEffect transition="in" filter="blinds(horizontal)">
                                      <p:cBhvr>
                                        <p:cTn id="15" dur="500"/>
                                        <p:tgtEl>
                                          <p:spTgt spid="480259">
                                            <p:txEl>
                                              <p:pRg st="2" end="2"/>
                                            </p:txEl>
                                          </p:spTgt>
                                        </p:tgtEl>
                                      </p:cBhvr>
                                    </p:animEffect>
                                  </p:childTnLst>
                                </p:cTn>
                              </p:par>
                              <p:par>
                                <p:cTn id="16" presetID="3" presetClass="entr" presetSubtype="10" fill="hold" grpId="0" nodeType="withEffect">
                                  <p:stCondLst>
                                    <p:cond delay="0"/>
                                  </p:stCondLst>
                                  <p:childTnLst>
                                    <p:set>
                                      <p:cBhvr>
                                        <p:cTn id="17" dur="1" fill="hold">
                                          <p:stCondLst>
                                            <p:cond delay="0"/>
                                          </p:stCondLst>
                                        </p:cTn>
                                        <p:tgtEl>
                                          <p:spTgt spid="480259">
                                            <p:txEl>
                                              <p:pRg st="3" end="3"/>
                                            </p:txEl>
                                          </p:spTgt>
                                        </p:tgtEl>
                                        <p:attrNameLst>
                                          <p:attrName>style.visibility</p:attrName>
                                        </p:attrNameLst>
                                      </p:cBhvr>
                                      <p:to>
                                        <p:strVal val="visible"/>
                                      </p:to>
                                    </p:set>
                                    <p:animEffect transition="in" filter="blinds(horizontal)">
                                      <p:cBhvr>
                                        <p:cTn id="18" dur="500"/>
                                        <p:tgtEl>
                                          <p:spTgt spid="480259">
                                            <p:txEl>
                                              <p:pRg st="3" end="3"/>
                                            </p:txEl>
                                          </p:spTgt>
                                        </p:tgtEl>
                                      </p:cBhvr>
                                    </p:animEffect>
                                  </p:childTnLst>
                                </p:cTn>
                              </p:par>
                              <p:par>
                                <p:cTn id="19" presetID="3" presetClass="entr" presetSubtype="10" fill="hold" grpId="0" nodeType="withEffect">
                                  <p:stCondLst>
                                    <p:cond delay="0"/>
                                  </p:stCondLst>
                                  <p:childTnLst>
                                    <p:set>
                                      <p:cBhvr>
                                        <p:cTn id="20" dur="1" fill="hold">
                                          <p:stCondLst>
                                            <p:cond delay="0"/>
                                          </p:stCondLst>
                                        </p:cTn>
                                        <p:tgtEl>
                                          <p:spTgt spid="480259">
                                            <p:txEl>
                                              <p:pRg st="4" end="4"/>
                                            </p:txEl>
                                          </p:spTgt>
                                        </p:tgtEl>
                                        <p:attrNameLst>
                                          <p:attrName>style.visibility</p:attrName>
                                        </p:attrNameLst>
                                      </p:cBhvr>
                                      <p:to>
                                        <p:strVal val="visible"/>
                                      </p:to>
                                    </p:set>
                                    <p:animEffect transition="in" filter="blinds(horizontal)">
                                      <p:cBhvr>
                                        <p:cTn id="21" dur="500"/>
                                        <p:tgtEl>
                                          <p:spTgt spid="480259">
                                            <p:txEl>
                                              <p:pRg st="4" end="4"/>
                                            </p:txEl>
                                          </p:spTgt>
                                        </p:tgtEl>
                                      </p:cBhvr>
                                    </p:animEffect>
                                  </p:childTnLst>
                                </p:cTn>
                              </p:par>
                              <p:par>
                                <p:cTn id="22" presetID="3" presetClass="entr" presetSubtype="10" fill="hold" grpId="0" nodeType="withEffect">
                                  <p:stCondLst>
                                    <p:cond delay="0"/>
                                  </p:stCondLst>
                                  <p:childTnLst>
                                    <p:set>
                                      <p:cBhvr>
                                        <p:cTn id="23" dur="1" fill="hold">
                                          <p:stCondLst>
                                            <p:cond delay="0"/>
                                          </p:stCondLst>
                                        </p:cTn>
                                        <p:tgtEl>
                                          <p:spTgt spid="480259">
                                            <p:txEl>
                                              <p:pRg st="5" end="5"/>
                                            </p:txEl>
                                          </p:spTgt>
                                        </p:tgtEl>
                                        <p:attrNameLst>
                                          <p:attrName>style.visibility</p:attrName>
                                        </p:attrNameLst>
                                      </p:cBhvr>
                                      <p:to>
                                        <p:strVal val="visible"/>
                                      </p:to>
                                    </p:set>
                                    <p:animEffect transition="in" filter="blinds(horizontal)">
                                      <p:cBhvr>
                                        <p:cTn id="24" dur="500"/>
                                        <p:tgtEl>
                                          <p:spTgt spid="480259">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0259" grpId="0" uiExpand="1" build="p"/>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标题 1"/>
          <p:cNvSpPr>
            <a:spLocks noGrp="1"/>
          </p:cNvSpPr>
          <p:nvPr>
            <p:ph type="title"/>
          </p:nvPr>
        </p:nvSpPr>
        <p:spPr>
          <a:xfrm>
            <a:off x="500063" y="152400"/>
            <a:ext cx="8001000" cy="685800"/>
          </a:xfrm>
          <a:noFill/>
          <a:ln w="9525">
            <a:noFill/>
          </a:ln>
        </p:spPr>
        <p:txBody>
          <a:bodyPr vert="horz" wrap="square" lIns="91440" tIns="45720" rIns="91440" bIns="45720" rtlCol="0" anchor="ctr" anchorCtr="0">
            <a:normAutofit fontScale="90000"/>
          </a:bodyPr>
          <a:lstStyle/>
          <a:p>
            <a:pPr lvl="0" algn="ctr" eaLnBrk="1" hangingPunct="1">
              <a:buClrTx/>
              <a:buSzTx/>
              <a:buFontTx/>
            </a:pPr>
            <a:r>
              <a:rPr lang="zh-CN" altLang="en-US" sz="4000" b="0" dirty="0">
                <a:latin typeface="黑体" panose="02010609060101010101" pitchFamily="2" charset="-122"/>
                <a:ea typeface="黑体" panose="02010609060101010101" pitchFamily="2" charset="-122"/>
                <a:sym typeface="+mn-ea"/>
              </a:rPr>
              <a:t>示例</a:t>
            </a:r>
          </a:p>
        </p:txBody>
      </p:sp>
      <p:sp>
        <p:nvSpPr>
          <p:cNvPr id="72707" name="内容占位符 2"/>
          <p:cNvSpPr>
            <a:spLocks noGrp="1"/>
          </p:cNvSpPr>
          <p:nvPr>
            <p:ph idx="1"/>
          </p:nvPr>
        </p:nvSpPr>
        <p:spPr/>
        <p:txBody>
          <a:bodyPr vert="horz" wrap="square" lIns="91440" tIns="45720" rIns="91440" bIns="45720" anchor="t" anchorCtr="0"/>
          <a:lstStyle/>
          <a:p>
            <a:pPr marL="0" indent="0">
              <a:buNone/>
            </a:pPr>
            <a:r>
              <a:rPr lang="zh-CN" altLang="en-US" sz="3200" dirty="0" smtClean="0">
                <a:latin typeface="宋体" pitchFamily="2" charset="-122"/>
                <a:cs typeface="等线" panose="02010600030101010101" charset="-122"/>
              </a:rPr>
              <a:t>例</a:t>
            </a:r>
            <a:r>
              <a:rPr lang="en-US" altLang="zh-CN" sz="3200" dirty="0" smtClean="0"/>
              <a:t>4.48 </a:t>
            </a:r>
            <a:r>
              <a:rPr lang="zh-CN" altLang="en-US" sz="3200" dirty="0" smtClean="0">
                <a:latin typeface="宋体" pitchFamily="2" charset="-122"/>
                <a:cs typeface="等线" panose="02010600030101010101" charset="-122"/>
              </a:rPr>
              <a:t>查询</a:t>
            </a:r>
            <a:r>
              <a:rPr lang="zh-CN" altLang="en-US" sz="3200" dirty="0">
                <a:latin typeface="宋体" pitchFamily="2" charset="-122"/>
                <a:cs typeface="等线" panose="02010600030101010101" charset="-122"/>
              </a:rPr>
              <a:t>与“数据结构”在同一个学期开设的课程的课程名和开课学期。</a:t>
            </a:r>
          </a:p>
          <a:p>
            <a:pPr>
              <a:buFont typeface="Wingdings" panose="05000000000000000000" pitchFamily="2" charset="2"/>
              <a:buNone/>
            </a:pPr>
            <a:r>
              <a:rPr lang="en-US" altLang="zh-CN" sz="3200" dirty="0">
                <a:solidFill>
                  <a:srgbClr val="0000FF"/>
                </a:solidFill>
                <a:latin typeface="宋体" pitchFamily="2" charset="-122"/>
                <a:cs typeface="等线" panose="02010600030101010101" charset="-122"/>
              </a:rPr>
              <a:t>SELECT C1.Cname, C1.Semester  </a:t>
            </a:r>
            <a:endParaRPr lang="zh-CN" altLang="en-US" sz="3200" dirty="0">
              <a:solidFill>
                <a:srgbClr val="0000FF"/>
              </a:solidFill>
              <a:latin typeface="宋体" pitchFamily="2" charset="-122"/>
              <a:cs typeface="等线" panose="02010600030101010101" charset="-122"/>
            </a:endParaRPr>
          </a:p>
          <a:p>
            <a:pPr>
              <a:buFont typeface="Wingdings" panose="05000000000000000000" pitchFamily="2" charset="2"/>
              <a:buNone/>
            </a:pPr>
            <a:r>
              <a:rPr lang="en-US" altLang="zh-CN" sz="3200" dirty="0">
                <a:solidFill>
                  <a:srgbClr val="0000FF"/>
                </a:solidFill>
                <a:latin typeface="宋体" pitchFamily="2" charset="-122"/>
                <a:cs typeface="等线" panose="02010600030101010101" charset="-122"/>
              </a:rPr>
              <a:t>  FROM Course C1 JOIN Course C2 </a:t>
            </a:r>
            <a:endParaRPr lang="zh-CN" altLang="en-US" sz="3200" dirty="0">
              <a:solidFill>
                <a:srgbClr val="0000FF"/>
              </a:solidFill>
              <a:latin typeface="宋体" pitchFamily="2" charset="-122"/>
              <a:cs typeface="等线" panose="02010600030101010101" charset="-122"/>
            </a:endParaRPr>
          </a:p>
          <a:p>
            <a:pPr>
              <a:buFont typeface="Wingdings" panose="05000000000000000000" pitchFamily="2" charset="2"/>
              <a:buNone/>
            </a:pPr>
            <a:r>
              <a:rPr lang="en-US" altLang="zh-CN" sz="3200" dirty="0">
                <a:solidFill>
                  <a:srgbClr val="0000FF"/>
                </a:solidFill>
                <a:latin typeface="宋体" pitchFamily="2" charset="-122"/>
                <a:cs typeface="等线" panose="02010600030101010101" charset="-122"/>
              </a:rPr>
              <a:t>  ON C1.Semester = C2.Semester  </a:t>
            </a:r>
          </a:p>
          <a:p>
            <a:pPr>
              <a:buFont typeface="Wingdings" panose="05000000000000000000" pitchFamily="2" charset="2"/>
              <a:buNone/>
            </a:pPr>
            <a:r>
              <a:rPr lang="en-US" altLang="zh-CN" sz="3200" dirty="0">
                <a:solidFill>
                  <a:srgbClr val="0000FF"/>
                </a:solidFill>
                <a:latin typeface="宋体" pitchFamily="2" charset="-122"/>
                <a:cs typeface="等线" panose="02010600030101010101" charset="-122"/>
              </a:rPr>
              <a:t>  </a:t>
            </a:r>
            <a:r>
              <a:rPr lang="en-US" altLang="zh-CN" sz="3200" dirty="0" smtClean="0">
                <a:solidFill>
                  <a:srgbClr val="0000FF"/>
                </a:solidFill>
                <a:latin typeface="宋体" pitchFamily="2" charset="-122"/>
                <a:cs typeface="等线" panose="02010600030101010101" charset="-122"/>
              </a:rPr>
              <a:t>    </a:t>
            </a:r>
            <a:r>
              <a:rPr lang="en-US" altLang="zh-CN" sz="3200" dirty="0" smtClean="0">
                <a:solidFill>
                  <a:srgbClr val="009900"/>
                </a:solidFill>
                <a:latin typeface="宋体" pitchFamily="2" charset="-122"/>
                <a:cs typeface="等线" panose="02010600030101010101" charset="-122"/>
              </a:rPr>
              <a:t>-- </a:t>
            </a:r>
            <a:r>
              <a:rPr lang="zh-CN" altLang="en-US" sz="3200" dirty="0">
                <a:solidFill>
                  <a:srgbClr val="009900"/>
                </a:solidFill>
                <a:latin typeface="宋体" pitchFamily="2" charset="-122"/>
                <a:cs typeface="等线" panose="02010600030101010101" charset="-122"/>
              </a:rPr>
              <a:t>是同一个学期开设的课程</a:t>
            </a:r>
          </a:p>
          <a:p>
            <a:pPr>
              <a:buFont typeface="Wingdings" panose="05000000000000000000" pitchFamily="2" charset="2"/>
              <a:buNone/>
            </a:pPr>
            <a:r>
              <a:rPr lang="en-US" altLang="zh-CN" sz="3200" dirty="0">
                <a:solidFill>
                  <a:srgbClr val="0000FF"/>
                </a:solidFill>
                <a:latin typeface="宋体" pitchFamily="2" charset="-122"/>
                <a:cs typeface="等线" panose="02010600030101010101" charset="-122"/>
              </a:rPr>
              <a:t>  WHERE C2.Cname = '</a:t>
            </a:r>
            <a:r>
              <a:rPr lang="zh-CN" altLang="en-US" sz="3200" dirty="0">
                <a:solidFill>
                  <a:srgbClr val="0000FF"/>
                </a:solidFill>
                <a:latin typeface="宋体" pitchFamily="2" charset="-122"/>
                <a:cs typeface="等线" panose="02010600030101010101" charset="-122"/>
              </a:rPr>
              <a:t>数据结构</a:t>
            </a:r>
            <a:r>
              <a:rPr lang="en-US" altLang="zh-CN" sz="3200" dirty="0">
                <a:solidFill>
                  <a:srgbClr val="0000FF"/>
                </a:solidFill>
                <a:latin typeface="宋体" pitchFamily="2" charset="-122"/>
                <a:cs typeface="等线" panose="02010600030101010101" charset="-122"/>
              </a:rPr>
              <a:t>'  </a:t>
            </a:r>
          </a:p>
          <a:p>
            <a:pPr>
              <a:buFont typeface="Wingdings" panose="05000000000000000000" pitchFamily="2" charset="2"/>
              <a:buNone/>
            </a:pPr>
            <a:r>
              <a:rPr lang="en-US" altLang="zh-CN" sz="3200" dirty="0">
                <a:solidFill>
                  <a:srgbClr val="0000FF"/>
                </a:solidFill>
                <a:latin typeface="宋体" pitchFamily="2" charset="-122"/>
                <a:cs typeface="等线" panose="02010600030101010101" charset="-122"/>
              </a:rPr>
              <a:t> </a:t>
            </a:r>
            <a:r>
              <a:rPr lang="en-US" altLang="zh-CN" sz="3200" dirty="0" smtClean="0">
                <a:solidFill>
                  <a:srgbClr val="0000FF"/>
                </a:solidFill>
                <a:latin typeface="宋体" pitchFamily="2" charset="-122"/>
                <a:cs typeface="等线" panose="02010600030101010101" charset="-122"/>
              </a:rPr>
              <a:t>     </a:t>
            </a:r>
            <a:r>
              <a:rPr lang="en-US" altLang="zh-CN" sz="3200" dirty="0">
                <a:solidFill>
                  <a:srgbClr val="009900"/>
                </a:solidFill>
                <a:latin typeface="宋体" pitchFamily="2" charset="-122"/>
                <a:cs typeface="等线" panose="02010600030101010101" charset="-122"/>
              </a:rPr>
              <a:t>-- C2</a:t>
            </a:r>
            <a:r>
              <a:rPr lang="zh-CN" altLang="en-US" sz="3200" dirty="0">
                <a:solidFill>
                  <a:srgbClr val="009900"/>
                </a:solidFill>
                <a:latin typeface="宋体" pitchFamily="2" charset="-122"/>
                <a:cs typeface="等线" panose="02010600030101010101" charset="-122"/>
              </a:rPr>
              <a:t>表作为查询条件表</a:t>
            </a:r>
          </a:p>
        </p:txBody>
      </p:sp>
    </p:spTree>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p:cNvSpPr>
            <a:spLocks noGrp="1"/>
          </p:cNvSpPr>
          <p:nvPr>
            <p:ph type="title"/>
          </p:nvPr>
        </p:nvSpPr>
        <p:spPr>
          <a:xfrm>
            <a:off x="500063" y="152400"/>
            <a:ext cx="8001000" cy="685800"/>
          </a:xfrm>
          <a:noFill/>
          <a:ln w="9525">
            <a:noFill/>
          </a:ln>
        </p:spPr>
        <p:txBody>
          <a:bodyPr vert="horz" wrap="square" lIns="91440" tIns="45720" rIns="91440" bIns="45720" rtlCol="0" anchor="ctr" anchorCtr="0">
            <a:normAutofit fontScale="90000"/>
          </a:bodyPr>
          <a:lstStyle/>
          <a:p>
            <a:pPr lvl="0" algn="ctr" eaLnBrk="1" hangingPunct="1">
              <a:buClrTx/>
              <a:buSzTx/>
              <a:buFontTx/>
            </a:pPr>
            <a:r>
              <a:rPr lang="zh-CN" altLang="en-US" sz="4000" b="0" dirty="0">
                <a:latin typeface="黑体" panose="02010609060101010101" pitchFamily="2" charset="-122"/>
                <a:ea typeface="黑体" panose="02010609060101010101" pitchFamily="2" charset="-122"/>
                <a:sym typeface="+mn-ea"/>
              </a:rPr>
              <a:t>3 外连接</a:t>
            </a:r>
          </a:p>
        </p:txBody>
      </p:sp>
      <p:sp>
        <p:nvSpPr>
          <p:cNvPr id="73731" name="Rectangle 3"/>
          <p:cNvSpPr>
            <a:spLocks noGrp="1"/>
          </p:cNvSpPr>
          <p:nvPr>
            <p:ph idx="1"/>
          </p:nvPr>
        </p:nvSpPr>
        <p:spPr>
          <a:xfrm>
            <a:off x="247650" y="1219200"/>
            <a:ext cx="8753475" cy="5105400"/>
          </a:xfrm>
        </p:spPr>
        <p:txBody>
          <a:bodyPr vert="horz" wrap="square" lIns="91440" tIns="45720" rIns="91440" bIns="45720" anchor="t" anchorCtr="0"/>
          <a:lstStyle/>
          <a:p>
            <a:pPr eaLnBrk="1" hangingPunct="1"/>
            <a:r>
              <a:rPr lang="zh-CN" altLang="en-US" sz="3200" dirty="0">
                <a:latin typeface="宋体" pitchFamily="2" charset="-122"/>
                <a:cs typeface="等线" panose="02010600030101010101" charset="-122"/>
              </a:rPr>
              <a:t>只限制一张表中的数据必须满足连接条件，而另一张表中数据可以不满足连接条件。</a:t>
            </a:r>
            <a:r>
              <a:rPr lang="zh-CN" altLang="en-US" sz="2000" dirty="0">
                <a:latin typeface="宋体" pitchFamily="2" charset="-122"/>
                <a:cs typeface="等线" panose="02010600030101010101" charset="-122"/>
              </a:rPr>
              <a:t> </a:t>
            </a:r>
            <a:endParaRPr lang="zh-CN" altLang="en-US" sz="3200" dirty="0">
              <a:latin typeface="宋体" pitchFamily="2" charset="-122"/>
              <a:cs typeface="等线" panose="02010600030101010101" charset="-122"/>
            </a:endParaRPr>
          </a:p>
          <a:p>
            <a:pPr eaLnBrk="1" hangingPunct="1"/>
            <a:r>
              <a:rPr lang="en-US" altLang="zh-CN" sz="2800" dirty="0">
                <a:solidFill>
                  <a:srgbClr val="0000FF"/>
                </a:solidFill>
                <a:latin typeface="宋体" pitchFamily="2" charset="-122"/>
                <a:cs typeface="等线" panose="02010600030101010101" charset="-122"/>
              </a:rPr>
              <a:t>ANSI</a:t>
            </a:r>
            <a:r>
              <a:rPr lang="zh-CN" altLang="en-US" sz="2800" dirty="0">
                <a:solidFill>
                  <a:srgbClr val="0000FF"/>
                </a:solidFill>
                <a:latin typeface="宋体" pitchFamily="2" charset="-122"/>
                <a:cs typeface="等线" panose="02010600030101010101" charset="-122"/>
              </a:rPr>
              <a:t>方式的外连接的语法格式为：</a:t>
            </a:r>
          </a:p>
          <a:p>
            <a:pPr eaLnBrk="1" hangingPunct="1">
              <a:buFont typeface="Wingdings" panose="05000000000000000000" pitchFamily="2" charset="2"/>
              <a:buNone/>
            </a:pPr>
            <a:r>
              <a:rPr lang="zh-CN" altLang="en-US" sz="2400" dirty="0">
                <a:solidFill>
                  <a:srgbClr val="FF0000"/>
                </a:solidFill>
                <a:latin typeface="宋体" pitchFamily="2" charset="-122"/>
                <a:cs typeface="等线" panose="02010600030101010101" charset="-122"/>
              </a:rPr>
              <a:t>	</a:t>
            </a:r>
            <a:r>
              <a:rPr lang="en-US" altLang="zh-CN" sz="2400" dirty="0">
                <a:solidFill>
                  <a:srgbClr val="FF0000"/>
                </a:solidFill>
                <a:latin typeface="宋体" pitchFamily="2" charset="-122"/>
                <a:cs typeface="等线" panose="02010600030101010101" charset="-122"/>
              </a:rPr>
              <a:t>FROM  </a:t>
            </a:r>
            <a:r>
              <a:rPr lang="zh-CN" altLang="en-US" sz="2400" dirty="0">
                <a:solidFill>
                  <a:srgbClr val="FF0000"/>
                </a:solidFill>
                <a:latin typeface="宋体" pitchFamily="2" charset="-122"/>
                <a:cs typeface="等线" panose="02010600030101010101" charset="-122"/>
              </a:rPr>
              <a:t>表</a:t>
            </a:r>
            <a:r>
              <a:rPr lang="en-US" altLang="zh-CN" sz="2400" dirty="0">
                <a:solidFill>
                  <a:srgbClr val="FF0000"/>
                </a:solidFill>
                <a:latin typeface="宋体" pitchFamily="2" charset="-122"/>
                <a:cs typeface="等线" panose="02010600030101010101" charset="-122"/>
              </a:rPr>
              <a:t>1  LEFT | RIGHT  [OUTER]  </a:t>
            </a:r>
          </a:p>
          <a:p>
            <a:pPr eaLnBrk="1" hangingPunct="1">
              <a:buFont typeface="Wingdings" panose="05000000000000000000" pitchFamily="2" charset="2"/>
              <a:buNone/>
            </a:pPr>
            <a:r>
              <a:rPr lang="en-US" altLang="zh-CN" sz="2400" dirty="0">
                <a:solidFill>
                  <a:srgbClr val="FF0000"/>
                </a:solidFill>
                <a:latin typeface="宋体" pitchFamily="2" charset="-122"/>
                <a:cs typeface="等线" panose="02010600030101010101" charset="-122"/>
              </a:rPr>
              <a:t>      JOIN  </a:t>
            </a:r>
            <a:r>
              <a:rPr lang="zh-CN" altLang="en-US" sz="2400" dirty="0">
                <a:solidFill>
                  <a:srgbClr val="FF0000"/>
                </a:solidFill>
                <a:latin typeface="宋体" pitchFamily="2" charset="-122"/>
                <a:cs typeface="等线" panose="02010600030101010101" charset="-122"/>
              </a:rPr>
              <a:t>表</a:t>
            </a:r>
            <a:r>
              <a:rPr lang="en-US" altLang="zh-CN" sz="2400" dirty="0">
                <a:solidFill>
                  <a:srgbClr val="FF0000"/>
                </a:solidFill>
                <a:latin typeface="宋体" pitchFamily="2" charset="-122"/>
                <a:cs typeface="等线" panose="02010600030101010101" charset="-122"/>
              </a:rPr>
              <a:t>2  ON  &lt;</a:t>
            </a:r>
            <a:r>
              <a:rPr lang="zh-CN" altLang="en-US" sz="2400" dirty="0">
                <a:solidFill>
                  <a:srgbClr val="FF0000"/>
                </a:solidFill>
                <a:latin typeface="宋体" pitchFamily="2" charset="-122"/>
                <a:cs typeface="等线" panose="02010600030101010101" charset="-122"/>
              </a:rPr>
              <a:t>连接条件</a:t>
            </a:r>
            <a:r>
              <a:rPr lang="en-US" altLang="zh-CN" sz="2400" dirty="0">
                <a:solidFill>
                  <a:srgbClr val="FF0000"/>
                </a:solidFill>
                <a:latin typeface="宋体" pitchFamily="2" charset="-122"/>
                <a:cs typeface="等线" panose="02010600030101010101" charset="-122"/>
              </a:rPr>
              <a:t>&gt; </a:t>
            </a:r>
          </a:p>
          <a:p>
            <a:pPr eaLnBrk="1" hangingPunct="1"/>
            <a:r>
              <a:rPr lang="en-US" altLang="zh-CN" sz="2800" dirty="0">
                <a:solidFill>
                  <a:srgbClr val="0000FF"/>
                </a:solidFill>
                <a:latin typeface="宋体" pitchFamily="2" charset="-122"/>
                <a:cs typeface="等线" panose="02010600030101010101" charset="-122"/>
              </a:rPr>
              <a:t>theta</a:t>
            </a:r>
            <a:r>
              <a:rPr lang="zh-CN" altLang="en-US" sz="2800" dirty="0">
                <a:solidFill>
                  <a:srgbClr val="0000FF"/>
                </a:solidFill>
                <a:latin typeface="宋体" pitchFamily="2" charset="-122"/>
                <a:cs typeface="等线" panose="02010600030101010101" charset="-122"/>
              </a:rPr>
              <a:t>方式的外连接的语法格式为：</a:t>
            </a:r>
          </a:p>
          <a:p>
            <a:pPr lvl="1" eaLnBrk="1" hangingPunct="1"/>
            <a:r>
              <a:rPr lang="zh-CN" altLang="en-US" sz="2400" dirty="0">
                <a:solidFill>
                  <a:srgbClr val="D60093"/>
                </a:solidFill>
                <a:latin typeface="宋体" pitchFamily="2" charset="-122"/>
                <a:cs typeface="等线" panose="02010600030101010101" charset="-122"/>
              </a:rPr>
              <a:t>左外连接：</a:t>
            </a:r>
          </a:p>
          <a:p>
            <a:pPr lvl="1" eaLnBrk="1" hangingPunct="1">
              <a:buFont typeface="Wingdings" panose="05000000000000000000" pitchFamily="2" charset="2"/>
              <a:buNone/>
            </a:pPr>
            <a:r>
              <a:rPr lang="en-US" altLang="zh-CN" sz="2000" dirty="0">
                <a:solidFill>
                  <a:srgbClr val="FF0000"/>
                </a:solidFill>
                <a:latin typeface="宋体" pitchFamily="2" charset="-122"/>
                <a:cs typeface="等线" panose="02010600030101010101" charset="-122"/>
              </a:rPr>
              <a:t>   </a:t>
            </a:r>
            <a:r>
              <a:rPr lang="en-US" altLang="zh-CN" sz="2600" dirty="0">
                <a:solidFill>
                  <a:srgbClr val="FF0000"/>
                </a:solidFill>
                <a:latin typeface="宋体" pitchFamily="2" charset="-122"/>
                <a:cs typeface="等线" panose="02010600030101010101" charset="-122"/>
              </a:rPr>
              <a:t>FROM </a:t>
            </a:r>
            <a:r>
              <a:rPr lang="zh-CN" altLang="en-US" sz="2600" dirty="0">
                <a:solidFill>
                  <a:srgbClr val="FF0000"/>
                </a:solidFill>
                <a:latin typeface="宋体" pitchFamily="2" charset="-122"/>
                <a:cs typeface="等线" panose="02010600030101010101" charset="-122"/>
              </a:rPr>
              <a:t>表</a:t>
            </a:r>
            <a:r>
              <a:rPr lang="en-US" altLang="zh-CN" sz="2600" dirty="0">
                <a:solidFill>
                  <a:srgbClr val="FF0000"/>
                </a:solidFill>
                <a:latin typeface="宋体" pitchFamily="2" charset="-122"/>
                <a:cs typeface="等线" panose="02010600030101010101" charset="-122"/>
              </a:rPr>
              <a:t>1,</a:t>
            </a:r>
            <a:r>
              <a:rPr lang="zh-CN" altLang="en-US" sz="2600" dirty="0">
                <a:solidFill>
                  <a:srgbClr val="FF0000"/>
                </a:solidFill>
                <a:latin typeface="宋体" pitchFamily="2" charset="-122"/>
                <a:cs typeface="等线" panose="02010600030101010101" charset="-122"/>
              </a:rPr>
              <a:t>表</a:t>
            </a:r>
            <a:r>
              <a:rPr lang="en-US" altLang="zh-CN" sz="2600" dirty="0">
                <a:solidFill>
                  <a:srgbClr val="FF0000"/>
                </a:solidFill>
                <a:latin typeface="宋体" pitchFamily="2" charset="-122"/>
                <a:cs typeface="等线" panose="02010600030101010101" charset="-122"/>
              </a:rPr>
              <a:t>2 WHERE [</a:t>
            </a:r>
            <a:r>
              <a:rPr lang="zh-CN" altLang="en-US" sz="2600" dirty="0">
                <a:solidFill>
                  <a:srgbClr val="FF0000"/>
                </a:solidFill>
                <a:latin typeface="宋体" pitchFamily="2" charset="-122"/>
                <a:cs typeface="等线" panose="02010600030101010101" charset="-122"/>
              </a:rPr>
              <a:t>表</a:t>
            </a:r>
            <a:r>
              <a:rPr lang="en-US" altLang="zh-CN" sz="2600" dirty="0">
                <a:solidFill>
                  <a:srgbClr val="FF0000"/>
                </a:solidFill>
                <a:latin typeface="宋体" pitchFamily="2" charset="-122"/>
                <a:cs typeface="等线" panose="02010600030101010101" charset="-122"/>
              </a:rPr>
              <a:t>1.]</a:t>
            </a:r>
            <a:r>
              <a:rPr lang="zh-CN" altLang="en-US" sz="2600" dirty="0">
                <a:solidFill>
                  <a:srgbClr val="FF0000"/>
                </a:solidFill>
                <a:latin typeface="宋体" pitchFamily="2" charset="-122"/>
                <a:cs typeface="等线" panose="02010600030101010101" charset="-122"/>
              </a:rPr>
              <a:t>列名</a:t>
            </a:r>
            <a:r>
              <a:rPr lang="en-US" altLang="zh-CN" sz="2600" dirty="0">
                <a:solidFill>
                  <a:srgbClr val="FF0000"/>
                </a:solidFill>
                <a:latin typeface="宋体" pitchFamily="2" charset="-122"/>
                <a:cs typeface="等线" panose="02010600030101010101" charset="-122"/>
              </a:rPr>
              <a:t>(+) =</a:t>
            </a:r>
            <a:r>
              <a:rPr lang="zh-CN" altLang="en-US" sz="2600" dirty="0">
                <a:solidFill>
                  <a:srgbClr val="FF0000"/>
                </a:solidFill>
                <a:latin typeface="宋体" pitchFamily="2" charset="-122"/>
                <a:cs typeface="等线" panose="02010600030101010101" charset="-122"/>
              </a:rPr>
              <a:t> </a:t>
            </a:r>
            <a:r>
              <a:rPr lang="en-US" altLang="zh-CN" sz="2600" dirty="0">
                <a:solidFill>
                  <a:srgbClr val="FF0000"/>
                </a:solidFill>
                <a:latin typeface="宋体" pitchFamily="2" charset="-122"/>
                <a:cs typeface="等线" panose="02010600030101010101" charset="-122"/>
              </a:rPr>
              <a:t>[</a:t>
            </a:r>
            <a:r>
              <a:rPr lang="zh-CN" altLang="en-US" sz="2600" dirty="0">
                <a:solidFill>
                  <a:srgbClr val="FF0000"/>
                </a:solidFill>
                <a:latin typeface="宋体" pitchFamily="2" charset="-122"/>
                <a:cs typeface="等线" panose="02010600030101010101" charset="-122"/>
              </a:rPr>
              <a:t>表</a:t>
            </a:r>
            <a:r>
              <a:rPr lang="en-US" altLang="zh-CN" sz="2600" dirty="0">
                <a:solidFill>
                  <a:srgbClr val="FF0000"/>
                </a:solidFill>
                <a:latin typeface="宋体" pitchFamily="2" charset="-122"/>
                <a:cs typeface="等线" panose="02010600030101010101" charset="-122"/>
              </a:rPr>
              <a:t>2.]</a:t>
            </a:r>
            <a:r>
              <a:rPr lang="zh-CN" altLang="en-US" sz="2600" dirty="0">
                <a:solidFill>
                  <a:srgbClr val="FF0000"/>
                </a:solidFill>
                <a:latin typeface="宋体" pitchFamily="2" charset="-122"/>
                <a:cs typeface="等线" panose="02010600030101010101" charset="-122"/>
              </a:rPr>
              <a:t>列名</a:t>
            </a:r>
          </a:p>
          <a:p>
            <a:pPr lvl="1" eaLnBrk="1" hangingPunct="1"/>
            <a:r>
              <a:rPr lang="zh-CN" altLang="en-US" sz="2400" dirty="0">
                <a:solidFill>
                  <a:srgbClr val="D60093"/>
                </a:solidFill>
                <a:latin typeface="宋体" pitchFamily="2" charset="-122"/>
                <a:cs typeface="等线" panose="02010600030101010101" charset="-122"/>
              </a:rPr>
              <a:t>右外连接：</a:t>
            </a:r>
          </a:p>
          <a:p>
            <a:pPr lvl="1" eaLnBrk="1" hangingPunct="1">
              <a:buFont typeface="Wingdings" panose="05000000000000000000" pitchFamily="2" charset="2"/>
              <a:buNone/>
            </a:pPr>
            <a:r>
              <a:rPr lang="en-US" altLang="zh-CN" sz="2000" dirty="0">
                <a:solidFill>
                  <a:srgbClr val="FF0000"/>
                </a:solidFill>
                <a:latin typeface="宋体" pitchFamily="2" charset="-122"/>
                <a:cs typeface="等线" panose="02010600030101010101" charset="-122"/>
              </a:rPr>
              <a:t>   </a:t>
            </a:r>
            <a:r>
              <a:rPr lang="en-US" altLang="zh-CN" sz="2600" dirty="0">
                <a:solidFill>
                  <a:srgbClr val="FF0000"/>
                </a:solidFill>
                <a:latin typeface="宋体" pitchFamily="2" charset="-122"/>
                <a:cs typeface="等线" panose="02010600030101010101" charset="-122"/>
              </a:rPr>
              <a:t>FROM  </a:t>
            </a:r>
            <a:r>
              <a:rPr lang="zh-CN" altLang="en-US" sz="2600" dirty="0">
                <a:solidFill>
                  <a:srgbClr val="FF0000"/>
                </a:solidFill>
                <a:latin typeface="宋体" pitchFamily="2" charset="-122"/>
                <a:cs typeface="等线" panose="02010600030101010101" charset="-122"/>
              </a:rPr>
              <a:t>表</a:t>
            </a:r>
            <a:r>
              <a:rPr lang="en-US" altLang="zh-CN" sz="2600" dirty="0">
                <a:solidFill>
                  <a:srgbClr val="FF0000"/>
                </a:solidFill>
                <a:latin typeface="宋体" pitchFamily="2" charset="-122"/>
                <a:cs typeface="等线" panose="02010600030101010101" charset="-122"/>
              </a:rPr>
              <a:t>1,</a:t>
            </a:r>
            <a:r>
              <a:rPr lang="zh-CN" altLang="en-US" sz="2600" dirty="0">
                <a:solidFill>
                  <a:srgbClr val="FF0000"/>
                </a:solidFill>
                <a:latin typeface="宋体" pitchFamily="2" charset="-122"/>
                <a:cs typeface="等线" panose="02010600030101010101" charset="-122"/>
              </a:rPr>
              <a:t>表</a:t>
            </a:r>
            <a:r>
              <a:rPr lang="en-US" altLang="zh-CN" sz="2600" dirty="0">
                <a:solidFill>
                  <a:srgbClr val="FF0000"/>
                </a:solidFill>
                <a:latin typeface="宋体" pitchFamily="2" charset="-122"/>
                <a:cs typeface="等线" panose="02010600030101010101" charset="-122"/>
              </a:rPr>
              <a:t>2 WHERE [</a:t>
            </a:r>
            <a:r>
              <a:rPr lang="zh-CN" altLang="en-US" sz="2600" dirty="0">
                <a:solidFill>
                  <a:srgbClr val="FF0000"/>
                </a:solidFill>
                <a:latin typeface="宋体" pitchFamily="2" charset="-122"/>
                <a:cs typeface="等线" panose="02010600030101010101" charset="-122"/>
              </a:rPr>
              <a:t>表</a:t>
            </a:r>
            <a:r>
              <a:rPr lang="en-US" altLang="zh-CN" sz="2600" dirty="0">
                <a:solidFill>
                  <a:srgbClr val="FF0000"/>
                </a:solidFill>
                <a:latin typeface="宋体" pitchFamily="2" charset="-122"/>
                <a:cs typeface="等线" panose="02010600030101010101" charset="-122"/>
              </a:rPr>
              <a:t>1.]</a:t>
            </a:r>
            <a:r>
              <a:rPr lang="zh-CN" altLang="en-US" sz="2600" dirty="0">
                <a:solidFill>
                  <a:srgbClr val="FF0000"/>
                </a:solidFill>
                <a:latin typeface="宋体" pitchFamily="2" charset="-122"/>
                <a:cs typeface="等线" panose="02010600030101010101" charset="-122"/>
              </a:rPr>
              <a:t>列名 </a:t>
            </a:r>
            <a:r>
              <a:rPr lang="en-US" altLang="zh-CN" sz="2600" dirty="0">
                <a:solidFill>
                  <a:srgbClr val="FF0000"/>
                </a:solidFill>
                <a:latin typeface="宋体" pitchFamily="2" charset="-122"/>
                <a:cs typeface="等线" panose="02010600030101010101" charset="-122"/>
              </a:rPr>
              <a:t>=</a:t>
            </a:r>
            <a:r>
              <a:rPr lang="zh-CN" altLang="en-US" sz="2600" dirty="0">
                <a:solidFill>
                  <a:srgbClr val="FF0000"/>
                </a:solidFill>
                <a:latin typeface="宋体" pitchFamily="2" charset="-122"/>
                <a:cs typeface="等线" panose="02010600030101010101" charset="-122"/>
              </a:rPr>
              <a:t> </a:t>
            </a:r>
            <a:r>
              <a:rPr lang="en-US" altLang="zh-CN" sz="2600" dirty="0">
                <a:solidFill>
                  <a:srgbClr val="FF0000"/>
                </a:solidFill>
                <a:latin typeface="宋体" pitchFamily="2" charset="-122"/>
                <a:cs typeface="等线" panose="02010600030101010101" charset="-122"/>
              </a:rPr>
              <a:t>[</a:t>
            </a:r>
            <a:r>
              <a:rPr lang="zh-CN" altLang="en-US" sz="2600" dirty="0">
                <a:solidFill>
                  <a:srgbClr val="FF0000"/>
                </a:solidFill>
                <a:latin typeface="宋体" pitchFamily="2" charset="-122"/>
                <a:cs typeface="等线" panose="02010600030101010101" charset="-122"/>
              </a:rPr>
              <a:t>表</a:t>
            </a:r>
            <a:r>
              <a:rPr lang="en-US" altLang="zh-CN" sz="2600" dirty="0">
                <a:solidFill>
                  <a:srgbClr val="FF0000"/>
                </a:solidFill>
                <a:latin typeface="宋体" pitchFamily="2" charset="-122"/>
                <a:cs typeface="等线" panose="02010600030101010101" charset="-122"/>
              </a:rPr>
              <a:t>2.]</a:t>
            </a:r>
            <a:r>
              <a:rPr lang="zh-CN" altLang="en-US" sz="2600" dirty="0">
                <a:solidFill>
                  <a:srgbClr val="FF0000"/>
                </a:solidFill>
                <a:latin typeface="宋体" pitchFamily="2" charset="-122"/>
                <a:cs typeface="等线" panose="02010600030101010101" charset="-122"/>
              </a:rPr>
              <a:t>列名</a:t>
            </a:r>
            <a:r>
              <a:rPr lang="en-US" altLang="zh-CN" sz="2600" dirty="0">
                <a:solidFill>
                  <a:srgbClr val="FF0000"/>
                </a:solidFill>
                <a:latin typeface="宋体" pitchFamily="2" charset="-122"/>
                <a:cs typeface="等线" panose="02010600030101010101" charset="-122"/>
              </a:rPr>
              <a:t>(+) </a:t>
            </a:r>
            <a:endParaRPr lang="zh-CN" altLang="en-US" sz="2600" dirty="0">
              <a:solidFill>
                <a:srgbClr val="FF0000"/>
              </a:solidFill>
              <a:latin typeface="宋体" pitchFamily="2" charset="-122"/>
              <a:cs typeface="等线" panose="02010600030101010101" charset="-122"/>
            </a:endParaRPr>
          </a:p>
        </p:txBody>
      </p:sp>
    </p:spTree>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2"/>
          <p:cNvSpPr>
            <a:spLocks noGrp="1"/>
          </p:cNvSpPr>
          <p:nvPr>
            <p:ph type="title"/>
          </p:nvPr>
        </p:nvSpPr>
        <p:spPr>
          <a:xfrm>
            <a:off x="500063" y="152400"/>
            <a:ext cx="8001000" cy="685800"/>
          </a:xfrm>
          <a:noFill/>
          <a:ln w="9525">
            <a:noFill/>
          </a:ln>
        </p:spPr>
        <p:txBody>
          <a:bodyPr vert="horz" wrap="square" lIns="91440" tIns="45720" rIns="91440" bIns="45720" rtlCol="0" anchor="ctr" anchorCtr="0">
            <a:normAutofit fontScale="90000"/>
          </a:bodyPr>
          <a:lstStyle/>
          <a:p>
            <a:pPr lvl="0" algn="ctr" eaLnBrk="1" hangingPunct="1">
              <a:buClrTx/>
              <a:buSzTx/>
              <a:buFontTx/>
            </a:pPr>
            <a:r>
              <a:rPr lang="zh-CN" altLang="en-US" sz="4000" b="0" dirty="0">
                <a:latin typeface="黑体" panose="02010609060101010101" pitchFamily="2" charset="-122"/>
                <a:ea typeface="黑体" panose="02010609060101010101" pitchFamily="2" charset="-122"/>
                <a:sym typeface="+mn-ea"/>
              </a:rPr>
              <a:t>示例</a:t>
            </a:r>
          </a:p>
        </p:txBody>
      </p:sp>
      <p:sp>
        <p:nvSpPr>
          <p:cNvPr id="74755" name="Rectangle 3"/>
          <p:cNvSpPr>
            <a:spLocks noGrp="1"/>
          </p:cNvSpPr>
          <p:nvPr>
            <p:ph idx="1"/>
          </p:nvPr>
        </p:nvSpPr>
        <p:spPr>
          <a:xfrm>
            <a:off x="250825" y="1412875"/>
            <a:ext cx="8642350" cy="4695825"/>
          </a:xfrm>
        </p:spPr>
        <p:txBody>
          <a:bodyPr vert="horz" wrap="square" lIns="91440" tIns="45720" rIns="91440" bIns="45720" anchor="t" anchorCtr="0"/>
          <a:lstStyle/>
          <a:p>
            <a:pPr marL="0" indent="0" eaLnBrk="1" hangingPunct="1">
              <a:buNone/>
            </a:pPr>
            <a:r>
              <a:rPr lang="zh-CN" altLang="en-US" sz="3600" dirty="0" smtClean="0">
                <a:latin typeface="宋体" pitchFamily="2" charset="-122"/>
                <a:cs typeface="等线" panose="02010600030101010101" charset="-122"/>
              </a:rPr>
              <a:t>例</a:t>
            </a:r>
            <a:r>
              <a:rPr lang="en-US" altLang="zh-CN" sz="3600" dirty="0" smtClean="0"/>
              <a:t>4.49 </a:t>
            </a:r>
            <a:r>
              <a:rPr lang="zh-CN" altLang="en-US" sz="3600" dirty="0" smtClean="0">
                <a:latin typeface="宋体" pitchFamily="2" charset="-122"/>
                <a:cs typeface="等线" panose="02010600030101010101" charset="-122"/>
              </a:rPr>
              <a:t>查询</a:t>
            </a:r>
            <a:r>
              <a:rPr lang="zh-CN" altLang="en-US" sz="3600" dirty="0">
                <a:latin typeface="宋体" pitchFamily="2" charset="-122"/>
                <a:cs typeface="等线" panose="02010600030101010101" charset="-122"/>
              </a:rPr>
              <a:t>学生的选课情况，包括选修了课程的学生和没有选修课程的学生。</a:t>
            </a:r>
          </a:p>
          <a:p>
            <a:pPr lvl="1" eaLnBrk="1" hangingPunct="1">
              <a:buFont typeface="Wingdings" panose="05000000000000000000" pitchFamily="2" charset="2"/>
              <a:buNone/>
            </a:pPr>
            <a:r>
              <a:rPr lang="en-US" altLang="zh-CN" dirty="0">
                <a:solidFill>
                  <a:srgbClr val="0000FF"/>
                </a:solidFill>
                <a:latin typeface="宋体" pitchFamily="2" charset="-122"/>
                <a:cs typeface="等线" panose="02010600030101010101" charset="-122"/>
              </a:rPr>
              <a:t>SELECT Student.Sno, Sname, Cno, Grade</a:t>
            </a:r>
          </a:p>
          <a:p>
            <a:pPr lvl="1" eaLnBrk="1" hangingPunct="1">
              <a:buFont typeface="Wingdings" panose="05000000000000000000" pitchFamily="2" charset="2"/>
              <a:buNone/>
            </a:pPr>
            <a:r>
              <a:rPr lang="en-US" altLang="zh-CN" dirty="0">
                <a:solidFill>
                  <a:srgbClr val="0000FF"/>
                </a:solidFill>
                <a:latin typeface="宋体" pitchFamily="2" charset="-122"/>
                <a:cs typeface="等线" panose="02010600030101010101" charset="-122"/>
              </a:rPr>
              <a:t>  FROM Student LEFT OUTER JOIN SC </a:t>
            </a:r>
          </a:p>
          <a:p>
            <a:pPr lvl="1" eaLnBrk="1" hangingPunct="1">
              <a:buFont typeface="Wingdings" panose="05000000000000000000" pitchFamily="2" charset="2"/>
              <a:buNone/>
            </a:pPr>
            <a:r>
              <a:rPr lang="en-US" altLang="zh-CN" dirty="0">
                <a:solidFill>
                  <a:srgbClr val="0000FF"/>
                </a:solidFill>
                <a:latin typeface="宋体" pitchFamily="2" charset="-122"/>
                <a:cs typeface="等线" panose="02010600030101010101" charset="-122"/>
              </a:rPr>
              <a:t>  </a:t>
            </a:r>
            <a:r>
              <a:rPr lang="en-US" altLang="zh-CN" dirty="0" smtClean="0">
                <a:solidFill>
                  <a:srgbClr val="0000FF"/>
                </a:solidFill>
                <a:latin typeface="宋体" pitchFamily="2" charset="-122"/>
                <a:cs typeface="等线" panose="02010600030101010101" charset="-122"/>
              </a:rPr>
              <a:t>           ON </a:t>
            </a:r>
            <a:r>
              <a:rPr lang="en-US" altLang="zh-CN" dirty="0">
                <a:solidFill>
                  <a:srgbClr val="0000FF"/>
                </a:solidFill>
                <a:latin typeface="宋体" pitchFamily="2" charset="-122"/>
                <a:cs typeface="等线" panose="02010600030101010101" charset="-122"/>
              </a:rPr>
              <a:t>Student.Sno = SC.Sno</a:t>
            </a:r>
            <a:endParaRPr lang="zh-CN" altLang="en-US" dirty="0">
              <a:solidFill>
                <a:srgbClr val="0000FF"/>
              </a:solidFill>
              <a:latin typeface="宋体" pitchFamily="2" charset="-122"/>
              <a:cs typeface="等线" panose="02010600030101010101" charset="-122"/>
            </a:endParaRPr>
          </a:p>
        </p:txBody>
      </p:sp>
    </p:spTree>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2"/>
          <p:cNvSpPr>
            <a:spLocks noGrp="1"/>
          </p:cNvSpPr>
          <p:nvPr>
            <p:ph type="title"/>
          </p:nvPr>
        </p:nvSpPr>
        <p:spPr>
          <a:xfrm>
            <a:off x="500063" y="152400"/>
            <a:ext cx="8001000" cy="685800"/>
          </a:xfrm>
          <a:noFill/>
          <a:ln w="9525">
            <a:noFill/>
          </a:ln>
        </p:spPr>
        <p:txBody>
          <a:bodyPr vert="horz" wrap="square" lIns="91440" tIns="45720" rIns="91440" bIns="45720" rtlCol="0" anchor="ctr" anchorCtr="0">
            <a:normAutofit fontScale="90000"/>
          </a:bodyPr>
          <a:lstStyle/>
          <a:p>
            <a:pPr lvl="0" algn="ctr" eaLnBrk="1" hangingPunct="1">
              <a:buClrTx/>
              <a:buSzTx/>
              <a:buFontTx/>
            </a:pPr>
            <a:r>
              <a:rPr lang="zh-CN" altLang="en-US" sz="4000" b="0" dirty="0">
                <a:latin typeface="黑体" panose="02010609060101010101" pitchFamily="2" charset="-122"/>
                <a:ea typeface="黑体" panose="02010609060101010101" pitchFamily="2" charset="-122"/>
                <a:sym typeface="+mn-ea"/>
              </a:rPr>
              <a:t>示例（续）</a:t>
            </a:r>
          </a:p>
        </p:txBody>
      </p:sp>
      <p:sp>
        <p:nvSpPr>
          <p:cNvPr id="75779" name="Rectangle 3"/>
          <p:cNvSpPr>
            <a:spLocks noGrp="1"/>
          </p:cNvSpPr>
          <p:nvPr>
            <p:ph idx="1"/>
          </p:nvPr>
        </p:nvSpPr>
        <p:spPr/>
        <p:txBody>
          <a:bodyPr vert="horz" wrap="square" lIns="91440" tIns="45720" rIns="91440" bIns="45720" anchor="t" anchorCtr="0"/>
          <a:lstStyle/>
          <a:p>
            <a:pPr marL="0" indent="0" eaLnBrk="1" hangingPunct="1">
              <a:buNone/>
            </a:pPr>
            <a:r>
              <a:rPr lang="zh-CN" altLang="en-US" sz="3600" dirty="0" smtClean="0">
                <a:latin typeface="宋体" pitchFamily="2" charset="-122"/>
                <a:cs typeface="等线" panose="02010600030101010101" charset="-122"/>
              </a:rPr>
              <a:t>例</a:t>
            </a:r>
            <a:r>
              <a:rPr lang="en-US" altLang="zh-CN" sz="3600" dirty="0" smtClean="0"/>
              <a:t>4.50 </a:t>
            </a:r>
            <a:r>
              <a:rPr lang="zh-CN" altLang="en-US" sz="3600" dirty="0" smtClean="0">
                <a:latin typeface="宋体" pitchFamily="2" charset="-122"/>
                <a:cs typeface="等线" panose="02010600030101010101" charset="-122"/>
              </a:rPr>
              <a:t>查询</a:t>
            </a:r>
            <a:r>
              <a:rPr lang="zh-CN" altLang="en-US" sz="3600" dirty="0">
                <a:latin typeface="宋体" pitchFamily="2" charset="-122"/>
                <a:cs typeface="等线" panose="02010600030101010101" charset="-122"/>
              </a:rPr>
              <a:t>没人选的课程，列出课程名。</a:t>
            </a:r>
          </a:p>
          <a:p>
            <a:pPr lvl="1" eaLnBrk="1" hangingPunct="1">
              <a:buFont typeface="Wingdings" panose="05000000000000000000" pitchFamily="2" charset="2"/>
              <a:buNone/>
            </a:pPr>
            <a:r>
              <a:rPr lang="en-US" altLang="zh-CN" dirty="0">
                <a:solidFill>
                  <a:srgbClr val="0000FF"/>
                </a:solidFill>
                <a:latin typeface="宋体" pitchFamily="2" charset="-122"/>
                <a:cs typeface="等线" panose="02010600030101010101" charset="-122"/>
              </a:rPr>
              <a:t>SELECT Cname </a:t>
            </a:r>
          </a:p>
          <a:p>
            <a:pPr lvl="1" eaLnBrk="1" hangingPunct="1">
              <a:buFont typeface="Wingdings" panose="05000000000000000000" pitchFamily="2" charset="2"/>
              <a:buNone/>
            </a:pPr>
            <a:r>
              <a:rPr lang="en-US" altLang="zh-CN" dirty="0">
                <a:solidFill>
                  <a:srgbClr val="0000FF"/>
                </a:solidFill>
                <a:latin typeface="宋体" pitchFamily="2" charset="-122"/>
                <a:cs typeface="等线" panose="02010600030101010101" charset="-122"/>
              </a:rPr>
              <a:t>  FROM Course C LEFT JOIN SC </a:t>
            </a:r>
          </a:p>
          <a:p>
            <a:pPr lvl="1" eaLnBrk="1" hangingPunct="1">
              <a:buFont typeface="Wingdings" panose="05000000000000000000" pitchFamily="2" charset="2"/>
              <a:buNone/>
            </a:pPr>
            <a:r>
              <a:rPr lang="en-US" altLang="zh-CN" dirty="0">
                <a:solidFill>
                  <a:srgbClr val="0000FF"/>
                </a:solidFill>
                <a:latin typeface="宋体" pitchFamily="2" charset="-122"/>
                <a:cs typeface="等线" panose="02010600030101010101" charset="-122"/>
              </a:rPr>
              <a:t>  </a:t>
            </a:r>
            <a:r>
              <a:rPr lang="en-US" altLang="zh-CN" dirty="0" smtClean="0">
                <a:solidFill>
                  <a:srgbClr val="0000FF"/>
                </a:solidFill>
                <a:latin typeface="宋体" pitchFamily="2" charset="-122"/>
                <a:cs typeface="等线" panose="02010600030101010101" charset="-122"/>
              </a:rPr>
              <a:t>           ON </a:t>
            </a:r>
            <a:r>
              <a:rPr lang="en-US" altLang="zh-CN" dirty="0">
                <a:solidFill>
                  <a:srgbClr val="0000FF"/>
                </a:solidFill>
                <a:latin typeface="宋体" pitchFamily="2" charset="-122"/>
                <a:cs typeface="等线" panose="02010600030101010101" charset="-122"/>
              </a:rPr>
              <a:t>C.Cno = SC.Cno</a:t>
            </a:r>
          </a:p>
          <a:p>
            <a:pPr lvl="1" eaLnBrk="1" hangingPunct="1">
              <a:buFont typeface="Wingdings" panose="05000000000000000000" pitchFamily="2" charset="2"/>
              <a:buNone/>
            </a:pPr>
            <a:r>
              <a:rPr lang="en-US" altLang="zh-CN" dirty="0">
                <a:solidFill>
                  <a:srgbClr val="0000FF"/>
                </a:solidFill>
                <a:latin typeface="宋体" pitchFamily="2" charset="-122"/>
                <a:cs typeface="等线" panose="02010600030101010101" charset="-122"/>
              </a:rPr>
              <a:t>  WHERE SC.Cno IS NULL</a:t>
            </a:r>
            <a:endParaRPr lang="zh-CN" altLang="en-US" dirty="0">
              <a:solidFill>
                <a:srgbClr val="0000FF"/>
              </a:solidFill>
              <a:latin typeface="宋体" pitchFamily="2" charset="-122"/>
              <a:cs typeface="等线" panose="02010600030101010101" charset="-122"/>
            </a:endParaRPr>
          </a:p>
        </p:txBody>
      </p:sp>
    </p:spTree>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标题 1"/>
          <p:cNvSpPr>
            <a:spLocks noGrp="1"/>
          </p:cNvSpPr>
          <p:nvPr>
            <p:ph type="title"/>
          </p:nvPr>
        </p:nvSpPr>
        <p:spPr>
          <a:xfrm>
            <a:off x="500063" y="152400"/>
            <a:ext cx="8001000" cy="685800"/>
          </a:xfrm>
          <a:noFill/>
          <a:ln w="9525">
            <a:noFill/>
          </a:ln>
        </p:spPr>
        <p:txBody>
          <a:bodyPr vert="horz" wrap="square" lIns="91440" tIns="45720" rIns="91440" bIns="45720" rtlCol="0" anchor="ctr" anchorCtr="0">
            <a:normAutofit fontScale="90000"/>
          </a:bodyPr>
          <a:lstStyle/>
          <a:p>
            <a:pPr lvl="0" algn="ctr" eaLnBrk="1" hangingPunct="1">
              <a:buClrTx/>
              <a:buSzTx/>
              <a:buFontTx/>
            </a:pPr>
            <a:r>
              <a:rPr lang="zh-CN" altLang="en-US" sz="4000" b="0" dirty="0">
                <a:latin typeface="黑体" panose="02010609060101010101" pitchFamily="2" charset="-122"/>
                <a:ea typeface="黑体" panose="02010609060101010101" pitchFamily="2" charset="-122"/>
                <a:sym typeface="+mn-ea"/>
              </a:rPr>
              <a:t>示例</a:t>
            </a:r>
          </a:p>
        </p:txBody>
      </p:sp>
      <p:sp>
        <p:nvSpPr>
          <p:cNvPr id="77827" name="内容占位符 2"/>
          <p:cNvSpPr>
            <a:spLocks noGrp="1"/>
          </p:cNvSpPr>
          <p:nvPr>
            <p:ph idx="1"/>
          </p:nvPr>
        </p:nvSpPr>
        <p:spPr/>
        <p:txBody>
          <a:bodyPr vert="horz" wrap="square" lIns="91440" tIns="45720" rIns="91440" bIns="45720" anchor="t" anchorCtr="0"/>
          <a:lstStyle/>
          <a:p>
            <a:pPr marL="0" indent="0">
              <a:buNone/>
            </a:pPr>
            <a:r>
              <a:rPr lang="zh-CN" altLang="en-US" dirty="0" smtClean="0">
                <a:latin typeface="宋体" pitchFamily="2" charset="-122"/>
                <a:cs typeface="等线" panose="02010600030101010101" charset="-122"/>
              </a:rPr>
              <a:t>例</a:t>
            </a:r>
            <a:r>
              <a:rPr lang="en-US" altLang="zh-CN" sz="3200" dirty="0" smtClean="0"/>
              <a:t>4.52 </a:t>
            </a:r>
            <a:r>
              <a:rPr lang="zh-CN" altLang="en-US" dirty="0" smtClean="0">
                <a:latin typeface="宋体" pitchFamily="2" charset="-122"/>
                <a:cs typeface="等线" panose="02010600030101010101" charset="-122"/>
              </a:rPr>
              <a:t>统计</a:t>
            </a:r>
            <a:r>
              <a:rPr lang="zh-CN" altLang="en-US" dirty="0">
                <a:latin typeface="宋体" pitchFamily="2" charset="-122"/>
                <a:cs typeface="等线" panose="02010600030101010101" charset="-122"/>
              </a:rPr>
              <a:t>计算机系每个学生的选课门数，包括没选课的学生。</a:t>
            </a:r>
          </a:p>
          <a:p>
            <a:pPr>
              <a:buFont typeface="Wingdings" panose="05000000000000000000" pitchFamily="2" charset="2"/>
              <a:buNone/>
            </a:pPr>
            <a:r>
              <a:rPr lang="en-US" altLang="zh-CN" sz="3200" dirty="0">
                <a:solidFill>
                  <a:srgbClr val="0000FF"/>
                </a:solidFill>
                <a:latin typeface="宋体" pitchFamily="2" charset="-122"/>
                <a:cs typeface="等线" panose="02010600030101010101" charset="-122"/>
              </a:rPr>
              <a:t> SELECT S.Sno AS </a:t>
            </a:r>
            <a:r>
              <a:rPr lang="zh-CN" altLang="en-US" sz="3200" dirty="0">
                <a:solidFill>
                  <a:srgbClr val="0000FF"/>
                </a:solidFill>
                <a:latin typeface="宋体" pitchFamily="2" charset="-122"/>
                <a:cs typeface="等线" panose="02010600030101010101" charset="-122"/>
              </a:rPr>
              <a:t>学号</a:t>
            </a:r>
            <a:r>
              <a:rPr lang="en-US" altLang="zh-CN" sz="3200" dirty="0">
                <a:solidFill>
                  <a:srgbClr val="0000FF"/>
                </a:solidFill>
                <a:latin typeface="宋体" pitchFamily="2" charset="-122"/>
                <a:cs typeface="等线" panose="02010600030101010101" charset="-122"/>
              </a:rPr>
              <a:t>,</a:t>
            </a:r>
          </a:p>
          <a:p>
            <a:pPr>
              <a:buFont typeface="Wingdings" panose="05000000000000000000" pitchFamily="2" charset="2"/>
              <a:buNone/>
            </a:pPr>
            <a:r>
              <a:rPr lang="en-US" altLang="zh-CN" sz="3200" dirty="0">
                <a:solidFill>
                  <a:srgbClr val="0000FF"/>
                </a:solidFill>
                <a:latin typeface="宋体" pitchFamily="2" charset="-122"/>
                <a:cs typeface="等线" panose="02010600030101010101" charset="-122"/>
              </a:rPr>
              <a:t>       COUNT(SC.Cno) AS </a:t>
            </a:r>
            <a:r>
              <a:rPr lang="zh-CN" altLang="en-US" sz="3200" dirty="0">
                <a:solidFill>
                  <a:srgbClr val="0000FF"/>
                </a:solidFill>
                <a:latin typeface="宋体" pitchFamily="2" charset="-122"/>
                <a:cs typeface="等线" panose="02010600030101010101" charset="-122"/>
              </a:rPr>
              <a:t>选课门数</a:t>
            </a:r>
          </a:p>
          <a:p>
            <a:pPr>
              <a:buFont typeface="Wingdings" panose="05000000000000000000" pitchFamily="2" charset="2"/>
              <a:buNone/>
            </a:pPr>
            <a:r>
              <a:rPr lang="en-US" altLang="zh-CN" sz="3200" dirty="0">
                <a:solidFill>
                  <a:srgbClr val="0000FF"/>
                </a:solidFill>
                <a:latin typeface="宋体" pitchFamily="2" charset="-122"/>
                <a:cs typeface="等线" panose="02010600030101010101" charset="-122"/>
              </a:rPr>
              <a:t>   FROM Student S LEFT JOIN SC</a:t>
            </a:r>
          </a:p>
          <a:p>
            <a:pPr>
              <a:buFont typeface="Wingdings" panose="05000000000000000000" pitchFamily="2" charset="2"/>
              <a:buNone/>
            </a:pPr>
            <a:r>
              <a:rPr lang="en-US" altLang="zh-CN" sz="3200" dirty="0">
                <a:solidFill>
                  <a:srgbClr val="0000FF"/>
                </a:solidFill>
                <a:latin typeface="宋体" pitchFamily="2" charset="-122"/>
                <a:cs typeface="等线" panose="02010600030101010101" charset="-122"/>
              </a:rPr>
              <a:t>   </a:t>
            </a:r>
            <a:r>
              <a:rPr lang="en-US" altLang="zh-CN" sz="3200" dirty="0" smtClean="0">
                <a:solidFill>
                  <a:srgbClr val="0000FF"/>
                </a:solidFill>
                <a:latin typeface="宋体" pitchFamily="2" charset="-122"/>
                <a:cs typeface="等线" panose="02010600030101010101" charset="-122"/>
              </a:rPr>
              <a:t>           ON </a:t>
            </a:r>
            <a:r>
              <a:rPr lang="en-US" altLang="zh-CN" sz="3200" dirty="0">
                <a:solidFill>
                  <a:srgbClr val="0000FF"/>
                </a:solidFill>
                <a:latin typeface="宋体" pitchFamily="2" charset="-122"/>
                <a:cs typeface="等线" panose="02010600030101010101" charset="-122"/>
              </a:rPr>
              <a:t>S.Sno = SC.Sno</a:t>
            </a:r>
            <a:endParaRPr lang="zh-CN" altLang="en-US" sz="3200" dirty="0">
              <a:solidFill>
                <a:srgbClr val="0000FF"/>
              </a:solidFill>
              <a:latin typeface="宋体" pitchFamily="2" charset="-122"/>
              <a:cs typeface="等线" panose="02010600030101010101" charset="-122"/>
            </a:endParaRPr>
          </a:p>
          <a:p>
            <a:pPr>
              <a:buFont typeface="Wingdings" panose="05000000000000000000" pitchFamily="2" charset="2"/>
              <a:buNone/>
            </a:pPr>
            <a:r>
              <a:rPr lang="en-US" altLang="zh-CN" sz="3200" dirty="0">
                <a:solidFill>
                  <a:srgbClr val="0000FF"/>
                </a:solidFill>
                <a:latin typeface="宋体" pitchFamily="2" charset="-122"/>
                <a:cs typeface="等线" panose="02010600030101010101" charset="-122"/>
              </a:rPr>
              <a:t>   WHERE Sdept = '</a:t>
            </a:r>
            <a:r>
              <a:rPr lang="zh-CN" altLang="en-US" sz="3200" dirty="0">
                <a:solidFill>
                  <a:srgbClr val="0000FF"/>
                </a:solidFill>
                <a:latin typeface="宋体" pitchFamily="2" charset="-122"/>
                <a:cs typeface="等线" panose="02010600030101010101" charset="-122"/>
              </a:rPr>
              <a:t>计算机系</a:t>
            </a:r>
            <a:r>
              <a:rPr lang="en-US" altLang="zh-CN" sz="3200" dirty="0">
                <a:solidFill>
                  <a:srgbClr val="0000FF"/>
                </a:solidFill>
                <a:latin typeface="宋体" pitchFamily="2" charset="-122"/>
                <a:cs typeface="等线" panose="02010600030101010101" charset="-122"/>
              </a:rPr>
              <a:t>'</a:t>
            </a:r>
            <a:endParaRPr lang="zh-CN" altLang="en-US" sz="3200" dirty="0">
              <a:solidFill>
                <a:srgbClr val="0000FF"/>
              </a:solidFill>
              <a:latin typeface="宋体" pitchFamily="2" charset="-122"/>
              <a:cs typeface="等线" panose="02010600030101010101" charset="-122"/>
            </a:endParaRPr>
          </a:p>
          <a:p>
            <a:pPr>
              <a:buFont typeface="Wingdings" panose="05000000000000000000" pitchFamily="2" charset="2"/>
              <a:buNone/>
            </a:pPr>
            <a:r>
              <a:rPr lang="en-US" altLang="zh-CN" sz="3200" dirty="0">
                <a:solidFill>
                  <a:srgbClr val="0000FF"/>
                </a:solidFill>
                <a:latin typeface="宋体" pitchFamily="2" charset="-122"/>
                <a:cs typeface="等线" panose="02010600030101010101" charset="-122"/>
              </a:rPr>
              <a:t>   GROUP BY S.Sno</a:t>
            </a:r>
            <a:endParaRPr lang="zh-CN" altLang="en-US" sz="3200" dirty="0">
              <a:solidFill>
                <a:srgbClr val="0000FF"/>
              </a:solidFill>
              <a:latin typeface="宋体" pitchFamily="2" charset="-122"/>
              <a:cs typeface="等线" panose="02010600030101010101" charset="-122"/>
            </a:endParaRPr>
          </a:p>
        </p:txBody>
      </p:sp>
    </p:spTree>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2"/>
          <p:cNvSpPr>
            <a:spLocks noGrp="1"/>
          </p:cNvSpPr>
          <p:nvPr>
            <p:ph type="title"/>
          </p:nvPr>
        </p:nvSpPr>
        <p:spPr>
          <a:xfrm>
            <a:off x="381000" y="152400"/>
            <a:ext cx="6999288" cy="685800"/>
          </a:xfrm>
          <a:noFill/>
          <a:ln w="9525">
            <a:noFill/>
          </a:ln>
        </p:spPr>
        <p:txBody>
          <a:bodyPr vert="horz" wrap="square" lIns="91440" tIns="45720" rIns="91440" bIns="45720" rtlCol="0" anchor="ctr" anchorCtr="0">
            <a:normAutofit fontScale="90000"/>
          </a:bodyPr>
          <a:lstStyle/>
          <a:p>
            <a:pPr lvl="0" algn="ctr" eaLnBrk="1" hangingPunct="1">
              <a:buClrTx/>
              <a:buSzTx/>
              <a:buFontTx/>
            </a:pPr>
            <a:r>
              <a:rPr lang="zh-CN" altLang="en-US" sz="4000" b="0" dirty="0">
                <a:latin typeface="黑体" panose="02010609060101010101" pitchFamily="2" charset="-122"/>
                <a:ea typeface="黑体" panose="02010609060101010101" pitchFamily="2" charset="-122"/>
                <a:sym typeface="+mn-ea"/>
              </a:rPr>
              <a:t>4.1.4  使用TOP限制结果集 </a:t>
            </a:r>
          </a:p>
        </p:txBody>
      </p:sp>
      <p:sp>
        <p:nvSpPr>
          <p:cNvPr id="78851" name="Rectangle 3"/>
          <p:cNvSpPr>
            <a:spLocks noGrp="1"/>
          </p:cNvSpPr>
          <p:nvPr>
            <p:ph idx="1"/>
          </p:nvPr>
        </p:nvSpPr>
        <p:spPr>
          <a:xfrm>
            <a:off x="457200" y="1320800"/>
            <a:ext cx="8229600" cy="4851400"/>
          </a:xfrm>
        </p:spPr>
        <p:txBody>
          <a:bodyPr vert="horz" wrap="square" lIns="91440" tIns="45720" rIns="91440" bIns="45720" anchor="t" anchorCtr="0"/>
          <a:lstStyle/>
          <a:p>
            <a:pPr eaLnBrk="1" hangingPunct="1"/>
            <a:r>
              <a:rPr lang="zh-CN" altLang="en-US" sz="2800" dirty="0">
                <a:latin typeface="宋体" pitchFamily="2" charset="-122"/>
                <a:cs typeface="等线" panose="02010600030101010101" charset="-122"/>
              </a:rPr>
              <a:t>在进行查询时有时只希望列出结果集中的前几个结果，而不是全部结果。</a:t>
            </a:r>
          </a:p>
          <a:p>
            <a:pPr marL="0" indent="0" eaLnBrk="1" hangingPunct="1">
              <a:buNone/>
            </a:pPr>
            <a:r>
              <a:rPr lang="zh-CN" altLang="en-US" sz="2800" dirty="0" smtClean="0">
                <a:latin typeface="宋体" pitchFamily="2" charset="-122"/>
                <a:cs typeface="等线" panose="02010600030101010101" charset="-122"/>
              </a:rPr>
              <a:t>  例如</a:t>
            </a:r>
            <a:r>
              <a:rPr lang="zh-CN" altLang="en-US" sz="2800" dirty="0">
                <a:latin typeface="宋体" pitchFamily="2" charset="-122"/>
                <a:cs typeface="等线" panose="02010600030101010101" charset="-122"/>
              </a:rPr>
              <a:t>，竞赛时可能只取成绩最高的前三名</a:t>
            </a:r>
            <a:r>
              <a:rPr lang="en-US" altLang="zh-CN" sz="2800" dirty="0">
                <a:latin typeface="宋体" pitchFamily="2" charset="-122"/>
                <a:cs typeface="等线" panose="02010600030101010101" charset="-122"/>
              </a:rPr>
              <a:t>.</a:t>
            </a:r>
          </a:p>
          <a:p>
            <a:pPr eaLnBrk="1" hangingPunct="1">
              <a:spcBef>
                <a:spcPts val="1800"/>
              </a:spcBef>
            </a:pPr>
            <a:r>
              <a:rPr lang="zh-CN" altLang="en-US" sz="2800" dirty="0">
                <a:latin typeface="宋体" pitchFamily="2" charset="-122"/>
                <a:cs typeface="等线" panose="02010600030101010101" charset="-122"/>
              </a:rPr>
              <a:t>可以使用</a:t>
            </a:r>
            <a:r>
              <a:rPr lang="en-US" altLang="zh-CN" sz="2800" dirty="0">
                <a:latin typeface="宋体" pitchFamily="2" charset="-122"/>
                <a:cs typeface="等线" panose="02010600030101010101" charset="-122"/>
              </a:rPr>
              <a:t>TOP</a:t>
            </a:r>
            <a:r>
              <a:rPr lang="zh-CN" altLang="en-US" sz="2800" dirty="0">
                <a:latin typeface="宋体" pitchFamily="2" charset="-122"/>
                <a:cs typeface="等线" panose="02010600030101010101" charset="-122"/>
              </a:rPr>
              <a:t>谓词限制输出的结果。格式如下</a:t>
            </a:r>
            <a:r>
              <a:rPr lang="en-US" altLang="zh-CN" sz="2800" dirty="0">
                <a:latin typeface="宋体" pitchFamily="2" charset="-122"/>
                <a:cs typeface="等线" panose="02010600030101010101" charset="-122"/>
              </a:rPr>
              <a:t>:</a:t>
            </a:r>
          </a:p>
          <a:p>
            <a:pPr lvl="1" eaLnBrk="1" hangingPunct="1">
              <a:buFont typeface="Wingdings" panose="05000000000000000000" pitchFamily="2" charset="2"/>
              <a:buNone/>
            </a:pPr>
            <a:r>
              <a:rPr lang="en-US" altLang="zh-CN" dirty="0">
                <a:solidFill>
                  <a:srgbClr val="FF0000"/>
                </a:solidFill>
                <a:latin typeface="宋体" pitchFamily="2" charset="-122"/>
                <a:cs typeface="等线" panose="02010600030101010101" charset="-122"/>
              </a:rPr>
              <a:t>TOP n [ percent ] [WITH TIES ]</a:t>
            </a:r>
            <a:r>
              <a:rPr lang="en-US" altLang="zh-CN" sz="2400" dirty="0">
                <a:latin typeface="宋体" pitchFamily="2" charset="-122"/>
                <a:cs typeface="等线" panose="02010600030101010101" charset="-122"/>
              </a:rPr>
              <a:t> </a:t>
            </a:r>
          </a:p>
          <a:p>
            <a:pPr marL="0" indent="0" eaLnBrk="1" hangingPunct="1">
              <a:buNone/>
            </a:pPr>
            <a:r>
              <a:rPr lang="en-US" altLang="zh-CN" sz="2800" dirty="0" smtClean="0">
                <a:solidFill>
                  <a:srgbClr val="0000FF"/>
                </a:solidFill>
                <a:latin typeface="宋体" pitchFamily="2" charset="-122"/>
                <a:cs typeface="等线" panose="02010600030101010101" charset="-122"/>
              </a:rPr>
              <a:t>  n</a:t>
            </a:r>
            <a:r>
              <a:rPr lang="zh-CN" altLang="en-US" sz="2800" dirty="0">
                <a:latin typeface="宋体" pitchFamily="2" charset="-122"/>
                <a:cs typeface="等线" panose="02010600030101010101" charset="-122"/>
              </a:rPr>
              <a:t>为非负整数。</a:t>
            </a:r>
          </a:p>
          <a:p>
            <a:pPr marL="0" indent="0" eaLnBrk="1" hangingPunct="1">
              <a:buNone/>
            </a:pPr>
            <a:r>
              <a:rPr lang="en-US" altLang="zh-CN" sz="2800" dirty="0" smtClean="0">
                <a:solidFill>
                  <a:srgbClr val="0000FF"/>
                </a:solidFill>
                <a:latin typeface="宋体" pitchFamily="2" charset="-122"/>
                <a:cs typeface="等线" panose="02010600030101010101" charset="-122"/>
              </a:rPr>
              <a:t>  TOP </a:t>
            </a:r>
            <a:r>
              <a:rPr lang="en-US" altLang="zh-CN" sz="2800" dirty="0">
                <a:solidFill>
                  <a:srgbClr val="0000FF"/>
                </a:solidFill>
                <a:latin typeface="宋体" pitchFamily="2" charset="-122"/>
                <a:cs typeface="等线" panose="02010600030101010101" charset="-122"/>
              </a:rPr>
              <a:t>n</a:t>
            </a:r>
            <a:r>
              <a:rPr lang="zh-CN" altLang="en-US" sz="2800" dirty="0">
                <a:latin typeface="宋体" pitchFamily="2" charset="-122"/>
                <a:cs typeface="等线" panose="02010600030101010101" charset="-122"/>
              </a:rPr>
              <a:t>：表示取查询结果的前</a:t>
            </a:r>
            <a:r>
              <a:rPr lang="en-US" altLang="zh-CN" sz="2800" dirty="0">
                <a:latin typeface="宋体" pitchFamily="2" charset="-122"/>
                <a:cs typeface="等线" panose="02010600030101010101" charset="-122"/>
              </a:rPr>
              <a:t>n</a:t>
            </a:r>
            <a:r>
              <a:rPr lang="zh-CN" altLang="en-US" sz="2800" dirty="0">
                <a:latin typeface="宋体" pitchFamily="2" charset="-122"/>
                <a:cs typeface="等线" panose="02010600030101010101" charset="-122"/>
              </a:rPr>
              <a:t>行；</a:t>
            </a:r>
          </a:p>
          <a:p>
            <a:pPr marL="0" indent="0" eaLnBrk="1" hangingPunct="1">
              <a:buNone/>
            </a:pPr>
            <a:r>
              <a:rPr lang="en-US" altLang="zh-CN" sz="2800" dirty="0" smtClean="0">
                <a:solidFill>
                  <a:srgbClr val="0000FF"/>
                </a:solidFill>
                <a:latin typeface="宋体" pitchFamily="2" charset="-122"/>
                <a:cs typeface="等线" panose="02010600030101010101" charset="-122"/>
              </a:rPr>
              <a:t>  TOP </a:t>
            </a:r>
            <a:r>
              <a:rPr lang="en-US" altLang="zh-CN" sz="2800" dirty="0">
                <a:solidFill>
                  <a:srgbClr val="0000FF"/>
                </a:solidFill>
                <a:latin typeface="宋体" pitchFamily="2" charset="-122"/>
                <a:cs typeface="等线" panose="02010600030101010101" charset="-122"/>
              </a:rPr>
              <a:t>n percnet</a:t>
            </a:r>
            <a:r>
              <a:rPr lang="zh-CN" altLang="en-US" sz="2800" dirty="0">
                <a:latin typeface="宋体" pitchFamily="2" charset="-122"/>
                <a:cs typeface="等线" panose="02010600030101010101" charset="-122"/>
              </a:rPr>
              <a:t>：表示取查询结果前</a:t>
            </a:r>
            <a:r>
              <a:rPr lang="en-US" altLang="zh-CN" sz="2800" dirty="0">
                <a:latin typeface="宋体" pitchFamily="2" charset="-122"/>
                <a:cs typeface="等线" panose="02010600030101010101" charset="-122"/>
              </a:rPr>
              <a:t>n%</a:t>
            </a:r>
            <a:r>
              <a:rPr lang="zh-CN" altLang="en-US" sz="2800" dirty="0">
                <a:latin typeface="宋体" pitchFamily="2" charset="-122"/>
                <a:cs typeface="等线" panose="02010600030101010101" charset="-122"/>
              </a:rPr>
              <a:t>行；</a:t>
            </a:r>
          </a:p>
          <a:p>
            <a:pPr marL="0" indent="0" eaLnBrk="1" hangingPunct="1">
              <a:buNone/>
            </a:pPr>
            <a:r>
              <a:rPr lang="en-US" altLang="zh-CN" sz="2800" dirty="0" smtClean="0">
                <a:solidFill>
                  <a:srgbClr val="0000FF"/>
                </a:solidFill>
                <a:latin typeface="宋体" pitchFamily="2" charset="-122"/>
                <a:cs typeface="等线" panose="02010600030101010101" charset="-122"/>
              </a:rPr>
              <a:t>  WITH </a:t>
            </a:r>
            <a:r>
              <a:rPr lang="en-US" altLang="zh-CN" sz="2800" dirty="0">
                <a:solidFill>
                  <a:srgbClr val="0000FF"/>
                </a:solidFill>
                <a:latin typeface="宋体" pitchFamily="2" charset="-122"/>
                <a:cs typeface="等线" panose="02010600030101010101" charset="-122"/>
              </a:rPr>
              <a:t>TIES</a:t>
            </a:r>
            <a:r>
              <a:rPr lang="zh-CN" altLang="en-US" sz="2800" dirty="0">
                <a:latin typeface="宋体" pitchFamily="2" charset="-122"/>
                <a:cs typeface="等线" panose="02010600030101010101" charset="-122"/>
              </a:rPr>
              <a:t>：表示包括并列的结果。 </a:t>
            </a:r>
          </a:p>
        </p:txBody>
      </p:sp>
    </p:spTree>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2"/>
          <p:cNvSpPr>
            <a:spLocks noGrp="1"/>
          </p:cNvSpPr>
          <p:nvPr>
            <p:ph type="title"/>
          </p:nvPr>
        </p:nvSpPr>
        <p:spPr>
          <a:xfrm>
            <a:off x="500063" y="152400"/>
            <a:ext cx="8001000" cy="685800"/>
          </a:xfrm>
          <a:noFill/>
          <a:ln w="9525">
            <a:noFill/>
          </a:ln>
        </p:spPr>
        <p:txBody>
          <a:bodyPr vert="horz" wrap="square" lIns="91440" tIns="45720" rIns="91440" bIns="45720" rtlCol="0" anchor="ctr" anchorCtr="0">
            <a:normAutofit fontScale="90000"/>
          </a:bodyPr>
          <a:lstStyle/>
          <a:p>
            <a:pPr lvl="0" algn="ctr" eaLnBrk="1" hangingPunct="1">
              <a:buClrTx/>
              <a:buSzTx/>
              <a:buFontTx/>
            </a:pPr>
            <a:r>
              <a:rPr lang="zh-CN" altLang="en-US" sz="4000" b="0" dirty="0">
                <a:latin typeface="黑体" panose="02010609060101010101" pitchFamily="2" charset="-122"/>
                <a:ea typeface="黑体" panose="02010609060101010101" pitchFamily="2" charset="-122"/>
                <a:sym typeface="+mn-ea"/>
              </a:rPr>
              <a:t>示例</a:t>
            </a:r>
          </a:p>
        </p:txBody>
      </p:sp>
      <p:sp>
        <p:nvSpPr>
          <p:cNvPr id="79875" name="Rectangle 3"/>
          <p:cNvSpPr>
            <a:spLocks noGrp="1"/>
          </p:cNvSpPr>
          <p:nvPr>
            <p:ph idx="1"/>
          </p:nvPr>
        </p:nvSpPr>
        <p:spPr>
          <a:xfrm>
            <a:off x="468630" y="1306830"/>
            <a:ext cx="8567866" cy="5001895"/>
          </a:xfrm>
        </p:spPr>
        <p:txBody>
          <a:bodyPr vert="horz" wrap="square" lIns="91440" tIns="45720" rIns="91440" bIns="45720" anchor="t" anchorCtr="0"/>
          <a:lstStyle/>
          <a:p>
            <a:pPr marL="0" indent="0" eaLnBrk="1" hangingPunct="1">
              <a:lnSpc>
                <a:spcPct val="90000"/>
              </a:lnSpc>
              <a:buNone/>
            </a:pPr>
            <a:r>
              <a:rPr lang="zh-CN" altLang="en-US" sz="3200" dirty="0" smtClean="0">
                <a:latin typeface="宋体" pitchFamily="2" charset="-122"/>
                <a:cs typeface="等线" panose="02010600030101010101" charset="-122"/>
              </a:rPr>
              <a:t>例</a:t>
            </a:r>
            <a:r>
              <a:rPr lang="en-US" altLang="zh-CN" sz="3200" dirty="0" smtClean="0"/>
              <a:t>4.53 </a:t>
            </a:r>
            <a:r>
              <a:rPr lang="zh-CN" altLang="en-US" sz="3200" dirty="0" smtClean="0">
                <a:latin typeface="宋体" pitchFamily="2" charset="-122"/>
                <a:cs typeface="等线" panose="02010600030101010101" charset="-122"/>
              </a:rPr>
              <a:t>查询</a:t>
            </a:r>
            <a:r>
              <a:rPr lang="zh-CN" altLang="en-US" sz="3200" dirty="0">
                <a:latin typeface="宋体" pitchFamily="2" charset="-122"/>
                <a:cs typeface="等线" panose="02010600030101010101" charset="-122"/>
              </a:rPr>
              <a:t>年龄最大的三个学生的姓名、年龄及所在的系。</a:t>
            </a:r>
          </a:p>
          <a:p>
            <a:pPr lvl="1" eaLnBrk="1" hangingPunct="1">
              <a:lnSpc>
                <a:spcPct val="90000"/>
              </a:lnSpc>
              <a:buFont typeface="Wingdings" panose="05000000000000000000" pitchFamily="2" charset="2"/>
              <a:buNone/>
            </a:pPr>
            <a:r>
              <a:rPr lang="en-US" altLang="zh-CN" sz="3000" dirty="0">
                <a:solidFill>
                  <a:srgbClr val="0000FF"/>
                </a:solidFill>
                <a:latin typeface="宋体" pitchFamily="2" charset="-122"/>
                <a:cs typeface="等线" panose="02010600030101010101" charset="-122"/>
              </a:rPr>
              <a:t>SELECT </a:t>
            </a:r>
            <a:r>
              <a:rPr lang="en-US" altLang="zh-CN" sz="3000" dirty="0">
                <a:solidFill>
                  <a:srgbClr val="FF0000"/>
                </a:solidFill>
                <a:latin typeface="宋体" pitchFamily="2" charset="-122"/>
                <a:cs typeface="等线" panose="02010600030101010101" charset="-122"/>
              </a:rPr>
              <a:t>TOP 3</a:t>
            </a:r>
            <a:r>
              <a:rPr lang="en-US" altLang="zh-CN" sz="3000" dirty="0">
                <a:solidFill>
                  <a:srgbClr val="0000FF"/>
                </a:solidFill>
                <a:latin typeface="宋体" pitchFamily="2" charset="-122"/>
                <a:cs typeface="等线" panose="02010600030101010101" charset="-122"/>
              </a:rPr>
              <a:t> Sname, Sage, </a:t>
            </a:r>
            <a:r>
              <a:rPr lang="en-US" altLang="zh-CN" sz="3000" dirty="0" err="1" smtClean="0">
                <a:solidFill>
                  <a:srgbClr val="0000FF"/>
                </a:solidFill>
                <a:latin typeface="宋体" pitchFamily="2" charset="-122"/>
                <a:cs typeface="等线" panose="02010600030101010101" charset="-122"/>
              </a:rPr>
              <a:t>Sdept</a:t>
            </a:r>
            <a:r>
              <a:rPr lang="en-US" altLang="zh-CN" sz="3000" dirty="0" smtClean="0">
                <a:solidFill>
                  <a:srgbClr val="0000FF"/>
                </a:solidFill>
                <a:latin typeface="宋体" pitchFamily="2" charset="-122"/>
                <a:cs typeface="等线" panose="02010600030101010101" charset="-122"/>
              </a:rPr>
              <a:t>  </a:t>
            </a:r>
          </a:p>
          <a:p>
            <a:pPr lvl="1" eaLnBrk="1" hangingPunct="1">
              <a:lnSpc>
                <a:spcPct val="90000"/>
              </a:lnSpc>
              <a:buFont typeface="Wingdings" panose="05000000000000000000" pitchFamily="2" charset="2"/>
              <a:buNone/>
            </a:pPr>
            <a:r>
              <a:rPr lang="en-US" altLang="zh-CN" sz="3000" dirty="0">
                <a:solidFill>
                  <a:srgbClr val="0000FF"/>
                </a:solidFill>
                <a:latin typeface="宋体" pitchFamily="2" charset="-122"/>
                <a:cs typeface="等线" panose="02010600030101010101" charset="-122"/>
              </a:rPr>
              <a:t> </a:t>
            </a:r>
            <a:r>
              <a:rPr lang="en-US" altLang="zh-CN" sz="3000" dirty="0" smtClean="0">
                <a:solidFill>
                  <a:srgbClr val="0000FF"/>
                </a:solidFill>
                <a:latin typeface="宋体" pitchFamily="2" charset="-122"/>
                <a:cs typeface="等线" panose="02010600030101010101" charset="-122"/>
              </a:rPr>
              <a:t> FROM </a:t>
            </a:r>
            <a:r>
              <a:rPr lang="en-US" altLang="zh-CN" sz="3000" dirty="0">
                <a:solidFill>
                  <a:srgbClr val="0000FF"/>
                </a:solidFill>
                <a:latin typeface="宋体" pitchFamily="2" charset="-122"/>
                <a:cs typeface="等线" panose="02010600030101010101" charset="-122"/>
              </a:rPr>
              <a:t>Student </a:t>
            </a:r>
          </a:p>
          <a:p>
            <a:pPr lvl="1" eaLnBrk="1" hangingPunct="1">
              <a:lnSpc>
                <a:spcPct val="90000"/>
              </a:lnSpc>
              <a:buFont typeface="Wingdings" panose="05000000000000000000" pitchFamily="2" charset="2"/>
              <a:buNone/>
            </a:pPr>
            <a:r>
              <a:rPr lang="en-US" altLang="zh-CN" sz="3000" dirty="0">
                <a:solidFill>
                  <a:srgbClr val="0000FF"/>
                </a:solidFill>
                <a:latin typeface="宋体" pitchFamily="2" charset="-122"/>
                <a:cs typeface="等线" panose="02010600030101010101" charset="-122"/>
              </a:rPr>
              <a:t>  ORDER BY Sage DESC</a:t>
            </a:r>
          </a:p>
          <a:p>
            <a:pPr eaLnBrk="1" hangingPunct="1">
              <a:lnSpc>
                <a:spcPct val="90000"/>
              </a:lnSpc>
              <a:spcBef>
                <a:spcPts val="1200"/>
              </a:spcBef>
            </a:pPr>
            <a:r>
              <a:rPr lang="zh-CN" altLang="en-US" sz="3200" dirty="0">
                <a:latin typeface="宋体" pitchFamily="2" charset="-122"/>
                <a:cs typeface="等线" panose="02010600030101010101" charset="-122"/>
              </a:rPr>
              <a:t>若包括年龄并列第</a:t>
            </a:r>
            <a:r>
              <a:rPr lang="en-US" altLang="zh-CN" sz="3200" dirty="0">
                <a:latin typeface="宋体" pitchFamily="2" charset="-122"/>
                <a:cs typeface="等线" panose="02010600030101010101" charset="-122"/>
              </a:rPr>
              <a:t>3</a:t>
            </a:r>
            <a:r>
              <a:rPr lang="zh-CN" altLang="en-US" sz="3200" dirty="0">
                <a:latin typeface="宋体" pitchFamily="2" charset="-122"/>
                <a:cs typeface="等线" panose="02010600030101010101" charset="-122"/>
              </a:rPr>
              <a:t>名的学生，则：</a:t>
            </a:r>
          </a:p>
          <a:p>
            <a:pPr lvl="1" eaLnBrk="1" hangingPunct="1">
              <a:lnSpc>
                <a:spcPct val="90000"/>
              </a:lnSpc>
              <a:buFont typeface="Wingdings" panose="05000000000000000000" pitchFamily="2" charset="2"/>
              <a:buNone/>
            </a:pPr>
            <a:r>
              <a:rPr lang="en-US" altLang="zh-CN" sz="3000" dirty="0">
                <a:solidFill>
                  <a:srgbClr val="0000FF"/>
                </a:solidFill>
                <a:latin typeface="宋体" pitchFamily="2" charset="-122"/>
                <a:cs typeface="等线" panose="02010600030101010101" charset="-122"/>
              </a:rPr>
              <a:t>SELECT </a:t>
            </a:r>
            <a:r>
              <a:rPr lang="en-US" altLang="zh-CN" sz="3000" dirty="0" smtClean="0">
                <a:solidFill>
                  <a:srgbClr val="FF0000"/>
                </a:solidFill>
                <a:latin typeface="宋体" pitchFamily="2" charset="-122"/>
                <a:cs typeface="等线" panose="02010600030101010101" charset="-122"/>
              </a:rPr>
              <a:t>TOP 3 WITH TIES</a:t>
            </a:r>
            <a:r>
              <a:rPr lang="en-US" altLang="zh-CN" sz="3000" dirty="0" smtClean="0">
                <a:solidFill>
                  <a:srgbClr val="0000FF"/>
                </a:solidFill>
                <a:latin typeface="宋体" pitchFamily="2" charset="-122"/>
                <a:cs typeface="等线" panose="02010600030101010101" charset="-122"/>
              </a:rPr>
              <a:t> </a:t>
            </a:r>
            <a:r>
              <a:rPr lang="en-US" altLang="zh-CN" sz="3000" dirty="0" err="1" smtClean="0">
                <a:solidFill>
                  <a:srgbClr val="0000FF"/>
                </a:solidFill>
                <a:latin typeface="宋体" pitchFamily="2" charset="-122"/>
                <a:cs typeface="等线" panose="02010600030101010101" charset="-122"/>
              </a:rPr>
              <a:t>Sname,Sage</a:t>
            </a:r>
            <a:r>
              <a:rPr lang="en-US" altLang="zh-CN" sz="3000" dirty="0">
                <a:solidFill>
                  <a:srgbClr val="0000FF"/>
                </a:solidFill>
                <a:latin typeface="宋体" pitchFamily="2" charset="-122"/>
                <a:cs typeface="等线" panose="02010600030101010101" charset="-122"/>
              </a:rPr>
              <a:t>, Sdept </a:t>
            </a:r>
          </a:p>
          <a:p>
            <a:pPr lvl="1" eaLnBrk="1" hangingPunct="1">
              <a:lnSpc>
                <a:spcPct val="90000"/>
              </a:lnSpc>
              <a:buFont typeface="Wingdings" panose="05000000000000000000" pitchFamily="2" charset="2"/>
              <a:buNone/>
            </a:pPr>
            <a:r>
              <a:rPr lang="en-US" altLang="zh-CN" sz="3000" dirty="0">
                <a:solidFill>
                  <a:srgbClr val="0000FF"/>
                </a:solidFill>
                <a:latin typeface="宋体" pitchFamily="2" charset="-122"/>
                <a:cs typeface="等线" panose="02010600030101010101" charset="-122"/>
              </a:rPr>
              <a:t> </a:t>
            </a:r>
            <a:r>
              <a:rPr lang="en-US" altLang="zh-CN" sz="3000" dirty="0" smtClean="0">
                <a:solidFill>
                  <a:srgbClr val="0000FF"/>
                </a:solidFill>
                <a:latin typeface="宋体" pitchFamily="2" charset="-122"/>
                <a:cs typeface="等线" panose="02010600030101010101" charset="-122"/>
              </a:rPr>
              <a:t> FROM </a:t>
            </a:r>
            <a:r>
              <a:rPr lang="en-US" altLang="zh-CN" sz="3000" dirty="0">
                <a:solidFill>
                  <a:srgbClr val="0000FF"/>
                </a:solidFill>
                <a:latin typeface="宋体" pitchFamily="2" charset="-122"/>
                <a:cs typeface="等线" panose="02010600030101010101" charset="-122"/>
              </a:rPr>
              <a:t>Student </a:t>
            </a:r>
          </a:p>
          <a:p>
            <a:pPr lvl="1" eaLnBrk="1" hangingPunct="1">
              <a:lnSpc>
                <a:spcPct val="90000"/>
              </a:lnSpc>
              <a:buFont typeface="Wingdings" panose="05000000000000000000" pitchFamily="2" charset="2"/>
              <a:buNone/>
            </a:pPr>
            <a:r>
              <a:rPr lang="en-US" altLang="zh-CN" sz="3000" dirty="0">
                <a:solidFill>
                  <a:srgbClr val="0000FF"/>
                </a:solidFill>
                <a:latin typeface="宋体" pitchFamily="2" charset="-122"/>
                <a:cs typeface="等线" panose="02010600030101010101" charset="-122"/>
              </a:rPr>
              <a:t>  ORDER BY Sage DESC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9875">
                                            <p:txEl>
                                              <p:pRg st="4" end="4"/>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9875">
                                            <p:txEl>
                                              <p:pRg st="5" end="5"/>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9875">
                                            <p:txEl>
                                              <p:pRg st="6" end="6"/>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79875">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2"/>
          <p:cNvSpPr>
            <a:spLocks noGrp="1"/>
          </p:cNvSpPr>
          <p:nvPr>
            <p:ph type="title"/>
          </p:nvPr>
        </p:nvSpPr>
        <p:spPr>
          <a:xfrm>
            <a:off x="500063" y="152400"/>
            <a:ext cx="8001000" cy="685800"/>
          </a:xfrm>
          <a:noFill/>
          <a:ln w="9525">
            <a:noFill/>
          </a:ln>
        </p:spPr>
        <p:txBody>
          <a:bodyPr vert="horz" wrap="square" lIns="91440" tIns="45720" rIns="91440" bIns="45720" rtlCol="0" anchor="ctr" anchorCtr="0">
            <a:normAutofit fontScale="90000"/>
          </a:bodyPr>
          <a:lstStyle/>
          <a:p>
            <a:pPr lvl="0" algn="ctr" eaLnBrk="1" hangingPunct="1">
              <a:buClrTx/>
              <a:buSzTx/>
              <a:buFontTx/>
            </a:pPr>
            <a:r>
              <a:rPr lang="zh-CN" altLang="en-US" sz="4000" b="0" dirty="0">
                <a:latin typeface="黑体" panose="02010609060101010101" pitchFamily="2" charset="-122"/>
                <a:ea typeface="黑体" panose="02010609060101010101" pitchFamily="2" charset="-122"/>
                <a:sym typeface="+mn-ea"/>
              </a:rPr>
              <a:t>示例（续）</a:t>
            </a:r>
          </a:p>
        </p:txBody>
      </p:sp>
      <p:sp>
        <p:nvSpPr>
          <p:cNvPr id="80899" name="Rectangle 3"/>
          <p:cNvSpPr>
            <a:spLocks noGrp="1"/>
          </p:cNvSpPr>
          <p:nvPr>
            <p:ph idx="1"/>
          </p:nvPr>
        </p:nvSpPr>
        <p:spPr>
          <a:xfrm>
            <a:off x="250825" y="1295400"/>
            <a:ext cx="8785671" cy="4876800"/>
          </a:xfrm>
        </p:spPr>
        <p:txBody>
          <a:bodyPr vert="horz" wrap="square" lIns="91440" tIns="45720" rIns="91440" bIns="45720" anchor="t" anchorCtr="0"/>
          <a:lstStyle/>
          <a:p>
            <a:pPr marL="0" indent="0" eaLnBrk="1" hangingPunct="1">
              <a:buNone/>
            </a:pPr>
            <a:r>
              <a:rPr lang="zh-CN" altLang="en-US" sz="3600" dirty="0" smtClean="0">
                <a:latin typeface="宋体" pitchFamily="2" charset="-122"/>
                <a:cs typeface="等线" panose="02010600030101010101" charset="-122"/>
              </a:rPr>
              <a:t>例</a:t>
            </a:r>
            <a:r>
              <a:rPr lang="en-US" altLang="zh-CN" sz="3600" dirty="0" smtClean="0"/>
              <a:t>4.54 </a:t>
            </a:r>
            <a:r>
              <a:rPr lang="zh-CN" altLang="en-US" sz="3600" dirty="0" smtClean="0">
                <a:latin typeface="宋体" pitchFamily="2" charset="-122"/>
                <a:cs typeface="等线" panose="02010600030101010101" charset="-122"/>
              </a:rPr>
              <a:t>查询</a:t>
            </a:r>
            <a:r>
              <a:rPr lang="en-US" altLang="zh-CN" sz="3600" dirty="0">
                <a:latin typeface="宋体" pitchFamily="2" charset="-122"/>
                <a:cs typeface="等线" panose="02010600030101010101" charset="-122"/>
              </a:rPr>
              <a:t>VB</a:t>
            </a:r>
            <a:r>
              <a:rPr lang="zh-CN" altLang="en-US" sz="3600" dirty="0">
                <a:latin typeface="宋体" pitchFamily="2" charset="-122"/>
                <a:cs typeface="等线" panose="02010600030101010101" charset="-122"/>
              </a:rPr>
              <a:t>课程考试成绩前三名的学生的姓名和成绩。</a:t>
            </a:r>
          </a:p>
          <a:p>
            <a:pPr lvl="1" algn="just" eaLnBrk="1" hangingPunct="1">
              <a:buFont typeface="Wingdings" panose="05000000000000000000" pitchFamily="2" charset="2"/>
              <a:buNone/>
            </a:pPr>
            <a:r>
              <a:rPr lang="en-US" altLang="zh-CN" dirty="0" smtClean="0">
                <a:solidFill>
                  <a:srgbClr val="0000FF"/>
                </a:solidFill>
                <a:latin typeface="宋体" pitchFamily="2" charset="-122"/>
                <a:cs typeface="等线" panose="02010600030101010101" charset="-122"/>
              </a:rPr>
              <a:t>SELECT </a:t>
            </a:r>
            <a:r>
              <a:rPr lang="en-US" altLang="zh-CN" dirty="0" smtClean="0">
                <a:solidFill>
                  <a:srgbClr val="FF0000"/>
                </a:solidFill>
                <a:latin typeface="宋体" pitchFamily="2" charset="-122"/>
                <a:cs typeface="等线" panose="02010600030101010101" charset="-122"/>
              </a:rPr>
              <a:t>TOP 3 WITH TIES</a:t>
            </a:r>
            <a:r>
              <a:rPr lang="en-US" altLang="zh-CN" dirty="0" smtClean="0">
                <a:solidFill>
                  <a:srgbClr val="0000FF"/>
                </a:solidFill>
                <a:latin typeface="宋体" pitchFamily="2" charset="-122"/>
                <a:cs typeface="等线" panose="02010600030101010101" charset="-122"/>
              </a:rPr>
              <a:t> </a:t>
            </a:r>
            <a:r>
              <a:rPr lang="en-US" altLang="zh-CN" dirty="0" err="1" smtClean="0">
                <a:solidFill>
                  <a:srgbClr val="0000FF"/>
                </a:solidFill>
                <a:latin typeface="宋体" pitchFamily="2" charset="-122"/>
                <a:cs typeface="等线" panose="02010600030101010101" charset="-122"/>
              </a:rPr>
              <a:t>Sname</a:t>
            </a:r>
            <a:r>
              <a:rPr lang="en-US" altLang="zh-CN" dirty="0" smtClean="0">
                <a:solidFill>
                  <a:srgbClr val="0000FF"/>
                </a:solidFill>
                <a:latin typeface="宋体" pitchFamily="2" charset="-122"/>
                <a:cs typeface="等线" panose="02010600030101010101" charset="-122"/>
              </a:rPr>
              <a:t>, Grade</a:t>
            </a:r>
          </a:p>
          <a:p>
            <a:pPr lvl="1" algn="just" eaLnBrk="1" hangingPunct="1">
              <a:buFont typeface="Wingdings" panose="05000000000000000000" pitchFamily="2" charset="2"/>
              <a:buNone/>
            </a:pPr>
            <a:r>
              <a:rPr lang="en-US" altLang="zh-CN" sz="3000" dirty="0" smtClean="0">
                <a:solidFill>
                  <a:srgbClr val="0000FF"/>
                </a:solidFill>
                <a:latin typeface="宋体" pitchFamily="2" charset="-122"/>
                <a:cs typeface="等线" panose="02010600030101010101" charset="-122"/>
              </a:rPr>
              <a:t>FROM Student S JOIN SC on </a:t>
            </a:r>
            <a:r>
              <a:rPr lang="en-US" altLang="zh-CN" sz="3000" dirty="0" err="1" smtClean="0">
                <a:solidFill>
                  <a:srgbClr val="0000FF"/>
                </a:solidFill>
                <a:latin typeface="宋体" pitchFamily="2" charset="-122"/>
                <a:cs typeface="等线" panose="02010600030101010101" charset="-122"/>
              </a:rPr>
              <a:t>S.Sno</a:t>
            </a:r>
            <a:r>
              <a:rPr lang="en-US" altLang="zh-CN" sz="3000" dirty="0" smtClean="0">
                <a:solidFill>
                  <a:srgbClr val="0000FF"/>
                </a:solidFill>
                <a:latin typeface="宋体" pitchFamily="2" charset="-122"/>
                <a:cs typeface="等线" panose="02010600030101010101" charset="-122"/>
              </a:rPr>
              <a:t> = </a:t>
            </a:r>
            <a:r>
              <a:rPr lang="en-US" altLang="zh-CN" sz="3000" dirty="0" err="1" smtClean="0">
                <a:solidFill>
                  <a:srgbClr val="0000FF"/>
                </a:solidFill>
                <a:latin typeface="宋体" pitchFamily="2" charset="-122"/>
                <a:cs typeface="等线" panose="02010600030101010101" charset="-122"/>
              </a:rPr>
              <a:t>SC.Sno</a:t>
            </a:r>
            <a:r>
              <a:rPr lang="en-US" altLang="zh-CN" sz="3000" dirty="0" smtClean="0">
                <a:solidFill>
                  <a:srgbClr val="0000FF"/>
                </a:solidFill>
                <a:latin typeface="宋体" pitchFamily="2" charset="-122"/>
                <a:cs typeface="等线" panose="02010600030101010101" charset="-122"/>
              </a:rPr>
              <a:t> </a:t>
            </a:r>
          </a:p>
          <a:p>
            <a:pPr lvl="1" algn="just" eaLnBrk="1" hangingPunct="1">
              <a:buFont typeface="Wingdings" panose="05000000000000000000" pitchFamily="2" charset="2"/>
              <a:buNone/>
            </a:pPr>
            <a:r>
              <a:rPr lang="en-US" altLang="zh-CN" sz="3000" dirty="0" smtClean="0">
                <a:solidFill>
                  <a:srgbClr val="0000FF"/>
                </a:solidFill>
                <a:latin typeface="宋体" pitchFamily="2" charset="-122"/>
                <a:cs typeface="等线" panose="02010600030101010101" charset="-122"/>
              </a:rPr>
              <a:t>     JOIN Course C ON </a:t>
            </a:r>
            <a:r>
              <a:rPr lang="en-US" altLang="zh-CN" sz="3000" dirty="0" err="1" smtClean="0">
                <a:solidFill>
                  <a:srgbClr val="0000FF"/>
                </a:solidFill>
                <a:latin typeface="宋体" pitchFamily="2" charset="-122"/>
                <a:cs typeface="等线" panose="02010600030101010101" charset="-122"/>
              </a:rPr>
              <a:t>C.Cno</a:t>
            </a:r>
            <a:r>
              <a:rPr lang="en-US" altLang="zh-CN" sz="3000" dirty="0" smtClean="0">
                <a:solidFill>
                  <a:srgbClr val="0000FF"/>
                </a:solidFill>
                <a:latin typeface="宋体" pitchFamily="2" charset="-122"/>
                <a:cs typeface="等线" panose="02010600030101010101" charset="-122"/>
              </a:rPr>
              <a:t> = </a:t>
            </a:r>
            <a:r>
              <a:rPr lang="en-US" altLang="zh-CN" sz="3000" dirty="0" err="1" smtClean="0">
                <a:solidFill>
                  <a:srgbClr val="0000FF"/>
                </a:solidFill>
                <a:latin typeface="宋体" pitchFamily="2" charset="-122"/>
                <a:cs typeface="等线" panose="02010600030101010101" charset="-122"/>
              </a:rPr>
              <a:t>SC.Cno</a:t>
            </a:r>
            <a:endParaRPr lang="en-US" altLang="zh-CN" sz="3000" dirty="0" smtClean="0">
              <a:solidFill>
                <a:srgbClr val="0000FF"/>
              </a:solidFill>
              <a:latin typeface="宋体" pitchFamily="2" charset="-122"/>
              <a:cs typeface="等线" panose="02010600030101010101" charset="-122"/>
            </a:endParaRPr>
          </a:p>
          <a:p>
            <a:pPr lvl="1" algn="just" eaLnBrk="1" hangingPunct="1">
              <a:buFont typeface="Wingdings" panose="05000000000000000000" pitchFamily="2" charset="2"/>
              <a:buNone/>
            </a:pPr>
            <a:r>
              <a:rPr lang="en-US" altLang="zh-CN" dirty="0" smtClean="0">
                <a:solidFill>
                  <a:srgbClr val="0000FF"/>
                </a:solidFill>
                <a:latin typeface="宋体" pitchFamily="2" charset="-122"/>
                <a:cs typeface="等线" panose="02010600030101010101" charset="-122"/>
              </a:rPr>
              <a:t>  WHERE </a:t>
            </a:r>
            <a:r>
              <a:rPr lang="en-US" altLang="zh-CN" dirty="0" err="1" smtClean="0">
                <a:solidFill>
                  <a:srgbClr val="0000FF"/>
                </a:solidFill>
                <a:latin typeface="宋体" pitchFamily="2" charset="-122"/>
                <a:cs typeface="等线" panose="02010600030101010101" charset="-122"/>
              </a:rPr>
              <a:t>Cname</a:t>
            </a:r>
            <a:r>
              <a:rPr lang="en-US" altLang="zh-CN" dirty="0" smtClean="0">
                <a:solidFill>
                  <a:srgbClr val="0000FF"/>
                </a:solidFill>
                <a:latin typeface="宋体" pitchFamily="2" charset="-122"/>
                <a:cs typeface="等线" panose="02010600030101010101" charset="-122"/>
              </a:rPr>
              <a:t> = 'VB'</a:t>
            </a:r>
          </a:p>
          <a:p>
            <a:pPr lvl="1" algn="just" eaLnBrk="1" hangingPunct="1">
              <a:buFont typeface="Wingdings" panose="05000000000000000000" pitchFamily="2" charset="2"/>
              <a:buNone/>
            </a:pPr>
            <a:r>
              <a:rPr lang="en-US" altLang="zh-CN" dirty="0" smtClean="0">
                <a:solidFill>
                  <a:srgbClr val="0000FF"/>
                </a:solidFill>
                <a:latin typeface="宋体" pitchFamily="2" charset="-122"/>
                <a:cs typeface="等线" panose="02010600030101010101" charset="-122"/>
              </a:rPr>
              <a:t>  ORDER BY Grade DESC</a:t>
            </a:r>
            <a:endParaRPr lang="zh-CN" altLang="en-US" dirty="0">
              <a:solidFill>
                <a:srgbClr val="0000FF"/>
              </a:solidFill>
              <a:latin typeface="宋体" pitchFamily="2" charset="-122"/>
              <a:cs typeface="等线" panose="02010600030101010101" charset="-122"/>
            </a:endParaRPr>
          </a:p>
        </p:txBody>
      </p:sp>
    </p:spTree>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标题 1"/>
          <p:cNvSpPr>
            <a:spLocks noGrp="1"/>
          </p:cNvSpPr>
          <p:nvPr>
            <p:ph type="title"/>
          </p:nvPr>
        </p:nvSpPr>
        <p:spPr>
          <a:xfrm>
            <a:off x="500063" y="152400"/>
            <a:ext cx="8001000" cy="685800"/>
          </a:xfrm>
          <a:noFill/>
          <a:ln w="9525">
            <a:noFill/>
          </a:ln>
        </p:spPr>
        <p:txBody>
          <a:bodyPr vert="horz" wrap="square" lIns="91440" tIns="45720" rIns="91440" bIns="45720" rtlCol="0" anchor="ctr" anchorCtr="0">
            <a:normAutofit fontScale="90000"/>
          </a:bodyPr>
          <a:lstStyle/>
          <a:p>
            <a:pPr lvl="0" algn="ctr" eaLnBrk="1" hangingPunct="1">
              <a:buClrTx/>
              <a:buSzTx/>
              <a:buFontTx/>
            </a:pPr>
            <a:r>
              <a:rPr lang="zh-CN" altLang="en-US" sz="4000" b="0" dirty="0">
                <a:latin typeface="黑体" panose="02010609060101010101" pitchFamily="2" charset="-122"/>
                <a:ea typeface="黑体" panose="02010609060101010101" pitchFamily="2" charset="-122"/>
                <a:sym typeface="+mn-ea"/>
              </a:rPr>
              <a:t>示例（续）</a:t>
            </a:r>
          </a:p>
        </p:txBody>
      </p:sp>
      <p:sp>
        <p:nvSpPr>
          <p:cNvPr id="81923" name="内容占位符 2"/>
          <p:cNvSpPr>
            <a:spLocks noGrp="1"/>
          </p:cNvSpPr>
          <p:nvPr>
            <p:ph idx="1"/>
          </p:nvPr>
        </p:nvSpPr>
        <p:spPr>
          <a:xfrm>
            <a:off x="457200" y="1295400"/>
            <a:ext cx="8686800" cy="4876800"/>
          </a:xfrm>
        </p:spPr>
        <p:txBody>
          <a:bodyPr vert="horz" wrap="square" lIns="91440" tIns="45720" rIns="91440" bIns="45720" anchor="t" anchorCtr="0"/>
          <a:lstStyle/>
          <a:p>
            <a:pPr marL="0" indent="0">
              <a:buNone/>
            </a:pPr>
            <a:r>
              <a:rPr lang="zh-CN" altLang="en-US" sz="3200" dirty="0" smtClean="0">
                <a:latin typeface="宋体" pitchFamily="2" charset="-122"/>
                <a:cs typeface="等线" panose="02010600030101010101" charset="-122"/>
              </a:rPr>
              <a:t>例</a:t>
            </a:r>
            <a:r>
              <a:rPr lang="en-US" altLang="zh-CN" sz="3200" dirty="0" smtClean="0"/>
              <a:t>4.55 </a:t>
            </a:r>
            <a:r>
              <a:rPr lang="zh-CN" altLang="en-US" sz="3200" dirty="0" smtClean="0">
                <a:latin typeface="宋体" pitchFamily="2" charset="-122"/>
                <a:cs typeface="等线" panose="02010600030101010101" charset="-122"/>
              </a:rPr>
              <a:t>查询</a:t>
            </a:r>
            <a:r>
              <a:rPr lang="zh-CN" altLang="en-US" sz="3200" dirty="0">
                <a:latin typeface="宋体" pitchFamily="2" charset="-122"/>
                <a:cs typeface="等线" panose="02010600030101010101" charset="-122"/>
              </a:rPr>
              <a:t>选课人数最少的两门课程（不包括没有人选的课程），列出课程号和选课人数</a:t>
            </a:r>
            <a:r>
              <a:rPr lang="zh-CN" altLang="en-US" sz="3200" dirty="0" smtClean="0">
                <a:latin typeface="宋体" pitchFamily="2" charset="-122"/>
                <a:cs typeface="等线" panose="02010600030101010101" charset="-122"/>
              </a:rPr>
              <a:t>。</a:t>
            </a:r>
          </a:p>
          <a:p>
            <a:pPr lvl="1" algn="just">
              <a:spcBef>
                <a:spcPts val="1200"/>
              </a:spcBef>
              <a:buFont typeface="Wingdings" panose="05000000000000000000" pitchFamily="2" charset="2"/>
              <a:buNone/>
            </a:pPr>
            <a:r>
              <a:rPr lang="en-US" altLang="zh-CN" dirty="0" smtClean="0">
                <a:solidFill>
                  <a:srgbClr val="0000FF"/>
                </a:solidFill>
                <a:latin typeface="宋体" pitchFamily="2" charset="-122"/>
                <a:cs typeface="等线" panose="02010600030101010101" charset="-122"/>
              </a:rPr>
              <a:t>SELECT TOP 2 WITH TIES </a:t>
            </a:r>
            <a:r>
              <a:rPr lang="en-US" altLang="zh-CN" dirty="0" err="1" smtClean="0">
                <a:solidFill>
                  <a:srgbClr val="0000FF"/>
                </a:solidFill>
                <a:latin typeface="宋体" pitchFamily="2" charset="-122"/>
                <a:cs typeface="等线" panose="02010600030101010101" charset="-122"/>
              </a:rPr>
              <a:t>Cno</a:t>
            </a:r>
            <a:r>
              <a:rPr lang="en-US" altLang="zh-CN" dirty="0" smtClean="0">
                <a:solidFill>
                  <a:srgbClr val="0000FF"/>
                </a:solidFill>
                <a:latin typeface="宋体" pitchFamily="2" charset="-122"/>
                <a:cs typeface="等线" panose="02010600030101010101" charset="-122"/>
              </a:rPr>
              <a:t>,</a:t>
            </a:r>
          </a:p>
          <a:p>
            <a:pPr lvl="1" algn="just">
              <a:buFont typeface="Wingdings" panose="05000000000000000000" pitchFamily="2" charset="2"/>
              <a:buNone/>
            </a:pPr>
            <a:r>
              <a:rPr lang="en-US" altLang="zh-CN" dirty="0" smtClean="0">
                <a:solidFill>
                  <a:srgbClr val="0000FF"/>
                </a:solidFill>
                <a:latin typeface="宋体" pitchFamily="2" charset="-122"/>
                <a:cs typeface="等线" panose="02010600030101010101" charset="-122"/>
              </a:rPr>
              <a:t>       COUNT(*) </a:t>
            </a:r>
            <a:r>
              <a:rPr lang="zh-CN" altLang="en-US" dirty="0" smtClean="0">
                <a:solidFill>
                  <a:srgbClr val="0000FF"/>
                </a:solidFill>
                <a:latin typeface="宋体" pitchFamily="2" charset="-122"/>
                <a:cs typeface="等线" panose="02010600030101010101" charset="-122"/>
              </a:rPr>
              <a:t>选课人数</a:t>
            </a:r>
          </a:p>
          <a:p>
            <a:pPr lvl="1" algn="just">
              <a:buFont typeface="Wingdings" panose="05000000000000000000" pitchFamily="2" charset="2"/>
              <a:buNone/>
            </a:pPr>
            <a:r>
              <a:rPr lang="en-US" altLang="zh-CN" dirty="0" smtClean="0">
                <a:solidFill>
                  <a:srgbClr val="0000FF"/>
                </a:solidFill>
                <a:latin typeface="宋体" pitchFamily="2" charset="-122"/>
                <a:cs typeface="等线" panose="02010600030101010101" charset="-122"/>
              </a:rPr>
              <a:t>  </a:t>
            </a:r>
            <a:r>
              <a:rPr lang="en-US" altLang="zh-CN" dirty="0">
                <a:solidFill>
                  <a:srgbClr val="0000FF"/>
                </a:solidFill>
                <a:latin typeface="宋体" pitchFamily="2" charset="-122"/>
                <a:cs typeface="等线" panose="02010600030101010101" charset="-122"/>
              </a:rPr>
              <a:t>FROM SC</a:t>
            </a:r>
            <a:endParaRPr lang="zh-CN" altLang="en-US" dirty="0">
              <a:solidFill>
                <a:srgbClr val="0000FF"/>
              </a:solidFill>
              <a:latin typeface="宋体" pitchFamily="2" charset="-122"/>
              <a:cs typeface="等线" panose="02010600030101010101" charset="-122"/>
            </a:endParaRPr>
          </a:p>
          <a:p>
            <a:pPr lvl="1" algn="just">
              <a:buFont typeface="Wingdings" panose="05000000000000000000" pitchFamily="2" charset="2"/>
              <a:buNone/>
            </a:pPr>
            <a:r>
              <a:rPr lang="en-US" altLang="zh-CN" dirty="0">
                <a:solidFill>
                  <a:srgbClr val="0000FF"/>
                </a:solidFill>
                <a:latin typeface="宋体" pitchFamily="2" charset="-122"/>
                <a:cs typeface="等线" panose="02010600030101010101" charset="-122"/>
              </a:rPr>
              <a:t>  GROUP BY Cno</a:t>
            </a:r>
            <a:endParaRPr lang="zh-CN" altLang="en-US" dirty="0">
              <a:solidFill>
                <a:srgbClr val="0000FF"/>
              </a:solidFill>
              <a:latin typeface="宋体" pitchFamily="2" charset="-122"/>
              <a:cs typeface="等线" panose="02010600030101010101" charset="-122"/>
            </a:endParaRPr>
          </a:p>
          <a:p>
            <a:pPr lvl="1" algn="just">
              <a:buFont typeface="Wingdings" panose="05000000000000000000" pitchFamily="2" charset="2"/>
              <a:buNone/>
            </a:pPr>
            <a:r>
              <a:rPr lang="en-US" altLang="zh-CN" dirty="0">
                <a:solidFill>
                  <a:srgbClr val="0000FF"/>
                </a:solidFill>
                <a:latin typeface="宋体" pitchFamily="2" charset="-122"/>
                <a:cs typeface="等线" panose="02010600030101010101" charset="-122"/>
              </a:rPr>
              <a:t>  ORDER BY COUNT(Cno) ASC</a:t>
            </a:r>
            <a:endParaRPr lang="zh-CN" altLang="en-US" dirty="0">
              <a:solidFill>
                <a:srgbClr val="0000FF"/>
              </a:solidFill>
              <a:latin typeface="宋体" pitchFamily="2" charset="-122"/>
              <a:cs typeface="等线" panose="02010600030101010101" charset="-122"/>
            </a:endParaRPr>
          </a:p>
        </p:txBody>
      </p:sp>
    </p:spTree>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标题 1"/>
          <p:cNvSpPr>
            <a:spLocks noGrp="1"/>
          </p:cNvSpPr>
          <p:nvPr>
            <p:ph type="title"/>
          </p:nvPr>
        </p:nvSpPr>
        <p:spPr>
          <a:xfrm>
            <a:off x="500063" y="152400"/>
            <a:ext cx="8001000" cy="685800"/>
          </a:xfrm>
          <a:noFill/>
          <a:ln w="9525">
            <a:noFill/>
          </a:ln>
        </p:spPr>
        <p:txBody>
          <a:bodyPr vert="horz" wrap="square" lIns="91440" tIns="45720" rIns="91440" bIns="45720" rtlCol="0" anchor="ctr" anchorCtr="0">
            <a:normAutofit fontScale="90000"/>
          </a:bodyPr>
          <a:lstStyle/>
          <a:p>
            <a:pPr lvl="0" algn="ctr" eaLnBrk="1" hangingPunct="1">
              <a:buClrTx/>
              <a:buSzTx/>
              <a:buFontTx/>
            </a:pPr>
            <a:r>
              <a:rPr lang="zh-CN" altLang="en-US" sz="4000" b="0" dirty="0">
                <a:latin typeface="黑体" panose="02010609060101010101" pitchFamily="2" charset="-122"/>
                <a:ea typeface="黑体" panose="02010609060101010101" pitchFamily="2" charset="-122"/>
                <a:sym typeface="+mn-ea"/>
              </a:rPr>
              <a:t>示例（续）</a:t>
            </a:r>
          </a:p>
        </p:txBody>
      </p:sp>
      <p:sp>
        <p:nvSpPr>
          <p:cNvPr id="82947" name="内容占位符 2"/>
          <p:cNvSpPr>
            <a:spLocks noGrp="1"/>
          </p:cNvSpPr>
          <p:nvPr>
            <p:ph idx="1"/>
          </p:nvPr>
        </p:nvSpPr>
        <p:spPr>
          <a:xfrm>
            <a:off x="357188" y="1214438"/>
            <a:ext cx="8329612" cy="4957762"/>
          </a:xfrm>
        </p:spPr>
        <p:txBody>
          <a:bodyPr vert="horz" wrap="square" lIns="91440" tIns="45720" rIns="91440" bIns="45720" anchor="t" anchorCtr="0"/>
          <a:lstStyle/>
          <a:p>
            <a:pPr marL="0" indent="0">
              <a:buNone/>
            </a:pPr>
            <a:r>
              <a:rPr lang="zh-CN" altLang="en-US" sz="2800" dirty="0" smtClean="0">
                <a:latin typeface="宋体" pitchFamily="2" charset="-122"/>
                <a:cs typeface="等线" panose="02010600030101010101" charset="-122"/>
              </a:rPr>
              <a:t>例</a:t>
            </a:r>
            <a:r>
              <a:rPr lang="en-US" altLang="zh-CN" sz="2800" dirty="0" smtClean="0"/>
              <a:t>4.56 </a:t>
            </a:r>
            <a:r>
              <a:rPr lang="zh-CN" altLang="en-US" sz="2800" dirty="0" smtClean="0">
                <a:latin typeface="宋体" pitchFamily="2" charset="-122"/>
                <a:cs typeface="等线" panose="02010600030101010101" charset="-122"/>
              </a:rPr>
              <a:t>查询</a:t>
            </a:r>
            <a:r>
              <a:rPr lang="zh-CN" altLang="en-US" sz="2800" dirty="0">
                <a:latin typeface="宋体" pitchFamily="2" charset="-122"/>
                <a:cs typeface="等线" panose="02010600030101010101" charset="-122"/>
              </a:rPr>
              <a:t>计算机系选课门数超过</a:t>
            </a:r>
            <a:r>
              <a:rPr lang="en-US" altLang="zh-CN" sz="2800" dirty="0">
                <a:latin typeface="宋体" pitchFamily="2" charset="-122"/>
                <a:cs typeface="等线" panose="02010600030101010101" charset="-122"/>
              </a:rPr>
              <a:t>2</a:t>
            </a:r>
            <a:r>
              <a:rPr lang="zh-CN" altLang="en-US" sz="2800" dirty="0">
                <a:latin typeface="宋体" pitchFamily="2" charset="-122"/>
                <a:cs typeface="等线" panose="02010600030101010101" charset="-122"/>
              </a:rPr>
              <a:t>门的学生中，考试平均成绩最高的前</a:t>
            </a:r>
            <a:r>
              <a:rPr lang="en-US" altLang="zh-CN" sz="2800" dirty="0">
                <a:latin typeface="宋体" pitchFamily="2" charset="-122"/>
                <a:cs typeface="等线" panose="02010600030101010101" charset="-122"/>
              </a:rPr>
              <a:t>2</a:t>
            </a:r>
            <a:r>
              <a:rPr lang="zh-CN" altLang="en-US" sz="2800" dirty="0">
                <a:latin typeface="宋体" pitchFamily="2" charset="-122"/>
                <a:cs typeface="等线" panose="02010600030101010101" charset="-122"/>
              </a:rPr>
              <a:t>名（包括并列的情况）学生的学号，选课门数和平均成绩。</a:t>
            </a:r>
          </a:p>
          <a:p>
            <a:pPr algn="just">
              <a:buFont typeface="Wingdings" panose="05000000000000000000" pitchFamily="2" charset="2"/>
              <a:buNone/>
            </a:pPr>
            <a:r>
              <a:rPr lang="en-US" altLang="zh-CN" sz="2800" dirty="0">
                <a:solidFill>
                  <a:srgbClr val="0000FF"/>
                </a:solidFill>
                <a:latin typeface="宋体" pitchFamily="2" charset="-122"/>
                <a:cs typeface="等线" panose="02010600030101010101" charset="-122"/>
              </a:rPr>
              <a:t>  SELECT TOP 2 WITH TIES S.Sno, </a:t>
            </a:r>
          </a:p>
          <a:p>
            <a:pPr algn="just">
              <a:buFont typeface="Wingdings" panose="05000000000000000000" pitchFamily="2" charset="2"/>
              <a:buNone/>
            </a:pPr>
            <a:r>
              <a:rPr lang="en-US" altLang="zh-CN" sz="2800" dirty="0">
                <a:solidFill>
                  <a:srgbClr val="0000FF"/>
                </a:solidFill>
                <a:latin typeface="宋体" pitchFamily="2" charset="-122"/>
                <a:cs typeface="等线" panose="02010600030101010101" charset="-122"/>
              </a:rPr>
              <a:t>    COUNT(*) </a:t>
            </a:r>
            <a:r>
              <a:rPr lang="zh-CN" altLang="en-US" sz="2800" dirty="0">
                <a:solidFill>
                  <a:srgbClr val="0000FF"/>
                </a:solidFill>
                <a:latin typeface="宋体" pitchFamily="2" charset="-122"/>
                <a:cs typeface="等线" panose="02010600030101010101" charset="-122"/>
              </a:rPr>
              <a:t>选课门数</a:t>
            </a:r>
            <a:r>
              <a:rPr lang="en-US" altLang="zh-CN" sz="2800" dirty="0">
                <a:solidFill>
                  <a:srgbClr val="0000FF"/>
                </a:solidFill>
                <a:latin typeface="宋体" pitchFamily="2" charset="-122"/>
                <a:cs typeface="等线" panose="02010600030101010101" charset="-122"/>
              </a:rPr>
              <a:t>,AVG(Grade) </a:t>
            </a:r>
            <a:r>
              <a:rPr lang="zh-CN" altLang="en-US" sz="2800" dirty="0">
                <a:solidFill>
                  <a:srgbClr val="0000FF"/>
                </a:solidFill>
                <a:latin typeface="宋体" pitchFamily="2" charset="-122"/>
                <a:cs typeface="等线" panose="02010600030101010101" charset="-122"/>
              </a:rPr>
              <a:t>平均成绩</a:t>
            </a:r>
          </a:p>
          <a:p>
            <a:pPr algn="just">
              <a:buFont typeface="Wingdings" panose="05000000000000000000" pitchFamily="2" charset="2"/>
              <a:buNone/>
            </a:pPr>
            <a:r>
              <a:rPr lang="en-US" altLang="zh-CN" sz="2800" dirty="0">
                <a:solidFill>
                  <a:srgbClr val="0000FF"/>
                </a:solidFill>
                <a:latin typeface="宋体" pitchFamily="2" charset="-122"/>
                <a:cs typeface="等线" panose="02010600030101010101" charset="-122"/>
              </a:rPr>
              <a:t>    FROM Student S JOIN SC ON S.Sno = SC.Sno</a:t>
            </a:r>
            <a:endParaRPr lang="zh-CN" altLang="en-US" sz="2800" dirty="0">
              <a:solidFill>
                <a:srgbClr val="0000FF"/>
              </a:solidFill>
              <a:latin typeface="宋体" pitchFamily="2" charset="-122"/>
              <a:cs typeface="等线" panose="02010600030101010101" charset="-122"/>
            </a:endParaRPr>
          </a:p>
          <a:p>
            <a:pPr algn="just">
              <a:buFont typeface="Wingdings" panose="05000000000000000000" pitchFamily="2" charset="2"/>
              <a:buNone/>
            </a:pPr>
            <a:r>
              <a:rPr lang="en-US" altLang="zh-CN" sz="2800" dirty="0">
                <a:solidFill>
                  <a:srgbClr val="0000FF"/>
                </a:solidFill>
                <a:latin typeface="宋体" pitchFamily="2" charset="-122"/>
                <a:cs typeface="等线" panose="02010600030101010101" charset="-122"/>
              </a:rPr>
              <a:t>    WHERE Sdept = '</a:t>
            </a:r>
            <a:r>
              <a:rPr lang="zh-CN" altLang="en-US" sz="2800" dirty="0">
                <a:solidFill>
                  <a:srgbClr val="0000FF"/>
                </a:solidFill>
                <a:latin typeface="宋体" pitchFamily="2" charset="-122"/>
                <a:cs typeface="等线" panose="02010600030101010101" charset="-122"/>
              </a:rPr>
              <a:t>计算机系</a:t>
            </a:r>
            <a:r>
              <a:rPr lang="en-US" altLang="zh-CN" sz="2800" dirty="0">
                <a:solidFill>
                  <a:srgbClr val="0000FF"/>
                </a:solidFill>
                <a:latin typeface="宋体" pitchFamily="2" charset="-122"/>
                <a:cs typeface="等线" panose="02010600030101010101" charset="-122"/>
              </a:rPr>
              <a:t>'</a:t>
            </a:r>
            <a:endParaRPr lang="zh-CN" altLang="en-US" sz="2800" dirty="0">
              <a:solidFill>
                <a:srgbClr val="0000FF"/>
              </a:solidFill>
              <a:latin typeface="宋体" pitchFamily="2" charset="-122"/>
              <a:cs typeface="等线" panose="02010600030101010101" charset="-122"/>
            </a:endParaRPr>
          </a:p>
          <a:p>
            <a:pPr algn="just">
              <a:buFont typeface="Wingdings" panose="05000000000000000000" pitchFamily="2" charset="2"/>
              <a:buNone/>
            </a:pPr>
            <a:r>
              <a:rPr lang="en-US" altLang="zh-CN" sz="2800" dirty="0">
                <a:solidFill>
                  <a:srgbClr val="0000FF"/>
                </a:solidFill>
                <a:latin typeface="宋体" pitchFamily="2" charset="-122"/>
                <a:cs typeface="等线" panose="02010600030101010101" charset="-122"/>
              </a:rPr>
              <a:t>    GROUP BY S.sno</a:t>
            </a:r>
            <a:endParaRPr lang="zh-CN" altLang="en-US" sz="2800" dirty="0">
              <a:solidFill>
                <a:srgbClr val="0000FF"/>
              </a:solidFill>
              <a:latin typeface="宋体" pitchFamily="2" charset="-122"/>
              <a:cs typeface="等线" panose="02010600030101010101" charset="-122"/>
            </a:endParaRPr>
          </a:p>
          <a:p>
            <a:pPr algn="just">
              <a:buFont typeface="Wingdings" panose="05000000000000000000" pitchFamily="2" charset="2"/>
              <a:buNone/>
            </a:pPr>
            <a:r>
              <a:rPr lang="en-US" altLang="zh-CN" sz="2800" dirty="0">
                <a:solidFill>
                  <a:srgbClr val="0000FF"/>
                </a:solidFill>
                <a:latin typeface="宋体" pitchFamily="2" charset="-122"/>
                <a:cs typeface="等线" panose="02010600030101010101" charset="-122"/>
              </a:rPr>
              <a:t>    HAVING COUNT(*) &gt; 2</a:t>
            </a:r>
            <a:endParaRPr lang="zh-CN" altLang="en-US" sz="2800" dirty="0">
              <a:solidFill>
                <a:srgbClr val="0000FF"/>
              </a:solidFill>
              <a:latin typeface="宋体" pitchFamily="2" charset="-122"/>
              <a:cs typeface="等线" panose="02010600030101010101" charset="-122"/>
            </a:endParaRPr>
          </a:p>
          <a:p>
            <a:pPr algn="just">
              <a:buFont typeface="Wingdings" panose="05000000000000000000" pitchFamily="2" charset="2"/>
              <a:buNone/>
            </a:pPr>
            <a:r>
              <a:rPr lang="en-US" altLang="zh-CN" sz="2800" dirty="0">
                <a:solidFill>
                  <a:srgbClr val="0000FF"/>
                </a:solidFill>
                <a:latin typeface="宋体" pitchFamily="2" charset="-122"/>
                <a:cs typeface="等线" panose="02010600030101010101" charset="-122"/>
              </a:rPr>
              <a:t>    ORDER BY AVG(Grade) DESC</a:t>
            </a:r>
            <a:endParaRPr lang="zh-CN" altLang="en-US" sz="2800" dirty="0">
              <a:solidFill>
                <a:srgbClr val="0000FF"/>
              </a:solidFill>
              <a:latin typeface="宋体" pitchFamily="2" charset="-122"/>
              <a:cs typeface="等线" panose="02010600030101010101" charset="-122"/>
            </a:endParaRPr>
          </a:p>
        </p:txBody>
      </p:sp>
    </p:spTree>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标题 1"/>
          <p:cNvSpPr>
            <a:spLocks noGrp="1"/>
          </p:cNvSpPr>
          <p:nvPr>
            <p:ph type="title"/>
          </p:nvPr>
        </p:nvSpPr>
        <p:spPr>
          <a:xfrm>
            <a:off x="500063" y="152400"/>
            <a:ext cx="8001000" cy="685800"/>
          </a:xfrm>
          <a:noFill/>
          <a:ln w="9525">
            <a:noFill/>
          </a:ln>
        </p:spPr>
        <p:txBody>
          <a:bodyPr vert="horz" wrap="square" lIns="91440" tIns="45720" rIns="91440" bIns="45720" rtlCol="0" anchor="ctr" anchorCtr="0">
            <a:normAutofit fontScale="90000"/>
          </a:bodyPr>
          <a:lstStyle/>
          <a:p>
            <a:pPr lvl="0" algn="ctr" eaLnBrk="1" hangingPunct="1">
              <a:buClrTx/>
              <a:buSzTx/>
              <a:buFontTx/>
            </a:pPr>
            <a:r>
              <a:rPr lang="zh-CN" altLang="en-US" sz="4000" b="0" dirty="0">
                <a:latin typeface="黑体" panose="02010609060101010101" pitchFamily="2" charset="-122"/>
                <a:ea typeface="黑体" panose="02010609060101010101" pitchFamily="2" charset="-122"/>
                <a:sym typeface="+mn-ea"/>
              </a:rPr>
              <a:t>4.1.5 CASE表达式</a:t>
            </a:r>
          </a:p>
        </p:txBody>
      </p:sp>
      <p:sp>
        <p:nvSpPr>
          <p:cNvPr id="83971" name="内容占位符 2"/>
          <p:cNvSpPr>
            <a:spLocks noGrp="1"/>
          </p:cNvSpPr>
          <p:nvPr>
            <p:ph idx="1"/>
          </p:nvPr>
        </p:nvSpPr>
        <p:spPr>
          <a:xfrm>
            <a:off x="357188" y="1295400"/>
            <a:ext cx="8329612" cy="4876800"/>
          </a:xfrm>
        </p:spPr>
        <p:txBody>
          <a:bodyPr vert="horz" wrap="square" lIns="91440" tIns="45720" rIns="91440" bIns="45720" anchor="t" anchorCtr="0"/>
          <a:lstStyle/>
          <a:p>
            <a:r>
              <a:rPr lang="zh-CN" altLang="en-US" sz="3200" dirty="0">
                <a:latin typeface="宋体" pitchFamily="2" charset="-122"/>
                <a:cs typeface="等线" panose="02010600030101010101" charset="-122"/>
              </a:rPr>
              <a:t>是一种多分支的表达式，可以根据条件列表的值返回多个可能的</a:t>
            </a:r>
            <a:r>
              <a:rPr lang="zh-CN" altLang="en-US" sz="3200" i="1" u="sng" dirty="0">
                <a:latin typeface="宋体" pitchFamily="2" charset="-122"/>
                <a:cs typeface="等线" panose="02010600030101010101" charset="-122"/>
              </a:rPr>
              <a:t>结果</a:t>
            </a:r>
            <a:r>
              <a:rPr lang="zh-CN" altLang="en-US" sz="3200" b="1" i="1" u="sng" dirty="0" smtClean="0">
                <a:latin typeface="宋体" pitchFamily="2" charset="-122"/>
                <a:cs typeface="等线" panose="02010600030101010101" charset="-122"/>
              </a:rPr>
              <a:t>表达式</a:t>
            </a:r>
            <a:r>
              <a:rPr lang="zh-CN" altLang="en-US" sz="3200" dirty="0" smtClean="0">
                <a:latin typeface="宋体" pitchFamily="2" charset="-122"/>
                <a:cs typeface="等线" panose="02010600030101010101" charset="-122"/>
              </a:rPr>
              <a:t>中</a:t>
            </a:r>
            <a:r>
              <a:rPr lang="zh-CN" altLang="en-US" sz="3200" dirty="0">
                <a:latin typeface="宋体" pitchFamily="2" charset="-122"/>
                <a:cs typeface="等线" panose="02010600030101010101" charset="-122"/>
              </a:rPr>
              <a:t>的一个。</a:t>
            </a:r>
          </a:p>
          <a:p>
            <a:pPr>
              <a:spcBef>
                <a:spcPts val="2400"/>
              </a:spcBef>
            </a:pPr>
            <a:r>
              <a:rPr lang="zh-CN" altLang="en-US" sz="3200" dirty="0">
                <a:latin typeface="宋体" pitchFamily="2" charset="-122"/>
                <a:cs typeface="等线" panose="02010600030101010101" charset="-122"/>
              </a:rPr>
              <a:t>可用在任何允许使用表达式的地方，但不能单独作为一个语句执行。</a:t>
            </a:r>
          </a:p>
          <a:p>
            <a:r>
              <a:rPr lang="zh-CN" altLang="en-US" sz="3200" dirty="0">
                <a:latin typeface="宋体" pitchFamily="2" charset="-122"/>
                <a:cs typeface="等线" panose="02010600030101010101" charset="-122"/>
              </a:rPr>
              <a:t>分为：</a:t>
            </a:r>
            <a:endParaRPr lang="en-US" altLang="zh-CN" sz="3200" dirty="0">
              <a:latin typeface="宋体" pitchFamily="2" charset="-122"/>
              <a:cs typeface="等线" panose="02010600030101010101" charset="-122"/>
            </a:endParaRPr>
          </a:p>
          <a:p>
            <a:pPr lvl="1"/>
            <a:r>
              <a:rPr lang="zh-CN" altLang="en-US" sz="3000" dirty="0">
                <a:solidFill>
                  <a:srgbClr val="FF0000"/>
                </a:solidFill>
                <a:latin typeface="宋体" pitchFamily="2" charset="-122"/>
                <a:cs typeface="等线" panose="02010600030101010101" charset="-122"/>
              </a:rPr>
              <a:t>简单</a:t>
            </a:r>
            <a:r>
              <a:rPr lang="en-US" altLang="zh-CN" sz="3000" dirty="0">
                <a:solidFill>
                  <a:srgbClr val="FF0000"/>
                </a:solidFill>
                <a:latin typeface="宋体" pitchFamily="2" charset="-122"/>
                <a:cs typeface="等线" panose="02010600030101010101" charset="-122"/>
              </a:rPr>
              <a:t>CASE表达式</a:t>
            </a:r>
          </a:p>
          <a:p>
            <a:pPr lvl="1"/>
            <a:r>
              <a:rPr lang="zh-CN" altLang="en-US" sz="3000" dirty="0">
                <a:solidFill>
                  <a:srgbClr val="FF0000"/>
                </a:solidFill>
                <a:latin typeface="宋体" pitchFamily="2" charset="-122"/>
                <a:cs typeface="等线" panose="02010600030101010101" charset="-122"/>
              </a:rPr>
              <a:t>搜索</a:t>
            </a:r>
            <a:r>
              <a:rPr lang="en-US" altLang="zh-CN" sz="3000" dirty="0">
                <a:solidFill>
                  <a:srgbClr val="FF0000"/>
                </a:solidFill>
                <a:latin typeface="宋体" pitchFamily="2" charset="-122"/>
                <a:cs typeface="等线" panose="02010600030101010101" charset="-122"/>
              </a:rPr>
              <a:t>CASE表达式</a:t>
            </a:r>
            <a:endParaRPr lang="zh-CN" altLang="en-US" sz="3000" dirty="0">
              <a:solidFill>
                <a:srgbClr val="FF0000"/>
              </a:solidFill>
              <a:latin typeface="宋体" pitchFamily="2" charset="-122"/>
              <a:cs typeface="等线" panose="02010600030101010101" charset="-122"/>
            </a:endParaRPr>
          </a:p>
        </p:txBody>
      </p:sp>
    </p:spTree>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标题 1"/>
          <p:cNvSpPr>
            <a:spLocks noGrp="1"/>
          </p:cNvSpPr>
          <p:nvPr>
            <p:ph type="title"/>
          </p:nvPr>
        </p:nvSpPr>
        <p:spPr>
          <a:xfrm>
            <a:off x="500063" y="152400"/>
            <a:ext cx="8001000" cy="685800"/>
          </a:xfrm>
          <a:noFill/>
          <a:ln w="9525">
            <a:noFill/>
          </a:ln>
        </p:spPr>
        <p:txBody>
          <a:bodyPr vert="horz" wrap="square" lIns="91440" tIns="45720" rIns="91440" bIns="45720" rtlCol="0" anchor="ctr" anchorCtr="0">
            <a:normAutofit fontScale="90000"/>
          </a:bodyPr>
          <a:lstStyle/>
          <a:p>
            <a:pPr lvl="0" algn="ctr" eaLnBrk="1" hangingPunct="1">
              <a:buClrTx/>
              <a:buSzTx/>
              <a:buFontTx/>
            </a:pPr>
            <a:r>
              <a:rPr lang="zh-CN" altLang="en-US" sz="4000" b="0" dirty="0">
                <a:latin typeface="黑体" panose="02010609060101010101" pitchFamily="2" charset="-122"/>
                <a:ea typeface="黑体" panose="02010609060101010101" pitchFamily="2" charset="-122"/>
                <a:sym typeface="+mn-ea"/>
              </a:rPr>
              <a:t>1 简单 CASE表达式</a:t>
            </a:r>
          </a:p>
        </p:txBody>
      </p:sp>
      <p:sp>
        <p:nvSpPr>
          <p:cNvPr id="84995" name="内容占位符 2"/>
          <p:cNvSpPr>
            <a:spLocks noGrp="1"/>
          </p:cNvSpPr>
          <p:nvPr>
            <p:ph idx="1"/>
          </p:nvPr>
        </p:nvSpPr>
        <p:spPr/>
        <p:txBody>
          <a:bodyPr vert="horz" wrap="square" lIns="91440" tIns="45720" rIns="91440" bIns="45720" anchor="t" anchorCtr="0"/>
          <a:lstStyle/>
          <a:p>
            <a:pPr>
              <a:spcBef>
                <a:spcPts val="600"/>
              </a:spcBef>
              <a:buFont typeface="Wingdings" panose="05000000000000000000" pitchFamily="2" charset="2"/>
              <a:buNone/>
            </a:pPr>
            <a:r>
              <a:rPr lang="en-US" altLang="zh-CN" sz="3200" dirty="0">
                <a:latin typeface="宋体" pitchFamily="2" charset="-122"/>
                <a:cs typeface="等线" panose="02010600030101010101" charset="-122"/>
              </a:rPr>
              <a:t>CASE </a:t>
            </a:r>
            <a:r>
              <a:rPr lang="zh-CN" altLang="en-US" sz="3200" dirty="0">
                <a:latin typeface="宋体" pitchFamily="2" charset="-122"/>
                <a:cs typeface="等线" panose="02010600030101010101" charset="-122"/>
              </a:rPr>
              <a:t>测试表达式</a:t>
            </a:r>
          </a:p>
          <a:p>
            <a:pPr>
              <a:spcBef>
                <a:spcPts val="600"/>
              </a:spcBef>
              <a:buFont typeface="Wingdings" panose="05000000000000000000" pitchFamily="2" charset="2"/>
              <a:buNone/>
            </a:pPr>
            <a:r>
              <a:rPr lang="en-US" altLang="zh-CN" sz="3200" dirty="0">
                <a:latin typeface="宋体" pitchFamily="2" charset="-122"/>
                <a:cs typeface="等线" panose="02010600030101010101" charset="-122"/>
              </a:rPr>
              <a:t>  WHEN </a:t>
            </a:r>
            <a:r>
              <a:rPr lang="zh-CN" altLang="en-US" sz="3200" dirty="0">
                <a:latin typeface="宋体" pitchFamily="2" charset="-122"/>
                <a:cs typeface="等线" panose="02010600030101010101" charset="-122"/>
              </a:rPr>
              <a:t>简单表达式</a:t>
            </a:r>
            <a:r>
              <a:rPr lang="en-US" altLang="zh-CN" sz="3200" dirty="0">
                <a:latin typeface="宋体" pitchFamily="2" charset="-122"/>
                <a:cs typeface="等线" panose="02010600030101010101" charset="-122"/>
              </a:rPr>
              <a:t>1</a:t>
            </a:r>
            <a:r>
              <a:rPr lang="en-US" altLang="zh-CN" sz="3200" i="1" dirty="0">
                <a:latin typeface="宋体" pitchFamily="2" charset="-122"/>
                <a:cs typeface="等线" panose="02010600030101010101" charset="-122"/>
              </a:rPr>
              <a:t> </a:t>
            </a:r>
            <a:r>
              <a:rPr lang="en-US" altLang="zh-CN" sz="3200" dirty="0">
                <a:latin typeface="宋体" pitchFamily="2" charset="-122"/>
                <a:cs typeface="等线" panose="02010600030101010101" charset="-122"/>
              </a:rPr>
              <a:t>THEN </a:t>
            </a:r>
            <a:r>
              <a:rPr lang="zh-CN" altLang="en-US" sz="3200" dirty="0">
                <a:latin typeface="宋体" pitchFamily="2" charset="-122"/>
                <a:cs typeface="等线" panose="02010600030101010101" charset="-122"/>
              </a:rPr>
              <a:t>结果表达式</a:t>
            </a:r>
            <a:r>
              <a:rPr lang="en-US" altLang="zh-CN" sz="3200" dirty="0">
                <a:latin typeface="宋体" pitchFamily="2" charset="-122"/>
                <a:cs typeface="等线" panose="02010600030101010101" charset="-122"/>
              </a:rPr>
              <a:t>1</a:t>
            </a:r>
            <a:endParaRPr lang="zh-CN" altLang="en-US" sz="3200" dirty="0">
              <a:latin typeface="宋体" pitchFamily="2" charset="-122"/>
              <a:cs typeface="等线" panose="02010600030101010101" charset="-122"/>
            </a:endParaRPr>
          </a:p>
          <a:p>
            <a:pPr>
              <a:spcBef>
                <a:spcPts val="600"/>
              </a:spcBef>
              <a:buFont typeface="Wingdings" panose="05000000000000000000" pitchFamily="2" charset="2"/>
              <a:buNone/>
            </a:pPr>
            <a:r>
              <a:rPr lang="en-US" altLang="zh-CN" sz="3200" dirty="0">
                <a:latin typeface="宋体" pitchFamily="2" charset="-122"/>
                <a:cs typeface="等线" panose="02010600030101010101" charset="-122"/>
              </a:rPr>
              <a:t>  WHEN </a:t>
            </a:r>
            <a:r>
              <a:rPr lang="zh-CN" altLang="en-US" sz="3200" dirty="0">
                <a:latin typeface="宋体" pitchFamily="2" charset="-122"/>
                <a:cs typeface="等线" panose="02010600030101010101" charset="-122"/>
              </a:rPr>
              <a:t>简单表达式</a:t>
            </a:r>
            <a:r>
              <a:rPr lang="en-US" altLang="zh-CN" sz="3200" dirty="0">
                <a:latin typeface="宋体" pitchFamily="2" charset="-122"/>
                <a:cs typeface="等线" panose="02010600030101010101" charset="-122"/>
              </a:rPr>
              <a:t>2</a:t>
            </a:r>
            <a:r>
              <a:rPr lang="en-US" altLang="zh-CN" sz="3200" i="1" dirty="0">
                <a:latin typeface="宋体" pitchFamily="2" charset="-122"/>
                <a:cs typeface="等线" panose="02010600030101010101" charset="-122"/>
              </a:rPr>
              <a:t> </a:t>
            </a:r>
            <a:r>
              <a:rPr lang="en-US" altLang="zh-CN" sz="3200" dirty="0">
                <a:latin typeface="宋体" pitchFamily="2" charset="-122"/>
                <a:cs typeface="等线" panose="02010600030101010101" charset="-122"/>
              </a:rPr>
              <a:t>THEN </a:t>
            </a:r>
            <a:r>
              <a:rPr lang="zh-CN" altLang="en-US" sz="3200" dirty="0">
                <a:latin typeface="宋体" pitchFamily="2" charset="-122"/>
                <a:cs typeface="等线" panose="02010600030101010101" charset="-122"/>
              </a:rPr>
              <a:t>结果表达式</a:t>
            </a:r>
            <a:r>
              <a:rPr lang="en-US" altLang="zh-CN" sz="3200" dirty="0">
                <a:latin typeface="宋体" pitchFamily="2" charset="-122"/>
                <a:cs typeface="等线" panose="02010600030101010101" charset="-122"/>
              </a:rPr>
              <a:t>2</a:t>
            </a:r>
            <a:endParaRPr lang="zh-CN" altLang="en-US" sz="3200" dirty="0">
              <a:latin typeface="宋体" pitchFamily="2" charset="-122"/>
              <a:cs typeface="等线" panose="02010600030101010101" charset="-122"/>
            </a:endParaRPr>
          </a:p>
          <a:p>
            <a:pPr>
              <a:spcBef>
                <a:spcPts val="600"/>
              </a:spcBef>
              <a:buFont typeface="Wingdings" panose="05000000000000000000" pitchFamily="2" charset="2"/>
              <a:buNone/>
            </a:pPr>
            <a:r>
              <a:rPr lang="en-US" altLang="zh-CN" sz="3200" dirty="0">
                <a:latin typeface="宋体" pitchFamily="2" charset="-122"/>
                <a:cs typeface="等线" panose="02010600030101010101" charset="-122"/>
              </a:rPr>
              <a:t>  …</a:t>
            </a:r>
            <a:endParaRPr lang="zh-CN" altLang="en-US" sz="3200" dirty="0">
              <a:latin typeface="宋体" pitchFamily="2" charset="-122"/>
              <a:cs typeface="等线" panose="02010600030101010101" charset="-122"/>
            </a:endParaRPr>
          </a:p>
          <a:p>
            <a:pPr>
              <a:spcBef>
                <a:spcPts val="600"/>
              </a:spcBef>
              <a:buFont typeface="Wingdings" panose="05000000000000000000" pitchFamily="2" charset="2"/>
              <a:buNone/>
            </a:pPr>
            <a:r>
              <a:rPr lang="en-US" altLang="zh-CN" sz="3200" dirty="0">
                <a:latin typeface="宋体" pitchFamily="2" charset="-122"/>
                <a:cs typeface="等线" panose="02010600030101010101" charset="-122"/>
              </a:rPr>
              <a:t>  WHEN </a:t>
            </a:r>
            <a:r>
              <a:rPr lang="zh-CN" altLang="en-US" sz="3200" dirty="0">
                <a:latin typeface="宋体" pitchFamily="2" charset="-122"/>
                <a:cs typeface="等线" panose="02010600030101010101" charset="-122"/>
              </a:rPr>
              <a:t>简单表达式</a:t>
            </a:r>
            <a:r>
              <a:rPr lang="en-US" altLang="zh-CN" sz="3200" dirty="0">
                <a:latin typeface="宋体" pitchFamily="2" charset="-122"/>
                <a:cs typeface="等线" panose="02010600030101010101" charset="-122"/>
              </a:rPr>
              <a:t>n</a:t>
            </a:r>
            <a:r>
              <a:rPr lang="en-US" altLang="zh-CN" sz="3200" i="1" dirty="0">
                <a:latin typeface="宋体" pitchFamily="2" charset="-122"/>
                <a:cs typeface="等线" panose="02010600030101010101" charset="-122"/>
              </a:rPr>
              <a:t> </a:t>
            </a:r>
            <a:r>
              <a:rPr lang="en-US" altLang="zh-CN" sz="3200" dirty="0">
                <a:latin typeface="宋体" pitchFamily="2" charset="-122"/>
                <a:cs typeface="等线" panose="02010600030101010101" charset="-122"/>
              </a:rPr>
              <a:t>THEN </a:t>
            </a:r>
            <a:r>
              <a:rPr lang="zh-CN" altLang="en-US" sz="3200" dirty="0">
                <a:latin typeface="宋体" pitchFamily="2" charset="-122"/>
                <a:cs typeface="等线" panose="02010600030101010101" charset="-122"/>
              </a:rPr>
              <a:t>结果表达式</a:t>
            </a:r>
            <a:r>
              <a:rPr lang="en-US" altLang="zh-CN" sz="3200" dirty="0">
                <a:latin typeface="宋体" pitchFamily="2" charset="-122"/>
                <a:cs typeface="等线" panose="02010600030101010101" charset="-122"/>
              </a:rPr>
              <a:t>n</a:t>
            </a:r>
            <a:endParaRPr lang="zh-CN" altLang="en-US" sz="3200" dirty="0">
              <a:latin typeface="宋体" pitchFamily="2" charset="-122"/>
              <a:cs typeface="等线" panose="02010600030101010101" charset="-122"/>
            </a:endParaRPr>
          </a:p>
          <a:p>
            <a:pPr>
              <a:spcBef>
                <a:spcPts val="600"/>
              </a:spcBef>
              <a:buFont typeface="Wingdings" panose="05000000000000000000" pitchFamily="2" charset="2"/>
              <a:buNone/>
            </a:pPr>
            <a:r>
              <a:rPr lang="en-US" altLang="zh-CN" sz="3200" dirty="0">
                <a:latin typeface="宋体" pitchFamily="2" charset="-122"/>
                <a:cs typeface="等线" panose="02010600030101010101" charset="-122"/>
              </a:rPr>
              <a:t>  [ ELSE </a:t>
            </a:r>
            <a:r>
              <a:rPr lang="zh-CN" altLang="en-US" sz="3200" dirty="0">
                <a:latin typeface="宋体" pitchFamily="2" charset="-122"/>
                <a:cs typeface="等线" panose="02010600030101010101" charset="-122"/>
              </a:rPr>
              <a:t>结果表达式</a:t>
            </a:r>
            <a:r>
              <a:rPr lang="en-US" altLang="zh-CN" sz="3200" dirty="0">
                <a:latin typeface="宋体" pitchFamily="2" charset="-122"/>
                <a:cs typeface="等线" panose="02010600030101010101" charset="-122"/>
              </a:rPr>
              <a:t>n+1 ]</a:t>
            </a:r>
            <a:endParaRPr lang="zh-CN" altLang="en-US" sz="3200" dirty="0">
              <a:latin typeface="宋体" pitchFamily="2" charset="-122"/>
              <a:cs typeface="等线" panose="02010600030101010101" charset="-122"/>
            </a:endParaRPr>
          </a:p>
          <a:p>
            <a:pPr>
              <a:spcBef>
                <a:spcPts val="600"/>
              </a:spcBef>
              <a:buFont typeface="Wingdings" panose="05000000000000000000" pitchFamily="2" charset="2"/>
              <a:buNone/>
            </a:pPr>
            <a:r>
              <a:rPr lang="en-US" altLang="zh-CN" sz="3200" dirty="0">
                <a:latin typeface="宋体" pitchFamily="2" charset="-122"/>
                <a:cs typeface="等线" panose="02010600030101010101" charset="-122"/>
              </a:rPr>
              <a:t>END</a:t>
            </a:r>
          </a:p>
        </p:txBody>
      </p:sp>
    </p:spTree>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标题 1"/>
          <p:cNvSpPr>
            <a:spLocks noGrp="1"/>
          </p:cNvSpPr>
          <p:nvPr>
            <p:ph type="title"/>
          </p:nvPr>
        </p:nvSpPr>
        <p:spPr>
          <a:xfrm>
            <a:off x="500063" y="152400"/>
            <a:ext cx="8001000" cy="685800"/>
          </a:xfrm>
          <a:noFill/>
          <a:ln w="9525">
            <a:noFill/>
          </a:ln>
        </p:spPr>
        <p:txBody>
          <a:bodyPr vert="horz" wrap="square" lIns="91440" tIns="45720" rIns="91440" bIns="45720" rtlCol="0" anchor="ctr" anchorCtr="0">
            <a:normAutofit fontScale="90000"/>
          </a:bodyPr>
          <a:lstStyle/>
          <a:p>
            <a:pPr lvl="0" algn="ctr" eaLnBrk="1" hangingPunct="1">
              <a:buClrTx/>
              <a:buSzTx/>
              <a:buFontTx/>
            </a:pPr>
            <a:r>
              <a:rPr lang="zh-CN" altLang="en-US" sz="4000" b="0" dirty="0">
                <a:latin typeface="黑体" panose="02010609060101010101" pitchFamily="2" charset="-122"/>
                <a:ea typeface="黑体" panose="02010609060101010101" pitchFamily="2" charset="-122"/>
                <a:sym typeface="+mn-ea"/>
              </a:rPr>
              <a:t>示例</a:t>
            </a:r>
          </a:p>
        </p:txBody>
      </p:sp>
      <p:sp>
        <p:nvSpPr>
          <p:cNvPr id="87043" name="内容占位符 2"/>
          <p:cNvSpPr>
            <a:spLocks noGrp="1"/>
          </p:cNvSpPr>
          <p:nvPr>
            <p:ph idx="1"/>
          </p:nvPr>
        </p:nvSpPr>
        <p:spPr>
          <a:xfrm>
            <a:off x="357188" y="1214438"/>
            <a:ext cx="8429625" cy="5072062"/>
          </a:xfrm>
        </p:spPr>
        <p:txBody>
          <a:bodyPr vert="horz" wrap="square" lIns="91440" tIns="45720" rIns="91440" bIns="45720" anchor="t" anchorCtr="0"/>
          <a:lstStyle/>
          <a:p>
            <a:pPr marL="0" indent="0">
              <a:buNone/>
            </a:pPr>
            <a:r>
              <a:rPr lang="zh-CN" altLang="en-US" sz="3200" dirty="0" smtClean="0">
                <a:latin typeface="宋体" pitchFamily="2" charset="-122"/>
                <a:cs typeface="等线" panose="02010600030101010101" charset="-122"/>
              </a:rPr>
              <a:t>例</a:t>
            </a:r>
            <a:r>
              <a:rPr lang="en-US" altLang="zh-CN" sz="3200" dirty="0" smtClean="0"/>
              <a:t>4.57 </a:t>
            </a:r>
            <a:r>
              <a:rPr lang="zh-CN" altLang="en-US" sz="3200" dirty="0" smtClean="0">
                <a:latin typeface="宋体" pitchFamily="2" charset="-122"/>
                <a:cs typeface="等线" panose="02010600030101010101" charset="-122"/>
              </a:rPr>
              <a:t>查询</a:t>
            </a:r>
            <a:r>
              <a:rPr lang="zh-CN" altLang="en-US" sz="3200" dirty="0">
                <a:latin typeface="宋体" pitchFamily="2" charset="-122"/>
                <a:cs typeface="等线" panose="02010600030101010101" charset="-122"/>
              </a:rPr>
              <a:t>选了</a:t>
            </a:r>
            <a:r>
              <a:rPr lang="en-US" altLang="zh-CN" sz="3200" dirty="0">
                <a:latin typeface="宋体" pitchFamily="2" charset="-122"/>
                <a:cs typeface="等线" panose="02010600030101010101" charset="-122"/>
              </a:rPr>
              <a:t>VB</a:t>
            </a:r>
            <a:r>
              <a:rPr lang="zh-CN" altLang="en-US" sz="3200" dirty="0">
                <a:latin typeface="宋体" pitchFamily="2" charset="-122"/>
                <a:cs typeface="等线" panose="02010600030101010101" charset="-122"/>
              </a:rPr>
              <a:t>课程的学生的学号、姓名、所在系和成绩，并对所在系进行处理。</a:t>
            </a:r>
            <a:endParaRPr lang="en-US" altLang="zh-CN" sz="3200" dirty="0">
              <a:latin typeface="宋体" pitchFamily="2" charset="-122"/>
              <a:cs typeface="等线" panose="02010600030101010101" charset="-122"/>
            </a:endParaRPr>
          </a:p>
          <a:p>
            <a:pPr lvl="1">
              <a:spcBef>
                <a:spcPts val="200"/>
              </a:spcBef>
              <a:buFont typeface="Wingdings" panose="05000000000000000000" pitchFamily="2" charset="2"/>
              <a:buNone/>
            </a:pPr>
            <a:r>
              <a:rPr lang="en-US" altLang="zh-CN" sz="2800" dirty="0">
                <a:solidFill>
                  <a:srgbClr val="0000FF"/>
                </a:solidFill>
                <a:latin typeface="宋体" pitchFamily="2" charset="-122"/>
                <a:cs typeface="等线" panose="02010600030101010101" charset="-122"/>
              </a:rPr>
              <a:t>SELECT s.Sno </a:t>
            </a:r>
            <a:r>
              <a:rPr lang="zh-CN" altLang="en-US" sz="2800" dirty="0">
                <a:solidFill>
                  <a:srgbClr val="0000FF"/>
                </a:solidFill>
                <a:latin typeface="宋体" pitchFamily="2" charset="-122"/>
                <a:cs typeface="等线" panose="02010600030101010101" charset="-122"/>
              </a:rPr>
              <a:t>学号</a:t>
            </a:r>
            <a:r>
              <a:rPr lang="en-US" altLang="zh-CN" sz="2800" dirty="0">
                <a:solidFill>
                  <a:srgbClr val="0000FF"/>
                </a:solidFill>
                <a:latin typeface="宋体" pitchFamily="2" charset="-122"/>
                <a:cs typeface="等线" panose="02010600030101010101" charset="-122"/>
              </a:rPr>
              <a:t>,Sname </a:t>
            </a:r>
            <a:r>
              <a:rPr lang="zh-CN" altLang="en-US" sz="2800" dirty="0">
                <a:solidFill>
                  <a:srgbClr val="0000FF"/>
                </a:solidFill>
                <a:latin typeface="宋体" pitchFamily="2" charset="-122"/>
                <a:cs typeface="等线" panose="02010600030101010101" charset="-122"/>
              </a:rPr>
              <a:t>姓名</a:t>
            </a:r>
            <a:r>
              <a:rPr lang="en-US" altLang="zh-CN" sz="2800" dirty="0" smtClean="0">
                <a:solidFill>
                  <a:srgbClr val="0000FF"/>
                </a:solidFill>
                <a:latin typeface="宋体" pitchFamily="2" charset="-122"/>
                <a:cs typeface="等线" panose="02010600030101010101" charset="-122"/>
              </a:rPr>
              <a:t>,</a:t>
            </a:r>
          </a:p>
          <a:p>
            <a:pPr lvl="1">
              <a:spcBef>
                <a:spcPts val="200"/>
              </a:spcBef>
              <a:buFont typeface="Wingdings" panose="05000000000000000000" pitchFamily="2" charset="2"/>
              <a:buNone/>
            </a:pPr>
            <a:r>
              <a:rPr lang="en-US" altLang="zh-CN" sz="2800" dirty="0">
                <a:solidFill>
                  <a:srgbClr val="0000FF"/>
                </a:solidFill>
                <a:latin typeface="宋体" pitchFamily="2" charset="-122"/>
                <a:cs typeface="等线" panose="02010600030101010101" charset="-122"/>
              </a:rPr>
              <a:t> </a:t>
            </a:r>
            <a:r>
              <a:rPr lang="en-US" altLang="zh-CN" sz="2800" dirty="0" smtClean="0">
                <a:solidFill>
                  <a:srgbClr val="0000FF"/>
                </a:solidFill>
                <a:latin typeface="宋体" pitchFamily="2" charset="-122"/>
                <a:cs typeface="等线" panose="02010600030101010101" charset="-122"/>
              </a:rPr>
              <a:t>      </a:t>
            </a:r>
            <a:r>
              <a:rPr lang="en-US" altLang="zh-CN" sz="2800" u="sng" dirty="0" err="1" smtClean="0">
                <a:solidFill>
                  <a:schemeClr val="tx1"/>
                </a:solidFill>
                <a:effectLst>
                  <a:outerShdw blurRad="38100" dist="38100" dir="2700000" algn="tl">
                    <a:srgbClr val="000000">
                      <a:alpha val="43137"/>
                    </a:srgbClr>
                  </a:outerShdw>
                </a:effectLst>
                <a:latin typeface="宋体" pitchFamily="2" charset="-122"/>
                <a:cs typeface="等线" panose="02010600030101010101" charset="-122"/>
              </a:rPr>
              <a:t>sdept</a:t>
            </a:r>
            <a:r>
              <a:rPr lang="en-US" altLang="zh-CN" sz="2800" u="sng" dirty="0" smtClean="0">
                <a:solidFill>
                  <a:schemeClr val="tx1"/>
                </a:solidFill>
                <a:effectLst>
                  <a:outerShdw blurRad="38100" dist="38100" dir="2700000" algn="tl">
                    <a:srgbClr val="000000">
                      <a:alpha val="43137"/>
                    </a:srgbClr>
                  </a:outerShdw>
                </a:effectLst>
                <a:latin typeface="宋体" pitchFamily="2" charset="-122"/>
                <a:cs typeface="等线" panose="02010600030101010101" charset="-122"/>
              </a:rPr>
              <a:t> AS </a:t>
            </a:r>
            <a:r>
              <a:rPr lang="zh-CN" altLang="en-US" sz="2800" u="sng" dirty="0">
                <a:solidFill>
                  <a:schemeClr val="tx1"/>
                </a:solidFill>
                <a:effectLst>
                  <a:outerShdw blurRad="38100" dist="38100" dir="2700000" algn="tl">
                    <a:srgbClr val="000000">
                      <a:alpha val="43137"/>
                    </a:srgbClr>
                  </a:outerShdw>
                </a:effectLst>
                <a:latin typeface="宋体" pitchFamily="2" charset="-122"/>
                <a:cs typeface="等线" panose="02010600030101010101" charset="-122"/>
              </a:rPr>
              <a:t>所在系</a:t>
            </a:r>
            <a:r>
              <a:rPr lang="en-US" altLang="zh-CN" sz="2800" dirty="0">
                <a:solidFill>
                  <a:srgbClr val="0000FF"/>
                </a:solidFill>
                <a:latin typeface="宋体" pitchFamily="2" charset="-122"/>
                <a:cs typeface="等线" panose="02010600030101010101" charset="-122"/>
              </a:rPr>
              <a:t>,Grade </a:t>
            </a:r>
            <a:r>
              <a:rPr lang="zh-CN" altLang="en-US" sz="2800" dirty="0">
                <a:solidFill>
                  <a:srgbClr val="0000FF"/>
                </a:solidFill>
                <a:latin typeface="宋体" pitchFamily="2" charset="-122"/>
                <a:cs typeface="等线" panose="02010600030101010101" charset="-122"/>
              </a:rPr>
              <a:t>成绩</a:t>
            </a:r>
          </a:p>
          <a:p>
            <a:pPr lvl="1">
              <a:spcBef>
                <a:spcPts val="200"/>
              </a:spcBef>
              <a:buFont typeface="Wingdings" panose="05000000000000000000" pitchFamily="2" charset="2"/>
              <a:buNone/>
            </a:pPr>
            <a:r>
              <a:rPr lang="en-US" altLang="zh-CN" sz="2800" dirty="0">
                <a:solidFill>
                  <a:srgbClr val="0000FF"/>
                </a:solidFill>
                <a:latin typeface="宋体" pitchFamily="2" charset="-122"/>
                <a:cs typeface="等线" panose="02010600030101010101" charset="-122"/>
              </a:rPr>
              <a:t>  FROM Student s join SC ON s.Sno = SC.Sno</a:t>
            </a:r>
            <a:endParaRPr lang="zh-CN" altLang="en-US" sz="2800" dirty="0">
              <a:solidFill>
                <a:srgbClr val="0000FF"/>
              </a:solidFill>
              <a:latin typeface="宋体" pitchFamily="2" charset="-122"/>
              <a:cs typeface="等线" panose="02010600030101010101" charset="-122"/>
            </a:endParaRPr>
          </a:p>
          <a:p>
            <a:pPr lvl="1">
              <a:spcBef>
                <a:spcPts val="200"/>
              </a:spcBef>
              <a:buFont typeface="Wingdings" panose="05000000000000000000" pitchFamily="2" charset="2"/>
              <a:buNone/>
            </a:pPr>
            <a:r>
              <a:rPr lang="en-US" altLang="zh-CN" sz="2800" dirty="0">
                <a:solidFill>
                  <a:srgbClr val="0000FF"/>
                </a:solidFill>
                <a:latin typeface="宋体" pitchFamily="2" charset="-122"/>
                <a:cs typeface="等线" panose="02010600030101010101" charset="-122"/>
              </a:rPr>
              <a:t>  JOIN Course c ON c.Cno = SC.Cno</a:t>
            </a:r>
            <a:endParaRPr lang="zh-CN" altLang="en-US" sz="2800" dirty="0">
              <a:solidFill>
                <a:srgbClr val="0000FF"/>
              </a:solidFill>
              <a:latin typeface="宋体" pitchFamily="2" charset="-122"/>
              <a:cs typeface="等线" panose="02010600030101010101" charset="-122"/>
            </a:endParaRPr>
          </a:p>
          <a:p>
            <a:pPr lvl="1">
              <a:spcBef>
                <a:spcPts val="200"/>
              </a:spcBef>
              <a:buFont typeface="Wingdings" panose="05000000000000000000" pitchFamily="2" charset="2"/>
              <a:buNone/>
            </a:pPr>
            <a:r>
              <a:rPr lang="en-US" altLang="zh-CN" sz="2800" dirty="0">
                <a:solidFill>
                  <a:srgbClr val="0000FF"/>
                </a:solidFill>
                <a:latin typeface="宋体" pitchFamily="2" charset="-122"/>
                <a:cs typeface="等线" panose="02010600030101010101" charset="-122"/>
              </a:rPr>
              <a:t>  WHERE Cname = 'VB'</a:t>
            </a:r>
            <a:endParaRPr lang="zh-CN" altLang="en-US" dirty="0">
              <a:solidFill>
                <a:srgbClr val="0000FF"/>
              </a:solidFill>
              <a:latin typeface="宋体" pitchFamily="2" charset="-122"/>
              <a:cs typeface="等线" panose="02010600030101010101" charset="-122"/>
            </a:endParaRPr>
          </a:p>
        </p:txBody>
      </p:sp>
    </p:spTree>
    <p:extLst>
      <p:ext uri="{BB962C8B-B14F-4D97-AF65-F5344CB8AC3E}">
        <p14:creationId xmlns:p14="http://schemas.microsoft.com/office/powerpoint/2010/main" val="504564578"/>
      </p:ext>
    </p:extLst>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标题 1"/>
          <p:cNvSpPr>
            <a:spLocks noGrp="1"/>
          </p:cNvSpPr>
          <p:nvPr>
            <p:ph type="title"/>
          </p:nvPr>
        </p:nvSpPr>
        <p:spPr>
          <a:xfrm>
            <a:off x="500063" y="152400"/>
            <a:ext cx="8001000" cy="685800"/>
          </a:xfrm>
          <a:noFill/>
          <a:ln w="9525">
            <a:noFill/>
          </a:ln>
        </p:spPr>
        <p:txBody>
          <a:bodyPr vert="horz" wrap="square" lIns="91440" tIns="45720" rIns="91440" bIns="45720" rtlCol="0" anchor="ctr" anchorCtr="0">
            <a:normAutofit fontScale="90000"/>
          </a:bodyPr>
          <a:lstStyle/>
          <a:p>
            <a:pPr lvl="0" algn="ctr" eaLnBrk="1" hangingPunct="1">
              <a:buClrTx/>
              <a:buSzTx/>
              <a:buFontTx/>
            </a:pPr>
            <a:r>
              <a:rPr lang="zh-CN" altLang="en-US" sz="4000" b="0" dirty="0">
                <a:latin typeface="黑体" panose="02010609060101010101" pitchFamily="2" charset="-122"/>
                <a:ea typeface="黑体" panose="02010609060101010101" pitchFamily="2" charset="-122"/>
                <a:sym typeface="+mn-ea"/>
              </a:rPr>
              <a:t>示例</a:t>
            </a:r>
          </a:p>
        </p:txBody>
      </p:sp>
      <p:sp>
        <p:nvSpPr>
          <p:cNvPr id="87043" name="内容占位符 2"/>
          <p:cNvSpPr>
            <a:spLocks noGrp="1"/>
          </p:cNvSpPr>
          <p:nvPr>
            <p:ph idx="1"/>
          </p:nvPr>
        </p:nvSpPr>
        <p:spPr>
          <a:xfrm>
            <a:off x="357188" y="1214438"/>
            <a:ext cx="8429625" cy="5072062"/>
          </a:xfrm>
        </p:spPr>
        <p:txBody>
          <a:bodyPr vert="horz" wrap="square" lIns="91440" tIns="45720" rIns="91440" bIns="45720" anchor="t" anchorCtr="0"/>
          <a:lstStyle/>
          <a:p>
            <a:pPr marL="0" indent="0">
              <a:buNone/>
            </a:pPr>
            <a:r>
              <a:rPr lang="zh-CN" altLang="en-US" sz="3200" dirty="0" smtClean="0">
                <a:latin typeface="宋体" pitchFamily="2" charset="-122"/>
                <a:cs typeface="等线" panose="02010600030101010101" charset="-122"/>
              </a:rPr>
              <a:t>例</a:t>
            </a:r>
            <a:r>
              <a:rPr lang="en-US" altLang="zh-CN" sz="3200" dirty="0" smtClean="0"/>
              <a:t>4.57 </a:t>
            </a:r>
            <a:r>
              <a:rPr lang="zh-CN" altLang="en-US" sz="3200" dirty="0" smtClean="0">
                <a:latin typeface="宋体" pitchFamily="2" charset="-122"/>
                <a:cs typeface="等线" panose="02010600030101010101" charset="-122"/>
              </a:rPr>
              <a:t>查询</a:t>
            </a:r>
            <a:r>
              <a:rPr lang="zh-CN" altLang="en-US" sz="3200" dirty="0">
                <a:latin typeface="宋体" pitchFamily="2" charset="-122"/>
                <a:cs typeface="等线" panose="02010600030101010101" charset="-122"/>
              </a:rPr>
              <a:t>选了</a:t>
            </a:r>
            <a:r>
              <a:rPr lang="en-US" altLang="zh-CN" sz="3200" dirty="0">
                <a:latin typeface="宋体" pitchFamily="2" charset="-122"/>
                <a:cs typeface="等线" panose="02010600030101010101" charset="-122"/>
              </a:rPr>
              <a:t>VB</a:t>
            </a:r>
            <a:r>
              <a:rPr lang="zh-CN" altLang="en-US" sz="3200" dirty="0">
                <a:latin typeface="宋体" pitchFamily="2" charset="-122"/>
                <a:cs typeface="等线" panose="02010600030101010101" charset="-122"/>
              </a:rPr>
              <a:t>课程的学生的学号、姓名、所在系和成绩，并对所在系进行处理。</a:t>
            </a:r>
            <a:endParaRPr lang="en-US" altLang="zh-CN" sz="3200" dirty="0">
              <a:latin typeface="宋体" pitchFamily="2" charset="-122"/>
              <a:cs typeface="等线" panose="02010600030101010101" charset="-122"/>
            </a:endParaRPr>
          </a:p>
          <a:p>
            <a:pPr lvl="1">
              <a:spcBef>
                <a:spcPts val="200"/>
              </a:spcBef>
              <a:buFont typeface="Wingdings" panose="05000000000000000000" pitchFamily="2" charset="2"/>
              <a:buNone/>
            </a:pPr>
            <a:r>
              <a:rPr lang="en-US" altLang="zh-CN" sz="2800" dirty="0">
                <a:solidFill>
                  <a:srgbClr val="0000FF"/>
                </a:solidFill>
                <a:latin typeface="宋体" pitchFamily="2" charset="-122"/>
                <a:cs typeface="等线" panose="02010600030101010101" charset="-122"/>
              </a:rPr>
              <a:t>SELECT s.Sno </a:t>
            </a:r>
            <a:r>
              <a:rPr lang="zh-CN" altLang="en-US" sz="2800" dirty="0">
                <a:solidFill>
                  <a:srgbClr val="0000FF"/>
                </a:solidFill>
                <a:latin typeface="宋体" pitchFamily="2" charset="-122"/>
                <a:cs typeface="等线" panose="02010600030101010101" charset="-122"/>
              </a:rPr>
              <a:t>学号</a:t>
            </a:r>
            <a:r>
              <a:rPr lang="en-US" altLang="zh-CN" sz="2800" dirty="0">
                <a:solidFill>
                  <a:srgbClr val="0000FF"/>
                </a:solidFill>
                <a:latin typeface="宋体" pitchFamily="2" charset="-122"/>
                <a:cs typeface="等线" panose="02010600030101010101" charset="-122"/>
              </a:rPr>
              <a:t>,Sname </a:t>
            </a:r>
            <a:r>
              <a:rPr lang="zh-CN" altLang="en-US" sz="2800" dirty="0">
                <a:solidFill>
                  <a:srgbClr val="0000FF"/>
                </a:solidFill>
                <a:latin typeface="宋体" pitchFamily="2" charset="-122"/>
                <a:cs typeface="等线" panose="02010600030101010101" charset="-122"/>
              </a:rPr>
              <a:t>姓名</a:t>
            </a:r>
            <a:r>
              <a:rPr lang="en-US" altLang="zh-CN" sz="2800" dirty="0">
                <a:solidFill>
                  <a:srgbClr val="0000FF"/>
                </a:solidFill>
                <a:latin typeface="宋体" pitchFamily="2" charset="-122"/>
                <a:cs typeface="等线" panose="02010600030101010101" charset="-122"/>
              </a:rPr>
              <a:t>,</a:t>
            </a:r>
            <a:endParaRPr lang="zh-CN" altLang="en-US" sz="2800" dirty="0">
              <a:solidFill>
                <a:srgbClr val="0000FF"/>
              </a:solidFill>
              <a:latin typeface="宋体" pitchFamily="2" charset="-122"/>
              <a:cs typeface="等线" panose="02010600030101010101" charset="-122"/>
            </a:endParaRPr>
          </a:p>
          <a:p>
            <a:pPr lvl="1">
              <a:spcBef>
                <a:spcPts val="200"/>
              </a:spcBef>
              <a:buFont typeface="Wingdings" panose="05000000000000000000" pitchFamily="2" charset="2"/>
              <a:buNone/>
            </a:pPr>
            <a:r>
              <a:rPr lang="en-US" altLang="zh-CN" sz="2800" dirty="0">
                <a:solidFill>
                  <a:srgbClr val="0000FF"/>
                </a:solidFill>
                <a:latin typeface="宋体" pitchFamily="2" charset="-122"/>
                <a:cs typeface="等线" panose="02010600030101010101" charset="-122"/>
              </a:rPr>
              <a:t>  </a:t>
            </a:r>
            <a:r>
              <a:rPr lang="en-US" altLang="zh-CN" sz="2800" dirty="0">
                <a:ln>
                  <a:solidFill>
                    <a:schemeClr val="tx1"/>
                  </a:solidFill>
                </a:ln>
                <a:solidFill>
                  <a:srgbClr val="000000"/>
                </a:solidFill>
                <a:effectLst>
                  <a:outerShdw blurRad="38100" dist="38100" dir="2700000" algn="tl">
                    <a:srgbClr val="000000">
                      <a:alpha val="43137"/>
                    </a:srgbClr>
                  </a:outerShdw>
                </a:effectLst>
                <a:latin typeface="宋体" pitchFamily="2" charset="-122"/>
                <a:cs typeface="等线" panose="02010600030101010101" charset="-122"/>
              </a:rPr>
              <a:t>CASE sdept</a:t>
            </a:r>
            <a:endParaRPr lang="zh-CN" altLang="en-US" sz="2800" dirty="0">
              <a:ln>
                <a:solidFill>
                  <a:schemeClr val="tx1"/>
                </a:solidFill>
              </a:ln>
              <a:solidFill>
                <a:srgbClr val="000000"/>
              </a:solidFill>
              <a:effectLst>
                <a:outerShdw blurRad="38100" dist="38100" dir="2700000" algn="tl">
                  <a:srgbClr val="000000">
                    <a:alpha val="43137"/>
                  </a:srgbClr>
                </a:outerShdw>
              </a:effectLst>
              <a:latin typeface="宋体" pitchFamily="2" charset="-122"/>
              <a:cs typeface="等线" panose="02010600030101010101" charset="-122"/>
            </a:endParaRPr>
          </a:p>
          <a:p>
            <a:pPr lvl="1">
              <a:spcBef>
                <a:spcPts val="200"/>
              </a:spcBef>
              <a:buNone/>
            </a:pPr>
            <a:r>
              <a:rPr lang="en-US" altLang="zh-CN" sz="2800" dirty="0">
                <a:ln>
                  <a:solidFill>
                    <a:schemeClr val="tx1"/>
                  </a:solidFill>
                </a:ln>
                <a:solidFill>
                  <a:srgbClr val="0000FF"/>
                </a:solidFill>
                <a:effectLst>
                  <a:outerShdw blurRad="38100" dist="38100" dir="2700000" algn="tl">
                    <a:srgbClr val="000000">
                      <a:alpha val="43137"/>
                    </a:srgbClr>
                  </a:outerShdw>
                </a:effectLst>
                <a:latin typeface="宋体" pitchFamily="2" charset="-122"/>
                <a:cs typeface="等线" panose="02010600030101010101" charset="-122"/>
              </a:rPr>
              <a:t>     </a:t>
            </a:r>
            <a:r>
              <a:rPr lang="en-US" altLang="zh-CN" sz="2800" dirty="0">
                <a:ln>
                  <a:solidFill>
                    <a:schemeClr val="tx1"/>
                  </a:solidFill>
                </a:ln>
                <a:solidFill>
                  <a:srgbClr val="000000"/>
                </a:solidFill>
                <a:effectLst>
                  <a:outerShdw blurRad="38100" dist="38100" dir="2700000" algn="tl">
                    <a:srgbClr val="000000">
                      <a:alpha val="43137"/>
                    </a:srgbClr>
                  </a:outerShdw>
                </a:effectLst>
                <a:latin typeface="宋体" pitchFamily="2" charset="-122"/>
                <a:cs typeface="等线" panose="02010600030101010101" charset="-122"/>
              </a:rPr>
              <a:t>WHEN '</a:t>
            </a:r>
            <a:r>
              <a:rPr lang="zh-CN" altLang="en-US" sz="2800" dirty="0">
                <a:ln>
                  <a:solidFill>
                    <a:schemeClr val="tx1"/>
                  </a:solidFill>
                </a:ln>
                <a:solidFill>
                  <a:srgbClr val="000000"/>
                </a:solidFill>
                <a:effectLst>
                  <a:outerShdw blurRad="38100" dist="38100" dir="2700000" algn="tl">
                    <a:srgbClr val="000000">
                      <a:alpha val="43137"/>
                    </a:srgbClr>
                  </a:outerShdw>
                </a:effectLst>
                <a:latin typeface="宋体" pitchFamily="2" charset="-122"/>
                <a:cs typeface="等线" panose="02010600030101010101" charset="-122"/>
              </a:rPr>
              <a:t>计算机系</a:t>
            </a:r>
            <a:r>
              <a:rPr lang="en-US" altLang="zh-CN" sz="2800" dirty="0">
                <a:ln>
                  <a:solidFill>
                    <a:schemeClr val="tx1"/>
                  </a:solidFill>
                </a:ln>
                <a:solidFill>
                  <a:srgbClr val="000000"/>
                </a:solidFill>
                <a:effectLst>
                  <a:outerShdw blurRad="38100" dist="38100" dir="2700000" algn="tl">
                    <a:srgbClr val="000000">
                      <a:alpha val="43137"/>
                    </a:srgbClr>
                  </a:outerShdw>
                </a:effectLst>
                <a:latin typeface="宋体" pitchFamily="2" charset="-122"/>
                <a:cs typeface="等线" panose="02010600030101010101" charset="-122"/>
              </a:rPr>
              <a:t>' THEN 'CS'</a:t>
            </a:r>
            <a:endParaRPr lang="zh-CN" altLang="en-US" sz="2800" dirty="0">
              <a:ln>
                <a:solidFill>
                  <a:schemeClr val="tx1"/>
                </a:solidFill>
              </a:ln>
              <a:solidFill>
                <a:srgbClr val="000000"/>
              </a:solidFill>
              <a:effectLst>
                <a:outerShdw blurRad="38100" dist="38100" dir="2700000" algn="tl">
                  <a:srgbClr val="000000">
                    <a:alpha val="43137"/>
                  </a:srgbClr>
                </a:outerShdw>
              </a:effectLst>
              <a:latin typeface="宋体" pitchFamily="2" charset="-122"/>
              <a:cs typeface="等线" panose="02010600030101010101" charset="-122"/>
            </a:endParaRPr>
          </a:p>
          <a:p>
            <a:pPr lvl="1">
              <a:spcBef>
                <a:spcPts val="200"/>
              </a:spcBef>
              <a:buNone/>
            </a:pPr>
            <a:r>
              <a:rPr lang="en-US" altLang="zh-CN" sz="2800" dirty="0">
                <a:ln>
                  <a:solidFill>
                    <a:schemeClr val="tx1"/>
                  </a:solidFill>
                </a:ln>
                <a:solidFill>
                  <a:srgbClr val="000000"/>
                </a:solidFill>
                <a:effectLst>
                  <a:outerShdw blurRad="38100" dist="38100" dir="2700000" algn="tl">
                    <a:srgbClr val="000000">
                      <a:alpha val="43137"/>
                    </a:srgbClr>
                  </a:outerShdw>
                </a:effectLst>
                <a:latin typeface="宋体" pitchFamily="2" charset="-122"/>
                <a:cs typeface="等线" panose="02010600030101010101" charset="-122"/>
              </a:rPr>
              <a:t>     WHEN '</a:t>
            </a:r>
            <a:r>
              <a:rPr lang="zh-CN" altLang="en-US" sz="2800" dirty="0">
                <a:ln>
                  <a:solidFill>
                    <a:schemeClr val="tx1"/>
                  </a:solidFill>
                </a:ln>
                <a:solidFill>
                  <a:srgbClr val="000000"/>
                </a:solidFill>
                <a:effectLst>
                  <a:outerShdw blurRad="38100" dist="38100" dir="2700000" algn="tl">
                    <a:srgbClr val="000000">
                      <a:alpha val="43137"/>
                    </a:srgbClr>
                  </a:outerShdw>
                </a:effectLst>
                <a:latin typeface="宋体" pitchFamily="2" charset="-122"/>
                <a:cs typeface="等线" panose="02010600030101010101" charset="-122"/>
              </a:rPr>
              <a:t>信息管理系</a:t>
            </a:r>
            <a:r>
              <a:rPr lang="en-US" altLang="zh-CN" sz="2800" dirty="0">
                <a:ln>
                  <a:solidFill>
                    <a:schemeClr val="tx1"/>
                  </a:solidFill>
                </a:ln>
                <a:solidFill>
                  <a:srgbClr val="000000"/>
                </a:solidFill>
                <a:effectLst>
                  <a:outerShdw blurRad="38100" dist="38100" dir="2700000" algn="tl">
                    <a:srgbClr val="000000">
                      <a:alpha val="43137"/>
                    </a:srgbClr>
                  </a:outerShdw>
                </a:effectLst>
                <a:latin typeface="宋体" pitchFamily="2" charset="-122"/>
                <a:cs typeface="等线" panose="02010600030101010101" charset="-122"/>
              </a:rPr>
              <a:t>' THEN 'IM'</a:t>
            </a:r>
            <a:endParaRPr lang="zh-CN" altLang="en-US" sz="2800" dirty="0">
              <a:ln>
                <a:solidFill>
                  <a:schemeClr val="tx1"/>
                </a:solidFill>
              </a:ln>
              <a:solidFill>
                <a:srgbClr val="000000"/>
              </a:solidFill>
              <a:effectLst>
                <a:outerShdw blurRad="38100" dist="38100" dir="2700000" algn="tl">
                  <a:srgbClr val="000000">
                    <a:alpha val="43137"/>
                  </a:srgbClr>
                </a:outerShdw>
              </a:effectLst>
              <a:latin typeface="宋体" pitchFamily="2" charset="-122"/>
              <a:cs typeface="等线" panose="02010600030101010101" charset="-122"/>
            </a:endParaRPr>
          </a:p>
          <a:p>
            <a:pPr lvl="1">
              <a:spcBef>
                <a:spcPts val="200"/>
              </a:spcBef>
              <a:buNone/>
            </a:pPr>
            <a:r>
              <a:rPr lang="en-US" altLang="zh-CN" sz="2800" dirty="0">
                <a:ln>
                  <a:solidFill>
                    <a:schemeClr val="tx1"/>
                  </a:solidFill>
                </a:ln>
                <a:solidFill>
                  <a:srgbClr val="000000"/>
                </a:solidFill>
                <a:effectLst>
                  <a:outerShdw blurRad="38100" dist="38100" dir="2700000" algn="tl">
                    <a:srgbClr val="000000">
                      <a:alpha val="43137"/>
                    </a:srgbClr>
                  </a:outerShdw>
                </a:effectLst>
                <a:latin typeface="宋体" pitchFamily="2" charset="-122"/>
                <a:cs typeface="等线" panose="02010600030101010101" charset="-122"/>
              </a:rPr>
              <a:t>     WHEN '</a:t>
            </a:r>
            <a:r>
              <a:rPr lang="zh-CN" altLang="en-US" sz="2800" dirty="0">
                <a:ln>
                  <a:solidFill>
                    <a:schemeClr val="tx1"/>
                  </a:solidFill>
                </a:ln>
                <a:solidFill>
                  <a:srgbClr val="000000"/>
                </a:solidFill>
                <a:effectLst>
                  <a:outerShdw blurRad="38100" dist="38100" dir="2700000" algn="tl">
                    <a:srgbClr val="000000">
                      <a:alpha val="43137"/>
                    </a:srgbClr>
                  </a:outerShdw>
                </a:effectLst>
                <a:latin typeface="宋体" pitchFamily="2" charset="-122"/>
                <a:cs typeface="等线" panose="02010600030101010101" charset="-122"/>
              </a:rPr>
              <a:t>通信工程系</a:t>
            </a:r>
            <a:r>
              <a:rPr lang="en-US" altLang="zh-CN" sz="2800" dirty="0">
                <a:ln>
                  <a:solidFill>
                    <a:schemeClr val="tx1"/>
                  </a:solidFill>
                </a:ln>
                <a:solidFill>
                  <a:srgbClr val="000000"/>
                </a:solidFill>
                <a:effectLst>
                  <a:outerShdw blurRad="38100" dist="38100" dir="2700000" algn="tl">
                    <a:srgbClr val="000000">
                      <a:alpha val="43137"/>
                    </a:srgbClr>
                  </a:outerShdw>
                </a:effectLst>
                <a:latin typeface="宋体" pitchFamily="2" charset="-122"/>
                <a:cs typeface="等线" panose="02010600030101010101" charset="-122"/>
              </a:rPr>
              <a:t>' THEN 'COM'</a:t>
            </a:r>
            <a:endParaRPr lang="zh-CN" altLang="en-US" sz="2800" dirty="0">
              <a:ln>
                <a:solidFill>
                  <a:schemeClr val="tx1"/>
                </a:solidFill>
              </a:ln>
              <a:solidFill>
                <a:srgbClr val="000000"/>
              </a:solidFill>
              <a:effectLst>
                <a:outerShdw blurRad="38100" dist="38100" dir="2700000" algn="tl">
                  <a:srgbClr val="000000">
                    <a:alpha val="43137"/>
                  </a:srgbClr>
                </a:outerShdw>
              </a:effectLst>
              <a:latin typeface="宋体" pitchFamily="2" charset="-122"/>
              <a:cs typeface="等线" panose="02010600030101010101" charset="-122"/>
            </a:endParaRPr>
          </a:p>
          <a:p>
            <a:pPr lvl="1">
              <a:spcBef>
                <a:spcPts val="200"/>
              </a:spcBef>
              <a:buNone/>
            </a:pPr>
            <a:r>
              <a:rPr lang="en-US" altLang="zh-CN" sz="2800" dirty="0">
                <a:ln>
                  <a:solidFill>
                    <a:schemeClr val="tx1"/>
                  </a:solidFill>
                </a:ln>
                <a:solidFill>
                  <a:srgbClr val="000000"/>
                </a:solidFill>
                <a:effectLst>
                  <a:outerShdw blurRad="38100" dist="38100" dir="2700000" algn="tl">
                    <a:srgbClr val="000000">
                      <a:alpha val="43137"/>
                    </a:srgbClr>
                  </a:outerShdw>
                </a:effectLst>
                <a:latin typeface="宋体" pitchFamily="2" charset="-122"/>
                <a:cs typeface="等线" panose="02010600030101010101" charset="-122"/>
              </a:rPr>
              <a:t>  END AS </a:t>
            </a:r>
            <a:r>
              <a:rPr lang="zh-CN" altLang="en-US" sz="2800" dirty="0">
                <a:ln>
                  <a:solidFill>
                    <a:schemeClr val="tx1"/>
                  </a:solidFill>
                </a:ln>
                <a:solidFill>
                  <a:srgbClr val="000000"/>
                </a:solidFill>
                <a:effectLst>
                  <a:outerShdw blurRad="38100" dist="38100" dir="2700000" algn="tl">
                    <a:srgbClr val="000000">
                      <a:alpha val="43137"/>
                    </a:srgbClr>
                  </a:outerShdw>
                </a:effectLst>
                <a:latin typeface="宋体" pitchFamily="2" charset="-122"/>
                <a:cs typeface="等线" panose="02010600030101010101" charset="-122"/>
              </a:rPr>
              <a:t>所在</a:t>
            </a:r>
            <a:r>
              <a:rPr lang="zh-CN" altLang="en-US" sz="2800" dirty="0" smtClean="0">
                <a:ln>
                  <a:solidFill>
                    <a:schemeClr val="tx1"/>
                  </a:solidFill>
                </a:ln>
                <a:solidFill>
                  <a:srgbClr val="000000"/>
                </a:solidFill>
                <a:effectLst>
                  <a:outerShdw blurRad="38100" dist="38100" dir="2700000" algn="tl">
                    <a:srgbClr val="000000">
                      <a:alpha val="43137"/>
                    </a:srgbClr>
                  </a:outerShdw>
                </a:effectLst>
                <a:latin typeface="宋体" pitchFamily="2" charset="-122"/>
                <a:cs typeface="等线" panose="02010600030101010101" charset="-122"/>
              </a:rPr>
              <a:t>系 </a:t>
            </a:r>
            <a:r>
              <a:rPr lang="en-US" altLang="zh-CN" sz="2800" dirty="0" smtClean="0">
                <a:solidFill>
                  <a:srgbClr val="0000FF"/>
                </a:solidFill>
                <a:latin typeface="宋体" pitchFamily="2" charset="-122"/>
                <a:cs typeface="等线" panose="02010600030101010101" charset="-122"/>
              </a:rPr>
              <a:t>,</a:t>
            </a:r>
            <a:r>
              <a:rPr lang="en-US" altLang="zh-CN" sz="2800" dirty="0">
                <a:solidFill>
                  <a:srgbClr val="0000FF"/>
                </a:solidFill>
                <a:latin typeface="宋体" pitchFamily="2" charset="-122"/>
                <a:cs typeface="等线" panose="02010600030101010101" charset="-122"/>
              </a:rPr>
              <a:t>Grade </a:t>
            </a:r>
            <a:r>
              <a:rPr lang="zh-CN" altLang="en-US" sz="2800" dirty="0">
                <a:solidFill>
                  <a:srgbClr val="0000FF"/>
                </a:solidFill>
                <a:latin typeface="宋体" pitchFamily="2" charset="-122"/>
                <a:cs typeface="等线" panose="02010600030101010101" charset="-122"/>
              </a:rPr>
              <a:t>成绩</a:t>
            </a:r>
          </a:p>
          <a:p>
            <a:pPr lvl="1">
              <a:spcBef>
                <a:spcPts val="200"/>
              </a:spcBef>
              <a:buFont typeface="Wingdings" panose="05000000000000000000" pitchFamily="2" charset="2"/>
              <a:buNone/>
            </a:pPr>
            <a:r>
              <a:rPr lang="en-US" altLang="zh-CN" sz="2800" dirty="0">
                <a:solidFill>
                  <a:srgbClr val="0000FF"/>
                </a:solidFill>
                <a:latin typeface="宋体" pitchFamily="2" charset="-122"/>
                <a:cs typeface="等线" panose="02010600030101010101" charset="-122"/>
              </a:rPr>
              <a:t>  FROM Student s join SC ON s.Sno = SC.Sno</a:t>
            </a:r>
            <a:endParaRPr lang="zh-CN" altLang="en-US" sz="2800" dirty="0">
              <a:solidFill>
                <a:srgbClr val="0000FF"/>
              </a:solidFill>
              <a:latin typeface="宋体" pitchFamily="2" charset="-122"/>
              <a:cs typeface="等线" panose="02010600030101010101" charset="-122"/>
            </a:endParaRPr>
          </a:p>
          <a:p>
            <a:pPr lvl="1">
              <a:spcBef>
                <a:spcPts val="200"/>
              </a:spcBef>
              <a:buFont typeface="Wingdings" panose="05000000000000000000" pitchFamily="2" charset="2"/>
              <a:buNone/>
            </a:pPr>
            <a:r>
              <a:rPr lang="en-US" altLang="zh-CN" sz="2800" dirty="0">
                <a:solidFill>
                  <a:srgbClr val="0000FF"/>
                </a:solidFill>
                <a:latin typeface="宋体" pitchFamily="2" charset="-122"/>
                <a:cs typeface="等线" panose="02010600030101010101" charset="-122"/>
              </a:rPr>
              <a:t>  JOIN Course c ON c.Cno = SC.Cno</a:t>
            </a:r>
            <a:endParaRPr lang="zh-CN" altLang="en-US" sz="2800" dirty="0">
              <a:solidFill>
                <a:srgbClr val="0000FF"/>
              </a:solidFill>
              <a:latin typeface="宋体" pitchFamily="2" charset="-122"/>
              <a:cs typeface="等线" panose="02010600030101010101" charset="-122"/>
            </a:endParaRPr>
          </a:p>
          <a:p>
            <a:pPr lvl="1">
              <a:spcBef>
                <a:spcPts val="200"/>
              </a:spcBef>
              <a:buFont typeface="Wingdings" panose="05000000000000000000" pitchFamily="2" charset="2"/>
              <a:buNone/>
            </a:pPr>
            <a:r>
              <a:rPr lang="en-US" altLang="zh-CN" sz="2800" dirty="0">
                <a:solidFill>
                  <a:srgbClr val="0000FF"/>
                </a:solidFill>
                <a:latin typeface="宋体" pitchFamily="2" charset="-122"/>
                <a:cs typeface="等线" panose="02010600030101010101" charset="-122"/>
              </a:rPr>
              <a:t>  WHERE Cname = 'VB'</a:t>
            </a:r>
            <a:endParaRPr lang="zh-CN" altLang="en-US" dirty="0">
              <a:solidFill>
                <a:srgbClr val="0000FF"/>
              </a:solidFill>
              <a:latin typeface="宋体" pitchFamily="2" charset="-122"/>
              <a:cs typeface="等线" panose="02010600030101010101" charset="-122"/>
            </a:endParaRPr>
          </a:p>
        </p:txBody>
      </p:sp>
    </p:spTree>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标题 1"/>
          <p:cNvSpPr>
            <a:spLocks noGrp="1"/>
          </p:cNvSpPr>
          <p:nvPr>
            <p:ph type="title"/>
          </p:nvPr>
        </p:nvSpPr>
        <p:spPr>
          <a:xfrm>
            <a:off x="500063" y="152400"/>
            <a:ext cx="8001000" cy="685800"/>
          </a:xfrm>
          <a:noFill/>
          <a:ln w="9525">
            <a:noFill/>
          </a:ln>
        </p:spPr>
        <p:txBody>
          <a:bodyPr vert="horz" wrap="square" lIns="91440" tIns="45720" rIns="91440" bIns="45720" rtlCol="0" anchor="ctr" anchorCtr="0">
            <a:normAutofit fontScale="90000"/>
          </a:bodyPr>
          <a:lstStyle/>
          <a:p>
            <a:pPr lvl="0" algn="ctr" eaLnBrk="1" hangingPunct="1">
              <a:buClrTx/>
              <a:buSzTx/>
              <a:buFontTx/>
            </a:pPr>
            <a:r>
              <a:rPr lang="zh-CN" altLang="en-US" sz="4000" b="0" dirty="0">
                <a:latin typeface="黑体" panose="02010609060101010101" pitchFamily="2" charset="-122"/>
                <a:ea typeface="黑体" panose="02010609060101010101" pitchFamily="2" charset="-122"/>
                <a:sym typeface="+mn-ea"/>
              </a:rPr>
              <a:t>2 搜索CASE表达式</a:t>
            </a:r>
          </a:p>
        </p:txBody>
      </p:sp>
      <p:sp>
        <p:nvSpPr>
          <p:cNvPr id="88067" name="内容占位符 2"/>
          <p:cNvSpPr>
            <a:spLocks noGrp="1"/>
          </p:cNvSpPr>
          <p:nvPr>
            <p:ph idx="1"/>
          </p:nvPr>
        </p:nvSpPr>
        <p:spPr/>
        <p:txBody>
          <a:bodyPr vert="horz" wrap="square" lIns="91440" tIns="45720" rIns="91440" bIns="45720" anchor="t" anchorCtr="0"/>
          <a:lstStyle/>
          <a:p>
            <a:pPr>
              <a:buFont typeface="Wingdings" panose="05000000000000000000" pitchFamily="2" charset="2"/>
              <a:buNone/>
            </a:pPr>
            <a:r>
              <a:rPr lang="en-US" altLang="zh-CN" dirty="0">
                <a:latin typeface="宋体" pitchFamily="2" charset="-122"/>
                <a:cs typeface="等线" panose="02010600030101010101" charset="-122"/>
              </a:rPr>
              <a:t>CASE</a:t>
            </a:r>
            <a:endParaRPr lang="zh-CN" altLang="en-US" dirty="0">
              <a:latin typeface="宋体" pitchFamily="2" charset="-122"/>
              <a:cs typeface="等线" panose="02010600030101010101" charset="-122"/>
            </a:endParaRPr>
          </a:p>
          <a:p>
            <a:pPr>
              <a:buFont typeface="Wingdings" panose="05000000000000000000" pitchFamily="2" charset="2"/>
              <a:buNone/>
            </a:pPr>
            <a:r>
              <a:rPr lang="en-US" altLang="zh-CN" dirty="0">
                <a:latin typeface="宋体" pitchFamily="2" charset="-122"/>
                <a:cs typeface="等线" panose="02010600030101010101" charset="-122"/>
              </a:rPr>
              <a:t>  WHEN </a:t>
            </a:r>
            <a:r>
              <a:rPr lang="zh-CN" altLang="en-US" dirty="0">
                <a:latin typeface="宋体" pitchFamily="2" charset="-122"/>
                <a:cs typeface="等线" panose="02010600030101010101" charset="-122"/>
              </a:rPr>
              <a:t>布尔表达式</a:t>
            </a:r>
            <a:r>
              <a:rPr lang="en-US" altLang="zh-CN" dirty="0">
                <a:latin typeface="宋体" pitchFamily="2" charset="-122"/>
                <a:cs typeface="等线" panose="02010600030101010101" charset="-122"/>
              </a:rPr>
              <a:t>1 THEN </a:t>
            </a:r>
            <a:r>
              <a:rPr lang="zh-CN" altLang="en-US" dirty="0">
                <a:latin typeface="宋体" pitchFamily="2" charset="-122"/>
                <a:cs typeface="等线" panose="02010600030101010101" charset="-122"/>
              </a:rPr>
              <a:t>结果表达式</a:t>
            </a:r>
            <a:r>
              <a:rPr lang="en-US" altLang="zh-CN" dirty="0">
                <a:latin typeface="宋体" pitchFamily="2" charset="-122"/>
                <a:cs typeface="等线" panose="02010600030101010101" charset="-122"/>
              </a:rPr>
              <a:t>1</a:t>
            </a:r>
            <a:endParaRPr lang="zh-CN" altLang="en-US" dirty="0">
              <a:latin typeface="宋体" pitchFamily="2" charset="-122"/>
              <a:cs typeface="等线" panose="02010600030101010101" charset="-122"/>
            </a:endParaRPr>
          </a:p>
          <a:p>
            <a:pPr>
              <a:buFont typeface="Wingdings" panose="05000000000000000000" pitchFamily="2" charset="2"/>
              <a:buNone/>
            </a:pPr>
            <a:r>
              <a:rPr lang="en-US" altLang="zh-CN" dirty="0">
                <a:latin typeface="宋体" pitchFamily="2" charset="-122"/>
                <a:cs typeface="等线" panose="02010600030101010101" charset="-122"/>
              </a:rPr>
              <a:t>  WHEN </a:t>
            </a:r>
            <a:r>
              <a:rPr lang="zh-CN" altLang="en-US" dirty="0">
                <a:latin typeface="宋体" pitchFamily="2" charset="-122"/>
                <a:cs typeface="等线" panose="02010600030101010101" charset="-122"/>
              </a:rPr>
              <a:t>布尔表达式</a:t>
            </a:r>
            <a:r>
              <a:rPr lang="en-US" altLang="zh-CN" dirty="0">
                <a:latin typeface="宋体" pitchFamily="2" charset="-122"/>
                <a:cs typeface="等线" panose="02010600030101010101" charset="-122"/>
              </a:rPr>
              <a:t>2 THEN </a:t>
            </a:r>
            <a:r>
              <a:rPr lang="zh-CN" altLang="en-US" dirty="0">
                <a:latin typeface="宋体" pitchFamily="2" charset="-122"/>
                <a:cs typeface="等线" panose="02010600030101010101" charset="-122"/>
              </a:rPr>
              <a:t>结果表达式</a:t>
            </a:r>
            <a:r>
              <a:rPr lang="en-US" altLang="zh-CN" dirty="0">
                <a:latin typeface="宋体" pitchFamily="2" charset="-122"/>
                <a:cs typeface="等线" panose="02010600030101010101" charset="-122"/>
              </a:rPr>
              <a:t>2</a:t>
            </a:r>
            <a:endParaRPr lang="zh-CN" altLang="en-US" dirty="0">
              <a:latin typeface="宋体" pitchFamily="2" charset="-122"/>
              <a:cs typeface="等线" panose="02010600030101010101" charset="-122"/>
            </a:endParaRPr>
          </a:p>
          <a:p>
            <a:pPr>
              <a:buFont typeface="Wingdings" panose="05000000000000000000" pitchFamily="2" charset="2"/>
              <a:buNone/>
            </a:pPr>
            <a:r>
              <a:rPr lang="en-US" altLang="zh-CN" dirty="0">
                <a:latin typeface="宋体" pitchFamily="2" charset="-122"/>
                <a:cs typeface="等线" panose="02010600030101010101" charset="-122"/>
              </a:rPr>
              <a:t>  …</a:t>
            </a:r>
            <a:endParaRPr lang="zh-CN" altLang="en-US" dirty="0">
              <a:latin typeface="宋体" pitchFamily="2" charset="-122"/>
              <a:cs typeface="等线" panose="02010600030101010101" charset="-122"/>
            </a:endParaRPr>
          </a:p>
          <a:p>
            <a:pPr>
              <a:buFont typeface="Wingdings" panose="05000000000000000000" pitchFamily="2" charset="2"/>
              <a:buNone/>
            </a:pPr>
            <a:r>
              <a:rPr lang="en-US" altLang="zh-CN" dirty="0">
                <a:latin typeface="宋体" pitchFamily="2" charset="-122"/>
                <a:cs typeface="等线" panose="02010600030101010101" charset="-122"/>
              </a:rPr>
              <a:t>  WHEN </a:t>
            </a:r>
            <a:r>
              <a:rPr lang="zh-CN" altLang="en-US" dirty="0">
                <a:latin typeface="宋体" pitchFamily="2" charset="-122"/>
                <a:cs typeface="等线" panose="02010600030101010101" charset="-122"/>
              </a:rPr>
              <a:t>布尔表达式</a:t>
            </a:r>
            <a:r>
              <a:rPr lang="en-US" altLang="zh-CN" dirty="0">
                <a:latin typeface="宋体" pitchFamily="2" charset="-122"/>
                <a:cs typeface="等线" panose="02010600030101010101" charset="-122"/>
              </a:rPr>
              <a:t>n THEN </a:t>
            </a:r>
            <a:r>
              <a:rPr lang="zh-CN" altLang="en-US" dirty="0">
                <a:latin typeface="宋体" pitchFamily="2" charset="-122"/>
                <a:cs typeface="等线" panose="02010600030101010101" charset="-122"/>
              </a:rPr>
              <a:t>结果表达式</a:t>
            </a:r>
            <a:r>
              <a:rPr lang="en-US" altLang="zh-CN" dirty="0">
                <a:latin typeface="宋体" pitchFamily="2" charset="-122"/>
                <a:cs typeface="等线" panose="02010600030101010101" charset="-122"/>
              </a:rPr>
              <a:t>n</a:t>
            </a:r>
            <a:endParaRPr lang="zh-CN" altLang="en-US" dirty="0">
              <a:latin typeface="宋体" pitchFamily="2" charset="-122"/>
              <a:cs typeface="等线" panose="02010600030101010101" charset="-122"/>
            </a:endParaRPr>
          </a:p>
          <a:p>
            <a:pPr>
              <a:buFont typeface="Wingdings" panose="05000000000000000000" pitchFamily="2" charset="2"/>
              <a:buNone/>
            </a:pPr>
            <a:r>
              <a:rPr lang="en-US" altLang="zh-CN" dirty="0">
                <a:latin typeface="宋体" pitchFamily="2" charset="-122"/>
                <a:cs typeface="等线" panose="02010600030101010101" charset="-122"/>
              </a:rPr>
              <a:t>  [ ELSE </a:t>
            </a:r>
            <a:r>
              <a:rPr lang="zh-CN" altLang="en-US" dirty="0">
                <a:latin typeface="宋体" pitchFamily="2" charset="-122"/>
                <a:cs typeface="等线" panose="02010600030101010101" charset="-122"/>
              </a:rPr>
              <a:t>结果表达式</a:t>
            </a:r>
            <a:r>
              <a:rPr lang="en-US" altLang="zh-CN" dirty="0">
                <a:latin typeface="宋体" pitchFamily="2" charset="-122"/>
                <a:cs typeface="等线" panose="02010600030101010101" charset="-122"/>
              </a:rPr>
              <a:t>n+1 ]</a:t>
            </a:r>
            <a:endParaRPr lang="zh-CN" altLang="en-US" dirty="0">
              <a:latin typeface="宋体" pitchFamily="2" charset="-122"/>
              <a:cs typeface="等线" panose="02010600030101010101" charset="-122"/>
            </a:endParaRPr>
          </a:p>
          <a:p>
            <a:pPr>
              <a:buFont typeface="Wingdings" panose="05000000000000000000" pitchFamily="2" charset="2"/>
              <a:buNone/>
            </a:pPr>
            <a:r>
              <a:rPr lang="en-US" altLang="zh-CN" dirty="0">
                <a:latin typeface="宋体" pitchFamily="2" charset="-122"/>
                <a:cs typeface="等线" panose="02010600030101010101" charset="-122"/>
              </a:rPr>
              <a:t>END</a:t>
            </a:r>
            <a:endParaRPr lang="zh-CN" altLang="en-US" dirty="0">
              <a:latin typeface="宋体" pitchFamily="2" charset="-122"/>
              <a:cs typeface="等线" panose="02010600030101010101" charset="-122"/>
            </a:endParaRPr>
          </a:p>
        </p:txBody>
      </p:sp>
    </p:spTree>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标题 1"/>
          <p:cNvSpPr>
            <a:spLocks noGrp="1"/>
          </p:cNvSpPr>
          <p:nvPr>
            <p:ph type="title"/>
          </p:nvPr>
        </p:nvSpPr>
        <p:spPr>
          <a:xfrm>
            <a:off x="500063" y="152400"/>
            <a:ext cx="8001000" cy="685800"/>
          </a:xfrm>
          <a:noFill/>
          <a:ln w="9525">
            <a:noFill/>
          </a:ln>
        </p:spPr>
        <p:txBody>
          <a:bodyPr vert="horz" wrap="square" lIns="91440" tIns="45720" rIns="91440" bIns="45720" rtlCol="0" anchor="ctr" anchorCtr="0">
            <a:normAutofit fontScale="90000"/>
          </a:bodyPr>
          <a:lstStyle/>
          <a:p>
            <a:pPr lvl="0" algn="ctr" eaLnBrk="1" hangingPunct="1">
              <a:buClrTx/>
              <a:buSzTx/>
              <a:buFontTx/>
            </a:pPr>
            <a:r>
              <a:rPr lang="zh-CN" altLang="en-US" sz="4000" b="0" dirty="0">
                <a:latin typeface="黑体" panose="02010609060101010101" pitchFamily="2" charset="-122"/>
                <a:ea typeface="黑体" panose="02010609060101010101" pitchFamily="2" charset="-122"/>
                <a:sym typeface="+mn-ea"/>
              </a:rPr>
              <a:t>示例</a:t>
            </a:r>
          </a:p>
        </p:txBody>
      </p:sp>
      <p:sp>
        <p:nvSpPr>
          <p:cNvPr id="90115" name="内容占位符 2"/>
          <p:cNvSpPr>
            <a:spLocks noGrp="1"/>
          </p:cNvSpPr>
          <p:nvPr>
            <p:ph idx="1"/>
          </p:nvPr>
        </p:nvSpPr>
        <p:spPr>
          <a:xfrm>
            <a:off x="285750" y="1214438"/>
            <a:ext cx="8501063" cy="5143500"/>
          </a:xfrm>
          <a:ln>
            <a:solidFill>
              <a:srgbClr val="000000"/>
            </a:solidFill>
          </a:ln>
        </p:spPr>
        <p:txBody>
          <a:bodyPr vert="horz" wrap="square" lIns="91440" tIns="45720" rIns="91440" bIns="45720" anchor="t" anchorCtr="0"/>
          <a:lstStyle/>
          <a:p>
            <a:pPr>
              <a:spcBef>
                <a:spcPts val="100"/>
              </a:spcBef>
              <a:buFont typeface="Wingdings" panose="05000000000000000000" pitchFamily="2" charset="2"/>
              <a:buNone/>
            </a:pPr>
            <a:r>
              <a:rPr lang="en-US" altLang="zh-CN" sz="3200" dirty="0">
                <a:solidFill>
                  <a:srgbClr val="0000FF"/>
                </a:solidFill>
                <a:latin typeface="宋体" pitchFamily="2" charset="-122"/>
                <a:cs typeface="等线" panose="02010600030101010101" charset="-122"/>
              </a:rPr>
              <a:t>SELECT s.Sno </a:t>
            </a:r>
            <a:r>
              <a:rPr lang="zh-CN" altLang="en-US" sz="3200" dirty="0">
                <a:solidFill>
                  <a:srgbClr val="0000FF"/>
                </a:solidFill>
                <a:latin typeface="宋体" pitchFamily="2" charset="-122"/>
                <a:cs typeface="等线" panose="02010600030101010101" charset="-122"/>
              </a:rPr>
              <a:t>学号</a:t>
            </a:r>
            <a:r>
              <a:rPr lang="en-US" altLang="zh-CN" sz="3200" dirty="0">
                <a:solidFill>
                  <a:srgbClr val="0000FF"/>
                </a:solidFill>
                <a:latin typeface="宋体" pitchFamily="2" charset="-122"/>
                <a:cs typeface="等线" panose="02010600030101010101" charset="-122"/>
              </a:rPr>
              <a:t>,Sname </a:t>
            </a:r>
            <a:r>
              <a:rPr lang="zh-CN" altLang="en-US" sz="3200" dirty="0">
                <a:solidFill>
                  <a:srgbClr val="0000FF"/>
                </a:solidFill>
                <a:latin typeface="宋体" pitchFamily="2" charset="-122"/>
                <a:cs typeface="等线" panose="02010600030101010101" charset="-122"/>
              </a:rPr>
              <a:t>姓名</a:t>
            </a:r>
            <a:r>
              <a:rPr lang="en-US" altLang="zh-CN" sz="3200" dirty="0">
                <a:solidFill>
                  <a:srgbClr val="0000FF"/>
                </a:solidFill>
                <a:latin typeface="宋体" pitchFamily="2" charset="-122"/>
                <a:cs typeface="等线" panose="02010600030101010101" charset="-122"/>
              </a:rPr>
              <a:t>,</a:t>
            </a:r>
            <a:endParaRPr lang="zh-CN" altLang="en-US" sz="3200" dirty="0">
              <a:solidFill>
                <a:srgbClr val="0000FF"/>
              </a:solidFill>
              <a:latin typeface="宋体" pitchFamily="2" charset="-122"/>
              <a:cs typeface="等线" panose="02010600030101010101" charset="-122"/>
            </a:endParaRPr>
          </a:p>
          <a:p>
            <a:pPr>
              <a:spcBef>
                <a:spcPts val="100"/>
              </a:spcBef>
              <a:buFont typeface="Wingdings" panose="05000000000000000000" pitchFamily="2" charset="2"/>
              <a:buNone/>
            </a:pPr>
            <a:r>
              <a:rPr lang="en-US" altLang="zh-CN" sz="3200" dirty="0">
                <a:solidFill>
                  <a:srgbClr val="0000FF"/>
                </a:solidFill>
                <a:effectLst>
                  <a:outerShdw blurRad="38100" dist="38100" dir="2700000" algn="tl">
                    <a:srgbClr val="000000">
                      <a:alpha val="43137"/>
                    </a:srgbClr>
                  </a:outerShdw>
                </a:effectLst>
                <a:latin typeface="宋体" pitchFamily="2" charset="-122"/>
                <a:cs typeface="等线" panose="02010600030101010101" charset="-122"/>
              </a:rPr>
              <a:t>  </a:t>
            </a:r>
            <a:r>
              <a:rPr lang="en-US" altLang="zh-CN" sz="2800" dirty="0">
                <a:ln>
                  <a:solidFill>
                    <a:schemeClr val="tx1"/>
                  </a:solidFill>
                </a:ln>
                <a:solidFill>
                  <a:srgbClr val="000000"/>
                </a:solidFill>
                <a:effectLst>
                  <a:outerShdw blurRad="38100" dist="38100" dir="2700000" algn="tl">
                    <a:srgbClr val="000000">
                      <a:alpha val="43137"/>
                    </a:srgbClr>
                  </a:outerShdw>
                </a:effectLst>
                <a:latin typeface="宋体" pitchFamily="2" charset="-122"/>
                <a:cs typeface="等线" panose="02010600030101010101" charset="-122"/>
              </a:rPr>
              <a:t>CASE</a:t>
            </a:r>
            <a:endParaRPr lang="zh-CN" altLang="en-US" sz="2800" dirty="0">
              <a:ln>
                <a:solidFill>
                  <a:schemeClr val="tx1"/>
                </a:solidFill>
              </a:ln>
              <a:solidFill>
                <a:srgbClr val="000000"/>
              </a:solidFill>
              <a:effectLst>
                <a:outerShdw blurRad="38100" dist="38100" dir="2700000" algn="tl">
                  <a:srgbClr val="000000">
                    <a:alpha val="43137"/>
                  </a:srgbClr>
                </a:outerShdw>
              </a:effectLst>
              <a:latin typeface="宋体" pitchFamily="2" charset="-122"/>
              <a:cs typeface="等线" panose="02010600030101010101" charset="-122"/>
            </a:endParaRPr>
          </a:p>
          <a:p>
            <a:pPr>
              <a:spcBef>
                <a:spcPts val="100"/>
              </a:spcBef>
              <a:buFont typeface="Wingdings" panose="05000000000000000000" pitchFamily="2" charset="2"/>
              <a:buNone/>
            </a:pPr>
            <a:r>
              <a:rPr lang="en-US" altLang="zh-CN" sz="2800" dirty="0">
                <a:ln>
                  <a:solidFill>
                    <a:schemeClr val="tx1"/>
                  </a:solidFill>
                </a:ln>
                <a:solidFill>
                  <a:srgbClr val="000000"/>
                </a:solidFill>
                <a:effectLst>
                  <a:outerShdw blurRad="38100" dist="38100" dir="2700000" algn="tl">
                    <a:srgbClr val="000000">
                      <a:alpha val="43137"/>
                    </a:srgbClr>
                  </a:outerShdw>
                </a:effectLst>
                <a:latin typeface="宋体" pitchFamily="2" charset="-122"/>
                <a:cs typeface="等线" panose="02010600030101010101" charset="-122"/>
              </a:rPr>
              <a:t>    WHEN sdept = '</a:t>
            </a:r>
            <a:r>
              <a:rPr lang="zh-CN" altLang="en-US" sz="2800" dirty="0">
                <a:ln>
                  <a:solidFill>
                    <a:schemeClr val="tx1"/>
                  </a:solidFill>
                </a:ln>
                <a:solidFill>
                  <a:srgbClr val="000000"/>
                </a:solidFill>
                <a:effectLst>
                  <a:outerShdw blurRad="38100" dist="38100" dir="2700000" algn="tl">
                    <a:srgbClr val="000000">
                      <a:alpha val="43137"/>
                    </a:srgbClr>
                  </a:outerShdw>
                </a:effectLst>
                <a:latin typeface="宋体" pitchFamily="2" charset="-122"/>
                <a:cs typeface="等线" panose="02010600030101010101" charset="-122"/>
              </a:rPr>
              <a:t>计算机系</a:t>
            </a:r>
            <a:r>
              <a:rPr lang="en-US" altLang="zh-CN" sz="2800" dirty="0">
                <a:ln>
                  <a:solidFill>
                    <a:schemeClr val="tx1"/>
                  </a:solidFill>
                </a:ln>
                <a:solidFill>
                  <a:srgbClr val="000000"/>
                </a:solidFill>
                <a:effectLst>
                  <a:outerShdw blurRad="38100" dist="38100" dir="2700000" algn="tl">
                    <a:srgbClr val="000000">
                      <a:alpha val="43137"/>
                    </a:srgbClr>
                  </a:outerShdw>
                </a:effectLst>
                <a:latin typeface="宋体" pitchFamily="2" charset="-122"/>
                <a:cs typeface="等线" panose="02010600030101010101" charset="-122"/>
              </a:rPr>
              <a:t>' THEN 'CS'</a:t>
            </a:r>
            <a:endParaRPr lang="zh-CN" altLang="en-US" sz="2800" dirty="0">
              <a:ln>
                <a:solidFill>
                  <a:schemeClr val="tx1"/>
                </a:solidFill>
              </a:ln>
              <a:solidFill>
                <a:srgbClr val="000000"/>
              </a:solidFill>
              <a:effectLst>
                <a:outerShdw blurRad="38100" dist="38100" dir="2700000" algn="tl">
                  <a:srgbClr val="000000">
                    <a:alpha val="43137"/>
                  </a:srgbClr>
                </a:outerShdw>
              </a:effectLst>
              <a:latin typeface="宋体" pitchFamily="2" charset="-122"/>
              <a:cs typeface="等线" panose="02010600030101010101" charset="-122"/>
            </a:endParaRPr>
          </a:p>
          <a:p>
            <a:pPr>
              <a:spcBef>
                <a:spcPts val="100"/>
              </a:spcBef>
              <a:buFont typeface="Wingdings" panose="05000000000000000000" pitchFamily="2" charset="2"/>
              <a:buNone/>
            </a:pPr>
            <a:r>
              <a:rPr lang="en-US" altLang="zh-CN" sz="2800" dirty="0">
                <a:ln>
                  <a:solidFill>
                    <a:schemeClr val="tx1"/>
                  </a:solidFill>
                </a:ln>
                <a:solidFill>
                  <a:srgbClr val="000000"/>
                </a:solidFill>
                <a:effectLst>
                  <a:outerShdw blurRad="38100" dist="38100" dir="2700000" algn="tl">
                    <a:srgbClr val="000000">
                      <a:alpha val="43137"/>
                    </a:srgbClr>
                  </a:outerShdw>
                </a:effectLst>
                <a:latin typeface="宋体" pitchFamily="2" charset="-122"/>
                <a:cs typeface="等线" panose="02010600030101010101" charset="-122"/>
              </a:rPr>
              <a:t>    WHEN sdept = '</a:t>
            </a:r>
            <a:r>
              <a:rPr lang="zh-CN" altLang="en-US" sz="2800" dirty="0">
                <a:ln>
                  <a:solidFill>
                    <a:schemeClr val="tx1"/>
                  </a:solidFill>
                </a:ln>
                <a:solidFill>
                  <a:srgbClr val="000000"/>
                </a:solidFill>
                <a:effectLst>
                  <a:outerShdw blurRad="38100" dist="38100" dir="2700000" algn="tl">
                    <a:srgbClr val="000000">
                      <a:alpha val="43137"/>
                    </a:srgbClr>
                  </a:outerShdw>
                </a:effectLst>
                <a:latin typeface="宋体" pitchFamily="2" charset="-122"/>
                <a:cs typeface="等线" panose="02010600030101010101" charset="-122"/>
              </a:rPr>
              <a:t>信息管理系</a:t>
            </a:r>
            <a:r>
              <a:rPr lang="en-US" altLang="zh-CN" sz="2800" dirty="0">
                <a:ln>
                  <a:solidFill>
                    <a:schemeClr val="tx1"/>
                  </a:solidFill>
                </a:ln>
                <a:solidFill>
                  <a:srgbClr val="000000"/>
                </a:solidFill>
                <a:effectLst>
                  <a:outerShdw blurRad="38100" dist="38100" dir="2700000" algn="tl">
                    <a:srgbClr val="000000">
                      <a:alpha val="43137"/>
                    </a:srgbClr>
                  </a:outerShdw>
                </a:effectLst>
                <a:latin typeface="宋体" pitchFamily="2" charset="-122"/>
                <a:cs typeface="等线" panose="02010600030101010101" charset="-122"/>
              </a:rPr>
              <a:t>' THEN 'IM'</a:t>
            </a:r>
            <a:endParaRPr lang="zh-CN" altLang="en-US" sz="2800" dirty="0">
              <a:ln>
                <a:solidFill>
                  <a:schemeClr val="tx1"/>
                </a:solidFill>
              </a:ln>
              <a:solidFill>
                <a:srgbClr val="000000"/>
              </a:solidFill>
              <a:effectLst>
                <a:outerShdw blurRad="38100" dist="38100" dir="2700000" algn="tl">
                  <a:srgbClr val="000000">
                    <a:alpha val="43137"/>
                  </a:srgbClr>
                </a:outerShdw>
              </a:effectLst>
              <a:latin typeface="宋体" pitchFamily="2" charset="-122"/>
              <a:cs typeface="等线" panose="02010600030101010101" charset="-122"/>
            </a:endParaRPr>
          </a:p>
          <a:p>
            <a:pPr>
              <a:spcBef>
                <a:spcPts val="100"/>
              </a:spcBef>
              <a:buFont typeface="Wingdings" panose="05000000000000000000" pitchFamily="2" charset="2"/>
              <a:buNone/>
            </a:pPr>
            <a:r>
              <a:rPr lang="en-US" altLang="zh-CN" sz="2800" dirty="0">
                <a:ln>
                  <a:solidFill>
                    <a:schemeClr val="tx1"/>
                  </a:solidFill>
                </a:ln>
                <a:solidFill>
                  <a:srgbClr val="000000"/>
                </a:solidFill>
                <a:effectLst>
                  <a:outerShdw blurRad="38100" dist="38100" dir="2700000" algn="tl">
                    <a:srgbClr val="000000">
                      <a:alpha val="43137"/>
                    </a:srgbClr>
                  </a:outerShdw>
                </a:effectLst>
                <a:latin typeface="宋体" pitchFamily="2" charset="-122"/>
                <a:cs typeface="等线" panose="02010600030101010101" charset="-122"/>
              </a:rPr>
              <a:t>    WHEN sdept = '</a:t>
            </a:r>
            <a:r>
              <a:rPr lang="zh-CN" altLang="en-US" sz="2800" dirty="0">
                <a:ln>
                  <a:solidFill>
                    <a:schemeClr val="tx1"/>
                  </a:solidFill>
                </a:ln>
                <a:solidFill>
                  <a:srgbClr val="000000"/>
                </a:solidFill>
                <a:effectLst>
                  <a:outerShdw blurRad="38100" dist="38100" dir="2700000" algn="tl">
                    <a:srgbClr val="000000">
                      <a:alpha val="43137"/>
                    </a:srgbClr>
                  </a:outerShdw>
                </a:effectLst>
                <a:latin typeface="宋体" pitchFamily="2" charset="-122"/>
                <a:cs typeface="等线" panose="02010600030101010101" charset="-122"/>
              </a:rPr>
              <a:t>通信工程系</a:t>
            </a:r>
            <a:r>
              <a:rPr lang="en-US" altLang="zh-CN" sz="2800" dirty="0">
                <a:ln>
                  <a:solidFill>
                    <a:schemeClr val="tx1"/>
                  </a:solidFill>
                </a:ln>
                <a:solidFill>
                  <a:srgbClr val="000000"/>
                </a:solidFill>
                <a:effectLst>
                  <a:outerShdw blurRad="38100" dist="38100" dir="2700000" algn="tl">
                    <a:srgbClr val="000000">
                      <a:alpha val="43137"/>
                    </a:srgbClr>
                  </a:outerShdw>
                </a:effectLst>
                <a:latin typeface="宋体" pitchFamily="2" charset="-122"/>
                <a:cs typeface="等线" panose="02010600030101010101" charset="-122"/>
              </a:rPr>
              <a:t>' THEN 'COM'</a:t>
            </a:r>
            <a:endParaRPr lang="zh-CN" altLang="en-US" sz="2800" dirty="0">
              <a:ln>
                <a:solidFill>
                  <a:schemeClr val="tx1"/>
                </a:solidFill>
              </a:ln>
              <a:solidFill>
                <a:srgbClr val="000000"/>
              </a:solidFill>
              <a:effectLst>
                <a:outerShdw blurRad="38100" dist="38100" dir="2700000" algn="tl">
                  <a:srgbClr val="000000">
                    <a:alpha val="43137"/>
                  </a:srgbClr>
                </a:outerShdw>
              </a:effectLst>
              <a:latin typeface="宋体" pitchFamily="2" charset="-122"/>
              <a:cs typeface="等线" panose="02010600030101010101" charset="-122"/>
            </a:endParaRPr>
          </a:p>
          <a:p>
            <a:pPr>
              <a:spcBef>
                <a:spcPts val="100"/>
              </a:spcBef>
              <a:buFont typeface="Wingdings" panose="05000000000000000000" pitchFamily="2" charset="2"/>
              <a:buNone/>
            </a:pPr>
            <a:r>
              <a:rPr lang="en-US" altLang="zh-CN" sz="2800" dirty="0">
                <a:ln>
                  <a:solidFill>
                    <a:schemeClr val="tx1"/>
                  </a:solidFill>
                </a:ln>
                <a:solidFill>
                  <a:srgbClr val="000000"/>
                </a:solidFill>
                <a:effectLst>
                  <a:outerShdw blurRad="38100" dist="38100" dir="2700000" algn="tl">
                    <a:srgbClr val="000000">
                      <a:alpha val="43137"/>
                    </a:srgbClr>
                  </a:outerShdw>
                </a:effectLst>
                <a:latin typeface="宋体" pitchFamily="2" charset="-122"/>
                <a:cs typeface="等线" panose="02010600030101010101" charset="-122"/>
              </a:rPr>
              <a:t>  </a:t>
            </a:r>
            <a:r>
              <a:rPr lang="en-US" altLang="zh-CN" sz="2800" dirty="0" smtClean="0">
                <a:ln>
                  <a:solidFill>
                    <a:schemeClr val="tx1"/>
                  </a:solidFill>
                </a:ln>
                <a:solidFill>
                  <a:srgbClr val="000000"/>
                </a:solidFill>
                <a:effectLst>
                  <a:outerShdw blurRad="38100" dist="38100" dir="2700000" algn="tl">
                    <a:srgbClr val="000000">
                      <a:alpha val="43137"/>
                    </a:srgbClr>
                  </a:outerShdw>
                </a:effectLst>
                <a:latin typeface="宋体" pitchFamily="2" charset="-122"/>
                <a:cs typeface="等线" panose="02010600030101010101" charset="-122"/>
              </a:rPr>
              <a:t> END </a:t>
            </a:r>
            <a:r>
              <a:rPr lang="en-US" altLang="zh-CN" sz="2800" dirty="0">
                <a:ln>
                  <a:solidFill>
                    <a:schemeClr val="tx1"/>
                  </a:solidFill>
                </a:ln>
                <a:solidFill>
                  <a:srgbClr val="000000"/>
                </a:solidFill>
                <a:effectLst>
                  <a:outerShdw blurRad="38100" dist="38100" dir="2700000" algn="tl">
                    <a:srgbClr val="000000">
                      <a:alpha val="43137"/>
                    </a:srgbClr>
                  </a:outerShdw>
                </a:effectLst>
                <a:latin typeface="宋体" pitchFamily="2" charset="-122"/>
                <a:cs typeface="等线" panose="02010600030101010101" charset="-122"/>
              </a:rPr>
              <a:t>AS </a:t>
            </a:r>
            <a:r>
              <a:rPr lang="zh-CN" altLang="en-US" sz="2800" dirty="0">
                <a:ln>
                  <a:solidFill>
                    <a:schemeClr val="tx1"/>
                  </a:solidFill>
                </a:ln>
                <a:solidFill>
                  <a:srgbClr val="000000"/>
                </a:solidFill>
                <a:effectLst>
                  <a:outerShdw blurRad="38100" dist="38100" dir="2700000" algn="tl">
                    <a:srgbClr val="000000">
                      <a:alpha val="43137"/>
                    </a:srgbClr>
                  </a:outerShdw>
                </a:effectLst>
                <a:latin typeface="宋体" pitchFamily="2" charset="-122"/>
                <a:cs typeface="等线" panose="02010600030101010101" charset="-122"/>
              </a:rPr>
              <a:t>所在</a:t>
            </a:r>
            <a:r>
              <a:rPr lang="zh-CN" altLang="en-US" sz="2800" dirty="0" smtClean="0">
                <a:ln>
                  <a:solidFill>
                    <a:schemeClr val="tx1"/>
                  </a:solidFill>
                </a:ln>
                <a:solidFill>
                  <a:srgbClr val="000000"/>
                </a:solidFill>
                <a:effectLst>
                  <a:outerShdw blurRad="38100" dist="38100" dir="2700000" algn="tl">
                    <a:srgbClr val="000000">
                      <a:alpha val="43137"/>
                    </a:srgbClr>
                  </a:outerShdw>
                </a:effectLst>
                <a:latin typeface="宋体" pitchFamily="2" charset="-122"/>
                <a:cs typeface="等线" panose="02010600030101010101" charset="-122"/>
              </a:rPr>
              <a:t>系 </a:t>
            </a:r>
            <a:r>
              <a:rPr lang="en-US" altLang="zh-CN" sz="3200" dirty="0" smtClean="0">
                <a:solidFill>
                  <a:srgbClr val="0000FF"/>
                </a:solidFill>
                <a:latin typeface="宋体" pitchFamily="2" charset="-122"/>
                <a:cs typeface="等线" panose="02010600030101010101" charset="-122"/>
              </a:rPr>
              <a:t>, </a:t>
            </a:r>
            <a:r>
              <a:rPr lang="en-US" altLang="zh-CN" sz="3200" dirty="0">
                <a:solidFill>
                  <a:srgbClr val="0000FF"/>
                </a:solidFill>
                <a:latin typeface="宋体" pitchFamily="2" charset="-122"/>
                <a:cs typeface="等线" panose="02010600030101010101" charset="-122"/>
              </a:rPr>
              <a:t>Grade </a:t>
            </a:r>
            <a:r>
              <a:rPr lang="zh-CN" altLang="en-US" sz="3200" dirty="0">
                <a:solidFill>
                  <a:srgbClr val="0000FF"/>
                </a:solidFill>
                <a:latin typeface="宋体" pitchFamily="2" charset="-122"/>
                <a:cs typeface="等线" panose="02010600030101010101" charset="-122"/>
              </a:rPr>
              <a:t>成绩</a:t>
            </a:r>
          </a:p>
          <a:p>
            <a:pPr>
              <a:spcBef>
                <a:spcPts val="600"/>
              </a:spcBef>
              <a:buFont typeface="Wingdings" panose="05000000000000000000" pitchFamily="2" charset="2"/>
              <a:buNone/>
            </a:pPr>
            <a:r>
              <a:rPr lang="en-US" altLang="zh-CN" sz="3200" dirty="0">
                <a:solidFill>
                  <a:srgbClr val="0000FF"/>
                </a:solidFill>
                <a:latin typeface="宋体" pitchFamily="2" charset="-122"/>
                <a:cs typeface="等线" panose="02010600030101010101" charset="-122"/>
              </a:rPr>
              <a:t> </a:t>
            </a:r>
            <a:r>
              <a:rPr lang="en-US" altLang="zh-CN" sz="3000" dirty="0" smtClean="0">
                <a:solidFill>
                  <a:srgbClr val="0000FF"/>
                </a:solidFill>
                <a:latin typeface="宋体" pitchFamily="2" charset="-122"/>
                <a:cs typeface="等线" panose="02010600030101010101" charset="-122"/>
              </a:rPr>
              <a:t>FROM Student s join SC ON </a:t>
            </a:r>
            <a:r>
              <a:rPr lang="en-US" altLang="zh-CN" sz="3000" dirty="0">
                <a:solidFill>
                  <a:srgbClr val="0000FF"/>
                </a:solidFill>
                <a:latin typeface="宋体" pitchFamily="2" charset="-122"/>
                <a:cs typeface="等线" panose="02010600030101010101" charset="-122"/>
              </a:rPr>
              <a:t>s.Sno = SC.Sno</a:t>
            </a:r>
            <a:endParaRPr lang="zh-CN" altLang="en-US" sz="3000" dirty="0">
              <a:solidFill>
                <a:srgbClr val="0000FF"/>
              </a:solidFill>
              <a:latin typeface="宋体" pitchFamily="2" charset="-122"/>
              <a:cs typeface="等线" panose="02010600030101010101" charset="-122"/>
            </a:endParaRPr>
          </a:p>
          <a:p>
            <a:pPr>
              <a:spcBef>
                <a:spcPts val="100"/>
              </a:spcBef>
              <a:buFont typeface="Wingdings" panose="05000000000000000000" pitchFamily="2" charset="2"/>
              <a:buNone/>
            </a:pPr>
            <a:r>
              <a:rPr lang="en-US" altLang="zh-CN" sz="3000" dirty="0">
                <a:solidFill>
                  <a:srgbClr val="0000FF"/>
                </a:solidFill>
                <a:latin typeface="宋体" pitchFamily="2" charset="-122"/>
                <a:cs typeface="等线" panose="02010600030101010101" charset="-122"/>
              </a:rPr>
              <a:t>  </a:t>
            </a:r>
            <a:r>
              <a:rPr lang="en-US" altLang="zh-CN" sz="3000" dirty="0" smtClean="0">
                <a:solidFill>
                  <a:srgbClr val="0000FF"/>
                </a:solidFill>
                <a:latin typeface="宋体" pitchFamily="2" charset="-122"/>
                <a:cs typeface="等线" panose="02010600030101010101" charset="-122"/>
              </a:rPr>
              <a:t>     JOIN </a:t>
            </a:r>
            <a:r>
              <a:rPr lang="en-US" altLang="zh-CN" sz="3000" dirty="0">
                <a:solidFill>
                  <a:srgbClr val="0000FF"/>
                </a:solidFill>
                <a:latin typeface="宋体" pitchFamily="2" charset="-122"/>
                <a:cs typeface="等线" panose="02010600030101010101" charset="-122"/>
              </a:rPr>
              <a:t>Course c ON c.Cno = SC.Cno</a:t>
            </a:r>
            <a:endParaRPr lang="zh-CN" altLang="en-US" sz="3000" dirty="0">
              <a:solidFill>
                <a:srgbClr val="0000FF"/>
              </a:solidFill>
              <a:latin typeface="宋体" pitchFamily="2" charset="-122"/>
              <a:cs typeface="等线" panose="02010600030101010101" charset="-122"/>
            </a:endParaRPr>
          </a:p>
          <a:p>
            <a:pPr>
              <a:spcBef>
                <a:spcPts val="100"/>
              </a:spcBef>
              <a:buFont typeface="Wingdings" panose="05000000000000000000" pitchFamily="2" charset="2"/>
              <a:buNone/>
            </a:pPr>
            <a:r>
              <a:rPr lang="en-US" altLang="zh-CN" sz="3200" dirty="0">
                <a:solidFill>
                  <a:srgbClr val="0000FF"/>
                </a:solidFill>
                <a:latin typeface="宋体" pitchFamily="2" charset="-122"/>
                <a:cs typeface="等线" panose="02010600030101010101" charset="-122"/>
              </a:rPr>
              <a:t>  WHERE Cname = 'VB'</a:t>
            </a:r>
            <a:endParaRPr lang="zh-CN" altLang="en-US" sz="3200" dirty="0">
              <a:solidFill>
                <a:srgbClr val="0000FF"/>
              </a:solidFill>
              <a:latin typeface="宋体" pitchFamily="2" charset="-122"/>
              <a:cs typeface="等线" panose="02010600030101010101" charset="-122"/>
            </a:endParaRPr>
          </a:p>
        </p:txBody>
      </p:sp>
    </p:spTree>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标题 1"/>
          <p:cNvSpPr>
            <a:spLocks noGrp="1"/>
          </p:cNvSpPr>
          <p:nvPr>
            <p:ph type="title"/>
          </p:nvPr>
        </p:nvSpPr>
        <p:spPr>
          <a:xfrm>
            <a:off x="500063" y="152400"/>
            <a:ext cx="8001000" cy="685800"/>
          </a:xfrm>
          <a:noFill/>
          <a:ln w="9525">
            <a:noFill/>
          </a:ln>
        </p:spPr>
        <p:txBody>
          <a:bodyPr vert="horz" wrap="square" lIns="91440" tIns="45720" rIns="91440" bIns="45720" rtlCol="0" anchor="ctr" anchorCtr="0">
            <a:normAutofit fontScale="90000"/>
          </a:bodyPr>
          <a:lstStyle/>
          <a:p>
            <a:pPr lvl="0" algn="ctr" eaLnBrk="1" hangingPunct="1">
              <a:buClrTx/>
              <a:buSzTx/>
              <a:buFontTx/>
            </a:pPr>
            <a:r>
              <a:rPr lang="zh-CN" altLang="en-US" sz="4000" b="0" dirty="0">
                <a:latin typeface="黑体" panose="02010609060101010101" pitchFamily="2" charset="-122"/>
                <a:ea typeface="黑体" panose="02010609060101010101" pitchFamily="2" charset="-122"/>
                <a:sym typeface="+mn-ea"/>
              </a:rPr>
              <a:t>示例</a:t>
            </a:r>
          </a:p>
        </p:txBody>
      </p:sp>
      <p:sp>
        <p:nvSpPr>
          <p:cNvPr id="92163" name="内容占位符 2"/>
          <p:cNvSpPr>
            <a:spLocks noGrp="1"/>
          </p:cNvSpPr>
          <p:nvPr>
            <p:ph idx="1"/>
          </p:nvPr>
        </p:nvSpPr>
        <p:spPr>
          <a:xfrm>
            <a:off x="214313" y="1214438"/>
            <a:ext cx="8643937" cy="4957762"/>
          </a:xfrm>
        </p:spPr>
        <p:txBody>
          <a:bodyPr vert="horz" wrap="square" lIns="91440" tIns="45720" rIns="91440" bIns="45720" anchor="t" anchorCtr="0"/>
          <a:lstStyle/>
          <a:p>
            <a:pPr marL="0" indent="0">
              <a:buNone/>
            </a:pPr>
            <a:r>
              <a:rPr lang="zh-CN" altLang="en-US" sz="2800" dirty="0" smtClean="0">
                <a:latin typeface="宋体" pitchFamily="2" charset="-122"/>
                <a:cs typeface="等线" panose="02010600030101010101" charset="-122"/>
              </a:rPr>
              <a:t>例</a:t>
            </a:r>
            <a:r>
              <a:rPr lang="en-US" altLang="zh-CN" sz="2800" dirty="0" smtClean="0"/>
              <a:t>4.59 </a:t>
            </a:r>
            <a:r>
              <a:rPr lang="zh-CN" altLang="en-US" sz="2800" dirty="0" smtClean="0">
                <a:latin typeface="宋体" pitchFamily="2" charset="-122"/>
                <a:cs typeface="等线" panose="02010600030101010101" charset="-122"/>
              </a:rPr>
              <a:t>统计</a:t>
            </a:r>
            <a:r>
              <a:rPr lang="zh-CN" altLang="en-US" sz="2800" dirty="0">
                <a:latin typeface="宋体" pitchFamily="2" charset="-122"/>
                <a:cs typeface="等线" panose="02010600030101010101" charset="-122"/>
              </a:rPr>
              <a:t>每个学生的考试平均成绩，列出学号、考试平均成绩和考试情况。</a:t>
            </a:r>
            <a:endParaRPr lang="en-US" altLang="zh-CN" sz="2800" dirty="0">
              <a:latin typeface="宋体" pitchFamily="2" charset="-122"/>
              <a:cs typeface="等线" panose="02010600030101010101" charset="-122"/>
            </a:endParaRPr>
          </a:p>
          <a:p>
            <a:pPr lvl="1">
              <a:spcBef>
                <a:spcPts val="200"/>
              </a:spcBef>
              <a:buFont typeface="Wingdings" panose="05000000000000000000" pitchFamily="2" charset="2"/>
              <a:buNone/>
            </a:pPr>
            <a:r>
              <a:rPr lang="en-US" altLang="zh-CN" sz="2400" dirty="0">
                <a:solidFill>
                  <a:srgbClr val="0000FF"/>
                </a:solidFill>
                <a:latin typeface="宋体" pitchFamily="2" charset="-122"/>
                <a:cs typeface="等线" panose="02010600030101010101" charset="-122"/>
              </a:rPr>
              <a:t>SELECT Sno </a:t>
            </a:r>
            <a:r>
              <a:rPr lang="zh-CN" altLang="en-US" sz="2400" dirty="0">
                <a:solidFill>
                  <a:srgbClr val="0000FF"/>
                </a:solidFill>
                <a:latin typeface="宋体" pitchFamily="2" charset="-122"/>
                <a:cs typeface="等线" panose="02010600030101010101" charset="-122"/>
              </a:rPr>
              <a:t>学号</a:t>
            </a:r>
            <a:r>
              <a:rPr lang="en-US" altLang="zh-CN" sz="2400" dirty="0">
                <a:solidFill>
                  <a:srgbClr val="0000FF"/>
                </a:solidFill>
                <a:latin typeface="宋体" pitchFamily="2" charset="-122"/>
                <a:cs typeface="等线" panose="02010600030101010101" charset="-122"/>
              </a:rPr>
              <a:t>, AVG(Grade) </a:t>
            </a:r>
            <a:r>
              <a:rPr lang="zh-CN" altLang="en-US" sz="2400" dirty="0">
                <a:solidFill>
                  <a:srgbClr val="0000FF"/>
                </a:solidFill>
                <a:latin typeface="宋体" pitchFamily="2" charset="-122"/>
                <a:cs typeface="等线" panose="02010600030101010101" charset="-122"/>
              </a:rPr>
              <a:t>平均成绩</a:t>
            </a:r>
            <a:r>
              <a:rPr lang="en-US" altLang="zh-CN" sz="2400" dirty="0">
                <a:solidFill>
                  <a:srgbClr val="0000FF"/>
                </a:solidFill>
                <a:latin typeface="宋体" pitchFamily="2" charset="-122"/>
                <a:cs typeface="等线" panose="02010600030101010101" charset="-122"/>
              </a:rPr>
              <a:t>,</a:t>
            </a:r>
            <a:endParaRPr lang="zh-CN" altLang="en-US" sz="2400" dirty="0">
              <a:solidFill>
                <a:srgbClr val="0000FF"/>
              </a:solidFill>
              <a:latin typeface="宋体" pitchFamily="2" charset="-122"/>
              <a:cs typeface="等线" panose="02010600030101010101" charset="-122"/>
            </a:endParaRPr>
          </a:p>
          <a:p>
            <a:pPr lvl="1">
              <a:spcBef>
                <a:spcPts val="200"/>
              </a:spcBef>
              <a:buFont typeface="Wingdings" panose="05000000000000000000" pitchFamily="2" charset="2"/>
              <a:buNone/>
            </a:pPr>
            <a:r>
              <a:rPr lang="en-US" altLang="zh-CN" sz="2400" dirty="0">
                <a:solidFill>
                  <a:srgbClr val="0000FF"/>
                </a:solidFill>
                <a:latin typeface="宋体" pitchFamily="2" charset="-122"/>
                <a:cs typeface="等线" panose="02010600030101010101" charset="-122"/>
              </a:rPr>
              <a:t>  CASE </a:t>
            </a:r>
            <a:endParaRPr lang="zh-CN" altLang="en-US" sz="2400" dirty="0">
              <a:solidFill>
                <a:srgbClr val="0000FF"/>
              </a:solidFill>
              <a:latin typeface="宋体" pitchFamily="2" charset="-122"/>
              <a:cs typeface="等线" panose="02010600030101010101" charset="-122"/>
            </a:endParaRPr>
          </a:p>
          <a:p>
            <a:pPr lvl="1">
              <a:spcBef>
                <a:spcPts val="200"/>
              </a:spcBef>
              <a:buFont typeface="Wingdings" panose="05000000000000000000" pitchFamily="2" charset="2"/>
              <a:buNone/>
            </a:pPr>
            <a:r>
              <a:rPr lang="en-US" altLang="zh-CN" sz="2400" dirty="0">
                <a:solidFill>
                  <a:srgbClr val="0000FF"/>
                </a:solidFill>
                <a:latin typeface="宋体" pitchFamily="2" charset="-122"/>
                <a:cs typeface="等线" panose="02010600030101010101" charset="-122"/>
              </a:rPr>
              <a:t>    WHEN AVG(Grade) &gt;= 90 THEN '</a:t>
            </a:r>
            <a:r>
              <a:rPr lang="zh-CN" altLang="en-US" sz="2400" dirty="0">
                <a:solidFill>
                  <a:srgbClr val="0000FF"/>
                </a:solidFill>
                <a:latin typeface="宋体" pitchFamily="2" charset="-122"/>
                <a:cs typeface="等线" panose="02010600030101010101" charset="-122"/>
              </a:rPr>
              <a:t>好</a:t>
            </a:r>
            <a:r>
              <a:rPr lang="en-US" altLang="zh-CN" sz="2400" dirty="0">
                <a:solidFill>
                  <a:srgbClr val="0000FF"/>
                </a:solidFill>
                <a:latin typeface="宋体" pitchFamily="2" charset="-122"/>
                <a:cs typeface="等线" panose="02010600030101010101" charset="-122"/>
              </a:rPr>
              <a:t>'</a:t>
            </a:r>
            <a:endParaRPr lang="zh-CN" altLang="en-US" sz="2400" dirty="0">
              <a:solidFill>
                <a:srgbClr val="0000FF"/>
              </a:solidFill>
              <a:latin typeface="宋体" pitchFamily="2" charset="-122"/>
              <a:cs typeface="等线" panose="02010600030101010101" charset="-122"/>
            </a:endParaRPr>
          </a:p>
          <a:p>
            <a:pPr lvl="1">
              <a:spcBef>
                <a:spcPts val="200"/>
              </a:spcBef>
              <a:buFont typeface="Wingdings" panose="05000000000000000000" pitchFamily="2" charset="2"/>
              <a:buNone/>
            </a:pPr>
            <a:r>
              <a:rPr lang="en-US" altLang="zh-CN" sz="2400" dirty="0">
                <a:solidFill>
                  <a:srgbClr val="0000FF"/>
                </a:solidFill>
                <a:latin typeface="宋体" pitchFamily="2" charset="-122"/>
                <a:cs typeface="等线" panose="02010600030101010101" charset="-122"/>
              </a:rPr>
              <a:t>    WHEN AVG(Grade) BETWEEN 80 AND 89 THEN '</a:t>
            </a:r>
            <a:r>
              <a:rPr lang="zh-CN" altLang="en-US" sz="2400" dirty="0">
                <a:solidFill>
                  <a:srgbClr val="0000FF"/>
                </a:solidFill>
                <a:latin typeface="宋体" pitchFamily="2" charset="-122"/>
                <a:cs typeface="等线" panose="02010600030101010101" charset="-122"/>
              </a:rPr>
              <a:t>比较好</a:t>
            </a:r>
            <a:r>
              <a:rPr lang="en-US" altLang="zh-CN" sz="2400" dirty="0">
                <a:solidFill>
                  <a:srgbClr val="0000FF"/>
                </a:solidFill>
                <a:latin typeface="宋体" pitchFamily="2" charset="-122"/>
                <a:cs typeface="等线" panose="02010600030101010101" charset="-122"/>
              </a:rPr>
              <a:t>'</a:t>
            </a:r>
            <a:endParaRPr lang="zh-CN" altLang="en-US" sz="2400" dirty="0">
              <a:solidFill>
                <a:srgbClr val="0000FF"/>
              </a:solidFill>
              <a:latin typeface="宋体" pitchFamily="2" charset="-122"/>
              <a:cs typeface="等线" panose="02010600030101010101" charset="-122"/>
            </a:endParaRPr>
          </a:p>
          <a:p>
            <a:pPr lvl="1">
              <a:spcBef>
                <a:spcPts val="200"/>
              </a:spcBef>
              <a:buFont typeface="Wingdings" panose="05000000000000000000" pitchFamily="2" charset="2"/>
              <a:buNone/>
            </a:pPr>
            <a:r>
              <a:rPr lang="en-US" altLang="zh-CN" sz="2400" dirty="0">
                <a:solidFill>
                  <a:srgbClr val="0000FF"/>
                </a:solidFill>
                <a:latin typeface="宋体" pitchFamily="2" charset="-122"/>
                <a:cs typeface="等线" panose="02010600030101010101" charset="-122"/>
              </a:rPr>
              <a:t>    WHEN AVG(Grade) BETWEEN 70 AND 79 THEN '</a:t>
            </a:r>
            <a:r>
              <a:rPr lang="zh-CN" altLang="en-US" sz="2400" dirty="0">
                <a:solidFill>
                  <a:srgbClr val="0000FF"/>
                </a:solidFill>
                <a:latin typeface="宋体" pitchFamily="2" charset="-122"/>
                <a:cs typeface="等线" panose="02010600030101010101" charset="-122"/>
              </a:rPr>
              <a:t>一般</a:t>
            </a:r>
            <a:r>
              <a:rPr lang="en-US" altLang="zh-CN" sz="2400" dirty="0">
                <a:solidFill>
                  <a:srgbClr val="0000FF"/>
                </a:solidFill>
                <a:latin typeface="宋体" pitchFamily="2" charset="-122"/>
                <a:cs typeface="等线" panose="02010600030101010101" charset="-122"/>
              </a:rPr>
              <a:t>'</a:t>
            </a:r>
            <a:endParaRPr lang="zh-CN" altLang="en-US" sz="2400" dirty="0">
              <a:solidFill>
                <a:srgbClr val="0000FF"/>
              </a:solidFill>
              <a:latin typeface="宋体" pitchFamily="2" charset="-122"/>
              <a:cs typeface="等线" panose="02010600030101010101" charset="-122"/>
            </a:endParaRPr>
          </a:p>
          <a:p>
            <a:pPr lvl="1">
              <a:spcBef>
                <a:spcPts val="200"/>
              </a:spcBef>
              <a:buFont typeface="Wingdings" panose="05000000000000000000" pitchFamily="2" charset="2"/>
              <a:buNone/>
            </a:pPr>
            <a:r>
              <a:rPr lang="en-US" altLang="zh-CN" sz="2400" dirty="0">
                <a:solidFill>
                  <a:srgbClr val="0000FF"/>
                </a:solidFill>
                <a:latin typeface="宋体" pitchFamily="2" charset="-122"/>
                <a:cs typeface="等线" panose="02010600030101010101" charset="-122"/>
              </a:rPr>
              <a:t>    WHEN AVG(Grade) BETWEEN 60 AND 69 THEN '</a:t>
            </a:r>
            <a:r>
              <a:rPr lang="zh-CN" altLang="en-US" sz="2400" dirty="0">
                <a:solidFill>
                  <a:srgbClr val="0000FF"/>
                </a:solidFill>
                <a:latin typeface="宋体" pitchFamily="2" charset="-122"/>
                <a:cs typeface="等线" panose="02010600030101010101" charset="-122"/>
              </a:rPr>
              <a:t>不太好</a:t>
            </a:r>
            <a:r>
              <a:rPr lang="en-US" altLang="zh-CN" sz="2400" dirty="0">
                <a:solidFill>
                  <a:srgbClr val="0000FF"/>
                </a:solidFill>
                <a:latin typeface="宋体" pitchFamily="2" charset="-122"/>
                <a:cs typeface="等线" panose="02010600030101010101" charset="-122"/>
              </a:rPr>
              <a:t>'</a:t>
            </a:r>
            <a:endParaRPr lang="zh-CN" altLang="en-US" sz="2400" dirty="0">
              <a:solidFill>
                <a:srgbClr val="0000FF"/>
              </a:solidFill>
              <a:latin typeface="宋体" pitchFamily="2" charset="-122"/>
              <a:cs typeface="等线" panose="02010600030101010101" charset="-122"/>
            </a:endParaRPr>
          </a:p>
          <a:p>
            <a:pPr lvl="1">
              <a:spcBef>
                <a:spcPts val="200"/>
              </a:spcBef>
              <a:buFont typeface="Wingdings" panose="05000000000000000000" pitchFamily="2" charset="2"/>
              <a:buNone/>
            </a:pPr>
            <a:r>
              <a:rPr lang="en-US" altLang="zh-CN" sz="2400" dirty="0">
                <a:solidFill>
                  <a:srgbClr val="0000FF"/>
                </a:solidFill>
                <a:latin typeface="宋体" pitchFamily="2" charset="-122"/>
                <a:cs typeface="等线" panose="02010600030101010101" charset="-122"/>
              </a:rPr>
              <a:t>    WHEN AVG(Grade) &lt; 60 THEN '</a:t>
            </a:r>
            <a:r>
              <a:rPr lang="zh-CN" altLang="en-US" sz="2400" dirty="0">
                <a:solidFill>
                  <a:srgbClr val="0000FF"/>
                </a:solidFill>
                <a:latin typeface="宋体" pitchFamily="2" charset="-122"/>
                <a:cs typeface="等线" panose="02010600030101010101" charset="-122"/>
              </a:rPr>
              <a:t>比较差</a:t>
            </a:r>
            <a:r>
              <a:rPr lang="en-US" altLang="zh-CN" sz="2400" dirty="0">
                <a:solidFill>
                  <a:srgbClr val="0000FF"/>
                </a:solidFill>
                <a:latin typeface="宋体" pitchFamily="2" charset="-122"/>
                <a:cs typeface="等线" panose="02010600030101010101" charset="-122"/>
              </a:rPr>
              <a:t>'</a:t>
            </a:r>
            <a:endParaRPr lang="zh-CN" altLang="en-US" sz="2400" dirty="0">
              <a:solidFill>
                <a:srgbClr val="0000FF"/>
              </a:solidFill>
              <a:latin typeface="宋体" pitchFamily="2" charset="-122"/>
              <a:cs typeface="等线" panose="02010600030101010101" charset="-122"/>
            </a:endParaRPr>
          </a:p>
          <a:p>
            <a:pPr lvl="1">
              <a:spcBef>
                <a:spcPts val="200"/>
              </a:spcBef>
              <a:buFont typeface="Wingdings" panose="05000000000000000000" pitchFamily="2" charset="2"/>
              <a:buNone/>
            </a:pPr>
            <a:r>
              <a:rPr lang="en-US" altLang="zh-CN" sz="2400" dirty="0">
                <a:solidFill>
                  <a:srgbClr val="0000FF"/>
                </a:solidFill>
                <a:latin typeface="宋体" pitchFamily="2" charset="-122"/>
                <a:cs typeface="等线" panose="02010600030101010101" charset="-122"/>
              </a:rPr>
              <a:t>  END AS </a:t>
            </a:r>
            <a:r>
              <a:rPr lang="zh-CN" altLang="en-US" sz="2400" dirty="0">
                <a:solidFill>
                  <a:srgbClr val="0000FF"/>
                </a:solidFill>
                <a:latin typeface="宋体" pitchFamily="2" charset="-122"/>
                <a:cs typeface="等线" panose="02010600030101010101" charset="-122"/>
              </a:rPr>
              <a:t>考试情况</a:t>
            </a:r>
          </a:p>
          <a:p>
            <a:pPr lvl="1">
              <a:spcBef>
                <a:spcPts val="200"/>
              </a:spcBef>
              <a:buFont typeface="Wingdings" panose="05000000000000000000" pitchFamily="2" charset="2"/>
              <a:buNone/>
            </a:pPr>
            <a:r>
              <a:rPr lang="en-US" altLang="zh-CN" sz="2400" dirty="0">
                <a:solidFill>
                  <a:srgbClr val="0000FF"/>
                </a:solidFill>
                <a:latin typeface="宋体" pitchFamily="2" charset="-122"/>
                <a:cs typeface="等线" panose="02010600030101010101" charset="-122"/>
              </a:rPr>
              <a:t>  FROM SC</a:t>
            </a:r>
            <a:endParaRPr lang="zh-CN" altLang="en-US" sz="2400" dirty="0">
              <a:solidFill>
                <a:srgbClr val="0000FF"/>
              </a:solidFill>
              <a:latin typeface="宋体" pitchFamily="2" charset="-122"/>
              <a:cs typeface="等线" panose="02010600030101010101" charset="-122"/>
            </a:endParaRPr>
          </a:p>
          <a:p>
            <a:pPr lvl="1">
              <a:spcBef>
                <a:spcPts val="200"/>
              </a:spcBef>
              <a:buFont typeface="Wingdings" panose="05000000000000000000" pitchFamily="2" charset="2"/>
              <a:buNone/>
            </a:pPr>
            <a:r>
              <a:rPr lang="en-US" altLang="zh-CN" sz="2400" dirty="0">
                <a:solidFill>
                  <a:srgbClr val="0000FF"/>
                </a:solidFill>
                <a:latin typeface="宋体" pitchFamily="2" charset="-122"/>
                <a:cs typeface="等线" panose="02010600030101010101" charset="-122"/>
              </a:rPr>
              <a:t>GROUP BY Sno</a:t>
            </a:r>
            <a:endParaRPr lang="zh-CN" altLang="en-US" sz="2600" dirty="0">
              <a:solidFill>
                <a:srgbClr val="0000FF"/>
              </a:solidFill>
              <a:latin typeface="宋体" pitchFamily="2" charset="-122"/>
              <a:cs typeface="等线" panose="02010600030101010101" charset="-122"/>
            </a:endParaRPr>
          </a:p>
        </p:txBody>
      </p:sp>
    </p:spTree>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标题 1"/>
          <p:cNvSpPr>
            <a:spLocks noGrp="1"/>
          </p:cNvSpPr>
          <p:nvPr>
            <p:ph type="title"/>
          </p:nvPr>
        </p:nvSpPr>
        <p:spPr>
          <a:xfrm>
            <a:off x="500063" y="152400"/>
            <a:ext cx="8001000" cy="685800"/>
          </a:xfrm>
          <a:noFill/>
          <a:ln w="9525">
            <a:noFill/>
          </a:ln>
        </p:spPr>
        <p:txBody>
          <a:bodyPr vert="horz" wrap="square" lIns="91440" tIns="45720" rIns="91440" bIns="45720" rtlCol="0" anchor="ctr" anchorCtr="0">
            <a:normAutofit fontScale="90000"/>
          </a:bodyPr>
          <a:lstStyle/>
          <a:p>
            <a:pPr lvl="0" algn="ctr" eaLnBrk="1" hangingPunct="1">
              <a:buClrTx/>
              <a:buSzTx/>
              <a:buFontTx/>
            </a:pPr>
            <a:r>
              <a:rPr lang="zh-CN" altLang="en-US" sz="4000" b="0" dirty="0">
                <a:latin typeface="黑体" panose="02010609060101010101" pitchFamily="2" charset="-122"/>
                <a:ea typeface="黑体" panose="02010609060101010101" pitchFamily="2" charset="-122"/>
                <a:sym typeface="+mn-ea"/>
              </a:rPr>
              <a:t>4.1.5 合并多个结果集</a:t>
            </a:r>
          </a:p>
        </p:txBody>
      </p:sp>
      <p:sp>
        <p:nvSpPr>
          <p:cNvPr id="93187" name="内容占位符 2"/>
          <p:cNvSpPr>
            <a:spLocks noGrp="1"/>
          </p:cNvSpPr>
          <p:nvPr>
            <p:ph idx="1"/>
          </p:nvPr>
        </p:nvSpPr>
        <p:spPr>
          <a:xfrm>
            <a:off x="457200" y="1214438"/>
            <a:ext cx="8115300" cy="4957762"/>
          </a:xfrm>
        </p:spPr>
        <p:txBody>
          <a:bodyPr vert="horz" wrap="square" lIns="91440" tIns="45720" rIns="91440" bIns="45720" anchor="t" anchorCtr="0"/>
          <a:lstStyle/>
          <a:p>
            <a:r>
              <a:rPr lang="zh-CN" altLang="en-US" sz="3200" dirty="0">
                <a:latin typeface="宋体" pitchFamily="2" charset="-122"/>
                <a:cs typeface="等线" panose="02010600030101010101" charset="-122"/>
              </a:rPr>
              <a:t>使用</a:t>
            </a:r>
            <a:r>
              <a:rPr lang="en-US" altLang="zh-CN" sz="3200" dirty="0">
                <a:latin typeface="宋体" pitchFamily="2" charset="-122"/>
                <a:cs typeface="等线" panose="02010600030101010101" charset="-122"/>
              </a:rPr>
              <a:t> UNION</a:t>
            </a:r>
            <a:r>
              <a:rPr lang="zh-CN" altLang="en-US" sz="3200" dirty="0">
                <a:latin typeface="宋体" pitchFamily="2" charset="-122"/>
                <a:cs typeface="等线" panose="02010600030101010101" charset="-122"/>
              </a:rPr>
              <a:t>可以实现将多个查询结果集合并为一个结果集。</a:t>
            </a:r>
          </a:p>
          <a:p>
            <a:pPr lvl="1">
              <a:buFont typeface="Wingdings" panose="05000000000000000000" pitchFamily="2" charset="2"/>
              <a:buNone/>
            </a:pPr>
            <a:r>
              <a:rPr lang="en-US" altLang="zh-CN" dirty="0">
                <a:solidFill>
                  <a:srgbClr val="0000FF"/>
                </a:solidFill>
                <a:latin typeface="宋体" pitchFamily="2" charset="-122"/>
                <a:cs typeface="等线" panose="02010600030101010101" charset="-122"/>
              </a:rPr>
              <a:t>SELECT </a:t>
            </a:r>
            <a:r>
              <a:rPr lang="zh-CN" altLang="en-US" dirty="0">
                <a:solidFill>
                  <a:srgbClr val="0000FF"/>
                </a:solidFill>
                <a:latin typeface="宋体" pitchFamily="2" charset="-122"/>
                <a:cs typeface="等线" panose="02010600030101010101" charset="-122"/>
              </a:rPr>
              <a:t>语句</a:t>
            </a:r>
            <a:r>
              <a:rPr lang="en-US" altLang="zh-CN" dirty="0">
                <a:solidFill>
                  <a:srgbClr val="0000FF"/>
                </a:solidFill>
                <a:latin typeface="宋体" pitchFamily="2" charset="-122"/>
                <a:cs typeface="等线" panose="02010600030101010101" charset="-122"/>
              </a:rPr>
              <a:t>1</a:t>
            </a:r>
            <a:endParaRPr lang="zh-CN" altLang="en-US" dirty="0">
              <a:solidFill>
                <a:srgbClr val="0000FF"/>
              </a:solidFill>
              <a:latin typeface="宋体" pitchFamily="2" charset="-122"/>
              <a:cs typeface="等线" panose="02010600030101010101" charset="-122"/>
            </a:endParaRPr>
          </a:p>
          <a:p>
            <a:pPr lvl="1">
              <a:buFont typeface="Wingdings" panose="05000000000000000000" pitchFamily="2" charset="2"/>
              <a:buNone/>
            </a:pPr>
            <a:r>
              <a:rPr lang="en-US" altLang="zh-CN" dirty="0">
                <a:solidFill>
                  <a:srgbClr val="FF0000"/>
                </a:solidFill>
                <a:latin typeface="宋体" pitchFamily="2" charset="-122"/>
                <a:cs typeface="等线" panose="02010600030101010101" charset="-122"/>
              </a:rPr>
              <a:t>UNION [ ALL ]</a:t>
            </a:r>
            <a:endParaRPr lang="zh-CN" altLang="en-US" dirty="0">
              <a:solidFill>
                <a:srgbClr val="FF0000"/>
              </a:solidFill>
              <a:latin typeface="宋体" pitchFamily="2" charset="-122"/>
              <a:cs typeface="等线" panose="02010600030101010101" charset="-122"/>
            </a:endParaRPr>
          </a:p>
          <a:p>
            <a:pPr lvl="1">
              <a:buFont typeface="Wingdings" panose="05000000000000000000" pitchFamily="2" charset="2"/>
              <a:buNone/>
            </a:pPr>
            <a:r>
              <a:rPr lang="en-US" altLang="zh-CN" dirty="0">
                <a:solidFill>
                  <a:srgbClr val="0000FF"/>
                </a:solidFill>
                <a:latin typeface="宋体" pitchFamily="2" charset="-122"/>
                <a:cs typeface="等线" panose="02010600030101010101" charset="-122"/>
              </a:rPr>
              <a:t>SELECT </a:t>
            </a:r>
            <a:r>
              <a:rPr lang="zh-CN" altLang="en-US" dirty="0">
                <a:solidFill>
                  <a:srgbClr val="0000FF"/>
                </a:solidFill>
                <a:latin typeface="宋体" pitchFamily="2" charset="-122"/>
                <a:cs typeface="等线" panose="02010600030101010101" charset="-122"/>
              </a:rPr>
              <a:t>语句</a:t>
            </a:r>
            <a:r>
              <a:rPr lang="en-US" altLang="zh-CN" dirty="0">
                <a:solidFill>
                  <a:srgbClr val="0000FF"/>
                </a:solidFill>
                <a:latin typeface="宋体" pitchFamily="2" charset="-122"/>
                <a:cs typeface="等线" panose="02010600030101010101" charset="-122"/>
              </a:rPr>
              <a:t>2</a:t>
            </a:r>
            <a:endParaRPr lang="zh-CN" altLang="en-US" dirty="0">
              <a:solidFill>
                <a:srgbClr val="0000FF"/>
              </a:solidFill>
              <a:latin typeface="宋体" pitchFamily="2" charset="-122"/>
              <a:cs typeface="等线" panose="02010600030101010101" charset="-122"/>
            </a:endParaRPr>
          </a:p>
          <a:p>
            <a:pPr lvl="1">
              <a:buFont typeface="Wingdings" panose="05000000000000000000" pitchFamily="2" charset="2"/>
              <a:buNone/>
            </a:pPr>
            <a:r>
              <a:rPr lang="en-US" altLang="zh-CN" dirty="0">
                <a:solidFill>
                  <a:srgbClr val="FF0000"/>
                </a:solidFill>
                <a:latin typeface="宋体" pitchFamily="2" charset="-122"/>
                <a:cs typeface="等线" panose="02010600030101010101" charset="-122"/>
              </a:rPr>
              <a:t>UNION [ ALL ]</a:t>
            </a:r>
            <a:endParaRPr lang="zh-CN" altLang="en-US" dirty="0">
              <a:solidFill>
                <a:srgbClr val="FF0000"/>
              </a:solidFill>
              <a:latin typeface="宋体" pitchFamily="2" charset="-122"/>
              <a:cs typeface="等线" panose="02010600030101010101" charset="-122"/>
            </a:endParaRPr>
          </a:p>
          <a:p>
            <a:pPr lvl="1">
              <a:buFont typeface="Wingdings" panose="05000000000000000000" pitchFamily="2" charset="2"/>
              <a:buNone/>
            </a:pPr>
            <a:r>
              <a:rPr lang="en-US" altLang="zh-CN" dirty="0">
                <a:solidFill>
                  <a:srgbClr val="0000FF"/>
                </a:solidFill>
                <a:latin typeface="宋体" pitchFamily="2" charset="-122"/>
                <a:cs typeface="等线" panose="02010600030101010101" charset="-122"/>
              </a:rPr>
              <a:t>… …</a:t>
            </a:r>
            <a:endParaRPr lang="zh-CN" altLang="en-US" dirty="0">
              <a:solidFill>
                <a:srgbClr val="0000FF"/>
              </a:solidFill>
              <a:latin typeface="宋体" pitchFamily="2" charset="-122"/>
              <a:cs typeface="等线" panose="02010600030101010101" charset="-122"/>
            </a:endParaRPr>
          </a:p>
          <a:p>
            <a:pPr lvl="1">
              <a:buFont typeface="Wingdings" panose="05000000000000000000" pitchFamily="2" charset="2"/>
              <a:buNone/>
            </a:pPr>
            <a:r>
              <a:rPr lang="en-US" altLang="zh-CN" dirty="0">
                <a:solidFill>
                  <a:srgbClr val="0000FF"/>
                </a:solidFill>
                <a:latin typeface="宋体" pitchFamily="2" charset="-122"/>
                <a:cs typeface="等线" panose="02010600030101010101" charset="-122"/>
              </a:rPr>
              <a:t>SELECT</a:t>
            </a:r>
            <a:r>
              <a:rPr lang="zh-CN" altLang="en-US" dirty="0">
                <a:solidFill>
                  <a:srgbClr val="0000FF"/>
                </a:solidFill>
                <a:latin typeface="宋体" pitchFamily="2" charset="-122"/>
                <a:cs typeface="等线" panose="02010600030101010101" charset="-122"/>
              </a:rPr>
              <a:t>语句</a:t>
            </a:r>
            <a:r>
              <a:rPr lang="en-US" altLang="zh-CN" dirty="0">
                <a:solidFill>
                  <a:srgbClr val="0000FF"/>
                </a:solidFill>
                <a:latin typeface="宋体" pitchFamily="2" charset="-122"/>
                <a:cs typeface="等线" panose="02010600030101010101" charset="-122"/>
              </a:rPr>
              <a:t>n</a:t>
            </a:r>
            <a:endParaRPr lang="zh-CN" altLang="en-US" dirty="0">
              <a:solidFill>
                <a:srgbClr val="0000FF"/>
              </a:solidFill>
              <a:latin typeface="宋体" pitchFamily="2" charset="-122"/>
              <a:cs typeface="等线" panose="02010600030101010101" charset="-122"/>
            </a:endParaRPr>
          </a:p>
          <a:p>
            <a:endParaRPr lang="zh-CN" altLang="en-US" sz="3200" dirty="0">
              <a:latin typeface="宋体" pitchFamily="2" charset="-122"/>
              <a:cs typeface="等线" panose="02010600030101010101" charset="-122"/>
            </a:endParaRPr>
          </a:p>
        </p:txBody>
      </p:sp>
      <p:sp>
        <p:nvSpPr>
          <p:cNvPr id="93188" name="圆角矩形标注 3"/>
          <p:cNvSpPr/>
          <p:nvPr/>
        </p:nvSpPr>
        <p:spPr>
          <a:xfrm>
            <a:off x="4357688" y="2714625"/>
            <a:ext cx="4000500" cy="2000250"/>
          </a:xfrm>
          <a:prstGeom prst="wedgeRoundRectCallout">
            <a:avLst>
              <a:gd name="adj1" fmla="val -69241"/>
              <a:gd name="adj2" fmla="val -25806"/>
              <a:gd name="adj3" fmla="val 16667"/>
            </a:avLst>
          </a:prstGeom>
          <a:noFill/>
          <a:ln w="9525" cap="flat" cmpd="sng">
            <a:solidFill>
              <a:schemeClr val="tx1"/>
            </a:solidFill>
            <a:prstDash val="solid"/>
            <a:round/>
            <a:headEnd type="none" w="med" len="med"/>
            <a:tailEnd type="none" w="med" len="med"/>
          </a:ln>
        </p:spPr>
        <p:txBody>
          <a:bodyPr/>
          <a:lstStyle/>
          <a:p>
            <a:pPr algn="just"/>
            <a:r>
              <a:rPr lang="en-US" altLang="zh-CN" sz="2400" dirty="0">
                <a:solidFill>
                  <a:srgbClr val="009900"/>
                </a:solidFill>
                <a:latin typeface="等线" panose="02010600030101010101" charset="-122"/>
                <a:ea typeface="等线" panose="02010600030101010101" charset="-122"/>
                <a:cs typeface="等线" panose="02010600030101010101" charset="-122"/>
              </a:rPr>
              <a:t>ALL</a:t>
            </a:r>
            <a:r>
              <a:rPr lang="zh-CN" altLang="en-US" sz="2400" dirty="0">
                <a:solidFill>
                  <a:srgbClr val="009900"/>
                </a:solidFill>
                <a:latin typeface="等线" panose="02010600030101010101" charset="-122"/>
                <a:ea typeface="等线" panose="02010600030101010101" charset="-122"/>
                <a:cs typeface="等线" panose="02010600030101010101" charset="-122"/>
              </a:rPr>
              <a:t>表示在结果集中不去除重复的记录。如果没有指定</a:t>
            </a:r>
            <a:r>
              <a:rPr lang="en-US" altLang="zh-CN" sz="2400" dirty="0">
                <a:solidFill>
                  <a:srgbClr val="009900"/>
                </a:solidFill>
                <a:latin typeface="等线" panose="02010600030101010101" charset="-122"/>
                <a:ea typeface="等线" panose="02010600030101010101" charset="-122"/>
                <a:cs typeface="等线" panose="02010600030101010101" charset="-122"/>
              </a:rPr>
              <a:t>ALL</a:t>
            </a:r>
            <a:r>
              <a:rPr lang="zh-CN" altLang="en-US" sz="2400" dirty="0">
                <a:solidFill>
                  <a:srgbClr val="009900"/>
                </a:solidFill>
                <a:latin typeface="等线" panose="02010600030101010101" charset="-122"/>
                <a:ea typeface="等线" panose="02010600030101010101" charset="-122"/>
                <a:cs typeface="等线" panose="02010600030101010101" charset="-122"/>
              </a:rPr>
              <a:t>，则去除合并后结果集中的重复记录。</a:t>
            </a:r>
          </a:p>
        </p:txBody>
      </p:sp>
    </p:spTree>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标题 1"/>
          <p:cNvSpPr>
            <a:spLocks noGrp="1"/>
          </p:cNvSpPr>
          <p:nvPr>
            <p:ph type="title"/>
          </p:nvPr>
        </p:nvSpPr>
        <p:spPr>
          <a:xfrm>
            <a:off x="500063" y="152400"/>
            <a:ext cx="8001000" cy="685800"/>
          </a:xfrm>
          <a:noFill/>
          <a:ln w="9525">
            <a:noFill/>
          </a:ln>
        </p:spPr>
        <p:txBody>
          <a:bodyPr vert="horz" wrap="square" lIns="91440" tIns="45720" rIns="91440" bIns="45720" rtlCol="0" anchor="ctr" anchorCtr="0">
            <a:normAutofit fontScale="90000"/>
          </a:bodyPr>
          <a:lstStyle/>
          <a:p>
            <a:pPr lvl="0" algn="ctr" eaLnBrk="1" hangingPunct="1">
              <a:buClrTx/>
              <a:buSzTx/>
              <a:buFontTx/>
            </a:pPr>
            <a:r>
              <a:rPr lang="zh-CN" altLang="en-US" sz="4000" b="0" dirty="0">
                <a:latin typeface="黑体" panose="02010609060101010101" pitchFamily="2" charset="-122"/>
                <a:ea typeface="黑体" panose="02010609060101010101" pitchFamily="2" charset="-122"/>
                <a:sym typeface="+mn-ea"/>
              </a:rPr>
              <a:t>使用UNION的基本规则</a:t>
            </a:r>
          </a:p>
        </p:txBody>
      </p:sp>
      <p:sp>
        <p:nvSpPr>
          <p:cNvPr id="94211" name="内容占位符 2"/>
          <p:cNvSpPr>
            <a:spLocks noGrp="1"/>
          </p:cNvSpPr>
          <p:nvPr>
            <p:ph idx="1"/>
          </p:nvPr>
        </p:nvSpPr>
        <p:spPr>
          <a:xfrm>
            <a:off x="395536" y="1484784"/>
            <a:ext cx="8229600" cy="4039344"/>
          </a:xfrm>
        </p:spPr>
        <p:txBody>
          <a:bodyPr vert="horz" wrap="square" lIns="91440" tIns="45720" rIns="91440" bIns="45720" anchor="t" anchorCtr="0"/>
          <a:lstStyle/>
          <a:p>
            <a:pPr algn="just">
              <a:spcBef>
                <a:spcPts val="1800"/>
              </a:spcBef>
            </a:pPr>
            <a:r>
              <a:rPr lang="zh-CN" altLang="en-US" dirty="0">
                <a:latin typeface="宋体" pitchFamily="2" charset="-122"/>
                <a:cs typeface="等线" panose="02010600030101010101" charset="-122"/>
              </a:rPr>
              <a:t>所有查询语句中列的</a:t>
            </a:r>
            <a:r>
              <a:rPr lang="zh-CN" altLang="en-US" dirty="0">
                <a:solidFill>
                  <a:srgbClr val="FF0000"/>
                </a:solidFill>
                <a:latin typeface="宋体" pitchFamily="2" charset="-122"/>
                <a:cs typeface="等线" panose="02010600030101010101" charset="-122"/>
              </a:rPr>
              <a:t>个数</a:t>
            </a:r>
            <a:r>
              <a:rPr lang="zh-CN" altLang="en-US" dirty="0">
                <a:latin typeface="宋体" pitchFamily="2" charset="-122"/>
                <a:cs typeface="等线" panose="02010600030101010101" charset="-122"/>
              </a:rPr>
              <a:t>和列的顺序必须相同。</a:t>
            </a:r>
          </a:p>
          <a:p>
            <a:pPr algn="just">
              <a:spcBef>
                <a:spcPts val="1800"/>
              </a:spcBef>
            </a:pPr>
            <a:r>
              <a:rPr lang="zh-CN" altLang="en-US" dirty="0">
                <a:latin typeface="宋体" pitchFamily="2" charset="-122"/>
                <a:cs typeface="等线" panose="02010600030101010101" charset="-122"/>
              </a:rPr>
              <a:t>所有查询语句中对应列的</a:t>
            </a:r>
            <a:r>
              <a:rPr lang="zh-CN" altLang="en-US" dirty="0">
                <a:solidFill>
                  <a:srgbClr val="FF0000"/>
                </a:solidFill>
                <a:latin typeface="宋体" pitchFamily="2" charset="-122"/>
                <a:cs typeface="等线" panose="02010600030101010101" charset="-122"/>
              </a:rPr>
              <a:t>数据类型</a:t>
            </a:r>
            <a:r>
              <a:rPr lang="zh-CN" altLang="en-US" dirty="0">
                <a:latin typeface="宋体" pitchFamily="2" charset="-122"/>
                <a:cs typeface="等线" panose="02010600030101010101" charset="-122"/>
              </a:rPr>
              <a:t>必须兼容。</a:t>
            </a:r>
            <a:endParaRPr lang="en-US" altLang="zh-CN" dirty="0">
              <a:latin typeface="宋体" pitchFamily="2" charset="-122"/>
              <a:cs typeface="等线" panose="02010600030101010101" charset="-122"/>
            </a:endParaRPr>
          </a:p>
          <a:p>
            <a:pPr algn="just">
              <a:spcBef>
                <a:spcPts val="1800"/>
              </a:spcBef>
            </a:pPr>
            <a:r>
              <a:rPr lang="en-US" altLang="zh-CN" dirty="0">
                <a:latin typeface="宋体" pitchFamily="2" charset="-122"/>
                <a:cs typeface="等线" panose="02010600030101010101" charset="-122"/>
              </a:rPr>
              <a:t>ORDER BY</a:t>
            </a:r>
            <a:r>
              <a:rPr lang="zh-CN" altLang="en-US" dirty="0">
                <a:latin typeface="宋体" pitchFamily="2" charset="-122"/>
                <a:cs typeface="等线" panose="02010600030101010101" charset="-122"/>
              </a:rPr>
              <a:t>语句要放在最后一个查询语句的后边。</a:t>
            </a:r>
          </a:p>
          <a:p>
            <a:pPr algn="just"/>
            <a:endParaRPr lang="zh-CN" altLang="en-US" dirty="0">
              <a:latin typeface="宋体" pitchFamily="2" charset="-122"/>
              <a:cs typeface="等线" panose="02010600030101010101" charset="-122"/>
            </a:endParaRPr>
          </a:p>
        </p:txBody>
      </p:sp>
    </p:spTree>
  </p:cSld>
  <p:clrMapOvr>
    <a:masterClrMapping/>
  </p:clrMapOvr>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标题 1"/>
          <p:cNvSpPr>
            <a:spLocks noGrp="1"/>
          </p:cNvSpPr>
          <p:nvPr>
            <p:ph type="title"/>
          </p:nvPr>
        </p:nvSpPr>
        <p:spPr>
          <a:xfrm>
            <a:off x="500063" y="152400"/>
            <a:ext cx="8001000" cy="685800"/>
          </a:xfrm>
          <a:noFill/>
          <a:ln w="9525">
            <a:noFill/>
          </a:ln>
        </p:spPr>
        <p:txBody>
          <a:bodyPr vert="horz" wrap="square" lIns="91440" tIns="45720" rIns="91440" bIns="45720" rtlCol="0" anchor="ctr" anchorCtr="0">
            <a:normAutofit fontScale="90000"/>
          </a:bodyPr>
          <a:lstStyle/>
          <a:p>
            <a:pPr lvl="0" algn="ctr" eaLnBrk="1" hangingPunct="1">
              <a:buClrTx/>
              <a:buSzTx/>
              <a:buFontTx/>
            </a:pPr>
            <a:r>
              <a:rPr lang="zh-CN" altLang="en-US" sz="4000" b="0" dirty="0">
                <a:latin typeface="黑体" panose="02010609060101010101" pitchFamily="2" charset="-122"/>
                <a:ea typeface="黑体" panose="02010609060101010101" pitchFamily="2" charset="-122"/>
                <a:sym typeface="+mn-ea"/>
              </a:rPr>
              <a:t>示例</a:t>
            </a:r>
          </a:p>
        </p:txBody>
      </p:sp>
      <p:sp>
        <p:nvSpPr>
          <p:cNvPr id="95235" name="内容占位符 2"/>
          <p:cNvSpPr>
            <a:spLocks noGrp="1"/>
          </p:cNvSpPr>
          <p:nvPr>
            <p:ph idx="1"/>
          </p:nvPr>
        </p:nvSpPr>
        <p:spPr>
          <a:xfrm>
            <a:off x="214313" y="1295400"/>
            <a:ext cx="8643937" cy="4876800"/>
          </a:xfrm>
        </p:spPr>
        <p:txBody>
          <a:bodyPr vert="horz" wrap="square" lIns="91440" tIns="45720" rIns="91440" bIns="45720" anchor="t" anchorCtr="0"/>
          <a:lstStyle/>
          <a:p>
            <a:pPr marL="0" indent="0">
              <a:buNone/>
            </a:pPr>
            <a:r>
              <a:rPr lang="zh-CN" altLang="en-US" sz="3200" dirty="0" smtClean="0">
                <a:latin typeface="宋体" pitchFamily="2" charset="-122"/>
                <a:cs typeface="等线" panose="02010600030101010101" charset="-122"/>
              </a:rPr>
              <a:t>例</a:t>
            </a:r>
            <a:r>
              <a:rPr lang="en-US" altLang="zh-CN" sz="3200" dirty="0" smtClean="0"/>
              <a:t>4.60 </a:t>
            </a:r>
            <a:r>
              <a:rPr lang="zh-CN" altLang="en-US" sz="3200" dirty="0" smtClean="0">
                <a:latin typeface="宋体" pitchFamily="2" charset="-122"/>
                <a:cs typeface="等线" panose="02010600030101010101" charset="-122"/>
              </a:rPr>
              <a:t>将</a:t>
            </a:r>
            <a:r>
              <a:rPr lang="zh-CN" altLang="en-US" sz="3200" dirty="0">
                <a:latin typeface="宋体" pitchFamily="2" charset="-122"/>
                <a:cs typeface="等线" panose="02010600030101010101" charset="-122"/>
              </a:rPr>
              <a:t>对计算机系学生的查询结果与信息管理系学生的查询结果合并为一个结果集。</a:t>
            </a:r>
          </a:p>
          <a:p>
            <a:pPr algn="just">
              <a:buFont typeface="Wingdings" panose="05000000000000000000" pitchFamily="2" charset="2"/>
              <a:buNone/>
            </a:pPr>
            <a:r>
              <a:rPr lang="en-US" altLang="zh-CN" sz="3200" dirty="0">
                <a:solidFill>
                  <a:srgbClr val="0000FF"/>
                </a:solidFill>
                <a:latin typeface="宋体" pitchFamily="2" charset="-122"/>
                <a:cs typeface="等线" panose="02010600030101010101" charset="-122"/>
              </a:rPr>
              <a:t>SELECT </a:t>
            </a:r>
            <a:r>
              <a:rPr lang="en-US" altLang="zh-CN" sz="3200" dirty="0" err="1" smtClean="0">
                <a:solidFill>
                  <a:srgbClr val="0000FF"/>
                </a:solidFill>
                <a:latin typeface="宋体" pitchFamily="2" charset="-122"/>
                <a:cs typeface="等线" panose="02010600030101010101" charset="-122"/>
              </a:rPr>
              <a:t>Sno,Sname,Sage,Sdept</a:t>
            </a:r>
            <a:r>
              <a:rPr lang="en-US" altLang="zh-CN" sz="3200" dirty="0" smtClean="0">
                <a:solidFill>
                  <a:srgbClr val="0000FF"/>
                </a:solidFill>
                <a:latin typeface="宋体" pitchFamily="2" charset="-122"/>
                <a:cs typeface="等线" panose="02010600030101010101" charset="-122"/>
              </a:rPr>
              <a:t> </a:t>
            </a:r>
            <a:endParaRPr lang="en-US" altLang="zh-CN" sz="3200" dirty="0">
              <a:solidFill>
                <a:srgbClr val="0000FF"/>
              </a:solidFill>
              <a:latin typeface="宋体" pitchFamily="2" charset="-122"/>
              <a:cs typeface="等线" panose="02010600030101010101" charset="-122"/>
            </a:endParaRPr>
          </a:p>
          <a:p>
            <a:pPr algn="just">
              <a:buFont typeface="Wingdings" panose="05000000000000000000" pitchFamily="2" charset="2"/>
              <a:buNone/>
            </a:pPr>
            <a:r>
              <a:rPr lang="en-US" altLang="zh-CN" sz="3200" dirty="0">
                <a:solidFill>
                  <a:srgbClr val="0000FF"/>
                </a:solidFill>
                <a:latin typeface="宋体" pitchFamily="2" charset="-122"/>
                <a:cs typeface="等线" panose="02010600030101010101" charset="-122"/>
              </a:rPr>
              <a:t>  FROM Student WHERE Sdept = '</a:t>
            </a:r>
            <a:r>
              <a:rPr lang="zh-CN" altLang="en-US" sz="3200" dirty="0">
                <a:solidFill>
                  <a:srgbClr val="0000FF"/>
                </a:solidFill>
                <a:latin typeface="宋体" pitchFamily="2" charset="-122"/>
                <a:cs typeface="等线" panose="02010600030101010101" charset="-122"/>
              </a:rPr>
              <a:t>计算机系</a:t>
            </a:r>
            <a:r>
              <a:rPr lang="en-US" altLang="zh-CN" sz="3200" dirty="0">
                <a:solidFill>
                  <a:srgbClr val="0000FF"/>
                </a:solidFill>
                <a:latin typeface="宋体" pitchFamily="2" charset="-122"/>
                <a:cs typeface="等线" panose="02010600030101010101" charset="-122"/>
              </a:rPr>
              <a:t>'</a:t>
            </a:r>
            <a:endParaRPr lang="zh-CN" altLang="en-US" sz="3200" dirty="0">
              <a:solidFill>
                <a:srgbClr val="0000FF"/>
              </a:solidFill>
              <a:latin typeface="宋体" pitchFamily="2" charset="-122"/>
              <a:cs typeface="等线" panose="02010600030101010101" charset="-122"/>
            </a:endParaRPr>
          </a:p>
          <a:p>
            <a:pPr algn="just">
              <a:buFont typeface="Wingdings" panose="05000000000000000000" pitchFamily="2" charset="2"/>
              <a:buNone/>
            </a:pPr>
            <a:r>
              <a:rPr lang="en-US" altLang="zh-CN" sz="3200" dirty="0">
                <a:solidFill>
                  <a:srgbClr val="FF0000"/>
                </a:solidFill>
                <a:latin typeface="宋体" pitchFamily="2" charset="-122"/>
                <a:cs typeface="等线" panose="02010600030101010101" charset="-122"/>
              </a:rPr>
              <a:t>UNION</a:t>
            </a:r>
            <a:endParaRPr lang="zh-CN" altLang="en-US" sz="3200" dirty="0">
              <a:solidFill>
                <a:srgbClr val="FF0000"/>
              </a:solidFill>
              <a:latin typeface="宋体" pitchFamily="2" charset="-122"/>
              <a:cs typeface="等线" panose="02010600030101010101" charset="-122"/>
            </a:endParaRPr>
          </a:p>
          <a:p>
            <a:pPr algn="just">
              <a:buFont typeface="Wingdings" panose="05000000000000000000" pitchFamily="2" charset="2"/>
              <a:buNone/>
            </a:pPr>
            <a:r>
              <a:rPr lang="en-US" altLang="zh-CN" sz="3200" dirty="0">
                <a:solidFill>
                  <a:srgbClr val="0000FF"/>
                </a:solidFill>
                <a:latin typeface="宋体" pitchFamily="2" charset="-122"/>
                <a:cs typeface="等线" panose="02010600030101010101" charset="-122"/>
              </a:rPr>
              <a:t>SELECT </a:t>
            </a:r>
            <a:r>
              <a:rPr lang="en-US" altLang="zh-CN" sz="3200" dirty="0" err="1" smtClean="0">
                <a:solidFill>
                  <a:srgbClr val="0000FF"/>
                </a:solidFill>
                <a:latin typeface="宋体" pitchFamily="2" charset="-122"/>
                <a:cs typeface="等线" panose="02010600030101010101" charset="-122"/>
              </a:rPr>
              <a:t>Sno,Sname,Sage,Sdept</a:t>
            </a:r>
            <a:r>
              <a:rPr lang="en-US" altLang="zh-CN" sz="3200" dirty="0" smtClean="0">
                <a:solidFill>
                  <a:srgbClr val="0000FF"/>
                </a:solidFill>
                <a:latin typeface="宋体" pitchFamily="2" charset="-122"/>
                <a:cs typeface="等线" panose="02010600030101010101" charset="-122"/>
              </a:rPr>
              <a:t> </a:t>
            </a:r>
            <a:endParaRPr lang="en-US" altLang="zh-CN" sz="3200" dirty="0">
              <a:solidFill>
                <a:srgbClr val="0000FF"/>
              </a:solidFill>
              <a:latin typeface="宋体" pitchFamily="2" charset="-122"/>
              <a:cs typeface="等线" panose="02010600030101010101" charset="-122"/>
            </a:endParaRPr>
          </a:p>
          <a:p>
            <a:pPr algn="just">
              <a:buFont typeface="Wingdings" panose="05000000000000000000" pitchFamily="2" charset="2"/>
              <a:buNone/>
            </a:pPr>
            <a:r>
              <a:rPr lang="en-US" altLang="zh-CN" sz="3200" dirty="0">
                <a:solidFill>
                  <a:srgbClr val="0000FF"/>
                </a:solidFill>
                <a:latin typeface="宋体" pitchFamily="2" charset="-122"/>
                <a:cs typeface="等线" panose="02010600030101010101" charset="-122"/>
              </a:rPr>
              <a:t>  FROM Student WHERE Sdept = '</a:t>
            </a:r>
            <a:r>
              <a:rPr lang="zh-CN" altLang="en-US" sz="3200" dirty="0">
                <a:solidFill>
                  <a:srgbClr val="0000FF"/>
                </a:solidFill>
                <a:latin typeface="宋体" pitchFamily="2" charset="-122"/>
                <a:cs typeface="等线" panose="02010600030101010101" charset="-122"/>
              </a:rPr>
              <a:t>信息管理系</a:t>
            </a:r>
            <a:r>
              <a:rPr lang="en-US" altLang="zh-CN" sz="3200" dirty="0">
                <a:solidFill>
                  <a:srgbClr val="0000FF"/>
                </a:solidFill>
                <a:latin typeface="宋体" pitchFamily="2" charset="-122"/>
                <a:cs typeface="等线" panose="02010600030101010101" charset="-122"/>
              </a:rPr>
              <a:t>'</a:t>
            </a:r>
            <a:endParaRPr lang="zh-CN" altLang="en-US" sz="3200" dirty="0">
              <a:solidFill>
                <a:srgbClr val="0000FF"/>
              </a:solidFill>
              <a:latin typeface="宋体" pitchFamily="2" charset="-122"/>
              <a:cs typeface="等线" panose="02010600030101010101" charset="-122"/>
            </a:endParaRPr>
          </a:p>
        </p:txBody>
      </p:sp>
    </p:spTree>
  </p:cSld>
  <p:clrMapOvr>
    <a:masterClrMapping/>
  </p:clrMapOvr>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标题 1"/>
          <p:cNvSpPr>
            <a:spLocks noGrp="1"/>
          </p:cNvSpPr>
          <p:nvPr>
            <p:ph type="title"/>
          </p:nvPr>
        </p:nvSpPr>
        <p:spPr>
          <a:xfrm>
            <a:off x="500063" y="152400"/>
            <a:ext cx="8001000" cy="685800"/>
          </a:xfrm>
          <a:noFill/>
          <a:ln w="9525">
            <a:noFill/>
          </a:ln>
        </p:spPr>
        <p:txBody>
          <a:bodyPr vert="horz" wrap="square" lIns="91440" tIns="45720" rIns="91440" bIns="45720" rtlCol="0" anchor="ctr" anchorCtr="0">
            <a:normAutofit fontScale="90000"/>
          </a:bodyPr>
          <a:lstStyle/>
          <a:p>
            <a:pPr lvl="0" algn="ctr" eaLnBrk="1" hangingPunct="1">
              <a:buClrTx/>
              <a:buSzTx/>
              <a:buFontTx/>
            </a:pPr>
            <a:r>
              <a:rPr lang="zh-CN" altLang="en-US" sz="4000" b="0" dirty="0">
                <a:latin typeface="黑体" panose="02010609060101010101" pitchFamily="2" charset="-122"/>
                <a:ea typeface="黑体" panose="02010609060101010101" pitchFamily="2" charset="-122"/>
                <a:sym typeface="+mn-ea"/>
              </a:rPr>
              <a:t>4.1.6 将查询结果保存到新表中</a:t>
            </a:r>
          </a:p>
        </p:txBody>
      </p:sp>
      <p:sp>
        <p:nvSpPr>
          <p:cNvPr id="97283" name="内容占位符 2"/>
          <p:cNvSpPr>
            <a:spLocks noGrp="1"/>
          </p:cNvSpPr>
          <p:nvPr>
            <p:ph idx="1"/>
          </p:nvPr>
        </p:nvSpPr>
        <p:spPr>
          <a:xfrm>
            <a:off x="683568" y="1556792"/>
            <a:ext cx="8075240" cy="3933800"/>
          </a:xfrm>
        </p:spPr>
        <p:txBody>
          <a:bodyPr vert="horz" wrap="square" lIns="91440" tIns="45720" rIns="91440" bIns="45720" anchor="t" anchorCtr="0"/>
          <a:lstStyle/>
          <a:p>
            <a:pPr algn="just"/>
            <a:r>
              <a:rPr lang="zh-CN" altLang="en-US" dirty="0">
                <a:latin typeface="宋体" pitchFamily="2" charset="-122"/>
                <a:cs typeface="等线" panose="02010600030101010101" charset="-122"/>
              </a:rPr>
              <a:t>如果希望将查询结果保存到一</a:t>
            </a:r>
            <a:r>
              <a:rPr lang="zh-CN" altLang="en-US" dirty="0" smtClean="0">
                <a:latin typeface="宋体" pitchFamily="2" charset="-122"/>
                <a:cs typeface="等线" panose="02010600030101010101" charset="-122"/>
              </a:rPr>
              <a:t>个新表</a:t>
            </a:r>
            <a:r>
              <a:rPr lang="zh-CN" altLang="en-US" dirty="0">
                <a:latin typeface="宋体" pitchFamily="2" charset="-122"/>
                <a:cs typeface="等线" panose="02010600030101010101" charset="-122"/>
              </a:rPr>
              <a:t>中，可通过在</a:t>
            </a:r>
            <a:r>
              <a:rPr lang="en-US" altLang="zh-CN" dirty="0">
                <a:latin typeface="宋体" pitchFamily="2" charset="-122"/>
                <a:cs typeface="等线" panose="02010600030101010101" charset="-122"/>
              </a:rPr>
              <a:t>SELECT</a:t>
            </a:r>
            <a:r>
              <a:rPr lang="zh-CN" altLang="en-US" dirty="0">
                <a:latin typeface="宋体" pitchFamily="2" charset="-122"/>
                <a:cs typeface="等线" panose="02010600030101010101" charset="-122"/>
              </a:rPr>
              <a:t>语句中使用</a:t>
            </a:r>
            <a:r>
              <a:rPr lang="en-US" altLang="zh-CN" dirty="0">
                <a:latin typeface="宋体" pitchFamily="2" charset="-122"/>
                <a:cs typeface="等线" panose="02010600030101010101" charset="-122"/>
              </a:rPr>
              <a:t>INTO</a:t>
            </a:r>
            <a:r>
              <a:rPr lang="zh-CN" altLang="en-US" dirty="0">
                <a:latin typeface="宋体" pitchFamily="2" charset="-122"/>
                <a:cs typeface="等线" panose="02010600030101010101" charset="-122"/>
              </a:rPr>
              <a:t>子句实现。</a:t>
            </a:r>
          </a:p>
          <a:p>
            <a:pPr lvl="1" algn="just">
              <a:buFont typeface="Wingdings" panose="05000000000000000000" pitchFamily="2" charset="2"/>
              <a:buNone/>
            </a:pPr>
            <a:r>
              <a:rPr lang="en-US" altLang="zh-CN" dirty="0">
                <a:solidFill>
                  <a:srgbClr val="0000FF"/>
                </a:solidFill>
                <a:latin typeface="宋体" pitchFamily="2" charset="-122"/>
                <a:cs typeface="等线" panose="02010600030101010101" charset="-122"/>
              </a:rPr>
              <a:t>SELECT </a:t>
            </a:r>
            <a:r>
              <a:rPr lang="zh-CN" altLang="en-US" dirty="0">
                <a:solidFill>
                  <a:srgbClr val="0000FF"/>
                </a:solidFill>
                <a:latin typeface="宋体" pitchFamily="2" charset="-122"/>
                <a:cs typeface="等线" panose="02010600030101010101" charset="-122"/>
              </a:rPr>
              <a:t>查询列表</a:t>
            </a:r>
            <a:r>
              <a:rPr lang="zh-CN" altLang="en-US" dirty="0" smtClean="0">
                <a:solidFill>
                  <a:srgbClr val="0000FF"/>
                </a:solidFill>
                <a:latin typeface="宋体" pitchFamily="2" charset="-122"/>
                <a:cs typeface="等线" panose="02010600030101010101" charset="-122"/>
              </a:rPr>
              <a:t>序列</a:t>
            </a:r>
            <a:r>
              <a:rPr lang="en-US" altLang="zh-CN" dirty="0" smtClean="0">
                <a:solidFill>
                  <a:srgbClr val="0000FF"/>
                </a:solidFill>
                <a:latin typeface="宋体" pitchFamily="2" charset="-122"/>
                <a:cs typeface="等线" panose="02010600030101010101" charset="-122"/>
              </a:rPr>
              <a:t> </a:t>
            </a:r>
            <a:r>
              <a:rPr lang="en-US" altLang="zh-CN" dirty="0" smtClean="0">
                <a:solidFill>
                  <a:srgbClr val="FF0000"/>
                </a:solidFill>
                <a:latin typeface="宋体" pitchFamily="2" charset="-122"/>
                <a:cs typeface="等线" panose="02010600030101010101" charset="-122"/>
              </a:rPr>
              <a:t>INTO </a:t>
            </a:r>
            <a:r>
              <a:rPr lang="en-US" altLang="zh-CN" dirty="0">
                <a:solidFill>
                  <a:srgbClr val="FF0000"/>
                </a:solidFill>
                <a:latin typeface="宋体" pitchFamily="2" charset="-122"/>
                <a:cs typeface="等线" panose="02010600030101010101" charset="-122"/>
              </a:rPr>
              <a:t>&lt;</a:t>
            </a:r>
            <a:r>
              <a:rPr lang="zh-CN" altLang="en-US" dirty="0">
                <a:solidFill>
                  <a:srgbClr val="FF0000"/>
                </a:solidFill>
                <a:latin typeface="宋体" pitchFamily="2" charset="-122"/>
                <a:cs typeface="等线" panose="02010600030101010101" charset="-122"/>
              </a:rPr>
              <a:t>新表名</a:t>
            </a:r>
            <a:r>
              <a:rPr lang="en-US" altLang="zh-CN" dirty="0">
                <a:solidFill>
                  <a:srgbClr val="FF0000"/>
                </a:solidFill>
                <a:latin typeface="宋体" pitchFamily="2" charset="-122"/>
                <a:cs typeface="等线" panose="02010600030101010101" charset="-122"/>
              </a:rPr>
              <a:t>&gt;</a:t>
            </a:r>
            <a:endParaRPr lang="zh-CN" altLang="en-US" dirty="0">
              <a:solidFill>
                <a:srgbClr val="FF0000"/>
              </a:solidFill>
              <a:latin typeface="宋体" pitchFamily="2" charset="-122"/>
              <a:cs typeface="等线" panose="02010600030101010101" charset="-122"/>
            </a:endParaRPr>
          </a:p>
          <a:p>
            <a:pPr lvl="1" algn="just">
              <a:buFont typeface="Wingdings" panose="05000000000000000000" pitchFamily="2" charset="2"/>
              <a:buNone/>
            </a:pPr>
            <a:r>
              <a:rPr lang="en-US" altLang="zh-CN" dirty="0">
                <a:solidFill>
                  <a:srgbClr val="0000FF"/>
                </a:solidFill>
                <a:latin typeface="宋体" pitchFamily="2" charset="-122"/>
                <a:cs typeface="等线" panose="02010600030101010101" charset="-122"/>
              </a:rPr>
              <a:t>FROM </a:t>
            </a:r>
            <a:r>
              <a:rPr lang="zh-CN" altLang="en-US" dirty="0">
                <a:solidFill>
                  <a:srgbClr val="0000FF"/>
                </a:solidFill>
                <a:latin typeface="宋体" pitchFamily="2" charset="-122"/>
                <a:cs typeface="等线" panose="02010600030101010101" charset="-122"/>
              </a:rPr>
              <a:t>数据源</a:t>
            </a:r>
          </a:p>
          <a:p>
            <a:pPr lvl="1" algn="just">
              <a:buFont typeface="Wingdings" panose="05000000000000000000" pitchFamily="2" charset="2"/>
              <a:buNone/>
            </a:pPr>
            <a:r>
              <a:rPr lang="en-US" altLang="zh-CN" dirty="0">
                <a:solidFill>
                  <a:srgbClr val="0000FF"/>
                </a:solidFill>
                <a:latin typeface="宋体" pitchFamily="2" charset="-122"/>
                <a:cs typeface="等线" panose="02010600030101010101" charset="-122"/>
              </a:rPr>
              <a:t>… </a:t>
            </a:r>
            <a:r>
              <a:rPr lang="en-US" altLang="zh-CN" sz="2800" dirty="0" smtClean="0">
                <a:solidFill>
                  <a:srgbClr val="009900"/>
                </a:solidFill>
                <a:latin typeface="宋体" pitchFamily="2" charset="-122"/>
                <a:cs typeface="等线" panose="02010600030101010101" charset="-122"/>
              </a:rPr>
              <a:t>-- </a:t>
            </a:r>
            <a:r>
              <a:rPr lang="zh-CN" altLang="en-US" sz="2800" dirty="0">
                <a:solidFill>
                  <a:srgbClr val="009900"/>
                </a:solidFill>
                <a:latin typeface="宋体" pitchFamily="2" charset="-122"/>
                <a:cs typeface="等线" panose="02010600030101010101" charset="-122"/>
              </a:rPr>
              <a:t>其他行选择、分组等语句</a:t>
            </a:r>
          </a:p>
          <a:p>
            <a:pPr algn="just"/>
            <a:endParaRPr lang="zh-CN" altLang="en-US" dirty="0">
              <a:latin typeface="宋体" pitchFamily="2" charset="-122"/>
              <a:cs typeface="等线" panose="02010600030101010101" charset="-122"/>
            </a:endParaRPr>
          </a:p>
        </p:txBody>
      </p:sp>
    </p:spTree>
  </p:cSld>
  <p:clrMapOvr>
    <a:masterClrMapping/>
  </p:clrMapOvr>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标题 1"/>
          <p:cNvSpPr>
            <a:spLocks noGrp="1"/>
          </p:cNvSpPr>
          <p:nvPr>
            <p:ph type="title"/>
          </p:nvPr>
        </p:nvSpPr>
        <p:spPr>
          <a:xfrm>
            <a:off x="500063" y="152400"/>
            <a:ext cx="8001000" cy="685800"/>
          </a:xfrm>
          <a:noFill/>
          <a:ln w="9525">
            <a:noFill/>
          </a:ln>
        </p:spPr>
        <p:txBody>
          <a:bodyPr vert="horz" wrap="square" lIns="91440" tIns="45720" rIns="91440" bIns="45720" rtlCol="0" anchor="ctr" anchorCtr="0">
            <a:normAutofit fontScale="90000"/>
          </a:bodyPr>
          <a:lstStyle/>
          <a:p>
            <a:pPr lvl="0" algn="ctr" eaLnBrk="1" hangingPunct="1">
              <a:buClrTx/>
              <a:buSzTx/>
              <a:buFontTx/>
            </a:pPr>
            <a:r>
              <a:rPr lang="zh-CN" altLang="en-US" sz="4000" b="0" dirty="0">
                <a:latin typeface="黑体" panose="02010609060101010101" pitchFamily="2" charset="-122"/>
                <a:ea typeface="黑体" panose="02010609060101010101" pitchFamily="2" charset="-122"/>
                <a:sym typeface="+mn-ea"/>
              </a:rPr>
              <a:t>说明</a:t>
            </a:r>
          </a:p>
        </p:txBody>
      </p:sp>
      <p:sp>
        <p:nvSpPr>
          <p:cNvPr id="98307" name="内容占位符 2"/>
          <p:cNvSpPr>
            <a:spLocks noGrp="1"/>
          </p:cNvSpPr>
          <p:nvPr>
            <p:ph idx="1"/>
          </p:nvPr>
        </p:nvSpPr>
        <p:spPr>
          <a:xfrm>
            <a:off x="357188" y="1143000"/>
            <a:ext cx="8429625" cy="5143500"/>
          </a:xfrm>
        </p:spPr>
        <p:txBody>
          <a:bodyPr vert="horz" wrap="square" lIns="91440" tIns="45720" rIns="91440" bIns="45720" anchor="t" anchorCtr="0"/>
          <a:lstStyle/>
          <a:p>
            <a:pPr>
              <a:spcBef>
                <a:spcPts val="200"/>
              </a:spcBef>
            </a:pPr>
            <a:r>
              <a:rPr lang="zh-CN" altLang="en-US" sz="2800" dirty="0">
                <a:latin typeface="宋体" pitchFamily="2" charset="-122"/>
                <a:cs typeface="等线" panose="02010600030101010101" charset="-122"/>
              </a:rPr>
              <a:t>用</a:t>
            </a:r>
            <a:r>
              <a:rPr lang="en-US" altLang="zh-CN" sz="2800" dirty="0">
                <a:latin typeface="宋体" pitchFamily="2" charset="-122"/>
                <a:cs typeface="等线" panose="02010600030101010101" charset="-122"/>
              </a:rPr>
              <a:t>INTO</a:t>
            </a:r>
            <a:r>
              <a:rPr lang="zh-CN" altLang="en-US" sz="2800" dirty="0">
                <a:latin typeface="宋体" pitchFamily="2" charset="-122"/>
                <a:cs typeface="等线" panose="02010600030101010101" charset="-122"/>
              </a:rPr>
              <a:t>子句创建的新表可以是永久</a:t>
            </a:r>
            <a:r>
              <a:rPr lang="zh-CN" altLang="en-US" sz="2800" dirty="0" smtClean="0">
                <a:latin typeface="宋体" pitchFamily="2" charset="-122"/>
                <a:cs typeface="等线" panose="02010600030101010101" charset="-122"/>
              </a:rPr>
              <a:t>表，也可以是临时表。</a:t>
            </a:r>
            <a:endParaRPr lang="en-US" altLang="zh-CN" sz="2800" dirty="0" smtClean="0">
              <a:latin typeface="宋体" pitchFamily="2" charset="-122"/>
              <a:cs typeface="等线" panose="02010600030101010101" charset="-122"/>
            </a:endParaRPr>
          </a:p>
          <a:p>
            <a:pPr>
              <a:spcBef>
                <a:spcPts val="1800"/>
              </a:spcBef>
            </a:pPr>
            <a:r>
              <a:rPr lang="zh-CN" altLang="en-US" sz="2800" dirty="0" smtClean="0">
                <a:latin typeface="宋体" pitchFamily="2" charset="-122"/>
                <a:cs typeface="等线" panose="02010600030101010101" charset="-122"/>
              </a:rPr>
              <a:t>临时</a:t>
            </a:r>
            <a:r>
              <a:rPr lang="zh-CN" altLang="en-US" sz="2800" dirty="0">
                <a:latin typeface="宋体" pitchFamily="2" charset="-122"/>
                <a:cs typeface="等线" panose="02010600030101010101" charset="-122"/>
              </a:rPr>
              <a:t>表又根据其使用范围分为两种：</a:t>
            </a:r>
          </a:p>
          <a:p>
            <a:pPr marL="0" indent="0">
              <a:spcBef>
                <a:spcPts val="200"/>
              </a:spcBef>
              <a:buNone/>
            </a:pPr>
            <a:r>
              <a:rPr lang="zh-CN" altLang="en-US" sz="2800" dirty="0">
                <a:solidFill>
                  <a:srgbClr val="FF0000"/>
                </a:solidFill>
                <a:latin typeface="宋体" pitchFamily="2" charset="-122"/>
                <a:cs typeface="等线" panose="02010600030101010101" charset="-122"/>
              </a:rPr>
              <a:t>局部临时表</a:t>
            </a:r>
            <a:endParaRPr lang="en-US" altLang="zh-CN" sz="2800" dirty="0">
              <a:solidFill>
                <a:srgbClr val="FF0000"/>
              </a:solidFill>
              <a:latin typeface="宋体" pitchFamily="2" charset="-122"/>
              <a:cs typeface="等线" panose="02010600030101010101" charset="-122"/>
            </a:endParaRPr>
          </a:p>
          <a:p>
            <a:pPr lvl="1">
              <a:spcBef>
                <a:spcPts val="200"/>
              </a:spcBef>
            </a:pPr>
            <a:r>
              <a:rPr lang="zh-CN" altLang="en-US" sz="2800" dirty="0">
                <a:latin typeface="宋体" pitchFamily="2" charset="-122"/>
                <a:cs typeface="等线" panose="02010600030101010101" charset="-122"/>
              </a:rPr>
              <a:t>通过在表名前加一个“</a:t>
            </a:r>
            <a:r>
              <a:rPr lang="en-US" altLang="zh-CN" sz="2800" dirty="0">
                <a:latin typeface="宋体" pitchFamily="2" charset="-122"/>
                <a:cs typeface="等线" panose="02010600030101010101" charset="-122"/>
              </a:rPr>
              <a:t>#</a:t>
            </a:r>
            <a:r>
              <a:rPr lang="zh-CN" altLang="en-US" sz="2800" dirty="0">
                <a:latin typeface="宋体" pitchFamily="2" charset="-122"/>
                <a:cs typeface="等线" panose="02010600030101010101" charset="-122"/>
              </a:rPr>
              <a:t>”来标识。</a:t>
            </a:r>
            <a:endParaRPr lang="en-US" altLang="zh-CN" sz="2800" dirty="0">
              <a:latin typeface="宋体" pitchFamily="2" charset="-122"/>
              <a:cs typeface="等线" panose="02010600030101010101" charset="-122"/>
            </a:endParaRPr>
          </a:p>
          <a:p>
            <a:pPr lvl="1">
              <a:spcBef>
                <a:spcPts val="200"/>
              </a:spcBef>
            </a:pPr>
            <a:r>
              <a:rPr lang="zh-CN" altLang="en-US" sz="2800" dirty="0">
                <a:latin typeface="宋体" pitchFamily="2" charset="-122"/>
                <a:cs typeface="等线" panose="02010600030101010101" charset="-122"/>
              </a:rPr>
              <a:t>生存期为创建此局部临时表的连接的生存期</a:t>
            </a:r>
            <a:r>
              <a:rPr lang="en-US" altLang="zh-CN" sz="2800" dirty="0">
                <a:latin typeface="宋体" pitchFamily="2" charset="-122"/>
                <a:cs typeface="等线" panose="02010600030101010101" charset="-122"/>
              </a:rPr>
              <a:t>,</a:t>
            </a:r>
          </a:p>
          <a:p>
            <a:pPr lvl="1">
              <a:spcBef>
                <a:spcPts val="200"/>
              </a:spcBef>
            </a:pPr>
            <a:r>
              <a:rPr lang="zh-CN" altLang="en-US" sz="2800" dirty="0">
                <a:latin typeface="宋体" pitchFamily="2" charset="-122"/>
                <a:cs typeface="等线" panose="02010600030101010101" charset="-122"/>
              </a:rPr>
              <a:t>只能在创建局部临时表的当前连接中使用；</a:t>
            </a:r>
          </a:p>
          <a:p>
            <a:pPr marL="0" indent="0">
              <a:spcBef>
                <a:spcPts val="200"/>
              </a:spcBef>
              <a:buNone/>
            </a:pPr>
            <a:r>
              <a:rPr lang="zh-CN" altLang="en-US" sz="2800" dirty="0">
                <a:solidFill>
                  <a:srgbClr val="FF0000"/>
                </a:solidFill>
                <a:latin typeface="宋体" pitchFamily="2" charset="-122"/>
                <a:cs typeface="等线" panose="02010600030101010101" charset="-122"/>
              </a:rPr>
              <a:t>全局临时表</a:t>
            </a:r>
            <a:endParaRPr lang="en-US" altLang="zh-CN" sz="2800" dirty="0">
              <a:solidFill>
                <a:srgbClr val="FF0000"/>
              </a:solidFill>
              <a:latin typeface="宋体" pitchFamily="2" charset="-122"/>
              <a:cs typeface="等线" panose="02010600030101010101" charset="-122"/>
            </a:endParaRPr>
          </a:p>
          <a:p>
            <a:pPr lvl="1">
              <a:spcBef>
                <a:spcPts val="200"/>
              </a:spcBef>
            </a:pPr>
            <a:r>
              <a:rPr lang="zh-CN" altLang="en-US" sz="2800" dirty="0">
                <a:latin typeface="宋体" pitchFamily="2" charset="-122"/>
                <a:cs typeface="等线" panose="02010600030101010101" charset="-122"/>
              </a:rPr>
              <a:t>通过在表名前加两个“</a:t>
            </a:r>
            <a:r>
              <a:rPr lang="en-US" altLang="zh-CN" sz="2800" dirty="0">
                <a:latin typeface="宋体" pitchFamily="2" charset="-122"/>
                <a:cs typeface="等线" panose="02010600030101010101" charset="-122"/>
              </a:rPr>
              <a:t>#</a:t>
            </a:r>
            <a:r>
              <a:rPr lang="zh-CN" altLang="en-US" sz="2800" dirty="0">
                <a:latin typeface="宋体" pitchFamily="2" charset="-122"/>
                <a:cs typeface="等线" panose="02010600030101010101" charset="-122"/>
              </a:rPr>
              <a:t>”来标识。</a:t>
            </a:r>
            <a:endParaRPr lang="en-US" altLang="zh-CN" sz="2800" dirty="0">
              <a:latin typeface="宋体" pitchFamily="2" charset="-122"/>
              <a:cs typeface="等线" panose="02010600030101010101" charset="-122"/>
            </a:endParaRPr>
          </a:p>
          <a:p>
            <a:pPr lvl="1">
              <a:spcBef>
                <a:spcPts val="200"/>
              </a:spcBef>
            </a:pPr>
            <a:r>
              <a:rPr lang="zh-CN" altLang="en-US" sz="2800" dirty="0">
                <a:latin typeface="宋体" pitchFamily="2" charset="-122"/>
                <a:cs typeface="等线" panose="02010600030101010101" charset="-122"/>
              </a:rPr>
              <a:t>生存期为创建全局临时表的连接的生存期，</a:t>
            </a:r>
            <a:endParaRPr lang="en-US" altLang="zh-CN" sz="2800" dirty="0">
              <a:latin typeface="宋体" pitchFamily="2" charset="-122"/>
              <a:cs typeface="等线" panose="02010600030101010101" charset="-122"/>
            </a:endParaRPr>
          </a:p>
          <a:p>
            <a:pPr lvl="1">
              <a:spcBef>
                <a:spcPts val="200"/>
              </a:spcBef>
            </a:pPr>
            <a:r>
              <a:rPr lang="zh-CN" altLang="en-US" sz="2800" dirty="0">
                <a:latin typeface="宋体" pitchFamily="2" charset="-122"/>
                <a:cs typeface="等线" panose="02010600030101010101" charset="-122"/>
              </a:rPr>
              <a:t>在生存期内可以被所有的连接使用。</a:t>
            </a:r>
            <a:r>
              <a:rPr lang="en-US" altLang="zh-CN" sz="2800" dirty="0">
                <a:latin typeface="宋体" pitchFamily="2" charset="-122"/>
                <a:cs typeface="等线" panose="02010600030101010101" charset="-122"/>
              </a:rPr>
              <a:t> </a:t>
            </a:r>
            <a:endParaRPr lang="zh-CN" altLang="en-US" sz="2800" dirty="0">
              <a:latin typeface="宋体" pitchFamily="2" charset="-122"/>
              <a:cs typeface="等线" panose="02010600030101010101" charset="-122"/>
            </a:endParaRPr>
          </a:p>
          <a:p>
            <a:pPr>
              <a:spcBef>
                <a:spcPts val="200"/>
              </a:spcBef>
            </a:pPr>
            <a:endParaRPr lang="zh-CN" altLang="en-US" sz="2800" dirty="0">
              <a:latin typeface="宋体" pitchFamily="2" charset="-122"/>
              <a:cs typeface="等线" panose="02010600030101010101" charset="-122"/>
            </a:endParaRPr>
          </a:p>
        </p:txBody>
      </p:sp>
    </p:spTree>
  </p:cSld>
  <p:clrMapOvr>
    <a:masterClrMapping/>
  </p:clrMapOvr>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标题 1"/>
          <p:cNvSpPr>
            <a:spLocks noGrp="1"/>
          </p:cNvSpPr>
          <p:nvPr>
            <p:ph type="title"/>
          </p:nvPr>
        </p:nvSpPr>
        <p:spPr>
          <a:xfrm>
            <a:off x="500063" y="152400"/>
            <a:ext cx="8001000" cy="685800"/>
          </a:xfrm>
          <a:noFill/>
          <a:ln w="9525">
            <a:noFill/>
          </a:ln>
        </p:spPr>
        <p:txBody>
          <a:bodyPr vert="horz" wrap="square" lIns="91440" tIns="45720" rIns="91440" bIns="45720" rtlCol="0" anchor="ctr" anchorCtr="0">
            <a:normAutofit fontScale="90000"/>
          </a:bodyPr>
          <a:lstStyle/>
          <a:p>
            <a:pPr lvl="0" algn="ctr" eaLnBrk="1" hangingPunct="1">
              <a:buClrTx/>
              <a:buSzTx/>
              <a:buFontTx/>
            </a:pPr>
            <a:r>
              <a:rPr lang="zh-CN" altLang="en-US" sz="4000" b="0" dirty="0">
                <a:latin typeface="黑体" panose="02010609060101010101" pitchFamily="2" charset="-122"/>
                <a:ea typeface="黑体" panose="02010609060101010101" pitchFamily="2" charset="-122"/>
                <a:sym typeface="+mn-ea"/>
              </a:rPr>
              <a:t>示例</a:t>
            </a:r>
          </a:p>
        </p:txBody>
      </p:sp>
      <p:sp>
        <p:nvSpPr>
          <p:cNvPr id="99331" name="内容占位符 2"/>
          <p:cNvSpPr>
            <a:spLocks noGrp="1"/>
          </p:cNvSpPr>
          <p:nvPr>
            <p:ph idx="1"/>
          </p:nvPr>
        </p:nvSpPr>
        <p:spPr>
          <a:xfrm>
            <a:off x="428625" y="1214438"/>
            <a:ext cx="8258175" cy="5000625"/>
          </a:xfrm>
        </p:spPr>
        <p:txBody>
          <a:bodyPr vert="horz" wrap="square" lIns="91440" tIns="45720" rIns="91440" bIns="45720" anchor="t" anchorCtr="0"/>
          <a:lstStyle/>
          <a:p>
            <a:pPr marL="0" indent="0">
              <a:spcBef>
                <a:spcPts val="400"/>
              </a:spcBef>
              <a:buNone/>
            </a:pPr>
            <a:r>
              <a:rPr lang="zh-CN" altLang="en-US" dirty="0" smtClean="0">
                <a:latin typeface="宋体" pitchFamily="2" charset="-122"/>
                <a:cs typeface="等线" panose="02010600030101010101" charset="-122"/>
              </a:rPr>
              <a:t>例</a:t>
            </a:r>
            <a:r>
              <a:rPr lang="en-US" altLang="zh-CN" sz="3200" dirty="0" smtClean="0"/>
              <a:t>4.62 </a:t>
            </a:r>
            <a:r>
              <a:rPr lang="zh-CN" altLang="en-US" dirty="0" smtClean="0">
                <a:latin typeface="宋体" pitchFamily="2" charset="-122"/>
                <a:cs typeface="等线" panose="02010600030101010101" charset="-122"/>
              </a:rPr>
              <a:t>查询</a:t>
            </a:r>
            <a:r>
              <a:rPr lang="zh-CN" altLang="en-US" dirty="0">
                <a:latin typeface="宋体" pitchFamily="2" charset="-122"/>
                <a:cs typeface="等线" panose="02010600030101010101" charset="-122"/>
              </a:rPr>
              <a:t>计算机系学生的姓名、选修的课程名和成绩，并将查询结果保存到永久表</a:t>
            </a:r>
            <a:r>
              <a:rPr lang="en-US" altLang="zh-CN" dirty="0">
                <a:latin typeface="宋体" pitchFamily="2" charset="-122"/>
                <a:cs typeface="等线" panose="02010600030101010101" charset="-122"/>
              </a:rPr>
              <a:t>S_C_G</a:t>
            </a:r>
            <a:r>
              <a:rPr lang="zh-CN" altLang="en-US" dirty="0">
                <a:latin typeface="宋体" pitchFamily="2" charset="-122"/>
                <a:cs typeface="等线" panose="02010600030101010101" charset="-122"/>
              </a:rPr>
              <a:t>中。</a:t>
            </a:r>
          </a:p>
          <a:p>
            <a:pPr>
              <a:spcBef>
                <a:spcPts val="400"/>
              </a:spcBef>
              <a:buFont typeface="Wingdings" panose="05000000000000000000" pitchFamily="2" charset="2"/>
              <a:buNone/>
            </a:pPr>
            <a:r>
              <a:rPr lang="en-US" altLang="zh-CN" sz="3200" dirty="0">
                <a:solidFill>
                  <a:srgbClr val="0000FF"/>
                </a:solidFill>
                <a:latin typeface="宋体" pitchFamily="2" charset="-122"/>
                <a:cs typeface="等线" panose="02010600030101010101" charset="-122"/>
              </a:rPr>
              <a:t> SELECT Sname, Cname , Grade </a:t>
            </a:r>
          </a:p>
          <a:p>
            <a:pPr>
              <a:spcBef>
                <a:spcPts val="400"/>
              </a:spcBef>
              <a:buFont typeface="Wingdings" panose="05000000000000000000" pitchFamily="2" charset="2"/>
              <a:buNone/>
            </a:pPr>
            <a:r>
              <a:rPr lang="en-US" altLang="zh-CN" sz="3200" dirty="0">
                <a:solidFill>
                  <a:srgbClr val="0000FF"/>
                </a:solidFill>
                <a:latin typeface="宋体" pitchFamily="2" charset="-122"/>
                <a:cs typeface="等线" panose="02010600030101010101" charset="-122"/>
              </a:rPr>
              <a:t>  </a:t>
            </a:r>
            <a:r>
              <a:rPr lang="en-US" altLang="zh-CN" sz="3200" dirty="0">
                <a:solidFill>
                  <a:srgbClr val="FF0000"/>
                </a:solidFill>
                <a:latin typeface="宋体" pitchFamily="2" charset="-122"/>
                <a:cs typeface="等线" panose="02010600030101010101" charset="-122"/>
              </a:rPr>
              <a:t>INTO S_C_G</a:t>
            </a:r>
            <a:endParaRPr lang="zh-CN" altLang="en-US" sz="3200" dirty="0">
              <a:solidFill>
                <a:srgbClr val="FF0000"/>
              </a:solidFill>
              <a:latin typeface="宋体" pitchFamily="2" charset="-122"/>
              <a:cs typeface="等线" panose="02010600030101010101" charset="-122"/>
            </a:endParaRPr>
          </a:p>
          <a:p>
            <a:pPr>
              <a:spcBef>
                <a:spcPts val="400"/>
              </a:spcBef>
              <a:buFont typeface="Wingdings" panose="05000000000000000000" pitchFamily="2" charset="2"/>
              <a:buNone/>
            </a:pPr>
            <a:r>
              <a:rPr lang="en-US" altLang="zh-CN" sz="3200" dirty="0">
                <a:solidFill>
                  <a:srgbClr val="0000FF"/>
                </a:solidFill>
                <a:latin typeface="宋体" pitchFamily="2" charset="-122"/>
                <a:cs typeface="等线" panose="02010600030101010101" charset="-122"/>
              </a:rPr>
              <a:t>  FROM Student s JOIN SC </a:t>
            </a:r>
          </a:p>
          <a:p>
            <a:pPr>
              <a:spcBef>
                <a:spcPts val="400"/>
              </a:spcBef>
              <a:buFont typeface="Wingdings" panose="05000000000000000000" pitchFamily="2" charset="2"/>
              <a:buNone/>
            </a:pPr>
            <a:r>
              <a:rPr lang="en-US" altLang="zh-CN" sz="3200" dirty="0">
                <a:solidFill>
                  <a:srgbClr val="0000FF"/>
                </a:solidFill>
                <a:latin typeface="宋体" pitchFamily="2" charset="-122"/>
                <a:cs typeface="等线" panose="02010600030101010101" charset="-122"/>
              </a:rPr>
              <a:t>  ON s.Sno = SC.Sno</a:t>
            </a:r>
            <a:endParaRPr lang="zh-CN" altLang="en-US" sz="3200" dirty="0">
              <a:solidFill>
                <a:srgbClr val="0000FF"/>
              </a:solidFill>
              <a:latin typeface="宋体" pitchFamily="2" charset="-122"/>
              <a:cs typeface="等线" panose="02010600030101010101" charset="-122"/>
            </a:endParaRPr>
          </a:p>
          <a:p>
            <a:pPr>
              <a:spcBef>
                <a:spcPts val="400"/>
              </a:spcBef>
              <a:buFont typeface="Wingdings" panose="05000000000000000000" pitchFamily="2" charset="2"/>
              <a:buNone/>
            </a:pPr>
            <a:r>
              <a:rPr lang="en-US" altLang="zh-CN" sz="3200" dirty="0">
                <a:solidFill>
                  <a:srgbClr val="0000FF"/>
                </a:solidFill>
                <a:latin typeface="宋体" pitchFamily="2" charset="-122"/>
                <a:cs typeface="等线" panose="02010600030101010101" charset="-122"/>
              </a:rPr>
              <a:t>  JOIN Course c ON c.Cno = SC.Cno</a:t>
            </a:r>
            <a:endParaRPr lang="zh-CN" altLang="en-US" sz="3200" dirty="0">
              <a:solidFill>
                <a:srgbClr val="0000FF"/>
              </a:solidFill>
              <a:latin typeface="宋体" pitchFamily="2" charset="-122"/>
              <a:cs typeface="等线" panose="02010600030101010101" charset="-122"/>
            </a:endParaRPr>
          </a:p>
          <a:p>
            <a:pPr>
              <a:spcBef>
                <a:spcPts val="400"/>
              </a:spcBef>
              <a:buFont typeface="Wingdings" panose="05000000000000000000" pitchFamily="2" charset="2"/>
              <a:buNone/>
            </a:pPr>
            <a:r>
              <a:rPr lang="en-US" altLang="zh-CN" sz="3200" dirty="0">
                <a:solidFill>
                  <a:srgbClr val="0000FF"/>
                </a:solidFill>
                <a:latin typeface="宋体" pitchFamily="2" charset="-122"/>
                <a:cs typeface="等线" panose="02010600030101010101" charset="-122"/>
              </a:rPr>
              <a:t>  WHERE Sdept = '</a:t>
            </a:r>
            <a:r>
              <a:rPr lang="zh-CN" altLang="en-US" sz="3200" dirty="0">
                <a:solidFill>
                  <a:srgbClr val="0000FF"/>
                </a:solidFill>
                <a:latin typeface="宋体" pitchFamily="2" charset="-122"/>
                <a:cs typeface="等线" panose="02010600030101010101" charset="-122"/>
              </a:rPr>
              <a:t>计算机系</a:t>
            </a:r>
            <a:r>
              <a:rPr lang="en-US" altLang="zh-CN" sz="3200" dirty="0">
                <a:solidFill>
                  <a:srgbClr val="0000FF"/>
                </a:solidFill>
                <a:latin typeface="宋体" pitchFamily="2" charset="-122"/>
                <a:cs typeface="等线" panose="02010600030101010101" charset="-122"/>
              </a:rPr>
              <a:t>'</a:t>
            </a:r>
            <a:endParaRPr lang="zh-CN" altLang="en-US" sz="3200" dirty="0">
              <a:solidFill>
                <a:srgbClr val="0000FF"/>
              </a:solidFill>
              <a:latin typeface="宋体" pitchFamily="2" charset="-122"/>
              <a:cs typeface="等线" panose="02010600030101010101" charset="-122"/>
            </a:endParaRPr>
          </a:p>
        </p:txBody>
      </p:sp>
    </p:spTree>
  </p:cSld>
  <p:clrMapOvr>
    <a:masterClrMapping/>
  </p:clrMapOvr>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2"/>
          <p:cNvSpPr>
            <a:spLocks noGrp="1"/>
          </p:cNvSpPr>
          <p:nvPr>
            <p:ph type="title"/>
          </p:nvPr>
        </p:nvSpPr>
        <p:spPr>
          <a:xfrm>
            <a:off x="500063" y="152400"/>
            <a:ext cx="8001000" cy="685800"/>
          </a:xfrm>
          <a:noFill/>
          <a:ln w="9525">
            <a:noFill/>
          </a:ln>
        </p:spPr>
        <p:txBody>
          <a:bodyPr vert="horz" wrap="square" lIns="91440" tIns="45720" rIns="91440" bIns="45720" rtlCol="0" anchor="ctr" anchorCtr="0">
            <a:normAutofit fontScale="90000"/>
          </a:bodyPr>
          <a:lstStyle/>
          <a:p>
            <a:pPr lvl="0" algn="ctr" eaLnBrk="1" hangingPunct="1">
              <a:buClrTx/>
              <a:buSzTx/>
              <a:buFontTx/>
            </a:pPr>
            <a:r>
              <a:rPr lang="zh-CN" altLang="en-US" sz="4000" b="0" dirty="0">
                <a:latin typeface="黑体" panose="02010609060101010101" pitchFamily="2" charset="-122"/>
                <a:ea typeface="黑体" panose="02010609060101010101" pitchFamily="2" charset="-122"/>
                <a:sym typeface="+mn-ea"/>
              </a:rPr>
              <a:t>4.1.5 子查询 </a:t>
            </a:r>
          </a:p>
        </p:txBody>
      </p:sp>
      <p:sp>
        <p:nvSpPr>
          <p:cNvPr id="100355" name="Rectangle 3"/>
          <p:cNvSpPr>
            <a:spLocks noGrp="1"/>
          </p:cNvSpPr>
          <p:nvPr>
            <p:ph idx="1"/>
          </p:nvPr>
        </p:nvSpPr>
        <p:spPr>
          <a:xfrm>
            <a:off x="323528" y="1196752"/>
            <a:ext cx="8455660" cy="5051425"/>
          </a:xfrm>
        </p:spPr>
        <p:txBody>
          <a:bodyPr vert="horz" wrap="square" lIns="91440" tIns="45720" rIns="91440" bIns="45720" anchor="t" anchorCtr="0"/>
          <a:lstStyle/>
          <a:p>
            <a:pPr eaLnBrk="1" hangingPunct="1">
              <a:spcBef>
                <a:spcPts val="2400"/>
              </a:spcBef>
            </a:pPr>
            <a:r>
              <a:rPr lang="zh-CN" altLang="en-US" sz="3200" dirty="0">
                <a:latin typeface="宋体" pitchFamily="2" charset="-122"/>
                <a:cs typeface="等线" panose="02010600030101010101" charset="-122"/>
              </a:rPr>
              <a:t>一个</a:t>
            </a:r>
            <a:r>
              <a:rPr lang="en-US" altLang="zh-CN" sz="3200" dirty="0">
                <a:latin typeface="宋体" pitchFamily="2" charset="-122"/>
                <a:cs typeface="等线" panose="02010600030101010101" charset="-122"/>
              </a:rPr>
              <a:t>SELECT</a:t>
            </a:r>
            <a:r>
              <a:rPr lang="zh-CN" altLang="en-US" sz="3200" dirty="0">
                <a:latin typeface="宋体" pitchFamily="2" charset="-122"/>
                <a:cs typeface="等线" panose="02010600030101010101" charset="-122"/>
              </a:rPr>
              <a:t> 语句称为一个查询块。</a:t>
            </a:r>
          </a:p>
          <a:p>
            <a:pPr eaLnBrk="1" hangingPunct="1">
              <a:spcBef>
                <a:spcPts val="2400"/>
              </a:spcBef>
            </a:pPr>
            <a:r>
              <a:rPr lang="zh-CN" altLang="en-US" sz="3200" dirty="0">
                <a:latin typeface="宋体" pitchFamily="2" charset="-122"/>
                <a:cs typeface="等线" panose="02010600030101010101" charset="-122"/>
              </a:rPr>
              <a:t>子查询是一个</a:t>
            </a:r>
            <a:r>
              <a:rPr lang="en-US" altLang="zh-CN" sz="3200" dirty="0">
                <a:latin typeface="宋体" pitchFamily="2" charset="-122"/>
                <a:cs typeface="等线" panose="02010600030101010101" charset="-122"/>
              </a:rPr>
              <a:t>SELECT</a:t>
            </a:r>
            <a:r>
              <a:rPr lang="zh-CN" altLang="en-US" sz="3200" dirty="0">
                <a:latin typeface="宋体" pitchFamily="2" charset="-122"/>
                <a:cs typeface="等线" panose="02010600030101010101" charset="-122"/>
              </a:rPr>
              <a:t>查询，它嵌套在 </a:t>
            </a:r>
            <a:r>
              <a:rPr lang="en-US" altLang="zh-CN" sz="3200" dirty="0">
                <a:latin typeface="宋体" pitchFamily="2" charset="-122"/>
                <a:cs typeface="等线" panose="02010600030101010101" charset="-122"/>
              </a:rPr>
              <a:t>SELECT</a:t>
            </a:r>
            <a:r>
              <a:rPr lang="zh-CN" altLang="en-US" sz="3200" dirty="0">
                <a:latin typeface="宋体" pitchFamily="2" charset="-122"/>
                <a:cs typeface="等线" panose="02010600030101010101" charset="-122"/>
              </a:rPr>
              <a:t>、</a:t>
            </a:r>
            <a:r>
              <a:rPr lang="en-US" altLang="zh-CN" sz="3200" dirty="0">
                <a:latin typeface="宋体" pitchFamily="2" charset="-122"/>
                <a:cs typeface="等线" panose="02010600030101010101" charset="-122"/>
              </a:rPr>
              <a:t>INSERT</a:t>
            </a:r>
            <a:r>
              <a:rPr lang="zh-CN" altLang="en-US" sz="3200" dirty="0">
                <a:latin typeface="宋体" pitchFamily="2" charset="-122"/>
                <a:cs typeface="等线" panose="02010600030101010101" charset="-122"/>
              </a:rPr>
              <a:t>、</a:t>
            </a:r>
            <a:r>
              <a:rPr lang="en-US" altLang="zh-CN" sz="3200" dirty="0">
                <a:latin typeface="宋体" pitchFamily="2" charset="-122"/>
                <a:cs typeface="等线" panose="02010600030101010101" charset="-122"/>
              </a:rPr>
              <a:t>UPDATE</a:t>
            </a:r>
            <a:r>
              <a:rPr lang="zh-CN" altLang="en-US" sz="3200" dirty="0">
                <a:latin typeface="宋体" pitchFamily="2" charset="-122"/>
                <a:cs typeface="等线" panose="02010600030101010101" charset="-122"/>
              </a:rPr>
              <a:t>、</a:t>
            </a:r>
            <a:r>
              <a:rPr lang="en-US" altLang="zh-CN" sz="3200" dirty="0">
                <a:latin typeface="宋体" pitchFamily="2" charset="-122"/>
                <a:cs typeface="等线" panose="02010600030101010101" charset="-122"/>
              </a:rPr>
              <a:t>DELETE </a:t>
            </a:r>
            <a:r>
              <a:rPr lang="zh-CN" altLang="en-US" sz="3200" dirty="0">
                <a:latin typeface="宋体" pitchFamily="2" charset="-122"/>
                <a:cs typeface="等线" panose="02010600030101010101" charset="-122"/>
              </a:rPr>
              <a:t>语句的</a:t>
            </a:r>
            <a:r>
              <a:rPr lang="en-US" altLang="zh-CN" sz="3200" dirty="0">
                <a:latin typeface="宋体" pitchFamily="2" charset="-122"/>
                <a:cs typeface="等线" panose="02010600030101010101" charset="-122"/>
              </a:rPr>
              <a:t>WHERE</a:t>
            </a:r>
            <a:r>
              <a:rPr lang="zh-CN" altLang="en-US" sz="3200" dirty="0">
                <a:latin typeface="宋体" pitchFamily="2" charset="-122"/>
                <a:cs typeface="等线" panose="02010600030101010101" charset="-122"/>
              </a:rPr>
              <a:t>或</a:t>
            </a:r>
            <a:r>
              <a:rPr lang="en-US" altLang="zh-CN" sz="3200" dirty="0">
                <a:latin typeface="宋体" pitchFamily="2" charset="-122"/>
                <a:cs typeface="等线" panose="02010600030101010101" charset="-122"/>
              </a:rPr>
              <a:t>HAVING</a:t>
            </a:r>
            <a:r>
              <a:rPr lang="zh-CN" altLang="en-US" sz="3200" dirty="0">
                <a:latin typeface="宋体" pitchFamily="2" charset="-122"/>
                <a:cs typeface="等线" panose="02010600030101010101" charset="-122"/>
              </a:rPr>
              <a:t>子句内，或其它子查询中。</a:t>
            </a:r>
            <a:r>
              <a:rPr lang="en-US" altLang="zh-CN" sz="3200" dirty="0">
                <a:latin typeface="宋体" pitchFamily="2" charset="-122"/>
                <a:cs typeface="等线" panose="02010600030101010101" charset="-122"/>
              </a:rPr>
              <a:t> </a:t>
            </a:r>
          </a:p>
          <a:p>
            <a:pPr eaLnBrk="1" hangingPunct="1">
              <a:spcBef>
                <a:spcPts val="2400"/>
              </a:spcBef>
            </a:pPr>
            <a:r>
              <a:rPr lang="zh-CN" altLang="en-US" sz="3200" dirty="0">
                <a:latin typeface="宋体" pitchFamily="2" charset="-122"/>
                <a:cs typeface="等线" panose="02010600030101010101" charset="-122"/>
              </a:rPr>
              <a:t>子查询的</a:t>
            </a:r>
            <a:r>
              <a:rPr lang="en-US" altLang="zh-CN" sz="3200" dirty="0">
                <a:latin typeface="宋体" pitchFamily="2" charset="-122"/>
                <a:cs typeface="等线" panose="02010600030101010101" charset="-122"/>
              </a:rPr>
              <a:t>SELECT</a:t>
            </a:r>
            <a:r>
              <a:rPr lang="zh-CN" altLang="en-US" sz="3200" dirty="0">
                <a:latin typeface="宋体" pitchFamily="2" charset="-122"/>
                <a:cs typeface="等线" panose="02010600030101010101" charset="-122"/>
              </a:rPr>
              <a:t>查询使用圆括号括起来。</a:t>
            </a:r>
          </a:p>
          <a:p>
            <a:pPr eaLnBrk="1" hangingPunct="1">
              <a:spcBef>
                <a:spcPts val="2400"/>
              </a:spcBef>
            </a:pPr>
            <a:r>
              <a:rPr lang="zh-CN" altLang="en-US" sz="3200" dirty="0">
                <a:latin typeface="宋体" pitchFamily="2" charset="-122"/>
                <a:cs typeface="等线" panose="02010600030101010101" charset="-122"/>
              </a:rPr>
              <a:t>子查询语句可以出现在</a:t>
            </a:r>
            <a:r>
              <a:rPr lang="zh-CN" altLang="en-US" sz="3200" dirty="0">
                <a:solidFill>
                  <a:srgbClr val="FF0000"/>
                </a:solidFill>
                <a:latin typeface="宋体" pitchFamily="2" charset="-122"/>
                <a:cs typeface="等线" panose="02010600030101010101" charset="-122"/>
              </a:rPr>
              <a:t>任何</a:t>
            </a:r>
            <a:r>
              <a:rPr lang="zh-CN" altLang="en-US" sz="3200" dirty="0">
                <a:latin typeface="宋体" pitchFamily="2" charset="-122"/>
                <a:cs typeface="等线" panose="02010600030101010101" charset="-122"/>
              </a:rPr>
              <a:t>能够使用表达式的</a:t>
            </a:r>
            <a:r>
              <a:rPr lang="zh-CN" altLang="en-US" sz="3200" dirty="0" smtClean="0">
                <a:latin typeface="宋体" pitchFamily="2" charset="-122"/>
                <a:cs typeface="等线" panose="02010600030101010101" charset="-122"/>
              </a:rPr>
              <a:t>地方。通常</a:t>
            </a:r>
            <a:r>
              <a:rPr lang="zh-CN" altLang="en-US" sz="3200" dirty="0">
                <a:latin typeface="宋体" pitchFamily="2" charset="-122"/>
                <a:cs typeface="等线" panose="02010600030101010101" charset="-122"/>
              </a:rPr>
              <a:t>情况下，子查询语句用在外层查询的</a:t>
            </a:r>
            <a:r>
              <a:rPr lang="en-US" altLang="zh-CN" sz="3200" dirty="0">
                <a:latin typeface="宋体" pitchFamily="2" charset="-122"/>
                <a:cs typeface="等线" panose="02010600030101010101" charset="-122"/>
              </a:rPr>
              <a:t>WHERE</a:t>
            </a:r>
            <a:r>
              <a:rPr lang="zh-CN" altLang="en-US" sz="3200" dirty="0">
                <a:latin typeface="宋体" pitchFamily="2" charset="-122"/>
                <a:cs typeface="等线" panose="02010600030101010101" charset="-122"/>
              </a:rPr>
              <a:t>子句或</a:t>
            </a:r>
            <a:r>
              <a:rPr lang="en-US" altLang="zh-CN" sz="3200" dirty="0">
                <a:latin typeface="宋体" pitchFamily="2" charset="-122"/>
                <a:cs typeface="等线" panose="02010600030101010101" charset="-122"/>
              </a:rPr>
              <a:t>HAVING</a:t>
            </a:r>
            <a:r>
              <a:rPr lang="zh-CN" altLang="en-US" sz="3200" dirty="0">
                <a:latin typeface="宋体" pitchFamily="2" charset="-122"/>
                <a:cs typeface="等线" panose="02010600030101010101" charset="-122"/>
              </a:rPr>
              <a:t>子句中 。</a:t>
            </a:r>
          </a:p>
        </p:txBody>
      </p:sp>
    </p:spTree>
  </p:cSld>
  <p:clrMapOvr>
    <a:masterClrMapping/>
  </p:clrMapOvr>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2"/>
          <p:cNvSpPr>
            <a:spLocks noGrp="1"/>
          </p:cNvSpPr>
          <p:nvPr>
            <p:ph type="title"/>
          </p:nvPr>
        </p:nvSpPr>
        <p:spPr>
          <a:xfrm>
            <a:off x="381000" y="152400"/>
            <a:ext cx="7791450" cy="685800"/>
          </a:xfrm>
          <a:noFill/>
          <a:ln w="9525">
            <a:noFill/>
          </a:ln>
        </p:spPr>
        <p:txBody>
          <a:bodyPr vert="horz" wrap="square" lIns="91440" tIns="45720" rIns="91440" bIns="45720" rtlCol="0" anchor="ctr" anchorCtr="0">
            <a:normAutofit fontScale="90000"/>
          </a:bodyPr>
          <a:lstStyle/>
          <a:p>
            <a:pPr lvl="0" algn="ctr" eaLnBrk="1" hangingPunct="1">
              <a:buClrTx/>
              <a:buSzTx/>
              <a:buFontTx/>
            </a:pPr>
            <a:r>
              <a:rPr lang="zh-CN" altLang="en-US" sz="4000" b="0" dirty="0">
                <a:latin typeface="黑体" panose="02010609060101010101" pitchFamily="2" charset="-122"/>
                <a:ea typeface="黑体" panose="02010609060101010101" pitchFamily="2" charset="-122"/>
                <a:sym typeface="+mn-ea"/>
              </a:rPr>
              <a:t>1. 使用子查询进行基于集合的测试</a:t>
            </a:r>
          </a:p>
        </p:txBody>
      </p:sp>
      <p:sp>
        <p:nvSpPr>
          <p:cNvPr id="101379" name="Rectangle 3"/>
          <p:cNvSpPr>
            <a:spLocks noGrp="1"/>
          </p:cNvSpPr>
          <p:nvPr>
            <p:ph idx="1"/>
          </p:nvPr>
        </p:nvSpPr>
        <p:spPr>
          <a:xfrm>
            <a:off x="457200" y="1617663"/>
            <a:ext cx="8229600" cy="4554537"/>
          </a:xfrm>
        </p:spPr>
        <p:txBody>
          <a:bodyPr vert="horz" wrap="square" lIns="91440" tIns="45720" rIns="91440" bIns="45720" anchor="t" anchorCtr="0"/>
          <a:lstStyle/>
          <a:p>
            <a:pPr eaLnBrk="1" hangingPunct="1"/>
            <a:r>
              <a:rPr lang="zh-CN" altLang="en-US" sz="3600" dirty="0">
                <a:latin typeface="宋体" pitchFamily="2" charset="-122"/>
                <a:cs typeface="等线" panose="02010600030101010101" charset="-122"/>
              </a:rPr>
              <a:t>使用子查询进行基于集合的测试的语句的一般格式为：</a:t>
            </a:r>
            <a:endParaRPr lang="en-US" altLang="zh-CN" sz="4000" dirty="0">
              <a:latin typeface="宋体" pitchFamily="2" charset="-122"/>
              <a:cs typeface="等线" panose="02010600030101010101" charset="-122"/>
            </a:endParaRPr>
          </a:p>
          <a:p>
            <a:pPr lvl="1" eaLnBrk="1" hangingPunct="1">
              <a:buFont typeface="Wingdings" panose="05000000000000000000" pitchFamily="2" charset="2"/>
              <a:buNone/>
            </a:pPr>
            <a:r>
              <a:rPr lang="zh-CN" altLang="en-US" dirty="0">
                <a:solidFill>
                  <a:srgbClr val="FF0000"/>
                </a:solidFill>
                <a:latin typeface="宋体" pitchFamily="2" charset="-122"/>
                <a:cs typeface="等线" panose="02010600030101010101" charset="-122"/>
              </a:rPr>
              <a:t>列名 </a:t>
            </a:r>
            <a:r>
              <a:rPr lang="en-US" altLang="zh-CN" dirty="0">
                <a:solidFill>
                  <a:srgbClr val="FF0000"/>
                </a:solidFill>
                <a:latin typeface="宋体" pitchFamily="2" charset="-122"/>
                <a:cs typeface="等线" panose="02010600030101010101" charset="-122"/>
              </a:rPr>
              <a:t>[NOT] IN (</a:t>
            </a:r>
            <a:r>
              <a:rPr lang="zh-CN" altLang="en-US" dirty="0">
                <a:solidFill>
                  <a:srgbClr val="FF0000"/>
                </a:solidFill>
                <a:latin typeface="宋体" pitchFamily="2" charset="-122"/>
                <a:cs typeface="等线" panose="02010600030101010101" charset="-122"/>
              </a:rPr>
              <a:t>子查询</a:t>
            </a:r>
            <a:r>
              <a:rPr lang="en-US" altLang="zh-CN" dirty="0">
                <a:solidFill>
                  <a:srgbClr val="FF0000"/>
                </a:solidFill>
                <a:latin typeface="宋体" pitchFamily="2" charset="-122"/>
                <a:cs typeface="等线" panose="02010600030101010101" charset="-122"/>
              </a:rPr>
              <a:t>) </a:t>
            </a:r>
          </a:p>
        </p:txBody>
      </p:sp>
    </p:spTree>
  </p:cSld>
  <p:clrMapOvr>
    <a:masterClrMapping/>
  </p:clrMapOvr>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2"/>
          <p:cNvSpPr>
            <a:spLocks noGrp="1"/>
          </p:cNvSpPr>
          <p:nvPr>
            <p:ph type="title"/>
          </p:nvPr>
        </p:nvSpPr>
        <p:spPr>
          <a:xfrm>
            <a:off x="500063" y="152400"/>
            <a:ext cx="8001000" cy="685800"/>
          </a:xfrm>
          <a:noFill/>
          <a:ln w="9525">
            <a:noFill/>
          </a:ln>
        </p:spPr>
        <p:txBody>
          <a:bodyPr vert="horz" wrap="square" lIns="91440" tIns="45720" rIns="91440" bIns="45720" rtlCol="0" anchor="ctr" anchorCtr="0">
            <a:normAutofit fontScale="90000"/>
          </a:bodyPr>
          <a:lstStyle/>
          <a:p>
            <a:pPr lvl="0" algn="ctr" eaLnBrk="1" hangingPunct="1">
              <a:buClrTx/>
              <a:buSzTx/>
              <a:buFontTx/>
            </a:pPr>
            <a:r>
              <a:rPr lang="zh-CN" altLang="en-US" sz="4000" b="0" dirty="0">
                <a:latin typeface="黑体" panose="02010609060101010101" pitchFamily="2" charset="-122"/>
                <a:ea typeface="黑体" panose="02010609060101010101" pitchFamily="2" charset="-122"/>
                <a:sym typeface="+mn-ea"/>
              </a:rPr>
              <a:t>示例</a:t>
            </a:r>
          </a:p>
        </p:txBody>
      </p:sp>
      <p:sp>
        <p:nvSpPr>
          <p:cNvPr id="102403" name="Rectangle 3"/>
          <p:cNvSpPr>
            <a:spLocks noGrp="1"/>
          </p:cNvSpPr>
          <p:nvPr>
            <p:ph idx="1"/>
          </p:nvPr>
        </p:nvSpPr>
        <p:spPr>
          <a:xfrm>
            <a:off x="611188" y="1295400"/>
            <a:ext cx="8075612" cy="4876800"/>
          </a:xfrm>
        </p:spPr>
        <p:txBody>
          <a:bodyPr vert="horz" wrap="square" lIns="91440" tIns="45720" rIns="91440" bIns="45720" anchor="t" anchorCtr="0"/>
          <a:lstStyle/>
          <a:p>
            <a:pPr marL="0" indent="0" eaLnBrk="1" hangingPunct="1">
              <a:buNone/>
            </a:pPr>
            <a:r>
              <a:rPr lang="zh-CN" altLang="en-US" dirty="0" smtClean="0">
                <a:latin typeface="宋体" pitchFamily="2" charset="-122"/>
                <a:cs typeface="等线" panose="02010600030101010101" charset="-122"/>
              </a:rPr>
              <a:t>例</a:t>
            </a:r>
            <a:r>
              <a:rPr lang="en-US" altLang="zh-CN" sz="3200" dirty="0" smtClean="0"/>
              <a:t>4.63 </a:t>
            </a:r>
            <a:r>
              <a:rPr lang="zh-CN" altLang="en-US" dirty="0" smtClean="0">
                <a:latin typeface="宋体" pitchFamily="2" charset="-122"/>
                <a:cs typeface="等线" panose="02010600030101010101" charset="-122"/>
              </a:rPr>
              <a:t>查询</a:t>
            </a:r>
            <a:r>
              <a:rPr lang="zh-CN" altLang="en-US" dirty="0">
                <a:latin typeface="宋体" pitchFamily="2" charset="-122"/>
                <a:cs typeface="等线" panose="02010600030101010101" charset="-122"/>
              </a:rPr>
              <a:t>与刘晨在同一个系的学生。</a:t>
            </a:r>
          </a:p>
          <a:p>
            <a:pPr eaLnBrk="1" hangingPunct="1">
              <a:buFont typeface="Wingdings" panose="05000000000000000000" pitchFamily="2" charset="2"/>
              <a:buNone/>
            </a:pPr>
            <a:r>
              <a:rPr lang="zh-CN" altLang="en-US" dirty="0">
                <a:solidFill>
                  <a:srgbClr val="009900"/>
                </a:solidFill>
                <a:latin typeface="宋体" pitchFamily="2" charset="-122"/>
                <a:cs typeface="等线" panose="02010600030101010101" charset="-122"/>
              </a:rPr>
              <a:t>	</a:t>
            </a:r>
            <a:r>
              <a:rPr lang="en-US" altLang="zh-CN" dirty="0">
                <a:solidFill>
                  <a:srgbClr val="0000FF"/>
                </a:solidFill>
                <a:latin typeface="宋体" pitchFamily="2" charset="-122"/>
                <a:cs typeface="等线" panose="02010600030101010101" charset="-122"/>
              </a:rPr>
              <a:t>SELECT Sno, Sname, Sdept</a:t>
            </a:r>
          </a:p>
          <a:p>
            <a:pPr eaLnBrk="1" hangingPunct="1">
              <a:buFont typeface="Wingdings" panose="05000000000000000000" pitchFamily="2" charset="2"/>
              <a:buNone/>
            </a:pPr>
            <a:r>
              <a:rPr lang="en-US" altLang="zh-CN" dirty="0">
                <a:solidFill>
                  <a:srgbClr val="0000FF"/>
                </a:solidFill>
                <a:latin typeface="宋体" pitchFamily="2" charset="-122"/>
                <a:cs typeface="等线" panose="02010600030101010101" charset="-122"/>
              </a:rPr>
              <a:t>      FROM Student</a:t>
            </a:r>
          </a:p>
          <a:p>
            <a:pPr eaLnBrk="1" hangingPunct="1">
              <a:buFont typeface="Wingdings" panose="05000000000000000000" pitchFamily="2" charset="2"/>
              <a:buNone/>
            </a:pPr>
            <a:r>
              <a:rPr lang="en-US" altLang="zh-CN" dirty="0">
                <a:solidFill>
                  <a:srgbClr val="0000FF"/>
                </a:solidFill>
                <a:latin typeface="宋体" pitchFamily="2" charset="-122"/>
                <a:cs typeface="等线" panose="02010600030101010101" charset="-122"/>
              </a:rPr>
              <a:t>		WHERE Sdept </a:t>
            </a:r>
            <a:r>
              <a:rPr lang="en-US" altLang="zh-CN" dirty="0">
                <a:solidFill>
                  <a:srgbClr val="FF0000"/>
                </a:solidFill>
                <a:latin typeface="宋体" pitchFamily="2" charset="-122"/>
                <a:cs typeface="等线" panose="02010600030101010101" charset="-122"/>
              </a:rPr>
              <a:t>IN</a:t>
            </a:r>
          </a:p>
          <a:p>
            <a:pPr eaLnBrk="1" hangingPunct="1">
              <a:buFont typeface="Wingdings" panose="05000000000000000000" pitchFamily="2" charset="2"/>
              <a:buNone/>
            </a:pPr>
            <a:r>
              <a:rPr lang="en-US" altLang="zh-CN" dirty="0">
                <a:solidFill>
                  <a:srgbClr val="0000FF"/>
                </a:solidFill>
                <a:latin typeface="宋体" pitchFamily="2" charset="-122"/>
                <a:cs typeface="等线" panose="02010600030101010101" charset="-122"/>
              </a:rPr>
              <a:t>		   ( SELECT Sdept FROM Student</a:t>
            </a:r>
          </a:p>
          <a:p>
            <a:pPr eaLnBrk="1" hangingPunct="1">
              <a:buFont typeface="Wingdings" panose="05000000000000000000" pitchFamily="2" charset="2"/>
              <a:buNone/>
            </a:pPr>
            <a:r>
              <a:rPr lang="en-US" altLang="zh-CN" dirty="0">
                <a:solidFill>
                  <a:srgbClr val="0000FF"/>
                </a:solidFill>
                <a:latin typeface="宋体" pitchFamily="2" charset="-122"/>
                <a:cs typeface="等线" panose="02010600030101010101" charset="-122"/>
              </a:rPr>
              <a:t>			  WHERE Sname = ‘</a:t>
            </a:r>
            <a:r>
              <a:rPr lang="zh-CN" altLang="en-US" dirty="0">
                <a:solidFill>
                  <a:srgbClr val="0000FF"/>
                </a:solidFill>
                <a:latin typeface="宋体" pitchFamily="2" charset="-122"/>
                <a:cs typeface="等线" panose="02010600030101010101" charset="-122"/>
              </a:rPr>
              <a:t>刘晨’ </a:t>
            </a:r>
            <a:r>
              <a:rPr lang="en-US" altLang="zh-CN" dirty="0">
                <a:solidFill>
                  <a:srgbClr val="0000FF"/>
                </a:solidFill>
                <a:latin typeface="宋体" pitchFamily="2" charset="-122"/>
                <a:cs typeface="等线" panose="02010600030101010101" charset="-122"/>
              </a:rPr>
              <a:t>)</a:t>
            </a:r>
          </a:p>
          <a:p>
            <a:pPr eaLnBrk="1" hangingPunct="1">
              <a:buFont typeface="Wingdings" panose="05000000000000000000" pitchFamily="2" charset="2"/>
              <a:buNone/>
            </a:pPr>
            <a:r>
              <a:rPr lang="zh-CN" altLang="en-US" dirty="0">
                <a:solidFill>
                  <a:srgbClr val="0000FF"/>
                </a:solidFill>
                <a:latin typeface="宋体" pitchFamily="2" charset="-122"/>
                <a:cs typeface="等线" panose="02010600030101010101" charset="-122"/>
              </a:rPr>
              <a:t>         </a:t>
            </a:r>
            <a:r>
              <a:rPr lang="en-US" altLang="zh-CN" dirty="0">
                <a:solidFill>
                  <a:srgbClr val="0000FF"/>
                </a:solidFill>
                <a:latin typeface="宋体" pitchFamily="2" charset="-122"/>
                <a:cs typeface="等线" panose="02010600030101010101" charset="-122"/>
              </a:rPr>
              <a:t>AND Sname != ‘</a:t>
            </a:r>
            <a:r>
              <a:rPr lang="zh-CN" altLang="en-US" dirty="0">
                <a:solidFill>
                  <a:srgbClr val="0000FF"/>
                </a:solidFill>
                <a:latin typeface="宋体" pitchFamily="2" charset="-122"/>
                <a:cs typeface="等线" panose="02010600030101010101" charset="-122"/>
              </a:rPr>
              <a:t>刘晨’</a:t>
            </a:r>
            <a:r>
              <a:rPr lang="zh-CN" altLang="en-US" dirty="0">
                <a:solidFill>
                  <a:srgbClr val="009900"/>
                </a:solidFill>
                <a:latin typeface="宋体" pitchFamily="2" charset="-122"/>
                <a:cs typeface="等线" panose="02010600030101010101" charset="-122"/>
              </a:rPr>
              <a:t> </a:t>
            </a:r>
            <a:endParaRPr lang="en-US" altLang="zh-CN" dirty="0">
              <a:solidFill>
                <a:srgbClr val="009900"/>
              </a:solidFill>
              <a:latin typeface="宋体" pitchFamily="2" charset="-122"/>
              <a:cs typeface="等线" panose="02010600030101010101" charset="-122"/>
            </a:endParaRPr>
          </a:p>
        </p:txBody>
      </p:sp>
      <p:sp>
        <p:nvSpPr>
          <p:cNvPr id="534532" name="AutoShape 4"/>
          <p:cNvSpPr/>
          <p:nvPr/>
        </p:nvSpPr>
        <p:spPr>
          <a:xfrm>
            <a:off x="1715770" y="4066858"/>
            <a:ext cx="215900" cy="863600"/>
          </a:xfrm>
          <a:prstGeom prst="leftBrace">
            <a:avLst>
              <a:gd name="adj1" fmla="val 33333"/>
              <a:gd name="adj2" fmla="val 50000"/>
            </a:avLst>
          </a:prstGeom>
          <a:noFill/>
          <a:ln w="28575" cap="flat" cmpd="sng">
            <a:solidFill>
              <a:srgbClr val="FF0000"/>
            </a:solidFill>
            <a:prstDash val="solid"/>
            <a:headEnd type="none" w="med" len="med"/>
            <a:tailEnd type="none" w="med" len="med"/>
          </a:ln>
        </p:spPr>
        <p:txBody>
          <a:bodyPr wrap="none" anchor="ctr" anchorCtr="0"/>
          <a:lstStyle/>
          <a:p>
            <a:endParaRPr lang="zh-CN" altLang="en-US" dirty="0">
              <a:latin typeface="Arial" panose="020B0604020202020204" pitchFamily="34" charset="0"/>
            </a:endParaRPr>
          </a:p>
        </p:txBody>
      </p:sp>
      <p:sp>
        <p:nvSpPr>
          <p:cNvPr id="534533" name="Text Box 5"/>
          <p:cNvSpPr txBox="1"/>
          <p:nvPr/>
        </p:nvSpPr>
        <p:spPr>
          <a:xfrm>
            <a:off x="179388" y="3429000"/>
            <a:ext cx="503237" cy="457200"/>
          </a:xfrm>
          <a:prstGeom prst="rect">
            <a:avLst/>
          </a:prstGeom>
          <a:noFill/>
          <a:ln w="9525">
            <a:noFill/>
          </a:ln>
        </p:spPr>
        <p:txBody>
          <a:bodyPr>
            <a:spAutoFit/>
          </a:bodyPr>
          <a:lstStyle/>
          <a:p>
            <a:pPr algn="l" latinLnBrk="1">
              <a:spcBef>
                <a:spcPct val="50000"/>
              </a:spcBef>
            </a:pPr>
            <a:r>
              <a:rPr lang="en-US" altLang="en-US" sz="2400" b="1" dirty="0">
                <a:solidFill>
                  <a:srgbClr val="D60093"/>
                </a:solidFill>
                <a:latin typeface="Gulim" panose="02010600030101010101" pitchFamily="34" charset="-127"/>
              </a:rPr>
              <a:t>②</a:t>
            </a:r>
            <a:endParaRPr lang="zh-CN" altLang="en-US" sz="2400" b="1" dirty="0">
              <a:solidFill>
                <a:srgbClr val="D60093"/>
              </a:solidFill>
              <a:latin typeface="Gulim" panose="02010600030101010101" pitchFamily="34" charset="-127"/>
            </a:endParaRPr>
          </a:p>
        </p:txBody>
      </p:sp>
      <p:sp>
        <p:nvSpPr>
          <p:cNvPr id="534534" name="AutoShape 6"/>
          <p:cNvSpPr/>
          <p:nvPr/>
        </p:nvSpPr>
        <p:spPr>
          <a:xfrm>
            <a:off x="684213" y="2214563"/>
            <a:ext cx="315912" cy="3214687"/>
          </a:xfrm>
          <a:prstGeom prst="leftBrace">
            <a:avLst>
              <a:gd name="adj1" fmla="val 87719"/>
              <a:gd name="adj2" fmla="val 50000"/>
            </a:avLst>
          </a:prstGeom>
          <a:noFill/>
          <a:ln w="28575" cap="flat" cmpd="sng">
            <a:solidFill>
              <a:srgbClr val="FF0000"/>
            </a:solidFill>
            <a:prstDash val="solid"/>
            <a:headEnd type="none" w="med" len="med"/>
            <a:tailEnd type="none" w="med" len="med"/>
          </a:ln>
        </p:spPr>
        <p:txBody>
          <a:bodyPr wrap="none" anchor="ctr" anchorCtr="0"/>
          <a:lstStyle/>
          <a:p>
            <a:endParaRPr lang="zh-CN" altLang="en-US" dirty="0">
              <a:latin typeface="Arial" panose="020B0604020202020204" pitchFamily="34" charset="0"/>
            </a:endParaRPr>
          </a:p>
        </p:txBody>
      </p:sp>
      <p:sp>
        <p:nvSpPr>
          <p:cNvPr id="534535" name="Text Box 7"/>
          <p:cNvSpPr txBox="1"/>
          <p:nvPr/>
        </p:nvSpPr>
        <p:spPr>
          <a:xfrm>
            <a:off x="1212215" y="4292600"/>
            <a:ext cx="503238" cy="457200"/>
          </a:xfrm>
          <a:prstGeom prst="rect">
            <a:avLst/>
          </a:prstGeom>
          <a:noFill/>
          <a:ln w="9525">
            <a:noFill/>
          </a:ln>
        </p:spPr>
        <p:txBody>
          <a:bodyPr>
            <a:spAutoFit/>
          </a:bodyPr>
          <a:lstStyle/>
          <a:p>
            <a:pPr algn="l" latinLnBrk="1">
              <a:spcBef>
                <a:spcPct val="50000"/>
              </a:spcBef>
            </a:pPr>
            <a:r>
              <a:rPr lang="en-US" altLang="zh-CN" sz="2400" b="1" dirty="0">
                <a:solidFill>
                  <a:srgbClr val="D60093"/>
                </a:solidFill>
                <a:latin typeface="Gulim" panose="02010600030101010101" pitchFamily="34" charset="-127"/>
              </a:rPr>
              <a:t>①</a:t>
            </a:r>
            <a:endParaRPr lang="zh-CN" altLang="en-US" sz="2400" b="1" dirty="0">
              <a:solidFill>
                <a:srgbClr val="D60093"/>
              </a:solidFill>
              <a:latin typeface="Gulim" panose="02010600030101010101" pitchFamily="34" charset="-127"/>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534532"/>
                                        </p:tgtEl>
                                        <p:attrNameLst>
                                          <p:attrName>style.visibility</p:attrName>
                                        </p:attrNameLst>
                                      </p:cBhvr>
                                      <p:to>
                                        <p:strVal val="visible"/>
                                      </p:to>
                                    </p:set>
                                    <p:animEffect transition="in" filter="blinds(horizontal)">
                                      <p:cBhvr>
                                        <p:cTn id="7" dur="500"/>
                                        <p:tgtEl>
                                          <p:spTgt spid="534532"/>
                                        </p:tgtEl>
                                      </p:cBhvr>
                                    </p:animEffect>
                                  </p:childTnLst>
                                </p:cTn>
                              </p:par>
                            </p:childTnLst>
                          </p:cTn>
                        </p:par>
                        <p:par>
                          <p:cTn id="8" fill="hold">
                            <p:stCondLst>
                              <p:cond delay="500"/>
                            </p:stCondLst>
                            <p:childTnLst>
                              <p:par>
                                <p:cTn id="9" presetID="8" presetClass="entr" presetSubtype="16" fill="hold" grpId="0" nodeType="afterEffect">
                                  <p:stCondLst>
                                    <p:cond delay="0"/>
                                  </p:stCondLst>
                                  <p:childTnLst>
                                    <p:set>
                                      <p:cBhvr>
                                        <p:cTn id="10" dur="1" fill="hold">
                                          <p:stCondLst>
                                            <p:cond delay="0"/>
                                          </p:stCondLst>
                                        </p:cTn>
                                        <p:tgtEl>
                                          <p:spTgt spid="534535"/>
                                        </p:tgtEl>
                                        <p:attrNameLst>
                                          <p:attrName>style.visibility</p:attrName>
                                        </p:attrNameLst>
                                      </p:cBhvr>
                                      <p:to>
                                        <p:strVal val="visible"/>
                                      </p:to>
                                    </p:set>
                                    <p:animEffect transition="in" filter="diamond(in)">
                                      <p:cBhvr>
                                        <p:cTn id="11" dur="2000"/>
                                        <p:tgtEl>
                                          <p:spTgt spid="534535"/>
                                        </p:tgtEl>
                                      </p:cBhvr>
                                    </p:animEffect>
                                  </p:childTnLst>
                                </p:cTn>
                              </p:par>
                            </p:childTnLst>
                          </p:cTn>
                        </p:par>
                      </p:childTnLst>
                    </p:cTn>
                  </p:par>
                  <p:par>
                    <p:cTn id="12" fill="hold">
                      <p:stCondLst>
                        <p:cond delay="indefinite"/>
                      </p:stCondLst>
                      <p:childTnLst>
                        <p:par>
                          <p:cTn id="13" fill="hold">
                            <p:stCondLst>
                              <p:cond delay="0"/>
                            </p:stCondLst>
                            <p:childTnLst>
                              <p:par>
                                <p:cTn id="14" presetID="3" presetClass="entr" presetSubtype="10" fill="hold" grpId="0" nodeType="clickEffect">
                                  <p:stCondLst>
                                    <p:cond delay="0"/>
                                  </p:stCondLst>
                                  <p:childTnLst>
                                    <p:set>
                                      <p:cBhvr>
                                        <p:cTn id="15" dur="1" fill="hold">
                                          <p:stCondLst>
                                            <p:cond delay="0"/>
                                          </p:stCondLst>
                                        </p:cTn>
                                        <p:tgtEl>
                                          <p:spTgt spid="534534"/>
                                        </p:tgtEl>
                                        <p:attrNameLst>
                                          <p:attrName>style.visibility</p:attrName>
                                        </p:attrNameLst>
                                      </p:cBhvr>
                                      <p:to>
                                        <p:strVal val="visible"/>
                                      </p:to>
                                    </p:set>
                                    <p:animEffect transition="in" filter="blinds(horizontal)">
                                      <p:cBhvr>
                                        <p:cTn id="16" dur="500"/>
                                        <p:tgtEl>
                                          <p:spTgt spid="534534"/>
                                        </p:tgtEl>
                                      </p:cBhvr>
                                    </p:animEffect>
                                  </p:childTnLst>
                                </p:cTn>
                              </p:par>
                            </p:childTnLst>
                          </p:cTn>
                        </p:par>
                        <p:par>
                          <p:cTn id="17" fill="hold">
                            <p:stCondLst>
                              <p:cond delay="500"/>
                            </p:stCondLst>
                            <p:childTnLst>
                              <p:par>
                                <p:cTn id="18" presetID="4" presetClass="entr" presetSubtype="16" fill="hold" grpId="0" nodeType="afterEffect">
                                  <p:stCondLst>
                                    <p:cond delay="0"/>
                                  </p:stCondLst>
                                  <p:childTnLst>
                                    <p:set>
                                      <p:cBhvr>
                                        <p:cTn id="19" dur="1" fill="hold">
                                          <p:stCondLst>
                                            <p:cond delay="0"/>
                                          </p:stCondLst>
                                        </p:cTn>
                                        <p:tgtEl>
                                          <p:spTgt spid="534533"/>
                                        </p:tgtEl>
                                        <p:attrNameLst>
                                          <p:attrName>style.visibility</p:attrName>
                                        </p:attrNameLst>
                                      </p:cBhvr>
                                      <p:to>
                                        <p:strVal val="visible"/>
                                      </p:to>
                                    </p:set>
                                    <p:animEffect transition="in" filter="box(in)">
                                      <p:cBhvr>
                                        <p:cTn id="20" dur="500"/>
                                        <p:tgtEl>
                                          <p:spTgt spid="5345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4532" grpId="0" bldLvl="0" animBg="1"/>
      <p:bldP spid="534533" grpId="0"/>
      <p:bldP spid="534534" grpId="0" animBg="1"/>
      <p:bldP spid="534535" grpId="0"/>
    </p:bld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2"/>
          <p:cNvSpPr>
            <a:spLocks noGrp="1"/>
          </p:cNvSpPr>
          <p:nvPr>
            <p:ph type="title"/>
          </p:nvPr>
        </p:nvSpPr>
        <p:spPr>
          <a:xfrm>
            <a:off x="500063" y="152400"/>
            <a:ext cx="8001000" cy="685800"/>
          </a:xfrm>
          <a:noFill/>
          <a:ln w="9525">
            <a:noFill/>
          </a:ln>
        </p:spPr>
        <p:txBody>
          <a:bodyPr vert="horz" wrap="square" lIns="91440" tIns="45720" rIns="91440" bIns="45720" rtlCol="0" anchor="ctr" anchorCtr="0">
            <a:normAutofit fontScale="90000"/>
          </a:bodyPr>
          <a:lstStyle/>
          <a:p>
            <a:pPr lvl="0" algn="ctr" eaLnBrk="1" hangingPunct="1">
              <a:buClrTx/>
              <a:buSzTx/>
              <a:buFontTx/>
            </a:pPr>
            <a:r>
              <a:rPr lang="zh-CN" altLang="en-US" sz="4000" b="0" dirty="0">
                <a:latin typeface="黑体" panose="02010609060101010101" pitchFamily="2" charset="-122"/>
                <a:ea typeface="黑体" panose="02010609060101010101" pitchFamily="2" charset="-122"/>
                <a:sym typeface="+mn-ea"/>
              </a:rPr>
              <a:t>示例（续）</a:t>
            </a:r>
          </a:p>
        </p:txBody>
      </p:sp>
      <p:sp>
        <p:nvSpPr>
          <p:cNvPr id="104451" name="Rectangle 3"/>
          <p:cNvSpPr>
            <a:spLocks noGrp="1"/>
          </p:cNvSpPr>
          <p:nvPr>
            <p:ph idx="1"/>
          </p:nvPr>
        </p:nvSpPr>
        <p:spPr>
          <a:xfrm>
            <a:off x="467544" y="1196752"/>
            <a:ext cx="8229600" cy="5253692"/>
          </a:xfrm>
        </p:spPr>
        <p:txBody>
          <a:bodyPr vert="horz" wrap="square" lIns="91440" tIns="45720" rIns="91440" bIns="45720" anchor="t" anchorCtr="0"/>
          <a:lstStyle/>
          <a:p>
            <a:pPr marL="0" indent="0" eaLnBrk="1" hangingPunct="1">
              <a:buNone/>
            </a:pPr>
            <a:r>
              <a:rPr lang="zh-CN" altLang="en-US" dirty="0" smtClean="0">
                <a:latin typeface="宋体" pitchFamily="2" charset="-122"/>
                <a:cs typeface="等线" panose="02010600030101010101" charset="-122"/>
              </a:rPr>
              <a:t>例</a:t>
            </a:r>
            <a:r>
              <a:rPr lang="en-US" altLang="zh-CN" sz="3200" dirty="0" smtClean="0"/>
              <a:t>4.65 </a:t>
            </a:r>
            <a:r>
              <a:rPr lang="zh-CN" altLang="en-US" dirty="0" smtClean="0">
                <a:latin typeface="宋体" pitchFamily="2" charset="-122"/>
                <a:cs typeface="等线" panose="02010600030101010101" charset="-122"/>
              </a:rPr>
              <a:t>查询选修了“</a:t>
            </a:r>
            <a:r>
              <a:rPr lang="en-US" altLang="zh-CN" dirty="0" smtClean="0">
                <a:latin typeface="宋体" pitchFamily="2" charset="-122"/>
                <a:cs typeface="等线" panose="02010600030101010101" charset="-122"/>
              </a:rPr>
              <a:t>VB”</a:t>
            </a:r>
            <a:r>
              <a:rPr lang="zh-CN" altLang="en-US" dirty="0" smtClean="0">
                <a:latin typeface="宋体" pitchFamily="2" charset="-122"/>
                <a:cs typeface="等线" panose="02010600030101010101" charset="-122"/>
              </a:rPr>
              <a:t>课程的学生的学号、姓名。</a:t>
            </a:r>
          </a:p>
          <a:p>
            <a:pPr eaLnBrk="1" hangingPunct="1">
              <a:buFont typeface="Wingdings" panose="05000000000000000000" pitchFamily="2" charset="2"/>
              <a:buNone/>
            </a:pPr>
            <a:r>
              <a:rPr lang="en-US" altLang="zh-CN" sz="3200" dirty="0" smtClean="0">
                <a:solidFill>
                  <a:srgbClr val="0000FF"/>
                </a:solidFill>
                <a:latin typeface="宋体" pitchFamily="2" charset="-122"/>
                <a:cs typeface="等线" panose="02010600030101010101" charset="-122"/>
              </a:rPr>
              <a:t> SELECT </a:t>
            </a:r>
            <a:r>
              <a:rPr lang="en-US" altLang="zh-CN" sz="3200" dirty="0" err="1" smtClean="0">
                <a:solidFill>
                  <a:srgbClr val="0000FF"/>
                </a:solidFill>
                <a:latin typeface="宋体" pitchFamily="2" charset="-122"/>
                <a:cs typeface="等线" panose="02010600030101010101" charset="-122"/>
              </a:rPr>
              <a:t>Sno</a:t>
            </a:r>
            <a:r>
              <a:rPr lang="en-US" altLang="zh-CN" sz="3200" dirty="0" smtClean="0">
                <a:solidFill>
                  <a:srgbClr val="0000FF"/>
                </a:solidFill>
                <a:latin typeface="宋体" pitchFamily="2" charset="-122"/>
                <a:cs typeface="等线" panose="02010600030101010101" charset="-122"/>
              </a:rPr>
              <a:t>, </a:t>
            </a:r>
            <a:r>
              <a:rPr lang="en-US" altLang="zh-CN" sz="3200" dirty="0" err="1" smtClean="0">
                <a:solidFill>
                  <a:srgbClr val="0000FF"/>
                </a:solidFill>
                <a:latin typeface="宋体" pitchFamily="2" charset="-122"/>
                <a:cs typeface="等线" panose="02010600030101010101" charset="-122"/>
              </a:rPr>
              <a:t>Sname</a:t>
            </a:r>
            <a:r>
              <a:rPr lang="en-US" altLang="zh-CN" sz="3200" dirty="0" smtClean="0">
                <a:solidFill>
                  <a:srgbClr val="0000FF"/>
                </a:solidFill>
                <a:latin typeface="宋体" pitchFamily="2" charset="-122"/>
                <a:cs typeface="等线" panose="02010600030101010101" charset="-122"/>
              </a:rPr>
              <a:t> FROM Student</a:t>
            </a:r>
          </a:p>
          <a:p>
            <a:pPr eaLnBrk="1" hangingPunct="1">
              <a:buFont typeface="Wingdings" panose="05000000000000000000" pitchFamily="2" charset="2"/>
              <a:buNone/>
            </a:pPr>
            <a:r>
              <a:rPr lang="en-US" altLang="zh-CN" sz="3200" dirty="0">
                <a:solidFill>
                  <a:srgbClr val="0000FF"/>
                </a:solidFill>
                <a:latin typeface="宋体" pitchFamily="2" charset="-122"/>
                <a:cs typeface="等线" panose="02010600030101010101" charset="-122"/>
              </a:rPr>
              <a:t>	 WHERE Sno </a:t>
            </a:r>
            <a:r>
              <a:rPr lang="en-US" altLang="zh-CN" sz="3200" dirty="0">
                <a:solidFill>
                  <a:srgbClr val="FF0000"/>
                </a:solidFill>
                <a:latin typeface="宋体" pitchFamily="2" charset="-122"/>
                <a:cs typeface="等线" panose="02010600030101010101" charset="-122"/>
              </a:rPr>
              <a:t>IN</a:t>
            </a:r>
          </a:p>
          <a:p>
            <a:pPr eaLnBrk="1" hangingPunct="1">
              <a:buFont typeface="Wingdings" panose="05000000000000000000" pitchFamily="2" charset="2"/>
              <a:buNone/>
            </a:pPr>
            <a:r>
              <a:rPr lang="en-US" altLang="zh-CN" sz="3200" dirty="0">
                <a:solidFill>
                  <a:srgbClr val="0000FF"/>
                </a:solidFill>
                <a:latin typeface="宋体" pitchFamily="2" charset="-122"/>
                <a:cs typeface="等线" panose="02010600030101010101" charset="-122"/>
              </a:rPr>
              <a:t>		( SELECT Sno FROM SC</a:t>
            </a:r>
          </a:p>
          <a:p>
            <a:pPr eaLnBrk="1" hangingPunct="1">
              <a:buFont typeface="Wingdings" panose="05000000000000000000" pitchFamily="2" charset="2"/>
              <a:buNone/>
            </a:pPr>
            <a:r>
              <a:rPr lang="en-US" altLang="zh-CN" sz="3200" dirty="0">
                <a:solidFill>
                  <a:srgbClr val="0000FF"/>
                </a:solidFill>
                <a:latin typeface="宋体" pitchFamily="2" charset="-122"/>
                <a:cs typeface="等线" panose="02010600030101010101" charset="-122"/>
              </a:rPr>
              <a:t>		    WHERE Cno IN</a:t>
            </a:r>
          </a:p>
          <a:p>
            <a:pPr eaLnBrk="1" hangingPunct="1">
              <a:buFont typeface="Wingdings" panose="05000000000000000000" pitchFamily="2" charset="2"/>
              <a:buNone/>
            </a:pPr>
            <a:r>
              <a:rPr lang="en-US" altLang="zh-CN" sz="3200" dirty="0">
                <a:solidFill>
                  <a:srgbClr val="0000FF"/>
                </a:solidFill>
                <a:latin typeface="宋体" pitchFamily="2" charset="-122"/>
                <a:cs typeface="等线" panose="02010600030101010101" charset="-122"/>
              </a:rPr>
              <a:t>			(SELECT Cno FROM Course</a:t>
            </a:r>
          </a:p>
          <a:p>
            <a:pPr eaLnBrk="1" hangingPunct="1">
              <a:buFont typeface="Wingdings" panose="05000000000000000000" pitchFamily="2" charset="2"/>
              <a:buNone/>
            </a:pPr>
            <a:r>
              <a:rPr lang="en-US" altLang="zh-CN" sz="3200" dirty="0">
                <a:solidFill>
                  <a:srgbClr val="0000FF"/>
                </a:solidFill>
                <a:latin typeface="宋体" pitchFamily="2" charset="-122"/>
                <a:cs typeface="等线" panose="02010600030101010101" charset="-122"/>
              </a:rPr>
              <a:t>			  WHERE Cname = 'VB') )</a:t>
            </a:r>
            <a:r>
              <a:rPr lang="en-US" altLang="zh-CN" sz="3200" dirty="0">
                <a:solidFill>
                  <a:srgbClr val="009900"/>
                </a:solidFill>
                <a:latin typeface="宋体" pitchFamily="2" charset="-122"/>
                <a:cs typeface="等线" panose="02010600030101010101" charset="-122"/>
              </a:rPr>
              <a:t> </a:t>
            </a:r>
            <a:endParaRPr lang="en-US" altLang="zh-CN" sz="3200" dirty="0" smtClean="0">
              <a:solidFill>
                <a:srgbClr val="009900"/>
              </a:solidFill>
              <a:latin typeface="宋体" pitchFamily="2" charset="-122"/>
              <a:cs typeface="等线" panose="02010600030101010101" charset="-122"/>
            </a:endParaRPr>
          </a:p>
          <a:p>
            <a:pPr eaLnBrk="1" hangingPunct="1">
              <a:buNone/>
            </a:pPr>
            <a:r>
              <a:rPr lang="zh-CN" altLang="en-US" sz="3200" b="1" dirty="0">
                <a:solidFill>
                  <a:srgbClr val="FF0000"/>
                </a:solidFill>
                <a:latin typeface="宋体" pitchFamily="2" charset="-122"/>
              </a:rPr>
              <a:t>也可以用多表连接实现</a:t>
            </a:r>
            <a:endParaRPr lang="zh-CN" altLang="en-US" sz="3200" dirty="0">
              <a:solidFill>
                <a:srgbClr val="009900"/>
              </a:solidFill>
              <a:latin typeface="宋体" pitchFamily="2" charset="-122"/>
              <a:cs typeface="等线" panose="02010600030101010101" charset="-122"/>
            </a:endParaRPr>
          </a:p>
        </p:txBody>
      </p:sp>
    </p:spTree>
  </p:cSld>
  <p:clrMapOvr>
    <a:masterClrMapping/>
  </p:clrMapOvr>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2"/>
          <p:cNvSpPr>
            <a:spLocks noGrp="1"/>
          </p:cNvSpPr>
          <p:nvPr>
            <p:ph type="title"/>
          </p:nvPr>
        </p:nvSpPr>
        <p:spPr>
          <a:xfrm>
            <a:off x="500063" y="152400"/>
            <a:ext cx="8001000" cy="685800"/>
          </a:xfrm>
          <a:noFill/>
          <a:ln w="9525">
            <a:noFill/>
          </a:ln>
        </p:spPr>
        <p:txBody>
          <a:bodyPr vert="horz" wrap="square" lIns="91440" tIns="45720" rIns="91440" bIns="45720" rtlCol="0" anchor="ctr" anchorCtr="0">
            <a:normAutofit fontScale="90000"/>
          </a:bodyPr>
          <a:lstStyle/>
          <a:p>
            <a:pPr lvl="0" algn="ctr" eaLnBrk="1" hangingPunct="1">
              <a:buClrTx/>
              <a:buSzTx/>
              <a:buFontTx/>
            </a:pPr>
            <a:r>
              <a:rPr lang="zh-CN" altLang="en-US" sz="4000" b="0" dirty="0">
                <a:latin typeface="黑体" panose="02010609060101010101" pitchFamily="2" charset="-122"/>
                <a:ea typeface="黑体" panose="02010609060101010101" pitchFamily="2" charset="-122"/>
                <a:sym typeface="+mn-ea"/>
              </a:rPr>
              <a:t>示例（续）</a:t>
            </a:r>
          </a:p>
        </p:txBody>
      </p:sp>
      <p:sp>
        <p:nvSpPr>
          <p:cNvPr id="105475" name="Rectangle 3"/>
          <p:cNvSpPr>
            <a:spLocks noGrp="1"/>
          </p:cNvSpPr>
          <p:nvPr>
            <p:ph idx="1"/>
          </p:nvPr>
        </p:nvSpPr>
        <p:spPr>
          <a:xfrm>
            <a:off x="457200" y="1214438"/>
            <a:ext cx="8507288" cy="5143500"/>
          </a:xfrm>
        </p:spPr>
        <p:txBody>
          <a:bodyPr vert="horz" wrap="square" lIns="91440" tIns="45720" rIns="91440" bIns="45720" anchor="t" anchorCtr="0"/>
          <a:lstStyle/>
          <a:p>
            <a:pPr marL="0" indent="0" eaLnBrk="1" hangingPunct="1">
              <a:buNone/>
            </a:pPr>
            <a:r>
              <a:rPr lang="zh-CN" altLang="en-US" sz="2800" dirty="0" smtClean="0">
                <a:latin typeface="宋体" pitchFamily="2" charset="-122"/>
                <a:cs typeface="等线" panose="02010600030101010101" charset="-122"/>
              </a:rPr>
              <a:t>例</a:t>
            </a:r>
            <a:r>
              <a:rPr lang="en-US" altLang="zh-CN" sz="2800" dirty="0" smtClean="0"/>
              <a:t>4.66 </a:t>
            </a:r>
            <a:r>
              <a:rPr sz="2800" dirty="0" err="1" smtClean="0">
                <a:latin typeface="宋体" pitchFamily="2" charset="-122"/>
                <a:cs typeface="等线" panose="02010600030101010101" charset="-122"/>
              </a:rPr>
              <a:t>在选修了</a:t>
            </a:r>
            <a:r>
              <a:rPr sz="2800" dirty="0" err="1">
                <a:latin typeface="宋体" pitchFamily="2" charset="-122"/>
                <a:cs typeface="等线" panose="02010600030101010101" charset="-122"/>
              </a:rPr>
              <a:t>VB课程的这些学生中，统计他们的选课门数和平均成绩</a:t>
            </a:r>
            <a:r>
              <a:rPr lang="zh-CN" altLang="en-US" sz="2800" dirty="0" smtClean="0">
                <a:latin typeface="宋体" pitchFamily="2" charset="-122"/>
                <a:cs typeface="等线" panose="02010600030101010101" charset="-122"/>
              </a:rPr>
              <a:t>。</a:t>
            </a:r>
            <a:endParaRPr lang="en-US" altLang="zh-CN" sz="2800" dirty="0" smtClean="0">
              <a:latin typeface="宋体" pitchFamily="2" charset="-122"/>
              <a:cs typeface="等线" panose="02010600030101010101" charset="-122"/>
            </a:endParaRPr>
          </a:p>
          <a:p>
            <a:pPr marL="0" indent="0" eaLnBrk="1" hangingPunct="1">
              <a:buNone/>
            </a:pPr>
            <a:r>
              <a:rPr lang="en-US" altLang="zh-CN" sz="2800" dirty="0" smtClean="0">
                <a:solidFill>
                  <a:srgbClr val="0000FF"/>
                </a:solidFill>
                <a:latin typeface="宋体" pitchFamily="2" charset="-122"/>
                <a:cs typeface="等线" panose="02010600030101010101" charset="-122"/>
              </a:rPr>
              <a:t>SELECT </a:t>
            </a:r>
            <a:r>
              <a:rPr lang="en-US" altLang="zh-CN" sz="2800" dirty="0" err="1" smtClean="0">
                <a:solidFill>
                  <a:srgbClr val="0000FF"/>
                </a:solidFill>
                <a:latin typeface="宋体" pitchFamily="2" charset="-122"/>
                <a:cs typeface="等线" panose="02010600030101010101" charset="-122"/>
              </a:rPr>
              <a:t>Sno</a:t>
            </a:r>
            <a:r>
              <a:rPr lang="en-US" altLang="zh-CN" sz="2800" dirty="0" smtClean="0">
                <a:solidFill>
                  <a:srgbClr val="0000FF"/>
                </a:solidFill>
                <a:latin typeface="宋体" pitchFamily="2" charset="-122"/>
                <a:cs typeface="等线" panose="02010600030101010101" charset="-122"/>
              </a:rPr>
              <a:t> </a:t>
            </a:r>
            <a:r>
              <a:rPr lang="zh-CN" altLang="en-US" sz="2800" dirty="0" smtClean="0">
                <a:solidFill>
                  <a:srgbClr val="0000FF"/>
                </a:solidFill>
                <a:latin typeface="宋体" pitchFamily="2" charset="-122"/>
                <a:cs typeface="等线" panose="02010600030101010101" charset="-122"/>
              </a:rPr>
              <a:t>学</a:t>
            </a:r>
            <a:r>
              <a:rPr lang="zh-CN" altLang="en-US" sz="2800" dirty="0">
                <a:solidFill>
                  <a:srgbClr val="0000FF"/>
                </a:solidFill>
                <a:latin typeface="宋体" pitchFamily="2" charset="-122"/>
                <a:cs typeface="等线" panose="02010600030101010101" charset="-122"/>
              </a:rPr>
              <a:t>号</a:t>
            </a:r>
            <a:r>
              <a:rPr lang="en-US" altLang="zh-CN" sz="2800" dirty="0" smtClean="0">
                <a:solidFill>
                  <a:srgbClr val="0000FF"/>
                </a:solidFill>
                <a:latin typeface="宋体" pitchFamily="2" charset="-122"/>
                <a:cs typeface="等线" panose="02010600030101010101" charset="-122"/>
              </a:rPr>
              <a:t>,COUNT</a:t>
            </a:r>
            <a:r>
              <a:rPr lang="en-US" altLang="zh-CN" sz="2800" dirty="0">
                <a:solidFill>
                  <a:srgbClr val="0000FF"/>
                </a:solidFill>
                <a:latin typeface="宋体" pitchFamily="2" charset="-122"/>
                <a:cs typeface="等线" panose="02010600030101010101" charset="-122"/>
              </a:rPr>
              <a:t>(*) </a:t>
            </a:r>
            <a:r>
              <a:rPr lang="zh-CN" altLang="en-US" sz="2800" dirty="0">
                <a:solidFill>
                  <a:srgbClr val="0000FF"/>
                </a:solidFill>
                <a:latin typeface="宋体" pitchFamily="2" charset="-122"/>
                <a:cs typeface="等线" panose="02010600030101010101" charset="-122"/>
              </a:rPr>
              <a:t>选课门数</a:t>
            </a:r>
            <a:r>
              <a:rPr lang="en-US" altLang="zh-CN" sz="2800" dirty="0" smtClean="0">
                <a:solidFill>
                  <a:srgbClr val="0000FF"/>
                </a:solidFill>
                <a:latin typeface="宋体" pitchFamily="2" charset="-122"/>
                <a:cs typeface="等线" panose="02010600030101010101" charset="-122"/>
              </a:rPr>
              <a:t>,</a:t>
            </a:r>
          </a:p>
          <a:p>
            <a:pPr marL="0" indent="0" eaLnBrk="1" hangingPunct="1">
              <a:buNone/>
            </a:pPr>
            <a:r>
              <a:rPr lang="en-US" altLang="zh-CN" sz="2800" dirty="0">
                <a:solidFill>
                  <a:srgbClr val="0000FF"/>
                </a:solidFill>
                <a:latin typeface="宋体" pitchFamily="2" charset="-122"/>
                <a:cs typeface="等线" panose="02010600030101010101" charset="-122"/>
              </a:rPr>
              <a:t> </a:t>
            </a:r>
            <a:r>
              <a:rPr lang="en-US" altLang="zh-CN" sz="2800" dirty="0" smtClean="0">
                <a:solidFill>
                  <a:srgbClr val="0000FF"/>
                </a:solidFill>
                <a:latin typeface="宋体" pitchFamily="2" charset="-122"/>
                <a:cs typeface="等线" panose="02010600030101010101" charset="-122"/>
              </a:rPr>
              <a:t>      AVG(Grade</a:t>
            </a:r>
            <a:r>
              <a:rPr lang="en-US" altLang="zh-CN" sz="2800" dirty="0">
                <a:solidFill>
                  <a:srgbClr val="0000FF"/>
                </a:solidFill>
                <a:latin typeface="宋体" pitchFamily="2" charset="-122"/>
                <a:cs typeface="等线" panose="02010600030101010101" charset="-122"/>
              </a:rPr>
              <a:t>) </a:t>
            </a:r>
            <a:r>
              <a:rPr lang="zh-CN" altLang="en-US" sz="2800" dirty="0">
                <a:solidFill>
                  <a:srgbClr val="0000FF"/>
                </a:solidFill>
                <a:latin typeface="宋体" pitchFamily="2" charset="-122"/>
                <a:cs typeface="等线" panose="02010600030101010101" charset="-122"/>
              </a:rPr>
              <a:t>平均</a:t>
            </a:r>
            <a:r>
              <a:rPr lang="zh-CN" altLang="en-US" sz="2800" dirty="0" smtClean="0">
                <a:solidFill>
                  <a:srgbClr val="0000FF"/>
                </a:solidFill>
                <a:latin typeface="宋体" pitchFamily="2" charset="-122"/>
                <a:cs typeface="等线" panose="02010600030101010101" charset="-122"/>
              </a:rPr>
              <a:t>成绩</a:t>
            </a:r>
            <a:endParaRPr lang="en-US" altLang="zh-CN" sz="2800" dirty="0" smtClean="0">
              <a:solidFill>
                <a:srgbClr val="0000FF"/>
              </a:solidFill>
              <a:latin typeface="宋体" pitchFamily="2" charset="-122"/>
              <a:cs typeface="等线" panose="02010600030101010101" charset="-122"/>
            </a:endParaRPr>
          </a:p>
          <a:p>
            <a:pPr marL="0" indent="0" eaLnBrk="1" hangingPunct="1">
              <a:buNone/>
            </a:pPr>
            <a:r>
              <a:rPr lang="en-US" altLang="zh-CN" sz="2800" dirty="0" smtClean="0">
                <a:solidFill>
                  <a:srgbClr val="0000FF"/>
                </a:solidFill>
                <a:latin typeface="宋体" pitchFamily="2" charset="-122"/>
                <a:cs typeface="等线" panose="02010600030101010101" charset="-122"/>
              </a:rPr>
              <a:t>FROM </a:t>
            </a:r>
            <a:r>
              <a:rPr lang="en-US" altLang="zh-CN" sz="2800" dirty="0">
                <a:solidFill>
                  <a:srgbClr val="0000FF"/>
                </a:solidFill>
                <a:latin typeface="宋体" pitchFamily="2" charset="-122"/>
                <a:cs typeface="等线" panose="02010600030101010101" charset="-122"/>
              </a:rPr>
              <a:t>SC WHERE Sno </a:t>
            </a:r>
            <a:r>
              <a:rPr lang="en-US" altLang="zh-CN" sz="2800" dirty="0">
                <a:solidFill>
                  <a:srgbClr val="FF0000"/>
                </a:solidFill>
                <a:latin typeface="宋体" pitchFamily="2" charset="-122"/>
                <a:cs typeface="等线" panose="02010600030101010101" charset="-122"/>
              </a:rPr>
              <a:t>IN</a:t>
            </a:r>
            <a:r>
              <a:rPr lang="en-US" altLang="zh-CN" sz="2800" dirty="0">
                <a:solidFill>
                  <a:srgbClr val="0000FF"/>
                </a:solidFill>
                <a:latin typeface="宋体" pitchFamily="2" charset="-122"/>
                <a:cs typeface="等线" panose="02010600030101010101" charset="-122"/>
              </a:rPr>
              <a:t> (</a:t>
            </a:r>
          </a:p>
          <a:p>
            <a:pPr lvl="1" eaLnBrk="1" hangingPunct="1">
              <a:buFont typeface="Wingdings" panose="05000000000000000000" pitchFamily="2" charset="2"/>
              <a:buNone/>
            </a:pPr>
            <a:r>
              <a:rPr lang="en-US" altLang="zh-CN" sz="2800" dirty="0">
                <a:solidFill>
                  <a:srgbClr val="0000FF"/>
                </a:solidFill>
                <a:latin typeface="宋体" pitchFamily="2" charset="-122"/>
                <a:cs typeface="等线" panose="02010600030101010101" charset="-122"/>
              </a:rPr>
              <a:t>    SELECT </a:t>
            </a:r>
            <a:r>
              <a:rPr lang="en-US" altLang="zh-CN" sz="2800" dirty="0" err="1">
                <a:solidFill>
                  <a:srgbClr val="0000FF"/>
                </a:solidFill>
                <a:latin typeface="宋体" pitchFamily="2" charset="-122"/>
                <a:cs typeface="等线" panose="02010600030101010101" charset="-122"/>
              </a:rPr>
              <a:t>Sno</a:t>
            </a:r>
            <a:r>
              <a:rPr lang="en-US" altLang="zh-CN" sz="2800" dirty="0">
                <a:solidFill>
                  <a:srgbClr val="0000FF"/>
                </a:solidFill>
                <a:latin typeface="宋体" pitchFamily="2" charset="-122"/>
                <a:cs typeface="等线" panose="02010600030101010101" charset="-122"/>
              </a:rPr>
              <a:t> </a:t>
            </a:r>
            <a:endParaRPr lang="en-US" altLang="zh-CN" sz="2800" dirty="0" smtClean="0">
              <a:solidFill>
                <a:srgbClr val="0000FF"/>
              </a:solidFill>
              <a:latin typeface="宋体" pitchFamily="2" charset="-122"/>
              <a:cs typeface="等线" panose="02010600030101010101" charset="-122"/>
            </a:endParaRPr>
          </a:p>
          <a:p>
            <a:pPr lvl="1" eaLnBrk="1" hangingPunct="1">
              <a:buFont typeface="Wingdings" panose="05000000000000000000" pitchFamily="2" charset="2"/>
              <a:buNone/>
            </a:pPr>
            <a:r>
              <a:rPr lang="en-US" altLang="zh-CN" sz="2800" dirty="0" smtClean="0">
                <a:solidFill>
                  <a:srgbClr val="0000FF"/>
                </a:solidFill>
                <a:latin typeface="宋体" pitchFamily="2" charset="-122"/>
                <a:cs typeface="等线" panose="02010600030101010101" charset="-122"/>
              </a:rPr>
              <a:t>    FROM </a:t>
            </a:r>
            <a:r>
              <a:rPr lang="en-US" altLang="zh-CN" sz="2800" dirty="0">
                <a:solidFill>
                  <a:srgbClr val="0000FF"/>
                </a:solidFill>
                <a:latin typeface="宋体" pitchFamily="2" charset="-122"/>
                <a:cs typeface="等线" panose="02010600030101010101" charset="-122"/>
              </a:rPr>
              <a:t>SC JOIN Course C </a:t>
            </a:r>
            <a:r>
              <a:rPr lang="en-US" altLang="zh-CN" sz="2800" dirty="0" smtClean="0">
                <a:solidFill>
                  <a:srgbClr val="0000FF"/>
                </a:solidFill>
                <a:latin typeface="宋体" pitchFamily="2" charset="-122"/>
                <a:cs typeface="等线" panose="02010600030101010101" charset="-122"/>
              </a:rPr>
              <a:t>ON </a:t>
            </a:r>
            <a:r>
              <a:rPr lang="en-US" altLang="zh-CN" sz="2800" dirty="0">
                <a:solidFill>
                  <a:srgbClr val="0000FF"/>
                </a:solidFill>
                <a:latin typeface="宋体" pitchFamily="2" charset="-122"/>
                <a:cs typeface="等线" panose="02010600030101010101" charset="-122"/>
              </a:rPr>
              <a:t>C.Cno = SC.Cno</a:t>
            </a:r>
          </a:p>
          <a:p>
            <a:pPr lvl="1" eaLnBrk="1" hangingPunct="1">
              <a:buFont typeface="Wingdings" panose="05000000000000000000" pitchFamily="2" charset="2"/>
              <a:buNone/>
            </a:pPr>
            <a:r>
              <a:rPr lang="en-US" altLang="zh-CN" sz="2800" dirty="0" smtClean="0">
                <a:solidFill>
                  <a:srgbClr val="0000FF"/>
                </a:solidFill>
                <a:latin typeface="宋体" pitchFamily="2" charset="-122"/>
                <a:cs typeface="等线" panose="02010600030101010101" charset="-122"/>
              </a:rPr>
              <a:t>    WHERE </a:t>
            </a:r>
            <a:r>
              <a:rPr lang="en-US" altLang="zh-CN" sz="2800" dirty="0">
                <a:solidFill>
                  <a:srgbClr val="0000FF"/>
                </a:solidFill>
                <a:latin typeface="宋体" pitchFamily="2" charset="-122"/>
                <a:cs typeface="等线" panose="02010600030101010101" charset="-122"/>
              </a:rPr>
              <a:t>Cname = 'VB</a:t>
            </a:r>
            <a:r>
              <a:rPr lang="en-US" altLang="zh-CN" sz="2800" dirty="0" smtClean="0">
                <a:solidFill>
                  <a:srgbClr val="0000FF"/>
                </a:solidFill>
                <a:latin typeface="宋体" pitchFamily="2" charset="-122"/>
                <a:cs typeface="等线" panose="02010600030101010101" charset="-122"/>
              </a:rPr>
              <a:t>')</a:t>
            </a:r>
          </a:p>
          <a:p>
            <a:pPr marL="30163" lvl="1" indent="-30163" eaLnBrk="1" hangingPunct="1">
              <a:buFont typeface="Wingdings" panose="05000000000000000000" pitchFamily="2" charset="2"/>
              <a:buNone/>
            </a:pPr>
            <a:r>
              <a:rPr lang="en-US" altLang="zh-CN" sz="2800" dirty="0" smtClean="0">
                <a:solidFill>
                  <a:srgbClr val="0000FF"/>
                </a:solidFill>
                <a:latin typeface="宋体" pitchFamily="2" charset="-122"/>
                <a:cs typeface="等线" panose="02010600030101010101" charset="-122"/>
              </a:rPr>
              <a:t>GROUP </a:t>
            </a:r>
            <a:r>
              <a:rPr lang="en-US" altLang="zh-CN" sz="2800" dirty="0">
                <a:solidFill>
                  <a:srgbClr val="0000FF"/>
                </a:solidFill>
                <a:latin typeface="宋体" pitchFamily="2" charset="-122"/>
                <a:cs typeface="等线" panose="02010600030101010101" charset="-122"/>
              </a:rPr>
              <a:t>BY Sno</a:t>
            </a:r>
            <a:endParaRPr lang="zh-CN" altLang="en-US" sz="2800" dirty="0">
              <a:solidFill>
                <a:srgbClr val="0000FF"/>
              </a:solidFill>
              <a:latin typeface="宋体" pitchFamily="2" charset="-122"/>
              <a:cs typeface="等线" panose="02010600030101010101" charset="-122"/>
            </a:endParaRPr>
          </a:p>
        </p:txBody>
      </p:sp>
    </p:spTree>
  </p:cSld>
  <p:clrMapOvr>
    <a:masterClrMapping/>
  </p:clrMapOvr>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2"/>
          <p:cNvSpPr>
            <a:spLocks noGrp="1"/>
          </p:cNvSpPr>
          <p:nvPr>
            <p:ph type="title"/>
          </p:nvPr>
        </p:nvSpPr>
        <p:spPr>
          <a:xfrm>
            <a:off x="500063" y="152400"/>
            <a:ext cx="8001000" cy="685800"/>
          </a:xfrm>
          <a:noFill/>
          <a:ln w="9525">
            <a:noFill/>
          </a:ln>
        </p:spPr>
        <p:txBody>
          <a:bodyPr vert="horz" wrap="square" lIns="91440" tIns="45720" rIns="91440" bIns="45720" rtlCol="0" anchor="ctr" anchorCtr="0">
            <a:normAutofit fontScale="90000"/>
          </a:bodyPr>
          <a:lstStyle/>
          <a:p>
            <a:pPr lvl="0" algn="ctr" eaLnBrk="1" hangingPunct="1">
              <a:buClrTx/>
              <a:buSzTx/>
              <a:buFontTx/>
            </a:pPr>
            <a:r>
              <a:rPr lang="zh-CN" altLang="en-US" sz="4000" b="0" dirty="0">
                <a:latin typeface="黑体" panose="02010609060101010101" pitchFamily="2" charset="-122"/>
                <a:ea typeface="黑体" panose="02010609060101010101" pitchFamily="2" charset="-122"/>
                <a:sym typeface="+mn-ea"/>
              </a:rPr>
              <a:t>2．使用子查询进行比较测试</a:t>
            </a:r>
          </a:p>
        </p:txBody>
      </p:sp>
      <p:sp>
        <p:nvSpPr>
          <p:cNvPr id="106499" name="Rectangle 3"/>
          <p:cNvSpPr>
            <a:spLocks noGrp="1"/>
          </p:cNvSpPr>
          <p:nvPr>
            <p:ph idx="1"/>
          </p:nvPr>
        </p:nvSpPr>
        <p:spPr/>
        <p:txBody>
          <a:bodyPr vert="horz" wrap="square" lIns="91440" tIns="45720" rIns="91440" bIns="45720" anchor="t" anchorCtr="0"/>
          <a:lstStyle/>
          <a:p>
            <a:pPr eaLnBrk="1" hangingPunct="1"/>
            <a:r>
              <a:rPr lang="zh-CN" altLang="en-US" dirty="0">
                <a:latin typeface="宋体" pitchFamily="2" charset="-122"/>
                <a:cs typeface="等线" panose="02010600030101010101" charset="-122"/>
              </a:rPr>
              <a:t>使用子查询进行比较测试时，通过比较运算符（</a:t>
            </a:r>
            <a:r>
              <a:rPr lang="en-US" altLang="zh-CN" dirty="0">
                <a:latin typeface="宋体" pitchFamily="2" charset="-122"/>
                <a:cs typeface="等线" panose="02010600030101010101" charset="-122"/>
              </a:rPr>
              <a:t>=</a:t>
            </a:r>
            <a:r>
              <a:rPr lang="zh-CN" altLang="en-US" dirty="0">
                <a:latin typeface="宋体" pitchFamily="2" charset="-122"/>
                <a:cs typeface="等线" panose="02010600030101010101" charset="-122"/>
              </a:rPr>
              <a:t>、</a:t>
            </a:r>
            <a:r>
              <a:rPr lang="en-US" altLang="zh-CN" dirty="0">
                <a:latin typeface="宋体" pitchFamily="2" charset="-122"/>
                <a:cs typeface="等线" panose="02010600030101010101" charset="-122"/>
              </a:rPr>
              <a:t>&lt;&gt;</a:t>
            </a:r>
            <a:r>
              <a:rPr lang="zh-CN" altLang="en-US" dirty="0">
                <a:latin typeface="宋体" pitchFamily="2" charset="-122"/>
                <a:cs typeface="等线" panose="02010600030101010101" charset="-122"/>
              </a:rPr>
              <a:t>、</a:t>
            </a:r>
            <a:r>
              <a:rPr lang="en-US" altLang="zh-CN" dirty="0">
                <a:latin typeface="宋体" pitchFamily="2" charset="-122"/>
                <a:cs typeface="等线" panose="02010600030101010101" charset="-122"/>
              </a:rPr>
              <a:t>&lt;</a:t>
            </a:r>
            <a:r>
              <a:rPr lang="zh-CN" altLang="en-US" dirty="0">
                <a:latin typeface="宋体" pitchFamily="2" charset="-122"/>
                <a:cs typeface="等线" panose="02010600030101010101" charset="-122"/>
              </a:rPr>
              <a:t>、</a:t>
            </a:r>
            <a:r>
              <a:rPr lang="en-US" altLang="zh-CN" dirty="0">
                <a:latin typeface="宋体" pitchFamily="2" charset="-122"/>
                <a:cs typeface="等线" panose="02010600030101010101" charset="-122"/>
              </a:rPr>
              <a:t>&gt;</a:t>
            </a:r>
            <a:r>
              <a:rPr lang="zh-CN" altLang="en-US" dirty="0">
                <a:latin typeface="宋体" pitchFamily="2" charset="-122"/>
                <a:cs typeface="等线" panose="02010600030101010101" charset="-122"/>
              </a:rPr>
              <a:t>、</a:t>
            </a:r>
            <a:r>
              <a:rPr lang="en-US" altLang="zh-CN" dirty="0">
                <a:latin typeface="宋体" pitchFamily="2" charset="-122"/>
                <a:cs typeface="等线" panose="02010600030101010101" charset="-122"/>
              </a:rPr>
              <a:t>&lt;=</a:t>
            </a:r>
            <a:r>
              <a:rPr lang="zh-CN" altLang="en-US" dirty="0">
                <a:latin typeface="宋体" pitchFamily="2" charset="-122"/>
                <a:cs typeface="等线" panose="02010600030101010101" charset="-122"/>
              </a:rPr>
              <a:t>、</a:t>
            </a:r>
            <a:r>
              <a:rPr lang="en-US" altLang="zh-CN" dirty="0">
                <a:latin typeface="宋体" pitchFamily="2" charset="-122"/>
                <a:cs typeface="等线" panose="02010600030101010101" charset="-122"/>
              </a:rPr>
              <a:t>&lt;=</a:t>
            </a:r>
            <a:r>
              <a:rPr lang="zh-CN" altLang="en-US" dirty="0">
                <a:latin typeface="宋体" pitchFamily="2" charset="-122"/>
                <a:cs typeface="等线" panose="02010600030101010101" charset="-122"/>
              </a:rPr>
              <a:t>），将一个表达式的值与子查询返回的值进行比较。如果比较运算的结果为真，则比较测试返回</a:t>
            </a:r>
            <a:r>
              <a:rPr lang="en-US" altLang="zh-CN" dirty="0">
                <a:latin typeface="宋体" pitchFamily="2" charset="-122"/>
                <a:cs typeface="等线" panose="02010600030101010101" charset="-122"/>
              </a:rPr>
              <a:t>True</a:t>
            </a:r>
            <a:r>
              <a:rPr lang="zh-CN" altLang="en-US" dirty="0">
                <a:latin typeface="宋体" pitchFamily="2" charset="-122"/>
                <a:cs typeface="等线" panose="02010600030101010101" charset="-122"/>
              </a:rPr>
              <a:t>。</a:t>
            </a:r>
          </a:p>
          <a:p>
            <a:pPr eaLnBrk="1" hangingPunct="1"/>
            <a:r>
              <a:rPr lang="zh-CN" altLang="en-US" dirty="0">
                <a:latin typeface="宋体" pitchFamily="2" charset="-122"/>
                <a:cs typeface="等线" panose="02010600030101010101" charset="-122"/>
              </a:rPr>
              <a:t>使用子查询进行比较测试的形式如下：</a:t>
            </a:r>
          </a:p>
          <a:p>
            <a:pPr lvl="1" eaLnBrk="1" hangingPunct="1">
              <a:buFont typeface="Wingdings" panose="05000000000000000000" pitchFamily="2" charset="2"/>
              <a:buNone/>
            </a:pPr>
            <a:r>
              <a:rPr lang="en-US" altLang="zh-CN" dirty="0">
                <a:solidFill>
                  <a:srgbClr val="FF0000"/>
                </a:solidFill>
                <a:latin typeface="宋体" pitchFamily="2" charset="-122"/>
                <a:cs typeface="等线" panose="02010600030101010101" charset="-122"/>
              </a:rPr>
              <a:t>WHERE </a:t>
            </a:r>
            <a:r>
              <a:rPr lang="zh-CN" altLang="en-US" dirty="0">
                <a:solidFill>
                  <a:srgbClr val="FF0000"/>
                </a:solidFill>
                <a:latin typeface="宋体" pitchFamily="2" charset="-122"/>
                <a:cs typeface="等线" panose="02010600030101010101" charset="-122"/>
              </a:rPr>
              <a:t>表达式 比较运算符 （子查询）</a:t>
            </a:r>
            <a:r>
              <a:rPr lang="zh-CN" altLang="en-US" dirty="0">
                <a:latin typeface="宋体" pitchFamily="2" charset="-122"/>
                <a:cs typeface="等线" panose="02010600030101010101" charset="-122"/>
              </a:rPr>
              <a:t> </a:t>
            </a:r>
          </a:p>
          <a:p>
            <a:pPr eaLnBrk="1" hangingPunct="1"/>
            <a:r>
              <a:rPr lang="zh-CN" altLang="en-US" dirty="0">
                <a:latin typeface="宋体" pitchFamily="2" charset="-122"/>
                <a:cs typeface="等线" panose="02010600030101010101" charset="-122"/>
              </a:rPr>
              <a:t>要求子查询语句必须返回的是单值。</a:t>
            </a:r>
            <a:r>
              <a:rPr lang="en-US" altLang="zh-CN" dirty="0">
                <a:latin typeface="宋体" pitchFamily="2" charset="-122"/>
                <a:cs typeface="等线" panose="02010600030101010101" charset="-122"/>
              </a:rPr>
              <a:t> </a:t>
            </a:r>
          </a:p>
        </p:txBody>
      </p:sp>
    </p:spTree>
  </p:cSld>
  <p:clrMapOvr>
    <a:masterClrMapping/>
  </p:clrMapOvr>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2"/>
          <p:cNvSpPr>
            <a:spLocks noGrp="1"/>
          </p:cNvSpPr>
          <p:nvPr>
            <p:ph type="title"/>
          </p:nvPr>
        </p:nvSpPr>
        <p:spPr>
          <a:xfrm>
            <a:off x="500063" y="152400"/>
            <a:ext cx="8001000" cy="685800"/>
          </a:xfrm>
          <a:noFill/>
          <a:ln w="9525">
            <a:noFill/>
          </a:ln>
        </p:spPr>
        <p:txBody>
          <a:bodyPr vert="horz" wrap="square" lIns="91440" tIns="45720" rIns="91440" bIns="45720" rtlCol="0" anchor="ctr" anchorCtr="0">
            <a:normAutofit fontScale="90000"/>
          </a:bodyPr>
          <a:lstStyle/>
          <a:p>
            <a:pPr lvl="0" algn="ctr" eaLnBrk="1" hangingPunct="1">
              <a:buClrTx/>
              <a:buSzTx/>
              <a:buFontTx/>
            </a:pPr>
            <a:r>
              <a:rPr lang="zh-CN" altLang="en-US" sz="4000" b="0" dirty="0">
                <a:latin typeface="黑体" panose="02010609060101010101" pitchFamily="2" charset="-122"/>
                <a:ea typeface="黑体" panose="02010609060101010101" pitchFamily="2" charset="-122"/>
                <a:sym typeface="+mn-ea"/>
              </a:rPr>
              <a:t>示例（续）</a:t>
            </a:r>
          </a:p>
        </p:txBody>
      </p:sp>
      <p:sp>
        <p:nvSpPr>
          <p:cNvPr id="107523" name="Rectangle 3"/>
          <p:cNvSpPr>
            <a:spLocks noGrp="1"/>
          </p:cNvSpPr>
          <p:nvPr>
            <p:ph idx="1"/>
          </p:nvPr>
        </p:nvSpPr>
        <p:spPr/>
        <p:txBody>
          <a:bodyPr vert="horz" wrap="square" lIns="91440" tIns="45720" rIns="91440" bIns="45720" anchor="t" anchorCtr="0"/>
          <a:lstStyle/>
          <a:p>
            <a:pPr marL="0" indent="0" eaLnBrk="1" hangingPunct="1">
              <a:buNone/>
            </a:pPr>
            <a:r>
              <a:rPr lang="zh-CN" altLang="en-US" sz="3200" dirty="0" smtClean="0">
                <a:latin typeface="宋体" pitchFamily="2" charset="-122"/>
                <a:cs typeface="等线" panose="02010600030101010101" charset="-122"/>
              </a:rPr>
              <a:t>例</a:t>
            </a:r>
            <a:r>
              <a:rPr lang="en-US" altLang="zh-CN" sz="3200" dirty="0" smtClean="0"/>
              <a:t>4.68 </a:t>
            </a:r>
            <a:r>
              <a:rPr sz="3200" dirty="0" smtClean="0">
                <a:latin typeface="宋体" pitchFamily="2" charset="-122"/>
                <a:cs typeface="等线" panose="02010600030101010101" charset="-122"/>
              </a:rPr>
              <a:t>查询</a:t>
            </a:r>
            <a:r>
              <a:rPr sz="3200" dirty="0">
                <a:latin typeface="宋体" pitchFamily="2" charset="-122"/>
                <a:cs typeface="等线" panose="02010600030101010101" charset="-122"/>
              </a:rPr>
              <a:t>C004课程考试成绩高于此课程的考试平均成绩的学生的学号和C004</a:t>
            </a:r>
            <a:r>
              <a:rPr sz="3200" dirty="0" smtClean="0">
                <a:latin typeface="宋体" pitchFamily="2" charset="-122"/>
                <a:cs typeface="等线" panose="02010600030101010101" charset="-122"/>
              </a:rPr>
              <a:t>课程成绩</a:t>
            </a:r>
            <a:endParaRPr lang="zh-CN" altLang="en-US" sz="3200" dirty="0">
              <a:latin typeface="宋体" pitchFamily="2" charset="-122"/>
              <a:cs typeface="等线" panose="02010600030101010101" charset="-122"/>
            </a:endParaRPr>
          </a:p>
          <a:p>
            <a:pPr lvl="1" eaLnBrk="1" hangingPunct="1">
              <a:buFont typeface="Wingdings" panose="05000000000000000000" pitchFamily="2" charset="2"/>
              <a:buNone/>
            </a:pPr>
            <a:r>
              <a:rPr lang="en-US" altLang="zh-CN" dirty="0">
                <a:solidFill>
                  <a:srgbClr val="0000FF"/>
                </a:solidFill>
                <a:latin typeface="宋体" pitchFamily="2" charset="-122"/>
                <a:cs typeface="等线" panose="02010600030101010101" charset="-122"/>
              </a:rPr>
              <a:t>SELECT Sno , Grade FROM SC</a:t>
            </a:r>
          </a:p>
          <a:p>
            <a:pPr lvl="1" eaLnBrk="1" hangingPunct="1">
              <a:buFont typeface="Wingdings" panose="05000000000000000000" pitchFamily="2" charset="2"/>
              <a:buNone/>
            </a:pPr>
            <a:r>
              <a:rPr lang="en-US" altLang="zh-CN" dirty="0">
                <a:solidFill>
                  <a:srgbClr val="0000FF"/>
                </a:solidFill>
                <a:latin typeface="宋体" pitchFamily="2" charset="-122"/>
                <a:cs typeface="等线" panose="02010600030101010101" charset="-122"/>
              </a:rPr>
              <a:t>   WHERE Cno = 'C004' </a:t>
            </a:r>
          </a:p>
          <a:p>
            <a:pPr lvl="1" eaLnBrk="1" hangingPunct="1">
              <a:buFont typeface="Wingdings" panose="05000000000000000000" pitchFamily="2" charset="2"/>
              <a:buNone/>
            </a:pPr>
            <a:r>
              <a:rPr lang="en-US" altLang="zh-CN" dirty="0">
                <a:solidFill>
                  <a:srgbClr val="0000FF"/>
                </a:solidFill>
                <a:latin typeface="宋体" pitchFamily="2" charset="-122"/>
                <a:cs typeface="等线" panose="02010600030101010101" charset="-122"/>
              </a:rPr>
              <a:t>   AND Grade </a:t>
            </a:r>
            <a:r>
              <a:rPr lang="en-US" altLang="zh-CN" dirty="0">
                <a:solidFill>
                  <a:srgbClr val="FF0000"/>
                </a:solidFill>
                <a:latin typeface="宋体" pitchFamily="2" charset="-122"/>
                <a:cs typeface="等线" panose="02010600030101010101" charset="-122"/>
              </a:rPr>
              <a:t>&gt;</a:t>
            </a:r>
            <a:r>
              <a:rPr lang="en-US" altLang="zh-CN" dirty="0">
                <a:solidFill>
                  <a:srgbClr val="0000FF"/>
                </a:solidFill>
                <a:latin typeface="宋体" pitchFamily="2" charset="-122"/>
                <a:cs typeface="等线" panose="02010600030101010101" charset="-122"/>
              </a:rPr>
              <a:t> (</a:t>
            </a:r>
          </a:p>
          <a:p>
            <a:pPr lvl="1" eaLnBrk="1" hangingPunct="1">
              <a:buFont typeface="Wingdings" panose="05000000000000000000" pitchFamily="2" charset="2"/>
              <a:buNone/>
            </a:pPr>
            <a:r>
              <a:rPr lang="en-US" altLang="zh-CN" dirty="0">
                <a:solidFill>
                  <a:srgbClr val="0000FF"/>
                </a:solidFill>
                <a:latin typeface="宋体" pitchFamily="2" charset="-122"/>
                <a:cs typeface="等线" panose="02010600030101010101" charset="-122"/>
              </a:rPr>
              <a:t>     SELECT AVG(Grade) FROM SC </a:t>
            </a:r>
          </a:p>
          <a:p>
            <a:pPr lvl="1" eaLnBrk="1" hangingPunct="1">
              <a:buFont typeface="Wingdings" panose="05000000000000000000" pitchFamily="2" charset="2"/>
              <a:buNone/>
            </a:pPr>
            <a:r>
              <a:rPr lang="en-US" altLang="zh-CN" dirty="0">
                <a:solidFill>
                  <a:srgbClr val="0000FF"/>
                </a:solidFill>
                <a:latin typeface="宋体" pitchFamily="2" charset="-122"/>
                <a:cs typeface="等线" panose="02010600030101010101" charset="-122"/>
              </a:rPr>
              <a:t>       WHERE Cno = 'C004')</a:t>
            </a:r>
            <a:endParaRPr lang="zh-CN" altLang="en-US" dirty="0">
              <a:solidFill>
                <a:srgbClr val="0000FF"/>
              </a:solidFill>
              <a:latin typeface="宋体" pitchFamily="2" charset="-122"/>
              <a:cs typeface="等线" panose="02010600030101010101" charset="-122"/>
            </a:endParaRPr>
          </a:p>
        </p:txBody>
      </p:sp>
    </p:spTree>
  </p:cSld>
  <p:clrMapOvr>
    <a:masterClrMapping/>
  </p:clrMapOvr>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标题 1"/>
          <p:cNvSpPr>
            <a:spLocks noGrp="1"/>
          </p:cNvSpPr>
          <p:nvPr>
            <p:ph type="title"/>
          </p:nvPr>
        </p:nvSpPr>
        <p:spPr>
          <a:xfrm>
            <a:off x="500063" y="152400"/>
            <a:ext cx="8001000" cy="685800"/>
          </a:xfrm>
          <a:noFill/>
          <a:ln w="9525">
            <a:noFill/>
          </a:ln>
        </p:spPr>
        <p:txBody>
          <a:bodyPr vert="horz" wrap="square" lIns="91440" tIns="45720" rIns="91440" bIns="45720" rtlCol="0" anchor="ctr" anchorCtr="0">
            <a:normAutofit fontScale="90000"/>
          </a:bodyPr>
          <a:lstStyle/>
          <a:p>
            <a:pPr lvl="0" algn="ctr" eaLnBrk="1" hangingPunct="1">
              <a:buClrTx/>
              <a:buSzTx/>
              <a:buFontTx/>
            </a:pPr>
            <a:r>
              <a:rPr lang="zh-CN" altLang="en-US" sz="4000" b="0" dirty="0">
                <a:latin typeface="黑体" panose="02010609060101010101" pitchFamily="2" charset="-122"/>
                <a:ea typeface="黑体" panose="02010609060101010101" pitchFamily="2" charset="-122"/>
                <a:sym typeface="+mn-ea"/>
              </a:rPr>
              <a:t>示例</a:t>
            </a:r>
          </a:p>
        </p:txBody>
      </p:sp>
      <p:sp>
        <p:nvSpPr>
          <p:cNvPr id="108547" name="内容占位符 2"/>
          <p:cNvSpPr>
            <a:spLocks noGrp="1"/>
          </p:cNvSpPr>
          <p:nvPr>
            <p:ph idx="1"/>
          </p:nvPr>
        </p:nvSpPr>
        <p:spPr>
          <a:xfrm>
            <a:off x="457200" y="1268730"/>
            <a:ext cx="8229600" cy="4876800"/>
          </a:xfrm>
        </p:spPr>
        <p:txBody>
          <a:bodyPr vert="horz" wrap="square" lIns="91440" tIns="45720" rIns="91440" bIns="45720" anchor="t" anchorCtr="0"/>
          <a:lstStyle/>
          <a:p>
            <a:pPr marL="0" indent="0">
              <a:buNone/>
            </a:pPr>
            <a:r>
              <a:rPr lang="zh-CN" altLang="en-US" dirty="0" smtClean="0">
                <a:latin typeface="宋体" pitchFamily="2" charset="-122"/>
                <a:cs typeface="等线" panose="02010600030101010101" charset="-122"/>
              </a:rPr>
              <a:t>例</a:t>
            </a:r>
            <a:r>
              <a:rPr lang="en-US" altLang="zh-CN" sz="3200" dirty="0" smtClean="0"/>
              <a:t>4.69 </a:t>
            </a:r>
            <a:r>
              <a:rPr lang="zh-CN" altLang="en-US" dirty="0" smtClean="0">
                <a:latin typeface="宋体" pitchFamily="2" charset="-122"/>
                <a:cs typeface="等线" panose="02010600030101010101" charset="-122"/>
              </a:rPr>
              <a:t>查询</a:t>
            </a:r>
            <a:r>
              <a:rPr lang="zh-CN" altLang="en-US" dirty="0">
                <a:latin typeface="宋体" pitchFamily="2" charset="-122"/>
                <a:cs typeface="等线" panose="02010600030101010101" charset="-122"/>
              </a:rPr>
              <a:t>计算机系年龄最大的学生的姓名和年龄。</a:t>
            </a:r>
          </a:p>
          <a:p>
            <a:pPr>
              <a:buFont typeface="Wingdings" panose="05000000000000000000" pitchFamily="2" charset="2"/>
              <a:buNone/>
            </a:pPr>
            <a:r>
              <a:rPr lang="en-US" altLang="zh-CN" sz="3200" dirty="0">
                <a:solidFill>
                  <a:srgbClr val="0000FF"/>
                </a:solidFill>
                <a:latin typeface="宋体" pitchFamily="2" charset="-122"/>
                <a:cs typeface="等线" panose="02010600030101010101" charset="-122"/>
              </a:rPr>
              <a:t>SELECT Sname, Sage FROM Student</a:t>
            </a:r>
            <a:endParaRPr lang="zh-CN" altLang="en-US" sz="3200" dirty="0">
              <a:solidFill>
                <a:srgbClr val="0000FF"/>
              </a:solidFill>
              <a:latin typeface="宋体" pitchFamily="2" charset="-122"/>
              <a:cs typeface="等线" panose="02010600030101010101" charset="-122"/>
            </a:endParaRPr>
          </a:p>
          <a:p>
            <a:pPr>
              <a:buFont typeface="Wingdings" panose="05000000000000000000" pitchFamily="2" charset="2"/>
              <a:buNone/>
            </a:pPr>
            <a:r>
              <a:rPr lang="en-US" altLang="zh-CN" sz="3200" dirty="0">
                <a:solidFill>
                  <a:srgbClr val="0000FF"/>
                </a:solidFill>
                <a:latin typeface="宋体" pitchFamily="2" charset="-122"/>
                <a:cs typeface="等线" panose="02010600030101010101" charset="-122"/>
              </a:rPr>
              <a:t>  WHERE Sdept = '</a:t>
            </a:r>
            <a:r>
              <a:rPr lang="zh-CN" altLang="en-US" sz="3200" dirty="0">
                <a:solidFill>
                  <a:srgbClr val="0000FF"/>
                </a:solidFill>
                <a:latin typeface="宋体" pitchFamily="2" charset="-122"/>
                <a:cs typeface="等线" panose="02010600030101010101" charset="-122"/>
              </a:rPr>
              <a:t>计算机系</a:t>
            </a:r>
            <a:r>
              <a:rPr lang="en-US" altLang="zh-CN" sz="3200" dirty="0">
                <a:solidFill>
                  <a:srgbClr val="0000FF"/>
                </a:solidFill>
                <a:latin typeface="宋体" pitchFamily="2" charset="-122"/>
                <a:cs typeface="等线" panose="02010600030101010101" charset="-122"/>
              </a:rPr>
              <a:t>'</a:t>
            </a:r>
            <a:endParaRPr lang="zh-CN" altLang="en-US" sz="3200" dirty="0">
              <a:solidFill>
                <a:srgbClr val="0000FF"/>
              </a:solidFill>
              <a:latin typeface="宋体" pitchFamily="2" charset="-122"/>
              <a:cs typeface="等线" panose="02010600030101010101" charset="-122"/>
            </a:endParaRPr>
          </a:p>
          <a:p>
            <a:pPr>
              <a:buFont typeface="Wingdings" panose="05000000000000000000" pitchFamily="2" charset="2"/>
              <a:buNone/>
            </a:pPr>
            <a:r>
              <a:rPr lang="en-US" altLang="zh-CN" sz="3200" dirty="0">
                <a:solidFill>
                  <a:srgbClr val="0000FF"/>
                </a:solidFill>
                <a:latin typeface="宋体" pitchFamily="2" charset="-122"/>
                <a:cs typeface="等线" panose="02010600030101010101" charset="-122"/>
              </a:rPr>
              <a:t>    AND Sage = (</a:t>
            </a:r>
            <a:endParaRPr lang="zh-CN" altLang="en-US" sz="3200" dirty="0">
              <a:solidFill>
                <a:srgbClr val="0000FF"/>
              </a:solidFill>
              <a:latin typeface="宋体" pitchFamily="2" charset="-122"/>
              <a:cs typeface="等线" panose="02010600030101010101" charset="-122"/>
            </a:endParaRPr>
          </a:p>
          <a:p>
            <a:pPr>
              <a:buFont typeface="Wingdings" panose="05000000000000000000" pitchFamily="2" charset="2"/>
              <a:buNone/>
            </a:pPr>
            <a:r>
              <a:rPr lang="en-US" altLang="zh-CN" sz="3200" dirty="0">
                <a:solidFill>
                  <a:srgbClr val="0000FF"/>
                </a:solidFill>
                <a:latin typeface="宋体" pitchFamily="2" charset="-122"/>
                <a:cs typeface="等线" panose="02010600030101010101" charset="-122"/>
              </a:rPr>
              <a:t>      SELECT MAX(Sage) FROM Student </a:t>
            </a:r>
            <a:endParaRPr lang="zh-CN" altLang="en-US" sz="3200" dirty="0">
              <a:solidFill>
                <a:srgbClr val="0000FF"/>
              </a:solidFill>
              <a:latin typeface="宋体" pitchFamily="2" charset="-122"/>
              <a:cs typeface="等线" panose="02010600030101010101" charset="-122"/>
            </a:endParaRPr>
          </a:p>
          <a:p>
            <a:pPr>
              <a:buFont typeface="Wingdings" panose="05000000000000000000" pitchFamily="2" charset="2"/>
              <a:buNone/>
            </a:pPr>
            <a:r>
              <a:rPr lang="en-US" altLang="zh-CN" sz="3200" dirty="0">
                <a:solidFill>
                  <a:srgbClr val="0000FF"/>
                </a:solidFill>
                <a:latin typeface="宋体" pitchFamily="2" charset="-122"/>
                <a:cs typeface="等线" panose="02010600030101010101" charset="-122"/>
              </a:rPr>
              <a:t>        WHERE Sdept = '</a:t>
            </a:r>
            <a:r>
              <a:rPr lang="zh-CN" altLang="en-US" sz="3200" dirty="0">
                <a:solidFill>
                  <a:srgbClr val="0000FF"/>
                </a:solidFill>
                <a:latin typeface="宋体" pitchFamily="2" charset="-122"/>
                <a:cs typeface="等线" panose="02010600030101010101" charset="-122"/>
              </a:rPr>
              <a:t>计算机系</a:t>
            </a:r>
            <a:r>
              <a:rPr lang="en-US" altLang="zh-CN" sz="3200" dirty="0">
                <a:solidFill>
                  <a:srgbClr val="0000FF"/>
                </a:solidFill>
                <a:latin typeface="宋体" pitchFamily="2" charset="-122"/>
                <a:cs typeface="等线" panose="02010600030101010101" charset="-122"/>
              </a:rPr>
              <a:t>')</a:t>
            </a:r>
            <a:endParaRPr lang="zh-CN" altLang="en-US" sz="3200" dirty="0">
              <a:solidFill>
                <a:srgbClr val="0000FF"/>
              </a:solidFill>
              <a:latin typeface="宋体" pitchFamily="2" charset="-122"/>
              <a:cs typeface="等线" panose="02010600030101010101" charset="-122"/>
            </a:endParaRPr>
          </a:p>
        </p:txBody>
      </p:sp>
    </p:spTree>
  </p:cSld>
  <p:clrMapOvr>
    <a:masterClrMapping/>
  </p:clrMapOvr>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标题 1"/>
          <p:cNvSpPr>
            <a:spLocks noGrp="1"/>
          </p:cNvSpPr>
          <p:nvPr>
            <p:ph type="title"/>
          </p:nvPr>
        </p:nvSpPr>
        <p:spPr>
          <a:xfrm>
            <a:off x="500063" y="152400"/>
            <a:ext cx="8001000" cy="685800"/>
          </a:xfrm>
          <a:noFill/>
          <a:ln w="9525">
            <a:noFill/>
          </a:ln>
        </p:spPr>
        <p:txBody>
          <a:bodyPr vert="horz" wrap="square" lIns="91440" tIns="45720" rIns="91440" bIns="45720" rtlCol="0" anchor="ctr" anchorCtr="0">
            <a:normAutofit fontScale="90000"/>
          </a:bodyPr>
          <a:lstStyle/>
          <a:p>
            <a:pPr lvl="0" algn="ctr" eaLnBrk="1" hangingPunct="1">
              <a:buClrTx/>
              <a:buSzTx/>
              <a:buFontTx/>
            </a:pPr>
            <a:r>
              <a:rPr lang="zh-CN" altLang="en-US" sz="4000" b="0" dirty="0">
                <a:latin typeface="黑体" panose="02010609060101010101" pitchFamily="2" charset="-122"/>
                <a:ea typeface="黑体" panose="02010609060101010101" pitchFamily="2" charset="-122"/>
                <a:sym typeface="+mn-ea"/>
              </a:rPr>
              <a:t>示例</a:t>
            </a:r>
          </a:p>
        </p:txBody>
      </p:sp>
      <p:sp>
        <p:nvSpPr>
          <p:cNvPr id="109571" name="内容占位符 2"/>
          <p:cNvSpPr>
            <a:spLocks noGrp="1"/>
          </p:cNvSpPr>
          <p:nvPr>
            <p:ph idx="1"/>
          </p:nvPr>
        </p:nvSpPr>
        <p:spPr>
          <a:xfrm>
            <a:off x="457200" y="1295400"/>
            <a:ext cx="8329613" cy="4876800"/>
          </a:xfrm>
        </p:spPr>
        <p:txBody>
          <a:bodyPr vert="horz" wrap="square" lIns="91440" tIns="45720" rIns="91440" bIns="45720" anchor="t" anchorCtr="0"/>
          <a:lstStyle/>
          <a:p>
            <a:pPr marL="0" indent="0">
              <a:buNone/>
            </a:pPr>
            <a:r>
              <a:rPr lang="zh-CN" altLang="en-US" dirty="0" smtClean="0">
                <a:latin typeface="宋体" pitchFamily="2" charset="-122"/>
                <a:cs typeface="等线" panose="02010600030101010101" charset="-122"/>
              </a:rPr>
              <a:t>例</a:t>
            </a:r>
            <a:r>
              <a:rPr lang="en-US" altLang="zh-CN" sz="3200" dirty="0" smtClean="0"/>
              <a:t>4.70 </a:t>
            </a:r>
            <a:r>
              <a:rPr lang="zh-CN" altLang="en-US" dirty="0" smtClean="0">
                <a:latin typeface="宋体" pitchFamily="2" charset="-122"/>
                <a:cs typeface="等线" panose="02010600030101010101" charset="-122"/>
              </a:rPr>
              <a:t>查询</a:t>
            </a:r>
            <a:r>
              <a:rPr lang="zh-CN" altLang="en-US" dirty="0">
                <a:latin typeface="宋体" pitchFamily="2" charset="-122"/>
                <a:cs typeface="等线" panose="02010600030101010101" charset="-122"/>
              </a:rPr>
              <a:t>信息管理系学生中年龄大于该系学生平均年龄的学生的姓名和年龄。</a:t>
            </a:r>
          </a:p>
          <a:p>
            <a:pPr>
              <a:buFont typeface="Wingdings" panose="05000000000000000000" pitchFamily="2" charset="2"/>
              <a:buNone/>
            </a:pPr>
            <a:r>
              <a:rPr lang="en-US" altLang="zh-CN" sz="3200" dirty="0">
                <a:solidFill>
                  <a:srgbClr val="0000FF"/>
                </a:solidFill>
                <a:latin typeface="宋体" pitchFamily="2" charset="-122"/>
                <a:cs typeface="等线" panose="02010600030101010101" charset="-122"/>
              </a:rPr>
              <a:t>SELECT Sname, Sage FROM Student</a:t>
            </a:r>
            <a:endParaRPr lang="zh-CN" altLang="en-US" sz="3200" dirty="0">
              <a:solidFill>
                <a:srgbClr val="0000FF"/>
              </a:solidFill>
              <a:latin typeface="宋体" pitchFamily="2" charset="-122"/>
              <a:cs typeface="等线" panose="02010600030101010101" charset="-122"/>
            </a:endParaRPr>
          </a:p>
          <a:p>
            <a:pPr>
              <a:buFont typeface="Wingdings" panose="05000000000000000000" pitchFamily="2" charset="2"/>
              <a:buNone/>
            </a:pPr>
            <a:r>
              <a:rPr lang="en-US" altLang="zh-CN" sz="3200" dirty="0">
                <a:solidFill>
                  <a:srgbClr val="0000FF"/>
                </a:solidFill>
                <a:latin typeface="宋体" pitchFamily="2" charset="-122"/>
                <a:cs typeface="等线" panose="02010600030101010101" charset="-122"/>
              </a:rPr>
              <a:t>  WHERE Sdept = '</a:t>
            </a:r>
            <a:r>
              <a:rPr lang="zh-CN" altLang="en-US" sz="3200" dirty="0">
                <a:solidFill>
                  <a:srgbClr val="0000FF"/>
                </a:solidFill>
                <a:latin typeface="宋体" pitchFamily="2" charset="-122"/>
                <a:cs typeface="等线" panose="02010600030101010101" charset="-122"/>
              </a:rPr>
              <a:t>信息管理系</a:t>
            </a:r>
            <a:r>
              <a:rPr lang="en-US" altLang="zh-CN" sz="3200" dirty="0">
                <a:solidFill>
                  <a:srgbClr val="0000FF"/>
                </a:solidFill>
                <a:latin typeface="宋体" pitchFamily="2" charset="-122"/>
                <a:cs typeface="等线" panose="02010600030101010101" charset="-122"/>
              </a:rPr>
              <a:t>'</a:t>
            </a:r>
            <a:endParaRPr lang="zh-CN" altLang="en-US" sz="3200" dirty="0">
              <a:solidFill>
                <a:srgbClr val="0000FF"/>
              </a:solidFill>
              <a:latin typeface="宋体" pitchFamily="2" charset="-122"/>
              <a:cs typeface="等线" panose="02010600030101010101" charset="-122"/>
            </a:endParaRPr>
          </a:p>
          <a:p>
            <a:pPr>
              <a:buFont typeface="Wingdings" panose="05000000000000000000" pitchFamily="2" charset="2"/>
              <a:buNone/>
            </a:pPr>
            <a:r>
              <a:rPr lang="en-US" altLang="zh-CN" sz="3200" dirty="0">
                <a:solidFill>
                  <a:srgbClr val="0000FF"/>
                </a:solidFill>
                <a:latin typeface="宋体" pitchFamily="2" charset="-122"/>
                <a:cs typeface="等线" panose="02010600030101010101" charset="-122"/>
              </a:rPr>
              <a:t>    AND Sage &gt; (</a:t>
            </a:r>
            <a:endParaRPr lang="zh-CN" altLang="en-US" sz="3200" dirty="0">
              <a:solidFill>
                <a:srgbClr val="0000FF"/>
              </a:solidFill>
              <a:latin typeface="宋体" pitchFamily="2" charset="-122"/>
              <a:cs typeface="等线" panose="02010600030101010101" charset="-122"/>
            </a:endParaRPr>
          </a:p>
          <a:p>
            <a:pPr>
              <a:buFont typeface="Wingdings" panose="05000000000000000000" pitchFamily="2" charset="2"/>
              <a:buNone/>
            </a:pPr>
            <a:r>
              <a:rPr lang="en-US" altLang="zh-CN" sz="3200" dirty="0">
                <a:solidFill>
                  <a:srgbClr val="0000FF"/>
                </a:solidFill>
                <a:latin typeface="宋体" pitchFamily="2" charset="-122"/>
                <a:cs typeface="等线" panose="02010600030101010101" charset="-122"/>
              </a:rPr>
              <a:t>       SELECT AVG(Sage) FROM Student </a:t>
            </a:r>
            <a:endParaRPr lang="zh-CN" altLang="en-US" sz="3200" dirty="0">
              <a:solidFill>
                <a:srgbClr val="0000FF"/>
              </a:solidFill>
              <a:latin typeface="宋体" pitchFamily="2" charset="-122"/>
              <a:cs typeface="等线" panose="02010600030101010101" charset="-122"/>
            </a:endParaRPr>
          </a:p>
          <a:p>
            <a:pPr>
              <a:buFont typeface="Wingdings" panose="05000000000000000000" pitchFamily="2" charset="2"/>
              <a:buNone/>
            </a:pPr>
            <a:r>
              <a:rPr lang="en-US" altLang="zh-CN" sz="3200" dirty="0">
                <a:solidFill>
                  <a:srgbClr val="0000FF"/>
                </a:solidFill>
                <a:latin typeface="宋体" pitchFamily="2" charset="-122"/>
                <a:cs typeface="等线" panose="02010600030101010101" charset="-122"/>
              </a:rPr>
              <a:t>         WHERE Sdept = '</a:t>
            </a:r>
            <a:r>
              <a:rPr lang="zh-CN" altLang="en-US" sz="3200" dirty="0">
                <a:solidFill>
                  <a:srgbClr val="0000FF"/>
                </a:solidFill>
                <a:latin typeface="宋体" pitchFamily="2" charset="-122"/>
                <a:cs typeface="等线" panose="02010600030101010101" charset="-122"/>
              </a:rPr>
              <a:t>信息管理系</a:t>
            </a:r>
            <a:r>
              <a:rPr lang="en-US" altLang="zh-CN" sz="3200" dirty="0">
                <a:solidFill>
                  <a:srgbClr val="0000FF"/>
                </a:solidFill>
                <a:latin typeface="宋体" pitchFamily="2" charset="-122"/>
                <a:cs typeface="等线" panose="02010600030101010101" charset="-122"/>
              </a:rPr>
              <a:t>')</a:t>
            </a:r>
            <a:endParaRPr lang="zh-CN" altLang="en-US" sz="3200" dirty="0">
              <a:solidFill>
                <a:srgbClr val="0000FF"/>
              </a:solidFill>
              <a:latin typeface="宋体" pitchFamily="2" charset="-122"/>
              <a:cs typeface="等线" panose="02010600030101010101" charset="-122"/>
            </a:endParaRPr>
          </a:p>
        </p:txBody>
      </p:sp>
    </p:spTree>
  </p:cSld>
  <p:clrMapOvr>
    <a:masterClrMapping/>
  </p:clrMapOvr>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Rectangle 2"/>
          <p:cNvSpPr>
            <a:spLocks noGrp="1"/>
          </p:cNvSpPr>
          <p:nvPr>
            <p:ph type="title"/>
          </p:nvPr>
        </p:nvSpPr>
        <p:spPr>
          <a:xfrm>
            <a:off x="500063" y="152400"/>
            <a:ext cx="8001000" cy="685800"/>
          </a:xfrm>
          <a:noFill/>
          <a:ln w="9525">
            <a:noFill/>
          </a:ln>
        </p:spPr>
        <p:txBody>
          <a:bodyPr vert="horz" wrap="square" lIns="91440" tIns="45720" rIns="91440" bIns="45720" rtlCol="0" anchor="ctr" anchorCtr="0">
            <a:normAutofit fontScale="90000"/>
          </a:bodyPr>
          <a:lstStyle/>
          <a:p>
            <a:pPr lvl="0" algn="ctr" eaLnBrk="1" hangingPunct="1">
              <a:buClrTx/>
              <a:buSzTx/>
              <a:buFontTx/>
            </a:pPr>
            <a:r>
              <a:rPr lang="zh-CN" altLang="en-US" sz="4000" b="0" dirty="0">
                <a:latin typeface="黑体" panose="02010609060101010101" pitchFamily="2" charset="-122"/>
                <a:ea typeface="黑体" panose="02010609060101010101" pitchFamily="2" charset="-122"/>
                <a:sym typeface="+mn-ea"/>
              </a:rPr>
              <a:t>3. 使用子查询进行存在性测试 </a:t>
            </a:r>
          </a:p>
        </p:txBody>
      </p:sp>
      <p:sp>
        <p:nvSpPr>
          <p:cNvPr id="110595" name="Rectangle 3"/>
          <p:cNvSpPr>
            <a:spLocks noGrp="1"/>
          </p:cNvSpPr>
          <p:nvPr>
            <p:ph idx="1"/>
          </p:nvPr>
        </p:nvSpPr>
        <p:spPr>
          <a:xfrm>
            <a:off x="323850" y="1268413"/>
            <a:ext cx="8362950" cy="5040312"/>
          </a:xfrm>
        </p:spPr>
        <p:txBody>
          <a:bodyPr vert="horz" wrap="square" lIns="91440" tIns="45720" rIns="91440" bIns="45720" anchor="t" anchorCtr="0"/>
          <a:lstStyle/>
          <a:p>
            <a:pPr marL="0" indent="0" eaLnBrk="1" hangingPunct="1">
              <a:buNone/>
            </a:pPr>
            <a:r>
              <a:rPr lang="zh-CN" altLang="en-US" sz="3200" dirty="0">
                <a:latin typeface="宋体" pitchFamily="2" charset="-122"/>
                <a:cs typeface="等线" panose="02010600030101010101" charset="-122"/>
              </a:rPr>
              <a:t>通常用</a:t>
            </a:r>
            <a:r>
              <a:rPr lang="en-US" altLang="zh-CN" sz="3200" dirty="0">
                <a:latin typeface="宋体" pitchFamily="2" charset="-122"/>
                <a:cs typeface="等线" panose="02010600030101010101" charset="-122"/>
              </a:rPr>
              <a:t>EXISTS</a:t>
            </a:r>
            <a:r>
              <a:rPr lang="zh-CN" altLang="en-US" sz="3200" dirty="0">
                <a:latin typeface="宋体" pitchFamily="2" charset="-122"/>
                <a:cs typeface="等线" panose="02010600030101010101" charset="-122"/>
              </a:rPr>
              <a:t>谓词，其形式如下：</a:t>
            </a:r>
          </a:p>
          <a:p>
            <a:pPr lvl="1" eaLnBrk="1" hangingPunct="1">
              <a:buFont typeface="Wingdings" panose="05000000000000000000" pitchFamily="2" charset="2"/>
              <a:buNone/>
            </a:pPr>
            <a:r>
              <a:rPr lang="en-US" altLang="zh-CN" dirty="0">
                <a:solidFill>
                  <a:srgbClr val="FF0000"/>
                </a:solidFill>
                <a:latin typeface="宋体" pitchFamily="2" charset="-122"/>
                <a:cs typeface="等线" panose="02010600030101010101" charset="-122"/>
              </a:rPr>
              <a:t>WHERE [NOT] EXISTS</a:t>
            </a:r>
            <a:r>
              <a:rPr lang="zh-CN" altLang="en-US" dirty="0">
                <a:solidFill>
                  <a:srgbClr val="FF0000"/>
                </a:solidFill>
                <a:latin typeface="宋体" pitchFamily="2" charset="-122"/>
                <a:cs typeface="等线" panose="02010600030101010101" charset="-122"/>
              </a:rPr>
              <a:t>（子查询）</a:t>
            </a:r>
          </a:p>
          <a:p>
            <a:pPr eaLnBrk="1" hangingPunct="1">
              <a:spcBef>
                <a:spcPts val="2400"/>
              </a:spcBef>
            </a:pPr>
            <a:r>
              <a:rPr lang="zh-CN" altLang="en-US" sz="3200" dirty="0">
                <a:latin typeface="宋体" pitchFamily="2" charset="-122"/>
                <a:cs typeface="等线" panose="02010600030101010101" charset="-122"/>
              </a:rPr>
              <a:t>带</a:t>
            </a:r>
            <a:r>
              <a:rPr lang="en-US" altLang="zh-CN" sz="3200" dirty="0">
                <a:latin typeface="宋体" pitchFamily="2" charset="-122"/>
                <a:cs typeface="等线" panose="02010600030101010101" charset="-122"/>
              </a:rPr>
              <a:t>EXISTS</a:t>
            </a:r>
            <a:r>
              <a:rPr lang="zh-CN" altLang="en-US" sz="3200" dirty="0">
                <a:latin typeface="宋体" pitchFamily="2" charset="-122"/>
                <a:cs typeface="等线" panose="02010600030101010101" charset="-122"/>
              </a:rPr>
              <a:t>谓词的子查询不返回查询的数据，只产生逻辑真值和逻辑假值。</a:t>
            </a:r>
            <a:endParaRPr lang="zh-CN" altLang="en-US" sz="3200" dirty="0">
              <a:latin typeface="宋体" pitchFamily="2" charset="-122"/>
              <a:cs typeface="等线" panose="02010600030101010101" charset="-122"/>
              <a:sym typeface="Symbol" panose="05050102010706020507" pitchFamily="18" charset="2"/>
            </a:endParaRPr>
          </a:p>
          <a:p>
            <a:pPr eaLnBrk="1" hangingPunct="1">
              <a:spcBef>
                <a:spcPts val="2400"/>
              </a:spcBef>
            </a:pPr>
            <a:r>
              <a:rPr lang="en-US" altLang="zh-CN" sz="3200" dirty="0">
                <a:solidFill>
                  <a:srgbClr val="D60093"/>
                </a:solidFill>
                <a:latin typeface="宋体" pitchFamily="2" charset="-122"/>
                <a:cs typeface="等线" panose="02010600030101010101" charset="-122"/>
              </a:rPr>
              <a:t>EXISTS</a:t>
            </a:r>
            <a:r>
              <a:rPr lang="zh-CN" altLang="en-US" sz="3200" dirty="0">
                <a:latin typeface="宋体" pitchFamily="2" charset="-122"/>
                <a:cs typeface="等线" panose="02010600030101010101" charset="-122"/>
              </a:rPr>
              <a:t>：当子查询中有满足条件的数据时，返回真值，否则返回假值。</a:t>
            </a:r>
            <a:endParaRPr lang="zh-CN" altLang="en-US" sz="3200" dirty="0">
              <a:latin typeface="宋体" pitchFamily="2" charset="-122"/>
              <a:cs typeface="等线" panose="02010600030101010101" charset="-122"/>
              <a:sym typeface="Symbol" panose="05050102010706020507" pitchFamily="18" charset="2"/>
            </a:endParaRPr>
          </a:p>
          <a:p>
            <a:pPr eaLnBrk="1" hangingPunct="1">
              <a:spcBef>
                <a:spcPts val="2400"/>
              </a:spcBef>
            </a:pPr>
            <a:r>
              <a:rPr lang="en-US" altLang="zh-CN" sz="3200" dirty="0">
                <a:solidFill>
                  <a:srgbClr val="D60093"/>
                </a:solidFill>
                <a:latin typeface="宋体" pitchFamily="2" charset="-122"/>
                <a:cs typeface="等线" panose="02010600030101010101" charset="-122"/>
              </a:rPr>
              <a:t>NOT EXISTS</a:t>
            </a:r>
            <a:r>
              <a:rPr lang="zh-CN" altLang="en-US" sz="3200" dirty="0">
                <a:latin typeface="宋体" pitchFamily="2" charset="-122"/>
                <a:cs typeface="等线" panose="02010600030101010101" charset="-122"/>
              </a:rPr>
              <a:t>：当子查询中有满足条件的数据时，返回假值；否则返回真值。 </a:t>
            </a:r>
          </a:p>
        </p:txBody>
      </p:sp>
    </p:spTree>
  </p:cSld>
  <p:clrMapOvr>
    <a:masterClrMapping/>
  </p:clrMapOvr>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Rectangle 2"/>
          <p:cNvSpPr>
            <a:spLocks noGrp="1"/>
          </p:cNvSpPr>
          <p:nvPr>
            <p:ph type="title"/>
          </p:nvPr>
        </p:nvSpPr>
        <p:spPr>
          <a:xfrm>
            <a:off x="500063" y="152400"/>
            <a:ext cx="8001000" cy="685800"/>
          </a:xfrm>
          <a:noFill/>
          <a:ln w="9525">
            <a:noFill/>
          </a:ln>
        </p:spPr>
        <p:txBody>
          <a:bodyPr vert="horz" wrap="square" lIns="91440" tIns="45720" rIns="91440" bIns="45720" rtlCol="0" anchor="ctr" anchorCtr="0">
            <a:normAutofit fontScale="90000"/>
          </a:bodyPr>
          <a:lstStyle/>
          <a:p>
            <a:pPr lvl="0" algn="ctr" eaLnBrk="1" hangingPunct="1">
              <a:buClrTx/>
              <a:buSzTx/>
              <a:buFontTx/>
            </a:pPr>
            <a:r>
              <a:rPr lang="zh-CN" altLang="en-US" sz="4000" b="0" dirty="0">
                <a:latin typeface="黑体" panose="02010609060101010101" pitchFamily="2" charset="-122"/>
                <a:ea typeface="黑体" panose="02010609060101010101" pitchFamily="2" charset="-122"/>
                <a:sym typeface="+mn-ea"/>
              </a:rPr>
              <a:t>示例</a:t>
            </a:r>
          </a:p>
        </p:txBody>
      </p:sp>
      <p:sp>
        <p:nvSpPr>
          <p:cNvPr id="111619" name="Rectangle 3"/>
          <p:cNvSpPr>
            <a:spLocks noGrp="1"/>
          </p:cNvSpPr>
          <p:nvPr>
            <p:ph idx="1"/>
          </p:nvPr>
        </p:nvSpPr>
        <p:spPr>
          <a:xfrm>
            <a:off x="457200" y="1295400"/>
            <a:ext cx="8507288" cy="4876800"/>
          </a:xfrm>
        </p:spPr>
        <p:txBody>
          <a:bodyPr vert="horz" wrap="square" lIns="91440" tIns="45720" rIns="91440" bIns="45720" anchor="t" anchorCtr="0"/>
          <a:lstStyle/>
          <a:p>
            <a:pPr marL="0" indent="0" eaLnBrk="1" hangingPunct="1">
              <a:buNone/>
            </a:pPr>
            <a:r>
              <a:rPr lang="zh-CN" altLang="en-US" sz="3600" dirty="0" smtClean="0">
                <a:latin typeface="宋体" pitchFamily="2" charset="-122"/>
                <a:cs typeface="等线" panose="02010600030101010101" charset="-122"/>
              </a:rPr>
              <a:t>例</a:t>
            </a:r>
            <a:r>
              <a:rPr lang="en-US" altLang="zh-CN" sz="3600" dirty="0" smtClean="0"/>
              <a:t>4.71 </a:t>
            </a:r>
            <a:r>
              <a:rPr lang="zh-CN" altLang="en-US" sz="3600" dirty="0" smtClean="0">
                <a:latin typeface="宋体" pitchFamily="2" charset="-122"/>
                <a:cs typeface="等线" panose="02010600030101010101" charset="-122"/>
              </a:rPr>
              <a:t>查询</a:t>
            </a:r>
            <a:r>
              <a:rPr lang="zh-CN" altLang="en-US" sz="3600" dirty="0">
                <a:latin typeface="宋体" pitchFamily="2" charset="-122"/>
                <a:cs typeface="等线" panose="02010600030101010101" charset="-122"/>
              </a:rPr>
              <a:t>选了</a:t>
            </a:r>
            <a:r>
              <a:rPr lang="en-US" altLang="zh-CN" sz="3600" dirty="0">
                <a:latin typeface="宋体" pitchFamily="2" charset="-122"/>
                <a:cs typeface="等线" panose="02010600030101010101" charset="-122"/>
              </a:rPr>
              <a:t>“C002”</a:t>
            </a:r>
            <a:r>
              <a:rPr lang="zh-CN" altLang="en-US" sz="3600" dirty="0">
                <a:latin typeface="宋体" pitchFamily="2" charset="-122"/>
                <a:cs typeface="等线" panose="02010600030101010101" charset="-122"/>
              </a:rPr>
              <a:t>课程的学生姓名。</a:t>
            </a:r>
          </a:p>
          <a:p>
            <a:pPr lvl="1" eaLnBrk="1" hangingPunct="1">
              <a:buFont typeface="Wingdings" panose="05000000000000000000" pitchFamily="2" charset="2"/>
              <a:buNone/>
            </a:pPr>
            <a:r>
              <a:rPr lang="en-US" altLang="zh-CN" dirty="0">
                <a:solidFill>
                  <a:srgbClr val="0000FF"/>
                </a:solidFill>
                <a:latin typeface="宋体" pitchFamily="2" charset="-122"/>
                <a:cs typeface="等线" panose="02010600030101010101" charset="-122"/>
              </a:rPr>
              <a:t>SELECT Sname FROM Student </a:t>
            </a:r>
          </a:p>
          <a:p>
            <a:pPr lvl="1" eaLnBrk="1" hangingPunct="1">
              <a:buFont typeface="Wingdings" panose="05000000000000000000" pitchFamily="2" charset="2"/>
              <a:buNone/>
            </a:pPr>
            <a:r>
              <a:rPr lang="en-US" altLang="zh-CN" dirty="0">
                <a:solidFill>
                  <a:srgbClr val="0000FF"/>
                </a:solidFill>
                <a:latin typeface="宋体" pitchFamily="2" charset="-122"/>
                <a:cs typeface="等线" panose="02010600030101010101" charset="-122"/>
              </a:rPr>
              <a:t>  WHERE </a:t>
            </a:r>
            <a:r>
              <a:rPr lang="en-US" altLang="zh-CN" dirty="0">
                <a:solidFill>
                  <a:srgbClr val="FF0000"/>
                </a:solidFill>
                <a:latin typeface="宋体" pitchFamily="2" charset="-122"/>
                <a:cs typeface="等线" panose="02010600030101010101" charset="-122"/>
              </a:rPr>
              <a:t>EXISTS</a:t>
            </a:r>
          </a:p>
          <a:p>
            <a:pPr lvl="1" eaLnBrk="1" hangingPunct="1">
              <a:buFont typeface="Wingdings" panose="05000000000000000000" pitchFamily="2" charset="2"/>
              <a:buNone/>
            </a:pPr>
            <a:r>
              <a:rPr lang="en-US" altLang="zh-CN" dirty="0">
                <a:solidFill>
                  <a:srgbClr val="0000FF"/>
                </a:solidFill>
                <a:latin typeface="宋体" pitchFamily="2" charset="-122"/>
                <a:cs typeface="等线" panose="02010600030101010101" charset="-122"/>
              </a:rPr>
              <a:t>    (SELECT * FROM SC</a:t>
            </a:r>
          </a:p>
          <a:p>
            <a:pPr lvl="1" eaLnBrk="1" hangingPunct="1">
              <a:buFont typeface="Wingdings" panose="05000000000000000000" pitchFamily="2" charset="2"/>
              <a:buNone/>
            </a:pPr>
            <a:r>
              <a:rPr lang="en-US" altLang="zh-CN" dirty="0">
                <a:solidFill>
                  <a:srgbClr val="0000FF"/>
                </a:solidFill>
                <a:latin typeface="宋体" pitchFamily="2" charset="-122"/>
                <a:cs typeface="等线" panose="02010600030101010101" charset="-122"/>
              </a:rPr>
              <a:t>       WHERE Sno = Student.Sno </a:t>
            </a:r>
          </a:p>
          <a:p>
            <a:pPr lvl="1" eaLnBrk="1" hangingPunct="1">
              <a:buFont typeface="Wingdings" panose="05000000000000000000" pitchFamily="2" charset="2"/>
              <a:buNone/>
            </a:pPr>
            <a:r>
              <a:rPr lang="en-US" altLang="zh-CN" dirty="0">
                <a:solidFill>
                  <a:srgbClr val="0000FF"/>
                </a:solidFill>
                <a:latin typeface="宋体" pitchFamily="2" charset="-122"/>
                <a:cs typeface="等线" panose="02010600030101010101" charset="-122"/>
              </a:rPr>
              <a:t>       AND Cno = 'C002')</a:t>
            </a:r>
            <a:endParaRPr lang="zh-CN" altLang="en-US" dirty="0">
              <a:solidFill>
                <a:srgbClr val="0000FF"/>
              </a:solidFill>
              <a:latin typeface="宋体" pitchFamily="2" charset="-122"/>
              <a:cs typeface="等线" panose="02010600030101010101" charset="-122"/>
            </a:endParaRPr>
          </a:p>
        </p:txBody>
      </p:sp>
    </p:spTree>
  </p:cSld>
  <p:clrMapOvr>
    <a:masterClrMapping/>
  </p:clrMapOvr>
  <p:timing>
    <p:tnLst>
      <p:par>
        <p:cT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2"/>
          <p:cNvSpPr>
            <a:spLocks noGrp="1"/>
          </p:cNvSpPr>
          <p:nvPr>
            <p:ph type="title"/>
          </p:nvPr>
        </p:nvSpPr>
        <p:spPr>
          <a:xfrm>
            <a:off x="500063" y="152400"/>
            <a:ext cx="8001000" cy="685800"/>
          </a:xfrm>
          <a:noFill/>
          <a:ln w="9525">
            <a:noFill/>
          </a:ln>
        </p:spPr>
        <p:txBody>
          <a:bodyPr vert="horz" wrap="square" lIns="91440" tIns="45720" rIns="91440" bIns="45720" rtlCol="0" anchor="ctr" anchorCtr="0">
            <a:normAutofit fontScale="90000"/>
          </a:bodyPr>
          <a:lstStyle/>
          <a:p>
            <a:pPr lvl="0" algn="ctr" eaLnBrk="1" hangingPunct="1">
              <a:buClrTx/>
              <a:buSzTx/>
              <a:buFontTx/>
            </a:pPr>
            <a:r>
              <a:rPr lang="zh-CN" altLang="en-US" sz="4000" b="0" dirty="0">
                <a:latin typeface="黑体" panose="02010609060101010101" pitchFamily="2" charset="-122"/>
                <a:ea typeface="黑体" panose="02010609060101010101" pitchFamily="2" charset="-122"/>
                <a:sym typeface="+mn-ea"/>
              </a:rPr>
              <a:t>注意</a:t>
            </a:r>
          </a:p>
        </p:txBody>
      </p:sp>
      <p:sp>
        <p:nvSpPr>
          <p:cNvPr id="112643" name="Rectangle 3"/>
          <p:cNvSpPr>
            <a:spLocks noGrp="1"/>
          </p:cNvSpPr>
          <p:nvPr>
            <p:ph idx="1"/>
          </p:nvPr>
        </p:nvSpPr>
        <p:spPr/>
        <p:txBody>
          <a:bodyPr vert="horz" wrap="square" lIns="91440" tIns="45720" rIns="91440" bIns="45720" anchor="t" anchorCtr="0"/>
          <a:lstStyle/>
          <a:p>
            <a:pPr eaLnBrk="1" hangingPunct="1"/>
            <a:r>
              <a:rPr lang="zh-CN" altLang="en-US" sz="3600" dirty="0">
                <a:latin typeface="宋体" pitchFamily="2" charset="-122"/>
                <a:cs typeface="等线" panose="02010600030101010101" charset="-122"/>
              </a:rPr>
              <a:t>注</a:t>
            </a:r>
            <a:r>
              <a:rPr lang="en-US" altLang="zh-CN" sz="3600" dirty="0">
                <a:latin typeface="宋体" pitchFamily="2" charset="-122"/>
                <a:cs typeface="等线" panose="02010600030101010101" charset="-122"/>
              </a:rPr>
              <a:t>1</a:t>
            </a:r>
            <a:r>
              <a:rPr lang="zh-CN" altLang="en-US" sz="3600" dirty="0">
                <a:latin typeface="宋体" pitchFamily="2" charset="-122"/>
                <a:cs typeface="等线" panose="02010600030101010101" charset="-122"/>
              </a:rPr>
              <a:t>：处理过程为：先外后内；由外层的值决定内层的结果；内层执行次数由外层结果数决定。</a:t>
            </a:r>
          </a:p>
          <a:p>
            <a:pPr eaLnBrk="1" hangingPunct="1">
              <a:spcBef>
                <a:spcPts val="1200"/>
              </a:spcBef>
            </a:pPr>
            <a:r>
              <a:rPr lang="zh-CN" altLang="en-US" sz="3600" dirty="0">
                <a:latin typeface="宋体" pitchFamily="2" charset="-122"/>
                <a:cs typeface="等线" panose="02010600030101010101" charset="-122"/>
              </a:rPr>
              <a:t>注</a:t>
            </a:r>
            <a:r>
              <a:rPr lang="en-US" altLang="zh-CN" sz="3600" dirty="0">
                <a:latin typeface="宋体" pitchFamily="2" charset="-122"/>
                <a:cs typeface="等线" panose="02010600030101010101" charset="-122"/>
              </a:rPr>
              <a:t>2: </a:t>
            </a:r>
            <a:r>
              <a:rPr lang="zh-CN" altLang="en-US" sz="3600" dirty="0">
                <a:latin typeface="宋体" pitchFamily="2" charset="-122"/>
                <a:cs typeface="等线" panose="02010600030101010101" charset="-122"/>
              </a:rPr>
              <a:t>由于</a:t>
            </a:r>
            <a:r>
              <a:rPr lang="en-US" altLang="zh-CN" sz="3600" dirty="0">
                <a:latin typeface="宋体" pitchFamily="2" charset="-122"/>
                <a:cs typeface="等线" panose="02010600030101010101" charset="-122"/>
              </a:rPr>
              <a:t>EXISTS</a:t>
            </a:r>
            <a:r>
              <a:rPr lang="zh-CN" altLang="en-US" sz="3600" dirty="0">
                <a:latin typeface="宋体" pitchFamily="2" charset="-122"/>
                <a:cs typeface="等线" panose="02010600030101010101" charset="-122"/>
              </a:rPr>
              <a:t>的子查询只能返回真或假值，因此在这里给出列名无意义。所以在有</a:t>
            </a:r>
            <a:r>
              <a:rPr lang="en-US" altLang="zh-CN" sz="3600" dirty="0">
                <a:latin typeface="宋体" pitchFamily="2" charset="-122"/>
                <a:cs typeface="等线" panose="02010600030101010101" charset="-122"/>
              </a:rPr>
              <a:t>EXISTS</a:t>
            </a:r>
            <a:r>
              <a:rPr lang="zh-CN" altLang="en-US" sz="3600" dirty="0">
                <a:latin typeface="宋体" pitchFamily="2" charset="-122"/>
                <a:cs typeface="等线" panose="02010600030101010101" charset="-122"/>
              </a:rPr>
              <a:t>的子查询中，其目标列表达式通常都用*。</a:t>
            </a:r>
          </a:p>
        </p:txBody>
      </p:sp>
    </p:spTree>
  </p:cSld>
  <p:clrMapOvr>
    <a:masterClrMapping/>
  </p:clrMapOvr>
  <p:timing>
    <p:tnLst>
      <p:par>
        <p:cT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Rectangle 2"/>
          <p:cNvSpPr>
            <a:spLocks noGrp="1"/>
          </p:cNvSpPr>
          <p:nvPr>
            <p:ph type="title"/>
          </p:nvPr>
        </p:nvSpPr>
        <p:spPr>
          <a:xfrm>
            <a:off x="500063" y="152400"/>
            <a:ext cx="8001000" cy="685800"/>
          </a:xfrm>
          <a:noFill/>
          <a:ln w="9525">
            <a:noFill/>
          </a:ln>
        </p:spPr>
        <p:txBody>
          <a:bodyPr vert="horz" wrap="square" lIns="91440" tIns="45720" rIns="91440" bIns="45720" rtlCol="0" anchor="ctr" anchorCtr="0">
            <a:normAutofit fontScale="90000"/>
          </a:bodyPr>
          <a:lstStyle/>
          <a:p>
            <a:pPr lvl="0" algn="ctr" eaLnBrk="1" hangingPunct="1">
              <a:buClrTx/>
              <a:buSzTx/>
              <a:buFontTx/>
            </a:pPr>
            <a:r>
              <a:rPr lang="zh-CN" altLang="en-US" sz="4000" b="0" dirty="0">
                <a:latin typeface="黑体" panose="02010609060101010101" pitchFamily="2" charset="-122"/>
                <a:ea typeface="黑体" panose="02010609060101010101" pitchFamily="2" charset="-122"/>
                <a:sym typeface="+mn-ea"/>
              </a:rPr>
              <a:t>例71的处理过程</a:t>
            </a:r>
          </a:p>
        </p:txBody>
      </p:sp>
      <p:sp>
        <p:nvSpPr>
          <p:cNvPr id="113667" name="Rectangle 3"/>
          <p:cNvSpPr>
            <a:spLocks noGrp="1"/>
          </p:cNvSpPr>
          <p:nvPr>
            <p:ph idx="1"/>
          </p:nvPr>
        </p:nvSpPr>
        <p:spPr>
          <a:xfrm>
            <a:off x="251520" y="1628800"/>
            <a:ext cx="8568183" cy="3888432"/>
          </a:xfrm>
        </p:spPr>
        <p:txBody>
          <a:bodyPr vert="horz" wrap="square" lIns="91440" tIns="45720" rIns="91440" bIns="45720" anchor="t" anchorCtr="0"/>
          <a:lstStyle/>
          <a:p>
            <a:pPr algn="just" eaLnBrk="1" hangingPunct="1">
              <a:lnSpc>
                <a:spcPct val="110000"/>
              </a:lnSpc>
              <a:spcBef>
                <a:spcPts val="2400"/>
              </a:spcBef>
              <a:buFont typeface="Wingdings" panose="05000000000000000000" pitchFamily="2" charset="2"/>
              <a:buNone/>
            </a:pPr>
            <a:r>
              <a:rPr lang="en-US" altLang="zh-CN" sz="3200" dirty="0">
                <a:latin typeface="宋体" pitchFamily="2" charset="-122"/>
                <a:cs typeface="等线" panose="02010600030101010101" charset="-122"/>
              </a:rPr>
              <a:t>1.</a:t>
            </a:r>
            <a:r>
              <a:rPr lang="zh-CN" altLang="en-US" sz="3200" dirty="0">
                <a:latin typeface="宋体" pitchFamily="2" charset="-122"/>
                <a:cs typeface="等线" panose="02010600030101010101" charset="-122"/>
              </a:rPr>
              <a:t>找外层表</a:t>
            </a:r>
            <a:r>
              <a:rPr lang="en-US" altLang="zh-CN" sz="3200" dirty="0">
                <a:latin typeface="宋体" pitchFamily="2" charset="-122"/>
                <a:cs typeface="等线" panose="02010600030101010101" charset="-122"/>
              </a:rPr>
              <a:t>Student</a:t>
            </a:r>
            <a:r>
              <a:rPr lang="zh-CN" altLang="en-US" sz="3200" dirty="0">
                <a:latin typeface="宋体" pitchFamily="2" charset="-122"/>
                <a:cs typeface="等线" panose="02010600030101010101" charset="-122"/>
              </a:rPr>
              <a:t>表的第一行，根据其</a:t>
            </a:r>
            <a:r>
              <a:rPr lang="en-US" altLang="zh-CN" sz="3200" dirty="0">
                <a:latin typeface="宋体" pitchFamily="2" charset="-122"/>
                <a:cs typeface="等线" panose="02010600030101010101" charset="-122"/>
              </a:rPr>
              <a:t>Sno</a:t>
            </a:r>
            <a:r>
              <a:rPr lang="zh-CN" altLang="en-US" sz="3200" dirty="0">
                <a:latin typeface="宋体" pitchFamily="2" charset="-122"/>
                <a:cs typeface="等线" panose="02010600030101010101" charset="-122"/>
              </a:rPr>
              <a:t>值处理内层查询</a:t>
            </a:r>
          </a:p>
          <a:p>
            <a:pPr algn="just" eaLnBrk="1" hangingPunct="1">
              <a:lnSpc>
                <a:spcPct val="110000"/>
              </a:lnSpc>
              <a:spcBef>
                <a:spcPts val="2400"/>
              </a:spcBef>
              <a:buFont typeface="Wingdings" panose="05000000000000000000" pitchFamily="2" charset="2"/>
              <a:buNone/>
            </a:pPr>
            <a:r>
              <a:rPr lang="en-US" altLang="zh-CN" sz="3200" dirty="0">
                <a:latin typeface="宋体" pitchFamily="2" charset="-122"/>
                <a:cs typeface="等线" panose="02010600030101010101" charset="-122"/>
              </a:rPr>
              <a:t>2.</a:t>
            </a:r>
            <a:r>
              <a:rPr lang="zh-CN" altLang="en-US" sz="3200" dirty="0">
                <a:latin typeface="宋体" pitchFamily="2" charset="-122"/>
                <a:cs typeface="等线" panose="02010600030101010101" charset="-122"/>
              </a:rPr>
              <a:t>由外层的值与内层的结果比较，由此决定外层条件的真、假</a:t>
            </a:r>
          </a:p>
          <a:p>
            <a:pPr algn="just" eaLnBrk="1" hangingPunct="1">
              <a:lnSpc>
                <a:spcPct val="110000"/>
              </a:lnSpc>
              <a:spcBef>
                <a:spcPts val="2400"/>
              </a:spcBef>
              <a:buFont typeface="Wingdings" panose="05000000000000000000" pitchFamily="2" charset="2"/>
              <a:buNone/>
            </a:pPr>
            <a:r>
              <a:rPr lang="en-US" altLang="zh-CN" sz="3200" dirty="0">
                <a:latin typeface="宋体" pitchFamily="2" charset="-122"/>
                <a:cs typeface="等线" panose="02010600030101010101" charset="-122"/>
              </a:rPr>
              <a:t>3.</a:t>
            </a:r>
            <a:r>
              <a:rPr lang="zh-CN" altLang="en-US" sz="3200" dirty="0">
                <a:latin typeface="宋体" pitchFamily="2" charset="-122"/>
                <a:cs typeface="等线" panose="02010600030101010101" charset="-122"/>
              </a:rPr>
              <a:t>顺序处理外层表</a:t>
            </a:r>
            <a:r>
              <a:rPr lang="en-US" altLang="zh-CN" sz="3200" dirty="0">
                <a:latin typeface="宋体" pitchFamily="2" charset="-122"/>
                <a:cs typeface="等线" panose="02010600030101010101" charset="-122"/>
              </a:rPr>
              <a:t>Student</a:t>
            </a:r>
            <a:r>
              <a:rPr lang="zh-CN" altLang="en-US" sz="3200" dirty="0">
                <a:latin typeface="宋体" pitchFamily="2" charset="-122"/>
                <a:cs typeface="等线" panose="02010600030101010101" charset="-122"/>
              </a:rPr>
              <a:t>表中的第</a:t>
            </a:r>
            <a:r>
              <a:rPr lang="en-US" altLang="zh-CN" sz="3200" dirty="0">
                <a:latin typeface="宋体" pitchFamily="2" charset="-122"/>
                <a:cs typeface="等线" panose="02010600030101010101" charset="-122"/>
              </a:rPr>
              <a:t>2</a:t>
            </a:r>
            <a:r>
              <a:rPr lang="zh-CN" altLang="en-US" sz="3200" dirty="0">
                <a:latin typeface="宋体" pitchFamily="2" charset="-122"/>
                <a:cs typeface="等线" panose="02010600030101010101" charset="-122"/>
              </a:rPr>
              <a:t>、</a:t>
            </a:r>
            <a:r>
              <a:rPr lang="en-US" altLang="zh-CN" sz="3200" dirty="0">
                <a:latin typeface="宋体" pitchFamily="2" charset="-122"/>
                <a:cs typeface="等线" panose="02010600030101010101" charset="-122"/>
              </a:rPr>
              <a:t>3</a:t>
            </a:r>
            <a:r>
              <a:rPr lang="zh-CN" altLang="en-US" sz="3200" dirty="0">
                <a:latin typeface="宋体" pitchFamily="2" charset="-122"/>
                <a:cs typeface="等线" panose="02010600030101010101" charset="-122"/>
              </a:rPr>
              <a:t>、</a:t>
            </a:r>
            <a:r>
              <a:rPr lang="en-US" altLang="zh-CN" sz="3200" dirty="0">
                <a:latin typeface="宋体" pitchFamily="2" charset="-122"/>
                <a:cs typeface="等线" panose="02010600030101010101" charset="-122"/>
              </a:rPr>
              <a:t>…</a:t>
            </a:r>
            <a:r>
              <a:rPr lang="zh-CN" altLang="en-US" sz="3200" dirty="0">
                <a:latin typeface="宋体" pitchFamily="2" charset="-122"/>
                <a:cs typeface="等线" panose="02010600030101010101" charset="-122"/>
              </a:rPr>
              <a:t>行。</a:t>
            </a:r>
          </a:p>
        </p:txBody>
      </p:sp>
    </p:spTree>
  </p:cSld>
  <p:clrMapOvr>
    <a:masterClrMapping/>
  </p:clrMapOvr>
  <p:timing>
    <p:tnLst>
      <p:par>
        <p:cTn id="1" dur="indefinite" restart="never" nodeType="tmRoot"/>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Rectangle 2"/>
          <p:cNvSpPr>
            <a:spLocks noGrp="1"/>
          </p:cNvSpPr>
          <p:nvPr>
            <p:ph type="title"/>
          </p:nvPr>
        </p:nvSpPr>
        <p:spPr>
          <a:xfrm>
            <a:off x="500063" y="152400"/>
            <a:ext cx="8001000" cy="685800"/>
          </a:xfrm>
          <a:noFill/>
          <a:ln w="9525">
            <a:noFill/>
          </a:ln>
        </p:spPr>
        <p:txBody>
          <a:bodyPr vert="horz" wrap="square" lIns="91440" tIns="45720" rIns="91440" bIns="45720" rtlCol="0" anchor="ctr" anchorCtr="0">
            <a:normAutofit fontScale="90000"/>
          </a:bodyPr>
          <a:lstStyle/>
          <a:p>
            <a:pPr lvl="0" algn="ctr" eaLnBrk="1" hangingPunct="1">
              <a:buClrTx/>
              <a:buSzTx/>
              <a:buFontTx/>
            </a:pPr>
            <a:r>
              <a:rPr lang="zh-CN" altLang="en-US" sz="4000" b="0" dirty="0">
                <a:latin typeface="黑体" panose="02010609060101010101" pitchFamily="2" charset="-122"/>
                <a:ea typeface="黑体" panose="02010609060101010101" pitchFamily="2" charset="-122"/>
                <a:sym typeface="+mn-ea"/>
              </a:rPr>
              <a:t>示例（续）</a:t>
            </a:r>
          </a:p>
        </p:txBody>
      </p:sp>
      <p:sp>
        <p:nvSpPr>
          <p:cNvPr id="114691" name="Rectangle 3"/>
          <p:cNvSpPr>
            <a:spLocks noGrp="1"/>
          </p:cNvSpPr>
          <p:nvPr>
            <p:ph idx="1"/>
          </p:nvPr>
        </p:nvSpPr>
        <p:spPr>
          <a:xfrm>
            <a:off x="395536" y="1196752"/>
            <a:ext cx="8229600" cy="4927600"/>
          </a:xfrm>
        </p:spPr>
        <p:txBody>
          <a:bodyPr vert="horz" wrap="square" lIns="91440" tIns="45720" rIns="91440" bIns="45720" anchor="t" anchorCtr="0"/>
          <a:lstStyle/>
          <a:p>
            <a:pPr marL="0" indent="0" eaLnBrk="1" hangingPunct="1">
              <a:buNone/>
            </a:pPr>
            <a:r>
              <a:rPr lang="zh-CN" altLang="en-US" sz="2800" dirty="0" smtClean="0">
                <a:latin typeface="宋体" pitchFamily="2" charset="-122"/>
                <a:cs typeface="等线" panose="02010600030101010101" charset="-122"/>
              </a:rPr>
              <a:t>例</a:t>
            </a:r>
            <a:r>
              <a:rPr lang="en-US" altLang="zh-CN" sz="2800" dirty="0" smtClean="0"/>
              <a:t>4.72 </a:t>
            </a:r>
            <a:r>
              <a:rPr lang="zh-CN" altLang="en-US" sz="2800" dirty="0" smtClean="0">
                <a:latin typeface="宋体" pitchFamily="2" charset="-122"/>
                <a:cs typeface="等线" panose="02010600030101010101" charset="-122"/>
              </a:rPr>
              <a:t>查询</a:t>
            </a:r>
            <a:r>
              <a:rPr lang="zh-CN" altLang="en-US" sz="2800" dirty="0">
                <a:latin typeface="宋体" pitchFamily="2" charset="-122"/>
                <a:cs typeface="等线" panose="02010600030101010101" charset="-122"/>
              </a:rPr>
              <a:t>没选</a:t>
            </a:r>
            <a:r>
              <a:rPr lang="en-US" altLang="zh-CN" sz="2800" dirty="0">
                <a:latin typeface="宋体" pitchFamily="2" charset="-122"/>
                <a:cs typeface="等线" panose="02010600030101010101" charset="-122"/>
              </a:rPr>
              <a:t>“C001”</a:t>
            </a:r>
            <a:r>
              <a:rPr lang="zh-CN" altLang="en-US" sz="2800" dirty="0">
                <a:latin typeface="宋体" pitchFamily="2" charset="-122"/>
                <a:cs typeface="等线" panose="02010600030101010101" charset="-122"/>
              </a:rPr>
              <a:t>课程的学生姓名和所在系。</a:t>
            </a:r>
          </a:p>
          <a:p>
            <a:pPr lvl="1" eaLnBrk="1" hangingPunct="1">
              <a:lnSpc>
                <a:spcPct val="90000"/>
              </a:lnSpc>
              <a:buFont typeface="Wingdings" panose="05000000000000000000" pitchFamily="2" charset="2"/>
              <a:buNone/>
            </a:pPr>
            <a:r>
              <a:rPr lang="en-US" altLang="zh-CN" sz="2800" dirty="0">
                <a:solidFill>
                  <a:srgbClr val="0000FF"/>
                </a:solidFill>
                <a:latin typeface="宋体" pitchFamily="2" charset="-122"/>
                <a:cs typeface="等线" panose="02010600030101010101" charset="-122"/>
                <a:sym typeface="+mn-ea"/>
              </a:rPr>
              <a:t>SELECT Sname, Sdept FROM Student  </a:t>
            </a:r>
            <a:endParaRPr lang="en-US" altLang="zh-CN" sz="2800" dirty="0">
              <a:solidFill>
                <a:srgbClr val="0000FF"/>
              </a:solidFill>
              <a:latin typeface="宋体" pitchFamily="2" charset="-122"/>
              <a:cs typeface="等线" panose="02010600030101010101" charset="-122"/>
            </a:endParaRPr>
          </a:p>
          <a:p>
            <a:pPr lvl="1" eaLnBrk="1" hangingPunct="1">
              <a:lnSpc>
                <a:spcPct val="90000"/>
              </a:lnSpc>
              <a:buFont typeface="Wingdings" panose="05000000000000000000" pitchFamily="2" charset="2"/>
              <a:buNone/>
            </a:pPr>
            <a:r>
              <a:rPr lang="en-US" altLang="zh-CN" sz="2800" dirty="0">
                <a:solidFill>
                  <a:srgbClr val="0000FF"/>
                </a:solidFill>
                <a:latin typeface="宋体" pitchFamily="2" charset="-122"/>
                <a:cs typeface="等线" panose="02010600030101010101" charset="-122"/>
                <a:sym typeface="+mn-ea"/>
              </a:rPr>
              <a:t>  WHERE Sno NOT IN (</a:t>
            </a:r>
            <a:endParaRPr lang="en-US" altLang="zh-CN" sz="2800" dirty="0">
              <a:solidFill>
                <a:srgbClr val="0000FF"/>
              </a:solidFill>
              <a:latin typeface="宋体" pitchFamily="2" charset="-122"/>
              <a:cs typeface="等线" panose="02010600030101010101" charset="-122"/>
            </a:endParaRPr>
          </a:p>
          <a:p>
            <a:pPr lvl="1" eaLnBrk="1" hangingPunct="1">
              <a:lnSpc>
                <a:spcPct val="90000"/>
              </a:lnSpc>
              <a:buFont typeface="Wingdings" panose="05000000000000000000" pitchFamily="2" charset="2"/>
              <a:buNone/>
            </a:pPr>
            <a:r>
              <a:rPr lang="en-US" altLang="zh-CN" sz="2800" dirty="0">
                <a:solidFill>
                  <a:srgbClr val="0000FF"/>
                </a:solidFill>
                <a:latin typeface="宋体" pitchFamily="2" charset="-122"/>
                <a:cs typeface="等线" panose="02010600030101010101" charset="-122"/>
                <a:sym typeface="+mn-ea"/>
              </a:rPr>
              <a:t>    SELECT Sno FROM SC   </a:t>
            </a:r>
            <a:endParaRPr lang="en-US" altLang="zh-CN" sz="2800" dirty="0">
              <a:solidFill>
                <a:srgbClr val="0000FF"/>
              </a:solidFill>
              <a:latin typeface="宋体" pitchFamily="2" charset="-122"/>
              <a:cs typeface="等线" panose="02010600030101010101" charset="-122"/>
            </a:endParaRPr>
          </a:p>
          <a:p>
            <a:pPr lvl="1" eaLnBrk="1" hangingPunct="1">
              <a:lnSpc>
                <a:spcPct val="90000"/>
              </a:lnSpc>
              <a:buFont typeface="Wingdings" panose="05000000000000000000" pitchFamily="2" charset="2"/>
              <a:buNone/>
            </a:pPr>
            <a:r>
              <a:rPr lang="en-US" altLang="zh-CN" sz="2800" dirty="0">
                <a:solidFill>
                  <a:srgbClr val="0000FF"/>
                </a:solidFill>
                <a:latin typeface="宋体" pitchFamily="2" charset="-122"/>
                <a:cs typeface="等线" panose="02010600030101010101" charset="-122"/>
                <a:sym typeface="+mn-ea"/>
              </a:rPr>
              <a:t>       WHERE Cno = 'C001' )</a:t>
            </a:r>
          </a:p>
          <a:p>
            <a:pPr lvl="1" eaLnBrk="1" hangingPunct="1">
              <a:lnSpc>
                <a:spcPct val="90000"/>
              </a:lnSpc>
              <a:buFont typeface="Wingdings" panose="05000000000000000000" pitchFamily="2" charset="2"/>
              <a:buNone/>
            </a:pPr>
            <a:endParaRPr lang="en-US" altLang="zh-CN" sz="1600" dirty="0">
              <a:solidFill>
                <a:srgbClr val="0000FF"/>
              </a:solidFill>
              <a:latin typeface="宋体" pitchFamily="2" charset="-122"/>
              <a:cs typeface="等线" panose="02010600030101010101" charset="-122"/>
              <a:sym typeface="+mn-ea"/>
            </a:endParaRPr>
          </a:p>
          <a:p>
            <a:pPr lvl="1" eaLnBrk="1" hangingPunct="1">
              <a:lnSpc>
                <a:spcPct val="80000"/>
              </a:lnSpc>
              <a:buFont typeface="Wingdings" panose="05000000000000000000" pitchFamily="2" charset="2"/>
              <a:buNone/>
            </a:pPr>
            <a:r>
              <a:rPr lang="en-US" altLang="zh-CN" sz="2800" dirty="0">
                <a:solidFill>
                  <a:srgbClr val="0000FF"/>
                </a:solidFill>
                <a:latin typeface="宋体" pitchFamily="2" charset="-122"/>
                <a:cs typeface="等线" panose="02010600030101010101" charset="-122"/>
                <a:sym typeface="+mn-ea"/>
              </a:rPr>
              <a:t>SELECT Sname, Sdept FROM Student  </a:t>
            </a:r>
            <a:endParaRPr lang="en-US" altLang="zh-CN" sz="2800" dirty="0">
              <a:solidFill>
                <a:srgbClr val="0000FF"/>
              </a:solidFill>
              <a:latin typeface="宋体" pitchFamily="2" charset="-122"/>
              <a:cs typeface="等线" panose="02010600030101010101" charset="-122"/>
            </a:endParaRPr>
          </a:p>
          <a:p>
            <a:pPr lvl="1" eaLnBrk="1" hangingPunct="1">
              <a:lnSpc>
                <a:spcPct val="80000"/>
              </a:lnSpc>
              <a:buFont typeface="Wingdings" panose="05000000000000000000" pitchFamily="2" charset="2"/>
              <a:buNone/>
            </a:pPr>
            <a:r>
              <a:rPr lang="en-US" altLang="zh-CN" sz="2800" dirty="0">
                <a:solidFill>
                  <a:srgbClr val="0000FF"/>
                </a:solidFill>
                <a:latin typeface="宋体" pitchFamily="2" charset="-122"/>
                <a:cs typeface="等线" panose="02010600030101010101" charset="-122"/>
                <a:sym typeface="+mn-ea"/>
              </a:rPr>
              <a:t>  WHERE NOT EXISTS (</a:t>
            </a:r>
            <a:endParaRPr lang="en-US" altLang="zh-CN" sz="2800" dirty="0">
              <a:solidFill>
                <a:srgbClr val="0000FF"/>
              </a:solidFill>
              <a:latin typeface="宋体" pitchFamily="2" charset="-122"/>
              <a:cs typeface="等线" panose="02010600030101010101" charset="-122"/>
            </a:endParaRPr>
          </a:p>
          <a:p>
            <a:pPr lvl="1" eaLnBrk="1" hangingPunct="1">
              <a:lnSpc>
                <a:spcPct val="80000"/>
              </a:lnSpc>
              <a:buFont typeface="Wingdings" panose="05000000000000000000" pitchFamily="2" charset="2"/>
              <a:buNone/>
            </a:pPr>
            <a:r>
              <a:rPr lang="en-US" altLang="zh-CN" sz="2800" dirty="0">
                <a:solidFill>
                  <a:srgbClr val="0000FF"/>
                </a:solidFill>
                <a:latin typeface="宋体" pitchFamily="2" charset="-122"/>
                <a:cs typeface="等线" panose="02010600030101010101" charset="-122"/>
                <a:sym typeface="+mn-ea"/>
              </a:rPr>
              <a:t>    SELECT * FROM SC   </a:t>
            </a:r>
            <a:endParaRPr lang="en-US" altLang="zh-CN" sz="2800" dirty="0">
              <a:solidFill>
                <a:srgbClr val="0000FF"/>
              </a:solidFill>
              <a:latin typeface="宋体" pitchFamily="2" charset="-122"/>
              <a:cs typeface="等线" panose="02010600030101010101" charset="-122"/>
            </a:endParaRPr>
          </a:p>
          <a:p>
            <a:pPr lvl="1" eaLnBrk="1" hangingPunct="1">
              <a:lnSpc>
                <a:spcPct val="80000"/>
              </a:lnSpc>
              <a:buFont typeface="Wingdings" panose="05000000000000000000" pitchFamily="2" charset="2"/>
              <a:buNone/>
            </a:pPr>
            <a:r>
              <a:rPr lang="en-US" altLang="zh-CN" sz="2800" dirty="0">
                <a:solidFill>
                  <a:srgbClr val="0000FF"/>
                </a:solidFill>
                <a:latin typeface="宋体" pitchFamily="2" charset="-122"/>
                <a:cs typeface="等线" panose="02010600030101010101" charset="-122"/>
                <a:sym typeface="+mn-ea"/>
              </a:rPr>
              <a:t>        WHERE Sno = Student.Sno </a:t>
            </a:r>
            <a:endParaRPr lang="en-US" altLang="zh-CN" sz="2800" dirty="0">
              <a:solidFill>
                <a:srgbClr val="0000FF"/>
              </a:solidFill>
              <a:latin typeface="宋体" pitchFamily="2" charset="-122"/>
              <a:cs typeface="等线" panose="02010600030101010101" charset="-122"/>
            </a:endParaRPr>
          </a:p>
          <a:p>
            <a:pPr lvl="1" eaLnBrk="1" hangingPunct="1">
              <a:lnSpc>
                <a:spcPct val="80000"/>
              </a:lnSpc>
              <a:buFont typeface="Wingdings" panose="05000000000000000000" pitchFamily="2" charset="2"/>
              <a:buNone/>
            </a:pPr>
            <a:r>
              <a:rPr lang="en-US" altLang="zh-CN" sz="2800" dirty="0">
                <a:solidFill>
                  <a:srgbClr val="0000FF"/>
                </a:solidFill>
                <a:latin typeface="宋体" pitchFamily="2" charset="-122"/>
                <a:cs typeface="等线" panose="02010600030101010101" charset="-122"/>
                <a:sym typeface="+mn-ea"/>
              </a:rPr>
              <a:t>         AND Cno = 'C001'  ) </a:t>
            </a:r>
            <a:endParaRPr lang="zh-CN" altLang="en-US" sz="2800" dirty="0">
              <a:solidFill>
                <a:srgbClr val="0000FF"/>
              </a:solidFill>
              <a:latin typeface="宋体" pitchFamily="2" charset="-122"/>
              <a:cs typeface="等线" panose="02010600030101010101" charset="-122"/>
            </a:endParaRPr>
          </a:p>
          <a:p>
            <a:pPr lvl="1" eaLnBrk="1" hangingPunct="1">
              <a:lnSpc>
                <a:spcPct val="90000"/>
              </a:lnSpc>
              <a:buFont typeface="Wingdings" panose="05000000000000000000" pitchFamily="2" charset="2"/>
              <a:buNone/>
            </a:pPr>
            <a:endParaRPr lang="zh-CN" altLang="en-US" sz="2800" dirty="0">
              <a:latin typeface="宋体" pitchFamily="2" charset="-122"/>
              <a:cs typeface="等线" panose="02010600030101010101" charset="-122"/>
            </a:endParaRPr>
          </a:p>
          <a:p>
            <a:pPr eaLnBrk="1" hangingPunct="1"/>
            <a:endParaRPr lang="zh-CN" altLang="en-US" sz="2800" dirty="0">
              <a:solidFill>
                <a:srgbClr val="0000FF"/>
              </a:solidFill>
              <a:latin typeface="宋体" pitchFamily="2" charset="-122"/>
              <a:cs typeface="等线" panose="02010600030101010101" charset="-122"/>
            </a:endParaRPr>
          </a:p>
        </p:txBody>
      </p:sp>
    </p:spTree>
  </p:cSld>
  <p:clrMapOvr>
    <a:masterClrMapping/>
  </p:clrMapOvr>
  <p:timing>
    <p:tnLst>
      <p:par>
        <p:cTn id="1" dur="indefinite" restart="never" nodeType="tmRoot"/>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Rectangle 2"/>
          <p:cNvSpPr>
            <a:spLocks noGrp="1"/>
          </p:cNvSpPr>
          <p:nvPr>
            <p:ph type="title"/>
          </p:nvPr>
        </p:nvSpPr>
        <p:spPr>
          <a:xfrm>
            <a:off x="500063" y="152400"/>
            <a:ext cx="8001000" cy="685800"/>
          </a:xfrm>
          <a:noFill/>
          <a:ln w="9525">
            <a:noFill/>
          </a:ln>
        </p:spPr>
        <p:txBody>
          <a:bodyPr vert="horz" wrap="square" lIns="91440" tIns="45720" rIns="91440" bIns="45720" rtlCol="0" anchor="ctr" anchorCtr="0">
            <a:normAutofit fontScale="90000"/>
          </a:bodyPr>
          <a:lstStyle/>
          <a:p>
            <a:pPr lvl="0" algn="ctr" eaLnBrk="1" hangingPunct="1">
              <a:buClrTx/>
              <a:buSzTx/>
              <a:buFontTx/>
            </a:pPr>
            <a:r>
              <a:rPr lang="zh-CN" altLang="en-US" sz="4000" b="0" dirty="0">
                <a:latin typeface="黑体" panose="02010609060101010101" pitchFamily="2" charset="-122"/>
                <a:ea typeface="黑体" panose="02010609060101010101" pitchFamily="2" charset="-122"/>
                <a:sym typeface="+mn-ea"/>
              </a:rPr>
              <a:t>示例</a:t>
            </a:r>
          </a:p>
        </p:txBody>
      </p:sp>
      <p:sp>
        <p:nvSpPr>
          <p:cNvPr id="117763" name="Rectangle 3"/>
          <p:cNvSpPr>
            <a:spLocks noGrp="1"/>
          </p:cNvSpPr>
          <p:nvPr>
            <p:ph idx="1"/>
          </p:nvPr>
        </p:nvSpPr>
        <p:spPr>
          <a:xfrm>
            <a:off x="323850" y="1295400"/>
            <a:ext cx="8362950" cy="4876800"/>
          </a:xfrm>
        </p:spPr>
        <p:txBody>
          <a:bodyPr vert="horz" wrap="square" lIns="91440" tIns="45720" rIns="91440" bIns="45720" anchor="t" anchorCtr="0"/>
          <a:lstStyle/>
          <a:p>
            <a:pPr marL="0" indent="0" eaLnBrk="1" hangingPunct="1">
              <a:buNone/>
            </a:pPr>
            <a:r>
              <a:rPr lang="zh-CN" altLang="en-US" dirty="0" smtClean="0">
                <a:latin typeface="宋体" pitchFamily="2" charset="-122"/>
                <a:cs typeface="等线" panose="02010600030101010101" charset="-122"/>
              </a:rPr>
              <a:t>例</a:t>
            </a:r>
            <a:r>
              <a:rPr lang="en-US" altLang="zh-CN" sz="3200" dirty="0" smtClean="0"/>
              <a:t>4.73 </a:t>
            </a:r>
            <a:r>
              <a:rPr lang="zh-CN" altLang="en-US" dirty="0" smtClean="0">
                <a:latin typeface="宋体" pitchFamily="2" charset="-122"/>
                <a:cs typeface="等线" panose="02010600030101010101" charset="-122"/>
              </a:rPr>
              <a:t>查询</a:t>
            </a:r>
            <a:r>
              <a:rPr lang="zh-CN" altLang="en-US" dirty="0">
                <a:latin typeface="宋体" pitchFamily="2" charset="-122"/>
                <a:cs typeface="等线" panose="02010600030101010101" charset="-122"/>
              </a:rPr>
              <a:t>计算机系没有选修</a:t>
            </a:r>
            <a:r>
              <a:rPr lang="en-US" altLang="zh-CN" dirty="0">
                <a:latin typeface="宋体" pitchFamily="2" charset="-122"/>
                <a:cs typeface="等线" panose="02010600030101010101" charset="-122"/>
              </a:rPr>
              <a:t>VB</a:t>
            </a:r>
            <a:r>
              <a:rPr lang="zh-CN" altLang="en-US" dirty="0">
                <a:latin typeface="宋体" pitchFamily="2" charset="-122"/>
                <a:cs typeface="等线" panose="02010600030101010101" charset="-122"/>
              </a:rPr>
              <a:t>课程的学生的姓名和性别。</a:t>
            </a:r>
          </a:p>
          <a:p>
            <a:pPr lvl="1" eaLnBrk="1" hangingPunct="1">
              <a:buFont typeface="Wingdings" panose="05000000000000000000" pitchFamily="2" charset="2"/>
              <a:buNone/>
            </a:pPr>
            <a:r>
              <a:rPr lang="en-US" altLang="zh-CN" dirty="0">
                <a:solidFill>
                  <a:srgbClr val="0000FF"/>
                </a:solidFill>
                <a:latin typeface="宋体" pitchFamily="2" charset="-122"/>
                <a:cs typeface="等线" panose="02010600030101010101" charset="-122"/>
              </a:rPr>
              <a:t>SELECT Sname, Ssex FROM Student</a:t>
            </a:r>
          </a:p>
          <a:p>
            <a:pPr lvl="1" eaLnBrk="1" hangingPunct="1">
              <a:buFont typeface="Wingdings" panose="05000000000000000000" pitchFamily="2" charset="2"/>
              <a:buNone/>
            </a:pPr>
            <a:r>
              <a:rPr lang="en-US" altLang="zh-CN" dirty="0">
                <a:solidFill>
                  <a:srgbClr val="0000FF"/>
                </a:solidFill>
                <a:latin typeface="宋体" pitchFamily="2" charset="-122"/>
                <a:cs typeface="等线" panose="02010600030101010101" charset="-122"/>
              </a:rPr>
              <a:t>  WHERE Sno NOT IN (</a:t>
            </a:r>
          </a:p>
          <a:p>
            <a:pPr lvl="1" eaLnBrk="1" hangingPunct="1">
              <a:buFont typeface="Wingdings" panose="05000000000000000000" pitchFamily="2" charset="2"/>
              <a:buNone/>
            </a:pPr>
            <a:r>
              <a:rPr lang="en-US" altLang="zh-CN" dirty="0">
                <a:solidFill>
                  <a:srgbClr val="0000FF"/>
                </a:solidFill>
                <a:latin typeface="宋体" pitchFamily="2" charset="-122"/>
                <a:cs typeface="等线" panose="02010600030101010101" charset="-122"/>
              </a:rPr>
              <a:t>    SELECT Sno FROM SC JOIN Course</a:t>
            </a:r>
          </a:p>
          <a:p>
            <a:pPr lvl="1" eaLnBrk="1" hangingPunct="1">
              <a:buFont typeface="Wingdings" panose="05000000000000000000" pitchFamily="2" charset="2"/>
              <a:buNone/>
            </a:pPr>
            <a:r>
              <a:rPr lang="en-US" altLang="zh-CN" dirty="0">
                <a:solidFill>
                  <a:srgbClr val="0000FF"/>
                </a:solidFill>
                <a:latin typeface="宋体" pitchFamily="2" charset="-122"/>
                <a:cs typeface="等线" panose="02010600030101010101" charset="-122"/>
              </a:rPr>
              <a:t>      ON SC.Cno = Course.Cno</a:t>
            </a:r>
          </a:p>
          <a:p>
            <a:pPr lvl="1" eaLnBrk="1" hangingPunct="1">
              <a:buFont typeface="Wingdings" panose="05000000000000000000" pitchFamily="2" charset="2"/>
              <a:buNone/>
            </a:pPr>
            <a:r>
              <a:rPr lang="en-US" altLang="zh-CN" dirty="0">
                <a:solidFill>
                  <a:srgbClr val="0000FF"/>
                </a:solidFill>
                <a:latin typeface="宋体" pitchFamily="2" charset="-122"/>
                <a:cs typeface="等线" panose="02010600030101010101" charset="-122"/>
              </a:rPr>
              <a:t>        WHERE Cname = 'VB')</a:t>
            </a:r>
          </a:p>
          <a:p>
            <a:pPr lvl="1" eaLnBrk="1" hangingPunct="1">
              <a:buFont typeface="Wingdings" panose="05000000000000000000" pitchFamily="2" charset="2"/>
              <a:buNone/>
            </a:pPr>
            <a:r>
              <a:rPr lang="en-US" altLang="zh-CN" dirty="0">
                <a:solidFill>
                  <a:srgbClr val="0000FF"/>
                </a:solidFill>
                <a:latin typeface="宋体" pitchFamily="2" charset="-122"/>
                <a:cs typeface="等线" panose="02010600030101010101" charset="-122"/>
              </a:rPr>
              <a:t>   AND Sdept = '</a:t>
            </a:r>
            <a:r>
              <a:rPr lang="zh-CN" altLang="en-US" dirty="0">
                <a:solidFill>
                  <a:srgbClr val="0000FF"/>
                </a:solidFill>
                <a:latin typeface="宋体" pitchFamily="2" charset="-122"/>
                <a:cs typeface="等线" panose="02010600030101010101" charset="-122"/>
              </a:rPr>
              <a:t>计算机系</a:t>
            </a:r>
            <a:r>
              <a:rPr lang="en-US" altLang="zh-CN" dirty="0">
                <a:solidFill>
                  <a:srgbClr val="0000FF"/>
                </a:solidFill>
                <a:latin typeface="宋体" pitchFamily="2" charset="-122"/>
                <a:cs typeface="等线" panose="02010600030101010101" charset="-122"/>
              </a:rPr>
              <a:t>'</a:t>
            </a:r>
            <a:endParaRPr lang="zh-CN" altLang="en-US" dirty="0">
              <a:solidFill>
                <a:srgbClr val="0000FF"/>
              </a:solidFill>
              <a:latin typeface="宋体" pitchFamily="2" charset="-122"/>
              <a:cs typeface="等线" panose="02010600030101010101" charset="-122"/>
            </a:endParaRPr>
          </a:p>
        </p:txBody>
      </p:sp>
    </p:spTree>
  </p:cSld>
  <p:clrMapOvr>
    <a:masterClrMapping/>
  </p:clrMapOvr>
  <p:timing>
    <p:tnLst>
      <p:par>
        <p:cTn id="1" dur="indefinite" restart="never" nodeType="tmRoot"/>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p:cNvSpPr>
          <p:nvPr>
            <p:ph type="title"/>
          </p:nvPr>
        </p:nvSpPr>
        <p:spPr>
          <a:xfrm>
            <a:off x="500063" y="152400"/>
            <a:ext cx="8001000" cy="685800"/>
          </a:xfrm>
        </p:spPr>
        <p:txBody>
          <a:bodyPr vert="horz" wrap="square" lIns="91440" tIns="45720" rIns="91440" bIns="45720" anchor="ctr" anchorCtr="0"/>
          <a:lstStyle/>
          <a:p>
            <a:pPr eaLnBrk="1" hangingPunct="1"/>
            <a:r>
              <a:rPr lang="zh-CN" altLang="en-US" sz="5400" b="0" dirty="0">
                <a:latin typeface="黑体" panose="02010609060101010101" pitchFamily="2" charset="-122"/>
                <a:ea typeface="黑体" panose="02010609060101010101" pitchFamily="2" charset="-122"/>
                <a:cs typeface="+mj-cs"/>
              </a:rPr>
              <a:t>第</a:t>
            </a:r>
            <a:r>
              <a:rPr lang="en-US" altLang="zh-CN" sz="5400" b="0" dirty="0">
                <a:latin typeface="黑体" panose="02010609060101010101" pitchFamily="2" charset="-122"/>
                <a:ea typeface="黑体" panose="02010609060101010101" pitchFamily="2" charset="-122"/>
                <a:cs typeface="+mj-cs"/>
              </a:rPr>
              <a:t>4</a:t>
            </a:r>
            <a:r>
              <a:rPr lang="zh-CN" altLang="en-US" sz="5400" b="0" dirty="0">
                <a:latin typeface="黑体" panose="02010609060101010101" pitchFamily="2" charset="-122"/>
                <a:ea typeface="黑体" panose="02010609060101010101" pitchFamily="2" charset="-122"/>
                <a:cs typeface="+mj-cs"/>
              </a:rPr>
              <a:t>章 数据操作语句</a:t>
            </a:r>
          </a:p>
        </p:txBody>
      </p:sp>
      <p:sp>
        <p:nvSpPr>
          <p:cNvPr id="4099" name="Rectangle 3"/>
          <p:cNvSpPr>
            <a:spLocks noGrp="1"/>
          </p:cNvSpPr>
          <p:nvPr>
            <p:ph idx="1"/>
          </p:nvPr>
        </p:nvSpPr>
        <p:spPr>
          <a:xfrm>
            <a:off x="960438" y="1901949"/>
            <a:ext cx="7726362" cy="1167011"/>
          </a:xfrm>
        </p:spPr>
        <p:txBody>
          <a:bodyPr vert="horz" wrap="square" lIns="91440" tIns="45720" rIns="91440" bIns="45720" anchor="t" anchorCtr="0"/>
          <a:lstStyle/>
          <a:p>
            <a:pPr eaLnBrk="1" hangingPunct="1">
              <a:spcBef>
                <a:spcPts val="3000"/>
              </a:spcBef>
            </a:pPr>
            <a:r>
              <a:rPr lang="en-US" altLang="zh-CN" sz="4800" b="1" dirty="0">
                <a:latin typeface="宋体" pitchFamily="2" charset="-122"/>
                <a:ea typeface="宋体" pitchFamily="2" charset="-122"/>
                <a:cs typeface="等线" panose="02010600030101010101" charset="-122"/>
              </a:rPr>
              <a:t>4.1 </a:t>
            </a:r>
            <a:r>
              <a:rPr lang="en-US" altLang="zh-CN" sz="4800" b="1" dirty="0" smtClean="0">
                <a:latin typeface="宋体" pitchFamily="2" charset="-122"/>
                <a:ea typeface="宋体" pitchFamily="2" charset="-122"/>
                <a:cs typeface="等线" panose="02010600030101010101" charset="-122"/>
              </a:rPr>
              <a:t> </a:t>
            </a:r>
            <a:r>
              <a:rPr lang="zh-CN" altLang="en-US" sz="4800" b="1" dirty="0" smtClean="0">
                <a:latin typeface="宋体" pitchFamily="2" charset="-122"/>
                <a:ea typeface="宋体" pitchFamily="2" charset="-122"/>
                <a:cs typeface="等线" panose="02010600030101010101" charset="-122"/>
              </a:rPr>
              <a:t>数据</a:t>
            </a:r>
            <a:r>
              <a:rPr lang="zh-CN" altLang="en-US" sz="4800" b="1" dirty="0">
                <a:latin typeface="宋体" pitchFamily="2" charset="-122"/>
                <a:ea typeface="宋体" pitchFamily="2" charset="-122"/>
                <a:cs typeface="等线" panose="02010600030101010101" charset="-122"/>
              </a:rPr>
              <a:t>查询</a:t>
            </a:r>
            <a:r>
              <a:rPr lang="zh-CN" altLang="en-US" sz="4800" b="1" dirty="0" smtClean="0">
                <a:latin typeface="宋体" pitchFamily="2" charset="-122"/>
                <a:ea typeface="宋体" pitchFamily="2" charset="-122"/>
                <a:cs typeface="等线" panose="02010600030101010101" charset="-122"/>
              </a:rPr>
              <a:t>功能</a:t>
            </a:r>
            <a:endParaRPr lang="zh-CN" altLang="en-US" sz="4800" b="1" dirty="0">
              <a:latin typeface="宋体" pitchFamily="2" charset="-122"/>
              <a:ea typeface="宋体" pitchFamily="2" charset="-122"/>
              <a:cs typeface="等线" panose="02010600030101010101" charset="-122"/>
            </a:endParaRPr>
          </a:p>
        </p:txBody>
      </p:sp>
      <p:sp>
        <p:nvSpPr>
          <p:cNvPr id="4" name="Rectangle 3"/>
          <p:cNvSpPr txBox="1">
            <a:spLocks/>
          </p:cNvSpPr>
          <p:nvPr/>
        </p:nvSpPr>
        <p:spPr>
          <a:xfrm>
            <a:off x="1105277" y="3429000"/>
            <a:ext cx="7726362" cy="979549"/>
          </a:xfrm>
          <a:prstGeom prst="rect">
            <a:avLst/>
          </a:prstGeom>
          <a:noFill/>
          <a:ln w="9525">
            <a:noFill/>
          </a:ln>
        </p:spPr>
        <p:txBody>
          <a:bodyPr vert="horz" wrap="square" lIns="91440" tIns="45720" rIns="91440" bIns="45720" anchor="t" anchorCtr="0"/>
          <a:lstStyle>
            <a:lvl1pPr marL="342900" indent="-342900" algn="just" rtl="0" eaLnBrk="0" fontAlgn="base" hangingPunct="0">
              <a:spcBef>
                <a:spcPct val="20000"/>
              </a:spcBef>
              <a:spcAft>
                <a:spcPct val="0"/>
              </a:spcAft>
              <a:buClr>
                <a:schemeClr val="tx1"/>
              </a:buClr>
              <a:buFont typeface="Wingdings" panose="05000000000000000000" pitchFamily="2" charset="2"/>
              <a:buChar char="v"/>
              <a:defRPr sz="3400" b="0">
                <a:solidFill>
                  <a:schemeClr val="tx2"/>
                </a:solidFill>
                <a:latin typeface="宋体" pitchFamily="2" charset="-122"/>
                <a:ea typeface="宋体" pitchFamily="2" charset="-122"/>
                <a:cs typeface="+mn-cs"/>
              </a:defRPr>
            </a:lvl1pPr>
            <a:lvl2pPr marL="742950" indent="-285750" algn="just" rtl="0" eaLnBrk="0" fontAlgn="base" hangingPunct="0">
              <a:spcBef>
                <a:spcPct val="20000"/>
              </a:spcBef>
              <a:spcAft>
                <a:spcPct val="0"/>
              </a:spcAft>
              <a:buClr>
                <a:schemeClr val="tx2"/>
              </a:buClr>
              <a:buFont typeface="Wingdings" panose="05000000000000000000" pitchFamily="2" charset="2"/>
              <a:buChar char="§"/>
              <a:defRPr sz="3200" b="0">
                <a:solidFill>
                  <a:schemeClr val="tx2"/>
                </a:solidFill>
                <a:latin typeface="宋体" pitchFamily="2" charset="-122"/>
                <a:ea typeface="宋体" pitchFamily="2" charset="-122"/>
              </a:defRPr>
            </a:lvl2pPr>
            <a:lvl3pPr marL="1143000" indent="-228600" algn="just" rtl="0" eaLnBrk="0" fontAlgn="base" hangingPunct="0">
              <a:spcBef>
                <a:spcPct val="20000"/>
              </a:spcBef>
              <a:spcAft>
                <a:spcPct val="0"/>
              </a:spcAft>
              <a:buClr>
                <a:schemeClr val="hlink"/>
              </a:buClr>
              <a:buChar char="•"/>
              <a:defRPr sz="2800" b="0">
                <a:solidFill>
                  <a:schemeClr val="tx2"/>
                </a:solidFill>
                <a:latin typeface="宋体" pitchFamily="2" charset="-122"/>
                <a:ea typeface="宋体" pitchFamily="2" charset="-122"/>
              </a:defRPr>
            </a:lvl3pPr>
            <a:lvl4pPr marL="1600200" indent="-228600" algn="just" rtl="0" eaLnBrk="0" fontAlgn="base" hangingPunct="0">
              <a:spcBef>
                <a:spcPct val="20000"/>
              </a:spcBef>
              <a:spcAft>
                <a:spcPct val="0"/>
              </a:spcAft>
              <a:buChar char="–"/>
              <a:defRPr sz="2000" b="0">
                <a:solidFill>
                  <a:schemeClr val="tx2"/>
                </a:solidFill>
                <a:latin typeface="宋体" pitchFamily="2" charset="-122"/>
                <a:ea typeface="宋体" pitchFamily="2" charset="-122"/>
              </a:defRPr>
            </a:lvl4pPr>
            <a:lvl5pPr marL="2057400" indent="-228600" algn="just" rtl="0" eaLnBrk="0" fontAlgn="base" hangingPunct="0">
              <a:spcBef>
                <a:spcPct val="20000"/>
              </a:spcBef>
              <a:spcAft>
                <a:spcPct val="0"/>
              </a:spcAft>
              <a:buChar char="»"/>
              <a:defRPr sz="2000" b="0">
                <a:solidFill>
                  <a:schemeClr val="tx2"/>
                </a:solidFill>
                <a:latin typeface="宋体" pitchFamily="2" charset="-122"/>
                <a:ea typeface="宋体" pitchFamily="2" charset="-122"/>
              </a:defRPr>
            </a:lvl5pPr>
            <a:lvl6pPr marL="2514600" indent="-228600" algn="l" rtl="0" fontAlgn="base">
              <a:spcBef>
                <a:spcPct val="20000"/>
              </a:spcBef>
              <a:spcAft>
                <a:spcPct val="0"/>
              </a:spcAft>
              <a:buChar char="»"/>
              <a:defRPr sz="2000">
                <a:solidFill>
                  <a:schemeClr val="tx2"/>
                </a:solidFill>
                <a:latin typeface="Arial" panose="020B0604020202020204" pitchFamily="34" charset="0"/>
              </a:defRPr>
            </a:lvl6pPr>
            <a:lvl7pPr marL="2971800" indent="-228600" algn="l" rtl="0" fontAlgn="base">
              <a:spcBef>
                <a:spcPct val="20000"/>
              </a:spcBef>
              <a:spcAft>
                <a:spcPct val="0"/>
              </a:spcAft>
              <a:buChar char="»"/>
              <a:defRPr sz="2000">
                <a:solidFill>
                  <a:schemeClr val="tx2"/>
                </a:solidFill>
                <a:latin typeface="Arial" panose="020B0604020202020204" pitchFamily="34" charset="0"/>
              </a:defRPr>
            </a:lvl7pPr>
            <a:lvl8pPr marL="3429000" indent="-228600" algn="l" rtl="0" fontAlgn="base">
              <a:spcBef>
                <a:spcPct val="20000"/>
              </a:spcBef>
              <a:spcAft>
                <a:spcPct val="0"/>
              </a:spcAft>
              <a:buChar char="»"/>
              <a:defRPr sz="2000">
                <a:solidFill>
                  <a:schemeClr val="tx2"/>
                </a:solidFill>
                <a:latin typeface="Arial" panose="020B0604020202020204" pitchFamily="34" charset="0"/>
              </a:defRPr>
            </a:lvl8pPr>
            <a:lvl9pPr marL="3886200" indent="-228600" algn="l" rtl="0" fontAlgn="base">
              <a:spcBef>
                <a:spcPct val="20000"/>
              </a:spcBef>
              <a:spcAft>
                <a:spcPct val="0"/>
              </a:spcAft>
              <a:buChar char="»"/>
              <a:defRPr sz="2000">
                <a:solidFill>
                  <a:schemeClr val="tx2"/>
                </a:solidFill>
                <a:latin typeface="Arial" panose="020B0604020202020204" pitchFamily="34" charset="0"/>
              </a:defRPr>
            </a:lvl9pPr>
          </a:lstStyle>
          <a:p>
            <a:pPr eaLnBrk="1" hangingPunct="1">
              <a:spcBef>
                <a:spcPts val="3000"/>
              </a:spcBef>
            </a:pPr>
            <a:r>
              <a:rPr lang="en-US" altLang="zh-CN" sz="4800" b="1" dirty="0" smtClean="0">
                <a:cs typeface="等线" panose="02010600030101010101" charset="-122"/>
              </a:rPr>
              <a:t>4.2  </a:t>
            </a:r>
            <a:r>
              <a:rPr lang="zh-CN" altLang="en-US" sz="4800" b="1" dirty="0" smtClean="0">
                <a:cs typeface="等线" panose="02010600030101010101" charset="-122"/>
              </a:rPr>
              <a:t>数据更改功能</a:t>
            </a:r>
            <a:endParaRPr lang="zh-CN" altLang="en-US" sz="4800" b="1" dirty="0">
              <a:cs typeface="等线" panose="02010600030101010101" charset="-122"/>
            </a:endParaRPr>
          </a:p>
        </p:txBody>
      </p:sp>
      <p:pic>
        <p:nvPicPr>
          <p:cNvPr id="7" name="Picture 4" descr="手1"/>
          <p:cNvPicPr>
            <a:picLocks noChangeAspect="1" noChangeArrowheads="1" noCrop="1"/>
          </p:cNvPicPr>
          <p:nvPr/>
        </p:nvPicPr>
        <p:blipFill>
          <a:blip r:embed="rId2">
            <a:extLst>
              <a:ext uri="{28A0092B-C50C-407E-A947-70E740481C1C}">
                <a14:useLocalDpi xmlns:a14="http://schemas.microsoft.com/office/drawing/2010/main" val="0"/>
              </a:ext>
            </a:extLst>
          </a:blip>
          <a:srcRect/>
          <a:stretch>
            <a:fillRect/>
          </a:stretch>
        </p:blipFill>
        <p:spPr bwMode="auto">
          <a:xfrm>
            <a:off x="395536" y="3738754"/>
            <a:ext cx="1001953" cy="36004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221018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4099">
                                            <p:txEl>
                                              <p:pRg st="0" end="0"/>
                                            </p:txEl>
                                          </p:spTgt>
                                        </p:tgtEl>
                                        <p:attrNameLst>
                                          <p:attrName>style.visibility</p:attrName>
                                        </p:attrNameLst>
                                      </p:cBhvr>
                                      <p:to>
                                        <p:strVal val="visible"/>
                                      </p:to>
                                    </p:set>
                                    <p:animEffect transition="in" filter="barn(inVertical)">
                                      <p:cBhvr>
                                        <p:cTn id="7" dur="500"/>
                                        <p:tgtEl>
                                          <p:spTgt spid="409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barn(inVertical)">
                                      <p:cBhvr>
                                        <p:cTn id="12" dur="500"/>
                                        <p:tgtEl>
                                          <p:spTgt spid="4"/>
                                        </p:tgtEl>
                                      </p:cBhvr>
                                    </p:animEffect>
                                  </p:childTnLst>
                                </p:cTn>
                              </p:par>
                              <p:par>
                                <p:cTn id="13" presetID="1" presetClass="entr" presetSubtype="0" fill="hold" nodeType="with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99" grpId="0" build="p"/>
      <p:bldP spid="4" grpId="0"/>
    </p:bld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Rectangle 2"/>
          <p:cNvSpPr>
            <a:spLocks noGrp="1"/>
          </p:cNvSpPr>
          <p:nvPr>
            <p:ph type="title"/>
          </p:nvPr>
        </p:nvSpPr>
        <p:spPr>
          <a:xfrm>
            <a:off x="500063" y="152400"/>
            <a:ext cx="8001000" cy="685800"/>
          </a:xfrm>
          <a:noFill/>
          <a:ln w="9525">
            <a:noFill/>
          </a:ln>
        </p:spPr>
        <p:txBody>
          <a:bodyPr vert="horz" wrap="square" lIns="91440" tIns="45720" rIns="91440" bIns="45720" rtlCol="0" anchor="ctr" anchorCtr="0">
            <a:noAutofit/>
          </a:bodyPr>
          <a:lstStyle/>
          <a:p>
            <a:pPr lvl="0" algn="ctr" eaLnBrk="1" hangingPunct="1">
              <a:buClrTx/>
              <a:buSzTx/>
              <a:buFontTx/>
            </a:pPr>
            <a:r>
              <a:rPr lang="zh-CN" altLang="en-US" sz="4800" b="0" dirty="0">
                <a:latin typeface="黑体" panose="02010609060101010101" pitchFamily="2" charset="-122"/>
                <a:ea typeface="黑体" panose="02010609060101010101" pitchFamily="2" charset="-122"/>
                <a:sym typeface="+mn-ea"/>
              </a:rPr>
              <a:t>4.2 数据更改功能 </a:t>
            </a:r>
          </a:p>
        </p:txBody>
      </p:sp>
      <p:sp>
        <p:nvSpPr>
          <p:cNvPr id="118787" name="Rectangle 3"/>
          <p:cNvSpPr>
            <a:spLocks noGrp="1"/>
          </p:cNvSpPr>
          <p:nvPr>
            <p:ph idx="1"/>
          </p:nvPr>
        </p:nvSpPr>
        <p:spPr>
          <a:xfrm>
            <a:off x="1547664" y="1844824"/>
            <a:ext cx="6337008" cy="3027362"/>
          </a:xfrm>
        </p:spPr>
        <p:txBody>
          <a:bodyPr vert="horz" wrap="square" lIns="91440" tIns="45720" rIns="91440" bIns="45720" anchor="t" anchorCtr="0"/>
          <a:lstStyle/>
          <a:p>
            <a:pPr eaLnBrk="1" hangingPunct="1">
              <a:spcBef>
                <a:spcPts val="2400"/>
              </a:spcBef>
            </a:pPr>
            <a:r>
              <a:rPr lang="en-US" altLang="zh-CN" sz="4000" b="1" dirty="0" smtClean="0">
                <a:cs typeface="等线" panose="02010600030101010101" charset="-122"/>
              </a:rPr>
              <a:t> 4.2.1 </a:t>
            </a:r>
            <a:r>
              <a:rPr lang="zh-CN" altLang="en-US" sz="4000" b="1" dirty="0">
                <a:cs typeface="等线" panose="02010600030101010101" charset="-122"/>
              </a:rPr>
              <a:t>插入数据 </a:t>
            </a:r>
            <a:r>
              <a:rPr lang="en-US" altLang="zh-CN" sz="4000" b="1" dirty="0" smtClean="0">
                <a:cs typeface="等线" panose="02010600030101010101" charset="-122"/>
              </a:rPr>
              <a:t>insert</a:t>
            </a:r>
            <a:endParaRPr lang="zh-CN" altLang="en-US" sz="4000" b="1" dirty="0">
              <a:cs typeface="等线" panose="02010600030101010101" charset="-122"/>
            </a:endParaRPr>
          </a:p>
          <a:p>
            <a:pPr eaLnBrk="1" hangingPunct="1">
              <a:spcBef>
                <a:spcPts val="2400"/>
              </a:spcBef>
            </a:pPr>
            <a:r>
              <a:rPr lang="en-US" altLang="zh-CN" sz="4000" b="1" dirty="0" smtClean="0">
                <a:cs typeface="等线" panose="02010600030101010101" charset="-122"/>
              </a:rPr>
              <a:t> 4.2.2 </a:t>
            </a:r>
            <a:r>
              <a:rPr lang="zh-CN" altLang="en-US" sz="4000" b="1" dirty="0">
                <a:cs typeface="等线" panose="02010600030101010101" charset="-122"/>
              </a:rPr>
              <a:t>更新数据 </a:t>
            </a:r>
            <a:r>
              <a:rPr lang="en-US" altLang="zh-CN" sz="4000" b="1" dirty="0">
                <a:cs typeface="等线" panose="02010600030101010101" charset="-122"/>
              </a:rPr>
              <a:t>update</a:t>
            </a:r>
            <a:endParaRPr lang="zh-CN" altLang="en-US" sz="4000" b="1" dirty="0">
              <a:cs typeface="等线" panose="02010600030101010101" charset="-122"/>
            </a:endParaRPr>
          </a:p>
          <a:p>
            <a:pPr algn="just" eaLnBrk="1" hangingPunct="1">
              <a:spcBef>
                <a:spcPts val="2400"/>
              </a:spcBef>
            </a:pPr>
            <a:r>
              <a:rPr lang="en-US" altLang="zh-CN" sz="4000" b="1" dirty="0" smtClean="0">
                <a:cs typeface="等线" panose="02010600030101010101" charset="-122"/>
              </a:rPr>
              <a:t> 4.2.3 </a:t>
            </a:r>
            <a:r>
              <a:rPr lang="zh-CN" altLang="en-US" sz="4000" b="1" dirty="0">
                <a:cs typeface="等线" panose="02010600030101010101" charset="-122"/>
              </a:rPr>
              <a:t>删除</a:t>
            </a:r>
            <a:r>
              <a:rPr lang="zh-CN" altLang="en-US" sz="4000" b="1" dirty="0" smtClean="0">
                <a:cs typeface="等线" panose="02010600030101010101" charset="-122"/>
              </a:rPr>
              <a:t>数据 </a:t>
            </a:r>
            <a:r>
              <a:rPr lang="en-US" altLang="zh-CN" sz="4000" b="1" dirty="0" smtClean="0">
                <a:cs typeface="等线" panose="02010600030101010101" charset="-122"/>
              </a:rPr>
              <a:t>delete</a:t>
            </a:r>
            <a:endParaRPr lang="zh-CN" altLang="en-US" sz="4000" b="1" dirty="0">
              <a:cs typeface="等线" panose="02010600030101010101" charset="-122"/>
            </a:endParaRPr>
          </a:p>
        </p:txBody>
      </p:sp>
    </p:spTree>
    <p:extLst>
      <p:ext uri="{BB962C8B-B14F-4D97-AF65-F5344CB8AC3E}">
        <p14:creationId xmlns:p14="http://schemas.microsoft.com/office/powerpoint/2010/main" val="3862512193"/>
      </p:ext>
    </p:extLst>
  </p:cSld>
  <p:clrMapOvr>
    <a:masterClrMapping/>
  </p:clrMapOvr>
  <p:timing>
    <p:tnLst>
      <p:par>
        <p:cTn id="1" dur="indefinite" restart="never" nodeType="tmRoot"/>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Rectangle 2"/>
          <p:cNvSpPr>
            <a:spLocks noGrp="1"/>
          </p:cNvSpPr>
          <p:nvPr>
            <p:ph type="title"/>
          </p:nvPr>
        </p:nvSpPr>
        <p:spPr>
          <a:xfrm>
            <a:off x="500063" y="152400"/>
            <a:ext cx="8001000" cy="685800"/>
          </a:xfrm>
          <a:noFill/>
          <a:ln w="9525">
            <a:noFill/>
          </a:ln>
        </p:spPr>
        <p:txBody>
          <a:bodyPr vert="horz" wrap="square" lIns="91440" tIns="45720" rIns="91440" bIns="45720" rtlCol="0" anchor="ctr" anchorCtr="0">
            <a:noAutofit/>
          </a:bodyPr>
          <a:lstStyle/>
          <a:p>
            <a:pPr lvl="0" algn="ctr" eaLnBrk="1" hangingPunct="1">
              <a:buClrTx/>
              <a:buSzTx/>
              <a:buFontTx/>
            </a:pPr>
            <a:r>
              <a:rPr lang="zh-CN" altLang="en-US" sz="4800" b="0" dirty="0">
                <a:latin typeface="黑体" panose="02010609060101010101" pitchFamily="2" charset="-122"/>
                <a:ea typeface="黑体" panose="02010609060101010101" pitchFamily="2" charset="-122"/>
                <a:sym typeface="+mn-ea"/>
              </a:rPr>
              <a:t>4.2.1 插入数据 </a:t>
            </a:r>
          </a:p>
        </p:txBody>
      </p:sp>
      <p:sp>
        <p:nvSpPr>
          <p:cNvPr id="119811" name="Rectangle 3"/>
          <p:cNvSpPr>
            <a:spLocks noGrp="1"/>
          </p:cNvSpPr>
          <p:nvPr>
            <p:ph idx="1"/>
          </p:nvPr>
        </p:nvSpPr>
        <p:spPr>
          <a:xfrm>
            <a:off x="457200" y="1295400"/>
            <a:ext cx="8435280" cy="4876800"/>
          </a:xfrm>
        </p:spPr>
        <p:txBody>
          <a:bodyPr vert="horz" wrap="square" lIns="91440" tIns="45720" rIns="91440" bIns="45720" anchor="t" anchorCtr="0"/>
          <a:lstStyle/>
          <a:p>
            <a:pPr algn="just" eaLnBrk="1" hangingPunct="1"/>
            <a:r>
              <a:rPr lang="zh-CN" altLang="en-US" b="1" dirty="0">
                <a:cs typeface="等线" panose="02010600030101010101" charset="-122"/>
              </a:rPr>
              <a:t>插入</a:t>
            </a:r>
            <a:r>
              <a:rPr lang="zh-CN" altLang="en-US" b="1" u="sng" dirty="0">
                <a:latin typeface="楷体" pitchFamily="49" charset="-122"/>
                <a:ea typeface="楷体" pitchFamily="49" charset="-122"/>
                <a:cs typeface="等线" panose="02010600030101010101" charset="-122"/>
              </a:rPr>
              <a:t>单行记录</a:t>
            </a:r>
            <a:r>
              <a:rPr lang="zh-CN" altLang="en-US" b="1" dirty="0">
                <a:cs typeface="等线" panose="02010600030101010101" charset="-122"/>
              </a:rPr>
              <a:t>的</a:t>
            </a:r>
            <a:r>
              <a:rPr lang="en-US" altLang="zh-CN" b="1" dirty="0">
                <a:cs typeface="等线" panose="02010600030101010101" charset="-122"/>
              </a:rPr>
              <a:t>INSERT</a:t>
            </a:r>
            <a:r>
              <a:rPr lang="zh-CN" altLang="en-US" b="1" dirty="0">
                <a:cs typeface="等线" panose="02010600030101010101" charset="-122"/>
              </a:rPr>
              <a:t>语句的格式为：</a:t>
            </a:r>
          </a:p>
          <a:p>
            <a:pPr algn="just" eaLnBrk="1" hangingPunct="1">
              <a:buFont typeface="Wingdings" panose="05000000000000000000" pitchFamily="2" charset="2"/>
              <a:buNone/>
            </a:pPr>
            <a:r>
              <a:rPr lang="zh-CN" altLang="en-US" b="1" dirty="0">
                <a:solidFill>
                  <a:srgbClr val="FF0000"/>
                </a:solidFill>
                <a:cs typeface="等线" panose="02010600030101010101" charset="-122"/>
              </a:rPr>
              <a:t>	</a:t>
            </a:r>
            <a:r>
              <a:rPr lang="en-US" altLang="zh-CN" b="1" dirty="0">
                <a:solidFill>
                  <a:srgbClr val="FF0000"/>
                </a:solidFill>
                <a:cs typeface="等线" panose="02010600030101010101" charset="-122"/>
              </a:rPr>
              <a:t>INSERT INTO &lt;</a:t>
            </a:r>
            <a:r>
              <a:rPr lang="zh-CN" altLang="en-US" b="1" dirty="0">
                <a:solidFill>
                  <a:srgbClr val="FF0000"/>
                </a:solidFill>
                <a:cs typeface="等线" panose="02010600030101010101" charset="-122"/>
              </a:rPr>
              <a:t>表名</a:t>
            </a:r>
            <a:r>
              <a:rPr lang="en-US" altLang="zh-CN" b="1" dirty="0">
                <a:solidFill>
                  <a:srgbClr val="FF0000"/>
                </a:solidFill>
                <a:cs typeface="等线" panose="02010600030101010101" charset="-122"/>
              </a:rPr>
              <a:t>&gt; [(&lt;</a:t>
            </a:r>
            <a:r>
              <a:rPr lang="zh-CN" altLang="en-US" b="1" dirty="0">
                <a:solidFill>
                  <a:srgbClr val="FF0000"/>
                </a:solidFill>
                <a:cs typeface="等线" panose="02010600030101010101" charset="-122"/>
              </a:rPr>
              <a:t>列名表</a:t>
            </a:r>
            <a:r>
              <a:rPr lang="en-US" altLang="zh-CN" b="1" dirty="0">
                <a:solidFill>
                  <a:srgbClr val="FF0000"/>
                </a:solidFill>
                <a:cs typeface="等线" panose="02010600030101010101" charset="-122"/>
              </a:rPr>
              <a:t>&gt;)] </a:t>
            </a:r>
          </a:p>
          <a:p>
            <a:pPr algn="just" eaLnBrk="1" hangingPunct="1">
              <a:buFont typeface="Wingdings" panose="05000000000000000000" pitchFamily="2" charset="2"/>
              <a:buNone/>
            </a:pPr>
            <a:r>
              <a:rPr lang="en-US" altLang="zh-CN" b="1" dirty="0">
                <a:solidFill>
                  <a:srgbClr val="FF0000"/>
                </a:solidFill>
                <a:cs typeface="等线" panose="02010600030101010101" charset="-122"/>
              </a:rPr>
              <a:t>        VALUES </a:t>
            </a:r>
            <a:r>
              <a:rPr lang="zh-CN" altLang="en-US" b="1" dirty="0">
                <a:solidFill>
                  <a:srgbClr val="FF0000"/>
                </a:solidFill>
                <a:cs typeface="等线" panose="02010600030101010101" charset="-122"/>
              </a:rPr>
              <a:t>（值表）</a:t>
            </a:r>
          </a:p>
          <a:p>
            <a:pPr eaLnBrk="1" hangingPunct="1">
              <a:spcBef>
                <a:spcPts val="2400"/>
              </a:spcBef>
            </a:pPr>
            <a:r>
              <a:rPr lang="zh-CN" altLang="en-US" b="1" dirty="0">
                <a:cs typeface="等线" panose="02010600030101010101" charset="-122"/>
              </a:rPr>
              <a:t>功能</a:t>
            </a:r>
            <a:r>
              <a:rPr lang="zh-CN" altLang="en-US" b="1" dirty="0" smtClean="0">
                <a:cs typeface="等线" panose="02010600030101010101" charset="-122"/>
              </a:rPr>
              <a:t>：</a:t>
            </a:r>
            <a:endParaRPr lang="en-US" altLang="zh-CN" b="1" dirty="0" smtClean="0">
              <a:cs typeface="等线" panose="02010600030101010101" charset="-122"/>
            </a:endParaRPr>
          </a:p>
          <a:p>
            <a:pPr marL="0" indent="0" eaLnBrk="1" hangingPunct="1">
              <a:spcBef>
                <a:spcPts val="600"/>
              </a:spcBef>
              <a:buNone/>
            </a:pPr>
            <a:r>
              <a:rPr lang="en-US" altLang="zh-CN" b="1" dirty="0">
                <a:cs typeface="等线" panose="02010600030101010101" charset="-122"/>
              </a:rPr>
              <a:t> </a:t>
            </a:r>
            <a:r>
              <a:rPr lang="en-US" altLang="zh-CN" b="1" dirty="0" smtClean="0">
                <a:cs typeface="等线" panose="02010600030101010101" charset="-122"/>
              </a:rPr>
              <a:t>   </a:t>
            </a:r>
            <a:r>
              <a:rPr lang="zh-CN" altLang="en-US" b="1" dirty="0" smtClean="0">
                <a:cs typeface="等线" panose="02010600030101010101" charset="-122"/>
              </a:rPr>
              <a:t>新增</a:t>
            </a:r>
            <a:r>
              <a:rPr lang="zh-CN" altLang="en-US" b="1" dirty="0">
                <a:cs typeface="等线" panose="02010600030101010101" charset="-122"/>
              </a:rPr>
              <a:t>一个符合表结构的数据行，将值表数据按表中列定义顺序</a:t>
            </a:r>
            <a:r>
              <a:rPr lang="en-US" altLang="zh-CN" b="1" dirty="0">
                <a:cs typeface="等线" panose="02010600030101010101" charset="-122"/>
              </a:rPr>
              <a:t>[</a:t>
            </a:r>
            <a:r>
              <a:rPr lang="zh-CN" altLang="en-US" b="1" dirty="0">
                <a:cs typeface="等线" panose="02010600030101010101" charset="-122"/>
              </a:rPr>
              <a:t>或列名表顺序</a:t>
            </a:r>
            <a:r>
              <a:rPr lang="en-US" altLang="zh-CN" b="1" dirty="0">
                <a:cs typeface="等线" panose="02010600030101010101" charset="-122"/>
              </a:rPr>
              <a:t>]</a:t>
            </a:r>
            <a:r>
              <a:rPr lang="zh-CN" altLang="en-US" b="1" dirty="0">
                <a:cs typeface="等线" panose="02010600030101010101" charset="-122"/>
              </a:rPr>
              <a:t>赋给对应列名。</a:t>
            </a:r>
          </a:p>
        </p:txBody>
      </p:sp>
    </p:spTree>
    <p:extLst>
      <p:ext uri="{BB962C8B-B14F-4D97-AF65-F5344CB8AC3E}">
        <p14:creationId xmlns:p14="http://schemas.microsoft.com/office/powerpoint/2010/main" val="682082281"/>
      </p:ext>
    </p:extLst>
  </p:cSld>
  <p:clrMapOvr>
    <a:masterClrMapping/>
  </p:clrMapOvr>
  <p:timing>
    <p:tnLst>
      <p:par>
        <p:cTn id="1" dur="indefinite" restart="never" nodeType="tmRoot"/>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Rectangle 2"/>
          <p:cNvSpPr>
            <a:spLocks noGrp="1"/>
          </p:cNvSpPr>
          <p:nvPr>
            <p:ph type="title"/>
          </p:nvPr>
        </p:nvSpPr>
        <p:spPr>
          <a:xfrm>
            <a:off x="500063" y="152400"/>
            <a:ext cx="8001000" cy="685800"/>
          </a:xfrm>
          <a:noFill/>
          <a:ln w="9525">
            <a:noFill/>
          </a:ln>
        </p:spPr>
        <p:txBody>
          <a:bodyPr vert="horz" wrap="square" lIns="91440" tIns="45720" rIns="91440" bIns="45720" rtlCol="0" anchor="ctr" anchorCtr="0">
            <a:normAutofit fontScale="90000"/>
          </a:bodyPr>
          <a:lstStyle/>
          <a:p>
            <a:pPr lvl="0" algn="ctr" eaLnBrk="1" hangingPunct="1">
              <a:buClrTx/>
              <a:buSzTx/>
              <a:buFontTx/>
            </a:pPr>
            <a:r>
              <a:rPr lang="zh-CN" altLang="en-US" sz="4000" b="0" dirty="0">
                <a:latin typeface="黑体" panose="02010609060101010101" pitchFamily="2" charset="-122"/>
                <a:ea typeface="黑体" panose="02010609060101010101" pitchFamily="2" charset="-122"/>
                <a:sym typeface="+mn-ea"/>
              </a:rPr>
              <a:t>示例</a:t>
            </a:r>
          </a:p>
        </p:txBody>
      </p:sp>
      <p:sp>
        <p:nvSpPr>
          <p:cNvPr id="121859" name="Rectangle 3"/>
          <p:cNvSpPr>
            <a:spLocks noGrp="1"/>
          </p:cNvSpPr>
          <p:nvPr>
            <p:ph idx="1"/>
          </p:nvPr>
        </p:nvSpPr>
        <p:spPr>
          <a:xfrm>
            <a:off x="287524" y="1124744"/>
            <a:ext cx="8712968" cy="1296144"/>
          </a:xfrm>
        </p:spPr>
        <p:txBody>
          <a:bodyPr vert="horz" wrap="square" lIns="91440" tIns="45720" rIns="91440" bIns="45720" anchor="t" anchorCtr="0"/>
          <a:lstStyle/>
          <a:p>
            <a:pPr marL="0" indent="0" eaLnBrk="1" hangingPunct="1">
              <a:buNone/>
            </a:pPr>
            <a:r>
              <a:rPr lang="zh-CN" altLang="en-US" sz="2800" b="1" dirty="0" smtClean="0">
                <a:cs typeface="等线" panose="02010600030101010101" charset="-122"/>
              </a:rPr>
              <a:t>例</a:t>
            </a:r>
            <a:r>
              <a:rPr lang="en-US" altLang="zh-CN" sz="2800" b="1" dirty="0" smtClean="0">
                <a:cs typeface="等线" panose="02010600030101010101" charset="-122"/>
              </a:rPr>
              <a:t>4.74  </a:t>
            </a:r>
            <a:r>
              <a:rPr lang="zh-CN" altLang="en-US" sz="2800" b="1" dirty="0">
                <a:cs typeface="等线" panose="02010600030101010101" charset="-122"/>
              </a:rPr>
              <a:t>将一个</a:t>
            </a:r>
            <a:r>
              <a:rPr lang="zh-CN" altLang="en-US" sz="2800" b="1" dirty="0" smtClean="0">
                <a:cs typeface="等线" panose="02010600030101010101" charset="-122"/>
              </a:rPr>
              <a:t>新生插入</a:t>
            </a:r>
            <a:r>
              <a:rPr lang="zh-CN" altLang="en-US" sz="2800" b="1" dirty="0">
                <a:cs typeface="等线" panose="02010600030101010101" charset="-122"/>
              </a:rPr>
              <a:t>到</a:t>
            </a:r>
            <a:r>
              <a:rPr lang="en-US" altLang="zh-CN" sz="2800" b="1" dirty="0">
                <a:cs typeface="等线" panose="02010600030101010101" charset="-122"/>
              </a:rPr>
              <a:t>Student</a:t>
            </a:r>
            <a:r>
              <a:rPr lang="zh-CN" altLang="en-US" sz="2800" b="1" dirty="0">
                <a:cs typeface="等线" panose="02010600030101010101" charset="-122"/>
              </a:rPr>
              <a:t>表</a:t>
            </a:r>
            <a:r>
              <a:rPr lang="zh-CN" altLang="en-US" sz="2800" b="1" dirty="0" smtClean="0">
                <a:cs typeface="等线" panose="02010600030101010101" charset="-122"/>
              </a:rPr>
              <a:t>中</a:t>
            </a:r>
            <a:endParaRPr lang="en-US" altLang="zh-CN" sz="2800" b="1" dirty="0" smtClean="0">
              <a:cs typeface="等线" panose="02010600030101010101" charset="-122"/>
            </a:endParaRPr>
          </a:p>
          <a:p>
            <a:pPr marL="0" indent="0" eaLnBrk="1" hangingPunct="1">
              <a:spcBef>
                <a:spcPts val="0"/>
              </a:spcBef>
              <a:buNone/>
            </a:pPr>
            <a:r>
              <a:rPr lang="zh-CN" altLang="en-US" sz="2800" b="1" dirty="0" smtClean="0">
                <a:cs typeface="等线" panose="02010600030101010101" charset="-122"/>
              </a:rPr>
              <a:t>学</a:t>
            </a:r>
            <a:r>
              <a:rPr lang="zh-CN" altLang="en-US" sz="2800" b="1" dirty="0">
                <a:cs typeface="等线" panose="02010600030101010101" charset="-122"/>
              </a:rPr>
              <a:t>号：</a:t>
            </a:r>
            <a:r>
              <a:rPr lang="en-US" altLang="zh-CN" sz="2800" b="1" dirty="0">
                <a:cs typeface="等线" panose="02010600030101010101" charset="-122"/>
              </a:rPr>
              <a:t>0621105</a:t>
            </a:r>
            <a:r>
              <a:rPr lang="zh-CN" altLang="en-US" sz="2800" b="1" dirty="0">
                <a:cs typeface="等线" panose="02010600030101010101" charset="-122"/>
              </a:rPr>
              <a:t>，姓名：陈冬，性别：男，</a:t>
            </a:r>
            <a:r>
              <a:rPr lang="zh-CN" altLang="en-US" sz="2800" b="1" dirty="0" smtClean="0">
                <a:cs typeface="等线" panose="02010600030101010101" charset="-122"/>
              </a:rPr>
              <a:t>年龄：</a:t>
            </a:r>
            <a:r>
              <a:rPr lang="en-US" altLang="zh-CN" sz="2800" b="1" dirty="0" smtClean="0">
                <a:cs typeface="等线" panose="02010600030101010101" charset="-122"/>
              </a:rPr>
              <a:t>18</a:t>
            </a:r>
            <a:r>
              <a:rPr lang="zh-CN" altLang="en-US" sz="2800" b="1" dirty="0">
                <a:cs typeface="等线" panose="02010600030101010101" charset="-122"/>
              </a:rPr>
              <a:t>岁，信息管理系学生</a:t>
            </a:r>
            <a:r>
              <a:rPr lang="zh-CN" altLang="en-US" sz="2800" b="1" dirty="0" smtClean="0">
                <a:cs typeface="等线" panose="02010600030101010101" charset="-122"/>
              </a:rPr>
              <a:t>。</a:t>
            </a:r>
            <a:endParaRPr lang="zh-CN" altLang="en-US" sz="2800" b="1" dirty="0">
              <a:cs typeface="等线" panose="02010600030101010101" charset="-122"/>
            </a:endParaRPr>
          </a:p>
        </p:txBody>
      </p:sp>
      <p:sp>
        <p:nvSpPr>
          <p:cNvPr id="2" name="矩形 1"/>
          <p:cNvSpPr/>
          <p:nvPr/>
        </p:nvSpPr>
        <p:spPr>
          <a:xfrm>
            <a:off x="467544" y="2564903"/>
            <a:ext cx="8275474" cy="954107"/>
          </a:xfrm>
          <a:prstGeom prst="rect">
            <a:avLst/>
          </a:prstGeom>
        </p:spPr>
        <p:txBody>
          <a:bodyPr wrap="square">
            <a:spAutoFit/>
          </a:bodyPr>
          <a:lstStyle/>
          <a:p>
            <a:pPr lvl="1" algn="l"/>
            <a:r>
              <a:rPr lang="en-US" altLang="zh-CN" sz="2800" b="1" dirty="0">
                <a:solidFill>
                  <a:srgbClr val="0000FF"/>
                </a:solidFill>
                <a:latin typeface="Times New Roman" pitchFamily="18" charset="0"/>
                <a:ea typeface="宋体" pitchFamily="2" charset="-122"/>
                <a:cs typeface="Times New Roman" pitchFamily="18" charset="0"/>
              </a:rPr>
              <a:t>INSERT INTO Student </a:t>
            </a:r>
          </a:p>
          <a:p>
            <a:pPr lvl="1" algn="l"/>
            <a:r>
              <a:rPr lang="en-US" altLang="zh-CN" sz="2800" b="1" dirty="0">
                <a:solidFill>
                  <a:srgbClr val="0000FF"/>
                </a:solidFill>
                <a:latin typeface="Times New Roman" pitchFamily="18" charset="0"/>
                <a:ea typeface="宋体" pitchFamily="2" charset="-122"/>
                <a:cs typeface="Times New Roman" pitchFamily="18" charset="0"/>
              </a:rPr>
              <a:t>VALUES ('0621105', '</a:t>
            </a:r>
            <a:r>
              <a:rPr lang="zh-CN" altLang="en-US" sz="2800" b="1" dirty="0">
                <a:solidFill>
                  <a:srgbClr val="0000FF"/>
                </a:solidFill>
                <a:latin typeface="Times New Roman" pitchFamily="18" charset="0"/>
                <a:ea typeface="宋体" pitchFamily="2" charset="-122"/>
                <a:cs typeface="Times New Roman" pitchFamily="18" charset="0"/>
              </a:rPr>
              <a:t>陈冬</a:t>
            </a:r>
            <a:r>
              <a:rPr lang="en-US" altLang="zh-CN" sz="2800" b="1" dirty="0">
                <a:solidFill>
                  <a:srgbClr val="0000FF"/>
                </a:solidFill>
                <a:latin typeface="Times New Roman" pitchFamily="18" charset="0"/>
                <a:ea typeface="宋体" pitchFamily="2" charset="-122"/>
                <a:cs typeface="Times New Roman" pitchFamily="18" charset="0"/>
              </a:rPr>
              <a:t>', '</a:t>
            </a:r>
            <a:r>
              <a:rPr lang="zh-CN" altLang="en-US" sz="2800" b="1" dirty="0">
                <a:solidFill>
                  <a:srgbClr val="0000FF"/>
                </a:solidFill>
                <a:latin typeface="Times New Roman" pitchFamily="18" charset="0"/>
                <a:ea typeface="宋体" pitchFamily="2" charset="-122"/>
                <a:cs typeface="Times New Roman" pitchFamily="18" charset="0"/>
              </a:rPr>
              <a:t>男</a:t>
            </a:r>
            <a:r>
              <a:rPr lang="en-US" altLang="zh-CN" sz="2800" b="1" dirty="0">
                <a:solidFill>
                  <a:srgbClr val="0000FF"/>
                </a:solidFill>
                <a:latin typeface="Times New Roman" pitchFamily="18" charset="0"/>
                <a:ea typeface="宋体" pitchFamily="2" charset="-122"/>
                <a:cs typeface="Times New Roman" pitchFamily="18" charset="0"/>
              </a:rPr>
              <a:t>', </a:t>
            </a:r>
            <a:r>
              <a:rPr lang="en-US" altLang="zh-CN" sz="2800" b="1" dirty="0" smtClean="0">
                <a:solidFill>
                  <a:srgbClr val="0000FF"/>
                </a:solidFill>
                <a:latin typeface="Times New Roman" pitchFamily="18" charset="0"/>
                <a:ea typeface="宋体" pitchFamily="2" charset="-122"/>
                <a:cs typeface="Times New Roman" pitchFamily="18" charset="0"/>
              </a:rPr>
              <a:t>18</a:t>
            </a:r>
            <a:r>
              <a:rPr lang="en-US" altLang="zh-CN" sz="2800" b="1" dirty="0">
                <a:solidFill>
                  <a:srgbClr val="0000FF"/>
                </a:solidFill>
                <a:latin typeface="Times New Roman" pitchFamily="18" charset="0"/>
                <a:ea typeface="宋体" pitchFamily="2" charset="-122"/>
                <a:cs typeface="Times New Roman" pitchFamily="18" charset="0"/>
              </a:rPr>
              <a:t>, '</a:t>
            </a:r>
            <a:r>
              <a:rPr lang="zh-CN" altLang="en-US" sz="2800" b="1" dirty="0">
                <a:solidFill>
                  <a:srgbClr val="0000FF"/>
                </a:solidFill>
                <a:latin typeface="Times New Roman" pitchFamily="18" charset="0"/>
                <a:ea typeface="宋体" pitchFamily="2" charset="-122"/>
                <a:cs typeface="Times New Roman" pitchFamily="18" charset="0"/>
              </a:rPr>
              <a:t>信息管理系</a:t>
            </a:r>
            <a:r>
              <a:rPr lang="en-US" altLang="zh-CN" sz="2800" b="1" dirty="0">
                <a:solidFill>
                  <a:srgbClr val="0000FF"/>
                </a:solidFill>
                <a:latin typeface="Times New Roman" pitchFamily="18" charset="0"/>
                <a:ea typeface="宋体" pitchFamily="2" charset="-122"/>
                <a:cs typeface="Times New Roman" pitchFamily="18" charset="0"/>
              </a:rPr>
              <a:t>')</a:t>
            </a:r>
          </a:p>
        </p:txBody>
      </p:sp>
      <p:sp>
        <p:nvSpPr>
          <p:cNvPr id="8" name="矩形 7"/>
          <p:cNvSpPr/>
          <p:nvPr/>
        </p:nvSpPr>
        <p:spPr>
          <a:xfrm>
            <a:off x="479511" y="4184227"/>
            <a:ext cx="8136904" cy="954107"/>
          </a:xfrm>
          <a:prstGeom prst="rect">
            <a:avLst/>
          </a:prstGeom>
        </p:spPr>
        <p:txBody>
          <a:bodyPr wrap="square">
            <a:spAutoFit/>
          </a:bodyPr>
          <a:lstStyle/>
          <a:p>
            <a:pPr lvl="1" algn="l"/>
            <a:r>
              <a:rPr lang="en-US" altLang="zh-CN" sz="2800" b="1" dirty="0" smtClean="0">
                <a:solidFill>
                  <a:srgbClr val="0000FF"/>
                </a:solidFill>
                <a:latin typeface="Times New Roman" pitchFamily="18" charset="0"/>
                <a:ea typeface="宋体" pitchFamily="2" charset="-122"/>
                <a:cs typeface="Times New Roman" pitchFamily="18" charset="0"/>
              </a:rPr>
              <a:t>INSERT </a:t>
            </a:r>
            <a:r>
              <a:rPr lang="en-US" altLang="zh-CN" sz="2800" b="1" dirty="0">
                <a:solidFill>
                  <a:srgbClr val="0000FF"/>
                </a:solidFill>
                <a:latin typeface="Times New Roman" pitchFamily="18" charset="0"/>
                <a:ea typeface="宋体" pitchFamily="2" charset="-122"/>
                <a:cs typeface="Times New Roman" pitchFamily="18" charset="0"/>
              </a:rPr>
              <a:t>INTO Student </a:t>
            </a:r>
          </a:p>
          <a:p>
            <a:pPr lvl="1" algn="l"/>
            <a:r>
              <a:rPr lang="en-US" altLang="zh-CN" sz="2800" b="1" dirty="0">
                <a:solidFill>
                  <a:srgbClr val="0000FF"/>
                </a:solidFill>
                <a:latin typeface="Times New Roman" pitchFamily="18" charset="0"/>
                <a:ea typeface="宋体" pitchFamily="2" charset="-122"/>
                <a:cs typeface="Times New Roman" pitchFamily="18" charset="0"/>
              </a:rPr>
              <a:t>VALUES ('0621105', '</a:t>
            </a:r>
            <a:r>
              <a:rPr lang="zh-CN" altLang="en-US" sz="2800" b="1" dirty="0">
                <a:solidFill>
                  <a:srgbClr val="0000FF"/>
                </a:solidFill>
                <a:latin typeface="Times New Roman" pitchFamily="18" charset="0"/>
                <a:ea typeface="宋体" pitchFamily="2" charset="-122"/>
                <a:cs typeface="Times New Roman" pitchFamily="18" charset="0"/>
              </a:rPr>
              <a:t>陈冬</a:t>
            </a:r>
            <a:r>
              <a:rPr lang="en-US" altLang="zh-CN" sz="2800" b="1" dirty="0" smtClean="0">
                <a:solidFill>
                  <a:srgbClr val="0000FF"/>
                </a:solidFill>
                <a:latin typeface="Times New Roman" pitchFamily="18" charset="0"/>
                <a:ea typeface="宋体" pitchFamily="2" charset="-122"/>
                <a:cs typeface="Times New Roman" pitchFamily="18" charset="0"/>
              </a:rPr>
              <a:t>',</a:t>
            </a:r>
            <a:r>
              <a:rPr lang="en-US" altLang="zh-CN" sz="2800" b="1" dirty="0" smtClean="0">
                <a:solidFill>
                  <a:srgbClr val="FF0000"/>
                </a:solidFill>
                <a:latin typeface="Times New Roman" pitchFamily="18" charset="0"/>
                <a:ea typeface="宋体" pitchFamily="2" charset="-122"/>
                <a:cs typeface="Times New Roman" pitchFamily="18" charset="0"/>
              </a:rPr>
              <a:t>18, </a:t>
            </a:r>
            <a:r>
              <a:rPr lang="en-US" altLang="zh-CN" sz="2800" b="1" dirty="0">
                <a:solidFill>
                  <a:srgbClr val="FF0000"/>
                </a:solidFill>
                <a:latin typeface="Times New Roman" pitchFamily="18" charset="0"/>
                <a:ea typeface="宋体" pitchFamily="2" charset="-122"/>
                <a:cs typeface="Times New Roman" pitchFamily="18" charset="0"/>
              </a:rPr>
              <a:t>'</a:t>
            </a:r>
            <a:r>
              <a:rPr lang="zh-CN" altLang="en-US" sz="2800" b="1" dirty="0">
                <a:solidFill>
                  <a:srgbClr val="FF0000"/>
                </a:solidFill>
                <a:latin typeface="Times New Roman" pitchFamily="18" charset="0"/>
                <a:ea typeface="宋体" pitchFamily="2" charset="-122"/>
                <a:cs typeface="Times New Roman" pitchFamily="18" charset="0"/>
              </a:rPr>
              <a:t>男</a:t>
            </a:r>
            <a:r>
              <a:rPr lang="en-US" altLang="zh-CN" sz="2800" b="1" dirty="0" smtClean="0">
                <a:solidFill>
                  <a:srgbClr val="FF0000"/>
                </a:solidFill>
                <a:latin typeface="Times New Roman" pitchFamily="18" charset="0"/>
                <a:ea typeface="宋体" pitchFamily="2" charset="-122"/>
                <a:cs typeface="Times New Roman" pitchFamily="18" charset="0"/>
              </a:rPr>
              <a:t>'</a:t>
            </a:r>
            <a:r>
              <a:rPr lang="en-US" altLang="zh-CN" sz="2800" b="1" dirty="0" smtClean="0">
                <a:solidFill>
                  <a:srgbClr val="0000FF"/>
                </a:solidFill>
                <a:latin typeface="Times New Roman" pitchFamily="18" charset="0"/>
                <a:ea typeface="宋体" pitchFamily="2" charset="-122"/>
                <a:cs typeface="Times New Roman" pitchFamily="18" charset="0"/>
              </a:rPr>
              <a:t>,</a:t>
            </a:r>
            <a:r>
              <a:rPr lang="en-US" altLang="zh-CN" sz="2800" b="1" dirty="0">
                <a:solidFill>
                  <a:srgbClr val="FF0000"/>
                </a:solidFill>
                <a:latin typeface="Times New Roman" pitchFamily="18" charset="0"/>
                <a:ea typeface="宋体" pitchFamily="2" charset="-122"/>
                <a:cs typeface="Times New Roman" pitchFamily="18" charset="0"/>
              </a:rPr>
              <a:t> </a:t>
            </a:r>
            <a:r>
              <a:rPr lang="en-US" altLang="zh-CN" sz="2800" b="1" dirty="0">
                <a:solidFill>
                  <a:srgbClr val="0000FF"/>
                </a:solidFill>
                <a:latin typeface="Times New Roman" pitchFamily="18" charset="0"/>
                <a:ea typeface="宋体" pitchFamily="2" charset="-122"/>
                <a:cs typeface="Times New Roman" pitchFamily="18" charset="0"/>
              </a:rPr>
              <a:t>'</a:t>
            </a:r>
            <a:r>
              <a:rPr lang="zh-CN" altLang="en-US" sz="2800" b="1" dirty="0">
                <a:solidFill>
                  <a:srgbClr val="0000FF"/>
                </a:solidFill>
                <a:latin typeface="Times New Roman" pitchFamily="18" charset="0"/>
                <a:ea typeface="宋体" pitchFamily="2" charset="-122"/>
                <a:cs typeface="Times New Roman" pitchFamily="18" charset="0"/>
              </a:rPr>
              <a:t>信息管理系</a:t>
            </a:r>
            <a:r>
              <a:rPr lang="en-US" altLang="zh-CN" sz="2800" b="1" dirty="0">
                <a:solidFill>
                  <a:srgbClr val="0000FF"/>
                </a:solidFill>
                <a:latin typeface="Times New Roman" pitchFamily="18" charset="0"/>
                <a:ea typeface="宋体" pitchFamily="2" charset="-122"/>
                <a:cs typeface="Times New Roman" pitchFamily="18" charset="0"/>
              </a:rPr>
              <a:t>'</a:t>
            </a:r>
            <a:r>
              <a:rPr lang="en-US" altLang="zh-CN" sz="2800" b="1" dirty="0" smtClean="0">
                <a:solidFill>
                  <a:srgbClr val="0000FF"/>
                </a:solidFill>
                <a:latin typeface="Times New Roman" pitchFamily="18" charset="0"/>
                <a:ea typeface="宋体" pitchFamily="2" charset="-122"/>
                <a:cs typeface="Times New Roman" pitchFamily="18" charset="0"/>
              </a:rPr>
              <a:t>)</a:t>
            </a:r>
            <a:endParaRPr lang="en-US" altLang="zh-CN" sz="2800" b="1" dirty="0">
              <a:solidFill>
                <a:srgbClr val="0000FF"/>
              </a:solidFill>
              <a:latin typeface="Times New Roman" pitchFamily="18" charset="0"/>
              <a:ea typeface="宋体" pitchFamily="2" charset="-122"/>
              <a:cs typeface="Times New Roman" pitchFamily="18" charset="0"/>
            </a:endParaRPr>
          </a:p>
        </p:txBody>
      </p:sp>
      <p:sp>
        <p:nvSpPr>
          <p:cNvPr id="9" name="矩形 8"/>
          <p:cNvSpPr/>
          <p:nvPr/>
        </p:nvSpPr>
        <p:spPr>
          <a:xfrm>
            <a:off x="606114" y="5157192"/>
            <a:ext cx="8136904" cy="954107"/>
          </a:xfrm>
          <a:prstGeom prst="rect">
            <a:avLst/>
          </a:prstGeom>
        </p:spPr>
        <p:txBody>
          <a:bodyPr wrap="square">
            <a:spAutoFit/>
          </a:bodyPr>
          <a:lstStyle/>
          <a:p>
            <a:pPr lvl="1" algn="l"/>
            <a:r>
              <a:rPr lang="en-US" altLang="zh-CN" sz="2800" b="1" dirty="0">
                <a:solidFill>
                  <a:srgbClr val="0000FF"/>
                </a:solidFill>
                <a:latin typeface="Times New Roman" pitchFamily="18" charset="0"/>
                <a:ea typeface="宋体" pitchFamily="2" charset="-122"/>
                <a:cs typeface="Times New Roman" pitchFamily="18" charset="0"/>
              </a:rPr>
              <a:t>INSERT INTO Student </a:t>
            </a:r>
          </a:p>
          <a:p>
            <a:pPr lvl="1" algn="l"/>
            <a:r>
              <a:rPr lang="en-US" altLang="zh-CN" sz="2800" b="1" dirty="0">
                <a:solidFill>
                  <a:srgbClr val="0000FF"/>
                </a:solidFill>
                <a:latin typeface="Times New Roman" pitchFamily="18" charset="0"/>
                <a:ea typeface="宋体" pitchFamily="2" charset="-122"/>
                <a:cs typeface="Times New Roman" pitchFamily="18" charset="0"/>
              </a:rPr>
              <a:t>VALUES </a:t>
            </a:r>
            <a:r>
              <a:rPr lang="en-US" altLang="zh-CN" sz="2800" b="1" dirty="0" smtClean="0">
                <a:solidFill>
                  <a:srgbClr val="0000FF"/>
                </a:solidFill>
                <a:latin typeface="Times New Roman" pitchFamily="18" charset="0"/>
                <a:ea typeface="宋体" pitchFamily="2" charset="-122"/>
                <a:cs typeface="Times New Roman" pitchFamily="18" charset="0"/>
              </a:rPr>
              <a:t>(</a:t>
            </a:r>
            <a:r>
              <a:rPr lang="en-US" altLang="zh-CN" sz="2800" b="1" dirty="0">
                <a:solidFill>
                  <a:srgbClr val="0000FF"/>
                </a:solidFill>
                <a:latin typeface="Times New Roman" pitchFamily="18" charset="0"/>
                <a:ea typeface="宋体" pitchFamily="2" charset="-122"/>
                <a:cs typeface="Times New Roman" pitchFamily="18" charset="0"/>
              </a:rPr>
              <a:t>'0621105',</a:t>
            </a:r>
            <a:r>
              <a:rPr lang="zh-CN" altLang="en-US" sz="2800" b="1" dirty="0">
                <a:solidFill>
                  <a:srgbClr val="0000FF"/>
                </a:solidFill>
                <a:latin typeface="Times New Roman" pitchFamily="18" charset="0"/>
                <a:ea typeface="宋体" pitchFamily="2" charset="-122"/>
                <a:cs typeface="Times New Roman" pitchFamily="18" charset="0"/>
              </a:rPr>
              <a:t> </a:t>
            </a:r>
            <a:r>
              <a:rPr lang="en-US" altLang="zh-CN" sz="2800" b="1" dirty="0">
                <a:solidFill>
                  <a:srgbClr val="FF0000"/>
                </a:solidFill>
                <a:latin typeface="Times New Roman" pitchFamily="18" charset="0"/>
                <a:ea typeface="宋体" pitchFamily="2" charset="-122"/>
                <a:cs typeface="Times New Roman" pitchFamily="18" charset="0"/>
              </a:rPr>
              <a:t>'</a:t>
            </a:r>
            <a:r>
              <a:rPr lang="zh-CN" altLang="en-US" sz="2800" b="1" dirty="0">
                <a:solidFill>
                  <a:srgbClr val="FF0000"/>
                </a:solidFill>
                <a:latin typeface="Times New Roman" pitchFamily="18" charset="0"/>
                <a:ea typeface="宋体" pitchFamily="2" charset="-122"/>
                <a:cs typeface="Times New Roman" pitchFamily="18" charset="0"/>
              </a:rPr>
              <a:t>信息管理系</a:t>
            </a:r>
            <a:r>
              <a:rPr lang="en-US" altLang="zh-CN" sz="2800" b="1" dirty="0">
                <a:solidFill>
                  <a:srgbClr val="FF0000"/>
                </a:solidFill>
                <a:latin typeface="Times New Roman" pitchFamily="18" charset="0"/>
                <a:ea typeface="宋体" pitchFamily="2" charset="-122"/>
                <a:cs typeface="Times New Roman" pitchFamily="18" charset="0"/>
              </a:rPr>
              <a:t>'</a:t>
            </a:r>
            <a:r>
              <a:rPr lang="en-US" altLang="zh-CN" sz="2800" b="1" dirty="0">
                <a:solidFill>
                  <a:srgbClr val="0000FF"/>
                </a:solidFill>
                <a:latin typeface="Times New Roman" pitchFamily="18" charset="0"/>
                <a:ea typeface="宋体" pitchFamily="2" charset="-122"/>
                <a:cs typeface="Times New Roman" pitchFamily="18" charset="0"/>
              </a:rPr>
              <a:t>,</a:t>
            </a:r>
            <a:r>
              <a:rPr lang="zh-CN" altLang="en-US" sz="2800" b="1" dirty="0">
                <a:solidFill>
                  <a:srgbClr val="FF0000"/>
                </a:solidFill>
                <a:latin typeface="Times New Roman" pitchFamily="18" charset="0"/>
                <a:ea typeface="宋体" pitchFamily="2" charset="-122"/>
                <a:cs typeface="Times New Roman" pitchFamily="18" charset="0"/>
              </a:rPr>
              <a:t> </a:t>
            </a:r>
            <a:r>
              <a:rPr lang="en-US" altLang="zh-CN" sz="2800" b="1" dirty="0">
                <a:solidFill>
                  <a:srgbClr val="0000FF"/>
                </a:solidFill>
                <a:latin typeface="Times New Roman" pitchFamily="18" charset="0"/>
                <a:ea typeface="宋体" pitchFamily="2" charset="-122"/>
                <a:cs typeface="Times New Roman" pitchFamily="18" charset="0"/>
              </a:rPr>
              <a:t>'</a:t>
            </a:r>
            <a:r>
              <a:rPr lang="zh-CN" altLang="en-US" sz="2800" b="1" dirty="0">
                <a:solidFill>
                  <a:srgbClr val="0000FF"/>
                </a:solidFill>
                <a:latin typeface="Times New Roman" pitchFamily="18" charset="0"/>
                <a:ea typeface="宋体" pitchFamily="2" charset="-122"/>
                <a:cs typeface="Times New Roman" pitchFamily="18" charset="0"/>
              </a:rPr>
              <a:t>男</a:t>
            </a:r>
            <a:r>
              <a:rPr lang="en-US" altLang="zh-CN" sz="2800" b="1" dirty="0">
                <a:solidFill>
                  <a:srgbClr val="0000FF"/>
                </a:solidFill>
                <a:latin typeface="Times New Roman" pitchFamily="18" charset="0"/>
                <a:ea typeface="宋体" pitchFamily="2" charset="-122"/>
                <a:cs typeface="Times New Roman" pitchFamily="18" charset="0"/>
              </a:rPr>
              <a:t>',18,</a:t>
            </a:r>
            <a:r>
              <a:rPr lang="en-US" altLang="zh-CN" sz="2800" b="1" dirty="0">
                <a:solidFill>
                  <a:srgbClr val="FF0000"/>
                </a:solidFill>
                <a:latin typeface="Times New Roman" pitchFamily="18" charset="0"/>
                <a:ea typeface="宋体" pitchFamily="2" charset="-122"/>
                <a:cs typeface="Times New Roman" pitchFamily="18" charset="0"/>
              </a:rPr>
              <a:t>'</a:t>
            </a:r>
            <a:r>
              <a:rPr lang="zh-CN" altLang="en-US" sz="2800" b="1" dirty="0">
                <a:solidFill>
                  <a:srgbClr val="FF0000"/>
                </a:solidFill>
                <a:latin typeface="Times New Roman" pitchFamily="18" charset="0"/>
                <a:ea typeface="宋体" pitchFamily="2" charset="-122"/>
                <a:cs typeface="Times New Roman" pitchFamily="18" charset="0"/>
              </a:rPr>
              <a:t>陈冬</a:t>
            </a:r>
            <a:r>
              <a:rPr lang="en-US" altLang="zh-CN" sz="2800" b="1" dirty="0">
                <a:solidFill>
                  <a:srgbClr val="FF0000"/>
                </a:solidFill>
                <a:latin typeface="Times New Roman" pitchFamily="18" charset="0"/>
                <a:ea typeface="宋体" pitchFamily="2" charset="-122"/>
                <a:cs typeface="Times New Roman" pitchFamily="18" charset="0"/>
              </a:rPr>
              <a:t>'</a:t>
            </a:r>
            <a:r>
              <a:rPr lang="zh-CN" altLang="en-US" sz="2800" b="1" dirty="0">
                <a:solidFill>
                  <a:srgbClr val="FF0000"/>
                </a:solidFill>
                <a:latin typeface="Times New Roman" pitchFamily="18" charset="0"/>
                <a:ea typeface="宋体" pitchFamily="2" charset="-122"/>
                <a:cs typeface="Times New Roman" pitchFamily="18" charset="0"/>
              </a:rPr>
              <a:t> </a:t>
            </a:r>
            <a:r>
              <a:rPr lang="en-US" altLang="zh-CN" sz="2800" b="1" dirty="0" smtClean="0">
                <a:solidFill>
                  <a:srgbClr val="0000FF"/>
                </a:solidFill>
                <a:latin typeface="Times New Roman" pitchFamily="18" charset="0"/>
                <a:ea typeface="宋体" pitchFamily="2" charset="-122"/>
                <a:cs typeface="Times New Roman" pitchFamily="18" charset="0"/>
              </a:rPr>
              <a:t>)</a:t>
            </a:r>
            <a:endParaRPr lang="en-US" altLang="zh-CN" sz="2800" b="1" dirty="0">
              <a:solidFill>
                <a:srgbClr val="0000FF"/>
              </a:solidFill>
              <a:latin typeface="Times New Roman" pitchFamily="18" charset="0"/>
              <a:ea typeface="宋体" pitchFamily="2" charset="-122"/>
              <a:cs typeface="Times New Roman" pitchFamily="18" charset="0"/>
            </a:endParaRPr>
          </a:p>
        </p:txBody>
      </p:sp>
      <p:sp>
        <p:nvSpPr>
          <p:cNvPr id="10" name="矩形 9"/>
          <p:cNvSpPr/>
          <p:nvPr/>
        </p:nvSpPr>
        <p:spPr>
          <a:xfrm>
            <a:off x="467544" y="3570708"/>
            <a:ext cx="8136904" cy="523220"/>
          </a:xfrm>
          <a:prstGeom prst="rect">
            <a:avLst/>
          </a:prstGeom>
        </p:spPr>
        <p:txBody>
          <a:bodyPr wrap="square">
            <a:spAutoFit/>
          </a:bodyPr>
          <a:lstStyle/>
          <a:p>
            <a:pPr lvl="1" algn="l"/>
            <a:r>
              <a:rPr lang="zh-CN" altLang="en-US" sz="2800" b="1" dirty="0" smtClean="0">
                <a:solidFill>
                  <a:srgbClr val="C00000"/>
                </a:solidFill>
                <a:latin typeface="Times New Roman" pitchFamily="18" charset="0"/>
                <a:ea typeface="宋体" pitchFamily="2" charset="-122"/>
                <a:cs typeface="Times New Roman" pitchFamily="18" charset="0"/>
              </a:rPr>
              <a:t>思考：交换值的位置，还能将记录插入成功吗？</a:t>
            </a:r>
            <a:endParaRPr lang="en-US" altLang="zh-CN" sz="2800" b="1" dirty="0">
              <a:solidFill>
                <a:srgbClr val="C00000"/>
              </a:solidFill>
              <a:latin typeface="Times New Roman" pitchFamily="18" charset="0"/>
              <a:ea typeface="宋体" pitchFamily="2" charset="-122"/>
              <a:cs typeface="Times New Roman" pitchFamily="18" charset="0"/>
            </a:endParaRPr>
          </a:p>
        </p:txBody>
      </p:sp>
      <p:pic>
        <p:nvPicPr>
          <p:cNvPr id="2050"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51520" y="3580347"/>
            <a:ext cx="863274" cy="5135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1" name="矩形 10"/>
          <p:cNvSpPr/>
          <p:nvPr/>
        </p:nvSpPr>
        <p:spPr>
          <a:xfrm>
            <a:off x="6300192" y="6021288"/>
            <a:ext cx="1620957" cy="523220"/>
          </a:xfrm>
          <a:prstGeom prst="rect">
            <a:avLst/>
          </a:prstGeom>
        </p:spPr>
        <p:txBody>
          <a:bodyPr wrap="none">
            <a:spAutoFit/>
          </a:bodyPr>
          <a:lstStyle/>
          <a:p>
            <a:r>
              <a:rPr lang="zh-CN" altLang="en-US" sz="2800" b="1" dirty="0" smtClean="0">
                <a:solidFill>
                  <a:srgbClr val="000000"/>
                </a:solidFill>
                <a:latin typeface="宋体" pitchFamily="2" charset="-122"/>
                <a:ea typeface="宋体" pitchFamily="2" charset="-122"/>
              </a:rPr>
              <a:t>实验验证</a:t>
            </a:r>
            <a:endParaRPr lang="zh-CN" altLang="en-US" sz="2800" b="1" dirty="0">
              <a:solidFill>
                <a:srgbClr val="000000"/>
              </a:solidFill>
              <a:latin typeface="宋体" pitchFamily="2" charset="-122"/>
              <a:ea typeface="宋体" pitchFamily="2" charset="-122"/>
            </a:endParaRPr>
          </a:p>
        </p:txBody>
      </p:sp>
      <p:pic>
        <p:nvPicPr>
          <p:cNvPr id="12" name="Picture 4" descr="手1"/>
          <p:cNvPicPr>
            <a:picLocks noChangeAspect="1" noChangeArrowheads="1" noCrop="1"/>
          </p:cNvPicPr>
          <p:nvPr/>
        </p:nvPicPr>
        <p:blipFill>
          <a:blip r:embed="rId3">
            <a:extLst>
              <a:ext uri="{28A0092B-C50C-407E-A947-70E740481C1C}">
                <a14:useLocalDpi xmlns:a14="http://schemas.microsoft.com/office/drawing/2010/main" val="0"/>
              </a:ext>
            </a:extLst>
          </a:blip>
          <a:srcRect/>
          <a:stretch>
            <a:fillRect/>
          </a:stretch>
        </p:blipFill>
        <p:spPr bwMode="auto">
          <a:xfrm>
            <a:off x="5724270" y="6102878"/>
            <a:ext cx="1001953" cy="36004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2773958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21859">
                                            <p:txEl>
                                              <p:pRg st="0" end="0"/>
                                            </p:txEl>
                                          </p:spTgt>
                                        </p:tgtEl>
                                        <p:attrNameLst>
                                          <p:attrName>style.visibility</p:attrName>
                                        </p:attrNameLst>
                                      </p:cBhvr>
                                      <p:to>
                                        <p:strVal val="visible"/>
                                      </p:to>
                                    </p:set>
                                    <p:anim calcmode="lin" valueType="num">
                                      <p:cBhvr additive="base">
                                        <p:cTn id="7" dur="500" fill="hold"/>
                                        <p:tgtEl>
                                          <p:spTgt spid="121859">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21859">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21859">
                                            <p:txEl>
                                              <p:pRg st="1" end="1"/>
                                            </p:txEl>
                                          </p:spTgt>
                                        </p:tgtEl>
                                        <p:attrNameLst>
                                          <p:attrName>style.visibility</p:attrName>
                                        </p:attrNameLst>
                                      </p:cBhvr>
                                      <p:to>
                                        <p:strVal val="visible"/>
                                      </p:to>
                                    </p:set>
                                    <p:anim calcmode="lin" valueType="num">
                                      <p:cBhvr additive="base">
                                        <p:cTn id="13" dur="500" fill="hold"/>
                                        <p:tgtEl>
                                          <p:spTgt spid="121859">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21859">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2"/>
                                        </p:tgtEl>
                                        <p:attrNameLst>
                                          <p:attrName>style.visibility</p:attrName>
                                        </p:attrNameLst>
                                      </p:cBhvr>
                                      <p:to>
                                        <p:strVal val="visible"/>
                                      </p:to>
                                    </p:set>
                                    <p:anim calcmode="lin" valueType="num">
                                      <p:cBhvr additive="base">
                                        <p:cTn id="19" dur="500" fill="hold"/>
                                        <p:tgtEl>
                                          <p:spTgt spid="2"/>
                                        </p:tgtEl>
                                        <p:attrNameLst>
                                          <p:attrName>ppt_x</p:attrName>
                                        </p:attrNameLst>
                                      </p:cBhvr>
                                      <p:tavLst>
                                        <p:tav tm="0">
                                          <p:val>
                                            <p:strVal val="#ppt_x"/>
                                          </p:val>
                                        </p:tav>
                                        <p:tav tm="100000">
                                          <p:val>
                                            <p:strVal val="#ppt_x"/>
                                          </p:val>
                                        </p:tav>
                                      </p:tavLst>
                                    </p:anim>
                                    <p:anim calcmode="lin" valueType="num">
                                      <p:cBhvr additive="base">
                                        <p:cTn id="20"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0"/>
                                        </p:tgtEl>
                                        <p:attrNameLst>
                                          <p:attrName>style.visibility</p:attrName>
                                        </p:attrNameLst>
                                      </p:cBhvr>
                                      <p:to>
                                        <p:strVal val="visible"/>
                                      </p:to>
                                    </p:set>
                                    <p:anim calcmode="lin" valueType="num">
                                      <p:cBhvr additive="base">
                                        <p:cTn id="25" dur="500" fill="hold"/>
                                        <p:tgtEl>
                                          <p:spTgt spid="10"/>
                                        </p:tgtEl>
                                        <p:attrNameLst>
                                          <p:attrName>ppt_x</p:attrName>
                                        </p:attrNameLst>
                                      </p:cBhvr>
                                      <p:tavLst>
                                        <p:tav tm="0">
                                          <p:val>
                                            <p:strVal val="#ppt_x"/>
                                          </p:val>
                                        </p:tav>
                                        <p:tav tm="100000">
                                          <p:val>
                                            <p:strVal val="#ppt_x"/>
                                          </p:val>
                                        </p:tav>
                                      </p:tavLst>
                                    </p:anim>
                                    <p:anim calcmode="lin" valueType="num">
                                      <p:cBhvr additive="base">
                                        <p:cTn id="26" dur="500" fill="hold"/>
                                        <p:tgtEl>
                                          <p:spTgt spid="10"/>
                                        </p:tgtEl>
                                        <p:attrNameLst>
                                          <p:attrName>ppt_y</p:attrName>
                                        </p:attrNameLst>
                                      </p:cBhvr>
                                      <p:tavLst>
                                        <p:tav tm="0">
                                          <p:val>
                                            <p:strVal val="1+#ppt_h/2"/>
                                          </p:val>
                                        </p:tav>
                                        <p:tav tm="100000">
                                          <p:val>
                                            <p:strVal val="#ppt_y"/>
                                          </p:val>
                                        </p:tav>
                                      </p:tavLst>
                                    </p:anim>
                                  </p:childTnLst>
                                </p:cTn>
                              </p:par>
                              <p:par>
                                <p:cTn id="27" presetID="1" presetClass="entr" presetSubtype="0" fill="hold" nodeType="withEffect">
                                  <p:stCondLst>
                                    <p:cond delay="0"/>
                                  </p:stCondLst>
                                  <p:childTnLst>
                                    <p:set>
                                      <p:cBhvr>
                                        <p:cTn id="28" dur="1" fill="hold">
                                          <p:stCondLst>
                                            <p:cond delay="0"/>
                                          </p:stCondLst>
                                        </p:cTn>
                                        <p:tgtEl>
                                          <p:spTgt spid="2050"/>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grpId="0" nodeType="clickEffect">
                                  <p:stCondLst>
                                    <p:cond delay="0"/>
                                  </p:stCondLst>
                                  <p:childTnLst>
                                    <p:set>
                                      <p:cBhvr>
                                        <p:cTn id="32" dur="1" fill="hold">
                                          <p:stCondLst>
                                            <p:cond delay="0"/>
                                          </p:stCondLst>
                                        </p:cTn>
                                        <p:tgtEl>
                                          <p:spTgt spid="8"/>
                                        </p:tgtEl>
                                        <p:attrNameLst>
                                          <p:attrName>style.visibility</p:attrName>
                                        </p:attrNameLst>
                                      </p:cBhvr>
                                      <p:to>
                                        <p:strVal val="visible"/>
                                      </p:to>
                                    </p:set>
                                    <p:anim calcmode="lin" valueType="num">
                                      <p:cBhvr additive="base">
                                        <p:cTn id="33" dur="500" fill="hold"/>
                                        <p:tgtEl>
                                          <p:spTgt spid="8"/>
                                        </p:tgtEl>
                                        <p:attrNameLst>
                                          <p:attrName>ppt_x</p:attrName>
                                        </p:attrNameLst>
                                      </p:cBhvr>
                                      <p:tavLst>
                                        <p:tav tm="0">
                                          <p:val>
                                            <p:strVal val="#ppt_x"/>
                                          </p:val>
                                        </p:tav>
                                        <p:tav tm="100000">
                                          <p:val>
                                            <p:strVal val="#ppt_x"/>
                                          </p:val>
                                        </p:tav>
                                      </p:tavLst>
                                    </p:anim>
                                    <p:anim calcmode="lin" valueType="num">
                                      <p:cBhvr additive="base">
                                        <p:cTn id="34"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2" presetClass="entr" presetSubtype="4" fill="hold" grpId="0" nodeType="clickEffect">
                                  <p:stCondLst>
                                    <p:cond delay="0"/>
                                  </p:stCondLst>
                                  <p:childTnLst>
                                    <p:set>
                                      <p:cBhvr>
                                        <p:cTn id="38" dur="1" fill="hold">
                                          <p:stCondLst>
                                            <p:cond delay="0"/>
                                          </p:stCondLst>
                                        </p:cTn>
                                        <p:tgtEl>
                                          <p:spTgt spid="9"/>
                                        </p:tgtEl>
                                        <p:attrNameLst>
                                          <p:attrName>style.visibility</p:attrName>
                                        </p:attrNameLst>
                                      </p:cBhvr>
                                      <p:to>
                                        <p:strVal val="visible"/>
                                      </p:to>
                                    </p:set>
                                    <p:anim calcmode="lin" valueType="num">
                                      <p:cBhvr additive="base">
                                        <p:cTn id="39" dur="500" fill="hold"/>
                                        <p:tgtEl>
                                          <p:spTgt spid="9"/>
                                        </p:tgtEl>
                                        <p:attrNameLst>
                                          <p:attrName>ppt_x</p:attrName>
                                        </p:attrNameLst>
                                      </p:cBhvr>
                                      <p:tavLst>
                                        <p:tav tm="0">
                                          <p:val>
                                            <p:strVal val="#ppt_x"/>
                                          </p:val>
                                        </p:tav>
                                        <p:tav tm="100000">
                                          <p:val>
                                            <p:strVal val="#ppt_x"/>
                                          </p:val>
                                        </p:tav>
                                      </p:tavLst>
                                    </p:anim>
                                    <p:anim calcmode="lin" valueType="num">
                                      <p:cBhvr additive="base">
                                        <p:cTn id="40"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12"/>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1859" grpId="0" build="p"/>
      <p:bldP spid="2" grpId="0"/>
      <p:bldP spid="8" grpId="0"/>
      <p:bldP spid="9" grpId="0"/>
      <p:bldP spid="10" grpId="0"/>
      <p:bldP spid="11" grpId="0"/>
    </p:bld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Rectangle 2"/>
          <p:cNvSpPr>
            <a:spLocks noGrp="1"/>
          </p:cNvSpPr>
          <p:nvPr>
            <p:ph type="title"/>
          </p:nvPr>
        </p:nvSpPr>
        <p:spPr>
          <a:xfrm>
            <a:off x="500063" y="152400"/>
            <a:ext cx="8001000" cy="685800"/>
          </a:xfrm>
          <a:noFill/>
          <a:ln w="9525">
            <a:noFill/>
          </a:ln>
        </p:spPr>
        <p:txBody>
          <a:bodyPr vert="horz" wrap="square" lIns="91440" tIns="45720" rIns="91440" bIns="45720" rtlCol="0" anchor="ctr" anchorCtr="0">
            <a:noAutofit/>
          </a:bodyPr>
          <a:lstStyle/>
          <a:p>
            <a:pPr lvl="0" algn="ctr" eaLnBrk="1" hangingPunct="1">
              <a:buClrTx/>
              <a:buSzTx/>
              <a:buFontTx/>
            </a:pPr>
            <a:r>
              <a:rPr lang="zh-CN" altLang="en-US" sz="4800" b="0" dirty="0">
                <a:latin typeface="黑体" panose="02010609060101010101" pitchFamily="2" charset="-122"/>
                <a:ea typeface="黑体" panose="02010609060101010101" pitchFamily="2" charset="-122"/>
                <a:sym typeface="+mn-ea"/>
              </a:rPr>
              <a:t>示例</a:t>
            </a:r>
          </a:p>
        </p:txBody>
      </p:sp>
      <p:sp>
        <p:nvSpPr>
          <p:cNvPr id="3" name="矩形 2"/>
          <p:cNvSpPr/>
          <p:nvPr/>
        </p:nvSpPr>
        <p:spPr>
          <a:xfrm>
            <a:off x="375930" y="1412776"/>
            <a:ext cx="8352928" cy="954107"/>
          </a:xfrm>
          <a:prstGeom prst="rect">
            <a:avLst/>
          </a:prstGeom>
        </p:spPr>
        <p:txBody>
          <a:bodyPr wrap="square">
            <a:spAutoFit/>
          </a:bodyPr>
          <a:lstStyle/>
          <a:p>
            <a:pPr algn="l">
              <a:spcBef>
                <a:spcPts val="1800"/>
              </a:spcBef>
            </a:pPr>
            <a:r>
              <a:rPr lang="zh-CN" altLang="en-US" sz="2800" b="1" dirty="0">
                <a:latin typeface="Times New Roman" pitchFamily="18" charset="0"/>
                <a:ea typeface="宋体" pitchFamily="2" charset="-122"/>
                <a:cs typeface="Times New Roman" pitchFamily="18" charset="0"/>
              </a:rPr>
              <a:t>例</a:t>
            </a:r>
            <a:r>
              <a:rPr lang="en-US" altLang="zh-CN" sz="2800" b="1" dirty="0">
                <a:latin typeface="Times New Roman" pitchFamily="18" charset="0"/>
                <a:ea typeface="宋体" pitchFamily="2" charset="-122"/>
                <a:cs typeface="Times New Roman" pitchFamily="18" charset="0"/>
              </a:rPr>
              <a:t>4.75  </a:t>
            </a:r>
            <a:r>
              <a:rPr lang="zh-CN" altLang="en-US" sz="2800" b="1" dirty="0">
                <a:latin typeface="Times New Roman" pitchFamily="18" charset="0"/>
                <a:ea typeface="宋体" pitchFamily="2" charset="-122"/>
                <a:cs typeface="Times New Roman" pitchFamily="18" charset="0"/>
              </a:rPr>
              <a:t>在</a:t>
            </a:r>
            <a:r>
              <a:rPr lang="en-US" altLang="zh-CN" sz="2800" b="1" dirty="0">
                <a:latin typeface="Times New Roman" pitchFamily="18" charset="0"/>
                <a:ea typeface="宋体" pitchFamily="2" charset="-122"/>
                <a:cs typeface="Times New Roman" pitchFamily="18" charset="0"/>
              </a:rPr>
              <a:t>SC</a:t>
            </a:r>
            <a:r>
              <a:rPr lang="zh-CN" altLang="en-US" sz="2800" b="1" dirty="0">
                <a:latin typeface="Times New Roman" pitchFamily="18" charset="0"/>
                <a:ea typeface="宋体" pitchFamily="2" charset="-122"/>
                <a:cs typeface="Times New Roman" pitchFamily="18" charset="0"/>
              </a:rPr>
              <a:t>表中插入一条新记录，学号 “</a:t>
            </a:r>
            <a:r>
              <a:rPr lang="en-US" altLang="zh-CN" sz="2800" b="1" dirty="0">
                <a:latin typeface="Times New Roman" pitchFamily="18" charset="0"/>
                <a:ea typeface="宋体" pitchFamily="2" charset="-122"/>
                <a:cs typeface="Times New Roman" pitchFamily="18" charset="0"/>
              </a:rPr>
              <a:t>0621105”</a:t>
            </a:r>
            <a:r>
              <a:rPr lang="zh-CN" altLang="en-US" sz="2800" b="1" dirty="0">
                <a:latin typeface="Times New Roman" pitchFamily="18" charset="0"/>
                <a:ea typeface="宋体" pitchFamily="2" charset="-122"/>
                <a:cs typeface="Times New Roman" pitchFamily="18" charset="0"/>
              </a:rPr>
              <a:t>，课程号“</a:t>
            </a:r>
            <a:r>
              <a:rPr lang="en-US" altLang="zh-CN" sz="2800" b="1" dirty="0">
                <a:latin typeface="Times New Roman" pitchFamily="18" charset="0"/>
                <a:ea typeface="宋体" pitchFamily="2" charset="-122"/>
                <a:cs typeface="Times New Roman" pitchFamily="18" charset="0"/>
              </a:rPr>
              <a:t>C001”</a:t>
            </a:r>
            <a:r>
              <a:rPr lang="zh-CN" altLang="en-US" sz="2800" b="1" dirty="0">
                <a:latin typeface="Times New Roman" pitchFamily="18" charset="0"/>
                <a:ea typeface="宋体" pitchFamily="2" charset="-122"/>
                <a:cs typeface="Times New Roman" pitchFamily="18" charset="0"/>
              </a:rPr>
              <a:t>，成绩暂缺</a:t>
            </a:r>
            <a:r>
              <a:rPr lang="zh-CN" altLang="en-US" sz="2800" b="1" dirty="0" smtClean="0">
                <a:latin typeface="Times New Roman" pitchFamily="18" charset="0"/>
                <a:ea typeface="宋体" pitchFamily="2" charset="-122"/>
                <a:cs typeface="Times New Roman" pitchFamily="18" charset="0"/>
              </a:rPr>
              <a:t>。</a:t>
            </a:r>
            <a:endParaRPr lang="en-US" altLang="zh-CN" sz="2800" b="1" dirty="0">
              <a:solidFill>
                <a:srgbClr val="0000FF"/>
              </a:solidFill>
              <a:latin typeface="Times New Roman" pitchFamily="18" charset="0"/>
              <a:ea typeface="宋体" pitchFamily="2" charset="-122"/>
              <a:cs typeface="Times New Roman" pitchFamily="18" charset="0"/>
            </a:endParaRPr>
          </a:p>
        </p:txBody>
      </p:sp>
      <p:sp>
        <p:nvSpPr>
          <p:cNvPr id="4" name="矩形 3"/>
          <p:cNvSpPr/>
          <p:nvPr/>
        </p:nvSpPr>
        <p:spPr>
          <a:xfrm>
            <a:off x="915990" y="2366883"/>
            <a:ext cx="4900709" cy="954107"/>
          </a:xfrm>
          <a:prstGeom prst="rect">
            <a:avLst/>
          </a:prstGeom>
        </p:spPr>
        <p:txBody>
          <a:bodyPr wrap="square">
            <a:spAutoFit/>
          </a:bodyPr>
          <a:lstStyle/>
          <a:p>
            <a:pPr algn="l"/>
            <a:r>
              <a:rPr lang="en-US" altLang="zh-CN" sz="2800" b="1" dirty="0">
                <a:solidFill>
                  <a:srgbClr val="0000FF"/>
                </a:solidFill>
                <a:latin typeface="Times New Roman" pitchFamily="18" charset="0"/>
                <a:ea typeface="宋体" pitchFamily="2" charset="-122"/>
                <a:cs typeface="Times New Roman" pitchFamily="18" charset="0"/>
              </a:rPr>
              <a:t>INSERT INTO </a:t>
            </a:r>
            <a:r>
              <a:rPr lang="en-US" altLang="zh-CN" sz="2800" b="1" dirty="0" smtClean="0">
                <a:solidFill>
                  <a:srgbClr val="0000FF"/>
                </a:solidFill>
                <a:latin typeface="Times New Roman" pitchFamily="18" charset="0"/>
                <a:ea typeface="宋体" pitchFamily="2" charset="-122"/>
                <a:cs typeface="Times New Roman" pitchFamily="18" charset="0"/>
              </a:rPr>
              <a:t>SC</a:t>
            </a:r>
          </a:p>
          <a:p>
            <a:pPr algn="l"/>
            <a:r>
              <a:rPr lang="en-US" altLang="zh-CN" sz="2800" b="1" dirty="0">
                <a:solidFill>
                  <a:srgbClr val="0000FF"/>
                </a:solidFill>
                <a:latin typeface="Times New Roman" pitchFamily="18" charset="0"/>
                <a:ea typeface="宋体" pitchFamily="2" charset="-122"/>
                <a:cs typeface="Times New Roman" pitchFamily="18" charset="0"/>
              </a:rPr>
              <a:t> </a:t>
            </a:r>
            <a:r>
              <a:rPr lang="en-US" altLang="zh-CN" sz="2800" b="1" dirty="0" smtClean="0">
                <a:solidFill>
                  <a:srgbClr val="0000FF"/>
                </a:solidFill>
                <a:latin typeface="Times New Roman" pitchFamily="18" charset="0"/>
                <a:ea typeface="宋体" pitchFamily="2" charset="-122"/>
                <a:cs typeface="Times New Roman" pitchFamily="18" charset="0"/>
              </a:rPr>
              <a:t>    VALUES</a:t>
            </a:r>
            <a:r>
              <a:rPr lang="en-US" altLang="zh-CN" sz="2800" b="1" dirty="0">
                <a:solidFill>
                  <a:srgbClr val="0000FF"/>
                </a:solidFill>
                <a:latin typeface="Times New Roman" pitchFamily="18" charset="0"/>
                <a:ea typeface="宋体" pitchFamily="2" charset="-122"/>
                <a:cs typeface="Times New Roman" pitchFamily="18" charset="0"/>
              </a:rPr>
              <a:t>('0621105', 'C001')</a:t>
            </a:r>
            <a:endParaRPr lang="zh-CN" altLang="en-US" sz="2800" b="1" dirty="0"/>
          </a:p>
        </p:txBody>
      </p:sp>
      <p:sp>
        <p:nvSpPr>
          <p:cNvPr id="5" name="矩形 4"/>
          <p:cNvSpPr/>
          <p:nvPr/>
        </p:nvSpPr>
        <p:spPr>
          <a:xfrm>
            <a:off x="2422123" y="3240558"/>
            <a:ext cx="6243056" cy="461665"/>
          </a:xfrm>
          <a:prstGeom prst="rect">
            <a:avLst/>
          </a:prstGeom>
        </p:spPr>
        <p:txBody>
          <a:bodyPr wrap="none">
            <a:spAutoFit/>
          </a:bodyPr>
          <a:lstStyle/>
          <a:p>
            <a:pPr algn="l">
              <a:spcBef>
                <a:spcPts val="300"/>
              </a:spcBef>
            </a:pPr>
            <a:r>
              <a:rPr lang="zh-CN" altLang="en-US" sz="2400" b="1" dirty="0">
                <a:solidFill>
                  <a:srgbClr val="009900"/>
                </a:solidFill>
                <a:latin typeface="Times New Roman" pitchFamily="18" charset="0"/>
                <a:ea typeface="宋体" pitchFamily="2" charset="-122"/>
                <a:cs typeface="Times New Roman" pitchFamily="18" charset="0"/>
              </a:rPr>
              <a:t>实际插入的值为：（</a:t>
            </a:r>
            <a:r>
              <a:rPr lang="en-US" altLang="zh-CN" sz="2400" b="1" dirty="0">
                <a:solidFill>
                  <a:srgbClr val="009900"/>
                </a:solidFill>
                <a:latin typeface="Times New Roman" pitchFamily="18" charset="0"/>
                <a:ea typeface="宋体" pitchFamily="2" charset="-122"/>
                <a:cs typeface="Times New Roman" pitchFamily="18" charset="0"/>
              </a:rPr>
              <a:t>'0621105','C001',NULL) </a:t>
            </a:r>
          </a:p>
        </p:txBody>
      </p:sp>
      <p:sp>
        <p:nvSpPr>
          <p:cNvPr id="9" name="矩形 8"/>
          <p:cNvSpPr/>
          <p:nvPr/>
        </p:nvSpPr>
        <p:spPr>
          <a:xfrm>
            <a:off x="1092453" y="3933056"/>
            <a:ext cx="7272808" cy="954107"/>
          </a:xfrm>
          <a:prstGeom prst="rect">
            <a:avLst/>
          </a:prstGeom>
        </p:spPr>
        <p:txBody>
          <a:bodyPr wrap="square">
            <a:spAutoFit/>
          </a:bodyPr>
          <a:lstStyle/>
          <a:p>
            <a:pPr algn="l"/>
            <a:r>
              <a:rPr lang="en-US" altLang="zh-CN" sz="2800" b="1" dirty="0">
                <a:solidFill>
                  <a:srgbClr val="0000FF"/>
                </a:solidFill>
                <a:latin typeface="Times New Roman" pitchFamily="18" charset="0"/>
                <a:ea typeface="宋体" pitchFamily="2" charset="-122"/>
                <a:cs typeface="Times New Roman" pitchFamily="18" charset="0"/>
              </a:rPr>
              <a:t>INSERT INTO </a:t>
            </a:r>
            <a:r>
              <a:rPr lang="en-US" altLang="zh-CN" sz="2800" b="1" dirty="0" smtClean="0">
                <a:solidFill>
                  <a:srgbClr val="0000FF"/>
                </a:solidFill>
                <a:latin typeface="Times New Roman" pitchFamily="18" charset="0"/>
                <a:ea typeface="宋体" pitchFamily="2" charset="-122"/>
                <a:cs typeface="Times New Roman" pitchFamily="18" charset="0"/>
              </a:rPr>
              <a:t>SC </a:t>
            </a:r>
          </a:p>
          <a:p>
            <a:pPr algn="l"/>
            <a:r>
              <a:rPr lang="en-US" altLang="zh-CN" sz="2800" b="1" dirty="0" smtClean="0">
                <a:solidFill>
                  <a:srgbClr val="0000FF"/>
                </a:solidFill>
                <a:latin typeface="Times New Roman" pitchFamily="18" charset="0"/>
                <a:ea typeface="宋体" pitchFamily="2" charset="-122"/>
                <a:cs typeface="Times New Roman" pitchFamily="18" charset="0"/>
              </a:rPr>
              <a:t>VALUES</a:t>
            </a:r>
            <a:r>
              <a:rPr lang="en-US" altLang="zh-CN" sz="2800" b="1" dirty="0">
                <a:solidFill>
                  <a:srgbClr val="0000FF"/>
                </a:solidFill>
                <a:latin typeface="Times New Roman" pitchFamily="18" charset="0"/>
                <a:ea typeface="宋体" pitchFamily="2" charset="-122"/>
                <a:cs typeface="Times New Roman" pitchFamily="18" charset="0"/>
              </a:rPr>
              <a:t>('0621105', </a:t>
            </a:r>
            <a:r>
              <a:rPr lang="en-US" altLang="zh-CN" sz="2800" b="1" dirty="0" smtClean="0">
                <a:solidFill>
                  <a:srgbClr val="0000FF"/>
                </a:solidFill>
                <a:latin typeface="Times New Roman" pitchFamily="18" charset="0"/>
                <a:ea typeface="宋体" pitchFamily="2" charset="-122"/>
                <a:cs typeface="Times New Roman" pitchFamily="18" charset="0"/>
              </a:rPr>
              <a:t>'C001',null)</a:t>
            </a:r>
            <a:endParaRPr lang="zh-CN" altLang="en-US" sz="2800" b="1" dirty="0"/>
          </a:p>
        </p:txBody>
      </p:sp>
      <p:sp>
        <p:nvSpPr>
          <p:cNvPr id="10" name="矩形 9"/>
          <p:cNvSpPr/>
          <p:nvPr/>
        </p:nvSpPr>
        <p:spPr>
          <a:xfrm>
            <a:off x="2411760" y="4892095"/>
            <a:ext cx="6809878" cy="461665"/>
          </a:xfrm>
          <a:prstGeom prst="rect">
            <a:avLst/>
          </a:prstGeom>
        </p:spPr>
        <p:txBody>
          <a:bodyPr wrap="none">
            <a:spAutoFit/>
          </a:bodyPr>
          <a:lstStyle/>
          <a:p>
            <a:pPr algn="l">
              <a:spcBef>
                <a:spcPts val="300"/>
              </a:spcBef>
            </a:pPr>
            <a:r>
              <a:rPr lang="en-US" altLang="zh-CN" sz="2400" b="1" dirty="0" smtClean="0">
                <a:solidFill>
                  <a:srgbClr val="009900"/>
                </a:solidFill>
                <a:latin typeface="Times New Roman" pitchFamily="18" charset="0"/>
                <a:ea typeface="宋体" pitchFamily="2" charset="-122"/>
                <a:cs typeface="Times New Roman" pitchFamily="18" charset="0"/>
              </a:rPr>
              <a:t>grade</a:t>
            </a:r>
            <a:r>
              <a:rPr lang="zh-CN" altLang="en-US" sz="2400" b="1" dirty="0" smtClean="0">
                <a:solidFill>
                  <a:srgbClr val="009900"/>
                </a:solidFill>
                <a:latin typeface="Times New Roman" pitchFamily="18" charset="0"/>
                <a:ea typeface="宋体" pitchFamily="2" charset="-122"/>
                <a:cs typeface="Times New Roman" pitchFamily="18" charset="0"/>
              </a:rPr>
              <a:t>的值</a:t>
            </a:r>
            <a:r>
              <a:rPr lang="zh-CN" altLang="en-US" sz="2400" b="1" dirty="0">
                <a:solidFill>
                  <a:srgbClr val="009900"/>
                </a:solidFill>
                <a:latin typeface="Times New Roman" pitchFamily="18" charset="0"/>
                <a:ea typeface="宋体" pitchFamily="2" charset="-122"/>
                <a:cs typeface="Times New Roman" pitchFamily="18" charset="0"/>
              </a:rPr>
              <a:t>一般不</a:t>
            </a:r>
            <a:r>
              <a:rPr lang="zh-CN" altLang="en-US" sz="2400" b="1" dirty="0" smtClean="0">
                <a:solidFill>
                  <a:srgbClr val="009900"/>
                </a:solidFill>
                <a:latin typeface="Times New Roman" pitchFamily="18" charset="0"/>
                <a:ea typeface="宋体" pitchFamily="2" charset="-122"/>
                <a:cs typeface="Times New Roman" pitchFamily="18" charset="0"/>
              </a:rPr>
              <a:t>设默认值，否则优先考虑</a:t>
            </a:r>
            <a:r>
              <a:rPr lang="en-US" altLang="zh-CN" sz="2400" b="1" dirty="0" smtClean="0">
                <a:solidFill>
                  <a:srgbClr val="009900"/>
                </a:solidFill>
                <a:latin typeface="Times New Roman" pitchFamily="18" charset="0"/>
                <a:ea typeface="宋体" pitchFamily="2" charset="-122"/>
                <a:cs typeface="Times New Roman" pitchFamily="18" charset="0"/>
              </a:rPr>
              <a:t>default</a:t>
            </a:r>
            <a:endParaRPr lang="en-US" altLang="zh-CN" sz="2400" b="1" dirty="0">
              <a:solidFill>
                <a:srgbClr val="009900"/>
              </a:solidFill>
              <a:latin typeface="Times New Roman" pitchFamily="18" charset="0"/>
              <a:ea typeface="宋体" pitchFamily="2" charset="-122"/>
              <a:cs typeface="Times New Roman" pitchFamily="18" charset="0"/>
            </a:endParaRPr>
          </a:p>
        </p:txBody>
      </p:sp>
      <p:sp>
        <p:nvSpPr>
          <p:cNvPr id="11" name="矩形 10"/>
          <p:cNvSpPr/>
          <p:nvPr/>
        </p:nvSpPr>
        <p:spPr>
          <a:xfrm>
            <a:off x="1092453" y="5396299"/>
            <a:ext cx="7272808" cy="954107"/>
          </a:xfrm>
          <a:prstGeom prst="rect">
            <a:avLst/>
          </a:prstGeom>
        </p:spPr>
        <p:txBody>
          <a:bodyPr wrap="square">
            <a:spAutoFit/>
          </a:bodyPr>
          <a:lstStyle/>
          <a:p>
            <a:pPr algn="l"/>
            <a:r>
              <a:rPr lang="en-US" altLang="zh-CN" sz="2800" b="1" dirty="0">
                <a:solidFill>
                  <a:srgbClr val="0000FF"/>
                </a:solidFill>
                <a:latin typeface="Times New Roman" pitchFamily="18" charset="0"/>
                <a:ea typeface="宋体" pitchFamily="2" charset="-122"/>
                <a:cs typeface="Times New Roman" pitchFamily="18" charset="0"/>
              </a:rPr>
              <a:t>INSERT INTO </a:t>
            </a:r>
            <a:r>
              <a:rPr lang="en-US" altLang="zh-CN" sz="2800" b="1" dirty="0" smtClean="0">
                <a:solidFill>
                  <a:srgbClr val="0000FF"/>
                </a:solidFill>
                <a:latin typeface="Times New Roman" pitchFamily="18" charset="0"/>
                <a:ea typeface="宋体" pitchFamily="2" charset="-122"/>
                <a:cs typeface="Times New Roman" pitchFamily="18" charset="0"/>
              </a:rPr>
              <a:t>SC </a:t>
            </a:r>
          </a:p>
          <a:p>
            <a:pPr algn="l"/>
            <a:r>
              <a:rPr lang="en-US" altLang="zh-CN" sz="2800" b="1" dirty="0" smtClean="0">
                <a:solidFill>
                  <a:srgbClr val="0000FF"/>
                </a:solidFill>
                <a:latin typeface="Times New Roman" pitchFamily="18" charset="0"/>
                <a:ea typeface="宋体" pitchFamily="2" charset="-122"/>
                <a:cs typeface="Times New Roman" pitchFamily="18" charset="0"/>
              </a:rPr>
              <a:t>VALUES</a:t>
            </a:r>
            <a:r>
              <a:rPr lang="en-US" altLang="zh-CN" sz="2800" b="1" dirty="0">
                <a:solidFill>
                  <a:srgbClr val="0000FF"/>
                </a:solidFill>
                <a:latin typeface="Times New Roman" pitchFamily="18" charset="0"/>
                <a:ea typeface="宋体" pitchFamily="2" charset="-122"/>
                <a:cs typeface="Times New Roman" pitchFamily="18" charset="0"/>
              </a:rPr>
              <a:t>('0621105', </a:t>
            </a:r>
            <a:r>
              <a:rPr lang="en-US" altLang="zh-CN" sz="2800" b="1" dirty="0" smtClean="0">
                <a:solidFill>
                  <a:srgbClr val="0000FF"/>
                </a:solidFill>
                <a:latin typeface="Times New Roman" pitchFamily="18" charset="0"/>
                <a:ea typeface="宋体" pitchFamily="2" charset="-122"/>
                <a:cs typeface="Times New Roman" pitchFamily="18" charset="0"/>
              </a:rPr>
              <a:t>'C001',</a:t>
            </a:r>
            <a:r>
              <a:rPr lang="en-US" altLang="zh-CN" sz="2800" b="1" dirty="0" smtClean="0">
                <a:solidFill>
                  <a:srgbClr val="0000FF"/>
                </a:solidFill>
                <a:latin typeface="Times New Roman" pitchFamily="18" charset="0"/>
                <a:ea typeface="宋体" pitchFamily="2" charset="-122"/>
                <a:cs typeface="Times New Roman" pitchFamily="18" charset="0"/>
              </a:rPr>
              <a:t>default</a:t>
            </a:r>
            <a:r>
              <a:rPr lang="en-US" altLang="zh-CN" sz="2800" b="1" dirty="0" smtClean="0">
                <a:solidFill>
                  <a:srgbClr val="0000FF"/>
                </a:solidFill>
                <a:latin typeface="Times New Roman" pitchFamily="18" charset="0"/>
                <a:ea typeface="宋体" pitchFamily="2" charset="-122"/>
                <a:cs typeface="Times New Roman" pitchFamily="18" charset="0"/>
              </a:rPr>
              <a:t>)</a:t>
            </a:r>
            <a:endParaRPr lang="zh-CN" altLang="en-US" sz="2800" b="1" dirty="0"/>
          </a:p>
        </p:txBody>
      </p:sp>
      <p:sp>
        <p:nvSpPr>
          <p:cNvPr id="2" name="矩形 1"/>
          <p:cNvSpPr/>
          <p:nvPr/>
        </p:nvSpPr>
        <p:spPr>
          <a:xfrm>
            <a:off x="3953837" y="2348880"/>
            <a:ext cx="1914307" cy="523220"/>
          </a:xfrm>
          <a:prstGeom prst="rect">
            <a:avLst/>
          </a:prstGeom>
        </p:spPr>
        <p:txBody>
          <a:bodyPr wrap="none">
            <a:spAutoFit/>
          </a:bodyPr>
          <a:lstStyle/>
          <a:p>
            <a:r>
              <a:rPr lang="en-US" altLang="zh-CN" sz="2800" b="1" dirty="0">
                <a:solidFill>
                  <a:srgbClr val="0000FF"/>
                </a:solidFill>
                <a:latin typeface="Times New Roman" pitchFamily="18" charset="0"/>
                <a:ea typeface="宋体" pitchFamily="2" charset="-122"/>
                <a:cs typeface="Times New Roman" pitchFamily="18" charset="0"/>
              </a:rPr>
              <a:t>(</a:t>
            </a:r>
            <a:r>
              <a:rPr lang="en-US" altLang="zh-CN" sz="2800" b="1" dirty="0" err="1">
                <a:solidFill>
                  <a:srgbClr val="0000FF"/>
                </a:solidFill>
                <a:latin typeface="Times New Roman" pitchFamily="18" charset="0"/>
                <a:ea typeface="宋体" pitchFamily="2" charset="-122"/>
                <a:cs typeface="Times New Roman" pitchFamily="18" charset="0"/>
              </a:rPr>
              <a:t>Sno</a:t>
            </a:r>
            <a:r>
              <a:rPr lang="en-US" altLang="zh-CN" sz="2800" b="1" dirty="0">
                <a:solidFill>
                  <a:srgbClr val="0000FF"/>
                </a:solidFill>
                <a:latin typeface="Times New Roman" pitchFamily="18" charset="0"/>
                <a:ea typeface="宋体" pitchFamily="2" charset="-122"/>
                <a:cs typeface="Times New Roman" pitchFamily="18" charset="0"/>
              </a:rPr>
              <a:t>, </a:t>
            </a:r>
            <a:r>
              <a:rPr lang="en-US" altLang="zh-CN" sz="2800" b="1" dirty="0" err="1">
                <a:solidFill>
                  <a:srgbClr val="0000FF"/>
                </a:solidFill>
                <a:latin typeface="Times New Roman" pitchFamily="18" charset="0"/>
                <a:ea typeface="宋体" pitchFamily="2" charset="-122"/>
                <a:cs typeface="Times New Roman" pitchFamily="18" charset="0"/>
              </a:rPr>
              <a:t>Cno</a:t>
            </a:r>
            <a:r>
              <a:rPr lang="en-US" altLang="zh-CN" sz="2800" b="1" dirty="0">
                <a:solidFill>
                  <a:srgbClr val="0000FF"/>
                </a:solidFill>
                <a:latin typeface="Times New Roman" pitchFamily="18" charset="0"/>
                <a:ea typeface="宋体" pitchFamily="2" charset="-122"/>
                <a:cs typeface="Times New Roman" pitchFamily="18" charset="0"/>
              </a:rPr>
              <a:t>) </a:t>
            </a:r>
            <a:endParaRPr lang="zh-CN" altLang="en-US" sz="2800" dirty="0"/>
          </a:p>
        </p:txBody>
      </p:sp>
    </p:spTree>
    <p:extLst>
      <p:ext uri="{BB962C8B-B14F-4D97-AF65-F5344CB8AC3E}">
        <p14:creationId xmlns:p14="http://schemas.microsoft.com/office/powerpoint/2010/main" val="16826964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0-#ppt_w/2"/>
                                          </p:val>
                                        </p:tav>
                                        <p:tav tm="100000">
                                          <p:val>
                                            <p:strVal val="#ppt_x"/>
                                          </p:val>
                                        </p:tav>
                                      </p:tavLst>
                                    </p:anim>
                                    <p:anim calcmode="lin" valueType="num">
                                      <p:cBhvr additive="base">
                                        <p:cTn id="8" dur="500" fill="hold"/>
                                        <p:tgtEl>
                                          <p:spTgt spid="3"/>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additive="base">
                                        <p:cTn id="13" dur="500" fill="hold"/>
                                        <p:tgtEl>
                                          <p:spTgt spid="4"/>
                                        </p:tgtEl>
                                        <p:attrNameLst>
                                          <p:attrName>ppt_x</p:attrName>
                                        </p:attrNameLst>
                                      </p:cBhvr>
                                      <p:tavLst>
                                        <p:tav tm="0">
                                          <p:val>
                                            <p:strVal val="0-#ppt_w/2"/>
                                          </p:val>
                                        </p:tav>
                                        <p:tav tm="100000">
                                          <p:val>
                                            <p:strVal val="#ppt_x"/>
                                          </p:val>
                                        </p:tav>
                                      </p:tavLst>
                                    </p:anim>
                                    <p:anim calcmode="lin" valueType="num">
                                      <p:cBhvr additive="base">
                                        <p:cTn id="14" dur="500" fill="hold"/>
                                        <p:tgtEl>
                                          <p:spTgt spid="4"/>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14" presetClass="entr" presetSubtype="10" fill="hold" grpId="0" nodeType="clickEffect">
                                  <p:stCondLst>
                                    <p:cond delay="0"/>
                                  </p:stCondLst>
                                  <p:childTnLst>
                                    <p:set>
                                      <p:cBhvr>
                                        <p:cTn id="18" dur="1" fill="hold">
                                          <p:stCondLst>
                                            <p:cond delay="0"/>
                                          </p:stCondLst>
                                        </p:cTn>
                                        <p:tgtEl>
                                          <p:spTgt spid="2"/>
                                        </p:tgtEl>
                                        <p:attrNameLst>
                                          <p:attrName>style.visibility</p:attrName>
                                        </p:attrNameLst>
                                      </p:cBhvr>
                                      <p:to>
                                        <p:strVal val="visible"/>
                                      </p:to>
                                    </p:set>
                                    <p:animEffect transition="in" filter="randombar(horizontal)">
                                      <p:cBhvr>
                                        <p:cTn id="19" dur="500"/>
                                        <p:tgtEl>
                                          <p:spTgt spid="2"/>
                                        </p:tgtEl>
                                      </p:cBhvr>
                                    </p:animEffect>
                                  </p:childTnLst>
                                </p:cTn>
                              </p:par>
                            </p:childTnLst>
                          </p:cTn>
                        </p:par>
                      </p:childTnLst>
                    </p:cTn>
                  </p:par>
                  <p:par>
                    <p:cTn id="20" fill="hold">
                      <p:stCondLst>
                        <p:cond delay="indefinite"/>
                      </p:stCondLst>
                      <p:childTnLst>
                        <p:par>
                          <p:cTn id="21" fill="hold">
                            <p:stCondLst>
                              <p:cond delay="0"/>
                            </p:stCondLst>
                            <p:childTnLst>
                              <p:par>
                                <p:cTn id="22" presetID="2" presetClass="entr" presetSubtype="8" fill="hold" grpId="0" nodeType="clickEffect">
                                  <p:stCondLst>
                                    <p:cond delay="0"/>
                                  </p:stCondLst>
                                  <p:childTnLst>
                                    <p:set>
                                      <p:cBhvr>
                                        <p:cTn id="23" dur="1" fill="hold">
                                          <p:stCondLst>
                                            <p:cond delay="0"/>
                                          </p:stCondLst>
                                        </p:cTn>
                                        <p:tgtEl>
                                          <p:spTgt spid="5"/>
                                        </p:tgtEl>
                                        <p:attrNameLst>
                                          <p:attrName>style.visibility</p:attrName>
                                        </p:attrNameLst>
                                      </p:cBhvr>
                                      <p:to>
                                        <p:strVal val="visible"/>
                                      </p:to>
                                    </p:set>
                                    <p:anim calcmode="lin" valueType="num">
                                      <p:cBhvr additive="base">
                                        <p:cTn id="24" dur="500" fill="hold"/>
                                        <p:tgtEl>
                                          <p:spTgt spid="5"/>
                                        </p:tgtEl>
                                        <p:attrNameLst>
                                          <p:attrName>ppt_x</p:attrName>
                                        </p:attrNameLst>
                                      </p:cBhvr>
                                      <p:tavLst>
                                        <p:tav tm="0">
                                          <p:val>
                                            <p:strVal val="0-#ppt_w/2"/>
                                          </p:val>
                                        </p:tav>
                                        <p:tav tm="100000">
                                          <p:val>
                                            <p:strVal val="#ppt_x"/>
                                          </p:val>
                                        </p:tav>
                                      </p:tavLst>
                                    </p:anim>
                                    <p:anim calcmode="lin" valueType="num">
                                      <p:cBhvr additive="base">
                                        <p:cTn id="25" dur="500" fill="hold"/>
                                        <p:tgtEl>
                                          <p:spTgt spid="5"/>
                                        </p:tgtEl>
                                        <p:attrNameLst>
                                          <p:attrName>ppt_y</p:attrName>
                                        </p:attrNameLst>
                                      </p:cBhvr>
                                      <p:tavLst>
                                        <p:tav tm="0">
                                          <p:val>
                                            <p:strVal val="#ppt_y"/>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2" presetClass="entr" presetSubtype="8" fill="hold" grpId="0" nodeType="clickEffect">
                                  <p:stCondLst>
                                    <p:cond delay="0"/>
                                  </p:stCondLst>
                                  <p:childTnLst>
                                    <p:set>
                                      <p:cBhvr>
                                        <p:cTn id="29" dur="1" fill="hold">
                                          <p:stCondLst>
                                            <p:cond delay="0"/>
                                          </p:stCondLst>
                                        </p:cTn>
                                        <p:tgtEl>
                                          <p:spTgt spid="9"/>
                                        </p:tgtEl>
                                        <p:attrNameLst>
                                          <p:attrName>style.visibility</p:attrName>
                                        </p:attrNameLst>
                                      </p:cBhvr>
                                      <p:to>
                                        <p:strVal val="visible"/>
                                      </p:to>
                                    </p:set>
                                    <p:anim calcmode="lin" valueType="num">
                                      <p:cBhvr additive="base">
                                        <p:cTn id="30" dur="500" fill="hold"/>
                                        <p:tgtEl>
                                          <p:spTgt spid="9"/>
                                        </p:tgtEl>
                                        <p:attrNameLst>
                                          <p:attrName>ppt_x</p:attrName>
                                        </p:attrNameLst>
                                      </p:cBhvr>
                                      <p:tavLst>
                                        <p:tav tm="0">
                                          <p:val>
                                            <p:strVal val="0-#ppt_w/2"/>
                                          </p:val>
                                        </p:tav>
                                        <p:tav tm="100000">
                                          <p:val>
                                            <p:strVal val="#ppt_x"/>
                                          </p:val>
                                        </p:tav>
                                      </p:tavLst>
                                    </p:anim>
                                    <p:anim calcmode="lin" valueType="num">
                                      <p:cBhvr additive="base">
                                        <p:cTn id="31" dur="500" fill="hold"/>
                                        <p:tgtEl>
                                          <p:spTgt spid="9"/>
                                        </p:tgtEl>
                                        <p:attrNameLst>
                                          <p:attrName>ppt_y</p:attrName>
                                        </p:attrNameLst>
                                      </p:cBhvr>
                                      <p:tavLst>
                                        <p:tav tm="0">
                                          <p:val>
                                            <p:strVal val="#ppt_y"/>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2" presetClass="entr" presetSubtype="8" fill="hold" grpId="0" nodeType="clickEffect">
                                  <p:stCondLst>
                                    <p:cond delay="0"/>
                                  </p:stCondLst>
                                  <p:childTnLst>
                                    <p:set>
                                      <p:cBhvr>
                                        <p:cTn id="35" dur="1" fill="hold">
                                          <p:stCondLst>
                                            <p:cond delay="0"/>
                                          </p:stCondLst>
                                        </p:cTn>
                                        <p:tgtEl>
                                          <p:spTgt spid="10"/>
                                        </p:tgtEl>
                                        <p:attrNameLst>
                                          <p:attrName>style.visibility</p:attrName>
                                        </p:attrNameLst>
                                      </p:cBhvr>
                                      <p:to>
                                        <p:strVal val="visible"/>
                                      </p:to>
                                    </p:set>
                                    <p:anim calcmode="lin" valueType="num">
                                      <p:cBhvr additive="base">
                                        <p:cTn id="36" dur="500" fill="hold"/>
                                        <p:tgtEl>
                                          <p:spTgt spid="10"/>
                                        </p:tgtEl>
                                        <p:attrNameLst>
                                          <p:attrName>ppt_x</p:attrName>
                                        </p:attrNameLst>
                                      </p:cBhvr>
                                      <p:tavLst>
                                        <p:tav tm="0">
                                          <p:val>
                                            <p:strVal val="0-#ppt_w/2"/>
                                          </p:val>
                                        </p:tav>
                                        <p:tav tm="100000">
                                          <p:val>
                                            <p:strVal val="#ppt_x"/>
                                          </p:val>
                                        </p:tav>
                                      </p:tavLst>
                                    </p:anim>
                                    <p:anim calcmode="lin" valueType="num">
                                      <p:cBhvr additive="base">
                                        <p:cTn id="37" dur="500" fill="hold"/>
                                        <p:tgtEl>
                                          <p:spTgt spid="10"/>
                                        </p:tgtEl>
                                        <p:attrNameLst>
                                          <p:attrName>ppt_y</p:attrName>
                                        </p:attrNameLst>
                                      </p:cBhvr>
                                      <p:tavLst>
                                        <p:tav tm="0">
                                          <p:val>
                                            <p:strVal val="#ppt_y"/>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2" presetClass="entr" presetSubtype="8" fill="hold" grpId="0" nodeType="clickEffect">
                                  <p:stCondLst>
                                    <p:cond delay="0"/>
                                  </p:stCondLst>
                                  <p:childTnLst>
                                    <p:set>
                                      <p:cBhvr>
                                        <p:cTn id="41" dur="1" fill="hold">
                                          <p:stCondLst>
                                            <p:cond delay="0"/>
                                          </p:stCondLst>
                                        </p:cTn>
                                        <p:tgtEl>
                                          <p:spTgt spid="11"/>
                                        </p:tgtEl>
                                        <p:attrNameLst>
                                          <p:attrName>style.visibility</p:attrName>
                                        </p:attrNameLst>
                                      </p:cBhvr>
                                      <p:to>
                                        <p:strVal val="visible"/>
                                      </p:to>
                                    </p:set>
                                    <p:anim calcmode="lin" valueType="num">
                                      <p:cBhvr additive="base">
                                        <p:cTn id="42" dur="500" fill="hold"/>
                                        <p:tgtEl>
                                          <p:spTgt spid="11"/>
                                        </p:tgtEl>
                                        <p:attrNameLst>
                                          <p:attrName>ppt_x</p:attrName>
                                        </p:attrNameLst>
                                      </p:cBhvr>
                                      <p:tavLst>
                                        <p:tav tm="0">
                                          <p:val>
                                            <p:strVal val="0-#ppt_w/2"/>
                                          </p:val>
                                        </p:tav>
                                        <p:tav tm="100000">
                                          <p:val>
                                            <p:strVal val="#ppt_x"/>
                                          </p:val>
                                        </p:tav>
                                      </p:tavLst>
                                    </p:anim>
                                    <p:anim calcmode="lin" valueType="num">
                                      <p:cBhvr additive="base">
                                        <p:cTn id="43" dur="500" fill="hold"/>
                                        <p:tgtEl>
                                          <p:spTgt spid="1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5" grpId="0"/>
      <p:bldP spid="9" grpId="0"/>
      <p:bldP spid="10" grpId="0"/>
      <p:bldP spid="11" grpId="0"/>
      <p:bldP spid="2" grpId="0"/>
    </p:bld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38372" y="1370948"/>
            <a:ext cx="4434604" cy="1969770"/>
          </a:xfrm>
          <a:prstGeom prst="rect">
            <a:avLst/>
          </a:prstGeom>
        </p:spPr>
        <p:txBody>
          <a:bodyPr wrap="square">
            <a:spAutoFit/>
          </a:bodyPr>
          <a:lstStyle/>
          <a:p>
            <a:pPr algn="l"/>
            <a:r>
              <a:rPr lang="zh-CN" altLang="en-US" sz="2400" b="1" dirty="0" smtClean="0">
                <a:latin typeface="Times New Roman" pitchFamily="18" charset="0"/>
                <a:ea typeface="宋体" pitchFamily="2" charset="-122"/>
                <a:cs typeface="Times New Roman" pitchFamily="18" charset="0"/>
              </a:rPr>
              <a:t>将查询结果放入新表中</a:t>
            </a:r>
            <a:endParaRPr lang="en-US" altLang="zh-CN" sz="2400" b="1" dirty="0" smtClean="0">
              <a:latin typeface="Times New Roman" pitchFamily="18" charset="0"/>
              <a:ea typeface="宋体" pitchFamily="2" charset="-122"/>
              <a:cs typeface="Times New Roman" pitchFamily="18" charset="0"/>
            </a:endParaRPr>
          </a:p>
          <a:p>
            <a:pPr algn="l"/>
            <a:r>
              <a:rPr lang="en-US" altLang="zh-CN" sz="2400" b="1" dirty="0">
                <a:solidFill>
                  <a:srgbClr val="0000FF"/>
                </a:solidFill>
                <a:latin typeface="Times New Roman" pitchFamily="18" charset="0"/>
                <a:ea typeface="宋体" pitchFamily="2" charset="-122"/>
                <a:cs typeface="Times New Roman" pitchFamily="18" charset="0"/>
              </a:rPr>
              <a:t>Select </a:t>
            </a:r>
            <a:r>
              <a:rPr lang="en-US" altLang="zh-CN" sz="2400" b="1" dirty="0" err="1">
                <a:solidFill>
                  <a:srgbClr val="0000FF"/>
                </a:solidFill>
                <a:latin typeface="Times New Roman" pitchFamily="18" charset="0"/>
                <a:ea typeface="宋体" pitchFamily="2" charset="-122"/>
                <a:cs typeface="Times New Roman" pitchFamily="18" charset="0"/>
              </a:rPr>
              <a:t>sno</a:t>
            </a:r>
            <a:r>
              <a:rPr lang="en-US" altLang="zh-CN" sz="2400" b="1" dirty="0">
                <a:solidFill>
                  <a:srgbClr val="0000FF"/>
                </a:solidFill>
                <a:latin typeface="Times New Roman" pitchFamily="18" charset="0"/>
                <a:ea typeface="宋体" pitchFamily="2" charset="-122"/>
                <a:cs typeface="Times New Roman" pitchFamily="18" charset="0"/>
              </a:rPr>
              <a:t>, </a:t>
            </a:r>
            <a:r>
              <a:rPr lang="en-US" altLang="zh-CN" sz="2400" b="1" dirty="0" err="1">
                <a:solidFill>
                  <a:srgbClr val="0000FF"/>
                </a:solidFill>
                <a:latin typeface="Times New Roman" pitchFamily="18" charset="0"/>
                <a:ea typeface="宋体" pitchFamily="2" charset="-122"/>
                <a:cs typeface="Times New Roman" pitchFamily="18" charset="0"/>
              </a:rPr>
              <a:t>sname,ssex</a:t>
            </a:r>
            <a:r>
              <a:rPr lang="en-US" altLang="zh-CN" sz="2400" b="1" dirty="0">
                <a:solidFill>
                  <a:srgbClr val="0000FF"/>
                </a:solidFill>
                <a:latin typeface="Times New Roman" pitchFamily="18" charset="0"/>
                <a:ea typeface="宋体" pitchFamily="2" charset="-122"/>
                <a:cs typeface="Times New Roman" pitchFamily="18" charset="0"/>
              </a:rPr>
              <a:t> </a:t>
            </a:r>
          </a:p>
          <a:p>
            <a:pPr algn="l"/>
            <a:r>
              <a:rPr lang="en-US" altLang="zh-CN" sz="2400" b="1" dirty="0">
                <a:solidFill>
                  <a:srgbClr val="0000FF"/>
                </a:solidFill>
                <a:latin typeface="Times New Roman" pitchFamily="18" charset="0"/>
                <a:ea typeface="宋体" pitchFamily="2" charset="-122"/>
                <a:cs typeface="Times New Roman" pitchFamily="18" charset="0"/>
              </a:rPr>
              <a:t>Into boy                   </a:t>
            </a:r>
            <a:r>
              <a:rPr lang="en-US" altLang="zh-CN" sz="2400" b="1" dirty="0" smtClean="0">
                <a:solidFill>
                  <a:srgbClr val="0000FF"/>
                </a:solidFill>
                <a:latin typeface="Times New Roman" pitchFamily="18" charset="0"/>
                <a:ea typeface="宋体" pitchFamily="2" charset="-122"/>
                <a:cs typeface="Times New Roman" pitchFamily="18" charset="0"/>
              </a:rPr>
              <a:t>         </a:t>
            </a:r>
          </a:p>
          <a:p>
            <a:pPr algn="l"/>
            <a:r>
              <a:rPr lang="en-US" altLang="zh-CN" sz="2400" b="1" dirty="0" smtClean="0">
                <a:solidFill>
                  <a:srgbClr val="0000FF"/>
                </a:solidFill>
                <a:latin typeface="Times New Roman" pitchFamily="18" charset="0"/>
                <a:ea typeface="宋体" pitchFamily="2" charset="-122"/>
                <a:cs typeface="Times New Roman" pitchFamily="18" charset="0"/>
              </a:rPr>
              <a:t>From </a:t>
            </a:r>
            <a:r>
              <a:rPr lang="en-US" altLang="zh-CN" sz="2400" b="1" dirty="0">
                <a:solidFill>
                  <a:srgbClr val="0000FF"/>
                </a:solidFill>
                <a:latin typeface="Times New Roman" pitchFamily="18" charset="0"/>
                <a:ea typeface="宋体" pitchFamily="2" charset="-122"/>
                <a:cs typeface="Times New Roman" pitchFamily="18" charset="0"/>
              </a:rPr>
              <a:t>student</a:t>
            </a:r>
          </a:p>
          <a:p>
            <a:pPr algn="l"/>
            <a:r>
              <a:rPr lang="en-US" altLang="zh-CN" sz="2400" b="1" dirty="0">
                <a:solidFill>
                  <a:srgbClr val="0000FF"/>
                </a:solidFill>
                <a:latin typeface="Times New Roman" pitchFamily="18" charset="0"/>
                <a:ea typeface="宋体" pitchFamily="2" charset="-122"/>
                <a:cs typeface="Times New Roman" pitchFamily="18" charset="0"/>
              </a:rPr>
              <a:t>Where </a:t>
            </a:r>
            <a:r>
              <a:rPr lang="en-US" altLang="zh-CN" sz="2400" b="1" dirty="0" err="1" smtClean="0">
                <a:solidFill>
                  <a:srgbClr val="0000FF"/>
                </a:solidFill>
                <a:latin typeface="Times New Roman" pitchFamily="18" charset="0"/>
                <a:ea typeface="宋体" pitchFamily="2" charset="-122"/>
                <a:cs typeface="Times New Roman" pitchFamily="18" charset="0"/>
              </a:rPr>
              <a:t>ssex</a:t>
            </a:r>
            <a:r>
              <a:rPr lang="en-US" altLang="zh-CN" sz="2400" b="1" dirty="0">
                <a:solidFill>
                  <a:srgbClr val="0000FF"/>
                </a:solidFill>
                <a:latin typeface="Times New Roman" pitchFamily="18" charset="0"/>
                <a:ea typeface="宋体" pitchFamily="2" charset="-122"/>
                <a:cs typeface="Times New Roman" pitchFamily="18" charset="0"/>
              </a:rPr>
              <a:t>='</a:t>
            </a:r>
            <a:r>
              <a:rPr lang="zh-CN" altLang="en-US" sz="2400" b="1" dirty="0">
                <a:solidFill>
                  <a:srgbClr val="0000FF"/>
                </a:solidFill>
                <a:latin typeface="Times New Roman" pitchFamily="18" charset="0"/>
                <a:ea typeface="宋体" pitchFamily="2" charset="-122"/>
                <a:cs typeface="Times New Roman" pitchFamily="18" charset="0"/>
              </a:rPr>
              <a:t>男</a:t>
            </a:r>
            <a:r>
              <a:rPr lang="en-US" altLang="zh-CN" sz="2400" b="1" dirty="0">
                <a:solidFill>
                  <a:srgbClr val="0000FF"/>
                </a:solidFill>
                <a:latin typeface="Times New Roman" pitchFamily="18" charset="0"/>
                <a:ea typeface="宋体" pitchFamily="2" charset="-122"/>
                <a:cs typeface="Times New Roman" pitchFamily="18" charset="0"/>
              </a:rPr>
              <a:t>' </a:t>
            </a:r>
            <a:r>
              <a:rPr lang="en-US" altLang="zh-CN" sz="2400" b="1" dirty="0" smtClean="0">
                <a:solidFill>
                  <a:srgbClr val="0000FF"/>
                </a:solidFill>
                <a:latin typeface="Times New Roman" pitchFamily="18" charset="0"/>
                <a:ea typeface="宋体" pitchFamily="2" charset="-122"/>
                <a:cs typeface="Times New Roman" pitchFamily="18" charset="0"/>
              </a:rPr>
              <a:t>and sage&lt;=20</a:t>
            </a:r>
            <a:endParaRPr lang="zh-CN" altLang="en-US" sz="2400" b="1" dirty="0">
              <a:solidFill>
                <a:srgbClr val="0000FF"/>
              </a:solidFill>
              <a:latin typeface="Times New Roman" pitchFamily="18" charset="0"/>
              <a:ea typeface="宋体" pitchFamily="2" charset="-122"/>
              <a:cs typeface="Times New Roman" pitchFamily="18" charset="0"/>
            </a:endParaRPr>
          </a:p>
        </p:txBody>
      </p:sp>
      <p:sp>
        <p:nvSpPr>
          <p:cNvPr id="121858" name="Rectangle 2"/>
          <p:cNvSpPr>
            <a:spLocks noGrp="1"/>
          </p:cNvSpPr>
          <p:nvPr>
            <p:ph type="title"/>
          </p:nvPr>
        </p:nvSpPr>
        <p:spPr>
          <a:xfrm>
            <a:off x="737702" y="152400"/>
            <a:ext cx="8154777" cy="685800"/>
          </a:xfrm>
          <a:noFill/>
          <a:ln w="9525">
            <a:noFill/>
          </a:ln>
        </p:spPr>
        <p:txBody>
          <a:bodyPr vert="horz" wrap="square" lIns="91440" tIns="45720" rIns="91440" bIns="45720" rtlCol="0" anchor="ctr" anchorCtr="0">
            <a:noAutofit/>
          </a:bodyPr>
          <a:lstStyle/>
          <a:p>
            <a:pPr lvl="0" eaLnBrk="1" hangingPunct="1"/>
            <a:r>
              <a:rPr lang="zh-CN" altLang="en-US" sz="3200" b="0" dirty="0" smtClean="0">
                <a:sym typeface="+mn-ea"/>
              </a:rPr>
              <a:t>补充：</a:t>
            </a:r>
            <a:r>
              <a:rPr lang="zh-CN" altLang="en-US" sz="3200" b="1" dirty="0">
                <a:latin typeface="Times New Roman" pitchFamily="18" charset="0"/>
                <a:ea typeface="宋体" pitchFamily="2" charset="-122"/>
                <a:cs typeface="Times New Roman" pitchFamily="18" charset="0"/>
              </a:rPr>
              <a:t>将查询结果插入到旧</a:t>
            </a:r>
            <a:r>
              <a:rPr lang="zh-CN" altLang="en-US" sz="3200" b="1" dirty="0" smtClean="0">
                <a:latin typeface="Times New Roman" pitchFamily="18" charset="0"/>
                <a:ea typeface="宋体" pitchFamily="2" charset="-122"/>
                <a:cs typeface="Times New Roman" pitchFamily="18" charset="0"/>
              </a:rPr>
              <a:t>表 中（追加）</a:t>
            </a:r>
            <a:endParaRPr lang="zh-CN" altLang="en-US" sz="3200" b="0" dirty="0">
              <a:sym typeface="+mn-ea"/>
            </a:endParaRPr>
          </a:p>
        </p:txBody>
      </p:sp>
      <p:sp>
        <p:nvSpPr>
          <p:cNvPr id="9" name="矩形 8"/>
          <p:cNvSpPr/>
          <p:nvPr/>
        </p:nvSpPr>
        <p:spPr>
          <a:xfrm>
            <a:off x="4998443" y="1213211"/>
            <a:ext cx="4067944" cy="1938992"/>
          </a:xfrm>
          <a:prstGeom prst="rect">
            <a:avLst/>
          </a:prstGeom>
        </p:spPr>
        <p:txBody>
          <a:bodyPr wrap="square">
            <a:spAutoFit/>
          </a:bodyPr>
          <a:lstStyle/>
          <a:p>
            <a:pPr algn="l"/>
            <a:r>
              <a:rPr lang="zh-CN" altLang="en-US" sz="2400" b="1" dirty="0" smtClean="0">
                <a:latin typeface="Times New Roman" pitchFamily="18" charset="0"/>
                <a:ea typeface="宋体" pitchFamily="2" charset="-122"/>
                <a:cs typeface="Times New Roman" pitchFamily="18" charset="0"/>
              </a:rPr>
              <a:t>注意条件换了</a:t>
            </a:r>
            <a:endParaRPr lang="en-US" altLang="zh-CN" sz="2400" b="1" dirty="0" smtClean="0">
              <a:latin typeface="Times New Roman" pitchFamily="18" charset="0"/>
              <a:ea typeface="宋体" pitchFamily="2" charset="-122"/>
              <a:cs typeface="Times New Roman" pitchFamily="18" charset="0"/>
            </a:endParaRPr>
          </a:p>
          <a:p>
            <a:pPr algn="l"/>
            <a:r>
              <a:rPr lang="en-US" altLang="zh-CN" sz="2400" b="1" dirty="0" smtClean="0">
                <a:solidFill>
                  <a:srgbClr val="0000FF"/>
                </a:solidFill>
                <a:latin typeface="Times New Roman" pitchFamily="18" charset="0"/>
                <a:ea typeface="宋体" pitchFamily="2" charset="-122"/>
                <a:cs typeface="Times New Roman" pitchFamily="18" charset="0"/>
              </a:rPr>
              <a:t>Select </a:t>
            </a:r>
            <a:r>
              <a:rPr lang="en-US" altLang="zh-CN" sz="2400" b="1" dirty="0" err="1">
                <a:solidFill>
                  <a:srgbClr val="0000FF"/>
                </a:solidFill>
                <a:latin typeface="Times New Roman" pitchFamily="18" charset="0"/>
                <a:ea typeface="宋体" pitchFamily="2" charset="-122"/>
                <a:cs typeface="Times New Roman" pitchFamily="18" charset="0"/>
              </a:rPr>
              <a:t>sno</a:t>
            </a:r>
            <a:r>
              <a:rPr lang="en-US" altLang="zh-CN" sz="2400" b="1" dirty="0">
                <a:solidFill>
                  <a:srgbClr val="0000FF"/>
                </a:solidFill>
                <a:latin typeface="Times New Roman" pitchFamily="18" charset="0"/>
                <a:ea typeface="宋体" pitchFamily="2" charset="-122"/>
                <a:cs typeface="Times New Roman" pitchFamily="18" charset="0"/>
              </a:rPr>
              <a:t>, </a:t>
            </a:r>
            <a:r>
              <a:rPr lang="en-US" altLang="zh-CN" sz="2400" b="1" dirty="0" err="1">
                <a:solidFill>
                  <a:srgbClr val="0000FF"/>
                </a:solidFill>
                <a:latin typeface="Times New Roman" pitchFamily="18" charset="0"/>
                <a:ea typeface="宋体" pitchFamily="2" charset="-122"/>
                <a:cs typeface="Times New Roman" pitchFamily="18" charset="0"/>
              </a:rPr>
              <a:t>sname,ssex</a:t>
            </a:r>
            <a:r>
              <a:rPr lang="en-US" altLang="zh-CN" sz="2400" b="1" dirty="0">
                <a:solidFill>
                  <a:srgbClr val="0000FF"/>
                </a:solidFill>
                <a:latin typeface="Times New Roman" pitchFamily="18" charset="0"/>
                <a:ea typeface="宋体" pitchFamily="2" charset="-122"/>
                <a:cs typeface="Times New Roman" pitchFamily="18" charset="0"/>
              </a:rPr>
              <a:t> </a:t>
            </a:r>
          </a:p>
          <a:p>
            <a:pPr algn="l"/>
            <a:r>
              <a:rPr lang="en-US" altLang="zh-CN" sz="2400" b="1" dirty="0">
                <a:solidFill>
                  <a:srgbClr val="0000FF"/>
                </a:solidFill>
                <a:latin typeface="Times New Roman" pitchFamily="18" charset="0"/>
                <a:ea typeface="宋体" pitchFamily="2" charset="-122"/>
                <a:cs typeface="Times New Roman" pitchFamily="18" charset="0"/>
              </a:rPr>
              <a:t>Into boy  </a:t>
            </a:r>
            <a:r>
              <a:rPr lang="en-US" altLang="zh-CN" sz="2400" b="1" dirty="0" smtClean="0">
                <a:solidFill>
                  <a:srgbClr val="0000FF"/>
                </a:solidFill>
                <a:latin typeface="Times New Roman" pitchFamily="18" charset="0"/>
                <a:ea typeface="宋体" pitchFamily="2" charset="-122"/>
                <a:cs typeface="Times New Roman" pitchFamily="18" charset="0"/>
              </a:rPr>
              <a:t>                     </a:t>
            </a:r>
          </a:p>
          <a:p>
            <a:pPr algn="l"/>
            <a:r>
              <a:rPr lang="en-US" altLang="zh-CN" sz="2400" b="1" dirty="0" smtClean="0">
                <a:solidFill>
                  <a:srgbClr val="0000FF"/>
                </a:solidFill>
                <a:latin typeface="Times New Roman" pitchFamily="18" charset="0"/>
                <a:ea typeface="宋体" pitchFamily="2" charset="-122"/>
                <a:cs typeface="Times New Roman" pitchFamily="18" charset="0"/>
              </a:rPr>
              <a:t>From </a:t>
            </a:r>
            <a:r>
              <a:rPr lang="en-US" altLang="zh-CN" sz="2400" b="1" dirty="0">
                <a:solidFill>
                  <a:srgbClr val="0000FF"/>
                </a:solidFill>
                <a:latin typeface="Times New Roman" pitchFamily="18" charset="0"/>
                <a:ea typeface="宋体" pitchFamily="2" charset="-122"/>
                <a:cs typeface="Times New Roman" pitchFamily="18" charset="0"/>
              </a:rPr>
              <a:t>student</a:t>
            </a:r>
          </a:p>
          <a:p>
            <a:pPr algn="l"/>
            <a:r>
              <a:rPr lang="en-US" altLang="zh-CN" sz="2400" b="1" dirty="0">
                <a:solidFill>
                  <a:srgbClr val="0000FF"/>
                </a:solidFill>
                <a:latin typeface="Times New Roman" pitchFamily="18" charset="0"/>
                <a:ea typeface="宋体" pitchFamily="2" charset="-122"/>
                <a:cs typeface="Times New Roman" pitchFamily="18" charset="0"/>
              </a:rPr>
              <a:t>Where </a:t>
            </a:r>
            <a:r>
              <a:rPr lang="en-US" altLang="zh-CN" sz="2400" b="1" dirty="0" err="1" smtClean="0">
                <a:solidFill>
                  <a:srgbClr val="0000FF"/>
                </a:solidFill>
                <a:latin typeface="Times New Roman" pitchFamily="18" charset="0"/>
                <a:ea typeface="宋体" pitchFamily="2" charset="-122"/>
                <a:cs typeface="Times New Roman" pitchFamily="18" charset="0"/>
              </a:rPr>
              <a:t>ssex</a:t>
            </a:r>
            <a:r>
              <a:rPr lang="en-US" altLang="zh-CN" sz="2400" b="1" dirty="0">
                <a:solidFill>
                  <a:srgbClr val="0000FF"/>
                </a:solidFill>
                <a:latin typeface="Times New Roman" pitchFamily="18" charset="0"/>
                <a:ea typeface="宋体" pitchFamily="2" charset="-122"/>
                <a:cs typeface="Times New Roman" pitchFamily="18" charset="0"/>
              </a:rPr>
              <a:t> ='</a:t>
            </a:r>
            <a:r>
              <a:rPr lang="zh-CN" altLang="en-US" sz="2400" b="1" dirty="0">
                <a:solidFill>
                  <a:srgbClr val="0000FF"/>
                </a:solidFill>
                <a:latin typeface="Times New Roman" pitchFamily="18" charset="0"/>
                <a:ea typeface="宋体" pitchFamily="2" charset="-122"/>
                <a:cs typeface="Times New Roman" pitchFamily="18" charset="0"/>
              </a:rPr>
              <a:t>男</a:t>
            </a:r>
            <a:r>
              <a:rPr lang="en-US" altLang="zh-CN" sz="2400" b="1" dirty="0">
                <a:solidFill>
                  <a:srgbClr val="0000FF"/>
                </a:solidFill>
                <a:latin typeface="Times New Roman" pitchFamily="18" charset="0"/>
                <a:ea typeface="宋体" pitchFamily="2" charset="-122"/>
                <a:cs typeface="Times New Roman" pitchFamily="18" charset="0"/>
              </a:rPr>
              <a:t>' </a:t>
            </a:r>
            <a:r>
              <a:rPr lang="en-US" altLang="zh-CN" sz="2400" b="1" dirty="0" smtClean="0">
                <a:solidFill>
                  <a:srgbClr val="0000FF"/>
                </a:solidFill>
                <a:latin typeface="Times New Roman" pitchFamily="18" charset="0"/>
                <a:ea typeface="宋体" pitchFamily="2" charset="-122"/>
                <a:cs typeface="Times New Roman" pitchFamily="18" charset="0"/>
              </a:rPr>
              <a:t>and sage&gt;20</a:t>
            </a:r>
            <a:endParaRPr lang="zh-CN" altLang="en-US" sz="2400" b="1" dirty="0">
              <a:solidFill>
                <a:srgbClr val="0000FF"/>
              </a:solidFill>
              <a:latin typeface="Times New Roman" pitchFamily="18" charset="0"/>
              <a:ea typeface="宋体" pitchFamily="2" charset="-122"/>
              <a:cs typeface="Times New Roman" pitchFamily="18" charset="0"/>
            </a:endParaRPr>
          </a:p>
        </p:txBody>
      </p:sp>
      <p:sp>
        <p:nvSpPr>
          <p:cNvPr id="10" name="矩形 9"/>
          <p:cNvSpPr/>
          <p:nvPr/>
        </p:nvSpPr>
        <p:spPr>
          <a:xfrm>
            <a:off x="4998443" y="3102059"/>
            <a:ext cx="3292731" cy="830997"/>
          </a:xfrm>
          <a:prstGeom prst="rect">
            <a:avLst/>
          </a:prstGeom>
        </p:spPr>
        <p:txBody>
          <a:bodyPr wrap="square">
            <a:spAutoFit/>
          </a:bodyPr>
          <a:lstStyle/>
          <a:p>
            <a:pPr algn="l"/>
            <a:r>
              <a:rPr lang="en-US" altLang="zh-CN" sz="2400" b="1" dirty="0" smtClean="0">
                <a:solidFill>
                  <a:srgbClr val="009900"/>
                </a:solidFill>
                <a:latin typeface="Times New Roman" pitchFamily="18" charset="0"/>
                <a:ea typeface="宋体" pitchFamily="2" charset="-122"/>
                <a:cs typeface="Times New Roman" pitchFamily="18" charset="0"/>
              </a:rPr>
              <a:t>--</a:t>
            </a:r>
            <a:r>
              <a:rPr lang="zh-CN" altLang="en-US" sz="2400" b="1" dirty="0" smtClean="0">
                <a:solidFill>
                  <a:srgbClr val="009900"/>
                </a:solidFill>
                <a:latin typeface="Times New Roman" pitchFamily="18" charset="0"/>
                <a:ea typeface="宋体" pitchFamily="2" charset="-122"/>
                <a:cs typeface="Times New Roman" pitchFamily="18" charset="0"/>
              </a:rPr>
              <a:t>报错：</a:t>
            </a:r>
            <a:r>
              <a:rPr lang="en-US" altLang="zh-CN" sz="2400" b="1" dirty="0" smtClean="0">
                <a:solidFill>
                  <a:srgbClr val="009900"/>
                </a:solidFill>
                <a:latin typeface="Times New Roman" pitchFamily="18" charset="0"/>
                <a:ea typeface="宋体" pitchFamily="2" charset="-122"/>
                <a:cs typeface="Times New Roman" pitchFamily="18" charset="0"/>
              </a:rPr>
              <a:t>boy</a:t>
            </a:r>
            <a:r>
              <a:rPr lang="zh-CN" altLang="en-US" sz="2400" b="1" dirty="0" smtClean="0">
                <a:solidFill>
                  <a:srgbClr val="009900"/>
                </a:solidFill>
                <a:latin typeface="Times New Roman" pitchFamily="18" charset="0"/>
                <a:ea typeface="宋体" pitchFamily="2" charset="-122"/>
                <a:cs typeface="Times New Roman" pitchFamily="18" charset="0"/>
              </a:rPr>
              <a:t>表已存在</a:t>
            </a:r>
            <a:endParaRPr lang="en-US" altLang="zh-CN" sz="2400" b="1" dirty="0" smtClean="0">
              <a:solidFill>
                <a:srgbClr val="009900"/>
              </a:solidFill>
              <a:latin typeface="Times New Roman" pitchFamily="18" charset="0"/>
              <a:ea typeface="宋体" pitchFamily="2" charset="-122"/>
              <a:cs typeface="Times New Roman" pitchFamily="18" charset="0"/>
            </a:endParaRPr>
          </a:p>
          <a:p>
            <a:pPr algn="l"/>
            <a:r>
              <a:rPr lang="en-US" altLang="zh-CN" sz="2400" b="1" dirty="0" smtClean="0">
                <a:solidFill>
                  <a:srgbClr val="009900"/>
                </a:solidFill>
                <a:latin typeface="Times New Roman" pitchFamily="18" charset="0"/>
                <a:ea typeface="宋体" pitchFamily="2" charset="-122"/>
                <a:cs typeface="Times New Roman" pitchFamily="18" charset="0"/>
              </a:rPr>
              <a:t>--</a:t>
            </a:r>
            <a:r>
              <a:rPr lang="en-US" altLang="zh-CN" sz="2400" b="1" dirty="0">
                <a:solidFill>
                  <a:srgbClr val="009900"/>
                </a:solidFill>
                <a:latin typeface="Times New Roman" pitchFamily="18" charset="0"/>
                <a:ea typeface="宋体" pitchFamily="2" charset="-122"/>
                <a:cs typeface="Times New Roman" pitchFamily="18" charset="0"/>
              </a:rPr>
              <a:t>boy</a:t>
            </a:r>
            <a:r>
              <a:rPr lang="zh-CN" altLang="en-US" sz="2400" b="1" dirty="0">
                <a:solidFill>
                  <a:srgbClr val="009900"/>
                </a:solidFill>
                <a:latin typeface="Times New Roman" pitchFamily="18" charset="0"/>
                <a:ea typeface="宋体" pitchFamily="2" charset="-122"/>
                <a:cs typeface="Times New Roman" pitchFamily="18" charset="0"/>
              </a:rPr>
              <a:t>表必须是新表</a:t>
            </a:r>
            <a:endParaRPr lang="en-US" altLang="zh-CN" sz="2400" b="1" dirty="0">
              <a:solidFill>
                <a:srgbClr val="009900"/>
              </a:solidFill>
              <a:latin typeface="Times New Roman" pitchFamily="18" charset="0"/>
              <a:ea typeface="宋体" pitchFamily="2" charset="-122"/>
              <a:cs typeface="Times New Roman" pitchFamily="18" charset="0"/>
            </a:endParaRPr>
          </a:p>
        </p:txBody>
      </p:sp>
      <p:sp>
        <p:nvSpPr>
          <p:cNvPr id="11" name="矩形 10"/>
          <p:cNvSpPr/>
          <p:nvPr/>
        </p:nvSpPr>
        <p:spPr>
          <a:xfrm>
            <a:off x="936572" y="3933056"/>
            <a:ext cx="7272808" cy="2246769"/>
          </a:xfrm>
          <a:prstGeom prst="rect">
            <a:avLst/>
          </a:prstGeom>
        </p:spPr>
        <p:txBody>
          <a:bodyPr wrap="square">
            <a:spAutoFit/>
          </a:bodyPr>
          <a:lstStyle/>
          <a:p>
            <a:pPr algn="l"/>
            <a:r>
              <a:rPr lang="en-US" altLang="zh-CN" sz="2800" b="1" dirty="0" smtClean="0">
                <a:solidFill>
                  <a:srgbClr val="0000FF"/>
                </a:solidFill>
                <a:latin typeface="Times New Roman" pitchFamily="18" charset="0"/>
                <a:ea typeface="宋体" pitchFamily="2" charset="-122"/>
                <a:cs typeface="Times New Roman" pitchFamily="18" charset="0"/>
              </a:rPr>
              <a:t>Insert into boy</a:t>
            </a:r>
          </a:p>
          <a:p>
            <a:pPr algn="l"/>
            <a:r>
              <a:rPr lang="en-US" altLang="zh-CN" sz="2800" b="1" dirty="0">
                <a:solidFill>
                  <a:srgbClr val="0000FF"/>
                </a:solidFill>
                <a:latin typeface="Times New Roman" pitchFamily="18" charset="0"/>
                <a:ea typeface="宋体" pitchFamily="2" charset="-122"/>
                <a:cs typeface="Times New Roman" pitchFamily="18" charset="0"/>
              </a:rPr>
              <a:t> </a:t>
            </a:r>
            <a:r>
              <a:rPr lang="en-US" altLang="zh-CN" sz="2800" b="1" dirty="0" smtClean="0">
                <a:solidFill>
                  <a:srgbClr val="0000FF"/>
                </a:solidFill>
                <a:latin typeface="Times New Roman" pitchFamily="18" charset="0"/>
                <a:ea typeface="宋体" pitchFamily="2" charset="-122"/>
                <a:cs typeface="Times New Roman" pitchFamily="18" charset="0"/>
              </a:rPr>
              <a:t>   </a:t>
            </a:r>
            <a:r>
              <a:rPr lang="en-US" altLang="zh-CN" sz="2800" b="1" dirty="0">
                <a:solidFill>
                  <a:srgbClr val="0000FF"/>
                </a:solidFill>
                <a:latin typeface="Times New Roman" pitchFamily="18" charset="0"/>
                <a:ea typeface="宋体" pitchFamily="2" charset="-122"/>
                <a:cs typeface="Times New Roman" pitchFamily="18" charset="0"/>
              </a:rPr>
              <a:t>Select </a:t>
            </a:r>
            <a:r>
              <a:rPr lang="en-US" altLang="zh-CN" sz="2800" b="1" dirty="0" err="1">
                <a:solidFill>
                  <a:srgbClr val="0000FF"/>
                </a:solidFill>
                <a:latin typeface="Times New Roman" pitchFamily="18" charset="0"/>
                <a:ea typeface="宋体" pitchFamily="2" charset="-122"/>
                <a:cs typeface="Times New Roman" pitchFamily="18" charset="0"/>
              </a:rPr>
              <a:t>sno</a:t>
            </a:r>
            <a:r>
              <a:rPr lang="en-US" altLang="zh-CN" sz="2800" b="1" dirty="0">
                <a:solidFill>
                  <a:srgbClr val="0000FF"/>
                </a:solidFill>
                <a:latin typeface="Times New Roman" pitchFamily="18" charset="0"/>
                <a:ea typeface="宋体" pitchFamily="2" charset="-122"/>
                <a:cs typeface="Times New Roman" pitchFamily="18" charset="0"/>
              </a:rPr>
              <a:t>, </a:t>
            </a:r>
            <a:r>
              <a:rPr lang="en-US" altLang="zh-CN" sz="2800" b="1" dirty="0" err="1">
                <a:solidFill>
                  <a:srgbClr val="0000FF"/>
                </a:solidFill>
                <a:latin typeface="Times New Roman" pitchFamily="18" charset="0"/>
                <a:ea typeface="宋体" pitchFamily="2" charset="-122"/>
                <a:cs typeface="Times New Roman" pitchFamily="18" charset="0"/>
              </a:rPr>
              <a:t>sname,ssex</a:t>
            </a:r>
            <a:r>
              <a:rPr lang="en-US" altLang="zh-CN" sz="2800" b="1" dirty="0">
                <a:solidFill>
                  <a:srgbClr val="0000FF"/>
                </a:solidFill>
                <a:latin typeface="Times New Roman" pitchFamily="18" charset="0"/>
                <a:ea typeface="宋体" pitchFamily="2" charset="-122"/>
                <a:cs typeface="Times New Roman" pitchFamily="18" charset="0"/>
              </a:rPr>
              <a:t> </a:t>
            </a:r>
          </a:p>
          <a:p>
            <a:pPr algn="l"/>
            <a:r>
              <a:rPr lang="en-US" altLang="zh-CN" sz="2800" b="1" dirty="0" smtClean="0">
                <a:solidFill>
                  <a:srgbClr val="0000FF"/>
                </a:solidFill>
                <a:latin typeface="Times New Roman" pitchFamily="18" charset="0"/>
                <a:ea typeface="宋体" pitchFamily="2" charset="-122"/>
                <a:cs typeface="Times New Roman" pitchFamily="18" charset="0"/>
              </a:rPr>
              <a:t>    From </a:t>
            </a:r>
            <a:r>
              <a:rPr lang="en-US" altLang="zh-CN" sz="2800" b="1" dirty="0">
                <a:solidFill>
                  <a:srgbClr val="0000FF"/>
                </a:solidFill>
                <a:latin typeface="Times New Roman" pitchFamily="18" charset="0"/>
                <a:ea typeface="宋体" pitchFamily="2" charset="-122"/>
                <a:cs typeface="Times New Roman" pitchFamily="18" charset="0"/>
              </a:rPr>
              <a:t>student</a:t>
            </a:r>
          </a:p>
          <a:p>
            <a:pPr algn="l"/>
            <a:r>
              <a:rPr lang="en-US" altLang="zh-CN" sz="2800" b="1" dirty="0" smtClean="0">
                <a:solidFill>
                  <a:srgbClr val="0000FF"/>
                </a:solidFill>
                <a:latin typeface="Times New Roman" pitchFamily="18" charset="0"/>
                <a:ea typeface="宋体" pitchFamily="2" charset="-122"/>
                <a:cs typeface="Times New Roman" pitchFamily="18" charset="0"/>
              </a:rPr>
              <a:t>    Where </a:t>
            </a:r>
            <a:r>
              <a:rPr lang="en-US" altLang="zh-CN" sz="2800" b="1" dirty="0" err="1" smtClean="0">
                <a:solidFill>
                  <a:srgbClr val="0000FF"/>
                </a:solidFill>
                <a:latin typeface="Times New Roman" pitchFamily="18" charset="0"/>
                <a:ea typeface="宋体" pitchFamily="2" charset="-122"/>
                <a:cs typeface="Times New Roman" pitchFamily="18" charset="0"/>
              </a:rPr>
              <a:t>ssex</a:t>
            </a:r>
            <a:r>
              <a:rPr lang="en-US" altLang="zh-CN" sz="2800" b="1" dirty="0">
                <a:solidFill>
                  <a:srgbClr val="0000FF"/>
                </a:solidFill>
                <a:latin typeface="Times New Roman" pitchFamily="18" charset="0"/>
                <a:ea typeface="宋体" pitchFamily="2" charset="-122"/>
                <a:cs typeface="Times New Roman" pitchFamily="18" charset="0"/>
              </a:rPr>
              <a:t> ='</a:t>
            </a:r>
            <a:r>
              <a:rPr lang="zh-CN" altLang="en-US" sz="2800" b="1" dirty="0">
                <a:solidFill>
                  <a:srgbClr val="0000FF"/>
                </a:solidFill>
                <a:latin typeface="Times New Roman" pitchFamily="18" charset="0"/>
                <a:ea typeface="宋体" pitchFamily="2" charset="-122"/>
                <a:cs typeface="Times New Roman" pitchFamily="18" charset="0"/>
              </a:rPr>
              <a:t>男</a:t>
            </a:r>
            <a:r>
              <a:rPr lang="en-US" altLang="zh-CN" sz="2800" b="1" dirty="0">
                <a:solidFill>
                  <a:srgbClr val="0000FF"/>
                </a:solidFill>
                <a:latin typeface="Times New Roman" pitchFamily="18" charset="0"/>
                <a:ea typeface="宋体" pitchFamily="2" charset="-122"/>
                <a:cs typeface="Times New Roman" pitchFamily="18" charset="0"/>
              </a:rPr>
              <a:t>' </a:t>
            </a:r>
            <a:r>
              <a:rPr lang="en-US" altLang="zh-CN" sz="2800" b="1" dirty="0" smtClean="0">
                <a:solidFill>
                  <a:srgbClr val="0000FF"/>
                </a:solidFill>
                <a:latin typeface="Times New Roman" pitchFamily="18" charset="0"/>
                <a:ea typeface="宋体" pitchFamily="2" charset="-122"/>
                <a:cs typeface="Times New Roman" pitchFamily="18" charset="0"/>
              </a:rPr>
              <a:t>and sage&gt;20</a:t>
            </a:r>
            <a:endParaRPr lang="zh-CN" altLang="en-US" sz="2800" b="1" dirty="0">
              <a:solidFill>
                <a:srgbClr val="0000FF"/>
              </a:solidFill>
              <a:latin typeface="Times New Roman" pitchFamily="18" charset="0"/>
              <a:ea typeface="宋体" pitchFamily="2" charset="-122"/>
              <a:cs typeface="Times New Roman" pitchFamily="18" charset="0"/>
            </a:endParaRPr>
          </a:p>
          <a:p>
            <a:pPr algn="l"/>
            <a:endParaRPr lang="zh-CN" altLang="en-US" sz="2800" b="1" dirty="0"/>
          </a:p>
        </p:txBody>
      </p:sp>
      <p:pic>
        <p:nvPicPr>
          <p:cNvPr id="7" name="Picture 207" descr="9"/>
          <p:cNvPicPr>
            <a:picLocks noChangeAspect="1" noChangeArrowheads="1" noCrop="1"/>
          </p:cNvPicPr>
          <p:nvPr/>
        </p:nvPicPr>
        <p:blipFill>
          <a:blip r:embed="rId2">
            <a:extLst>
              <a:ext uri="{28A0092B-C50C-407E-A947-70E740481C1C}">
                <a14:useLocalDpi xmlns:a14="http://schemas.microsoft.com/office/drawing/2010/main" val="0"/>
              </a:ext>
            </a:extLst>
          </a:blip>
          <a:srcRect/>
          <a:stretch>
            <a:fillRect/>
          </a:stretch>
        </p:blipFill>
        <p:spPr bwMode="auto">
          <a:xfrm>
            <a:off x="181794" y="142798"/>
            <a:ext cx="754778" cy="616402"/>
          </a:xfrm>
          <a:prstGeom prst="rect">
            <a:avLst/>
          </a:prstGeom>
          <a:noFill/>
          <a:extLst>
            <a:ext uri="{909E8E84-426E-40DD-AFC4-6F175D3DCCD1}">
              <a14:hiddenFill xmlns:a14="http://schemas.microsoft.com/office/drawing/2010/main">
                <a:solidFill>
                  <a:srgbClr val="FFFFFF"/>
                </a:solidFill>
              </a14:hiddenFill>
            </a:ext>
          </a:extLst>
        </p:spPr>
      </p:pic>
      <p:sp>
        <p:nvSpPr>
          <p:cNvPr id="2" name="矩形 1"/>
          <p:cNvSpPr/>
          <p:nvPr/>
        </p:nvSpPr>
        <p:spPr>
          <a:xfrm>
            <a:off x="6660907" y="5810493"/>
            <a:ext cx="1114408" cy="369332"/>
          </a:xfrm>
          <a:prstGeom prst="rect">
            <a:avLst/>
          </a:prstGeom>
        </p:spPr>
        <p:txBody>
          <a:bodyPr wrap="none">
            <a:spAutoFit/>
          </a:bodyPr>
          <a:lstStyle/>
          <a:p>
            <a:r>
              <a:rPr lang="zh-CN" altLang="en-US" b="1" dirty="0" smtClean="0">
                <a:solidFill>
                  <a:srgbClr val="000000"/>
                </a:solidFill>
                <a:latin typeface="Times New Roman" pitchFamily="18" charset="0"/>
                <a:ea typeface="宋体" pitchFamily="2" charset="-122"/>
                <a:cs typeface="Times New Roman" pitchFamily="18" charset="0"/>
              </a:rPr>
              <a:t>实验验证</a:t>
            </a:r>
            <a:endParaRPr lang="zh-CN" altLang="en-US" dirty="0">
              <a:solidFill>
                <a:srgbClr val="000000"/>
              </a:solidFill>
            </a:endParaRPr>
          </a:p>
        </p:txBody>
      </p:sp>
      <p:pic>
        <p:nvPicPr>
          <p:cNvPr id="12" name="Picture 4" descr="手1"/>
          <p:cNvPicPr>
            <a:picLocks noChangeAspect="1" noChangeArrowheads="1" noCrop="1"/>
          </p:cNvPicPr>
          <p:nvPr/>
        </p:nvPicPr>
        <p:blipFill>
          <a:blip r:embed="rId3">
            <a:extLst>
              <a:ext uri="{28A0092B-C50C-407E-A947-70E740481C1C}">
                <a14:useLocalDpi xmlns:a14="http://schemas.microsoft.com/office/drawing/2010/main" val="0"/>
              </a:ext>
            </a:extLst>
          </a:blip>
          <a:srcRect/>
          <a:stretch>
            <a:fillRect/>
          </a:stretch>
        </p:blipFill>
        <p:spPr bwMode="auto">
          <a:xfrm>
            <a:off x="6216159" y="5892125"/>
            <a:ext cx="800638" cy="2877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265709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0-#ppt_w/2"/>
                                          </p:val>
                                        </p:tav>
                                        <p:tav tm="100000">
                                          <p:val>
                                            <p:strVal val="#ppt_x"/>
                                          </p:val>
                                        </p:tav>
                                      </p:tavLst>
                                    </p:anim>
                                    <p:anim calcmode="lin" valueType="num">
                                      <p:cBhvr additive="base">
                                        <p:cTn id="8" dur="500" fill="hold"/>
                                        <p:tgtEl>
                                          <p:spTgt spid="4"/>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9"/>
                                        </p:tgtEl>
                                        <p:attrNameLst>
                                          <p:attrName>style.visibility</p:attrName>
                                        </p:attrNameLst>
                                      </p:cBhvr>
                                      <p:to>
                                        <p:strVal val="visible"/>
                                      </p:to>
                                    </p:set>
                                    <p:anim calcmode="lin" valueType="num">
                                      <p:cBhvr additive="base">
                                        <p:cTn id="13" dur="500" fill="hold"/>
                                        <p:tgtEl>
                                          <p:spTgt spid="9"/>
                                        </p:tgtEl>
                                        <p:attrNameLst>
                                          <p:attrName>ppt_x</p:attrName>
                                        </p:attrNameLst>
                                      </p:cBhvr>
                                      <p:tavLst>
                                        <p:tav tm="0">
                                          <p:val>
                                            <p:strVal val="0-#ppt_w/2"/>
                                          </p:val>
                                        </p:tav>
                                        <p:tav tm="100000">
                                          <p:val>
                                            <p:strVal val="#ppt_x"/>
                                          </p:val>
                                        </p:tav>
                                      </p:tavLst>
                                    </p:anim>
                                    <p:anim calcmode="lin" valueType="num">
                                      <p:cBhvr additive="base">
                                        <p:cTn id="14" dur="500" fill="hold"/>
                                        <p:tgtEl>
                                          <p:spTgt spid="9"/>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anim calcmode="lin" valueType="num">
                                      <p:cBhvr additive="base">
                                        <p:cTn id="19" dur="500" fill="hold"/>
                                        <p:tgtEl>
                                          <p:spTgt spid="10"/>
                                        </p:tgtEl>
                                        <p:attrNameLst>
                                          <p:attrName>ppt_x</p:attrName>
                                        </p:attrNameLst>
                                      </p:cBhvr>
                                      <p:tavLst>
                                        <p:tav tm="0">
                                          <p:val>
                                            <p:strVal val="0-#ppt_w/2"/>
                                          </p:val>
                                        </p:tav>
                                        <p:tav tm="100000">
                                          <p:val>
                                            <p:strVal val="#ppt_x"/>
                                          </p:val>
                                        </p:tav>
                                      </p:tavLst>
                                    </p:anim>
                                    <p:anim calcmode="lin" valueType="num">
                                      <p:cBhvr additive="base">
                                        <p:cTn id="20" dur="500" fill="hold"/>
                                        <p:tgtEl>
                                          <p:spTgt spid="10"/>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11"/>
                                        </p:tgtEl>
                                        <p:attrNameLst>
                                          <p:attrName>style.visibility</p:attrName>
                                        </p:attrNameLst>
                                      </p:cBhvr>
                                      <p:to>
                                        <p:strVal val="visible"/>
                                      </p:to>
                                    </p:set>
                                    <p:anim calcmode="lin" valueType="num">
                                      <p:cBhvr additive="base">
                                        <p:cTn id="25" dur="500" fill="hold"/>
                                        <p:tgtEl>
                                          <p:spTgt spid="11"/>
                                        </p:tgtEl>
                                        <p:attrNameLst>
                                          <p:attrName>ppt_x</p:attrName>
                                        </p:attrNameLst>
                                      </p:cBhvr>
                                      <p:tavLst>
                                        <p:tav tm="0">
                                          <p:val>
                                            <p:strVal val="0-#ppt_w/2"/>
                                          </p:val>
                                        </p:tav>
                                        <p:tav tm="100000">
                                          <p:val>
                                            <p:strVal val="#ppt_x"/>
                                          </p:val>
                                        </p:tav>
                                      </p:tavLst>
                                    </p:anim>
                                    <p:anim calcmode="lin" valueType="num">
                                      <p:cBhvr additive="base">
                                        <p:cTn id="26" dur="500" fill="hold"/>
                                        <p:tgtEl>
                                          <p:spTgt spid="11"/>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9" grpId="0"/>
      <p:bldP spid="10" grpId="0"/>
      <p:bldP spid="11" grpId="0"/>
      <p:bldP spid="2" grpId="0"/>
    </p:bld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2"/>
          <p:cNvSpPr>
            <a:spLocks noGrp="1"/>
          </p:cNvSpPr>
          <p:nvPr>
            <p:ph type="title"/>
          </p:nvPr>
        </p:nvSpPr>
        <p:spPr>
          <a:xfrm>
            <a:off x="500063" y="152400"/>
            <a:ext cx="8001000" cy="685800"/>
          </a:xfrm>
          <a:noFill/>
          <a:ln w="9525">
            <a:noFill/>
          </a:ln>
        </p:spPr>
        <p:txBody>
          <a:bodyPr vert="horz" wrap="square" lIns="91440" tIns="45720" rIns="91440" bIns="45720" rtlCol="0" anchor="ctr" anchorCtr="0">
            <a:noAutofit/>
          </a:bodyPr>
          <a:lstStyle/>
          <a:p>
            <a:pPr lvl="0" algn="ctr" eaLnBrk="1" hangingPunct="1">
              <a:buClrTx/>
              <a:buSzTx/>
              <a:buFontTx/>
            </a:pPr>
            <a:r>
              <a:rPr lang="zh-CN" altLang="en-US" sz="4800" b="0" dirty="0">
                <a:latin typeface="黑体" panose="02010609060101010101" pitchFamily="2" charset="-122"/>
                <a:ea typeface="黑体" panose="02010609060101010101" pitchFamily="2" charset="-122"/>
                <a:sym typeface="+mn-ea"/>
              </a:rPr>
              <a:t>4.2.2 更新数据 </a:t>
            </a:r>
          </a:p>
        </p:txBody>
      </p:sp>
      <p:sp>
        <p:nvSpPr>
          <p:cNvPr id="122883" name="Rectangle 3"/>
          <p:cNvSpPr>
            <a:spLocks noGrp="1"/>
          </p:cNvSpPr>
          <p:nvPr>
            <p:ph idx="1"/>
          </p:nvPr>
        </p:nvSpPr>
        <p:spPr>
          <a:xfrm>
            <a:off x="323528" y="1196752"/>
            <a:ext cx="8605838" cy="5095453"/>
          </a:xfrm>
        </p:spPr>
        <p:txBody>
          <a:bodyPr vert="horz" wrap="square" lIns="91440" tIns="45720" rIns="91440" bIns="45720" anchor="t" anchorCtr="0"/>
          <a:lstStyle/>
          <a:p>
            <a:pPr marL="0" indent="0" eaLnBrk="1" hangingPunct="1">
              <a:buNone/>
            </a:pPr>
            <a:r>
              <a:rPr lang="zh-CN" altLang="en-US" sz="3200" b="1" dirty="0">
                <a:cs typeface="等线" panose="02010600030101010101" charset="-122"/>
              </a:rPr>
              <a:t>用</a:t>
            </a:r>
            <a:r>
              <a:rPr lang="en-US" altLang="zh-CN" sz="3200" b="1" dirty="0">
                <a:cs typeface="等线" panose="02010600030101010101" charset="-122"/>
              </a:rPr>
              <a:t>UPDATE</a:t>
            </a:r>
            <a:r>
              <a:rPr lang="zh-CN" altLang="en-US" sz="3200" b="1" dirty="0">
                <a:cs typeface="等线" panose="02010600030101010101" charset="-122"/>
              </a:rPr>
              <a:t>语句实现。格式：</a:t>
            </a:r>
          </a:p>
          <a:p>
            <a:pPr eaLnBrk="1" hangingPunct="1">
              <a:buFont typeface="Wingdings" panose="05000000000000000000" pitchFamily="2" charset="2"/>
              <a:buNone/>
            </a:pPr>
            <a:r>
              <a:rPr lang="en-US" altLang="zh-CN" sz="3200" b="1" dirty="0">
                <a:solidFill>
                  <a:srgbClr val="FF0000"/>
                </a:solidFill>
                <a:cs typeface="等线" panose="02010600030101010101" charset="-122"/>
              </a:rPr>
              <a:t>UPDATE &lt;</a:t>
            </a:r>
            <a:r>
              <a:rPr lang="zh-CN" altLang="en-US" sz="3200" b="1" dirty="0">
                <a:solidFill>
                  <a:srgbClr val="FF0000"/>
                </a:solidFill>
                <a:cs typeface="等线" panose="02010600030101010101" charset="-122"/>
              </a:rPr>
              <a:t>表名</a:t>
            </a:r>
            <a:r>
              <a:rPr lang="en-US" altLang="zh-CN" sz="3200" b="1" dirty="0" smtClean="0">
                <a:solidFill>
                  <a:srgbClr val="FF0000"/>
                </a:solidFill>
                <a:cs typeface="等线" panose="02010600030101010101" charset="-122"/>
              </a:rPr>
              <a:t>&gt;</a:t>
            </a:r>
          </a:p>
          <a:p>
            <a:pPr eaLnBrk="1" hangingPunct="1">
              <a:buFont typeface="Wingdings" panose="05000000000000000000" pitchFamily="2" charset="2"/>
              <a:buNone/>
            </a:pPr>
            <a:r>
              <a:rPr lang="en-US" altLang="zh-CN" sz="3200" b="1" dirty="0" smtClean="0">
                <a:solidFill>
                  <a:srgbClr val="FF0000"/>
                </a:solidFill>
                <a:cs typeface="等线" panose="02010600030101010101" charset="-122"/>
              </a:rPr>
              <a:t>  SET </a:t>
            </a:r>
            <a:r>
              <a:rPr lang="en-US" altLang="zh-CN" sz="3200" b="1" dirty="0">
                <a:solidFill>
                  <a:srgbClr val="FF0000"/>
                </a:solidFill>
                <a:cs typeface="等线" panose="02010600030101010101" charset="-122"/>
              </a:rPr>
              <a:t>&lt;</a:t>
            </a:r>
            <a:r>
              <a:rPr lang="zh-CN" altLang="en-US" sz="3200" b="1" dirty="0">
                <a:solidFill>
                  <a:srgbClr val="FF0000"/>
                </a:solidFill>
                <a:cs typeface="等线" panose="02010600030101010101" charset="-122"/>
              </a:rPr>
              <a:t>列名</a:t>
            </a:r>
            <a:r>
              <a:rPr lang="en-US" altLang="zh-CN" sz="3200" b="1" dirty="0">
                <a:solidFill>
                  <a:srgbClr val="FF0000"/>
                </a:solidFill>
                <a:cs typeface="等线" panose="02010600030101010101" charset="-122"/>
              </a:rPr>
              <a:t>=</a:t>
            </a:r>
            <a:r>
              <a:rPr lang="zh-CN" altLang="en-US" sz="3200" b="1" dirty="0">
                <a:solidFill>
                  <a:srgbClr val="FF0000"/>
                </a:solidFill>
                <a:cs typeface="等线" panose="02010600030101010101" charset="-122"/>
              </a:rPr>
              <a:t>表达式</a:t>
            </a:r>
            <a:r>
              <a:rPr lang="en-US" altLang="zh-CN" sz="3200" b="1" dirty="0">
                <a:solidFill>
                  <a:srgbClr val="FF0000"/>
                </a:solidFill>
                <a:cs typeface="等线" panose="02010600030101010101" charset="-122"/>
              </a:rPr>
              <a:t>&gt;[,… n]</a:t>
            </a:r>
          </a:p>
          <a:p>
            <a:pPr eaLnBrk="1" hangingPunct="1">
              <a:buFont typeface="Wingdings" panose="05000000000000000000" pitchFamily="2" charset="2"/>
              <a:buNone/>
            </a:pPr>
            <a:r>
              <a:rPr lang="en-US" altLang="zh-CN" sz="3200" b="1" dirty="0" smtClean="0">
                <a:solidFill>
                  <a:srgbClr val="FF0000"/>
                </a:solidFill>
                <a:cs typeface="等线" panose="02010600030101010101" charset="-122"/>
              </a:rPr>
              <a:t>  [</a:t>
            </a:r>
            <a:r>
              <a:rPr lang="en-US" altLang="zh-CN" sz="3200" b="1" dirty="0">
                <a:solidFill>
                  <a:srgbClr val="FF0000"/>
                </a:solidFill>
                <a:cs typeface="等线" panose="02010600030101010101" charset="-122"/>
              </a:rPr>
              <a:t>WHERE &lt;</a:t>
            </a:r>
            <a:r>
              <a:rPr lang="zh-CN" altLang="en-US" sz="3200" b="1" dirty="0">
                <a:solidFill>
                  <a:srgbClr val="FF0000"/>
                </a:solidFill>
                <a:cs typeface="等线" panose="02010600030101010101" charset="-122"/>
              </a:rPr>
              <a:t>更新条件</a:t>
            </a:r>
            <a:r>
              <a:rPr lang="en-US" altLang="zh-CN" sz="3200" b="1" dirty="0">
                <a:solidFill>
                  <a:srgbClr val="FF0000"/>
                </a:solidFill>
                <a:cs typeface="等线" panose="02010600030101010101" charset="-122"/>
              </a:rPr>
              <a:t>&gt;]</a:t>
            </a:r>
          </a:p>
          <a:p>
            <a:pPr eaLnBrk="1" hangingPunct="1"/>
            <a:r>
              <a:rPr lang="en-US" altLang="zh-CN" sz="3200" b="1" dirty="0">
                <a:solidFill>
                  <a:srgbClr val="0000FF"/>
                </a:solidFill>
                <a:cs typeface="等线" panose="02010600030101010101" charset="-122"/>
              </a:rPr>
              <a:t>&lt;</a:t>
            </a:r>
            <a:r>
              <a:rPr lang="zh-CN" altLang="en-US" sz="3200" b="1" dirty="0">
                <a:solidFill>
                  <a:srgbClr val="0000FF"/>
                </a:solidFill>
                <a:cs typeface="等线" panose="02010600030101010101" charset="-122"/>
              </a:rPr>
              <a:t>表名</a:t>
            </a:r>
            <a:r>
              <a:rPr lang="en-US" altLang="zh-CN" sz="3200" b="1" dirty="0">
                <a:solidFill>
                  <a:srgbClr val="0000FF"/>
                </a:solidFill>
                <a:cs typeface="等线" panose="02010600030101010101" charset="-122"/>
              </a:rPr>
              <a:t>&gt;</a:t>
            </a:r>
            <a:r>
              <a:rPr lang="zh-CN" altLang="en-US" sz="3200" b="1" dirty="0">
                <a:cs typeface="等线" panose="02010600030101010101" charset="-122"/>
              </a:rPr>
              <a:t>需要修改数据的表的名称。</a:t>
            </a:r>
            <a:endParaRPr lang="zh-CN" altLang="en-US" sz="3200" b="1" dirty="0">
              <a:cs typeface="等线" panose="02010600030101010101" charset="-122"/>
              <a:sym typeface="Symbol" panose="05050102010706020507" pitchFamily="18" charset="2"/>
            </a:endParaRPr>
          </a:p>
          <a:p>
            <a:pPr eaLnBrk="1" hangingPunct="1"/>
            <a:r>
              <a:rPr lang="en-US" altLang="zh-CN" sz="3200" b="1" dirty="0">
                <a:solidFill>
                  <a:srgbClr val="0000FF"/>
                </a:solidFill>
                <a:cs typeface="等线" panose="02010600030101010101" charset="-122"/>
              </a:rPr>
              <a:t>SET</a:t>
            </a:r>
            <a:r>
              <a:rPr lang="zh-CN" altLang="en-US" sz="3200" b="1" dirty="0">
                <a:cs typeface="等线" panose="02010600030101010101" charset="-122"/>
              </a:rPr>
              <a:t>子句指定要修改的列，表达式指定要修改后的新值。</a:t>
            </a:r>
            <a:endParaRPr lang="zh-CN" altLang="en-US" sz="3200" b="1" dirty="0">
              <a:cs typeface="等线" panose="02010600030101010101" charset="-122"/>
              <a:sym typeface="Symbol" panose="05050102010706020507" pitchFamily="18" charset="2"/>
            </a:endParaRPr>
          </a:p>
          <a:p>
            <a:pPr eaLnBrk="1" hangingPunct="1"/>
            <a:r>
              <a:rPr lang="en-US" altLang="zh-CN" sz="3200" b="1" dirty="0">
                <a:solidFill>
                  <a:srgbClr val="0000FF"/>
                </a:solidFill>
                <a:cs typeface="等线" panose="02010600030101010101" charset="-122"/>
              </a:rPr>
              <a:t>WHERE</a:t>
            </a:r>
            <a:r>
              <a:rPr lang="zh-CN" altLang="en-US" sz="3200" b="1" dirty="0">
                <a:cs typeface="等线" panose="02010600030101010101" charset="-122"/>
              </a:rPr>
              <a:t>子句用于指定只修改表中满足条件的记录的相应列值。</a:t>
            </a:r>
          </a:p>
        </p:txBody>
      </p:sp>
    </p:spTree>
    <p:extLst>
      <p:ext uri="{BB962C8B-B14F-4D97-AF65-F5344CB8AC3E}">
        <p14:creationId xmlns:p14="http://schemas.microsoft.com/office/powerpoint/2010/main" val="1350620006"/>
      </p:ext>
    </p:extLst>
  </p:cSld>
  <p:clrMapOvr>
    <a:masterClrMapping/>
  </p:clrMapOvr>
  <p:timing>
    <p:tnLst>
      <p:par>
        <p:cTn id="1" dur="indefinite" restart="never" nodeType="tmRoot"/>
      </p:par>
    </p:tn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Rectangle 2"/>
          <p:cNvSpPr>
            <a:spLocks noGrp="1"/>
          </p:cNvSpPr>
          <p:nvPr>
            <p:ph type="title"/>
          </p:nvPr>
        </p:nvSpPr>
        <p:spPr>
          <a:xfrm>
            <a:off x="500063" y="152400"/>
            <a:ext cx="8001000" cy="685800"/>
          </a:xfrm>
          <a:noFill/>
          <a:ln w="9525">
            <a:noFill/>
          </a:ln>
        </p:spPr>
        <p:txBody>
          <a:bodyPr vert="horz" wrap="square" lIns="91440" tIns="45720" rIns="91440" bIns="45720" rtlCol="0" anchor="ctr" anchorCtr="0">
            <a:noAutofit/>
          </a:bodyPr>
          <a:lstStyle/>
          <a:p>
            <a:pPr lvl="0" algn="ctr" eaLnBrk="1" hangingPunct="1">
              <a:buClrTx/>
              <a:buSzTx/>
              <a:buFontTx/>
            </a:pPr>
            <a:r>
              <a:rPr lang="zh-CN" altLang="en-US" sz="4800" b="0" dirty="0">
                <a:latin typeface="黑体" panose="02010609060101010101" pitchFamily="2" charset="-122"/>
                <a:ea typeface="黑体" panose="02010609060101010101" pitchFamily="2" charset="-122"/>
                <a:sym typeface="+mn-ea"/>
              </a:rPr>
              <a:t>无条件更新</a:t>
            </a:r>
          </a:p>
        </p:txBody>
      </p:sp>
      <p:sp>
        <p:nvSpPr>
          <p:cNvPr id="123907" name="Rectangle 3"/>
          <p:cNvSpPr>
            <a:spLocks noGrp="1"/>
          </p:cNvSpPr>
          <p:nvPr>
            <p:ph idx="1"/>
          </p:nvPr>
        </p:nvSpPr>
        <p:spPr>
          <a:xfrm>
            <a:off x="684213" y="1557338"/>
            <a:ext cx="7726362" cy="935558"/>
          </a:xfrm>
        </p:spPr>
        <p:txBody>
          <a:bodyPr vert="horz" wrap="square" lIns="91440" tIns="45720" rIns="91440" bIns="45720" anchor="t" anchorCtr="0"/>
          <a:lstStyle/>
          <a:p>
            <a:pPr marL="0" indent="0" eaLnBrk="1" hangingPunct="1">
              <a:buNone/>
            </a:pPr>
            <a:r>
              <a:rPr lang="zh-CN" altLang="en-US" sz="3600" b="1" dirty="0" smtClean="0">
                <a:cs typeface="等线" panose="02010600030101010101" charset="-122"/>
              </a:rPr>
              <a:t>例</a:t>
            </a:r>
            <a:r>
              <a:rPr lang="en-US" altLang="zh-CN" sz="3600" b="1" dirty="0" smtClean="0">
                <a:cs typeface="等线" panose="02010600030101010101" charset="-122"/>
              </a:rPr>
              <a:t>4.76  </a:t>
            </a:r>
            <a:r>
              <a:rPr lang="zh-CN" altLang="en-US" sz="3600" b="1" dirty="0">
                <a:cs typeface="等线" panose="02010600030101010101" charset="-122"/>
              </a:rPr>
              <a:t>将所有学生的年龄加</a:t>
            </a:r>
            <a:r>
              <a:rPr lang="en-US" altLang="zh-CN" sz="3600" b="1" dirty="0">
                <a:cs typeface="等线" panose="02010600030101010101" charset="-122"/>
              </a:rPr>
              <a:t>1</a:t>
            </a:r>
            <a:r>
              <a:rPr lang="zh-CN" altLang="en-US" sz="3600" b="1" dirty="0">
                <a:cs typeface="等线" panose="02010600030101010101" charset="-122"/>
              </a:rPr>
              <a:t>。</a:t>
            </a:r>
          </a:p>
          <a:p>
            <a:pPr eaLnBrk="1" hangingPunct="1">
              <a:buFont typeface="Wingdings" panose="05000000000000000000" pitchFamily="2" charset="2"/>
              <a:buNone/>
            </a:pPr>
            <a:r>
              <a:rPr lang="zh-CN" altLang="en-US" sz="3600" b="1" dirty="0">
                <a:solidFill>
                  <a:srgbClr val="009900"/>
                </a:solidFill>
                <a:cs typeface="等线" panose="02010600030101010101" charset="-122"/>
              </a:rPr>
              <a:t>	</a:t>
            </a:r>
            <a:endParaRPr lang="zh-CN" altLang="en-US" sz="3600" b="1" dirty="0">
              <a:solidFill>
                <a:srgbClr val="0000FF"/>
              </a:solidFill>
              <a:cs typeface="等线" panose="02010600030101010101" charset="-122"/>
            </a:endParaRPr>
          </a:p>
        </p:txBody>
      </p:sp>
      <p:sp>
        <p:nvSpPr>
          <p:cNvPr id="2" name="矩形 1"/>
          <p:cNvSpPr/>
          <p:nvPr/>
        </p:nvSpPr>
        <p:spPr>
          <a:xfrm>
            <a:off x="1331640" y="2708920"/>
            <a:ext cx="2808312" cy="707886"/>
          </a:xfrm>
          <a:prstGeom prst="rect">
            <a:avLst/>
          </a:prstGeom>
        </p:spPr>
        <p:txBody>
          <a:bodyPr wrap="square">
            <a:spAutoFit/>
          </a:bodyPr>
          <a:lstStyle/>
          <a:p>
            <a:pPr algn="l"/>
            <a:r>
              <a:rPr lang="en-US" altLang="zh-CN" sz="4000" b="1" dirty="0" smtClean="0">
                <a:solidFill>
                  <a:srgbClr val="0000FF"/>
                </a:solidFill>
                <a:latin typeface="Times New Roman" pitchFamily="18" charset="0"/>
                <a:ea typeface="宋体" pitchFamily="2" charset="-122"/>
                <a:cs typeface="Times New Roman" pitchFamily="18" charset="0"/>
              </a:rPr>
              <a:t>UPDATE</a:t>
            </a:r>
            <a:endParaRPr lang="zh-CN" altLang="en-US" sz="4000" b="1" dirty="0">
              <a:solidFill>
                <a:srgbClr val="0000FF"/>
              </a:solidFill>
              <a:latin typeface="Times New Roman" pitchFamily="18" charset="0"/>
              <a:ea typeface="宋体" pitchFamily="2" charset="-122"/>
              <a:cs typeface="Times New Roman" pitchFamily="18" charset="0"/>
            </a:endParaRPr>
          </a:p>
        </p:txBody>
      </p:sp>
      <p:sp>
        <p:nvSpPr>
          <p:cNvPr id="3" name="矩形 2"/>
          <p:cNvSpPr/>
          <p:nvPr/>
        </p:nvSpPr>
        <p:spPr>
          <a:xfrm>
            <a:off x="1972543" y="3441194"/>
            <a:ext cx="1152880" cy="707886"/>
          </a:xfrm>
          <a:prstGeom prst="rect">
            <a:avLst/>
          </a:prstGeom>
        </p:spPr>
        <p:txBody>
          <a:bodyPr wrap="none">
            <a:spAutoFit/>
          </a:bodyPr>
          <a:lstStyle/>
          <a:p>
            <a:pPr algn="l"/>
            <a:r>
              <a:rPr lang="en-US" altLang="zh-CN" sz="4000" b="1" dirty="0" smtClean="0">
                <a:solidFill>
                  <a:srgbClr val="0000FF"/>
                </a:solidFill>
                <a:latin typeface="Times New Roman" pitchFamily="18" charset="0"/>
                <a:ea typeface="宋体" pitchFamily="2" charset="-122"/>
                <a:cs typeface="Times New Roman" pitchFamily="18" charset="0"/>
              </a:rPr>
              <a:t>SET</a:t>
            </a:r>
            <a:endParaRPr lang="zh-CN" altLang="en-US" sz="4000" b="1" dirty="0">
              <a:solidFill>
                <a:srgbClr val="0000FF"/>
              </a:solidFill>
              <a:latin typeface="Times New Roman" pitchFamily="18" charset="0"/>
              <a:ea typeface="宋体" pitchFamily="2" charset="-122"/>
              <a:cs typeface="Times New Roman" pitchFamily="18" charset="0"/>
            </a:endParaRPr>
          </a:p>
        </p:txBody>
      </p:sp>
      <p:sp>
        <p:nvSpPr>
          <p:cNvPr id="4" name="矩形 3"/>
          <p:cNvSpPr/>
          <p:nvPr/>
        </p:nvSpPr>
        <p:spPr>
          <a:xfrm>
            <a:off x="3563888" y="2748727"/>
            <a:ext cx="2024913" cy="707886"/>
          </a:xfrm>
          <a:prstGeom prst="rect">
            <a:avLst/>
          </a:prstGeom>
        </p:spPr>
        <p:txBody>
          <a:bodyPr wrap="none">
            <a:spAutoFit/>
          </a:bodyPr>
          <a:lstStyle/>
          <a:p>
            <a:r>
              <a:rPr lang="en-US" altLang="zh-CN" sz="4000" b="1" dirty="0">
                <a:solidFill>
                  <a:srgbClr val="0000FF"/>
                </a:solidFill>
                <a:latin typeface="Times New Roman" pitchFamily="18" charset="0"/>
                <a:ea typeface="宋体" pitchFamily="2" charset="-122"/>
                <a:cs typeface="Times New Roman" pitchFamily="18" charset="0"/>
              </a:rPr>
              <a:t>Student </a:t>
            </a:r>
            <a:endParaRPr lang="zh-CN" altLang="en-US" sz="4000" dirty="0"/>
          </a:p>
        </p:txBody>
      </p:sp>
      <p:sp>
        <p:nvSpPr>
          <p:cNvPr id="5" name="矩形 4"/>
          <p:cNvSpPr/>
          <p:nvPr/>
        </p:nvSpPr>
        <p:spPr>
          <a:xfrm>
            <a:off x="3385758" y="3482001"/>
            <a:ext cx="3589444" cy="707886"/>
          </a:xfrm>
          <a:prstGeom prst="rect">
            <a:avLst/>
          </a:prstGeom>
        </p:spPr>
        <p:txBody>
          <a:bodyPr wrap="none">
            <a:spAutoFit/>
          </a:bodyPr>
          <a:lstStyle/>
          <a:p>
            <a:pPr algn="l"/>
            <a:r>
              <a:rPr lang="en-US" altLang="zh-CN" sz="4000" b="1" dirty="0">
                <a:solidFill>
                  <a:srgbClr val="0000FF"/>
                </a:solidFill>
                <a:latin typeface="Times New Roman" pitchFamily="18" charset="0"/>
                <a:ea typeface="宋体" pitchFamily="2" charset="-122"/>
                <a:cs typeface="Times New Roman" pitchFamily="18" charset="0"/>
              </a:rPr>
              <a:t>Sage = Sage + 1</a:t>
            </a:r>
            <a:endParaRPr lang="zh-CN" altLang="en-US" sz="4000" b="1" dirty="0">
              <a:solidFill>
                <a:srgbClr val="0000FF"/>
              </a:solidFill>
              <a:latin typeface="Times New Roman" pitchFamily="18" charset="0"/>
              <a:ea typeface="宋体" pitchFamily="2" charset="-122"/>
              <a:cs typeface="Times New Roman" pitchFamily="18" charset="0"/>
            </a:endParaRPr>
          </a:p>
        </p:txBody>
      </p:sp>
      <p:sp>
        <p:nvSpPr>
          <p:cNvPr id="6" name="矩形 5"/>
          <p:cNvSpPr/>
          <p:nvPr/>
        </p:nvSpPr>
        <p:spPr>
          <a:xfrm>
            <a:off x="6164723" y="5044244"/>
            <a:ext cx="1620957" cy="523220"/>
          </a:xfrm>
          <a:prstGeom prst="rect">
            <a:avLst/>
          </a:prstGeom>
        </p:spPr>
        <p:txBody>
          <a:bodyPr wrap="none">
            <a:spAutoFit/>
          </a:bodyPr>
          <a:lstStyle/>
          <a:p>
            <a:r>
              <a:rPr lang="zh-CN" altLang="en-US" sz="2800" b="1" dirty="0" smtClean="0">
                <a:solidFill>
                  <a:srgbClr val="000000"/>
                </a:solidFill>
                <a:latin typeface="宋体" pitchFamily="2" charset="-122"/>
                <a:ea typeface="宋体" pitchFamily="2" charset="-122"/>
              </a:rPr>
              <a:t>实验验证</a:t>
            </a:r>
            <a:endParaRPr lang="zh-CN" altLang="en-US" sz="2800" b="1" dirty="0">
              <a:solidFill>
                <a:srgbClr val="000000"/>
              </a:solidFill>
              <a:latin typeface="宋体" pitchFamily="2" charset="-122"/>
              <a:ea typeface="宋体" pitchFamily="2" charset="-122"/>
            </a:endParaRPr>
          </a:p>
        </p:txBody>
      </p:sp>
      <p:pic>
        <p:nvPicPr>
          <p:cNvPr id="9" name="Picture 4" descr="手1"/>
          <p:cNvPicPr>
            <a:picLocks noChangeAspect="1" noChangeArrowheads="1" noCrop="1"/>
          </p:cNvPicPr>
          <p:nvPr/>
        </p:nvPicPr>
        <p:blipFill>
          <a:blip r:embed="rId2">
            <a:extLst>
              <a:ext uri="{28A0092B-C50C-407E-A947-70E740481C1C}">
                <a14:useLocalDpi xmlns:a14="http://schemas.microsoft.com/office/drawing/2010/main" val="0"/>
              </a:ext>
            </a:extLst>
          </a:blip>
          <a:srcRect/>
          <a:stretch>
            <a:fillRect/>
          </a:stretch>
        </p:blipFill>
        <p:spPr bwMode="auto">
          <a:xfrm>
            <a:off x="5588801" y="5125834"/>
            <a:ext cx="1001953" cy="36004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660151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23907">
                                            <p:txEl>
                                              <p:pRg st="0" end="0"/>
                                            </p:txEl>
                                          </p:spTgt>
                                        </p:tgtEl>
                                        <p:attrNameLst>
                                          <p:attrName>style.visibility</p:attrName>
                                        </p:attrNameLst>
                                      </p:cBhvr>
                                      <p:to>
                                        <p:strVal val="visible"/>
                                      </p:to>
                                    </p:set>
                                    <p:animEffect transition="in" filter="fade">
                                      <p:cBhvr>
                                        <p:cTn id="7" dur="1000"/>
                                        <p:tgtEl>
                                          <p:spTgt spid="123907">
                                            <p:txEl>
                                              <p:pRg st="0" end="0"/>
                                            </p:txEl>
                                          </p:spTgt>
                                        </p:tgtEl>
                                      </p:cBhvr>
                                    </p:animEffect>
                                    <p:anim calcmode="lin" valueType="num">
                                      <p:cBhvr>
                                        <p:cTn id="8" dur="1000" fill="hold"/>
                                        <p:tgtEl>
                                          <p:spTgt spid="123907">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12390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123907">
                                            <p:txEl>
                                              <p:pRg st="1" end="1"/>
                                            </p:txEl>
                                          </p:spTgt>
                                        </p:tgtEl>
                                        <p:attrNameLst>
                                          <p:attrName>style.visibility</p:attrName>
                                        </p:attrNameLst>
                                      </p:cBhvr>
                                      <p:to>
                                        <p:strVal val="visible"/>
                                      </p:to>
                                    </p:set>
                                    <p:animEffect transition="in" filter="fade">
                                      <p:cBhvr>
                                        <p:cTn id="14" dur="1000"/>
                                        <p:tgtEl>
                                          <p:spTgt spid="123907">
                                            <p:txEl>
                                              <p:pRg st="1" end="1"/>
                                            </p:txEl>
                                          </p:spTgt>
                                        </p:tgtEl>
                                      </p:cBhvr>
                                    </p:animEffect>
                                    <p:anim calcmode="lin" valueType="num">
                                      <p:cBhvr>
                                        <p:cTn id="15" dur="1000" fill="hold"/>
                                        <p:tgtEl>
                                          <p:spTgt spid="123907">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123907">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gtEl>
                                        <p:attrNameLst>
                                          <p:attrName>style.visibility</p:attrName>
                                        </p:attrNameLst>
                                      </p:cBhvr>
                                      <p:to>
                                        <p:strVal val="visible"/>
                                      </p:to>
                                    </p:set>
                                    <p:animEffect transition="in" filter="fade">
                                      <p:cBhvr>
                                        <p:cTn id="21" dur="1000"/>
                                        <p:tgtEl>
                                          <p:spTgt spid="2"/>
                                        </p:tgtEl>
                                      </p:cBhvr>
                                    </p:animEffect>
                                    <p:anim calcmode="lin" valueType="num">
                                      <p:cBhvr>
                                        <p:cTn id="22" dur="1000" fill="hold"/>
                                        <p:tgtEl>
                                          <p:spTgt spid="2"/>
                                        </p:tgtEl>
                                        <p:attrNameLst>
                                          <p:attrName>ppt_x</p:attrName>
                                        </p:attrNameLst>
                                      </p:cBhvr>
                                      <p:tavLst>
                                        <p:tav tm="0">
                                          <p:val>
                                            <p:strVal val="#ppt_x"/>
                                          </p:val>
                                        </p:tav>
                                        <p:tav tm="100000">
                                          <p:val>
                                            <p:strVal val="#ppt_x"/>
                                          </p:val>
                                        </p:tav>
                                      </p:tavLst>
                                    </p:anim>
                                    <p:anim calcmode="lin" valueType="num">
                                      <p:cBhvr>
                                        <p:cTn id="23"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4"/>
                                        </p:tgtEl>
                                        <p:attrNameLst>
                                          <p:attrName>style.visibility</p:attrName>
                                        </p:attrNameLst>
                                      </p:cBhvr>
                                      <p:to>
                                        <p:strVal val="visible"/>
                                      </p:to>
                                    </p:set>
                                    <p:animEffect transition="in" filter="fade">
                                      <p:cBhvr>
                                        <p:cTn id="28" dur="1000"/>
                                        <p:tgtEl>
                                          <p:spTgt spid="4"/>
                                        </p:tgtEl>
                                      </p:cBhvr>
                                    </p:animEffect>
                                    <p:anim calcmode="lin" valueType="num">
                                      <p:cBhvr>
                                        <p:cTn id="29" dur="1000" fill="hold"/>
                                        <p:tgtEl>
                                          <p:spTgt spid="4"/>
                                        </p:tgtEl>
                                        <p:attrNameLst>
                                          <p:attrName>ppt_x</p:attrName>
                                        </p:attrNameLst>
                                      </p:cBhvr>
                                      <p:tavLst>
                                        <p:tav tm="0">
                                          <p:val>
                                            <p:strVal val="#ppt_x"/>
                                          </p:val>
                                        </p:tav>
                                        <p:tav tm="100000">
                                          <p:val>
                                            <p:strVal val="#ppt_x"/>
                                          </p:val>
                                        </p:tav>
                                      </p:tavLst>
                                    </p:anim>
                                    <p:anim calcmode="lin" valueType="num">
                                      <p:cBhvr>
                                        <p:cTn id="30"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3"/>
                                        </p:tgtEl>
                                        <p:attrNameLst>
                                          <p:attrName>style.visibility</p:attrName>
                                        </p:attrNameLst>
                                      </p:cBhvr>
                                      <p:to>
                                        <p:strVal val="visible"/>
                                      </p:to>
                                    </p:set>
                                    <p:animEffect transition="in" filter="fade">
                                      <p:cBhvr>
                                        <p:cTn id="35" dur="1000"/>
                                        <p:tgtEl>
                                          <p:spTgt spid="3"/>
                                        </p:tgtEl>
                                      </p:cBhvr>
                                    </p:animEffect>
                                    <p:anim calcmode="lin" valueType="num">
                                      <p:cBhvr>
                                        <p:cTn id="36" dur="1000" fill="hold"/>
                                        <p:tgtEl>
                                          <p:spTgt spid="3"/>
                                        </p:tgtEl>
                                        <p:attrNameLst>
                                          <p:attrName>ppt_x</p:attrName>
                                        </p:attrNameLst>
                                      </p:cBhvr>
                                      <p:tavLst>
                                        <p:tav tm="0">
                                          <p:val>
                                            <p:strVal val="#ppt_x"/>
                                          </p:val>
                                        </p:tav>
                                        <p:tav tm="100000">
                                          <p:val>
                                            <p:strVal val="#ppt_x"/>
                                          </p:val>
                                        </p:tav>
                                      </p:tavLst>
                                    </p:anim>
                                    <p:anim calcmode="lin" valueType="num">
                                      <p:cBhvr>
                                        <p:cTn id="37"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5"/>
                                        </p:tgtEl>
                                        <p:attrNameLst>
                                          <p:attrName>style.visibility</p:attrName>
                                        </p:attrNameLst>
                                      </p:cBhvr>
                                      <p:to>
                                        <p:strVal val="visible"/>
                                      </p:to>
                                    </p:set>
                                    <p:animEffect transition="in" filter="fade">
                                      <p:cBhvr>
                                        <p:cTn id="42" dur="1000"/>
                                        <p:tgtEl>
                                          <p:spTgt spid="5"/>
                                        </p:tgtEl>
                                      </p:cBhvr>
                                    </p:animEffect>
                                    <p:anim calcmode="lin" valueType="num">
                                      <p:cBhvr>
                                        <p:cTn id="43" dur="1000" fill="hold"/>
                                        <p:tgtEl>
                                          <p:spTgt spid="5"/>
                                        </p:tgtEl>
                                        <p:attrNameLst>
                                          <p:attrName>ppt_x</p:attrName>
                                        </p:attrNameLst>
                                      </p:cBhvr>
                                      <p:tavLst>
                                        <p:tav tm="0">
                                          <p:val>
                                            <p:strVal val="#ppt_x"/>
                                          </p:val>
                                        </p:tav>
                                        <p:tav tm="100000">
                                          <p:val>
                                            <p:strVal val="#ppt_x"/>
                                          </p:val>
                                        </p:tav>
                                      </p:tavLst>
                                    </p:anim>
                                    <p:anim calcmode="lin" valueType="num">
                                      <p:cBhvr>
                                        <p:cTn id="44"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9"/>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3907" grpId="0" build="p"/>
      <p:bldP spid="2" grpId="0"/>
      <p:bldP spid="3" grpId="0"/>
      <p:bldP spid="4" grpId="0"/>
      <p:bldP spid="5" grpId="0"/>
      <p:bldP spid="6" grpId="0"/>
    </p:bld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Rectangle 2"/>
          <p:cNvSpPr>
            <a:spLocks noGrp="1"/>
          </p:cNvSpPr>
          <p:nvPr>
            <p:ph type="title"/>
          </p:nvPr>
        </p:nvSpPr>
        <p:spPr>
          <a:xfrm>
            <a:off x="500063" y="152400"/>
            <a:ext cx="8001000" cy="685800"/>
          </a:xfrm>
          <a:noFill/>
          <a:ln w="9525">
            <a:noFill/>
          </a:ln>
        </p:spPr>
        <p:txBody>
          <a:bodyPr vert="horz" wrap="square" lIns="91440" tIns="45720" rIns="91440" bIns="45720" rtlCol="0" anchor="ctr" anchorCtr="0">
            <a:noAutofit/>
          </a:bodyPr>
          <a:lstStyle/>
          <a:p>
            <a:pPr lvl="0" algn="ctr" eaLnBrk="1" hangingPunct="1">
              <a:buClrTx/>
              <a:buSzTx/>
              <a:buFontTx/>
            </a:pPr>
            <a:r>
              <a:rPr lang="zh-CN" altLang="en-US" sz="4800" b="0" dirty="0">
                <a:latin typeface="黑体" panose="02010609060101010101" pitchFamily="2" charset="-122"/>
                <a:ea typeface="黑体" panose="02010609060101010101" pitchFamily="2" charset="-122"/>
                <a:sym typeface="+mn-ea"/>
              </a:rPr>
              <a:t>有条件更新</a:t>
            </a:r>
          </a:p>
        </p:txBody>
      </p:sp>
      <p:sp>
        <p:nvSpPr>
          <p:cNvPr id="124931" name="Rectangle 3"/>
          <p:cNvSpPr>
            <a:spLocks noGrp="1"/>
          </p:cNvSpPr>
          <p:nvPr>
            <p:ph idx="1"/>
          </p:nvPr>
        </p:nvSpPr>
        <p:spPr>
          <a:xfrm>
            <a:off x="395288" y="1412875"/>
            <a:ext cx="8280400" cy="2088133"/>
          </a:xfrm>
        </p:spPr>
        <p:txBody>
          <a:bodyPr vert="horz" wrap="square" lIns="91440" tIns="45720" rIns="91440" bIns="45720" anchor="t" anchorCtr="0"/>
          <a:lstStyle/>
          <a:p>
            <a:pPr eaLnBrk="1" hangingPunct="1"/>
            <a:r>
              <a:rPr lang="en-US" altLang="zh-CN" sz="3600" b="1" dirty="0">
                <a:solidFill>
                  <a:srgbClr val="FF0000"/>
                </a:solidFill>
                <a:cs typeface="等线" panose="02010600030101010101" charset="-122"/>
              </a:rPr>
              <a:t>(1)</a:t>
            </a:r>
            <a:r>
              <a:rPr lang="zh-CN" altLang="en-US" sz="3600" b="1" dirty="0">
                <a:solidFill>
                  <a:srgbClr val="FF0000"/>
                </a:solidFill>
                <a:cs typeface="等线" panose="02010600030101010101" charset="-122"/>
              </a:rPr>
              <a:t>基于本表条件的更新</a:t>
            </a:r>
          </a:p>
          <a:p>
            <a:pPr marL="0" indent="0" eaLnBrk="1" hangingPunct="1">
              <a:spcBef>
                <a:spcPts val="1800"/>
              </a:spcBef>
              <a:buNone/>
            </a:pPr>
            <a:r>
              <a:rPr lang="zh-CN" altLang="en-US" sz="3600" b="1" dirty="0">
                <a:cs typeface="等线" panose="02010600030101010101" charset="-122"/>
              </a:rPr>
              <a:t>例</a:t>
            </a:r>
            <a:r>
              <a:rPr lang="en-US" altLang="zh-CN" sz="3600" b="1" dirty="0" smtClean="0">
                <a:cs typeface="等线" panose="02010600030101010101" charset="-122"/>
              </a:rPr>
              <a:t>4.77 </a:t>
            </a:r>
            <a:r>
              <a:rPr lang="zh-CN" altLang="en-US" sz="3600" b="1" dirty="0" smtClean="0">
                <a:cs typeface="等线" panose="02010600030101010101" charset="-122"/>
              </a:rPr>
              <a:t>将</a:t>
            </a:r>
            <a:r>
              <a:rPr lang="zh-CN" altLang="en-US" sz="3600" b="1" dirty="0">
                <a:cs typeface="等线" panose="02010600030101010101" charset="-122"/>
              </a:rPr>
              <a:t>学号为“</a:t>
            </a:r>
            <a:r>
              <a:rPr lang="en-US" altLang="zh-CN" sz="3600" b="1" dirty="0">
                <a:cs typeface="等线" panose="02010600030101010101" charset="-122"/>
              </a:rPr>
              <a:t>0611104”</a:t>
            </a:r>
            <a:r>
              <a:rPr lang="zh-CN" altLang="en-US" sz="3600" b="1" dirty="0">
                <a:cs typeface="等线" panose="02010600030101010101" charset="-122"/>
              </a:rPr>
              <a:t>学生的年龄改为</a:t>
            </a:r>
            <a:r>
              <a:rPr lang="en-US" altLang="zh-CN" sz="3600" b="1" dirty="0">
                <a:cs typeface="等线" panose="02010600030101010101" charset="-122"/>
              </a:rPr>
              <a:t>18</a:t>
            </a:r>
            <a:r>
              <a:rPr lang="zh-CN" altLang="en-US" sz="3600" b="1" dirty="0">
                <a:cs typeface="等线" panose="02010600030101010101" charset="-122"/>
              </a:rPr>
              <a:t>岁。</a:t>
            </a:r>
            <a:r>
              <a:rPr lang="zh-CN" altLang="en-US" b="1" dirty="0">
                <a:cs typeface="等线" panose="02010600030101010101" charset="-122"/>
              </a:rPr>
              <a:t> </a:t>
            </a:r>
            <a:endParaRPr lang="zh-CN" altLang="en-US" sz="3600" b="1" dirty="0">
              <a:cs typeface="等线" panose="02010600030101010101" charset="-122"/>
            </a:endParaRPr>
          </a:p>
          <a:p>
            <a:pPr eaLnBrk="1" hangingPunct="1">
              <a:buFont typeface="Wingdings" panose="05000000000000000000" pitchFamily="2" charset="2"/>
              <a:buNone/>
            </a:pPr>
            <a:r>
              <a:rPr lang="zh-CN" altLang="en-US" sz="3200" b="1" dirty="0">
                <a:solidFill>
                  <a:srgbClr val="0000FF"/>
                </a:solidFill>
                <a:cs typeface="等线" panose="02010600030101010101" charset="-122"/>
              </a:rPr>
              <a:t>	</a:t>
            </a:r>
            <a:endParaRPr lang="zh-CN" altLang="en-US" sz="3200" b="1" dirty="0">
              <a:solidFill>
                <a:srgbClr val="009900"/>
              </a:solidFill>
              <a:cs typeface="等线" panose="02010600030101010101" charset="-122"/>
            </a:endParaRPr>
          </a:p>
        </p:txBody>
      </p:sp>
      <p:sp>
        <p:nvSpPr>
          <p:cNvPr id="2" name="矩形 1"/>
          <p:cNvSpPr/>
          <p:nvPr/>
        </p:nvSpPr>
        <p:spPr>
          <a:xfrm>
            <a:off x="1187624" y="3501008"/>
            <a:ext cx="7344816" cy="707886"/>
          </a:xfrm>
          <a:prstGeom prst="rect">
            <a:avLst/>
          </a:prstGeom>
        </p:spPr>
        <p:txBody>
          <a:bodyPr wrap="square">
            <a:spAutoFit/>
          </a:bodyPr>
          <a:lstStyle/>
          <a:p>
            <a:pPr algn="l"/>
            <a:r>
              <a:rPr lang="en-US" altLang="zh-CN" sz="4000" dirty="0">
                <a:solidFill>
                  <a:srgbClr val="0000FF"/>
                </a:solidFill>
                <a:latin typeface="Times New Roman" pitchFamily="18" charset="0"/>
                <a:ea typeface="宋体" pitchFamily="2" charset="-122"/>
                <a:cs typeface="Times New Roman" pitchFamily="18" charset="0"/>
              </a:rPr>
              <a:t>UPDATE </a:t>
            </a:r>
            <a:r>
              <a:rPr lang="en-US" altLang="zh-CN" sz="4000" dirty="0" smtClean="0">
                <a:solidFill>
                  <a:srgbClr val="0000FF"/>
                </a:solidFill>
                <a:latin typeface="Times New Roman" pitchFamily="18" charset="0"/>
                <a:ea typeface="宋体" pitchFamily="2" charset="-122"/>
                <a:cs typeface="Times New Roman" pitchFamily="18" charset="0"/>
              </a:rPr>
              <a:t>Student   </a:t>
            </a:r>
            <a:endParaRPr lang="zh-CN" altLang="en-US" sz="4000" dirty="0">
              <a:solidFill>
                <a:srgbClr val="009900"/>
              </a:solidFill>
              <a:latin typeface="Times New Roman" pitchFamily="18" charset="0"/>
              <a:ea typeface="宋体" pitchFamily="2" charset="-122"/>
              <a:cs typeface="Times New Roman" pitchFamily="18" charset="0"/>
            </a:endParaRPr>
          </a:p>
        </p:txBody>
      </p:sp>
      <p:sp>
        <p:nvSpPr>
          <p:cNvPr id="3" name="矩形 2"/>
          <p:cNvSpPr/>
          <p:nvPr/>
        </p:nvSpPr>
        <p:spPr>
          <a:xfrm>
            <a:off x="1403648" y="4199428"/>
            <a:ext cx="6480720" cy="707886"/>
          </a:xfrm>
          <a:prstGeom prst="rect">
            <a:avLst/>
          </a:prstGeom>
        </p:spPr>
        <p:txBody>
          <a:bodyPr wrap="square">
            <a:spAutoFit/>
          </a:bodyPr>
          <a:lstStyle/>
          <a:p>
            <a:pPr algn="l">
              <a:spcBef>
                <a:spcPts val="600"/>
              </a:spcBef>
            </a:pPr>
            <a:r>
              <a:rPr lang="en-US" altLang="zh-CN" sz="4000" dirty="0">
                <a:solidFill>
                  <a:srgbClr val="0000FF"/>
                </a:solidFill>
                <a:latin typeface="Times New Roman" pitchFamily="18" charset="0"/>
                <a:ea typeface="宋体" pitchFamily="2" charset="-122"/>
                <a:cs typeface="Times New Roman" pitchFamily="18" charset="0"/>
              </a:rPr>
              <a:t>SET Sage = </a:t>
            </a:r>
            <a:r>
              <a:rPr lang="en-US" altLang="zh-CN" sz="4000" dirty="0" smtClean="0">
                <a:solidFill>
                  <a:srgbClr val="0000FF"/>
                </a:solidFill>
                <a:latin typeface="Times New Roman" pitchFamily="18" charset="0"/>
                <a:ea typeface="宋体" pitchFamily="2" charset="-122"/>
                <a:cs typeface="Times New Roman" pitchFamily="18" charset="0"/>
              </a:rPr>
              <a:t>18   </a:t>
            </a:r>
            <a:endParaRPr lang="zh-CN" altLang="en-US" sz="4000" dirty="0">
              <a:solidFill>
                <a:srgbClr val="009900"/>
              </a:solidFill>
              <a:latin typeface="Times New Roman" pitchFamily="18" charset="0"/>
              <a:ea typeface="宋体" pitchFamily="2" charset="-122"/>
              <a:cs typeface="Times New Roman" pitchFamily="18" charset="0"/>
            </a:endParaRPr>
          </a:p>
        </p:txBody>
      </p:sp>
      <p:sp>
        <p:nvSpPr>
          <p:cNvPr id="4" name="矩形 3"/>
          <p:cNvSpPr/>
          <p:nvPr/>
        </p:nvSpPr>
        <p:spPr>
          <a:xfrm>
            <a:off x="1420816" y="4907314"/>
            <a:ext cx="5548698" cy="707886"/>
          </a:xfrm>
          <a:prstGeom prst="rect">
            <a:avLst/>
          </a:prstGeom>
        </p:spPr>
        <p:txBody>
          <a:bodyPr wrap="none">
            <a:spAutoFit/>
          </a:bodyPr>
          <a:lstStyle/>
          <a:p>
            <a:pPr algn="l">
              <a:spcBef>
                <a:spcPts val="600"/>
              </a:spcBef>
            </a:pPr>
            <a:r>
              <a:rPr lang="en-US" altLang="zh-CN" sz="4000" dirty="0">
                <a:solidFill>
                  <a:srgbClr val="0000FF"/>
                </a:solidFill>
                <a:latin typeface="Times New Roman" pitchFamily="18" charset="0"/>
                <a:ea typeface="宋体" pitchFamily="2" charset="-122"/>
                <a:cs typeface="Times New Roman" pitchFamily="18" charset="0"/>
              </a:rPr>
              <a:t>WHERE </a:t>
            </a:r>
            <a:r>
              <a:rPr lang="en-US" altLang="zh-CN" sz="4000" dirty="0" err="1">
                <a:solidFill>
                  <a:srgbClr val="0000FF"/>
                </a:solidFill>
                <a:latin typeface="Times New Roman" pitchFamily="18" charset="0"/>
                <a:ea typeface="宋体" pitchFamily="2" charset="-122"/>
                <a:cs typeface="Times New Roman" pitchFamily="18" charset="0"/>
              </a:rPr>
              <a:t>Sno</a:t>
            </a:r>
            <a:r>
              <a:rPr lang="en-US" altLang="zh-CN" sz="4000" dirty="0">
                <a:solidFill>
                  <a:srgbClr val="0000FF"/>
                </a:solidFill>
                <a:latin typeface="Times New Roman" pitchFamily="18" charset="0"/>
                <a:ea typeface="宋体" pitchFamily="2" charset="-122"/>
                <a:cs typeface="Times New Roman" pitchFamily="18" charset="0"/>
              </a:rPr>
              <a:t> = '0611104'</a:t>
            </a:r>
            <a:r>
              <a:rPr lang="en-US" altLang="zh-CN" sz="4000" dirty="0">
                <a:solidFill>
                  <a:srgbClr val="009900"/>
                </a:solidFill>
                <a:latin typeface="Times New Roman" pitchFamily="18" charset="0"/>
                <a:ea typeface="宋体" pitchFamily="2" charset="-122"/>
                <a:cs typeface="Times New Roman" pitchFamily="18" charset="0"/>
              </a:rPr>
              <a:t> </a:t>
            </a:r>
            <a:endParaRPr lang="zh-CN" altLang="en-US" sz="4000" dirty="0">
              <a:solidFill>
                <a:srgbClr val="009900"/>
              </a:solidFill>
              <a:latin typeface="Times New Roman" pitchFamily="18" charset="0"/>
              <a:ea typeface="宋体" pitchFamily="2" charset="-122"/>
              <a:cs typeface="Times New Roman" pitchFamily="18" charset="0"/>
            </a:endParaRPr>
          </a:p>
        </p:txBody>
      </p:sp>
    </p:spTree>
    <p:extLst>
      <p:ext uri="{BB962C8B-B14F-4D97-AF65-F5344CB8AC3E}">
        <p14:creationId xmlns:p14="http://schemas.microsoft.com/office/powerpoint/2010/main" val="11596233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124931">
                                            <p:txEl>
                                              <p:pRg st="0" end="0"/>
                                            </p:txEl>
                                          </p:spTgt>
                                        </p:tgtEl>
                                        <p:attrNameLst>
                                          <p:attrName>style.visibility</p:attrName>
                                        </p:attrNameLst>
                                      </p:cBhvr>
                                      <p:to>
                                        <p:strVal val="visible"/>
                                      </p:to>
                                    </p:set>
                                    <p:animEffect transition="in" filter="randombar(horizontal)">
                                      <p:cBhvr>
                                        <p:cTn id="7" dur="500"/>
                                        <p:tgtEl>
                                          <p:spTgt spid="12493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124931">
                                            <p:txEl>
                                              <p:pRg st="1" end="1"/>
                                            </p:txEl>
                                          </p:spTgt>
                                        </p:tgtEl>
                                        <p:attrNameLst>
                                          <p:attrName>style.visibility</p:attrName>
                                        </p:attrNameLst>
                                      </p:cBhvr>
                                      <p:to>
                                        <p:strVal val="visible"/>
                                      </p:to>
                                    </p:set>
                                    <p:animEffect transition="in" filter="randombar(horizontal)">
                                      <p:cBhvr>
                                        <p:cTn id="12" dur="500"/>
                                        <p:tgtEl>
                                          <p:spTgt spid="12493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grpId="0" nodeType="clickEffect">
                                  <p:stCondLst>
                                    <p:cond delay="0"/>
                                  </p:stCondLst>
                                  <p:childTnLst>
                                    <p:set>
                                      <p:cBhvr>
                                        <p:cTn id="16" dur="1" fill="hold">
                                          <p:stCondLst>
                                            <p:cond delay="0"/>
                                          </p:stCondLst>
                                        </p:cTn>
                                        <p:tgtEl>
                                          <p:spTgt spid="124931">
                                            <p:txEl>
                                              <p:pRg st="2" end="2"/>
                                            </p:txEl>
                                          </p:spTgt>
                                        </p:tgtEl>
                                        <p:attrNameLst>
                                          <p:attrName>style.visibility</p:attrName>
                                        </p:attrNameLst>
                                      </p:cBhvr>
                                      <p:to>
                                        <p:strVal val="visible"/>
                                      </p:to>
                                    </p:set>
                                    <p:animEffect transition="in" filter="randombar(horizontal)">
                                      <p:cBhvr>
                                        <p:cTn id="17" dur="500"/>
                                        <p:tgtEl>
                                          <p:spTgt spid="124931">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grpId="0" nodeType="clickEffect">
                                  <p:stCondLst>
                                    <p:cond delay="0"/>
                                  </p:stCondLst>
                                  <p:childTnLst>
                                    <p:set>
                                      <p:cBhvr>
                                        <p:cTn id="21" dur="1" fill="hold">
                                          <p:stCondLst>
                                            <p:cond delay="0"/>
                                          </p:stCondLst>
                                        </p:cTn>
                                        <p:tgtEl>
                                          <p:spTgt spid="2"/>
                                        </p:tgtEl>
                                        <p:attrNameLst>
                                          <p:attrName>style.visibility</p:attrName>
                                        </p:attrNameLst>
                                      </p:cBhvr>
                                      <p:to>
                                        <p:strVal val="visible"/>
                                      </p:to>
                                    </p:set>
                                    <p:animEffect transition="in" filter="barn(inVertical)">
                                      <p:cBhvr>
                                        <p:cTn id="22" dur="500"/>
                                        <p:tgtEl>
                                          <p:spTgt spid="2"/>
                                        </p:tgtEl>
                                      </p:cBhvr>
                                    </p:animEffect>
                                  </p:childTnLst>
                                </p:cTn>
                              </p:par>
                            </p:childTnLst>
                          </p:cTn>
                        </p:par>
                      </p:childTnLst>
                    </p:cTn>
                  </p:par>
                  <p:par>
                    <p:cTn id="23" fill="hold">
                      <p:stCondLst>
                        <p:cond delay="indefinite"/>
                      </p:stCondLst>
                      <p:childTnLst>
                        <p:par>
                          <p:cTn id="24" fill="hold">
                            <p:stCondLst>
                              <p:cond delay="0"/>
                            </p:stCondLst>
                            <p:childTnLst>
                              <p:par>
                                <p:cTn id="25" presetID="42" presetClass="entr" presetSubtype="0" fill="hold" grpId="0" nodeType="clickEffect">
                                  <p:stCondLst>
                                    <p:cond delay="0"/>
                                  </p:stCondLst>
                                  <p:childTnLst>
                                    <p:set>
                                      <p:cBhvr>
                                        <p:cTn id="26" dur="1" fill="hold">
                                          <p:stCondLst>
                                            <p:cond delay="0"/>
                                          </p:stCondLst>
                                        </p:cTn>
                                        <p:tgtEl>
                                          <p:spTgt spid="3"/>
                                        </p:tgtEl>
                                        <p:attrNameLst>
                                          <p:attrName>style.visibility</p:attrName>
                                        </p:attrNameLst>
                                      </p:cBhvr>
                                      <p:to>
                                        <p:strVal val="visible"/>
                                      </p:to>
                                    </p:set>
                                    <p:animEffect transition="in" filter="fade">
                                      <p:cBhvr>
                                        <p:cTn id="27" dur="1000"/>
                                        <p:tgtEl>
                                          <p:spTgt spid="3"/>
                                        </p:tgtEl>
                                      </p:cBhvr>
                                    </p:animEffect>
                                    <p:anim calcmode="lin" valueType="num">
                                      <p:cBhvr>
                                        <p:cTn id="28" dur="1000" fill="hold"/>
                                        <p:tgtEl>
                                          <p:spTgt spid="3"/>
                                        </p:tgtEl>
                                        <p:attrNameLst>
                                          <p:attrName>ppt_x</p:attrName>
                                        </p:attrNameLst>
                                      </p:cBhvr>
                                      <p:tavLst>
                                        <p:tav tm="0">
                                          <p:val>
                                            <p:strVal val="#ppt_x"/>
                                          </p:val>
                                        </p:tav>
                                        <p:tav tm="100000">
                                          <p:val>
                                            <p:strVal val="#ppt_x"/>
                                          </p:val>
                                        </p:tav>
                                      </p:tavLst>
                                    </p:anim>
                                    <p:anim calcmode="lin" valueType="num">
                                      <p:cBhvr>
                                        <p:cTn id="2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42" presetClass="entr" presetSubtype="0" fill="hold" grpId="0" nodeType="clickEffect">
                                  <p:stCondLst>
                                    <p:cond delay="0"/>
                                  </p:stCondLst>
                                  <p:childTnLst>
                                    <p:set>
                                      <p:cBhvr>
                                        <p:cTn id="33" dur="1" fill="hold">
                                          <p:stCondLst>
                                            <p:cond delay="0"/>
                                          </p:stCondLst>
                                        </p:cTn>
                                        <p:tgtEl>
                                          <p:spTgt spid="4"/>
                                        </p:tgtEl>
                                        <p:attrNameLst>
                                          <p:attrName>style.visibility</p:attrName>
                                        </p:attrNameLst>
                                      </p:cBhvr>
                                      <p:to>
                                        <p:strVal val="visible"/>
                                      </p:to>
                                    </p:set>
                                    <p:animEffect transition="in" filter="fade">
                                      <p:cBhvr>
                                        <p:cTn id="34" dur="1000"/>
                                        <p:tgtEl>
                                          <p:spTgt spid="4"/>
                                        </p:tgtEl>
                                      </p:cBhvr>
                                    </p:animEffect>
                                    <p:anim calcmode="lin" valueType="num">
                                      <p:cBhvr>
                                        <p:cTn id="35" dur="1000" fill="hold"/>
                                        <p:tgtEl>
                                          <p:spTgt spid="4"/>
                                        </p:tgtEl>
                                        <p:attrNameLst>
                                          <p:attrName>ppt_x</p:attrName>
                                        </p:attrNameLst>
                                      </p:cBhvr>
                                      <p:tavLst>
                                        <p:tav tm="0">
                                          <p:val>
                                            <p:strVal val="#ppt_x"/>
                                          </p:val>
                                        </p:tav>
                                        <p:tav tm="100000">
                                          <p:val>
                                            <p:strVal val="#ppt_x"/>
                                          </p:val>
                                        </p:tav>
                                      </p:tavLst>
                                    </p:anim>
                                    <p:anim calcmode="lin" valueType="num">
                                      <p:cBhvr>
                                        <p:cTn id="36"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4931" grpId="0" build="p"/>
      <p:bldP spid="2" grpId="0"/>
      <p:bldP spid="3" grpId="0"/>
      <p:bldP spid="4" grpId="0"/>
    </p:bld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Rectangle 2"/>
          <p:cNvSpPr>
            <a:spLocks noGrp="1"/>
          </p:cNvSpPr>
          <p:nvPr>
            <p:ph type="title"/>
          </p:nvPr>
        </p:nvSpPr>
        <p:spPr>
          <a:xfrm>
            <a:off x="500063" y="152400"/>
            <a:ext cx="8001000" cy="685800"/>
          </a:xfrm>
          <a:noFill/>
          <a:ln w="9525">
            <a:noFill/>
          </a:ln>
        </p:spPr>
        <p:txBody>
          <a:bodyPr vert="horz" wrap="square" lIns="91440" tIns="45720" rIns="91440" bIns="45720" rtlCol="0" anchor="ctr" anchorCtr="0">
            <a:noAutofit/>
          </a:bodyPr>
          <a:lstStyle/>
          <a:p>
            <a:pPr lvl="0" algn="ctr" eaLnBrk="1" hangingPunct="1">
              <a:buClrTx/>
              <a:buSzTx/>
              <a:buFontTx/>
            </a:pPr>
            <a:r>
              <a:rPr lang="zh-CN" altLang="en-US" sz="4000" b="0" dirty="0">
                <a:latin typeface="黑体" panose="02010609060101010101" pitchFamily="2" charset="-122"/>
                <a:ea typeface="黑体" panose="02010609060101010101" pitchFamily="2" charset="-122"/>
                <a:sym typeface="+mn-ea"/>
              </a:rPr>
              <a:t>2. 基于其他表条件的更新</a:t>
            </a:r>
          </a:p>
        </p:txBody>
      </p:sp>
      <p:sp>
        <p:nvSpPr>
          <p:cNvPr id="125955" name="Rectangle 3"/>
          <p:cNvSpPr>
            <a:spLocks noGrp="1"/>
          </p:cNvSpPr>
          <p:nvPr>
            <p:ph idx="1"/>
          </p:nvPr>
        </p:nvSpPr>
        <p:spPr>
          <a:xfrm>
            <a:off x="285750" y="1214438"/>
            <a:ext cx="8572500" cy="630386"/>
          </a:xfrm>
        </p:spPr>
        <p:txBody>
          <a:bodyPr vert="horz" wrap="square" lIns="91440" tIns="45720" rIns="91440" bIns="45720" anchor="t" anchorCtr="0"/>
          <a:lstStyle/>
          <a:p>
            <a:pPr marL="0" indent="0" eaLnBrk="1" hangingPunct="1">
              <a:spcBef>
                <a:spcPts val="600"/>
              </a:spcBef>
              <a:buNone/>
            </a:pPr>
            <a:r>
              <a:rPr lang="zh-CN" altLang="en-US" b="1" dirty="0" smtClean="0">
                <a:cs typeface="等线" panose="02010600030101010101" charset="-122"/>
              </a:rPr>
              <a:t>例</a:t>
            </a:r>
            <a:r>
              <a:rPr lang="en-US" altLang="zh-CN" b="1" dirty="0" smtClean="0">
                <a:cs typeface="等线" panose="02010600030101010101" charset="-122"/>
              </a:rPr>
              <a:t>4.78 </a:t>
            </a:r>
            <a:r>
              <a:rPr lang="zh-CN" altLang="en-US" b="1" dirty="0" smtClean="0">
                <a:cs typeface="等线" panose="02010600030101010101" charset="-122"/>
              </a:rPr>
              <a:t>将</a:t>
            </a:r>
            <a:r>
              <a:rPr lang="zh-CN" altLang="en-US" b="1" dirty="0">
                <a:cs typeface="等线" panose="02010600030101010101" charset="-122"/>
              </a:rPr>
              <a:t>计算机系全体学生的成绩加</a:t>
            </a:r>
            <a:r>
              <a:rPr lang="en-US" altLang="zh-CN" b="1" dirty="0">
                <a:cs typeface="等线" panose="02010600030101010101" charset="-122"/>
              </a:rPr>
              <a:t>5</a:t>
            </a:r>
            <a:r>
              <a:rPr lang="zh-CN" altLang="en-US" b="1" dirty="0">
                <a:cs typeface="等线" panose="02010600030101010101" charset="-122"/>
              </a:rPr>
              <a:t>分</a:t>
            </a:r>
            <a:r>
              <a:rPr lang="zh-CN" altLang="en-US" b="1" dirty="0" smtClean="0">
                <a:cs typeface="等线" panose="02010600030101010101" charset="-122"/>
              </a:rPr>
              <a:t>。</a:t>
            </a:r>
            <a:endParaRPr lang="zh-CN" altLang="en-US" b="1" dirty="0">
              <a:cs typeface="等线" panose="02010600030101010101" charset="-122"/>
            </a:endParaRPr>
          </a:p>
        </p:txBody>
      </p:sp>
      <p:sp>
        <p:nvSpPr>
          <p:cNvPr id="2" name="矩形 1"/>
          <p:cNvSpPr/>
          <p:nvPr/>
        </p:nvSpPr>
        <p:spPr>
          <a:xfrm>
            <a:off x="1259632" y="2768734"/>
            <a:ext cx="5878853" cy="707886"/>
          </a:xfrm>
          <a:prstGeom prst="rect">
            <a:avLst/>
          </a:prstGeom>
        </p:spPr>
        <p:txBody>
          <a:bodyPr wrap="none">
            <a:spAutoFit/>
          </a:bodyPr>
          <a:lstStyle/>
          <a:p>
            <a:pPr lvl="1">
              <a:spcBef>
                <a:spcPts val="600"/>
              </a:spcBef>
            </a:pPr>
            <a:r>
              <a:rPr lang="en-US" altLang="zh-CN" sz="4000" b="1" dirty="0">
                <a:solidFill>
                  <a:srgbClr val="0000FF"/>
                </a:solidFill>
                <a:latin typeface="Times New Roman" pitchFamily="18" charset="0"/>
                <a:ea typeface="宋体" pitchFamily="2" charset="-122"/>
                <a:cs typeface="Times New Roman" pitchFamily="18" charset="0"/>
              </a:rPr>
              <a:t>SET Grade = Grade + 5</a:t>
            </a:r>
          </a:p>
        </p:txBody>
      </p:sp>
      <p:sp>
        <p:nvSpPr>
          <p:cNvPr id="3" name="矩形 2"/>
          <p:cNvSpPr/>
          <p:nvPr/>
        </p:nvSpPr>
        <p:spPr>
          <a:xfrm>
            <a:off x="1862784" y="4833380"/>
            <a:ext cx="6489277" cy="707886"/>
          </a:xfrm>
          <a:prstGeom prst="rect">
            <a:avLst/>
          </a:prstGeom>
        </p:spPr>
        <p:txBody>
          <a:bodyPr wrap="none">
            <a:spAutoFit/>
          </a:bodyPr>
          <a:lstStyle/>
          <a:p>
            <a:r>
              <a:rPr lang="en-US" altLang="zh-CN" dirty="0"/>
              <a:t> </a:t>
            </a:r>
            <a:r>
              <a:rPr lang="en-US" altLang="zh-CN" sz="4000" b="1" dirty="0">
                <a:solidFill>
                  <a:srgbClr val="0000FF"/>
                </a:solidFill>
                <a:latin typeface="Times New Roman" pitchFamily="18" charset="0"/>
                <a:ea typeface="宋体" pitchFamily="2" charset="-122"/>
                <a:cs typeface="Times New Roman" pitchFamily="18" charset="0"/>
              </a:rPr>
              <a:t>WHERE </a:t>
            </a:r>
            <a:r>
              <a:rPr lang="en-US" altLang="zh-CN" sz="4000" b="1" dirty="0" err="1">
                <a:solidFill>
                  <a:srgbClr val="0000FF"/>
                </a:solidFill>
                <a:latin typeface="Times New Roman" pitchFamily="18" charset="0"/>
                <a:ea typeface="宋体" pitchFamily="2" charset="-122"/>
                <a:cs typeface="Times New Roman" pitchFamily="18" charset="0"/>
              </a:rPr>
              <a:t>Sdept</a:t>
            </a:r>
            <a:r>
              <a:rPr lang="en-US" altLang="zh-CN" sz="4000" b="1" dirty="0">
                <a:solidFill>
                  <a:srgbClr val="0000FF"/>
                </a:solidFill>
                <a:latin typeface="Times New Roman" pitchFamily="18" charset="0"/>
                <a:ea typeface="宋体" pitchFamily="2" charset="-122"/>
                <a:cs typeface="Times New Roman" pitchFamily="18" charset="0"/>
              </a:rPr>
              <a:t> = '</a:t>
            </a:r>
            <a:r>
              <a:rPr lang="zh-CN" altLang="en-US" sz="4000" b="1" dirty="0">
                <a:solidFill>
                  <a:srgbClr val="0000FF"/>
                </a:solidFill>
                <a:latin typeface="Times New Roman" pitchFamily="18" charset="0"/>
                <a:ea typeface="宋体" pitchFamily="2" charset="-122"/>
                <a:cs typeface="Times New Roman" pitchFamily="18" charset="0"/>
              </a:rPr>
              <a:t>计算机系</a:t>
            </a:r>
            <a:r>
              <a:rPr lang="en-US" altLang="zh-CN" sz="4000" b="1" dirty="0">
                <a:solidFill>
                  <a:srgbClr val="0000FF"/>
                </a:solidFill>
                <a:latin typeface="Times New Roman" pitchFamily="18" charset="0"/>
                <a:ea typeface="宋体" pitchFamily="2" charset="-122"/>
                <a:cs typeface="Times New Roman" pitchFamily="18" charset="0"/>
              </a:rPr>
              <a:t>'</a:t>
            </a:r>
            <a:endParaRPr lang="zh-CN" altLang="en-US" sz="4000" b="1" dirty="0">
              <a:solidFill>
                <a:srgbClr val="0000FF"/>
              </a:solidFill>
              <a:latin typeface="Times New Roman" pitchFamily="18" charset="0"/>
              <a:ea typeface="宋体" pitchFamily="2" charset="-122"/>
              <a:cs typeface="Times New Roman" pitchFamily="18" charset="0"/>
            </a:endParaRPr>
          </a:p>
        </p:txBody>
      </p:sp>
      <p:sp>
        <p:nvSpPr>
          <p:cNvPr id="4" name="矩形 3"/>
          <p:cNvSpPr/>
          <p:nvPr/>
        </p:nvSpPr>
        <p:spPr>
          <a:xfrm>
            <a:off x="1835696" y="3461407"/>
            <a:ext cx="7308304" cy="1323439"/>
          </a:xfrm>
          <a:prstGeom prst="rect">
            <a:avLst/>
          </a:prstGeom>
        </p:spPr>
        <p:txBody>
          <a:bodyPr wrap="square">
            <a:spAutoFit/>
          </a:bodyPr>
          <a:lstStyle/>
          <a:p>
            <a:pPr algn="l"/>
            <a:r>
              <a:rPr lang="en-US" altLang="zh-CN" sz="4000" b="1" dirty="0" smtClean="0">
                <a:solidFill>
                  <a:srgbClr val="0000FF"/>
                </a:solidFill>
                <a:latin typeface="Times New Roman" pitchFamily="18" charset="0"/>
                <a:ea typeface="宋体" pitchFamily="2" charset="-122"/>
                <a:cs typeface="Times New Roman" pitchFamily="18" charset="0"/>
              </a:rPr>
              <a:t>FROM </a:t>
            </a:r>
            <a:r>
              <a:rPr lang="en-US" altLang="zh-CN" sz="4000" b="1" dirty="0">
                <a:solidFill>
                  <a:srgbClr val="0000FF"/>
                </a:solidFill>
                <a:latin typeface="Times New Roman" pitchFamily="18" charset="0"/>
                <a:ea typeface="宋体" pitchFamily="2" charset="-122"/>
                <a:cs typeface="Times New Roman" pitchFamily="18" charset="0"/>
              </a:rPr>
              <a:t>SC JOIN Student </a:t>
            </a:r>
            <a:endParaRPr lang="en-US" altLang="zh-CN" sz="4000" b="1" dirty="0" smtClean="0">
              <a:solidFill>
                <a:srgbClr val="0000FF"/>
              </a:solidFill>
              <a:latin typeface="Times New Roman" pitchFamily="18" charset="0"/>
              <a:ea typeface="宋体" pitchFamily="2" charset="-122"/>
              <a:cs typeface="Times New Roman" pitchFamily="18" charset="0"/>
            </a:endParaRPr>
          </a:p>
          <a:p>
            <a:r>
              <a:rPr lang="en-US" altLang="zh-CN" sz="4000" b="1" dirty="0" smtClean="0">
                <a:solidFill>
                  <a:srgbClr val="0000FF"/>
                </a:solidFill>
                <a:latin typeface="Times New Roman" pitchFamily="18" charset="0"/>
                <a:ea typeface="宋体" pitchFamily="2" charset="-122"/>
                <a:cs typeface="Times New Roman" pitchFamily="18" charset="0"/>
              </a:rPr>
              <a:t>ON </a:t>
            </a:r>
            <a:r>
              <a:rPr lang="en-US" altLang="zh-CN" sz="4000" b="1" dirty="0" err="1">
                <a:solidFill>
                  <a:srgbClr val="0000FF"/>
                </a:solidFill>
                <a:latin typeface="Times New Roman" pitchFamily="18" charset="0"/>
                <a:ea typeface="宋体" pitchFamily="2" charset="-122"/>
                <a:cs typeface="Times New Roman" pitchFamily="18" charset="0"/>
              </a:rPr>
              <a:t>SC.Sno</a:t>
            </a:r>
            <a:r>
              <a:rPr lang="en-US" altLang="zh-CN" sz="4000" b="1" dirty="0">
                <a:solidFill>
                  <a:srgbClr val="0000FF"/>
                </a:solidFill>
                <a:latin typeface="Times New Roman" pitchFamily="18" charset="0"/>
                <a:ea typeface="宋体" pitchFamily="2" charset="-122"/>
                <a:cs typeface="Times New Roman" pitchFamily="18" charset="0"/>
              </a:rPr>
              <a:t> = </a:t>
            </a:r>
            <a:r>
              <a:rPr lang="en-US" altLang="zh-CN" sz="4000" b="1" dirty="0" err="1">
                <a:solidFill>
                  <a:srgbClr val="0000FF"/>
                </a:solidFill>
                <a:latin typeface="Times New Roman" pitchFamily="18" charset="0"/>
                <a:ea typeface="宋体" pitchFamily="2" charset="-122"/>
                <a:cs typeface="Times New Roman" pitchFamily="18" charset="0"/>
              </a:rPr>
              <a:t>Student.Sno</a:t>
            </a:r>
            <a:endParaRPr lang="zh-CN" altLang="en-US" sz="4000" b="1" dirty="0">
              <a:solidFill>
                <a:srgbClr val="0000FF"/>
              </a:solidFill>
              <a:latin typeface="Times New Roman" pitchFamily="18" charset="0"/>
              <a:ea typeface="宋体" pitchFamily="2" charset="-122"/>
              <a:cs typeface="Times New Roman" pitchFamily="18" charset="0"/>
            </a:endParaRPr>
          </a:p>
        </p:txBody>
      </p:sp>
      <p:sp>
        <p:nvSpPr>
          <p:cNvPr id="5" name="矩形 4"/>
          <p:cNvSpPr/>
          <p:nvPr/>
        </p:nvSpPr>
        <p:spPr>
          <a:xfrm>
            <a:off x="274298" y="2060848"/>
            <a:ext cx="3626698" cy="707886"/>
          </a:xfrm>
          <a:prstGeom prst="rect">
            <a:avLst/>
          </a:prstGeom>
        </p:spPr>
        <p:txBody>
          <a:bodyPr wrap="none">
            <a:spAutoFit/>
          </a:bodyPr>
          <a:lstStyle/>
          <a:p>
            <a:pPr lvl="1">
              <a:spcBef>
                <a:spcPts val="600"/>
              </a:spcBef>
            </a:pPr>
            <a:r>
              <a:rPr lang="en-US" altLang="zh-CN" sz="4000" b="1" dirty="0">
                <a:solidFill>
                  <a:srgbClr val="0000FF"/>
                </a:solidFill>
                <a:latin typeface="Times New Roman" pitchFamily="18" charset="0"/>
                <a:ea typeface="宋体" pitchFamily="2" charset="-122"/>
                <a:cs typeface="Times New Roman" pitchFamily="18" charset="0"/>
              </a:rPr>
              <a:t>UPDATE SC </a:t>
            </a:r>
            <a:endParaRPr lang="zh-CN" altLang="en-US" sz="4000" b="1" dirty="0">
              <a:solidFill>
                <a:srgbClr val="0000FF"/>
              </a:solidFill>
              <a:latin typeface="Times New Roman" pitchFamily="18" charset="0"/>
              <a:ea typeface="宋体" pitchFamily="2" charset="-122"/>
              <a:cs typeface="Times New Roman" pitchFamily="18" charset="0"/>
            </a:endParaRPr>
          </a:p>
        </p:txBody>
      </p:sp>
      <p:sp>
        <p:nvSpPr>
          <p:cNvPr id="8" name="矩形 7"/>
          <p:cNvSpPr/>
          <p:nvPr/>
        </p:nvSpPr>
        <p:spPr>
          <a:xfrm>
            <a:off x="6065770" y="5723674"/>
            <a:ext cx="1620957" cy="523220"/>
          </a:xfrm>
          <a:prstGeom prst="rect">
            <a:avLst/>
          </a:prstGeom>
        </p:spPr>
        <p:txBody>
          <a:bodyPr wrap="none">
            <a:spAutoFit/>
          </a:bodyPr>
          <a:lstStyle/>
          <a:p>
            <a:r>
              <a:rPr lang="zh-CN" altLang="en-US" sz="2800" b="1" dirty="0" smtClean="0">
                <a:solidFill>
                  <a:srgbClr val="000000"/>
                </a:solidFill>
                <a:latin typeface="宋体" pitchFamily="2" charset="-122"/>
                <a:ea typeface="宋体" pitchFamily="2" charset="-122"/>
              </a:rPr>
              <a:t>实验验证</a:t>
            </a:r>
            <a:endParaRPr lang="zh-CN" altLang="en-US" sz="2800" b="1" dirty="0">
              <a:solidFill>
                <a:srgbClr val="000000"/>
              </a:solidFill>
              <a:latin typeface="宋体" pitchFamily="2" charset="-122"/>
              <a:ea typeface="宋体" pitchFamily="2" charset="-122"/>
            </a:endParaRPr>
          </a:p>
        </p:txBody>
      </p:sp>
      <p:pic>
        <p:nvPicPr>
          <p:cNvPr id="9" name="Picture 4" descr="手1"/>
          <p:cNvPicPr>
            <a:picLocks noChangeAspect="1" noChangeArrowheads="1" noCrop="1"/>
          </p:cNvPicPr>
          <p:nvPr/>
        </p:nvPicPr>
        <p:blipFill>
          <a:blip r:embed="rId2">
            <a:extLst>
              <a:ext uri="{28A0092B-C50C-407E-A947-70E740481C1C}">
                <a14:useLocalDpi xmlns:a14="http://schemas.microsoft.com/office/drawing/2010/main" val="0"/>
              </a:ext>
            </a:extLst>
          </a:blip>
          <a:srcRect/>
          <a:stretch>
            <a:fillRect/>
          </a:stretch>
        </p:blipFill>
        <p:spPr bwMode="auto">
          <a:xfrm>
            <a:off x="5489848" y="5805264"/>
            <a:ext cx="1001953" cy="36004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755076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arn(inVertical)">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barn(inVertical)">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grpId="0"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barn(inVertical)">
                                      <p:cBhvr>
                                        <p:cTn id="17" dur="500"/>
                                        <p:tgtEl>
                                          <p:spTgt spid="3"/>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nodeType="clickEffect">
                                  <p:stCondLst>
                                    <p:cond delay="0"/>
                                  </p:stCondLst>
                                  <p:childTnLst>
                                    <p:set>
                                      <p:cBhvr>
                                        <p:cTn id="21" dur="1" fill="hold">
                                          <p:stCondLst>
                                            <p:cond delay="0"/>
                                          </p:stCondLst>
                                        </p:cTn>
                                        <p:tgtEl>
                                          <p:spTgt spid="9"/>
                                        </p:tgtEl>
                                        <p:attrNameLst>
                                          <p:attrName>style.visibility</p:attrName>
                                        </p:attrNameLst>
                                      </p:cBhvr>
                                      <p:to>
                                        <p:strVal val="visible"/>
                                      </p:to>
                                    </p:set>
                                  </p:childTnLst>
                                </p:cTn>
                              </p:par>
                              <p:par>
                                <p:cTn id="22" presetID="1" presetClass="entr" presetSubtype="0" fill="hold" grpId="0" nodeType="withEffect">
                                  <p:stCondLst>
                                    <p:cond delay="0"/>
                                  </p:stCondLst>
                                  <p:childTnLst>
                                    <p:set>
                                      <p:cBhvr>
                                        <p:cTn id="23" dur="1" fill="hold">
                                          <p:stCondLst>
                                            <p:cond delay="0"/>
                                          </p:stCondLst>
                                        </p:cTn>
                                        <p:tgtEl>
                                          <p:spTgt spid="8"/>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2" presetClass="entr" presetSubtype="2" fill="hold" grpId="0" nodeType="clickEffect">
                                  <p:stCondLst>
                                    <p:cond delay="0"/>
                                  </p:stCondLst>
                                  <p:childTnLst>
                                    <p:set>
                                      <p:cBhvr>
                                        <p:cTn id="27" dur="1" fill="hold">
                                          <p:stCondLst>
                                            <p:cond delay="0"/>
                                          </p:stCondLst>
                                        </p:cTn>
                                        <p:tgtEl>
                                          <p:spTgt spid="4"/>
                                        </p:tgtEl>
                                        <p:attrNameLst>
                                          <p:attrName>style.visibility</p:attrName>
                                        </p:attrNameLst>
                                      </p:cBhvr>
                                      <p:to>
                                        <p:strVal val="visible"/>
                                      </p:to>
                                    </p:set>
                                    <p:anim calcmode="lin" valueType="num">
                                      <p:cBhvr additive="base">
                                        <p:cTn id="28" dur="500" fill="hold"/>
                                        <p:tgtEl>
                                          <p:spTgt spid="4"/>
                                        </p:tgtEl>
                                        <p:attrNameLst>
                                          <p:attrName>ppt_x</p:attrName>
                                        </p:attrNameLst>
                                      </p:cBhvr>
                                      <p:tavLst>
                                        <p:tav tm="0">
                                          <p:val>
                                            <p:strVal val="1+#ppt_w/2"/>
                                          </p:val>
                                        </p:tav>
                                        <p:tav tm="100000">
                                          <p:val>
                                            <p:strVal val="#ppt_x"/>
                                          </p:val>
                                        </p:tav>
                                      </p:tavLst>
                                    </p:anim>
                                    <p:anim calcmode="lin" valueType="num">
                                      <p:cBhvr additive="base">
                                        <p:cTn id="29" dur="500" fill="hold"/>
                                        <p:tgtEl>
                                          <p:spTgt spid="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P spid="5" grpId="0"/>
      <p:bldP spid="8" grpId="0"/>
    </p:bld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Rectangle 2"/>
          <p:cNvSpPr>
            <a:spLocks noGrp="1"/>
          </p:cNvSpPr>
          <p:nvPr>
            <p:ph type="title"/>
          </p:nvPr>
        </p:nvSpPr>
        <p:spPr>
          <a:xfrm>
            <a:off x="500063" y="152400"/>
            <a:ext cx="8001000" cy="685800"/>
          </a:xfrm>
          <a:noFill/>
          <a:ln w="9525">
            <a:noFill/>
          </a:ln>
        </p:spPr>
        <p:txBody>
          <a:bodyPr vert="horz" wrap="square" lIns="91440" tIns="45720" rIns="91440" bIns="45720" rtlCol="0" anchor="ctr" anchorCtr="0">
            <a:noAutofit/>
          </a:bodyPr>
          <a:lstStyle/>
          <a:p>
            <a:pPr lvl="0" algn="ctr" eaLnBrk="1" hangingPunct="1">
              <a:buClrTx/>
              <a:buSzTx/>
              <a:buFontTx/>
            </a:pPr>
            <a:r>
              <a:rPr lang="zh-CN" altLang="en-US" sz="4000" b="0" dirty="0">
                <a:latin typeface="黑体" panose="02010609060101010101" pitchFamily="2" charset="-122"/>
                <a:ea typeface="黑体" panose="02010609060101010101" pitchFamily="2" charset="-122"/>
                <a:sym typeface="+mn-ea"/>
              </a:rPr>
              <a:t>2. 基于其他表条件的更新</a:t>
            </a:r>
          </a:p>
        </p:txBody>
      </p:sp>
      <p:sp>
        <p:nvSpPr>
          <p:cNvPr id="125955" name="Rectangle 3"/>
          <p:cNvSpPr>
            <a:spLocks noGrp="1"/>
          </p:cNvSpPr>
          <p:nvPr>
            <p:ph idx="1"/>
          </p:nvPr>
        </p:nvSpPr>
        <p:spPr>
          <a:xfrm>
            <a:off x="251520" y="1196752"/>
            <a:ext cx="8572500" cy="4957762"/>
          </a:xfrm>
        </p:spPr>
        <p:txBody>
          <a:bodyPr vert="horz" wrap="square" lIns="91440" tIns="45720" rIns="91440" bIns="45720" anchor="t" anchorCtr="0"/>
          <a:lstStyle/>
          <a:p>
            <a:pPr marL="0" indent="0" eaLnBrk="1" hangingPunct="1">
              <a:spcBef>
                <a:spcPts val="600"/>
              </a:spcBef>
              <a:buNone/>
            </a:pPr>
            <a:r>
              <a:rPr lang="zh-CN" altLang="en-US" b="1" dirty="0" smtClean="0">
                <a:cs typeface="等线" panose="02010600030101010101" charset="-122"/>
              </a:rPr>
              <a:t>例</a:t>
            </a:r>
            <a:r>
              <a:rPr lang="en-US" altLang="zh-CN" b="1" dirty="0" smtClean="0">
                <a:cs typeface="等线" panose="02010600030101010101" charset="-122"/>
              </a:rPr>
              <a:t>4.78 </a:t>
            </a:r>
            <a:r>
              <a:rPr lang="zh-CN" altLang="en-US" b="1" dirty="0" smtClean="0">
                <a:cs typeface="等线" panose="02010600030101010101" charset="-122"/>
              </a:rPr>
              <a:t>将</a:t>
            </a:r>
            <a:r>
              <a:rPr lang="zh-CN" altLang="en-US" b="1" dirty="0">
                <a:cs typeface="等线" panose="02010600030101010101" charset="-122"/>
              </a:rPr>
              <a:t>计算机系全体学生的成绩加</a:t>
            </a:r>
            <a:r>
              <a:rPr lang="en-US" altLang="zh-CN" b="1" dirty="0">
                <a:cs typeface="等线" panose="02010600030101010101" charset="-122"/>
              </a:rPr>
              <a:t>5</a:t>
            </a:r>
            <a:r>
              <a:rPr lang="zh-CN" altLang="en-US" b="1" dirty="0">
                <a:cs typeface="等线" panose="02010600030101010101" charset="-122"/>
              </a:rPr>
              <a:t>分。</a:t>
            </a:r>
          </a:p>
          <a:p>
            <a:pPr eaLnBrk="1" hangingPunct="1">
              <a:spcBef>
                <a:spcPts val="600"/>
              </a:spcBef>
            </a:pPr>
            <a:r>
              <a:rPr lang="zh-CN" altLang="en-US" sz="2800" b="1" dirty="0">
                <a:solidFill>
                  <a:srgbClr val="FF0000"/>
                </a:solidFill>
                <a:cs typeface="等线" panose="02010600030101010101" charset="-122"/>
              </a:rPr>
              <a:t>（</a:t>
            </a:r>
            <a:r>
              <a:rPr lang="en-US" altLang="zh-CN" sz="2800" b="1" dirty="0">
                <a:solidFill>
                  <a:srgbClr val="FF0000"/>
                </a:solidFill>
                <a:cs typeface="等线" panose="02010600030101010101" charset="-122"/>
              </a:rPr>
              <a:t>1</a:t>
            </a:r>
            <a:r>
              <a:rPr lang="zh-CN" altLang="en-US" sz="2800" b="1" dirty="0">
                <a:solidFill>
                  <a:srgbClr val="FF0000"/>
                </a:solidFill>
                <a:cs typeface="等线" panose="02010600030101010101" charset="-122"/>
              </a:rPr>
              <a:t>）用子查询实现</a:t>
            </a:r>
          </a:p>
          <a:p>
            <a:pPr eaLnBrk="1" hangingPunct="1">
              <a:spcBef>
                <a:spcPts val="600"/>
              </a:spcBef>
              <a:buFont typeface="Wingdings" panose="05000000000000000000" pitchFamily="2" charset="2"/>
              <a:buNone/>
            </a:pPr>
            <a:r>
              <a:rPr lang="zh-CN" altLang="en-US" sz="2600" b="1" dirty="0">
                <a:solidFill>
                  <a:srgbClr val="0000FF"/>
                </a:solidFill>
                <a:cs typeface="等线" panose="02010600030101010101" charset="-122"/>
              </a:rPr>
              <a:t>	</a:t>
            </a:r>
            <a:r>
              <a:rPr lang="en-US" altLang="zh-CN" sz="2600" b="1" dirty="0">
                <a:solidFill>
                  <a:srgbClr val="0000FF"/>
                </a:solidFill>
                <a:cs typeface="等线" panose="02010600030101010101" charset="-122"/>
              </a:rPr>
              <a:t>UPDATE SC SET Grade = Grade + 5</a:t>
            </a:r>
          </a:p>
          <a:p>
            <a:pPr eaLnBrk="1" hangingPunct="1">
              <a:spcBef>
                <a:spcPts val="600"/>
              </a:spcBef>
              <a:buFont typeface="Wingdings" panose="05000000000000000000" pitchFamily="2" charset="2"/>
              <a:buNone/>
            </a:pPr>
            <a:r>
              <a:rPr lang="en-US" altLang="zh-CN" sz="2600" b="1" dirty="0">
                <a:solidFill>
                  <a:srgbClr val="0000FF"/>
                </a:solidFill>
                <a:cs typeface="等线" panose="02010600030101010101" charset="-122"/>
              </a:rPr>
              <a:t>	  WHERE Sno IN</a:t>
            </a:r>
          </a:p>
          <a:p>
            <a:pPr eaLnBrk="1" hangingPunct="1">
              <a:spcBef>
                <a:spcPts val="600"/>
              </a:spcBef>
              <a:buFont typeface="Wingdings" panose="05000000000000000000" pitchFamily="2" charset="2"/>
              <a:buNone/>
            </a:pPr>
            <a:r>
              <a:rPr lang="en-US" altLang="zh-CN" sz="2600" b="1" dirty="0">
                <a:solidFill>
                  <a:srgbClr val="0000FF"/>
                </a:solidFill>
                <a:cs typeface="等线" panose="02010600030101010101" charset="-122"/>
              </a:rPr>
              <a:t>		(SELECT Sno FROM Student</a:t>
            </a:r>
          </a:p>
          <a:p>
            <a:pPr eaLnBrk="1" hangingPunct="1">
              <a:spcBef>
                <a:spcPts val="600"/>
              </a:spcBef>
              <a:buFont typeface="Wingdings" panose="05000000000000000000" pitchFamily="2" charset="2"/>
              <a:buNone/>
            </a:pPr>
            <a:r>
              <a:rPr lang="en-US" altLang="zh-CN" sz="2600" b="1" dirty="0">
                <a:solidFill>
                  <a:srgbClr val="0000FF"/>
                </a:solidFill>
                <a:cs typeface="等线" panose="02010600030101010101" charset="-122"/>
              </a:rPr>
              <a:t>		  WHERE Sdept = '</a:t>
            </a:r>
            <a:r>
              <a:rPr lang="zh-CN" altLang="en-US" sz="2600" b="1" dirty="0">
                <a:solidFill>
                  <a:srgbClr val="0000FF"/>
                </a:solidFill>
                <a:cs typeface="等线" panose="02010600030101010101" charset="-122"/>
              </a:rPr>
              <a:t>计算机系</a:t>
            </a:r>
            <a:r>
              <a:rPr lang="en-US" altLang="zh-CN" sz="2600" b="1" dirty="0">
                <a:solidFill>
                  <a:srgbClr val="0000FF"/>
                </a:solidFill>
                <a:cs typeface="等线" panose="02010600030101010101" charset="-122"/>
              </a:rPr>
              <a:t>' )</a:t>
            </a:r>
          </a:p>
          <a:p>
            <a:pPr eaLnBrk="1" hangingPunct="1">
              <a:spcBef>
                <a:spcPts val="600"/>
              </a:spcBef>
            </a:pPr>
            <a:r>
              <a:rPr lang="zh-CN" altLang="en-US" sz="2800" b="1" dirty="0">
                <a:solidFill>
                  <a:srgbClr val="FF0000"/>
                </a:solidFill>
                <a:cs typeface="等线" panose="02010600030101010101" charset="-122"/>
              </a:rPr>
              <a:t>（</a:t>
            </a:r>
            <a:r>
              <a:rPr lang="en-US" altLang="zh-CN" sz="2800" b="1" dirty="0">
                <a:solidFill>
                  <a:srgbClr val="FF0000"/>
                </a:solidFill>
                <a:cs typeface="等线" panose="02010600030101010101" charset="-122"/>
              </a:rPr>
              <a:t>2</a:t>
            </a:r>
            <a:r>
              <a:rPr lang="zh-CN" altLang="en-US" sz="2800" b="1" dirty="0">
                <a:solidFill>
                  <a:srgbClr val="FF0000"/>
                </a:solidFill>
                <a:cs typeface="等线" panose="02010600030101010101" charset="-122"/>
              </a:rPr>
              <a:t>）用多表连接实现</a:t>
            </a:r>
          </a:p>
          <a:p>
            <a:pPr lvl="1" eaLnBrk="1" hangingPunct="1">
              <a:spcBef>
                <a:spcPts val="600"/>
              </a:spcBef>
              <a:buFont typeface="Wingdings" panose="05000000000000000000" pitchFamily="2" charset="2"/>
              <a:buNone/>
            </a:pPr>
            <a:r>
              <a:rPr lang="en-US" altLang="zh-CN" sz="2600" b="1" dirty="0">
                <a:solidFill>
                  <a:srgbClr val="0000FF"/>
                </a:solidFill>
                <a:cs typeface="等线" panose="02010600030101010101" charset="-122"/>
              </a:rPr>
              <a:t>UPDATE SC SET Grade = Grade + 5</a:t>
            </a:r>
          </a:p>
          <a:p>
            <a:pPr lvl="1" eaLnBrk="1" hangingPunct="1">
              <a:spcBef>
                <a:spcPts val="600"/>
              </a:spcBef>
              <a:buFont typeface="Wingdings" panose="05000000000000000000" pitchFamily="2" charset="2"/>
              <a:buNone/>
            </a:pPr>
            <a:r>
              <a:rPr lang="en-US" altLang="zh-CN" sz="2600" b="1" dirty="0">
                <a:solidFill>
                  <a:srgbClr val="0000FF"/>
                </a:solidFill>
                <a:cs typeface="等线" panose="02010600030101010101" charset="-122"/>
              </a:rPr>
              <a:t>  FROM SC JOIN Student ON SC.Sno = Student.Sno</a:t>
            </a:r>
          </a:p>
          <a:p>
            <a:pPr lvl="1" eaLnBrk="1" hangingPunct="1">
              <a:spcBef>
                <a:spcPts val="600"/>
              </a:spcBef>
              <a:buFont typeface="Wingdings" panose="05000000000000000000" pitchFamily="2" charset="2"/>
              <a:buNone/>
            </a:pPr>
            <a:r>
              <a:rPr lang="en-US" altLang="zh-CN" sz="2600" b="1" dirty="0">
                <a:solidFill>
                  <a:srgbClr val="0000FF"/>
                </a:solidFill>
                <a:cs typeface="等线" panose="02010600030101010101" charset="-122"/>
              </a:rPr>
              <a:t>  WHERE Sdept = '</a:t>
            </a:r>
            <a:r>
              <a:rPr lang="zh-CN" altLang="en-US" sz="2600" b="1" dirty="0">
                <a:solidFill>
                  <a:srgbClr val="0000FF"/>
                </a:solidFill>
                <a:cs typeface="等线" panose="02010600030101010101" charset="-122"/>
              </a:rPr>
              <a:t>计算机系</a:t>
            </a:r>
            <a:r>
              <a:rPr lang="en-US" altLang="zh-CN" sz="2600" b="1" dirty="0">
                <a:solidFill>
                  <a:srgbClr val="0000FF"/>
                </a:solidFill>
                <a:cs typeface="等线" panose="02010600030101010101" charset="-122"/>
              </a:rPr>
              <a:t>'</a:t>
            </a:r>
            <a:endParaRPr lang="zh-CN" altLang="en-US" sz="2600" b="1" dirty="0">
              <a:solidFill>
                <a:srgbClr val="0000FF"/>
              </a:solidFill>
              <a:cs typeface="等线" panose="02010600030101010101" charset="-122"/>
            </a:endParaRPr>
          </a:p>
        </p:txBody>
      </p:sp>
    </p:spTree>
    <p:extLst>
      <p:ext uri="{BB962C8B-B14F-4D97-AF65-F5344CB8AC3E}">
        <p14:creationId xmlns:p14="http://schemas.microsoft.com/office/powerpoint/2010/main" val="3755289359"/>
      </p:ext>
    </p:extLst>
  </p:cSld>
  <p:clrMapOvr>
    <a:masterClrMapping/>
  </p:clrMapOvr>
  <p:timing>
    <p:tnLst>
      <p:par>
        <p:cTn id="1" dur="indefinite" restart="never" nodeType="tmRoot"/>
      </p:par>
    </p:tn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Rectangle 2"/>
          <p:cNvSpPr>
            <a:spLocks noGrp="1"/>
          </p:cNvSpPr>
          <p:nvPr>
            <p:ph type="title"/>
          </p:nvPr>
        </p:nvSpPr>
        <p:spPr>
          <a:xfrm>
            <a:off x="500063" y="152400"/>
            <a:ext cx="8001000" cy="685800"/>
          </a:xfrm>
          <a:noFill/>
          <a:ln w="9525">
            <a:noFill/>
          </a:ln>
        </p:spPr>
        <p:txBody>
          <a:bodyPr vert="horz" wrap="square" lIns="91440" tIns="45720" rIns="91440" bIns="45720" rtlCol="0" anchor="ctr" anchorCtr="0">
            <a:normAutofit fontScale="90000"/>
          </a:bodyPr>
          <a:lstStyle/>
          <a:p>
            <a:pPr lvl="0" algn="ctr" eaLnBrk="1" hangingPunct="1">
              <a:buClrTx/>
              <a:buSzTx/>
              <a:buFontTx/>
            </a:pPr>
            <a:r>
              <a:rPr lang="zh-CN" altLang="en-US" sz="4000" b="0" dirty="0">
                <a:latin typeface="黑体" panose="02010609060101010101" pitchFamily="2" charset="-122"/>
                <a:ea typeface="黑体" panose="02010609060101010101" pitchFamily="2" charset="-122"/>
                <a:sym typeface="+mn-ea"/>
              </a:rPr>
              <a:t>基于其他表条件的更新（续）</a:t>
            </a:r>
          </a:p>
        </p:txBody>
      </p:sp>
      <p:sp>
        <p:nvSpPr>
          <p:cNvPr id="126979" name="Rectangle 3"/>
          <p:cNvSpPr>
            <a:spLocks noGrp="1"/>
          </p:cNvSpPr>
          <p:nvPr>
            <p:ph idx="1"/>
          </p:nvPr>
        </p:nvSpPr>
        <p:spPr>
          <a:xfrm>
            <a:off x="107504" y="1196752"/>
            <a:ext cx="8784976" cy="720110"/>
          </a:xfrm>
        </p:spPr>
        <p:txBody>
          <a:bodyPr vert="horz" wrap="square" lIns="91440" tIns="45720" rIns="91440" bIns="45720" anchor="t" anchorCtr="0"/>
          <a:lstStyle/>
          <a:p>
            <a:pPr marL="0" indent="0" eaLnBrk="1" hangingPunct="1">
              <a:buNone/>
            </a:pPr>
            <a:r>
              <a:rPr lang="zh-CN" altLang="en-US" sz="3600" b="1" dirty="0" smtClean="0">
                <a:cs typeface="等线" panose="02010600030101010101" charset="-122"/>
              </a:rPr>
              <a:t>例</a:t>
            </a:r>
            <a:r>
              <a:rPr lang="en-US" altLang="zh-CN" sz="3600" b="1" dirty="0" smtClean="0">
                <a:cs typeface="等线" panose="02010600030101010101" charset="-122"/>
              </a:rPr>
              <a:t>4.79  </a:t>
            </a:r>
            <a:r>
              <a:rPr lang="zh-CN" altLang="en-US" sz="3600" b="1" dirty="0">
                <a:cs typeface="等线" panose="02010600030101010101" charset="-122"/>
              </a:rPr>
              <a:t>将学分最低的课程的学分加</a:t>
            </a:r>
            <a:r>
              <a:rPr lang="en-US" altLang="zh-CN" sz="3600" b="1" dirty="0">
                <a:cs typeface="等线" panose="02010600030101010101" charset="-122"/>
              </a:rPr>
              <a:t>2</a:t>
            </a:r>
            <a:r>
              <a:rPr lang="zh-CN" altLang="en-US" sz="3600" b="1" dirty="0">
                <a:cs typeface="等线" panose="02010600030101010101" charset="-122"/>
              </a:rPr>
              <a:t>分</a:t>
            </a:r>
            <a:r>
              <a:rPr lang="zh-CN" altLang="en-US" sz="3600" b="1" dirty="0" smtClean="0">
                <a:cs typeface="等线" panose="02010600030101010101" charset="-122"/>
              </a:rPr>
              <a:t>。</a:t>
            </a:r>
            <a:endParaRPr lang="zh-CN" altLang="en-US" sz="3600" b="1" dirty="0">
              <a:cs typeface="等线" panose="02010600030101010101" charset="-122"/>
            </a:endParaRPr>
          </a:p>
        </p:txBody>
      </p:sp>
      <p:sp>
        <p:nvSpPr>
          <p:cNvPr id="2" name="矩形 1"/>
          <p:cNvSpPr/>
          <p:nvPr/>
        </p:nvSpPr>
        <p:spPr>
          <a:xfrm>
            <a:off x="599282" y="1968171"/>
            <a:ext cx="4538807" cy="707886"/>
          </a:xfrm>
          <a:prstGeom prst="rect">
            <a:avLst/>
          </a:prstGeom>
        </p:spPr>
        <p:txBody>
          <a:bodyPr wrap="none">
            <a:spAutoFit/>
          </a:bodyPr>
          <a:lstStyle/>
          <a:p>
            <a:pPr lvl="1">
              <a:spcBef>
                <a:spcPts val="600"/>
              </a:spcBef>
            </a:pPr>
            <a:r>
              <a:rPr lang="en-US" altLang="zh-CN" sz="4000" b="1" dirty="0">
                <a:solidFill>
                  <a:srgbClr val="0000FF"/>
                </a:solidFill>
                <a:latin typeface="Times New Roman" pitchFamily="18" charset="0"/>
                <a:cs typeface="Times New Roman" pitchFamily="18" charset="0"/>
              </a:rPr>
              <a:t>UPDATE </a:t>
            </a:r>
            <a:r>
              <a:rPr lang="en-US" altLang="zh-CN" sz="4000" b="1" dirty="0" smtClean="0">
                <a:solidFill>
                  <a:srgbClr val="0000FF"/>
                </a:solidFill>
                <a:latin typeface="Times New Roman" pitchFamily="18" charset="0"/>
                <a:cs typeface="Times New Roman" pitchFamily="18" charset="0"/>
              </a:rPr>
              <a:t>Course </a:t>
            </a:r>
            <a:endParaRPr lang="zh-CN" altLang="en-US" sz="4000" b="1" dirty="0">
              <a:solidFill>
                <a:srgbClr val="0000FF"/>
              </a:solidFill>
              <a:latin typeface="Times New Roman" pitchFamily="18" charset="0"/>
              <a:cs typeface="Times New Roman" pitchFamily="18" charset="0"/>
            </a:endParaRPr>
          </a:p>
        </p:txBody>
      </p:sp>
      <p:sp>
        <p:nvSpPr>
          <p:cNvPr id="3" name="矩形 2"/>
          <p:cNvSpPr/>
          <p:nvPr/>
        </p:nvSpPr>
        <p:spPr>
          <a:xfrm>
            <a:off x="1331640" y="2721114"/>
            <a:ext cx="5461431" cy="707886"/>
          </a:xfrm>
          <a:prstGeom prst="rect">
            <a:avLst/>
          </a:prstGeom>
        </p:spPr>
        <p:txBody>
          <a:bodyPr wrap="none">
            <a:spAutoFit/>
          </a:bodyPr>
          <a:lstStyle/>
          <a:p>
            <a:pPr marL="4763" lvl="1" algn="l"/>
            <a:r>
              <a:rPr lang="en-US" altLang="zh-CN" sz="4000" b="1" dirty="0">
                <a:solidFill>
                  <a:srgbClr val="0000FF"/>
                </a:solidFill>
                <a:latin typeface="Times New Roman" pitchFamily="18" charset="0"/>
                <a:cs typeface="Times New Roman" pitchFamily="18" charset="0"/>
              </a:rPr>
              <a:t>SET </a:t>
            </a:r>
            <a:r>
              <a:rPr lang="en-US" altLang="zh-CN" sz="4000" b="1" dirty="0" smtClean="0">
                <a:solidFill>
                  <a:srgbClr val="0000FF"/>
                </a:solidFill>
                <a:latin typeface="Times New Roman" pitchFamily="18" charset="0"/>
                <a:cs typeface="Times New Roman" pitchFamily="18" charset="0"/>
              </a:rPr>
              <a:t>Credit </a:t>
            </a:r>
            <a:r>
              <a:rPr lang="en-US" altLang="zh-CN" sz="4000" b="1" dirty="0">
                <a:solidFill>
                  <a:srgbClr val="0000FF"/>
                </a:solidFill>
                <a:latin typeface="Times New Roman" pitchFamily="18" charset="0"/>
                <a:cs typeface="Times New Roman" pitchFamily="18" charset="0"/>
              </a:rPr>
              <a:t>= </a:t>
            </a:r>
            <a:r>
              <a:rPr lang="en-US" altLang="zh-CN" sz="4000" b="1" dirty="0" smtClean="0">
                <a:solidFill>
                  <a:srgbClr val="0000FF"/>
                </a:solidFill>
                <a:latin typeface="Times New Roman" pitchFamily="18" charset="0"/>
                <a:cs typeface="Times New Roman" pitchFamily="18" charset="0"/>
              </a:rPr>
              <a:t>Credit </a:t>
            </a:r>
            <a:r>
              <a:rPr lang="en-US" altLang="zh-CN" sz="4000" b="1" dirty="0">
                <a:solidFill>
                  <a:srgbClr val="0000FF"/>
                </a:solidFill>
                <a:latin typeface="Times New Roman" pitchFamily="18" charset="0"/>
                <a:cs typeface="Times New Roman" pitchFamily="18" charset="0"/>
              </a:rPr>
              <a:t>+ 2</a:t>
            </a:r>
          </a:p>
        </p:txBody>
      </p:sp>
      <p:sp>
        <p:nvSpPr>
          <p:cNvPr id="4" name="矩形 3"/>
          <p:cNvSpPr/>
          <p:nvPr/>
        </p:nvSpPr>
        <p:spPr>
          <a:xfrm>
            <a:off x="1475656" y="3459092"/>
            <a:ext cx="2149948" cy="707886"/>
          </a:xfrm>
          <a:prstGeom prst="rect">
            <a:avLst/>
          </a:prstGeom>
        </p:spPr>
        <p:txBody>
          <a:bodyPr wrap="none">
            <a:spAutoFit/>
          </a:bodyPr>
          <a:lstStyle/>
          <a:p>
            <a:r>
              <a:rPr lang="en-US" altLang="zh-CN" sz="4000" b="1" dirty="0" smtClean="0">
                <a:solidFill>
                  <a:srgbClr val="0000FF"/>
                </a:solidFill>
                <a:latin typeface="Times New Roman" pitchFamily="18" charset="0"/>
                <a:cs typeface="Times New Roman" pitchFamily="18" charset="0"/>
              </a:rPr>
              <a:t>WHERE</a:t>
            </a:r>
            <a:endParaRPr lang="zh-CN" altLang="en-US" sz="4000" dirty="0">
              <a:latin typeface="Times New Roman" pitchFamily="18" charset="0"/>
              <a:cs typeface="Times New Roman" pitchFamily="18" charset="0"/>
            </a:endParaRPr>
          </a:p>
        </p:txBody>
      </p:sp>
      <p:sp>
        <p:nvSpPr>
          <p:cNvPr id="5" name="矩形 4"/>
          <p:cNvSpPr/>
          <p:nvPr/>
        </p:nvSpPr>
        <p:spPr>
          <a:xfrm>
            <a:off x="3888369" y="3451468"/>
            <a:ext cx="4083810" cy="707886"/>
          </a:xfrm>
          <a:prstGeom prst="rect">
            <a:avLst/>
          </a:prstGeom>
        </p:spPr>
        <p:txBody>
          <a:bodyPr wrap="none">
            <a:spAutoFit/>
          </a:bodyPr>
          <a:lstStyle/>
          <a:p>
            <a:pPr marL="4763" lvl="1">
              <a:spcBef>
                <a:spcPts val="600"/>
              </a:spcBef>
              <a:tabLst>
                <a:tab pos="0" algn="l"/>
              </a:tabLst>
            </a:pPr>
            <a:r>
              <a:rPr lang="en-US" altLang="zh-CN" sz="4000" b="1" dirty="0" smtClean="0">
                <a:solidFill>
                  <a:srgbClr val="0000FF"/>
                </a:solidFill>
                <a:latin typeface="Times New Roman" pitchFamily="18" charset="0"/>
                <a:cs typeface="Times New Roman" pitchFamily="18" charset="0"/>
              </a:rPr>
              <a:t>Credit </a:t>
            </a:r>
            <a:r>
              <a:rPr lang="en-US" altLang="zh-CN" sz="4000" b="1" dirty="0">
                <a:solidFill>
                  <a:srgbClr val="0000FF"/>
                </a:solidFill>
                <a:latin typeface="Times New Roman" pitchFamily="18" charset="0"/>
                <a:cs typeface="Times New Roman" pitchFamily="18" charset="0"/>
              </a:rPr>
              <a:t>=</a:t>
            </a:r>
            <a:r>
              <a:rPr lang="zh-CN" altLang="en-US" sz="4000" b="1" dirty="0" smtClean="0">
                <a:solidFill>
                  <a:srgbClr val="FF0000"/>
                </a:solidFill>
                <a:latin typeface="Times New Roman" pitchFamily="18" charset="0"/>
                <a:ea typeface="宋体" pitchFamily="2" charset="-122"/>
                <a:cs typeface="Times New Roman" pitchFamily="18" charset="0"/>
              </a:rPr>
              <a:t>最低</a:t>
            </a:r>
            <a:r>
              <a:rPr lang="zh-CN" altLang="en-US" sz="4000" b="1" dirty="0">
                <a:solidFill>
                  <a:srgbClr val="FF0000"/>
                </a:solidFill>
                <a:latin typeface="Times New Roman" pitchFamily="18" charset="0"/>
                <a:ea typeface="宋体" pitchFamily="2" charset="-122"/>
                <a:cs typeface="Times New Roman" pitchFamily="18" charset="0"/>
              </a:rPr>
              <a:t>学分</a:t>
            </a:r>
          </a:p>
        </p:txBody>
      </p:sp>
      <p:sp>
        <p:nvSpPr>
          <p:cNvPr id="8" name="矩形 7"/>
          <p:cNvSpPr/>
          <p:nvPr/>
        </p:nvSpPr>
        <p:spPr>
          <a:xfrm>
            <a:off x="5984036" y="4133917"/>
            <a:ext cx="2813911" cy="707886"/>
          </a:xfrm>
          <a:prstGeom prst="rect">
            <a:avLst/>
          </a:prstGeom>
        </p:spPr>
        <p:txBody>
          <a:bodyPr wrap="none">
            <a:spAutoFit/>
          </a:bodyPr>
          <a:lstStyle/>
          <a:p>
            <a:pPr marL="4763" lvl="1">
              <a:spcBef>
                <a:spcPts val="600"/>
              </a:spcBef>
              <a:tabLst>
                <a:tab pos="0" algn="l"/>
              </a:tabLst>
            </a:pPr>
            <a:r>
              <a:rPr lang="en-US" altLang="zh-CN" sz="4000" b="1" dirty="0" smtClean="0">
                <a:solidFill>
                  <a:srgbClr val="0000FF"/>
                </a:solidFill>
                <a:cs typeface="等线" panose="02010600030101010101" charset="-122"/>
              </a:rPr>
              <a:t>Min(credit)</a:t>
            </a:r>
            <a:endParaRPr lang="zh-CN" altLang="en-US" sz="4000" b="1" dirty="0">
              <a:solidFill>
                <a:srgbClr val="0000FF"/>
              </a:solidFill>
              <a:cs typeface="等线" panose="02010600030101010101" charset="-122"/>
            </a:endParaRPr>
          </a:p>
        </p:txBody>
      </p:sp>
      <p:sp>
        <p:nvSpPr>
          <p:cNvPr id="9" name="矩形 8"/>
          <p:cNvSpPr/>
          <p:nvPr/>
        </p:nvSpPr>
        <p:spPr>
          <a:xfrm>
            <a:off x="629929" y="4497744"/>
            <a:ext cx="3277179" cy="707886"/>
          </a:xfrm>
          <a:prstGeom prst="rect">
            <a:avLst/>
          </a:prstGeom>
        </p:spPr>
        <p:txBody>
          <a:bodyPr wrap="none">
            <a:spAutoFit/>
          </a:bodyPr>
          <a:lstStyle/>
          <a:p>
            <a:pPr marL="4763" lvl="1">
              <a:spcBef>
                <a:spcPts val="600"/>
              </a:spcBef>
              <a:tabLst>
                <a:tab pos="0" algn="l"/>
              </a:tabLst>
            </a:pPr>
            <a:r>
              <a:rPr lang="zh-CN" altLang="en-US" sz="4000" b="1" dirty="0">
                <a:solidFill>
                  <a:srgbClr val="FF0000"/>
                </a:solidFill>
                <a:latin typeface="Times New Roman" pitchFamily="18" charset="0"/>
                <a:ea typeface="宋体" pitchFamily="2" charset="-122"/>
                <a:cs typeface="Times New Roman" pitchFamily="18" charset="0"/>
              </a:rPr>
              <a:t>查询</a:t>
            </a:r>
            <a:r>
              <a:rPr lang="zh-CN" altLang="en-US" sz="4000" b="1" dirty="0" smtClean="0">
                <a:solidFill>
                  <a:srgbClr val="FF0000"/>
                </a:solidFill>
                <a:latin typeface="Times New Roman" pitchFamily="18" charset="0"/>
                <a:ea typeface="宋体" pitchFamily="2" charset="-122"/>
                <a:cs typeface="Times New Roman" pitchFamily="18" charset="0"/>
              </a:rPr>
              <a:t>最低</a:t>
            </a:r>
            <a:r>
              <a:rPr lang="zh-CN" altLang="en-US" sz="4000" b="1" dirty="0">
                <a:solidFill>
                  <a:srgbClr val="FF0000"/>
                </a:solidFill>
                <a:latin typeface="Times New Roman" pitchFamily="18" charset="0"/>
                <a:ea typeface="宋体" pitchFamily="2" charset="-122"/>
                <a:cs typeface="Times New Roman" pitchFamily="18" charset="0"/>
              </a:rPr>
              <a:t>学分</a:t>
            </a:r>
          </a:p>
        </p:txBody>
      </p:sp>
      <p:sp>
        <p:nvSpPr>
          <p:cNvPr id="6" name="矩形 5"/>
          <p:cNvSpPr/>
          <p:nvPr/>
        </p:nvSpPr>
        <p:spPr>
          <a:xfrm>
            <a:off x="439420" y="5205629"/>
            <a:ext cx="5544616" cy="1077218"/>
          </a:xfrm>
          <a:prstGeom prst="rect">
            <a:avLst/>
          </a:prstGeom>
        </p:spPr>
        <p:txBody>
          <a:bodyPr wrap="square">
            <a:spAutoFit/>
          </a:bodyPr>
          <a:lstStyle/>
          <a:p>
            <a:pPr lvl="1" algn="l"/>
            <a:r>
              <a:rPr lang="en-US" altLang="zh-CN" sz="3200" b="1" dirty="0" smtClean="0">
                <a:solidFill>
                  <a:srgbClr val="0000FF"/>
                </a:solidFill>
                <a:latin typeface="Times New Roman" pitchFamily="18" charset="0"/>
                <a:cs typeface="Times New Roman" pitchFamily="18" charset="0"/>
              </a:rPr>
              <a:t>  ( </a:t>
            </a:r>
            <a:r>
              <a:rPr lang="en-US" altLang="zh-CN" sz="3200" b="1" dirty="0">
                <a:solidFill>
                  <a:srgbClr val="0000FF"/>
                </a:solidFill>
                <a:latin typeface="Times New Roman" pitchFamily="18" charset="0"/>
                <a:cs typeface="Times New Roman" pitchFamily="18" charset="0"/>
              </a:rPr>
              <a:t>SELECT </a:t>
            </a:r>
            <a:r>
              <a:rPr lang="en-US" altLang="zh-CN" sz="3200" b="1" dirty="0" smtClean="0">
                <a:solidFill>
                  <a:srgbClr val="0000FF"/>
                </a:solidFill>
                <a:latin typeface="Times New Roman" pitchFamily="18" charset="0"/>
                <a:cs typeface="Times New Roman" pitchFamily="18" charset="0"/>
              </a:rPr>
              <a:t>MIN(Credit</a:t>
            </a:r>
            <a:r>
              <a:rPr lang="en-US" altLang="zh-CN" sz="3200" b="1" dirty="0">
                <a:solidFill>
                  <a:srgbClr val="0000FF"/>
                </a:solidFill>
                <a:latin typeface="Times New Roman" pitchFamily="18" charset="0"/>
                <a:cs typeface="Times New Roman" pitchFamily="18" charset="0"/>
              </a:rPr>
              <a:t>) </a:t>
            </a:r>
          </a:p>
          <a:p>
            <a:pPr lvl="1" algn="l"/>
            <a:r>
              <a:rPr lang="en-US" altLang="zh-CN" sz="3200" b="1" dirty="0">
                <a:solidFill>
                  <a:srgbClr val="0000FF"/>
                </a:solidFill>
                <a:latin typeface="Times New Roman" pitchFamily="18" charset="0"/>
                <a:cs typeface="Times New Roman" pitchFamily="18" charset="0"/>
              </a:rPr>
              <a:t>      FROM </a:t>
            </a:r>
            <a:r>
              <a:rPr lang="en-US" altLang="zh-CN" sz="3200" b="1" dirty="0" smtClean="0">
                <a:solidFill>
                  <a:srgbClr val="0000FF"/>
                </a:solidFill>
                <a:latin typeface="Times New Roman" pitchFamily="18" charset="0"/>
                <a:cs typeface="Times New Roman" pitchFamily="18" charset="0"/>
              </a:rPr>
              <a:t>Course )</a:t>
            </a:r>
            <a:endParaRPr lang="zh-CN" altLang="en-US" sz="3200" b="1" dirty="0">
              <a:solidFill>
                <a:srgbClr val="0000FF"/>
              </a:solidFill>
              <a:latin typeface="Times New Roman" pitchFamily="18" charset="0"/>
              <a:cs typeface="Times New Roman" pitchFamily="18" charset="0"/>
            </a:endParaRPr>
          </a:p>
        </p:txBody>
      </p:sp>
      <p:sp>
        <p:nvSpPr>
          <p:cNvPr id="11" name="矩形 10"/>
          <p:cNvSpPr/>
          <p:nvPr/>
        </p:nvSpPr>
        <p:spPr>
          <a:xfrm>
            <a:off x="5642596" y="5241049"/>
            <a:ext cx="3155351" cy="1200329"/>
          </a:xfrm>
          <a:prstGeom prst="rect">
            <a:avLst/>
          </a:prstGeom>
        </p:spPr>
        <p:txBody>
          <a:bodyPr wrap="none">
            <a:spAutoFit/>
          </a:bodyPr>
          <a:lstStyle/>
          <a:p>
            <a:r>
              <a:rPr lang="zh-CN" altLang="en-US" sz="2400" b="1" dirty="0" smtClean="0">
                <a:solidFill>
                  <a:srgbClr val="000000"/>
                </a:solidFill>
                <a:latin typeface="宋体" pitchFamily="2" charset="-122"/>
                <a:ea typeface="宋体" pitchFamily="2" charset="-122"/>
              </a:rPr>
              <a:t>实验知识点</a:t>
            </a:r>
            <a:endParaRPr lang="en-US" altLang="zh-CN" sz="2400" b="1" dirty="0" smtClean="0">
              <a:solidFill>
                <a:srgbClr val="000000"/>
              </a:solidFill>
              <a:latin typeface="宋体" pitchFamily="2" charset="-122"/>
              <a:ea typeface="宋体" pitchFamily="2" charset="-122"/>
            </a:endParaRPr>
          </a:p>
          <a:p>
            <a:pPr algn="l"/>
            <a:r>
              <a:rPr lang="en-US" altLang="zh-CN" sz="2400" b="1" dirty="0" smtClean="0">
                <a:solidFill>
                  <a:srgbClr val="000000"/>
                </a:solidFill>
                <a:latin typeface="宋体" pitchFamily="2" charset="-122"/>
                <a:ea typeface="宋体" pitchFamily="2" charset="-122"/>
              </a:rPr>
              <a:t>1</a:t>
            </a:r>
            <a:r>
              <a:rPr lang="zh-CN" altLang="en-US" sz="2400" b="1" dirty="0">
                <a:solidFill>
                  <a:srgbClr val="000000"/>
                </a:solidFill>
                <a:latin typeface="宋体" pitchFamily="2" charset="-122"/>
                <a:ea typeface="宋体" pitchFamily="2" charset="-122"/>
              </a:rPr>
              <a:t>子</a:t>
            </a:r>
            <a:r>
              <a:rPr lang="zh-CN" altLang="en-US" sz="2400" b="1" dirty="0" smtClean="0">
                <a:solidFill>
                  <a:srgbClr val="000000"/>
                </a:solidFill>
                <a:latin typeface="宋体" pitchFamily="2" charset="-122"/>
                <a:ea typeface="宋体" pitchFamily="2" charset="-122"/>
              </a:rPr>
              <a:t>查询（间接条件）</a:t>
            </a:r>
            <a:endParaRPr lang="en-US" altLang="zh-CN" sz="2400" b="1" dirty="0" smtClean="0">
              <a:solidFill>
                <a:srgbClr val="000000"/>
              </a:solidFill>
              <a:latin typeface="宋体" pitchFamily="2" charset="-122"/>
              <a:ea typeface="宋体" pitchFamily="2" charset="-122"/>
            </a:endParaRPr>
          </a:p>
          <a:p>
            <a:pPr algn="l"/>
            <a:r>
              <a:rPr lang="en-US" altLang="zh-CN" sz="2400" b="1" dirty="0" smtClean="0">
                <a:solidFill>
                  <a:srgbClr val="000000"/>
                </a:solidFill>
                <a:latin typeface="宋体" pitchFamily="2" charset="-122"/>
                <a:ea typeface="宋体" pitchFamily="2" charset="-122"/>
              </a:rPr>
              <a:t>2</a:t>
            </a:r>
            <a:r>
              <a:rPr lang="zh-CN" altLang="en-US" sz="2400" b="1" dirty="0" smtClean="0">
                <a:solidFill>
                  <a:srgbClr val="000000"/>
                </a:solidFill>
                <a:latin typeface="宋体" pitchFamily="2" charset="-122"/>
                <a:ea typeface="宋体" pitchFamily="2" charset="-122"/>
              </a:rPr>
              <a:t>集函数、排序</a:t>
            </a:r>
            <a:endParaRPr lang="zh-CN" altLang="en-US" sz="2400" b="1" dirty="0">
              <a:solidFill>
                <a:srgbClr val="000000"/>
              </a:solidFill>
              <a:latin typeface="宋体" pitchFamily="2" charset="-122"/>
              <a:ea typeface="宋体" pitchFamily="2" charset="-122"/>
            </a:endParaRPr>
          </a:p>
        </p:txBody>
      </p:sp>
      <p:pic>
        <p:nvPicPr>
          <p:cNvPr id="12" name="Picture 4" descr="手1"/>
          <p:cNvPicPr>
            <a:picLocks noChangeAspect="1" noChangeArrowheads="1" noCrop="1"/>
          </p:cNvPicPr>
          <p:nvPr/>
        </p:nvPicPr>
        <p:blipFill>
          <a:blip r:embed="rId2">
            <a:extLst>
              <a:ext uri="{28A0092B-C50C-407E-A947-70E740481C1C}">
                <a14:useLocalDpi xmlns:a14="http://schemas.microsoft.com/office/drawing/2010/main" val="0"/>
              </a:ext>
            </a:extLst>
          </a:blip>
          <a:srcRect/>
          <a:stretch>
            <a:fillRect/>
          </a:stretch>
        </p:blipFill>
        <p:spPr bwMode="auto">
          <a:xfrm>
            <a:off x="6389037" y="5241049"/>
            <a:ext cx="1001953" cy="36004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935401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7" presetClass="entr" presetSubtype="0" fill="hold" grpId="0" nodeType="clickEffect">
                                  <p:stCondLst>
                                    <p:cond delay="0"/>
                                  </p:stCondLst>
                                  <p:childTnLst>
                                    <p:set>
                                      <p:cBhvr>
                                        <p:cTn id="6" dur="1" fill="hold">
                                          <p:stCondLst>
                                            <p:cond delay="0"/>
                                          </p:stCondLst>
                                        </p:cTn>
                                        <p:tgtEl>
                                          <p:spTgt spid="126979">
                                            <p:txEl>
                                              <p:pRg st="0" end="0"/>
                                            </p:txEl>
                                          </p:spTgt>
                                        </p:tgtEl>
                                        <p:attrNameLst>
                                          <p:attrName>style.visibility</p:attrName>
                                        </p:attrNameLst>
                                      </p:cBhvr>
                                      <p:to>
                                        <p:strVal val="visible"/>
                                      </p:to>
                                    </p:set>
                                    <p:animEffect transition="in" filter="fade">
                                      <p:cBhvr>
                                        <p:cTn id="7" dur="1000"/>
                                        <p:tgtEl>
                                          <p:spTgt spid="126979">
                                            <p:txEl>
                                              <p:pRg st="0" end="0"/>
                                            </p:txEl>
                                          </p:spTgt>
                                        </p:tgtEl>
                                      </p:cBhvr>
                                    </p:animEffect>
                                    <p:anim calcmode="lin" valueType="num">
                                      <p:cBhvr>
                                        <p:cTn id="8" dur="1000" fill="hold"/>
                                        <p:tgtEl>
                                          <p:spTgt spid="126979">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126979">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gtEl>
                                        <p:attrNameLst>
                                          <p:attrName>style.visibility</p:attrName>
                                        </p:attrNameLst>
                                      </p:cBhvr>
                                      <p:to>
                                        <p:strVal val="visible"/>
                                      </p:to>
                                    </p:set>
                                    <p:animEffect transition="in" filter="fade">
                                      <p:cBhvr>
                                        <p:cTn id="14" dur="1000"/>
                                        <p:tgtEl>
                                          <p:spTgt spid="2"/>
                                        </p:tgtEl>
                                      </p:cBhvr>
                                    </p:animEffect>
                                    <p:anim calcmode="lin" valueType="num">
                                      <p:cBhvr>
                                        <p:cTn id="15" dur="1000" fill="hold"/>
                                        <p:tgtEl>
                                          <p:spTgt spid="2"/>
                                        </p:tgtEl>
                                        <p:attrNameLst>
                                          <p:attrName>ppt_x</p:attrName>
                                        </p:attrNameLst>
                                      </p:cBhvr>
                                      <p:tavLst>
                                        <p:tav tm="0">
                                          <p:val>
                                            <p:strVal val="#ppt_x"/>
                                          </p:val>
                                        </p:tav>
                                        <p:tav tm="100000">
                                          <p:val>
                                            <p:strVal val="#ppt_x"/>
                                          </p:val>
                                        </p:tav>
                                      </p:tavLst>
                                    </p:anim>
                                    <p:anim calcmode="lin" valueType="num">
                                      <p:cBhvr>
                                        <p:cTn id="16"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gtEl>
                                        <p:attrNameLst>
                                          <p:attrName>style.visibility</p:attrName>
                                        </p:attrNameLst>
                                      </p:cBhvr>
                                      <p:to>
                                        <p:strVal val="visible"/>
                                      </p:to>
                                    </p:set>
                                    <p:animEffect transition="in" filter="fade">
                                      <p:cBhvr>
                                        <p:cTn id="21" dur="1000"/>
                                        <p:tgtEl>
                                          <p:spTgt spid="3"/>
                                        </p:tgtEl>
                                      </p:cBhvr>
                                    </p:animEffect>
                                    <p:anim calcmode="lin" valueType="num">
                                      <p:cBhvr>
                                        <p:cTn id="22" dur="1000" fill="hold"/>
                                        <p:tgtEl>
                                          <p:spTgt spid="3"/>
                                        </p:tgtEl>
                                        <p:attrNameLst>
                                          <p:attrName>ppt_x</p:attrName>
                                        </p:attrNameLst>
                                      </p:cBhvr>
                                      <p:tavLst>
                                        <p:tav tm="0">
                                          <p:val>
                                            <p:strVal val="#ppt_x"/>
                                          </p:val>
                                        </p:tav>
                                        <p:tav tm="100000">
                                          <p:val>
                                            <p:strVal val="#ppt_x"/>
                                          </p:val>
                                        </p:tav>
                                      </p:tavLst>
                                    </p:anim>
                                    <p:anim calcmode="lin" valueType="num">
                                      <p:cBhvr>
                                        <p:cTn id="23"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4"/>
                                        </p:tgtEl>
                                        <p:attrNameLst>
                                          <p:attrName>style.visibility</p:attrName>
                                        </p:attrNameLst>
                                      </p:cBhvr>
                                      <p:to>
                                        <p:strVal val="visible"/>
                                      </p:to>
                                    </p:set>
                                    <p:animEffect transition="in" filter="fade">
                                      <p:cBhvr>
                                        <p:cTn id="28" dur="1000"/>
                                        <p:tgtEl>
                                          <p:spTgt spid="4"/>
                                        </p:tgtEl>
                                      </p:cBhvr>
                                    </p:animEffect>
                                    <p:anim calcmode="lin" valueType="num">
                                      <p:cBhvr>
                                        <p:cTn id="29" dur="1000" fill="hold"/>
                                        <p:tgtEl>
                                          <p:spTgt spid="4"/>
                                        </p:tgtEl>
                                        <p:attrNameLst>
                                          <p:attrName>ppt_x</p:attrName>
                                        </p:attrNameLst>
                                      </p:cBhvr>
                                      <p:tavLst>
                                        <p:tav tm="0">
                                          <p:val>
                                            <p:strVal val="#ppt_x"/>
                                          </p:val>
                                        </p:tav>
                                        <p:tav tm="100000">
                                          <p:val>
                                            <p:strVal val="#ppt_x"/>
                                          </p:val>
                                        </p:tav>
                                      </p:tavLst>
                                    </p:anim>
                                    <p:anim calcmode="lin" valueType="num">
                                      <p:cBhvr>
                                        <p:cTn id="30"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5"/>
                                        </p:tgtEl>
                                        <p:attrNameLst>
                                          <p:attrName>style.visibility</p:attrName>
                                        </p:attrNameLst>
                                      </p:cBhvr>
                                      <p:to>
                                        <p:strVal val="visible"/>
                                      </p:to>
                                    </p:set>
                                    <p:animEffect transition="in" filter="fade">
                                      <p:cBhvr>
                                        <p:cTn id="35" dur="1000"/>
                                        <p:tgtEl>
                                          <p:spTgt spid="5"/>
                                        </p:tgtEl>
                                      </p:cBhvr>
                                    </p:animEffect>
                                    <p:anim calcmode="lin" valueType="num">
                                      <p:cBhvr>
                                        <p:cTn id="36" dur="1000" fill="hold"/>
                                        <p:tgtEl>
                                          <p:spTgt spid="5"/>
                                        </p:tgtEl>
                                        <p:attrNameLst>
                                          <p:attrName>ppt_x</p:attrName>
                                        </p:attrNameLst>
                                      </p:cBhvr>
                                      <p:tavLst>
                                        <p:tav tm="0">
                                          <p:val>
                                            <p:strVal val="#ppt_x"/>
                                          </p:val>
                                        </p:tav>
                                        <p:tav tm="100000">
                                          <p:val>
                                            <p:strVal val="#ppt_x"/>
                                          </p:val>
                                        </p:tav>
                                      </p:tavLst>
                                    </p:anim>
                                    <p:anim calcmode="lin" valueType="num">
                                      <p:cBhvr>
                                        <p:cTn id="37"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8"/>
                                        </p:tgtEl>
                                        <p:attrNameLst>
                                          <p:attrName>style.visibility</p:attrName>
                                        </p:attrNameLst>
                                      </p:cBhvr>
                                      <p:to>
                                        <p:strVal val="visible"/>
                                      </p:to>
                                    </p:set>
                                    <p:animEffect transition="in" filter="fade">
                                      <p:cBhvr>
                                        <p:cTn id="42" dur="1000"/>
                                        <p:tgtEl>
                                          <p:spTgt spid="8"/>
                                        </p:tgtEl>
                                      </p:cBhvr>
                                    </p:animEffect>
                                    <p:anim calcmode="lin" valueType="num">
                                      <p:cBhvr>
                                        <p:cTn id="43" dur="1000" fill="hold"/>
                                        <p:tgtEl>
                                          <p:spTgt spid="8"/>
                                        </p:tgtEl>
                                        <p:attrNameLst>
                                          <p:attrName>ppt_x</p:attrName>
                                        </p:attrNameLst>
                                      </p:cBhvr>
                                      <p:tavLst>
                                        <p:tav tm="0">
                                          <p:val>
                                            <p:strVal val="#ppt_x"/>
                                          </p:val>
                                        </p:tav>
                                        <p:tav tm="100000">
                                          <p:val>
                                            <p:strVal val="#ppt_x"/>
                                          </p:val>
                                        </p:tav>
                                      </p:tavLst>
                                    </p:anim>
                                    <p:anim calcmode="lin" valueType="num">
                                      <p:cBhvr>
                                        <p:cTn id="44"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8" fill="hold" grpId="0" nodeType="clickEffect">
                                  <p:stCondLst>
                                    <p:cond delay="0"/>
                                  </p:stCondLst>
                                  <p:childTnLst>
                                    <p:set>
                                      <p:cBhvr>
                                        <p:cTn id="48" dur="1" fill="hold">
                                          <p:stCondLst>
                                            <p:cond delay="0"/>
                                          </p:stCondLst>
                                        </p:cTn>
                                        <p:tgtEl>
                                          <p:spTgt spid="9"/>
                                        </p:tgtEl>
                                        <p:attrNameLst>
                                          <p:attrName>style.visibility</p:attrName>
                                        </p:attrNameLst>
                                      </p:cBhvr>
                                      <p:to>
                                        <p:strVal val="visible"/>
                                      </p:to>
                                    </p:set>
                                    <p:anim calcmode="lin" valueType="num">
                                      <p:cBhvr additive="base">
                                        <p:cTn id="49" dur="500" fill="hold"/>
                                        <p:tgtEl>
                                          <p:spTgt spid="9"/>
                                        </p:tgtEl>
                                        <p:attrNameLst>
                                          <p:attrName>ppt_x</p:attrName>
                                        </p:attrNameLst>
                                      </p:cBhvr>
                                      <p:tavLst>
                                        <p:tav tm="0">
                                          <p:val>
                                            <p:strVal val="0-#ppt_w/2"/>
                                          </p:val>
                                        </p:tav>
                                        <p:tav tm="100000">
                                          <p:val>
                                            <p:strVal val="#ppt_x"/>
                                          </p:val>
                                        </p:tav>
                                      </p:tavLst>
                                    </p:anim>
                                    <p:anim calcmode="lin" valueType="num">
                                      <p:cBhvr additive="base">
                                        <p:cTn id="50" dur="500" fill="hold"/>
                                        <p:tgtEl>
                                          <p:spTgt spid="9"/>
                                        </p:tgtEl>
                                        <p:attrNameLst>
                                          <p:attrName>ppt_y</p:attrName>
                                        </p:attrNameLst>
                                      </p:cBhvr>
                                      <p:tavLst>
                                        <p:tav tm="0">
                                          <p:val>
                                            <p:strVal val="#ppt_y"/>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42" presetClass="entr" presetSubtype="0" fill="hold" grpId="0" nodeType="clickEffect">
                                  <p:stCondLst>
                                    <p:cond delay="0"/>
                                  </p:stCondLst>
                                  <p:childTnLst>
                                    <p:set>
                                      <p:cBhvr>
                                        <p:cTn id="54" dur="1" fill="hold">
                                          <p:stCondLst>
                                            <p:cond delay="0"/>
                                          </p:stCondLst>
                                        </p:cTn>
                                        <p:tgtEl>
                                          <p:spTgt spid="6"/>
                                        </p:tgtEl>
                                        <p:attrNameLst>
                                          <p:attrName>style.visibility</p:attrName>
                                        </p:attrNameLst>
                                      </p:cBhvr>
                                      <p:to>
                                        <p:strVal val="visible"/>
                                      </p:to>
                                    </p:set>
                                    <p:animEffect transition="in" filter="fade">
                                      <p:cBhvr>
                                        <p:cTn id="55" dur="1000"/>
                                        <p:tgtEl>
                                          <p:spTgt spid="6"/>
                                        </p:tgtEl>
                                      </p:cBhvr>
                                    </p:animEffect>
                                    <p:anim calcmode="lin" valueType="num">
                                      <p:cBhvr>
                                        <p:cTn id="56" dur="1000" fill="hold"/>
                                        <p:tgtEl>
                                          <p:spTgt spid="6"/>
                                        </p:tgtEl>
                                        <p:attrNameLst>
                                          <p:attrName>ppt_x</p:attrName>
                                        </p:attrNameLst>
                                      </p:cBhvr>
                                      <p:tavLst>
                                        <p:tav tm="0">
                                          <p:val>
                                            <p:strVal val="#ppt_x"/>
                                          </p:val>
                                        </p:tav>
                                        <p:tav tm="100000">
                                          <p:val>
                                            <p:strVal val="#ppt_x"/>
                                          </p:val>
                                        </p:tav>
                                      </p:tavLst>
                                    </p:anim>
                                    <p:anim calcmode="lin" valueType="num">
                                      <p:cBhvr>
                                        <p:cTn id="57"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58" fill="hold">
                      <p:stCondLst>
                        <p:cond delay="indefinite"/>
                      </p:stCondLst>
                      <p:childTnLst>
                        <p:par>
                          <p:cTn id="59" fill="hold">
                            <p:stCondLst>
                              <p:cond delay="0"/>
                            </p:stCondLst>
                            <p:childTnLst>
                              <p:par>
                                <p:cTn id="60" presetID="1" presetClass="entr" presetSubtype="0" fill="hold" nodeType="clickEffect">
                                  <p:stCondLst>
                                    <p:cond delay="0"/>
                                  </p:stCondLst>
                                  <p:childTnLst>
                                    <p:set>
                                      <p:cBhvr>
                                        <p:cTn id="61" dur="1" fill="hold">
                                          <p:stCondLst>
                                            <p:cond delay="0"/>
                                          </p:stCondLst>
                                        </p:cTn>
                                        <p:tgtEl>
                                          <p:spTgt spid="12"/>
                                        </p:tgtEl>
                                        <p:attrNameLst>
                                          <p:attrName>style.visibility</p:attrName>
                                        </p:attrNameLst>
                                      </p:cBhvr>
                                      <p:to>
                                        <p:strVal val="visible"/>
                                      </p:to>
                                    </p:set>
                                  </p:childTnLst>
                                </p:cTn>
                              </p:par>
                              <p:par>
                                <p:cTn id="62" presetID="1" presetClass="entr" presetSubtype="0" fill="hold" grpId="0" nodeType="withEffect">
                                  <p:stCondLst>
                                    <p:cond delay="0"/>
                                  </p:stCondLst>
                                  <p:childTnLst>
                                    <p:set>
                                      <p:cBhvr>
                                        <p:cTn id="63"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6979" grpId="0" build="p"/>
      <p:bldP spid="2" grpId="0"/>
      <p:bldP spid="3" grpId="0"/>
      <p:bldP spid="4" grpId="0"/>
      <p:bldP spid="5" grpId="0"/>
      <p:bldP spid="8" grpId="0"/>
      <p:bldP spid="9" grpId="0"/>
      <p:bldP spid="6" grpId="0"/>
      <p:bldP spid="11" grpId="0"/>
    </p:bld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标题 1"/>
          <p:cNvSpPr>
            <a:spLocks noGrp="1"/>
          </p:cNvSpPr>
          <p:nvPr>
            <p:ph type="title"/>
          </p:nvPr>
        </p:nvSpPr>
        <p:spPr>
          <a:xfrm>
            <a:off x="500063" y="152400"/>
            <a:ext cx="8001000" cy="685800"/>
          </a:xfrm>
          <a:noFill/>
          <a:ln w="9525">
            <a:noFill/>
          </a:ln>
        </p:spPr>
        <p:txBody>
          <a:bodyPr vert="horz" wrap="square" lIns="91440" tIns="45720" rIns="91440" bIns="45720" rtlCol="0" anchor="ctr" anchorCtr="0">
            <a:noAutofit/>
          </a:bodyPr>
          <a:lstStyle/>
          <a:p>
            <a:pPr lvl="0" algn="ctr" eaLnBrk="1" hangingPunct="1">
              <a:buClrTx/>
              <a:buSzTx/>
              <a:buFontTx/>
            </a:pPr>
            <a:r>
              <a:rPr lang="zh-CN" altLang="en-US" sz="4400" b="0" dirty="0">
                <a:latin typeface="黑体" panose="02010609060101010101" pitchFamily="2" charset="-122"/>
                <a:ea typeface="黑体" panose="02010609060101010101" pitchFamily="2" charset="-122"/>
                <a:sym typeface="+mn-ea"/>
              </a:rPr>
              <a:t>示例</a:t>
            </a:r>
          </a:p>
        </p:txBody>
      </p:sp>
      <p:sp>
        <p:nvSpPr>
          <p:cNvPr id="128003" name="内容占位符 2"/>
          <p:cNvSpPr>
            <a:spLocks noGrp="1"/>
          </p:cNvSpPr>
          <p:nvPr>
            <p:ph idx="1"/>
          </p:nvPr>
        </p:nvSpPr>
        <p:spPr>
          <a:xfrm>
            <a:off x="323528" y="1143001"/>
            <a:ext cx="8640960" cy="2790055"/>
          </a:xfrm>
        </p:spPr>
        <p:txBody>
          <a:bodyPr vert="horz" wrap="square" lIns="91440" tIns="45720" rIns="91440" bIns="45720" anchor="t" anchorCtr="0"/>
          <a:lstStyle/>
          <a:p>
            <a:pPr marL="0" indent="0">
              <a:spcBef>
                <a:spcPts val="200"/>
              </a:spcBef>
              <a:buNone/>
            </a:pPr>
            <a:r>
              <a:rPr lang="zh-CN" altLang="en-US" sz="3200" b="1" dirty="0" smtClean="0">
                <a:cs typeface="等线" panose="02010600030101010101" charset="-122"/>
              </a:rPr>
              <a:t>例</a:t>
            </a:r>
            <a:r>
              <a:rPr lang="en-US" altLang="zh-CN" sz="3200" b="1" dirty="0" smtClean="0">
                <a:cs typeface="等线" panose="02010600030101010101" charset="-122"/>
              </a:rPr>
              <a:t>4.80  </a:t>
            </a:r>
            <a:r>
              <a:rPr lang="zh-CN" altLang="en-US" sz="3200" b="1" dirty="0" smtClean="0">
                <a:cs typeface="等线" panose="02010600030101010101" charset="-122"/>
              </a:rPr>
              <a:t>修改</a:t>
            </a:r>
            <a:r>
              <a:rPr lang="zh-CN" altLang="en-US" sz="3200" b="1" dirty="0">
                <a:cs typeface="等线" panose="02010600030101010101" charset="-122"/>
              </a:rPr>
              <a:t>全体学生的</a:t>
            </a:r>
            <a:r>
              <a:rPr lang="en-US" altLang="zh-CN" sz="3200" b="1" dirty="0">
                <a:cs typeface="等线" panose="02010600030101010101" charset="-122"/>
              </a:rPr>
              <a:t>VB</a:t>
            </a:r>
            <a:r>
              <a:rPr lang="zh-CN" altLang="en-US" sz="3200" b="1" dirty="0">
                <a:cs typeface="等线" panose="02010600030101010101" charset="-122"/>
              </a:rPr>
              <a:t>考试成绩，修改规则如下：</a:t>
            </a:r>
          </a:p>
          <a:p>
            <a:pPr lvl="1">
              <a:spcBef>
                <a:spcPts val="200"/>
              </a:spcBef>
            </a:pPr>
            <a:r>
              <a:rPr lang="zh-CN" altLang="en-US" b="1" dirty="0">
                <a:cs typeface="等线" panose="02010600030101010101" charset="-122"/>
              </a:rPr>
              <a:t>对通信工程系学生，成绩加</a:t>
            </a:r>
            <a:r>
              <a:rPr lang="en-US" altLang="zh-CN" b="1" dirty="0">
                <a:cs typeface="等线" panose="02010600030101010101" charset="-122"/>
              </a:rPr>
              <a:t>10</a:t>
            </a:r>
            <a:r>
              <a:rPr lang="zh-CN" altLang="en-US" b="1" dirty="0">
                <a:cs typeface="等线" panose="02010600030101010101" charset="-122"/>
              </a:rPr>
              <a:t>分；</a:t>
            </a:r>
          </a:p>
          <a:p>
            <a:pPr lvl="1">
              <a:spcBef>
                <a:spcPts val="200"/>
              </a:spcBef>
            </a:pPr>
            <a:r>
              <a:rPr lang="zh-CN" altLang="en-US" b="1" dirty="0">
                <a:cs typeface="等线" panose="02010600030101010101" charset="-122"/>
              </a:rPr>
              <a:t>对信息管理系学生，成绩加</a:t>
            </a:r>
            <a:r>
              <a:rPr lang="en-US" altLang="zh-CN" b="1" dirty="0">
                <a:cs typeface="等线" panose="02010600030101010101" charset="-122"/>
              </a:rPr>
              <a:t>5</a:t>
            </a:r>
            <a:r>
              <a:rPr lang="zh-CN" altLang="en-US" b="1" dirty="0">
                <a:cs typeface="等线" panose="02010600030101010101" charset="-122"/>
              </a:rPr>
              <a:t>分；</a:t>
            </a:r>
          </a:p>
          <a:p>
            <a:pPr lvl="1">
              <a:spcBef>
                <a:spcPts val="200"/>
              </a:spcBef>
            </a:pPr>
            <a:r>
              <a:rPr lang="zh-CN" altLang="en-US" b="1" dirty="0">
                <a:cs typeface="等线" panose="02010600030101010101" charset="-122"/>
              </a:rPr>
              <a:t>对其他系学生，成绩不变</a:t>
            </a:r>
            <a:r>
              <a:rPr lang="zh-CN" altLang="en-US" b="1" dirty="0" smtClean="0">
                <a:cs typeface="等线" panose="02010600030101010101" charset="-122"/>
              </a:rPr>
              <a:t>。</a:t>
            </a:r>
            <a:endParaRPr lang="en-US" altLang="zh-CN" b="1" dirty="0" smtClean="0">
              <a:cs typeface="等线" panose="02010600030101010101" charset="-122"/>
            </a:endParaRPr>
          </a:p>
          <a:p>
            <a:pPr marL="457200" lvl="1" indent="0">
              <a:spcBef>
                <a:spcPts val="200"/>
              </a:spcBef>
              <a:buNone/>
            </a:pPr>
            <a:endParaRPr lang="zh-CN" altLang="en-US" b="1" dirty="0">
              <a:cs typeface="等线" panose="02010600030101010101" charset="-122"/>
            </a:endParaRPr>
          </a:p>
        </p:txBody>
      </p:sp>
      <p:sp>
        <p:nvSpPr>
          <p:cNvPr id="2" name="矩形 1"/>
          <p:cNvSpPr/>
          <p:nvPr/>
        </p:nvSpPr>
        <p:spPr>
          <a:xfrm>
            <a:off x="323528" y="3861048"/>
            <a:ext cx="8820472" cy="2369880"/>
          </a:xfrm>
          <a:prstGeom prst="rect">
            <a:avLst/>
          </a:prstGeom>
        </p:spPr>
        <p:txBody>
          <a:bodyPr wrap="square">
            <a:spAutoFit/>
          </a:bodyPr>
          <a:lstStyle/>
          <a:p>
            <a:pPr lvl="1" algn="l">
              <a:spcBef>
                <a:spcPts val="300"/>
              </a:spcBef>
            </a:pPr>
            <a:r>
              <a:rPr lang="en-US" altLang="zh-CN" sz="3200" b="1" dirty="0">
                <a:solidFill>
                  <a:srgbClr val="0000FF"/>
                </a:solidFill>
                <a:latin typeface="Times New Roman" pitchFamily="18" charset="0"/>
                <a:cs typeface="Times New Roman" pitchFamily="18" charset="0"/>
              </a:rPr>
              <a:t>UPDATE SC </a:t>
            </a:r>
            <a:endParaRPr lang="en-US" altLang="zh-CN" sz="3200" b="1" dirty="0" smtClean="0">
              <a:solidFill>
                <a:srgbClr val="0000FF"/>
              </a:solidFill>
              <a:latin typeface="Times New Roman" pitchFamily="18" charset="0"/>
              <a:cs typeface="Times New Roman" pitchFamily="18" charset="0"/>
            </a:endParaRPr>
          </a:p>
          <a:p>
            <a:pPr lvl="1" algn="l">
              <a:spcBef>
                <a:spcPts val="800"/>
              </a:spcBef>
            </a:pPr>
            <a:r>
              <a:rPr lang="en-US" altLang="zh-CN" sz="3200" b="1" dirty="0" smtClean="0">
                <a:solidFill>
                  <a:srgbClr val="0000FF"/>
                </a:solidFill>
                <a:latin typeface="Times New Roman" pitchFamily="18" charset="0"/>
                <a:cs typeface="Times New Roman" pitchFamily="18" charset="0"/>
              </a:rPr>
              <a:t>SET </a:t>
            </a:r>
            <a:r>
              <a:rPr lang="en-US" altLang="zh-CN" sz="3200" b="1" dirty="0">
                <a:solidFill>
                  <a:srgbClr val="0000FF"/>
                </a:solidFill>
                <a:latin typeface="Times New Roman" pitchFamily="18" charset="0"/>
                <a:cs typeface="Times New Roman" pitchFamily="18" charset="0"/>
              </a:rPr>
              <a:t>Grade = Grade + 10</a:t>
            </a:r>
            <a:endParaRPr lang="zh-CN" altLang="en-US" sz="3200" b="1" dirty="0">
              <a:solidFill>
                <a:srgbClr val="0000FF"/>
              </a:solidFill>
              <a:latin typeface="Times New Roman" pitchFamily="18" charset="0"/>
              <a:cs typeface="Times New Roman" pitchFamily="18" charset="0"/>
            </a:endParaRPr>
          </a:p>
          <a:p>
            <a:pPr lvl="1" algn="l">
              <a:spcBef>
                <a:spcPts val="800"/>
              </a:spcBef>
            </a:pPr>
            <a:r>
              <a:rPr lang="en-US" altLang="zh-CN" sz="3200" b="1" dirty="0">
                <a:solidFill>
                  <a:srgbClr val="0000FF"/>
                </a:solidFill>
                <a:latin typeface="Times New Roman" pitchFamily="18" charset="0"/>
                <a:cs typeface="Times New Roman" pitchFamily="18" charset="0"/>
              </a:rPr>
              <a:t>FROM SC </a:t>
            </a:r>
            <a:r>
              <a:rPr lang="en-US" altLang="zh-CN" sz="3200" b="1" dirty="0" smtClean="0">
                <a:solidFill>
                  <a:srgbClr val="0000FF"/>
                </a:solidFill>
                <a:latin typeface="Times New Roman" pitchFamily="18" charset="0"/>
                <a:cs typeface="Times New Roman" pitchFamily="18" charset="0"/>
              </a:rPr>
              <a:t>join </a:t>
            </a:r>
            <a:r>
              <a:rPr lang="en-US" altLang="zh-CN" sz="3200" b="1" dirty="0">
                <a:solidFill>
                  <a:srgbClr val="0000FF"/>
                </a:solidFill>
                <a:latin typeface="Times New Roman" pitchFamily="18" charset="0"/>
                <a:cs typeface="Times New Roman" pitchFamily="18" charset="0"/>
              </a:rPr>
              <a:t>Course C ON </a:t>
            </a:r>
            <a:r>
              <a:rPr lang="en-US" altLang="zh-CN" sz="3200" b="1" dirty="0" err="1">
                <a:solidFill>
                  <a:srgbClr val="0000FF"/>
                </a:solidFill>
                <a:latin typeface="Times New Roman" pitchFamily="18" charset="0"/>
                <a:cs typeface="Times New Roman" pitchFamily="18" charset="0"/>
              </a:rPr>
              <a:t>C.Cno</a:t>
            </a:r>
            <a:r>
              <a:rPr lang="en-US" altLang="zh-CN" sz="3200" b="1" dirty="0">
                <a:solidFill>
                  <a:srgbClr val="0000FF"/>
                </a:solidFill>
                <a:latin typeface="Times New Roman" pitchFamily="18" charset="0"/>
                <a:cs typeface="Times New Roman" pitchFamily="18" charset="0"/>
              </a:rPr>
              <a:t> = </a:t>
            </a:r>
            <a:r>
              <a:rPr lang="en-US" altLang="zh-CN" sz="3200" b="1" dirty="0" err="1">
                <a:solidFill>
                  <a:srgbClr val="0000FF"/>
                </a:solidFill>
                <a:latin typeface="Times New Roman" pitchFamily="18" charset="0"/>
                <a:cs typeface="Times New Roman" pitchFamily="18" charset="0"/>
              </a:rPr>
              <a:t>SC.Cno</a:t>
            </a:r>
            <a:endParaRPr lang="zh-CN" altLang="en-US" sz="3200" b="1" dirty="0">
              <a:solidFill>
                <a:srgbClr val="0000FF"/>
              </a:solidFill>
              <a:latin typeface="Times New Roman" pitchFamily="18" charset="0"/>
              <a:cs typeface="Times New Roman" pitchFamily="18" charset="0"/>
            </a:endParaRPr>
          </a:p>
          <a:p>
            <a:pPr lvl="1" algn="l">
              <a:spcBef>
                <a:spcPts val="800"/>
              </a:spcBef>
            </a:pPr>
            <a:r>
              <a:rPr lang="en-US" altLang="zh-CN" sz="3200" b="1" dirty="0">
                <a:solidFill>
                  <a:srgbClr val="0000FF"/>
                </a:solidFill>
                <a:latin typeface="Times New Roman" pitchFamily="18" charset="0"/>
                <a:cs typeface="Times New Roman" pitchFamily="18" charset="0"/>
              </a:rPr>
              <a:t>WHERE </a:t>
            </a:r>
            <a:r>
              <a:rPr lang="en-US" altLang="zh-CN" sz="3200" b="1" dirty="0" err="1">
                <a:solidFill>
                  <a:srgbClr val="0000FF"/>
                </a:solidFill>
                <a:latin typeface="Times New Roman" pitchFamily="18" charset="0"/>
                <a:cs typeface="Times New Roman" pitchFamily="18" charset="0"/>
              </a:rPr>
              <a:t>Cname</a:t>
            </a:r>
            <a:r>
              <a:rPr lang="en-US" altLang="zh-CN" sz="3200" b="1" dirty="0">
                <a:solidFill>
                  <a:srgbClr val="0000FF"/>
                </a:solidFill>
                <a:latin typeface="Times New Roman" pitchFamily="18" charset="0"/>
                <a:cs typeface="Times New Roman" pitchFamily="18" charset="0"/>
              </a:rPr>
              <a:t> = 'VB'</a:t>
            </a:r>
            <a:endParaRPr lang="zh-CN" altLang="en-US" sz="3200" b="1" dirty="0">
              <a:solidFill>
                <a:srgbClr val="0000FF"/>
              </a:solidFill>
              <a:latin typeface="Times New Roman" pitchFamily="18" charset="0"/>
              <a:cs typeface="Times New Roman" pitchFamily="18" charset="0"/>
            </a:endParaRPr>
          </a:p>
        </p:txBody>
      </p:sp>
    </p:spTree>
    <p:extLst>
      <p:ext uri="{BB962C8B-B14F-4D97-AF65-F5344CB8AC3E}">
        <p14:creationId xmlns:p14="http://schemas.microsoft.com/office/powerpoint/2010/main" val="14544165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128003">
                                            <p:txEl>
                                              <p:pRg st="0" end="0"/>
                                            </p:txEl>
                                          </p:spTgt>
                                        </p:tgtEl>
                                        <p:attrNameLst>
                                          <p:attrName>style.visibility</p:attrName>
                                        </p:attrNameLst>
                                      </p:cBhvr>
                                      <p:to>
                                        <p:strVal val="visible"/>
                                      </p:to>
                                    </p:set>
                                    <p:animEffect transition="in" filter="randombar(horizontal)">
                                      <p:cBhvr>
                                        <p:cTn id="7" dur="500"/>
                                        <p:tgtEl>
                                          <p:spTgt spid="128003">
                                            <p:txEl>
                                              <p:pRg st="0" end="0"/>
                                            </p:txEl>
                                          </p:spTgt>
                                        </p:tgtEl>
                                      </p:cBhvr>
                                    </p:animEffect>
                                  </p:childTnLst>
                                </p:cTn>
                              </p:par>
                              <p:par>
                                <p:cTn id="8" presetID="14" presetClass="entr" presetSubtype="10" fill="hold" grpId="0" nodeType="withEffect">
                                  <p:stCondLst>
                                    <p:cond delay="0"/>
                                  </p:stCondLst>
                                  <p:childTnLst>
                                    <p:set>
                                      <p:cBhvr>
                                        <p:cTn id="9" dur="1" fill="hold">
                                          <p:stCondLst>
                                            <p:cond delay="0"/>
                                          </p:stCondLst>
                                        </p:cTn>
                                        <p:tgtEl>
                                          <p:spTgt spid="128003">
                                            <p:txEl>
                                              <p:pRg st="1" end="1"/>
                                            </p:txEl>
                                          </p:spTgt>
                                        </p:tgtEl>
                                        <p:attrNameLst>
                                          <p:attrName>style.visibility</p:attrName>
                                        </p:attrNameLst>
                                      </p:cBhvr>
                                      <p:to>
                                        <p:strVal val="visible"/>
                                      </p:to>
                                    </p:set>
                                    <p:animEffect transition="in" filter="randombar(horizontal)">
                                      <p:cBhvr>
                                        <p:cTn id="10" dur="500"/>
                                        <p:tgtEl>
                                          <p:spTgt spid="128003">
                                            <p:txEl>
                                              <p:pRg st="1" end="1"/>
                                            </p:txEl>
                                          </p:spTgt>
                                        </p:tgtEl>
                                      </p:cBhvr>
                                    </p:animEffect>
                                  </p:childTnLst>
                                </p:cTn>
                              </p:par>
                              <p:par>
                                <p:cTn id="11" presetID="14" presetClass="entr" presetSubtype="10" fill="hold" grpId="0" nodeType="withEffect">
                                  <p:stCondLst>
                                    <p:cond delay="0"/>
                                  </p:stCondLst>
                                  <p:childTnLst>
                                    <p:set>
                                      <p:cBhvr>
                                        <p:cTn id="12" dur="1" fill="hold">
                                          <p:stCondLst>
                                            <p:cond delay="0"/>
                                          </p:stCondLst>
                                        </p:cTn>
                                        <p:tgtEl>
                                          <p:spTgt spid="128003">
                                            <p:txEl>
                                              <p:pRg st="2" end="2"/>
                                            </p:txEl>
                                          </p:spTgt>
                                        </p:tgtEl>
                                        <p:attrNameLst>
                                          <p:attrName>style.visibility</p:attrName>
                                        </p:attrNameLst>
                                      </p:cBhvr>
                                      <p:to>
                                        <p:strVal val="visible"/>
                                      </p:to>
                                    </p:set>
                                    <p:animEffect transition="in" filter="randombar(horizontal)">
                                      <p:cBhvr>
                                        <p:cTn id="13" dur="500"/>
                                        <p:tgtEl>
                                          <p:spTgt spid="128003">
                                            <p:txEl>
                                              <p:pRg st="2" end="2"/>
                                            </p:txEl>
                                          </p:spTgt>
                                        </p:tgtEl>
                                      </p:cBhvr>
                                    </p:animEffect>
                                  </p:childTnLst>
                                </p:cTn>
                              </p:par>
                              <p:par>
                                <p:cTn id="14" presetID="14" presetClass="entr" presetSubtype="10" fill="hold" grpId="0" nodeType="withEffect">
                                  <p:stCondLst>
                                    <p:cond delay="0"/>
                                  </p:stCondLst>
                                  <p:childTnLst>
                                    <p:set>
                                      <p:cBhvr>
                                        <p:cTn id="15" dur="1" fill="hold">
                                          <p:stCondLst>
                                            <p:cond delay="0"/>
                                          </p:stCondLst>
                                        </p:cTn>
                                        <p:tgtEl>
                                          <p:spTgt spid="128003">
                                            <p:txEl>
                                              <p:pRg st="3" end="3"/>
                                            </p:txEl>
                                          </p:spTgt>
                                        </p:tgtEl>
                                        <p:attrNameLst>
                                          <p:attrName>style.visibility</p:attrName>
                                        </p:attrNameLst>
                                      </p:cBhvr>
                                      <p:to>
                                        <p:strVal val="visible"/>
                                      </p:to>
                                    </p:set>
                                    <p:animEffect transition="in" filter="randombar(horizontal)">
                                      <p:cBhvr>
                                        <p:cTn id="16" dur="500"/>
                                        <p:tgtEl>
                                          <p:spTgt spid="128003">
                                            <p:txEl>
                                              <p:pRg st="3" end="3"/>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grpId="1" nodeType="clickEffect">
                                  <p:stCondLst>
                                    <p:cond delay="0"/>
                                  </p:stCondLst>
                                  <p:childTnLst>
                                    <p:set>
                                      <p:cBhvr>
                                        <p:cTn id="20" dur="1" fill="hold">
                                          <p:stCondLst>
                                            <p:cond delay="0"/>
                                          </p:stCondLst>
                                        </p:cTn>
                                        <p:tgtEl>
                                          <p:spTgt spid="2"/>
                                        </p:tgtEl>
                                        <p:attrNameLst>
                                          <p:attrName>style.visibility</p:attrName>
                                        </p:attrNameLst>
                                      </p:cBhvr>
                                      <p:to>
                                        <p:strVal val="visible"/>
                                      </p:to>
                                    </p:set>
                                    <p:anim calcmode="lin" valueType="num">
                                      <p:cBhvr additive="base">
                                        <p:cTn id="21" dur="500" fill="hold"/>
                                        <p:tgtEl>
                                          <p:spTgt spid="2"/>
                                        </p:tgtEl>
                                        <p:attrNameLst>
                                          <p:attrName>ppt_x</p:attrName>
                                        </p:attrNameLst>
                                      </p:cBhvr>
                                      <p:tavLst>
                                        <p:tav tm="0">
                                          <p:val>
                                            <p:strVal val="#ppt_x"/>
                                          </p:val>
                                        </p:tav>
                                        <p:tav tm="100000">
                                          <p:val>
                                            <p:strVal val="#ppt_x"/>
                                          </p:val>
                                        </p:tav>
                                      </p:tavLst>
                                    </p:anim>
                                    <p:anim calcmode="lin" valueType="num">
                                      <p:cBhvr additive="base">
                                        <p:cTn id="22"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6" presetClass="emph" presetSubtype="0" fill="hold" grpId="0" nodeType="clickEffect">
                                  <p:stCondLst>
                                    <p:cond delay="0"/>
                                  </p:stCondLst>
                                  <p:childTnLst>
                                    <p:animEffect transition="out" filter="fade">
                                      <p:cBhvr>
                                        <p:cTn id="26" dur="500" tmFilter="0, 0; .2, .5; .8, .5; 1, 0"/>
                                        <p:tgtEl>
                                          <p:spTgt spid="2"/>
                                        </p:tgtEl>
                                      </p:cBhvr>
                                    </p:animEffect>
                                    <p:animScale>
                                      <p:cBhvr>
                                        <p:cTn id="27" dur="250" autoRev="1" fill="hold"/>
                                        <p:tgtEl>
                                          <p:spTgt spid="2"/>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8003" grpId="0" build="p"/>
      <p:bldP spid="2" grpId="0"/>
      <p:bldP spid="2" grpId="1"/>
    </p:bld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bwMode="auto">
          <a:xfrm>
            <a:off x="971600" y="3212976"/>
            <a:ext cx="6048672" cy="2016224"/>
          </a:xfrm>
          <a:prstGeom prst="rect">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r" defTabSz="914400" rtl="0" eaLnBrk="1" fontAlgn="base" latinLnBrk="0" hangingPunct="1">
              <a:lnSpc>
                <a:spcPct val="100000"/>
              </a:lnSpc>
              <a:spcBef>
                <a:spcPct val="0"/>
              </a:spcBef>
              <a:spcAft>
                <a:spcPct val="0"/>
              </a:spcAft>
              <a:buClrTx/>
              <a:buSzTx/>
              <a:buFontTx/>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Gulim" panose="02010600030101010101" pitchFamily="34" charset="-127"/>
            </a:endParaRPr>
          </a:p>
        </p:txBody>
      </p:sp>
      <p:sp>
        <p:nvSpPr>
          <p:cNvPr id="128002" name="标题 1"/>
          <p:cNvSpPr>
            <a:spLocks noGrp="1"/>
          </p:cNvSpPr>
          <p:nvPr>
            <p:ph type="title"/>
          </p:nvPr>
        </p:nvSpPr>
        <p:spPr>
          <a:xfrm>
            <a:off x="500063" y="152400"/>
            <a:ext cx="8001000" cy="685800"/>
          </a:xfrm>
          <a:noFill/>
          <a:ln w="9525">
            <a:noFill/>
          </a:ln>
        </p:spPr>
        <p:txBody>
          <a:bodyPr vert="horz" wrap="square" lIns="91440" tIns="45720" rIns="91440" bIns="45720" rtlCol="0" anchor="ctr" anchorCtr="0">
            <a:normAutofit fontScale="90000"/>
          </a:bodyPr>
          <a:lstStyle/>
          <a:p>
            <a:pPr lvl="0" algn="ctr" eaLnBrk="1" hangingPunct="1">
              <a:buClrTx/>
              <a:buSzTx/>
              <a:buFontTx/>
            </a:pPr>
            <a:r>
              <a:rPr lang="zh-CN" altLang="en-US" sz="4000" b="0" dirty="0">
                <a:latin typeface="黑体" panose="02010609060101010101" pitchFamily="2" charset="-122"/>
                <a:ea typeface="黑体" panose="02010609060101010101" pitchFamily="2" charset="-122"/>
                <a:sym typeface="+mn-ea"/>
              </a:rPr>
              <a:t>示例</a:t>
            </a:r>
          </a:p>
        </p:txBody>
      </p:sp>
      <p:sp>
        <p:nvSpPr>
          <p:cNvPr id="128003" name="内容占位符 2"/>
          <p:cNvSpPr>
            <a:spLocks noGrp="1"/>
          </p:cNvSpPr>
          <p:nvPr>
            <p:ph idx="1"/>
          </p:nvPr>
        </p:nvSpPr>
        <p:spPr>
          <a:xfrm>
            <a:off x="457200" y="1143000"/>
            <a:ext cx="8507288" cy="5286375"/>
          </a:xfrm>
        </p:spPr>
        <p:txBody>
          <a:bodyPr vert="horz" wrap="square" lIns="91440" tIns="45720" rIns="91440" bIns="45720" anchor="t" anchorCtr="0"/>
          <a:lstStyle/>
          <a:p>
            <a:pPr marL="0" indent="0">
              <a:spcBef>
                <a:spcPts val="200"/>
              </a:spcBef>
              <a:buNone/>
            </a:pPr>
            <a:r>
              <a:rPr lang="zh-CN" altLang="en-US" sz="2600" b="1" dirty="0" smtClean="0">
                <a:cs typeface="等线" panose="02010600030101010101" charset="-122"/>
              </a:rPr>
              <a:t>例</a:t>
            </a:r>
            <a:r>
              <a:rPr lang="en-US" altLang="zh-CN" sz="2600" b="1" dirty="0" smtClean="0">
                <a:cs typeface="等线" panose="02010600030101010101" charset="-122"/>
              </a:rPr>
              <a:t>4.80  </a:t>
            </a:r>
            <a:r>
              <a:rPr lang="zh-CN" altLang="en-US" sz="2600" b="1" dirty="0" smtClean="0">
                <a:cs typeface="等线" panose="02010600030101010101" charset="-122"/>
              </a:rPr>
              <a:t>修改</a:t>
            </a:r>
            <a:r>
              <a:rPr lang="zh-CN" altLang="en-US" sz="2600" b="1" dirty="0">
                <a:cs typeface="等线" panose="02010600030101010101" charset="-122"/>
              </a:rPr>
              <a:t>全体学生的</a:t>
            </a:r>
            <a:r>
              <a:rPr lang="en-US" altLang="zh-CN" sz="2600" b="1" dirty="0">
                <a:cs typeface="等线" panose="02010600030101010101" charset="-122"/>
              </a:rPr>
              <a:t>VB</a:t>
            </a:r>
            <a:r>
              <a:rPr lang="zh-CN" altLang="en-US" sz="2600" b="1" dirty="0">
                <a:cs typeface="等线" panose="02010600030101010101" charset="-122"/>
              </a:rPr>
              <a:t>考试成绩，修改规则如下：</a:t>
            </a:r>
          </a:p>
          <a:p>
            <a:pPr lvl="1">
              <a:spcBef>
                <a:spcPts val="200"/>
              </a:spcBef>
            </a:pPr>
            <a:r>
              <a:rPr lang="zh-CN" altLang="en-US" sz="2445" b="1" dirty="0">
                <a:cs typeface="等线" panose="02010600030101010101" charset="-122"/>
              </a:rPr>
              <a:t>对通信工程系学生，成绩加</a:t>
            </a:r>
            <a:r>
              <a:rPr lang="en-US" altLang="zh-CN" sz="2445" b="1" dirty="0">
                <a:cs typeface="等线" panose="02010600030101010101" charset="-122"/>
              </a:rPr>
              <a:t>10</a:t>
            </a:r>
            <a:r>
              <a:rPr lang="zh-CN" altLang="en-US" sz="2445" b="1" dirty="0">
                <a:cs typeface="等线" panose="02010600030101010101" charset="-122"/>
              </a:rPr>
              <a:t>分；</a:t>
            </a:r>
          </a:p>
          <a:p>
            <a:pPr lvl="1">
              <a:spcBef>
                <a:spcPts val="200"/>
              </a:spcBef>
            </a:pPr>
            <a:r>
              <a:rPr lang="zh-CN" altLang="en-US" sz="2445" b="1" dirty="0">
                <a:cs typeface="等线" panose="02010600030101010101" charset="-122"/>
              </a:rPr>
              <a:t>对信息管理系学生，成绩加</a:t>
            </a:r>
            <a:r>
              <a:rPr lang="en-US" altLang="zh-CN" sz="2445" b="1" dirty="0">
                <a:cs typeface="等线" panose="02010600030101010101" charset="-122"/>
              </a:rPr>
              <a:t>5</a:t>
            </a:r>
            <a:r>
              <a:rPr lang="zh-CN" altLang="en-US" sz="2445" b="1" dirty="0">
                <a:cs typeface="等线" panose="02010600030101010101" charset="-122"/>
              </a:rPr>
              <a:t>分；</a:t>
            </a:r>
          </a:p>
          <a:p>
            <a:pPr lvl="1">
              <a:spcBef>
                <a:spcPts val="200"/>
              </a:spcBef>
            </a:pPr>
            <a:r>
              <a:rPr lang="zh-CN" altLang="en-US" sz="2445" b="1" dirty="0">
                <a:cs typeface="等线" panose="02010600030101010101" charset="-122"/>
              </a:rPr>
              <a:t>对其他系学生，成绩不变。</a:t>
            </a:r>
          </a:p>
          <a:p>
            <a:pPr lvl="1">
              <a:spcBef>
                <a:spcPts val="300"/>
              </a:spcBef>
              <a:buFont typeface="Wingdings" panose="05000000000000000000" pitchFamily="2" charset="2"/>
              <a:buNone/>
            </a:pPr>
            <a:r>
              <a:rPr lang="en-US" altLang="zh-CN" sz="2600" b="1" dirty="0">
                <a:solidFill>
                  <a:srgbClr val="0000FF"/>
                </a:solidFill>
                <a:cs typeface="等线" panose="02010600030101010101" charset="-122"/>
              </a:rPr>
              <a:t>UPDATE SC SET Grade = Grade + </a:t>
            </a:r>
            <a:endParaRPr lang="zh-CN" altLang="en-US" sz="2600" b="1" dirty="0">
              <a:solidFill>
                <a:srgbClr val="0000FF"/>
              </a:solidFill>
              <a:cs typeface="等线" panose="02010600030101010101" charset="-122"/>
            </a:endParaRPr>
          </a:p>
          <a:p>
            <a:pPr lvl="1">
              <a:spcBef>
                <a:spcPct val="0"/>
              </a:spcBef>
              <a:buFont typeface="Wingdings" panose="05000000000000000000" pitchFamily="2" charset="2"/>
              <a:buNone/>
            </a:pPr>
            <a:r>
              <a:rPr lang="en-US" altLang="zh-CN" sz="2600" b="1" dirty="0">
                <a:solidFill>
                  <a:srgbClr val="0000FF"/>
                </a:solidFill>
                <a:cs typeface="等线" panose="02010600030101010101" charset="-122"/>
              </a:rPr>
              <a:t>  </a:t>
            </a:r>
            <a:r>
              <a:rPr lang="en-US" altLang="zh-CN" sz="2600" b="1" dirty="0">
                <a:solidFill>
                  <a:schemeClr val="bg1"/>
                </a:solidFill>
                <a:cs typeface="等线" panose="02010600030101010101" charset="-122"/>
              </a:rPr>
              <a:t>CASE Sdept</a:t>
            </a:r>
            <a:endParaRPr lang="zh-CN" altLang="en-US" sz="2600" b="1" dirty="0">
              <a:solidFill>
                <a:schemeClr val="bg1"/>
              </a:solidFill>
              <a:cs typeface="等线" panose="02010600030101010101" charset="-122"/>
            </a:endParaRPr>
          </a:p>
          <a:p>
            <a:pPr lvl="1">
              <a:spcBef>
                <a:spcPct val="0"/>
              </a:spcBef>
              <a:buFont typeface="Wingdings" panose="05000000000000000000" pitchFamily="2" charset="2"/>
              <a:buNone/>
            </a:pPr>
            <a:r>
              <a:rPr lang="en-US" altLang="zh-CN" sz="2600" b="1" dirty="0">
                <a:solidFill>
                  <a:schemeClr val="bg1"/>
                </a:solidFill>
                <a:cs typeface="等线" panose="02010600030101010101" charset="-122"/>
              </a:rPr>
              <a:t>    WHEN '</a:t>
            </a:r>
            <a:r>
              <a:rPr lang="zh-CN" altLang="en-US" sz="2600" b="1" dirty="0">
                <a:solidFill>
                  <a:schemeClr val="bg1"/>
                </a:solidFill>
                <a:cs typeface="等线" panose="02010600030101010101" charset="-122"/>
              </a:rPr>
              <a:t>通信工程系</a:t>
            </a:r>
            <a:r>
              <a:rPr lang="en-US" altLang="zh-CN" sz="2600" b="1" dirty="0">
                <a:solidFill>
                  <a:schemeClr val="bg1"/>
                </a:solidFill>
                <a:cs typeface="等线" panose="02010600030101010101" charset="-122"/>
              </a:rPr>
              <a:t>' THEN 10</a:t>
            </a:r>
            <a:endParaRPr lang="zh-CN" altLang="en-US" sz="2600" b="1" dirty="0">
              <a:solidFill>
                <a:schemeClr val="bg1"/>
              </a:solidFill>
              <a:cs typeface="等线" panose="02010600030101010101" charset="-122"/>
            </a:endParaRPr>
          </a:p>
          <a:p>
            <a:pPr lvl="1">
              <a:spcBef>
                <a:spcPct val="0"/>
              </a:spcBef>
              <a:buFont typeface="Wingdings" panose="05000000000000000000" pitchFamily="2" charset="2"/>
              <a:buNone/>
            </a:pPr>
            <a:r>
              <a:rPr lang="en-US" altLang="zh-CN" sz="2600" b="1" dirty="0">
                <a:solidFill>
                  <a:schemeClr val="bg1"/>
                </a:solidFill>
                <a:cs typeface="等线" panose="02010600030101010101" charset="-122"/>
              </a:rPr>
              <a:t>    WHEN '</a:t>
            </a:r>
            <a:r>
              <a:rPr lang="zh-CN" altLang="en-US" sz="2600" b="1" dirty="0">
                <a:solidFill>
                  <a:schemeClr val="bg1"/>
                </a:solidFill>
                <a:cs typeface="等线" panose="02010600030101010101" charset="-122"/>
              </a:rPr>
              <a:t>信息管理系</a:t>
            </a:r>
            <a:r>
              <a:rPr lang="en-US" altLang="zh-CN" sz="2600" b="1" dirty="0">
                <a:solidFill>
                  <a:schemeClr val="bg1"/>
                </a:solidFill>
                <a:cs typeface="等线" panose="02010600030101010101" charset="-122"/>
              </a:rPr>
              <a:t>' THEN 5</a:t>
            </a:r>
            <a:endParaRPr lang="zh-CN" altLang="en-US" sz="2600" b="1" dirty="0">
              <a:solidFill>
                <a:schemeClr val="bg1"/>
              </a:solidFill>
              <a:cs typeface="等线" panose="02010600030101010101" charset="-122"/>
            </a:endParaRPr>
          </a:p>
          <a:p>
            <a:pPr lvl="1">
              <a:spcBef>
                <a:spcPct val="0"/>
              </a:spcBef>
              <a:buFont typeface="Wingdings" panose="05000000000000000000" pitchFamily="2" charset="2"/>
              <a:buNone/>
            </a:pPr>
            <a:r>
              <a:rPr lang="en-US" altLang="zh-CN" sz="2600" b="1" dirty="0">
                <a:solidFill>
                  <a:schemeClr val="bg1"/>
                </a:solidFill>
                <a:cs typeface="等线" panose="02010600030101010101" charset="-122"/>
              </a:rPr>
              <a:t>    ELSE 0</a:t>
            </a:r>
            <a:endParaRPr lang="zh-CN" altLang="en-US" sz="2600" b="1" dirty="0">
              <a:solidFill>
                <a:schemeClr val="bg1"/>
              </a:solidFill>
              <a:cs typeface="等线" panose="02010600030101010101" charset="-122"/>
            </a:endParaRPr>
          </a:p>
          <a:p>
            <a:pPr lvl="1">
              <a:spcBef>
                <a:spcPct val="0"/>
              </a:spcBef>
              <a:buFont typeface="Wingdings" panose="05000000000000000000" pitchFamily="2" charset="2"/>
              <a:buNone/>
            </a:pPr>
            <a:r>
              <a:rPr lang="en-US" altLang="zh-CN" sz="2600" b="1" dirty="0">
                <a:solidFill>
                  <a:schemeClr val="bg1"/>
                </a:solidFill>
                <a:cs typeface="等线" panose="02010600030101010101" charset="-122"/>
              </a:rPr>
              <a:t>  END</a:t>
            </a:r>
            <a:endParaRPr lang="zh-CN" altLang="en-US" sz="2600" b="1" dirty="0">
              <a:solidFill>
                <a:schemeClr val="bg1"/>
              </a:solidFill>
              <a:cs typeface="等线" panose="02010600030101010101" charset="-122"/>
            </a:endParaRPr>
          </a:p>
          <a:p>
            <a:pPr lvl="1">
              <a:spcBef>
                <a:spcPct val="0"/>
              </a:spcBef>
              <a:buFont typeface="Wingdings" panose="05000000000000000000" pitchFamily="2" charset="2"/>
              <a:buNone/>
            </a:pPr>
            <a:r>
              <a:rPr lang="en-US" altLang="zh-CN" sz="2600" b="1" dirty="0">
                <a:solidFill>
                  <a:srgbClr val="0000FF"/>
                </a:solidFill>
                <a:cs typeface="等线" panose="02010600030101010101" charset="-122"/>
              </a:rPr>
              <a:t>  FROM Student S JOIN SC ON S.Sno = SC.Sno</a:t>
            </a:r>
            <a:endParaRPr lang="zh-CN" altLang="en-US" sz="2600" b="1" dirty="0">
              <a:solidFill>
                <a:srgbClr val="0000FF"/>
              </a:solidFill>
              <a:cs typeface="等线" panose="02010600030101010101" charset="-122"/>
            </a:endParaRPr>
          </a:p>
          <a:p>
            <a:pPr lvl="1">
              <a:spcBef>
                <a:spcPct val="0"/>
              </a:spcBef>
              <a:buFont typeface="Wingdings" panose="05000000000000000000" pitchFamily="2" charset="2"/>
              <a:buNone/>
            </a:pPr>
            <a:r>
              <a:rPr lang="en-US" altLang="zh-CN" sz="2600" b="1" dirty="0">
                <a:solidFill>
                  <a:srgbClr val="0000FF"/>
                </a:solidFill>
                <a:cs typeface="等线" panose="02010600030101010101" charset="-122"/>
              </a:rPr>
              <a:t>  JOIN Course C ON C.Cno = SC.Cno</a:t>
            </a:r>
            <a:endParaRPr lang="zh-CN" altLang="en-US" sz="2600" b="1" dirty="0">
              <a:solidFill>
                <a:srgbClr val="0000FF"/>
              </a:solidFill>
              <a:cs typeface="等线" panose="02010600030101010101" charset="-122"/>
            </a:endParaRPr>
          </a:p>
          <a:p>
            <a:pPr lvl="1">
              <a:spcBef>
                <a:spcPct val="0"/>
              </a:spcBef>
              <a:buFont typeface="Wingdings" panose="05000000000000000000" pitchFamily="2" charset="2"/>
              <a:buNone/>
            </a:pPr>
            <a:r>
              <a:rPr lang="en-US" altLang="zh-CN" sz="2600" b="1" dirty="0">
                <a:solidFill>
                  <a:srgbClr val="0000FF"/>
                </a:solidFill>
                <a:cs typeface="等线" panose="02010600030101010101" charset="-122"/>
              </a:rPr>
              <a:t>  WHERE Cname = 'VB'</a:t>
            </a:r>
            <a:endParaRPr lang="zh-CN" altLang="en-US" sz="2600" b="1" dirty="0">
              <a:solidFill>
                <a:srgbClr val="0000FF"/>
              </a:solidFill>
              <a:cs typeface="等线" panose="02010600030101010101" charset="-122"/>
            </a:endParaRPr>
          </a:p>
        </p:txBody>
      </p:sp>
    </p:spTree>
    <p:extLst>
      <p:ext uri="{BB962C8B-B14F-4D97-AF65-F5344CB8AC3E}">
        <p14:creationId xmlns:p14="http://schemas.microsoft.com/office/powerpoint/2010/main" val="15576594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8003">
                                            <p:txEl>
                                              <p:pRg st="5" end="5"/>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28003">
                                            <p:txEl>
                                              <p:pRg st="6" end="6"/>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28003">
                                            <p:txEl>
                                              <p:pRg st="7" end="7"/>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28003">
                                            <p:txEl>
                                              <p:pRg st="8" end="8"/>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2800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Rectangle 2"/>
          <p:cNvSpPr>
            <a:spLocks noGrp="1"/>
          </p:cNvSpPr>
          <p:nvPr>
            <p:ph type="title"/>
          </p:nvPr>
        </p:nvSpPr>
        <p:spPr>
          <a:xfrm>
            <a:off x="500063" y="152400"/>
            <a:ext cx="8001000" cy="685800"/>
          </a:xfrm>
          <a:noFill/>
          <a:ln w="9525">
            <a:noFill/>
          </a:ln>
        </p:spPr>
        <p:txBody>
          <a:bodyPr vert="horz" wrap="square" lIns="91440" tIns="45720" rIns="91440" bIns="45720" rtlCol="0" anchor="ctr" anchorCtr="0">
            <a:noAutofit/>
          </a:bodyPr>
          <a:lstStyle/>
          <a:p>
            <a:pPr lvl="0" algn="ctr" eaLnBrk="1" hangingPunct="1">
              <a:buClrTx/>
              <a:buSzTx/>
              <a:buFontTx/>
            </a:pPr>
            <a:r>
              <a:rPr lang="zh-CN" altLang="en-US" sz="4800" b="0" dirty="0">
                <a:latin typeface="黑体" panose="02010609060101010101" pitchFamily="2" charset="-122"/>
                <a:ea typeface="黑体" panose="02010609060101010101" pitchFamily="2" charset="-122"/>
                <a:sym typeface="+mn-ea"/>
              </a:rPr>
              <a:t>4.2.3 删除数据 </a:t>
            </a:r>
          </a:p>
        </p:txBody>
      </p:sp>
      <p:sp>
        <p:nvSpPr>
          <p:cNvPr id="129027" name="Rectangle 3"/>
          <p:cNvSpPr>
            <a:spLocks noGrp="1"/>
          </p:cNvSpPr>
          <p:nvPr>
            <p:ph idx="1"/>
          </p:nvPr>
        </p:nvSpPr>
        <p:spPr>
          <a:xfrm>
            <a:off x="251520" y="1341438"/>
            <a:ext cx="8784976" cy="4691062"/>
          </a:xfrm>
        </p:spPr>
        <p:txBody>
          <a:bodyPr vert="horz" wrap="square" lIns="91440" tIns="45720" rIns="91440" bIns="45720" anchor="t" anchorCtr="0"/>
          <a:lstStyle/>
          <a:p>
            <a:pPr eaLnBrk="1" hangingPunct="1"/>
            <a:r>
              <a:rPr lang="zh-CN" altLang="en-US" sz="3600" b="1" dirty="0">
                <a:cs typeface="等线" panose="02010600030101010101" charset="-122"/>
              </a:rPr>
              <a:t>用</a:t>
            </a:r>
            <a:r>
              <a:rPr lang="en-US" altLang="zh-CN" sz="3600" b="1" dirty="0">
                <a:cs typeface="等线" panose="02010600030101010101" charset="-122"/>
              </a:rPr>
              <a:t>DELETE</a:t>
            </a:r>
            <a:r>
              <a:rPr lang="zh-CN" altLang="en-US" sz="3600" b="1" dirty="0">
                <a:cs typeface="等线" panose="02010600030101010101" charset="-122"/>
              </a:rPr>
              <a:t>语句实现</a:t>
            </a:r>
            <a:r>
              <a:rPr lang="zh-CN" altLang="en-US" sz="3600" b="1" dirty="0" smtClean="0">
                <a:cs typeface="等线" panose="02010600030101010101" charset="-122"/>
              </a:rPr>
              <a:t>。</a:t>
            </a:r>
            <a:endParaRPr lang="en-US" altLang="zh-CN" sz="3600" b="1" dirty="0" smtClean="0">
              <a:cs typeface="等线" panose="02010600030101010101" charset="-122"/>
            </a:endParaRPr>
          </a:p>
          <a:p>
            <a:pPr marL="0" indent="0" eaLnBrk="1" hangingPunct="1">
              <a:spcBef>
                <a:spcPts val="1200"/>
              </a:spcBef>
              <a:buNone/>
            </a:pPr>
            <a:r>
              <a:rPr lang="zh-CN" altLang="en-US" sz="3600" b="1" dirty="0" smtClean="0">
                <a:cs typeface="等线" panose="02010600030101010101" charset="-122"/>
              </a:rPr>
              <a:t>格式</a:t>
            </a:r>
            <a:r>
              <a:rPr lang="zh-CN" altLang="en-US" sz="3600" b="1" dirty="0">
                <a:cs typeface="等线" panose="02010600030101010101" charset="-122"/>
              </a:rPr>
              <a:t>：</a:t>
            </a:r>
          </a:p>
          <a:p>
            <a:pPr lvl="1" eaLnBrk="1" hangingPunct="1">
              <a:buFont typeface="Wingdings" panose="05000000000000000000" pitchFamily="2" charset="2"/>
              <a:buNone/>
            </a:pPr>
            <a:r>
              <a:rPr lang="en-US" altLang="zh-CN" sz="3600" b="1" dirty="0">
                <a:solidFill>
                  <a:srgbClr val="FF0000"/>
                </a:solidFill>
                <a:cs typeface="等线" panose="02010600030101010101" charset="-122"/>
              </a:rPr>
              <a:t>DELETE [ FROM ] &lt;</a:t>
            </a:r>
            <a:r>
              <a:rPr lang="zh-CN" altLang="en-US" sz="3600" b="1" dirty="0">
                <a:solidFill>
                  <a:srgbClr val="FF0000"/>
                </a:solidFill>
                <a:cs typeface="等线" panose="02010600030101010101" charset="-122"/>
              </a:rPr>
              <a:t>表名</a:t>
            </a:r>
            <a:r>
              <a:rPr lang="en-US" altLang="zh-CN" sz="3600" b="1" dirty="0">
                <a:solidFill>
                  <a:srgbClr val="FF0000"/>
                </a:solidFill>
                <a:cs typeface="等线" panose="02010600030101010101" charset="-122"/>
              </a:rPr>
              <a:t>&gt;</a:t>
            </a:r>
          </a:p>
          <a:p>
            <a:pPr lvl="1" eaLnBrk="1" hangingPunct="1">
              <a:buNone/>
            </a:pPr>
            <a:r>
              <a:rPr lang="en-US" altLang="zh-CN" sz="3600" b="1" dirty="0">
                <a:solidFill>
                  <a:srgbClr val="FF0000"/>
                </a:solidFill>
                <a:cs typeface="等线" panose="02010600030101010101" charset="-122"/>
              </a:rPr>
              <a:t>  [WHERE &lt;</a:t>
            </a:r>
            <a:r>
              <a:rPr lang="zh-CN" altLang="en-US" sz="3600" b="1" dirty="0">
                <a:solidFill>
                  <a:srgbClr val="FF0000"/>
                </a:solidFill>
                <a:cs typeface="等线" panose="02010600030101010101" charset="-122"/>
              </a:rPr>
              <a:t>删除条件</a:t>
            </a:r>
            <a:r>
              <a:rPr lang="en-US" altLang="zh-CN" sz="3600" b="1" dirty="0">
                <a:solidFill>
                  <a:srgbClr val="FF0000"/>
                </a:solidFill>
                <a:cs typeface="等线" panose="02010600030101010101" charset="-122"/>
              </a:rPr>
              <a:t>&gt; ]</a:t>
            </a:r>
          </a:p>
          <a:p>
            <a:pPr eaLnBrk="1" hangingPunct="1">
              <a:spcBef>
                <a:spcPts val="2400"/>
              </a:spcBef>
            </a:pPr>
            <a:r>
              <a:rPr lang="en-US" altLang="zh-CN" b="1" dirty="0">
                <a:solidFill>
                  <a:srgbClr val="0000FF"/>
                </a:solidFill>
                <a:cs typeface="等线" panose="02010600030101010101" charset="-122"/>
              </a:rPr>
              <a:t>&lt;</a:t>
            </a:r>
            <a:r>
              <a:rPr lang="zh-CN" altLang="en-US" b="1" dirty="0">
                <a:solidFill>
                  <a:srgbClr val="0000FF"/>
                </a:solidFill>
                <a:cs typeface="等线" panose="02010600030101010101" charset="-122"/>
              </a:rPr>
              <a:t>表名</a:t>
            </a:r>
            <a:r>
              <a:rPr lang="en-US" altLang="zh-CN" b="1" dirty="0">
                <a:solidFill>
                  <a:srgbClr val="0000FF"/>
                </a:solidFill>
                <a:cs typeface="等线" panose="02010600030101010101" charset="-122"/>
              </a:rPr>
              <a:t>&gt;</a:t>
            </a:r>
            <a:r>
              <a:rPr lang="zh-CN" altLang="en-US" b="1" dirty="0">
                <a:cs typeface="等线" panose="02010600030101010101" charset="-122"/>
              </a:rPr>
              <a:t>说明了要删除哪个表中的数据。</a:t>
            </a:r>
            <a:endParaRPr lang="zh-CN" altLang="en-US" b="1" dirty="0">
              <a:cs typeface="等线" panose="02010600030101010101" charset="-122"/>
              <a:sym typeface="Symbol" panose="05050102010706020507" pitchFamily="18" charset="2"/>
            </a:endParaRPr>
          </a:p>
          <a:p>
            <a:pPr eaLnBrk="1" hangingPunct="1"/>
            <a:r>
              <a:rPr lang="en-US" altLang="zh-CN" b="1" dirty="0">
                <a:solidFill>
                  <a:srgbClr val="0000FF"/>
                </a:solidFill>
                <a:cs typeface="等线" panose="02010600030101010101" charset="-122"/>
              </a:rPr>
              <a:t>WHERE</a:t>
            </a:r>
            <a:r>
              <a:rPr lang="zh-CN" altLang="en-US" b="1" dirty="0">
                <a:cs typeface="等线" panose="02010600030101010101" charset="-122"/>
              </a:rPr>
              <a:t>子句说明只删除表中满足条件的记录。 </a:t>
            </a:r>
          </a:p>
        </p:txBody>
      </p:sp>
    </p:spTree>
    <p:extLst>
      <p:ext uri="{BB962C8B-B14F-4D97-AF65-F5344CB8AC3E}">
        <p14:creationId xmlns:p14="http://schemas.microsoft.com/office/powerpoint/2010/main" val="2682572423"/>
      </p:ext>
    </p:extLst>
  </p:cSld>
  <p:clrMapOvr>
    <a:masterClrMapping/>
  </p:clrMapOvr>
  <p:timing>
    <p:tnLst>
      <p:par>
        <p:cTn id="1" dur="indefinite" restart="never" nodeType="tmRoot"/>
      </p:par>
    </p:tn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Rectangle 2"/>
          <p:cNvSpPr>
            <a:spLocks noGrp="1"/>
          </p:cNvSpPr>
          <p:nvPr>
            <p:ph type="title"/>
          </p:nvPr>
        </p:nvSpPr>
        <p:spPr>
          <a:xfrm>
            <a:off x="500063" y="152400"/>
            <a:ext cx="8001000" cy="685800"/>
          </a:xfrm>
          <a:noFill/>
          <a:ln w="9525">
            <a:noFill/>
          </a:ln>
        </p:spPr>
        <p:txBody>
          <a:bodyPr vert="horz" wrap="square" lIns="91440" tIns="45720" rIns="91440" bIns="45720" rtlCol="0" anchor="ctr" anchorCtr="0">
            <a:noAutofit/>
          </a:bodyPr>
          <a:lstStyle/>
          <a:p>
            <a:pPr lvl="0" algn="ctr" eaLnBrk="1" hangingPunct="1">
              <a:buClrTx/>
              <a:buSzTx/>
              <a:buFontTx/>
            </a:pPr>
            <a:r>
              <a:rPr lang="zh-CN" altLang="en-US" sz="4000" b="0" dirty="0">
                <a:latin typeface="黑体" panose="02010609060101010101" pitchFamily="2" charset="-122"/>
                <a:ea typeface="黑体" panose="02010609060101010101" pitchFamily="2" charset="-122"/>
                <a:sym typeface="+mn-ea"/>
              </a:rPr>
              <a:t>无条件删除</a:t>
            </a:r>
          </a:p>
        </p:txBody>
      </p:sp>
      <p:sp>
        <p:nvSpPr>
          <p:cNvPr id="130051" name="Rectangle 3"/>
          <p:cNvSpPr>
            <a:spLocks noGrp="1"/>
          </p:cNvSpPr>
          <p:nvPr>
            <p:ph idx="1"/>
          </p:nvPr>
        </p:nvSpPr>
        <p:spPr>
          <a:xfrm>
            <a:off x="395536" y="1268760"/>
            <a:ext cx="8229600" cy="792088"/>
          </a:xfrm>
        </p:spPr>
        <p:txBody>
          <a:bodyPr vert="horz" wrap="square" lIns="91440" tIns="45720" rIns="91440" bIns="45720" anchor="t" anchorCtr="0"/>
          <a:lstStyle/>
          <a:p>
            <a:pPr marL="0" indent="0" eaLnBrk="1" hangingPunct="1">
              <a:buNone/>
            </a:pPr>
            <a:r>
              <a:rPr lang="zh-CN" altLang="en-US" sz="4000" b="1" dirty="0" smtClean="0">
                <a:cs typeface="等线" panose="02010600030101010101" charset="-122"/>
              </a:rPr>
              <a:t>例</a:t>
            </a:r>
            <a:r>
              <a:rPr lang="en-US" altLang="zh-CN" sz="4000" b="1" dirty="0" smtClean="0">
                <a:cs typeface="等线" panose="02010600030101010101" charset="-122"/>
              </a:rPr>
              <a:t>4.81 </a:t>
            </a:r>
            <a:r>
              <a:rPr lang="zh-CN" altLang="en-US" sz="4000" b="1" dirty="0">
                <a:cs typeface="等线" panose="02010600030101010101" charset="-122"/>
              </a:rPr>
              <a:t>删除所有学生的选课记录。</a:t>
            </a:r>
          </a:p>
          <a:p>
            <a:pPr marL="476250" indent="-476250" eaLnBrk="1" hangingPunct="1">
              <a:buFont typeface="Wingdings" panose="05000000000000000000" pitchFamily="2" charset="2"/>
              <a:buNone/>
            </a:pPr>
            <a:endParaRPr lang="zh-CN" altLang="en-US" sz="4000" b="1" dirty="0">
              <a:cs typeface="等线" panose="02010600030101010101" charset="-122"/>
            </a:endParaRPr>
          </a:p>
          <a:p>
            <a:pPr marL="476250" indent="-476250" eaLnBrk="1" hangingPunct="1">
              <a:buFont typeface="Wingdings" panose="05000000000000000000" pitchFamily="2" charset="2"/>
              <a:buNone/>
            </a:pPr>
            <a:r>
              <a:rPr lang="zh-CN" altLang="en-US" sz="4000" b="1" dirty="0" smtClean="0">
                <a:cs typeface="等线" panose="02010600030101010101" charset="-122"/>
              </a:rPr>
              <a:t>		</a:t>
            </a:r>
            <a:endParaRPr lang="zh-CN" altLang="en-US" sz="4000" b="1" dirty="0">
              <a:cs typeface="等线" panose="02010600030101010101" charset="-122"/>
            </a:endParaRPr>
          </a:p>
        </p:txBody>
      </p:sp>
      <p:sp>
        <p:nvSpPr>
          <p:cNvPr id="2" name="矩形 1"/>
          <p:cNvSpPr/>
          <p:nvPr/>
        </p:nvSpPr>
        <p:spPr>
          <a:xfrm>
            <a:off x="1763688" y="2438964"/>
            <a:ext cx="2262158" cy="707886"/>
          </a:xfrm>
          <a:prstGeom prst="rect">
            <a:avLst/>
          </a:prstGeom>
        </p:spPr>
        <p:txBody>
          <a:bodyPr wrap="none">
            <a:spAutoFit/>
          </a:bodyPr>
          <a:lstStyle/>
          <a:p>
            <a:pPr marL="476250" indent="-476250"/>
            <a:r>
              <a:rPr lang="en-US" altLang="zh-CN" sz="4000" b="1" dirty="0" smtClean="0">
                <a:solidFill>
                  <a:srgbClr val="0000FF"/>
                </a:solidFill>
                <a:latin typeface="Times New Roman" pitchFamily="18" charset="0"/>
                <a:ea typeface="宋体" pitchFamily="2" charset="-122"/>
                <a:cs typeface="Times New Roman" pitchFamily="18" charset="0"/>
              </a:rPr>
              <a:t>DELETE</a:t>
            </a:r>
            <a:endParaRPr lang="zh-CN" altLang="en-US" sz="4000" b="1" dirty="0">
              <a:latin typeface="Times New Roman" pitchFamily="18" charset="0"/>
              <a:ea typeface="宋体" pitchFamily="2" charset="-122"/>
              <a:cs typeface="Times New Roman" pitchFamily="18" charset="0"/>
            </a:endParaRPr>
          </a:p>
        </p:txBody>
      </p:sp>
      <p:sp>
        <p:nvSpPr>
          <p:cNvPr id="3" name="矩形 2"/>
          <p:cNvSpPr/>
          <p:nvPr/>
        </p:nvSpPr>
        <p:spPr>
          <a:xfrm>
            <a:off x="4025845" y="2433082"/>
            <a:ext cx="3047629" cy="707886"/>
          </a:xfrm>
          <a:prstGeom prst="rect">
            <a:avLst/>
          </a:prstGeom>
        </p:spPr>
        <p:txBody>
          <a:bodyPr wrap="none">
            <a:spAutoFit/>
          </a:bodyPr>
          <a:lstStyle/>
          <a:p>
            <a:pPr algn="l"/>
            <a:r>
              <a:rPr lang="en-US" altLang="zh-CN" sz="4000" b="1" dirty="0" smtClean="0">
                <a:solidFill>
                  <a:srgbClr val="0000FF"/>
                </a:solidFill>
                <a:latin typeface="Times New Roman" pitchFamily="18" charset="0"/>
                <a:ea typeface="宋体" pitchFamily="2" charset="-122"/>
                <a:cs typeface="Times New Roman" pitchFamily="18" charset="0"/>
              </a:rPr>
              <a:t>  FROM  </a:t>
            </a:r>
            <a:r>
              <a:rPr lang="en-US" altLang="zh-CN" sz="4000" b="1" dirty="0">
                <a:solidFill>
                  <a:srgbClr val="0000FF"/>
                </a:solidFill>
                <a:latin typeface="Times New Roman" pitchFamily="18" charset="0"/>
                <a:ea typeface="宋体" pitchFamily="2" charset="-122"/>
                <a:cs typeface="Times New Roman" pitchFamily="18" charset="0"/>
              </a:rPr>
              <a:t>SC </a:t>
            </a:r>
            <a:endParaRPr lang="zh-CN" altLang="en-US" sz="4000" b="1" dirty="0">
              <a:solidFill>
                <a:srgbClr val="0000FF"/>
              </a:solidFill>
              <a:latin typeface="Times New Roman" pitchFamily="18" charset="0"/>
              <a:ea typeface="宋体" pitchFamily="2" charset="-122"/>
              <a:cs typeface="Times New Roman" pitchFamily="18" charset="0"/>
            </a:endParaRPr>
          </a:p>
        </p:txBody>
      </p:sp>
      <p:sp>
        <p:nvSpPr>
          <p:cNvPr id="4" name="矩形 3"/>
          <p:cNvSpPr/>
          <p:nvPr/>
        </p:nvSpPr>
        <p:spPr>
          <a:xfrm>
            <a:off x="1691680" y="4265801"/>
            <a:ext cx="6192688" cy="1323439"/>
          </a:xfrm>
          <a:prstGeom prst="rect">
            <a:avLst/>
          </a:prstGeom>
        </p:spPr>
        <p:txBody>
          <a:bodyPr wrap="square">
            <a:spAutoFit/>
          </a:bodyPr>
          <a:lstStyle/>
          <a:p>
            <a:pPr algn="l"/>
            <a:r>
              <a:rPr lang="zh-CN" altLang="en-US" sz="4000" b="1" dirty="0" smtClean="0">
                <a:solidFill>
                  <a:srgbClr val="0000FF"/>
                </a:solidFill>
                <a:latin typeface="Times New Roman" pitchFamily="18" charset="0"/>
                <a:ea typeface="宋体" pitchFamily="2" charset="-122"/>
                <a:cs typeface="Times New Roman" pitchFamily="18" charset="0"/>
              </a:rPr>
              <a:t>对比：</a:t>
            </a:r>
            <a:endParaRPr lang="en-US" altLang="zh-CN" sz="4000" b="1" dirty="0" smtClean="0">
              <a:solidFill>
                <a:srgbClr val="0000FF"/>
              </a:solidFill>
              <a:latin typeface="Times New Roman" pitchFamily="18" charset="0"/>
              <a:ea typeface="宋体" pitchFamily="2" charset="-122"/>
              <a:cs typeface="Times New Roman" pitchFamily="18" charset="0"/>
            </a:endParaRPr>
          </a:p>
          <a:p>
            <a:pPr algn="l"/>
            <a:r>
              <a:rPr lang="en-US" altLang="zh-CN" sz="4000" b="1" dirty="0" smtClean="0">
                <a:solidFill>
                  <a:srgbClr val="0000FF"/>
                </a:solidFill>
                <a:latin typeface="Times New Roman" pitchFamily="18" charset="0"/>
                <a:ea typeface="宋体" pitchFamily="2" charset="-122"/>
                <a:cs typeface="Times New Roman" pitchFamily="18" charset="0"/>
              </a:rPr>
              <a:t>drop table </a:t>
            </a:r>
            <a:r>
              <a:rPr lang="en-US" altLang="zh-CN" sz="4000" b="1" dirty="0" err="1" smtClean="0">
                <a:solidFill>
                  <a:srgbClr val="0000FF"/>
                </a:solidFill>
                <a:latin typeface="Times New Roman" pitchFamily="18" charset="0"/>
                <a:ea typeface="宋体" pitchFamily="2" charset="-122"/>
                <a:cs typeface="Times New Roman" pitchFamily="18" charset="0"/>
              </a:rPr>
              <a:t>sc</a:t>
            </a:r>
            <a:endParaRPr lang="en-US" altLang="zh-CN" sz="4000" b="1" dirty="0" smtClean="0">
              <a:solidFill>
                <a:srgbClr val="0000FF"/>
              </a:solidFill>
              <a:latin typeface="Times New Roman" pitchFamily="18" charset="0"/>
              <a:ea typeface="宋体" pitchFamily="2" charset="-122"/>
              <a:cs typeface="Times New Roman" pitchFamily="18" charset="0"/>
            </a:endParaRPr>
          </a:p>
        </p:txBody>
      </p:sp>
      <p:sp>
        <p:nvSpPr>
          <p:cNvPr id="7" name="矩形 6"/>
          <p:cNvSpPr/>
          <p:nvPr/>
        </p:nvSpPr>
        <p:spPr>
          <a:xfrm>
            <a:off x="1671267" y="5457418"/>
            <a:ext cx="6192688" cy="707886"/>
          </a:xfrm>
          <a:prstGeom prst="rect">
            <a:avLst/>
          </a:prstGeom>
        </p:spPr>
        <p:txBody>
          <a:bodyPr wrap="square">
            <a:spAutoFit/>
          </a:bodyPr>
          <a:lstStyle/>
          <a:p>
            <a:pPr algn="l"/>
            <a:r>
              <a:rPr lang="en-US" altLang="zh-CN" sz="4000" b="1" dirty="0" smtClean="0">
                <a:solidFill>
                  <a:srgbClr val="0000FF"/>
                </a:solidFill>
                <a:latin typeface="Times New Roman" pitchFamily="18" charset="0"/>
                <a:ea typeface="宋体" pitchFamily="2" charset="-122"/>
                <a:cs typeface="Times New Roman" pitchFamily="18" charset="0"/>
              </a:rPr>
              <a:t>drop database students</a:t>
            </a:r>
            <a:endParaRPr lang="zh-CN" altLang="en-US" sz="4000" b="1" dirty="0">
              <a:solidFill>
                <a:srgbClr val="0000FF"/>
              </a:solidFill>
              <a:latin typeface="Times New Roman" pitchFamily="18" charset="0"/>
              <a:ea typeface="宋体" pitchFamily="2" charset="-122"/>
              <a:cs typeface="Times New Roman" pitchFamily="18" charset="0"/>
            </a:endParaRPr>
          </a:p>
        </p:txBody>
      </p:sp>
      <p:sp>
        <p:nvSpPr>
          <p:cNvPr id="5" name="矩形 4"/>
          <p:cNvSpPr/>
          <p:nvPr/>
        </p:nvSpPr>
        <p:spPr>
          <a:xfrm>
            <a:off x="4074535" y="3329745"/>
            <a:ext cx="4961961" cy="1077218"/>
          </a:xfrm>
          <a:prstGeom prst="rect">
            <a:avLst/>
          </a:prstGeom>
        </p:spPr>
        <p:txBody>
          <a:bodyPr wrap="square">
            <a:spAutoFit/>
          </a:bodyPr>
          <a:lstStyle/>
          <a:p>
            <a:pPr algn="l"/>
            <a:r>
              <a:rPr lang="en-US" altLang="zh-CN" sz="3200" b="1" dirty="0" smtClean="0">
                <a:solidFill>
                  <a:srgbClr val="0000FF"/>
                </a:solidFill>
                <a:latin typeface="Times New Roman" pitchFamily="18" charset="0"/>
                <a:ea typeface="宋体" pitchFamily="2" charset="-122"/>
                <a:cs typeface="Times New Roman" pitchFamily="18" charset="0"/>
              </a:rPr>
              <a:t>Delete  </a:t>
            </a:r>
            <a:r>
              <a:rPr lang="zh-CN" altLang="en-US" sz="3200" b="1" dirty="0" smtClean="0">
                <a:solidFill>
                  <a:srgbClr val="0000FF"/>
                </a:solidFill>
                <a:latin typeface="Times New Roman" pitchFamily="18" charset="0"/>
                <a:ea typeface="宋体" pitchFamily="2" charset="-122"/>
                <a:cs typeface="Times New Roman" pitchFamily="18" charset="0"/>
              </a:rPr>
              <a:t>*  </a:t>
            </a:r>
            <a:r>
              <a:rPr lang="en-US" altLang="zh-CN" sz="3200" b="1" dirty="0" smtClean="0">
                <a:solidFill>
                  <a:srgbClr val="0000FF"/>
                </a:solidFill>
                <a:latin typeface="Times New Roman" pitchFamily="18" charset="0"/>
                <a:ea typeface="宋体" pitchFamily="2" charset="-122"/>
                <a:cs typeface="Times New Roman" pitchFamily="18" charset="0"/>
              </a:rPr>
              <a:t>FROM  SC </a:t>
            </a:r>
            <a:r>
              <a:rPr lang="zh-CN" altLang="en-US" sz="3200" b="1" dirty="0" smtClean="0">
                <a:solidFill>
                  <a:srgbClr val="0000FF"/>
                </a:solidFill>
                <a:latin typeface="Times New Roman" pitchFamily="18" charset="0"/>
                <a:ea typeface="宋体" pitchFamily="2" charset="-122"/>
                <a:cs typeface="Times New Roman" pitchFamily="18" charset="0"/>
              </a:rPr>
              <a:t>（</a:t>
            </a:r>
            <a:r>
              <a:rPr lang="en-US" altLang="zh-CN" sz="3200" b="1" dirty="0" smtClean="0">
                <a:solidFill>
                  <a:srgbClr val="0000FF"/>
                </a:solidFill>
                <a:latin typeface="Times New Roman" pitchFamily="18" charset="0"/>
                <a:ea typeface="宋体" pitchFamily="2" charset="-122"/>
                <a:cs typeface="Times New Roman" pitchFamily="18" charset="0"/>
              </a:rPr>
              <a:t>×</a:t>
            </a:r>
            <a:r>
              <a:rPr lang="zh-CN" altLang="en-US" sz="3200" b="1" dirty="0" smtClean="0">
                <a:solidFill>
                  <a:srgbClr val="0000FF"/>
                </a:solidFill>
                <a:latin typeface="Times New Roman" pitchFamily="18" charset="0"/>
                <a:ea typeface="宋体" pitchFamily="2" charset="-122"/>
                <a:cs typeface="Times New Roman" pitchFamily="18" charset="0"/>
              </a:rPr>
              <a:t>）</a:t>
            </a:r>
            <a:endParaRPr lang="en-US" altLang="zh-CN" sz="3200" b="1" dirty="0" smtClean="0">
              <a:solidFill>
                <a:srgbClr val="0000FF"/>
              </a:solidFill>
              <a:latin typeface="Times New Roman" pitchFamily="18" charset="0"/>
              <a:ea typeface="宋体" pitchFamily="2" charset="-122"/>
              <a:cs typeface="Times New Roman" pitchFamily="18" charset="0"/>
            </a:endParaRPr>
          </a:p>
          <a:p>
            <a:pPr algn="l"/>
            <a:r>
              <a:rPr lang="en-US" altLang="zh-CN" sz="3200" b="1" dirty="0" smtClean="0">
                <a:solidFill>
                  <a:srgbClr val="0000FF"/>
                </a:solidFill>
                <a:latin typeface="Times New Roman" pitchFamily="18" charset="0"/>
                <a:ea typeface="宋体" pitchFamily="2" charset="-122"/>
                <a:cs typeface="Times New Roman" pitchFamily="18" charset="0"/>
              </a:rPr>
              <a:t>Select  </a:t>
            </a:r>
            <a:r>
              <a:rPr lang="zh-CN" altLang="en-US" sz="3200" b="1" dirty="0">
                <a:solidFill>
                  <a:srgbClr val="0000FF"/>
                </a:solidFill>
                <a:latin typeface="Times New Roman" pitchFamily="18" charset="0"/>
                <a:ea typeface="宋体" pitchFamily="2" charset="-122"/>
                <a:cs typeface="Times New Roman" pitchFamily="18" charset="0"/>
              </a:rPr>
              <a:t>*  </a:t>
            </a:r>
            <a:r>
              <a:rPr lang="en-US" altLang="zh-CN" sz="3200" b="1" dirty="0">
                <a:solidFill>
                  <a:srgbClr val="0000FF"/>
                </a:solidFill>
                <a:latin typeface="Times New Roman" pitchFamily="18" charset="0"/>
                <a:ea typeface="宋体" pitchFamily="2" charset="-122"/>
                <a:cs typeface="Times New Roman" pitchFamily="18" charset="0"/>
              </a:rPr>
              <a:t>FROM  SC </a:t>
            </a:r>
            <a:r>
              <a:rPr lang="en-US" altLang="zh-CN" sz="3200" b="1" dirty="0" smtClean="0">
                <a:solidFill>
                  <a:srgbClr val="0000FF"/>
                </a:solidFill>
                <a:latin typeface="Times New Roman" pitchFamily="18" charset="0"/>
                <a:ea typeface="宋体" pitchFamily="2" charset="-122"/>
                <a:cs typeface="Times New Roman" pitchFamily="18" charset="0"/>
              </a:rPr>
              <a:t> </a:t>
            </a:r>
            <a:r>
              <a:rPr lang="zh-CN" altLang="en-US" sz="3200" b="1" dirty="0" smtClean="0">
                <a:solidFill>
                  <a:srgbClr val="0000FF"/>
                </a:solidFill>
                <a:latin typeface="Times New Roman" pitchFamily="18" charset="0"/>
                <a:ea typeface="宋体" pitchFamily="2" charset="-122"/>
                <a:cs typeface="Times New Roman" pitchFamily="18" charset="0"/>
              </a:rPr>
              <a:t>（√ ）</a:t>
            </a:r>
            <a:endParaRPr lang="zh-CN" altLang="en-US" sz="3200" dirty="0"/>
          </a:p>
        </p:txBody>
      </p:sp>
    </p:spTree>
    <p:extLst>
      <p:ext uri="{BB962C8B-B14F-4D97-AF65-F5344CB8AC3E}">
        <p14:creationId xmlns:p14="http://schemas.microsoft.com/office/powerpoint/2010/main" val="22634019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30051">
                                            <p:txEl>
                                              <p:pRg st="0" end="0"/>
                                            </p:txEl>
                                          </p:spTgt>
                                        </p:tgtEl>
                                        <p:attrNameLst>
                                          <p:attrName>style.visibility</p:attrName>
                                        </p:attrNameLst>
                                      </p:cBhvr>
                                      <p:to>
                                        <p:strVal val="visible"/>
                                      </p:to>
                                    </p:set>
                                    <p:animEffect transition="in" filter="fade">
                                      <p:cBhvr>
                                        <p:cTn id="7" dur="500"/>
                                        <p:tgtEl>
                                          <p:spTgt spid="13005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fade">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fade">
                                      <p:cBhvr>
                                        <p:cTn id="17" dur="500"/>
                                        <p:tgtEl>
                                          <p:spTgt spid="3"/>
                                        </p:tgtEl>
                                      </p:cBhvr>
                                    </p:animEffect>
                                  </p:childTnLst>
                                </p:cTn>
                              </p:par>
                            </p:childTnLst>
                          </p:cTn>
                        </p:par>
                      </p:childTnLst>
                    </p:cTn>
                  </p:par>
                  <p:par>
                    <p:cTn id="18" fill="hold">
                      <p:stCondLst>
                        <p:cond delay="indefinite"/>
                      </p:stCondLst>
                      <p:childTnLst>
                        <p:par>
                          <p:cTn id="19" fill="hold">
                            <p:stCondLst>
                              <p:cond delay="0"/>
                            </p:stCondLst>
                            <p:childTnLst>
                              <p:par>
                                <p:cTn id="20" presetID="2" presetClass="entr" presetSubtype="2" fill="hold" grpId="0" nodeType="clickEffect">
                                  <p:stCondLst>
                                    <p:cond delay="0"/>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500" fill="hold"/>
                                        <p:tgtEl>
                                          <p:spTgt spid="5"/>
                                        </p:tgtEl>
                                        <p:attrNameLst>
                                          <p:attrName>ppt_x</p:attrName>
                                        </p:attrNameLst>
                                      </p:cBhvr>
                                      <p:tavLst>
                                        <p:tav tm="0">
                                          <p:val>
                                            <p:strVal val="1+#ppt_w/2"/>
                                          </p:val>
                                        </p:tav>
                                        <p:tav tm="100000">
                                          <p:val>
                                            <p:strVal val="#ppt_x"/>
                                          </p:val>
                                        </p:tav>
                                      </p:tavLst>
                                    </p:anim>
                                    <p:anim calcmode="lin" valueType="num">
                                      <p:cBhvr additive="base">
                                        <p:cTn id="23" dur="500" fill="hold"/>
                                        <p:tgtEl>
                                          <p:spTgt spid="5"/>
                                        </p:tgtEl>
                                        <p:attrNameLst>
                                          <p:attrName>ppt_y</p:attrName>
                                        </p:attrNameLst>
                                      </p:cBhvr>
                                      <p:tavLst>
                                        <p:tav tm="0">
                                          <p:val>
                                            <p:strVal val="#ppt_y"/>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4"/>
                                        </p:tgtEl>
                                        <p:attrNameLst>
                                          <p:attrName>style.visibility</p:attrName>
                                        </p:attrNameLst>
                                      </p:cBhvr>
                                      <p:to>
                                        <p:strVal val="visible"/>
                                      </p:to>
                                    </p:set>
                                    <p:animEffect transition="in" filter="fade">
                                      <p:cBhvr>
                                        <p:cTn id="28" dur="500"/>
                                        <p:tgtEl>
                                          <p:spTgt spid="4"/>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7"/>
                                        </p:tgtEl>
                                        <p:attrNameLst>
                                          <p:attrName>style.visibility</p:attrName>
                                        </p:attrNameLst>
                                      </p:cBhvr>
                                      <p:to>
                                        <p:strVal val="visible"/>
                                      </p:to>
                                    </p:set>
                                    <p:animEffect transition="in" filter="fade">
                                      <p:cBhvr>
                                        <p:cTn id="33"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0051" grpId="0" build="p"/>
      <p:bldP spid="2" grpId="0"/>
      <p:bldP spid="3" grpId="0"/>
      <p:bldP spid="4" grpId="0"/>
      <p:bldP spid="7" grpId="0"/>
      <p:bldP spid="5" grpId="0"/>
    </p:bld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Rectangle 2"/>
          <p:cNvSpPr>
            <a:spLocks noGrp="1"/>
          </p:cNvSpPr>
          <p:nvPr>
            <p:ph type="title"/>
          </p:nvPr>
        </p:nvSpPr>
        <p:spPr>
          <a:xfrm>
            <a:off x="500063" y="152400"/>
            <a:ext cx="8001000" cy="685800"/>
          </a:xfrm>
          <a:noFill/>
          <a:ln w="9525">
            <a:noFill/>
          </a:ln>
        </p:spPr>
        <p:txBody>
          <a:bodyPr vert="horz" wrap="square" lIns="91440" tIns="45720" rIns="91440" bIns="45720" rtlCol="0" anchor="ctr" anchorCtr="0">
            <a:noAutofit/>
          </a:bodyPr>
          <a:lstStyle/>
          <a:p>
            <a:pPr lvl="0" algn="ctr" eaLnBrk="1" hangingPunct="1">
              <a:buClrTx/>
              <a:buSzTx/>
              <a:buFontTx/>
            </a:pPr>
            <a:r>
              <a:rPr lang="zh-CN" altLang="en-US" sz="4800" b="0" dirty="0">
                <a:latin typeface="黑体" panose="02010609060101010101" pitchFamily="2" charset="-122"/>
                <a:ea typeface="黑体" panose="02010609060101010101" pitchFamily="2" charset="-122"/>
                <a:sym typeface="+mn-ea"/>
              </a:rPr>
              <a:t>有条件删除 </a:t>
            </a:r>
          </a:p>
        </p:txBody>
      </p:sp>
      <p:sp>
        <p:nvSpPr>
          <p:cNvPr id="131075" name="Rectangle 3"/>
          <p:cNvSpPr>
            <a:spLocks noGrp="1"/>
          </p:cNvSpPr>
          <p:nvPr>
            <p:ph idx="1"/>
          </p:nvPr>
        </p:nvSpPr>
        <p:spPr>
          <a:xfrm>
            <a:off x="467544" y="1484784"/>
            <a:ext cx="8424936" cy="1800200"/>
          </a:xfrm>
        </p:spPr>
        <p:txBody>
          <a:bodyPr vert="horz" wrap="square" lIns="91440" tIns="45720" rIns="91440" bIns="45720" anchor="t" anchorCtr="0"/>
          <a:lstStyle/>
          <a:p>
            <a:pPr marL="0" indent="0" eaLnBrk="1" hangingPunct="1">
              <a:buNone/>
            </a:pPr>
            <a:r>
              <a:rPr lang="zh-CN" altLang="en-US" sz="3900" b="1" dirty="0">
                <a:solidFill>
                  <a:srgbClr val="FF0000"/>
                </a:solidFill>
                <a:cs typeface="等线" panose="02010600030101010101" charset="-122"/>
              </a:rPr>
              <a:t>（</a:t>
            </a:r>
            <a:r>
              <a:rPr lang="en-US" altLang="zh-CN" sz="3900" b="1" dirty="0">
                <a:solidFill>
                  <a:srgbClr val="FF0000"/>
                </a:solidFill>
                <a:cs typeface="等线" panose="02010600030101010101" charset="-122"/>
              </a:rPr>
              <a:t>1</a:t>
            </a:r>
            <a:r>
              <a:rPr lang="zh-CN" altLang="en-US" sz="3900" b="1" dirty="0">
                <a:solidFill>
                  <a:srgbClr val="FF0000"/>
                </a:solidFill>
                <a:cs typeface="等线" panose="02010600030101010101" charset="-122"/>
              </a:rPr>
              <a:t>）基于本表条件的删除。</a:t>
            </a:r>
          </a:p>
          <a:p>
            <a:pPr marL="0" indent="0" eaLnBrk="1" hangingPunct="1">
              <a:spcBef>
                <a:spcPts val="3000"/>
              </a:spcBef>
              <a:buNone/>
            </a:pPr>
            <a:r>
              <a:rPr lang="zh-CN" altLang="en-US" sz="3500" b="1" dirty="0" smtClean="0">
                <a:cs typeface="等线" panose="02010600030101010101" charset="-122"/>
              </a:rPr>
              <a:t>例</a:t>
            </a:r>
            <a:r>
              <a:rPr lang="en-US" altLang="zh-CN" sz="3500" b="1" dirty="0" smtClean="0">
                <a:cs typeface="等线" panose="02010600030101010101" charset="-122"/>
              </a:rPr>
              <a:t>4.82 </a:t>
            </a:r>
            <a:r>
              <a:rPr lang="zh-CN" altLang="en-US" sz="3500" b="1" dirty="0" smtClean="0">
                <a:cs typeface="等线" panose="02010600030101010101" charset="-122"/>
              </a:rPr>
              <a:t>删除</a:t>
            </a:r>
            <a:r>
              <a:rPr lang="zh-CN" altLang="en-US" sz="3500" b="1" dirty="0">
                <a:cs typeface="等线" panose="02010600030101010101" charset="-122"/>
              </a:rPr>
              <a:t>所有不及格学生的修课记录。</a:t>
            </a:r>
          </a:p>
          <a:p>
            <a:pPr eaLnBrk="1" hangingPunct="1">
              <a:buFont typeface="Wingdings" panose="05000000000000000000" pitchFamily="2" charset="2"/>
              <a:buNone/>
            </a:pPr>
            <a:r>
              <a:rPr lang="en-US" altLang="zh-CN" sz="3900" b="1" dirty="0">
                <a:solidFill>
                  <a:srgbClr val="009900"/>
                </a:solidFill>
                <a:cs typeface="等线" panose="02010600030101010101" charset="-122"/>
              </a:rPr>
              <a:t>   </a:t>
            </a:r>
            <a:endParaRPr lang="en-US" altLang="zh-CN" sz="3500" b="1" dirty="0">
              <a:solidFill>
                <a:srgbClr val="0000FF"/>
              </a:solidFill>
              <a:cs typeface="等线" panose="02010600030101010101" charset="-122"/>
            </a:endParaRPr>
          </a:p>
          <a:p>
            <a:pPr eaLnBrk="1" hangingPunct="1">
              <a:buNone/>
            </a:pPr>
            <a:r>
              <a:rPr lang="en-US" altLang="zh-CN" sz="3500" b="1" dirty="0">
                <a:solidFill>
                  <a:srgbClr val="0000FF"/>
                </a:solidFill>
                <a:cs typeface="等线" panose="02010600030101010101" charset="-122"/>
              </a:rPr>
              <a:t> </a:t>
            </a:r>
            <a:endParaRPr lang="zh-CN" altLang="en-US" sz="4000" b="1" kern="1200" dirty="0">
              <a:solidFill>
                <a:srgbClr val="0000FF"/>
              </a:solidFill>
              <a:latin typeface="Times New Roman" pitchFamily="18" charset="0"/>
              <a:cs typeface="Times New Roman" pitchFamily="18" charset="0"/>
            </a:endParaRPr>
          </a:p>
        </p:txBody>
      </p:sp>
      <p:sp>
        <p:nvSpPr>
          <p:cNvPr id="2" name="矩形 1"/>
          <p:cNvSpPr/>
          <p:nvPr/>
        </p:nvSpPr>
        <p:spPr>
          <a:xfrm>
            <a:off x="1783598" y="3363089"/>
            <a:ext cx="2262158" cy="707886"/>
          </a:xfrm>
          <a:prstGeom prst="rect">
            <a:avLst/>
          </a:prstGeom>
        </p:spPr>
        <p:txBody>
          <a:bodyPr wrap="none">
            <a:spAutoFit/>
          </a:bodyPr>
          <a:lstStyle/>
          <a:p>
            <a:r>
              <a:rPr lang="en-US" altLang="zh-CN" sz="4000" b="1" dirty="0" smtClean="0">
                <a:solidFill>
                  <a:srgbClr val="0000FF"/>
                </a:solidFill>
                <a:latin typeface="Times New Roman" pitchFamily="18" charset="0"/>
                <a:ea typeface="宋体" pitchFamily="2" charset="-122"/>
                <a:cs typeface="Times New Roman" pitchFamily="18" charset="0"/>
              </a:rPr>
              <a:t>DELETE</a:t>
            </a:r>
            <a:endParaRPr lang="zh-CN" altLang="en-US" sz="4000" dirty="0">
              <a:latin typeface="Times New Roman" pitchFamily="18" charset="0"/>
              <a:ea typeface="宋体" pitchFamily="2" charset="-122"/>
              <a:cs typeface="Times New Roman" pitchFamily="18" charset="0"/>
            </a:endParaRPr>
          </a:p>
        </p:txBody>
      </p:sp>
      <p:sp>
        <p:nvSpPr>
          <p:cNvPr id="3" name="矩形 2"/>
          <p:cNvSpPr/>
          <p:nvPr/>
        </p:nvSpPr>
        <p:spPr>
          <a:xfrm>
            <a:off x="4283968" y="3363089"/>
            <a:ext cx="1096775" cy="707886"/>
          </a:xfrm>
          <a:prstGeom prst="rect">
            <a:avLst/>
          </a:prstGeom>
        </p:spPr>
        <p:txBody>
          <a:bodyPr wrap="none">
            <a:spAutoFit/>
          </a:bodyPr>
          <a:lstStyle/>
          <a:p>
            <a:r>
              <a:rPr lang="en-US" altLang="zh-CN" sz="4000" b="1" dirty="0" smtClean="0">
                <a:solidFill>
                  <a:srgbClr val="0000FF"/>
                </a:solidFill>
                <a:latin typeface="Times New Roman" pitchFamily="18" charset="0"/>
                <a:ea typeface="宋体" pitchFamily="2" charset="-122"/>
                <a:cs typeface="Times New Roman" pitchFamily="18" charset="0"/>
              </a:rPr>
              <a:t> </a:t>
            </a:r>
            <a:r>
              <a:rPr lang="en-US" altLang="zh-CN" sz="4000" b="1" dirty="0">
                <a:solidFill>
                  <a:srgbClr val="0000FF"/>
                </a:solidFill>
                <a:latin typeface="Times New Roman" pitchFamily="18" charset="0"/>
                <a:ea typeface="宋体" pitchFamily="2" charset="-122"/>
                <a:cs typeface="Times New Roman" pitchFamily="18" charset="0"/>
              </a:rPr>
              <a:t>SC </a:t>
            </a:r>
            <a:endParaRPr lang="zh-CN" altLang="en-US" sz="4000" dirty="0">
              <a:latin typeface="Times New Roman" pitchFamily="18" charset="0"/>
              <a:ea typeface="宋体" pitchFamily="2" charset="-122"/>
              <a:cs typeface="Times New Roman" pitchFamily="18" charset="0"/>
            </a:endParaRPr>
          </a:p>
        </p:txBody>
      </p:sp>
      <p:sp>
        <p:nvSpPr>
          <p:cNvPr id="4" name="矩形 3"/>
          <p:cNvSpPr/>
          <p:nvPr/>
        </p:nvSpPr>
        <p:spPr>
          <a:xfrm>
            <a:off x="1787932" y="4221088"/>
            <a:ext cx="4863832" cy="707886"/>
          </a:xfrm>
          <a:prstGeom prst="rect">
            <a:avLst/>
          </a:prstGeom>
        </p:spPr>
        <p:txBody>
          <a:bodyPr wrap="none">
            <a:spAutoFit/>
          </a:bodyPr>
          <a:lstStyle/>
          <a:p>
            <a:r>
              <a:rPr lang="en-US" altLang="zh-CN" sz="4000" b="1" dirty="0">
                <a:solidFill>
                  <a:srgbClr val="0000FF"/>
                </a:solidFill>
                <a:latin typeface="Times New Roman" pitchFamily="18" charset="0"/>
                <a:cs typeface="Times New Roman" pitchFamily="18" charset="0"/>
              </a:rPr>
              <a:t>WHERE </a:t>
            </a:r>
            <a:r>
              <a:rPr lang="en-US" altLang="zh-CN" sz="4000" b="1" dirty="0" smtClean="0">
                <a:solidFill>
                  <a:srgbClr val="0000FF"/>
                </a:solidFill>
                <a:latin typeface="Times New Roman" pitchFamily="18" charset="0"/>
                <a:cs typeface="Times New Roman" pitchFamily="18" charset="0"/>
              </a:rPr>
              <a:t> Grade </a:t>
            </a:r>
            <a:r>
              <a:rPr lang="en-US" altLang="zh-CN" sz="4000" b="1" dirty="0">
                <a:solidFill>
                  <a:srgbClr val="0000FF"/>
                </a:solidFill>
                <a:latin typeface="Times New Roman" pitchFamily="18" charset="0"/>
                <a:cs typeface="Times New Roman" pitchFamily="18" charset="0"/>
              </a:rPr>
              <a:t>&lt; 60</a:t>
            </a:r>
            <a:endParaRPr lang="zh-CN" altLang="en-US" sz="4000" b="1" dirty="0">
              <a:solidFill>
                <a:srgbClr val="0000FF"/>
              </a:solidFill>
              <a:latin typeface="Times New Roman" pitchFamily="18" charset="0"/>
              <a:cs typeface="Times New Roman" pitchFamily="18" charset="0"/>
            </a:endParaRPr>
          </a:p>
        </p:txBody>
      </p:sp>
    </p:spTree>
    <p:extLst>
      <p:ext uri="{BB962C8B-B14F-4D97-AF65-F5344CB8AC3E}">
        <p14:creationId xmlns:p14="http://schemas.microsoft.com/office/powerpoint/2010/main" val="17364729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randombar(horizont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randombar(horizontal)">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grpId="0"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randombar(horizontal)">
                                      <p:cBhvr>
                                        <p:cTn id="1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Rectangle 2"/>
          <p:cNvSpPr>
            <a:spLocks noGrp="1"/>
          </p:cNvSpPr>
          <p:nvPr>
            <p:ph type="title"/>
          </p:nvPr>
        </p:nvSpPr>
        <p:spPr>
          <a:xfrm>
            <a:off x="500063" y="152400"/>
            <a:ext cx="8001000" cy="685800"/>
          </a:xfrm>
          <a:noFill/>
          <a:ln w="9525">
            <a:noFill/>
          </a:ln>
        </p:spPr>
        <p:txBody>
          <a:bodyPr vert="horz" wrap="square" lIns="91440" tIns="45720" rIns="91440" bIns="45720" rtlCol="0" anchor="ctr" anchorCtr="0">
            <a:noAutofit/>
          </a:bodyPr>
          <a:lstStyle/>
          <a:p>
            <a:pPr lvl="0" algn="ctr" eaLnBrk="1" hangingPunct="1">
              <a:buClrTx/>
              <a:buSzTx/>
              <a:buFontTx/>
            </a:pPr>
            <a:r>
              <a:rPr lang="zh-CN" altLang="en-US" sz="4400" b="0" dirty="0">
                <a:latin typeface="黑体" panose="02010609060101010101" pitchFamily="2" charset="-122"/>
                <a:ea typeface="黑体" panose="02010609060101010101" pitchFamily="2" charset="-122"/>
                <a:sym typeface="+mn-ea"/>
              </a:rPr>
              <a:t>基于其他表条件的删除</a:t>
            </a:r>
          </a:p>
        </p:txBody>
      </p:sp>
      <p:sp>
        <p:nvSpPr>
          <p:cNvPr id="132099" name="Rectangle 3"/>
          <p:cNvSpPr>
            <a:spLocks noGrp="1"/>
          </p:cNvSpPr>
          <p:nvPr>
            <p:ph idx="1"/>
          </p:nvPr>
        </p:nvSpPr>
        <p:spPr>
          <a:xfrm>
            <a:off x="250824" y="1295400"/>
            <a:ext cx="8893175" cy="549424"/>
          </a:xfrm>
        </p:spPr>
        <p:txBody>
          <a:bodyPr vert="horz" wrap="square" lIns="91440" tIns="45720" rIns="91440" bIns="45720" anchor="t" anchorCtr="0"/>
          <a:lstStyle/>
          <a:p>
            <a:pPr marL="0" indent="0" eaLnBrk="1" hangingPunct="1">
              <a:buNone/>
            </a:pPr>
            <a:r>
              <a:rPr lang="zh-CN" altLang="en-US" sz="3200" b="1" dirty="0" smtClean="0">
                <a:cs typeface="等线" panose="02010600030101010101" charset="-122"/>
              </a:rPr>
              <a:t>例</a:t>
            </a:r>
            <a:r>
              <a:rPr lang="en-US" altLang="zh-CN" sz="3200" b="1" dirty="0" smtClean="0">
                <a:cs typeface="等线" panose="02010600030101010101" charset="-122"/>
              </a:rPr>
              <a:t>4.83 </a:t>
            </a:r>
            <a:r>
              <a:rPr lang="zh-CN" altLang="en-US" sz="3200" b="1" dirty="0" smtClean="0">
                <a:cs typeface="等线" panose="02010600030101010101" charset="-122"/>
              </a:rPr>
              <a:t>删除</a:t>
            </a:r>
            <a:r>
              <a:rPr lang="zh-CN" altLang="en-US" sz="3200" b="1" dirty="0">
                <a:cs typeface="等线" panose="02010600030101010101" charset="-122"/>
              </a:rPr>
              <a:t>计算机系不及格学生的修课记录。</a:t>
            </a:r>
          </a:p>
          <a:p>
            <a:pPr eaLnBrk="1" hangingPunct="1">
              <a:spcBef>
                <a:spcPts val="1200"/>
              </a:spcBef>
              <a:buFont typeface="Wingdings" panose="05000000000000000000" pitchFamily="2" charset="2"/>
              <a:buNone/>
            </a:pPr>
            <a:r>
              <a:rPr lang="zh-CN" altLang="en-US" sz="3200" b="1" dirty="0" smtClean="0">
                <a:solidFill>
                  <a:srgbClr val="009900"/>
                </a:solidFill>
                <a:cs typeface="等线" panose="02010600030101010101" charset="-122"/>
              </a:rPr>
              <a:t>	</a:t>
            </a:r>
            <a:r>
              <a:rPr lang="en-US" altLang="zh-CN" sz="3200" b="1" dirty="0" smtClean="0">
                <a:solidFill>
                  <a:srgbClr val="0000FF"/>
                </a:solidFill>
                <a:cs typeface="等线" panose="02010600030101010101" charset="-122"/>
              </a:rPr>
              <a:t>	  		</a:t>
            </a:r>
            <a:endParaRPr lang="zh-CN" altLang="en-US" sz="3200" b="1" dirty="0">
              <a:cs typeface="等线" panose="02010600030101010101" charset="-122"/>
            </a:endParaRPr>
          </a:p>
        </p:txBody>
      </p:sp>
      <p:sp>
        <p:nvSpPr>
          <p:cNvPr id="2" name="矩形 1"/>
          <p:cNvSpPr/>
          <p:nvPr/>
        </p:nvSpPr>
        <p:spPr>
          <a:xfrm>
            <a:off x="827584" y="1973634"/>
            <a:ext cx="3541932" cy="584775"/>
          </a:xfrm>
          <a:prstGeom prst="rect">
            <a:avLst/>
          </a:prstGeom>
        </p:spPr>
        <p:txBody>
          <a:bodyPr wrap="none">
            <a:spAutoFit/>
          </a:bodyPr>
          <a:lstStyle/>
          <a:p>
            <a:pPr>
              <a:spcBef>
                <a:spcPts val="1200"/>
              </a:spcBef>
            </a:pPr>
            <a:r>
              <a:rPr lang="en-US" altLang="zh-CN" sz="3200" b="1" dirty="0">
                <a:solidFill>
                  <a:srgbClr val="0000FF"/>
                </a:solidFill>
                <a:latin typeface="Times New Roman" pitchFamily="18" charset="0"/>
                <a:cs typeface="Times New Roman" pitchFamily="18" charset="0"/>
              </a:rPr>
              <a:t>DELETE </a:t>
            </a:r>
            <a:r>
              <a:rPr lang="en-US" altLang="zh-CN" sz="3200" b="1" dirty="0" smtClean="0">
                <a:solidFill>
                  <a:srgbClr val="0000FF"/>
                </a:solidFill>
                <a:latin typeface="Times New Roman" pitchFamily="18" charset="0"/>
                <a:cs typeface="Times New Roman" pitchFamily="18" charset="0"/>
              </a:rPr>
              <a:t>from </a:t>
            </a:r>
            <a:r>
              <a:rPr lang="en-US" altLang="zh-CN" sz="3200" b="1" dirty="0">
                <a:solidFill>
                  <a:srgbClr val="0000FF"/>
                </a:solidFill>
                <a:latin typeface="Times New Roman" pitchFamily="18" charset="0"/>
                <a:cs typeface="Times New Roman" pitchFamily="18" charset="0"/>
              </a:rPr>
              <a:t>SC </a:t>
            </a:r>
          </a:p>
        </p:txBody>
      </p:sp>
      <p:sp>
        <p:nvSpPr>
          <p:cNvPr id="3" name="矩形 2"/>
          <p:cNvSpPr/>
          <p:nvPr/>
        </p:nvSpPr>
        <p:spPr>
          <a:xfrm>
            <a:off x="877128" y="2558409"/>
            <a:ext cx="6984776" cy="1077218"/>
          </a:xfrm>
          <a:prstGeom prst="rect">
            <a:avLst/>
          </a:prstGeom>
        </p:spPr>
        <p:txBody>
          <a:bodyPr wrap="square">
            <a:spAutoFit/>
          </a:bodyPr>
          <a:lstStyle/>
          <a:p>
            <a:pPr algn="l">
              <a:spcBef>
                <a:spcPts val="1200"/>
              </a:spcBef>
            </a:pPr>
            <a:r>
              <a:rPr lang="en-US" altLang="zh-CN" sz="3200" b="1" dirty="0">
                <a:solidFill>
                  <a:srgbClr val="0000FF"/>
                </a:solidFill>
                <a:latin typeface="Times New Roman" pitchFamily="18" charset="0"/>
                <a:cs typeface="Times New Roman" pitchFamily="18" charset="0"/>
              </a:rPr>
              <a:t>FROM SC </a:t>
            </a:r>
            <a:r>
              <a:rPr lang="en-US" altLang="zh-CN" sz="3200" b="1" dirty="0" smtClean="0">
                <a:solidFill>
                  <a:srgbClr val="0000FF"/>
                </a:solidFill>
                <a:latin typeface="Times New Roman" pitchFamily="18" charset="0"/>
                <a:cs typeface="Times New Roman" pitchFamily="18" charset="0"/>
              </a:rPr>
              <a:t>join </a:t>
            </a:r>
            <a:r>
              <a:rPr lang="en-US" altLang="zh-CN" sz="3200" b="1" dirty="0">
                <a:solidFill>
                  <a:srgbClr val="0000FF"/>
                </a:solidFill>
                <a:latin typeface="Times New Roman" pitchFamily="18" charset="0"/>
                <a:cs typeface="Times New Roman" pitchFamily="18" charset="0"/>
              </a:rPr>
              <a:t>Student </a:t>
            </a:r>
          </a:p>
          <a:p>
            <a:pPr algn="l"/>
            <a:r>
              <a:rPr lang="en-US" altLang="zh-CN" sz="3200" b="1" dirty="0">
                <a:solidFill>
                  <a:srgbClr val="0000FF"/>
                </a:solidFill>
                <a:latin typeface="Times New Roman" pitchFamily="18" charset="0"/>
                <a:cs typeface="Times New Roman" pitchFamily="18" charset="0"/>
              </a:rPr>
              <a:t>         </a:t>
            </a:r>
            <a:r>
              <a:rPr lang="en-US" altLang="zh-CN" sz="3200" b="1" dirty="0" smtClean="0">
                <a:solidFill>
                  <a:srgbClr val="0000FF"/>
                </a:solidFill>
                <a:latin typeface="Times New Roman" pitchFamily="18" charset="0"/>
                <a:cs typeface="Times New Roman" pitchFamily="18" charset="0"/>
              </a:rPr>
              <a:t>    ON </a:t>
            </a:r>
            <a:r>
              <a:rPr lang="en-US" altLang="zh-CN" sz="3200" b="1" dirty="0" err="1">
                <a:solidFill>
                  <a:srgbClr val="0000FF"/>
                </a:solidFill>
                <a:latin typeface="Times New Roman" pitchFamily="18" charset="0"/>
                <a:cs typeface="Times New Roman" pitchFamily="18" charset="0"/>
              </a:rPr>
              <a:t>SC.Sno</a:t>
            </a:r>
            <a:r>
              <a:rPr lang="en-US" altLang="zh-CN" sz="3200" b="1" dirty="0">
                <a:solidFill>
                  <a:srgbClr val="0000FF"/>
                </a:solidFill>
                <a:latin typeface="Times New Roman" pitchFamily="18" charset="0"/>
                <a:cs typeface="Times New Roman" pitchFamily="18" charset="0"/>
              </a:rPr>
              <a:t> = </a:t>
            </a:r>
            <a:r>
              <a:rPr lang="en-US" altLang="zh-CN" sz="3200" b="1" dirty="0" err="1">
                <a:solidFill>
                  <a:srgbClr val="0000FF"/>
                </a:solidFill>
                <a:latin typeface="Times New Roman" pitchFamily="18" charset="0"/>
                <a:cs typeface="Times New Roman" pitchFamily="18" charset="0"/>
              </a:rPr>
              <a:t>Student.Sno</a:t>
            </a:r>
            <a:endParaRPr lang="en-US" altLang="zh-CN" sz="3200" b="1" dirty="0">
              <a:solidFill>
                <a:srgbClr val="0000FF"/>
              </a:solidFill>
              <a:latin typeface="Times New Roman" pitchFamily="18" charset="0"/>
              <a:cs typeface="Times New Roman" pitchFamily="18" charset="0"/>
            </a:endParaRPr>
          </a:p>
        </p:txBody>
      </p:sp>
      <p:sp>
        <p:nvSpPr>
          <p:cNvPr id="4" name="矩形 3"/>
          <p:cNvSpPr/>
          <p:nvPr/>
        </p:nvSpPr>
        <p:spPr>
          <a:xfrm>
            <a:off x="827584" y="3573016"/>
            <a:ext cx="8136904" cy="584775"/>
          </a:xfrm>
          <a:prstGeom prst="rect">
            <a:avLst/>
          </a:prstGeom>
        </p:spPr>
        <p:txBody>
          <a:bodyPr wrap="square">
            <a:spAutoFit/>
          </a:bodyPr>
          <a:lstStyle/>
          <a:p>
            <a:pPr algn="l">
              <a:spcBef>
                <a:spcPts val="1200"/>
              </a:spcBef>
            </a:pPr>
            <a:r>
              <a:rPr lang="en-US" altLang="zh-CN" sz="3200" b="1" dirty="0" smtClean="0">
                <a:solidFill>
                  <a:srgbClr val="0000FF"/>
                </a:solidFill>
                <a:latin typeface="Times New Roman" pitchFamily="18" charset="0"/>
                <a:cs typeface="Times New Roman" pitchFamily="18" charset="0"/>
              </a:rPr>
              <a:t>WHERE </a:t>
            </a:r>
            <a:r>
              <a:rPr lang="en-US" altLang="zh-CN" sz="3200" b="1" dirty="0" err="1">
                <a:solidFill>
                  <a:srgbClr val="0000FF"/>
                </a:solidFill>
                <a:latin typeface="Times New Roman" pitchFamily="18" charset="0"/>
                <a:cs typeface="Times New Roman" pitchFamily="18" charset="0"/>
              </a:rPr>
              <a:t>Sdept</a:t>
            </a:r>
            <a:r>
              <a:rPr lang="en-US" altLang="zh-CN" sz="3200" b="1" dirty="0">
                <a:solidFill>
                  <a:srgbClr val="0000FF"/>
                </a:solidFill>
                <a:latin typeface="Times New Roman" pitchFamily="18" charset="0"/>
                <a:cs typeface="Times New Roman" pitchFamily="18" charset="0"/>
              </a:rPr>
              <a:t> = '</a:t>
            </a:r>
            <a:r>
              <a:rPr lang="zh-CN" altLang="en-US" sz="3200" b="1" dirty="0">
                <a:solidFill>
                  <a:srgbClr val="0000FF"/>
                </a:solidFill>
                <a:latin typeface="Times New Roman" pitchFamily="18" charset="0"/>
                <a:cs typeface="Times New Roman" pitchFamily="18" charset="0"/>
              </a:rPr>
              <a:t>计算机系</a:t>
            </a:r>
            <a:r>
              <a:rPr lang="en-US" altLang="zh-CN" sz="3200" b="1" dirty="0">
                <a:solidFill>
                  <a:srgbClr val="0000FF"/>
                </a:solidFill>
                <a:latin typeface="Times New Roman" pitchFamily="18" charset="0"/>
                <a:cs typeface="Times New Roman" pitchFamily="18" charset="0"/>
              </a:rPr>
              <a:t>' </a:t>
            </a:r>
            <a:r>
              <a:rPr lang="en-US" altLang="zh-CN" sz="3200" b="1" dirty="0" smtClean="0">
                <a:solidFill>
                  <a:srgbClr val="0000FF"/>
                </a:solidFill>
                <a:latin typeface="Times New Roman" pitchFamily="18" charset="0"/>
                <a:cs typeface="Times New Roman" pitchFamily="18" charset="0"/>
              </a:rPr>
              <a:t> and  Grade </a:t>
            </a:r>
            <a:r>
              <a:rPr lang="en-US" altLang="zh-CN" sz="3200" b="1" dirty="0">
                <a:solidFill>
                  <a:srgbClr val="0000FF"/>
                </a:solidFill>
                <a:latin typeface="Times New Roman" pitchFamily="18" charset="0"/>
                <a:cs typeface="Times New Roman" pitchFamily="18" charset="0"/>
              </a:rPr>
              <a:t>&lt; 60</a:t>
            </a:r>
            <a:r>
              <a:rPr lang="en-US" altLang="zh-CN" sz="3200" b="1" dirty="0">
                <a:latin typeface="Times New Roman" pitchFamily="18" charset="0"/>
                <a:cs typeface="Times New Roman" pitchFamily="18" charset="0"/>
              </a:rPr>
              <a:t> </a:t>
            </a:r>
            <a:endParaRPr lang="zh-CN" altLang="en-US" sz="3200" b="1" dirty="0">
              <a:latin typeface="Times New Roman" pitchFamily="18" charset="0"/>
              <a:cs typeface="Times New Roman" pitchFamily="18" charset="0"/>
            </a:endParaRPr>
          </a:p>
        </p:txBody>
      </p:sp>
      <p:sp>
        <p:nvSpPr>
          <p:cNvPr id="5" name="矩形 4"/>
          <p:cNvSpPr/>
          <p:nvPr/>
        </p:nvSpPr>
        <p:spPr>
          <a:xfrm>
            <a:off x="467544" y="4437112"/>
            <a:ext cx="8496944" cy="1569660"/>
          </a:xfrm>
          <a:prstGeom prst="rect">
            <a:avLst/>
          </a:prstGeom>
        </p:spPr>
        <p:txBody>
          <a:bodyPr wrap="square">
            <a:spAutoFit/>
          </a:bodyPr>
          <a:lstStyle/>
          <a:p>
            <a:pPr algn="l"/>
            <a:r>
              <a:rPr lang="en-US" altLang="zh-CN" sz="3200" b="1" dirty="0" smtClean="0">
                <a:solidFill>
                  <a:srgbClr val="0000FF"/>
                </a:solidFill>
                <a:latin typeface="Times New Roman" pitchFamily="18" charset="0"/>
                <a:ea typeface="宋体" pitchFamily="2" charset="-122"/>
                <a:cs typeface="Times New Roman" pitchFamily="18" charset="0"/>
              </a:rPr>
              <a:t>delete </a:t>
            </a:r>
            <a:r>
              <a:rPr lang="en-US" altLang="zh-CN" sz="3200" b="1" u="sng" dirty="0" smtClean="0">
                <a:solidFill>
                  <a:srgbClr val="0000FF"/>
                </a:solidFill>
                <a:latin typeface="Times New Roman" pitchFamily="18" charset="0"/>
                <a:ea typeface="宋体" pitchFamily="2" charset="-122"/>
                <a:cs typeface="Times New Roman" pitchFamily="18" charset="0"/>
              </a:rPr>
              <a:t>from SC from SC </a:t>
            </a:r>
            <a:r>
              <a:rPr lang="en-US" altLang="zh-CN" sz="3200" b="1" dirty="0" smtClean="0">
                <a:solidFill>
                  <a:srgbClr val="0000FF"/>
                </a:solidFill>
                <a:latin typeface="Times New Roman" pitchFamily="18" charset="0"/>
                <a:ea typeface="宋体" pitchFamily="2" charset="-122"/>
                <a:cs typeface="Times New Roman" pitchFamily="18" charset="0"/>
              </a:rPr>
              <a:t> join Student </a:t>
            </a:r>
          </a:p>
          <a:p>
            <a:pPr algn="l"/>
            <a:r>
              <a:rPr lang="en-US" altLang="zh-CN" sz="3200" b="1" dirty="0">
                <a:solidFill>
                  <a:srgbClr val="0000FF"/>
                </a:solidFill>
                <a:latin typeface="Times New Roman" pitchFamily="18" charset="0"/>
                <a:ea typeface="宋体" pitchFamily="2" charset="-122"/>
                <a:cs typeface="Times New Roman" pitchFamily="18" charset="0"/>
              </a:rPr>
              <a:t> </a:t>
            </a:r>
            <a:r>
              <a:rPr lang="en-US" altLang="zh-CN" sz="3200" b="1" dirty="0" smtClean="0">
                <a:solidFill>
                  <a:srgbClr val="0000FF"/>
                </a:solidFill>
                <a:latin typeface="Times New Roman" pitchFamily="18" charset="0"/>
                <a:ea typeface="宋体" pitchFamily="2" charset="-122"/>
                <a:cs typeface="Times New Roman" pitchFamily="18" charset="0"/>
              </a:rPr>
              <a:t>           ON </a:t>
            </a:r>
            <a:r>
              <a:rPr lang="en-US" altLang="zh-CN" sz="3200" b="1" dirty="0" err="1">
                <a:solidFill>
                  <a:srgbClr val="0000FF"/>
                </a:solidFill>
                <a:latin typeface="Times New Roman" pitchFamily="18" charset="0"/>
                <a:ea typeface="宋体" pitchFamily="2" charset="-122"/>
                <a:cs typeface="Times New Roman" pitchFamily="18" charset="0"/>
              </a:rPr>
              <a:t>SC.Sno</a:t>
            </a:r>
            <a:r>
              <a:rPr lang="en-US" altLang="zh-CN" sz="3200" b="1" dirty="0">
                <a:solidFill>
                  <a:srgbClr val="0000FF"/>
                </a:solidFill>
                <a:latin typeface="Times New Roman" pitchFamily="18" charset="0"/>
                <a:ea typeface="宋体" pitchFamily="2" charset="-122"/>
                <a:cs typeface="Times New Roman" pitchFamily="18" charset="0"/>
              </a:rPr>
              <a:t> = </a:t>
            </a:r>
            <a:r>
              <a:rPr lang="en-US" altLang="zh-CN" sz="3200" b="1" dirty="0" err="1">
                <a:solidFill>
                  <a:srgbClr val="0000FF"/>
                </a:solidFill>
                <a:latin typeface="Times New Roman" pitchFamily="18" charset="0"/>
                <a:ea typeface="宋体" pitchFamily="2" charset="-122"/>
                <a:cs typeface="Times New Roman" pitchFamily="18" charset="0"/>
              </a:rPr>
              <a:t>Student.Sno</a:t>
            </a:r>
            <a:endParaRPr lang="en-US" altLang="zh-CN" sz="3200" b="1" dirty="0">
              <a:solidFill>
                <a:srgbClr val="0000FF"/>
              </a:solidFill>
              <a:latin typeface="Times New Roman" pitchFamily="18" charset="0"/>
              <a:ea typeface="宋体" pitchFamily="2" charset="-122"/>
              <a:cs typeface="Times New Roman" pitchFamily="18" charset="0"/>
            </a:endParaRPr>
          </a:p>
          <a:p>
            <a:pPr algn="l"/>
            <a:r>
              <a:rPr lang="en-US" altLang="zh-CN" sz="3200" b="1" dirty="0" smtClean="0">
                <a:solidFill>
                  <a:srgbClr val="0000FF"/>
                </a:solidFill>
                <a:latin typeface="Times New Roman" pitchFamily="18" charset="0"/>
                <a:ea typeface="宋体" pitchFamily="2" charset="-122"/>
                <a:cs typeface="Times New Roman" pitchFamily="18" charset="0"/>
              </a:rPr>
              <a:t>where </a:t>
            </a:r>
            <a:r>
              <a:rPr lang="en-US" altLang="zh-CN" sz="3200" b="1" dirty="0" err="1" smtClean="0">
                <a:solidFill>
                  <a:srgbClr val="0000FF"/>
                </a:solidFill>
                <a:latin typeface="Times New Roman" pitchFamily="18" charset="0"/>
                <a:ea typeface="宋体" pitchFamily="2" charset="-122"/>
                <a:cs typeface="Times New Roman" pitchFamily="18" charset="0"/>
              </a:rPr>
              <a:t>Sdept</a:t>
            </a:r>
            <a:r>
              <a:rPr lang="en-US" altLang="zh-CN" sz="3200" b="1" dirty="0" smtClean="0">
                <a:solidFill>
                  <a:srgbClr val="0000FF"/>
                </a:solidFill>
                <a:latin typeface="Times New Roman" pitchFamily="18" charset="0"/>
                <a:ea typeface="宋体" pitchFamily="2" charset="-122"/>
                <a:cs typeface="Times New Roman" pitchFamily="18" charset="0"/>
              </a:rPr>
              <a:t> </a:t>
            </a:r>
            <a:r>
              <a:rPr lang="en-US" altLang="zh-CN" sz="3200" b="1" dirty="0">
                <a:solidFill>
                  <a:srgbClr val="0000FF"/>
                </a:solidFill>
                <a:latin typeface="Times New Roman" pitchFamily="18" charset="0"/>
                <a:ea typeface="宋体" pitchFamily="2" charset="-122"/>
                <a:cs typeface="Times New Roman" pitchFamily="18" charset="0"/>
              </a:rPr>
              <a:t>= '</a:t>
            </a:r>
            <a:r>
              <a:rPr lang="zh-CN" altLang="en-US" sz="3200" b="1" dirty="0">
                <a:solidFill>
                  <a:srgbClr val="0000FF"/>
                </a:solidFill>
                <a:latin typeface="Times New Roman" pitchFamily="18" charset="0"/>
                <a:ea typeface="宋体" pitchFamily="2" charset="-122"/>
                <a:cs typeface="Times New Roman" pitchFamily="18" charset="0"/>
              </a:rPr>
              <a:t>计算机系</a:t>
            </a:r>
            <a:r>
              <a:rPr lang="en-US" altLang="zh-CN" sz="3200" b="1" dirty="0">
                <a:solidFill>
                  <a:srgbClr val="0000FF"/>
                </a:solidFill>
                <a:latin typeface="Times New Roman" pitchFamily="18" charset="0"/>
                <a:ea typeface="宋体" pitchFamily="2" charset="-122"/>
                <a:cs typeface="Times New Roman" pitchFamily="18" charset="0"/>
              </a:rPr>
              <a:t>' </a:t>
            </a:r>
            <a:r>
              <a:rPr lang="en-US" altLang="zh-CN" sz="3200" b="1" dirty="0" smtClean="0">
                <a:solidFill>
                  <a:srgbClr val="0000FF"/>
                </a:solidFill>
                <a:latin typeface="Times New Roman" pitchFamily="18" charset="0"/>
                <a:ea typeface="宋体" pitchFamily="2" charset="-122"/>
                <a:cs typeface="Times New Roman" pitchFamily="18" charset="0"/>
              </a:rPr>
              <a:t> and Grade </a:t>
            </a:r>
            <a:r>
              <a:rPr lang="en-US" altLang="zh-CN" sz="3200" b="1" dirty="0">
                <a:solidFill>
                  <a:srgbClr val="0000FF"/>
                </a:solidFill>
                <a:latin typeface="Times New Roman" pitchFamily="18" charset="0"/>
                <a:ea typeface="宋体" pitchFamily="2" charset="-122"/>
                <a:cs typeface="Times New Roman" pitchFamily="18" charset="0"/>
              </a:rPr>
              <a:t>&lt; 60</a:t>
            </a:r>
            <a:r>
              <a:rPr lang="en-US" altLang="zh-CN" sz="3200" b="1" dirty="0">
                <a:latin typeface="Times New Roman" pitchFamily="18" charset="0"/>
                <a:ea typeface="宋体" pitchFamily="2" charset="-122"/>
                <a:cs typeface="Times New Roman" pitchFamily="18" charset="0"/>
              </a:rPr>
              <a:t> </a:t>
            </a:r>
            <a:endParaRPr lang="zh-CN" altLang="en-US" sz="3200" b="1" dirty="0">
              <a:latin typeface="Times New Roman" pitchFamily="18" charset="0"/>
              <a:ea typeface="宋体" pitchFamily="2" charset="-122"/>
              <a:cs typeface="Times New Roman" pitchFamily="18" charset="0"/>
            </a:endParaRPr>
          </a:p>
        </p:txBody>
      </p:sp>
      <p:cxnSp>
        <p:nvCxnSpPr>
          <p:cNvPr id="7" name="直接连接符 6"/>
          <p:cNvCxnSpPr/>
          <p:nvPr/>
        </p:nvCxnSpPr>
        <p:spPr bwMode="auto">
          <a:xfrm>
            <a:off x="2598550" y="4077072"/>
            <a:ext cx="893330" cy="0"/>
          </a:xfrm>
          <a:prstGeom prst="line">
            <a:avLst/>
          </a:prstGeom>
          <a:solidFill>
            <a:schemeClr val="accent1"/>
          </a:solidFill>
          <a:ln w="38100" cap="flat" cmpd="sng" algn="ctr">
            <a:solidFill>
              <a:schemeClr val="tx1"/>
            </a:solidFill>
            <a:prstDash val="solid"/>
            <a:round/>
            <a:headEnd type="none" w="med" len="med"/>
            <a:tailEnd type="none" w="med" len="med"/>
          </a:ln>
        </p:spPr>
      </p:cxnSp>
      <p:cxnSp>
        <p:nvCxnSpPr>
          <p:cNvPr id="10" name="直接连接符 9"/>
          <p:cNvCxnSpPr/>
          <p:nvPr/>
        </p:nvCxnSpPr>
        <p:spPr bwMode="auto">
          <a:xfrm>
            <a:off x="2598550" y="4135897"/>
            <a:ext cx="893330" cy="0"/>
          </a:xfrm>
          <a:prstGeom prst="line">
            <a:avLst/>
          </a:prstGeom>
          <a:solidFill>
            <a:schemeClr val="accent1"/>
          </a:solidFill>
          <a:ln w="38100" cap="flat" cmpd="sng" algn="ctr">
            <a:solidFill>
              <a:schemeClr val="tx1"/>
            </a:solidFill>
            <a:prstDash val="solid"/>
            <a:round/>
            <a:headEnd type="none" w="med" len="med"/>
            <a:tailEnd type="none" w="med" len="med"/>
          </a:ln>
        </p:spPr>
      </p:cxnSp>
      <p:cxnSp>
        <p:nvCxnSpPr>
          <p:cNvPr id="9" name="直接连接符 8"/>
          <p:cNvCxnSpPr/>
          <p:nvPr/>
        </p:nvCxnSpPr>
        <p:spPr bwMode="auto">
          <a:xfrm>
            <a:off x="1835696" y="4437112"/>
            <a:ext cx="576064" cy="648072"/>
          </a:xfrm>
          <a:prstGeom prst="line">
            <a:avLst/>
          </a:prstGeom>
          <a:solidFill>
            <a:schemeClr val="accent1"/>
          </a:solidFill>
          <a:ln w="38100" cap="flat" cmpd="sng" algn="ctr">
            <a:solidFill>
              <a:schemeClr val="tx1"/>
            </a:solidFill>
            <a:prstDash val="solid"/>
            <a:round/>
            <a:headEnd type="none" w="med" len="med"/>
            <a:tailEnd type="none" w="med" len="med"/>
          </a:ln>
        </p:spPr>
      </p:cxnSp>
    </p:spTree>
    <p:extLst>
      <p:ext uri="{BB962C8B-B14F-4D97-AF65-F5344CB8AC3E}">
        <p14:creationId xmlns:p14="http://schemas.microsoft.com/office/powerpoint/2010/main" val="27764106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132099">
                                            <p:txEl>
                                              <p:pRg st="0" end="0"/>
                                            </p:txEl>
                                          </p:spTgt>
                                        </p:tgtEl>
                                        <p:attrNameLst>
                                          <p:attrName>style.visibility</p:attrName>
                                        </p:attrNameLst>
                                      </p:cBhvr>
                                      <p:to>
                                        <p:strVal val="visible"/>
                                      </p:to>
                                    </p:set>
                                    <p:animEffect transition="in" filter="wipe(down)">
                                      <p:cBhvr>
                                        <p:cTn id="7" dur="500"/>
                                        <p:tgtEl>
                                          <p:spTgt spid="13209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down)">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wipe(down)">
                                      <p:cBhvr>
                                        <p:cTn id="17" dur="500"/>
                                        <p:tgtEl>
                                          <p:spTgt spid="4"/>
                                        </p:tgtEl>
                                      </p:cBhvr>
                                    </p:animEffect>
                                  </p:childTnLst>
                                </p:cTn>
                              </p:par>
                            </p:childTnLst>
                          </p:cTn>
                        </p:par>
                      </p:childTnLst>
                    </p:cTn>
                  </p:par>
                  <p:par>
                    <p:cTn id="18" fill="hold">
                      <p:stCondLst>
                        <p:cond delay="indefinite"/>
                      </p:stCondLst>
                      <p:childTnLst>
                        <p:par>
                          <p:cTn id="19" fill="hold">
                            <p:stCondLst>
                              <p:cond delay="0"/>
                            </p:stCondLst>
                            <p:childTnLst>
                              <p:par>
                                <p:cTn id="20" presetID="14" presetClass="entr" presetSubtype="10" fill="hold"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randombar(horizontal)">
                                      <p:cBhvr>
                                        <p:cTn id="22" dur="500"/>
                                        <p:tgtEl>
                                          <p:spTgt spid="7"/>
                                        </p:tgtEl>
                                      </p:cBhvr>
                                    </p:animEffect>
                                  </p:childTnLst>
                                </p:cTn>
                              </p:par>
                              <p:par>
                                <p:cTn id="23" presetID="14" presetClass="entr" presetSubtype="10" fill="hold" nodeType="withEffect">
                                  <p:stCondLst>
                                    <p:cond delay="0"/>
                                  </p:stCondLst>
                                  <p:childTnLst>
                                    <p:set>
                                      <p:cBhvr>
                                        <p:cTn id="24" dur="1" fill="hold">
                                          <p:stCondLst>
                                            <p:cond delay="0"/>
                                          </p:stCondLst>
                                        </p:cTn>
                                        <p:tgtEl>
                                          <p:spTgt spid="10"/>
                                        </p:tgtEl>
                                        <p:attrNameLst>
                                          <p:attrName>style.visibility</p:attrName>
                                        </p:attrNameLst>
                                      </p:cBhvr>
                                      <p:to>
                                        <p:strVal val="visible"/>
                                      </p:to>
                                    </p:set>
                                    <p:animEffect transition="in" filter="randombar(horizontal)">
                                      <p:cBhvr>
                                        <p:cTn id="25" dur="500"/>
                                        <p:tgtEl>
                                          <p:spTgt spid="10"/>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4" fill="hold" grpId="0" nodeType="clickEffect">
                                  <p:stCondLst>
                                    <p:cond delay="0"/>
                                  </p:stCondLst>
                                  <p:childTnLst>
                                    <p:set>
                                      <p:cBhvr>
                                        <p:cTn id="29" dur="1" fill="hold">
                                          <p:stCondLst>
                                            <p:cond delay="0"/>
                                          </p:stCondLst>
                                        </p:cTn>
                                        <p:tgtEl>
                                          <p:spTgt spid="3"/>
                                        </p:tgtEl>
                                        <p:attrNameLst>
                                          <p:attrName>style.visibility</p:attrName>
                                        </p:attrNameLst>
                                      </p:cBhvr>
                                      <p:to>
                                        <p:strVal val="visible"/>
                                      </p:to>
                                    </p:set>
                                    <p:animEffect transition="in" filter="wipe(down)">
                                      <p:cBhvr>
                                        <p:cTn id="30" dur="500"/>
                                        <p:tgtEl>
                                          <p:spTgt spid="3"/>
                                        </p:tgtEl>
                                      </p:cBhvr>
                                    </p:animEffect>
                                  </p:childTnLst>
                                </p:cTn>
                              </p:par>
                            </p:childTnLst>
                          </p:cTn>
                        </p:par>
                      </p:childTnLst>
                    </p:cTn>
                  </p:par>
                  <p:par>
                    <p:cTn id="31" fill="hold">
                      <p:stCondLst>
                        <p:cond delay="indefinite"/>
                      </p:stCondLst>
                      <p:childTnLst>
                        <p:par>
                          <p:cTn id="32" fill="hold">
                            <p:stCondLst>
                              <p:cond delay="0"/>
                            </p:stCondLst>
                            <p:childTnLst>
                              <p:par>
                                <p:cTn id="33" presetID="14" presetClass="entr" presetSubtype="10" fill="hold" grpId="0" nodeType="clickEffect">
                                  <p:stCondLst>
                                    <p:cond delay="0"/>
                                  </p:stCondLst>
                                  <p:childTnLst>
                                    <p:set>
                                      <p:cBhvr>
                                        <p:cTn id="34" dur="1" fill="hold">
                                          <p:stCondLst>
                                            <p:cond delay="0"/>
                                          </p:stCondLst>
                                        </p:cTn>
                                        <p:tgtEl>
                                          <p:spTgt spid="5"/>
                                        </p:tgtEl>
                                        <p:attrNameLst>
                                          <p:attrName>style.visibility</p:attrName>
                                        </p:attrNameLst>
                                      </p:cBhvr>
                                      <p:to>
                                        <p:strVal val="visible"/>
                                      </p:to>
                                    </p:set>
                                    <p:animEffect transition="in" filter="randombar(horizontal)">
                                      <p:cBhvr>
                                        <p:cTn id="35" dur="500"/>
                                        <p:tgtEl>
                                          <p:spTgt spid="5"/>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9"/>
                                        </p:tgtEl>
                                        <p:attrNameLst>
                                          <p:attrName>style.visibility</p:attrName>
                                        </p:attrNameLst>
                                      </p:cBhvr>
                                      <p:to>
                                        <p:strVal val="visible"/>
                                      </p:to>
                                    </p:set>
                                    <p:animEffect transition="in" filter="fade">
                                      <p:cBhvr>
                                        <p:cTn id="40"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2099" grpId="0" build="p"/>
      <p:bldP spid="2" grpId="0"/>
      <p:bldP spid="3" grpId="0"/>
      <p:bldP spid="4" grpId="0"/>
      <p:bldP spid="5" grpId="0"/>
    </p:bld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Rectangle 2"/>
          <p:cNvSpPr>
            <a:spLocks noGrp="1"/>
          </p:cNvSpPr>
          <p:nvPr>
            <p:ph type="title"/>
          </p:nvPr>
        </p:nvSpPr>
        <p:spPr>
          <a:xfrm>
            <a:off x="500063" y="152400"/>
            <a:ext cx="8001000" cy="685800"/>
          </a:xfrm>
          <a:noFill/>
          <a:ln w="9525">
            <a:noFill/>
          </a:ln>
        </p:spPr>
        <p:txBody>
          <a:bodyPr vert="horz" wrap="square" lIns="91440" tIns="45720" rIns="91440" bIns="45720" rtlCol="0" anchor="ctr" anchorCtr="0">
            <a:noAutofit/>
          </a:bodyPr>
          <a:lstStyle/>
          <a:p>
            <a:pPr lvl="0" algn="ctr" eaLnBrk="1" hangingPunct="1">
              <a:buClrTx/>
              <a:buSzTx/>
              <a:buFontTx/>
            </a:pPr>
            <a:r>
              <a:rPr lang="zh-CN" altLang="en-US" sz="4400" b="0" dirty="0">
                <a:latin typeface="黑体" panose="02010609060101010101" pitchFamily="2" charset="-122"/>
                <a:ea typeface="黑体" panose="02010609060101010101" pitchFamily="2" charset="-122"/>
                <a:sym typeface="+mn-ea"/>
              </a:rPr>
              <a:t>基于其他表条件的删除</a:t>
            </a:r>
          </a:p>
        </p:txBody>
      </p:sp>
      <p:sp>
        <p:nvSpPr>
          <p:cNvPr id="132099" name="Rectangle 3"/>
          <p:cNvSpPr>
            <a:spLocks noGrp="1"/>
          </p:cNvSpPr>
          <p:nvPr>
            <p:ph idx="1"/>
          </p:nvPr>
        </p:nvSpPr>
        <p:spPr>
          <a:xfrm>
            <a:off x="179512" y="1196752"/>
            <a:ext cx="8642350" cy="4876800"/>
          </a:xfrm>
        </p:spPr>
        <p:txBody>
          <a:bodyPr vert="horz" wrap="square" lIns="91440" tIns="45720" rIns="91440" bIns="45720" anchor="t" anchorCtr="0"/>
          <a:lstStyle/>
          <a:p>
            <a:pPr marL="0" indent="0" eaLnBrk="1" hangingPunct="1">
              <a:buNone/>
            </a:pPr>
            <a:r>
              <a:rPr lang="zh-CN" altLang="en-US" b="1" dirty="0" smtClean="0">
                <a:latin typeface="Times New Roman" pitchFamily="18" charset="0"/>
                <a:cs typeface="Times New Roman" pitchFamily="18" charset="0"/>
              </a:rPr>
              <a:t>例</a:t>
            </a:r>
            <a:r>
              <a:rPr lang="en-US" altLang="zh-CN" b="1" dirty="0" smtClean="0">
                <a:latin typeface="Times New Roman" pitchFamily="18" charset="0"/>
                <a:cs typeface="Times New Roman" pitchFamily="18" charset="0"/>
              </a:rPr>
              <a:t>4.83 </a:t>
            </a:r>
            <a:r>
              <a:rPr lang="zh-CN" altLang="en-US" b="1" dirty="0" smtClean="0">
                <a:latin typeface="Times New Roman" pitchFamily="18" charset="0"/>
                <a:cs typeface="Times New Roman" pitchFamily="18" charset="0"/>
              </a:rPr>
              <a:t>删除</a:t>
            </a:r>
            <a:r>
              <a:rPr lang="zh-CN" altLang="en-US" b="1" dirty="0">
                <a:latin typeface="Times New Roman" pitchFamily="18" charset="0"/>
                <a:cs typeface="Times New Roman" pitchFamily="18" charset="0"/>
              </a:rPr>
              <a:t>计算机系不及格学生的修课记录。</a:t>
            </a:r>
          </a:p>
          <a:p>
            <a:pPr eaLnBrk="1" hangingPunct="1"/>
            <a:r>
              <a:rPr lang="zh-CN" altLang="en-US" sz="2800" b="1" dirty="0">
                <a:solidFill>
                  <a:srgbClr val="FF0000"/>
                </a:solidFill>
                <a:latin typeface="Times New Roman" pitchFamily="18" charset="0"/>
                <a:cs typeface="Times New Roman" pitchFamily="18" charset="0"/>
              </a:rPr>
              <a:t>（</a:t>
            </a:r>
            <a:r>
              <a:rPr lang="en-US" altLang="zh-CN" sz="2800" b="1" dirty="0">
                <a:solidFill>
                  <a:srgbClr val="FF0000"/>
                </a:solidFill>
                <a:latin typeface="Times New Roman" pitchFamily="18" charset="0"/>
                <a:cs typeface="Times New Roman" pitchFamily="18" charset="0"/>
              </a:rPr>
              <a:t>1</a:t>
            </a:r>
            <a:r>
              <a:rPr lang="zh-CN" altLang="en-US" sz="2800" b="1" dirty="0">
                <a:solidFill>
                  <a:srgbClr val="FF0000"/>
                </a:solidFill>
                <a:latin typeface="Times New Roman" pitchFamily="18" charset="0"/>
                <a:cs typeface="Times New Roman" pitchFamily="18" charset="0"/>
              </a:rPr>
              <a:t>）用子查询实现</a:t>
            </a:r>
          </a:p>
          <a:p>
            <a:pPr eaLnBrk="1" hangingPunct="1">
              <a:buFont typeface="Wingdings" panose="05000000000000000000" pitchFamily="2" charset="2"/>
              <a:buNone/>
            </a:pPr>
            <a:r>
              <a:rPr lang="zh-CN" altLang="en-US" sz="2400" b="1" dirty="0">
                <a:solidFill>
                  <a:srgbClr val="009900"/>
                </a:solidFill>
                <a:latin typeface="Times New Roman" pitchFamily="18" charset="0"/>
                <a:cs typeface="Times New Roman" pitchFamily="18" charset="0"/>
              </a:rPr>
              <a:t>	</a:t>
            </a:r>
            <a:r>
              <a:rPr lang="en-US" altLang="zh-CN" sz="2400" b="1" dirty="0">
                <a:solidFill>
                  <a:srgbClr val="0000FF"/>
                </a:solidFill>
                <a:latin typeface="Times New Roman" pitchFamily="18" charset="0"/>
                <a:cs typeface="Times New Roman" pitchFamily="18" charset="0"/>
              </a:rPr>
              <a:t>DELETE FROM SC</a:t>
            </a:r>
          </a:p>
          <a:p>
            <a:pPr eaLnBrk="1" hangingPunct="1">
              <a:buFont typeface="Wingdings" panose="05000000000000000000" pitchFamily="2" charset="2"/>
              <a:buNone/>
            </a:pPr>
            <a:r>
              <a:rPr lang="en-US" altLang="zh-CN" sz="2400" b="1" dirty="0">
                <a:solidFill>
                  <a:srgbClr val="0000FF"/>
                </a:solidFill>
                <a:latin typeface="Times New Roman" pitchFamily="18" charset="0"/>
                <a:cs typeface="Times New Roman" pitchFamily="18" charset="0"/>
              </a:rPr>
              <a:t>      WHERE Grade &lt; 60 AND Sno IN (</a:t>
            </a:r>
          </a:p>
          <a:p>
            <a:pPr eaLnBrk="1" hangingPunct="1">
              <a:buFont typeface="Wingdings" panose="05000000000000000000" pitchFamily="2" charset="2"/>
              <a:buNone/>
            </a:pPr>
            <a:r>
              <a:rPr lang="en-US" altLang="zh-CN" sz="2400" b="1" dirty="0">
                <a:solidFill>
                  <a:srgbClr val="0000FF"/>
                </a:solidFill>
                <a:latin typeface="Times New Roman" pitchFamily="18" charset="0"/>
                <a:cs typeface="Times New Roman" pitchFamily="18" charset="0"/>
              </a:rPr>
              <a:t>          </a:t>
            </a:r>
            <a:r>
              <a:rPr lang="en-US" altLang="zh-CN" sz="2400" b="1" dirty="0" smtClean="0">
                <a:solidFill>
                  <a:srgbClr val="0000FF"/>
                </a:solidFill>
                <a:latin typeface="Times New Roman" pitchFamily="18" charset="0"/>
                <a:cs typeface="Times New Roman" pitchFamily="18" charset="0"/>
              </a:rPr>
              <a:t>                   SELECT </a:t>
            </a:r>
            <a:r>
              <a:rPr lang="en-US" altLang="zh-CN" sz="2400" b="1" dirty="0">
                <a:solidFill>
                  <a:srgbClr val="0000FF"/>
                </a:solidFill>
                <a:latin typeface="Times New Roman" pitchFamily="18" charset="0"/>
                <a:cs typeface="Times New Roman" pitchFamily="18" charset="0"/>
              </a:rPr>
              <a:t>Sno FROM Student </a:t>
            </a:r>
          </a:p>
          <a:p>
            <a:pPr eaLnBrk="1" hangingPunct="1">
              <a:buFont typeface="Wingdings" panose="05000000000000000000" pitchFamily="2" charset="2"/>
              <a:buNone/>
            </a:pPr>
            <a:r>
              <a:rPr lang="en-US" altLang="zh-CN" sz="2400" b="1" dirty="0">
                <a:solidFill>
                  <a:srgbClr val="0000FF"/>
                </a:solidFill>
                <a:latin typeface="Times New Roman" pitchFamily="18" charset="0"/>
                <a:cs typeface="Times New Roman" pitchFamily="18" charset="0"/>
              </a:rPr>
              <a:t>             </a:t>
            </a:r>
            <a:r>
              <a:rPr lang="en-US" altLang="zh-CN" sz="2400" b="1" dirty="0" smtClean="0">
                <a:solidFill>
                  <a:srgbClr val="0000FF"/>
                </a:solidFill>
                <a:latin typeface="Times New Roman" pitchFamily="18" charset="0"/>
                <a:cs typeface="Times New Roman" pitchFamily="18" charset="0"/>
              </a:rPr>
              <a:t>                WHERE </a:t>
            </a:r>
            <a:r>
              <a:rPr lang="en-US" altLang="zh-CN" sz="2400" b="1" dirty="0">
                <a:solidFill>
                  <a:srgbClr val="0000FF"/>
                </a:solidFill>
                <a:latin typeface="Times New Roman" pitchFamily="18" charset="0"/>
                <a:cs typeface="Times New Roman" pitchFamily="18" charset="0"/>
              </a:rPr>
              <a:t>Sdept = '</a:t>
            </a:r>
            <a:r>
              <a:rPr lang="zh-CN" altLang="en-US" sz="2400" b="1" dirty="0">
                <a:solidFill>
                  <a:srgbClr val="0000FF"/>
                </a:solidFill>
                <a:latin typeface="Times New Roman" pitchFamily="18" charset="0"/>
                <a:cs typeface="Times New Roman" pitchFamily="18" charset="0"/>
              </a:rPr>
              <a:t>计算机系</a:t>
            </a:r>
            <a:r>
              <a:rPr lang="en-US" altLang="zh-CN" sz="2400" b="1" dirty="0">
                <a:solidFill>
                  <a:srgbClr val="0000FF"/>
                </a:solidFill>
                <a:latin typeface="Times New Roman" pitchFamily="18" charset="0"/>
                <a:cs typeface="Times New Roman" pitchFamily="18" charset="0"/>
              </a:rPr>
              <a:t>'</a:t>
            </a:r>
            <a:r>
              <a:rPr lang="zh-CN" altLang="en-US" sz="2400" b="1" dirty="0">
                <a:solidFill>
                  <a:srgbClr val="0000FF"/>
                </a:solidFill>
                <a:latin typeface="Times New Roman" pitchFamily="18" charset="0"/>
                <a:cs typeface="Times New Roman" pitchFamily="18" charset="0"/>
              </a:rPr>
              <a:t> </a:t>
            </a:r>
            <a:r>
              <a:rPr lang="en-US" altLang="zh-CN" sz="2400" b="1" dirty="0">
                <a:solidFill>
                  <a:srgbClr val="0000FF"/>
                </a:solidFill>
                <a:latin typeface="Times New Roman" pitchFamily="18" charset="0"/>
                <a:cs typeface="Times New Roman" pitchFamily="18" charset="0"/>
              </a:rPr>
              <a:t>)</a:t>
            </a:r>
          </a:p>
          <a:p>
            <a:pPr eaLnBrk="1" hangingPunct="1"/>
            <a:r>
              <a:rPr lang="zh-CN" altLang="en-US" sz="2800" b="1" dirty="0">
                <a:solidFill>
                  <a:srgbClr val="FF0000"/>
                </a:solidFill>
                <a:latin typeface="Times New Roman" pitchFamily="18" charset="0"/>
                <a:cs typeface="Times New Roman" pitchFamily="18" charset="0"/>
              </a:rPr>
              <a:t>（</a:t>
            </a:r>
            <a:r>
              <a:rPr lang="en-US" altLang="zh-CN" sz="2800" b="1" dirty="0">
                <a:solidFill>
                  <a:srgbClr val="FF0000"/>
                </a:solidFill>
                <a:latin typeface="Times New Roman" pitchFamily="18" charset="0"/>
                <a:cs typeface="Times New Roman" pitchFamily="18" charset="0"/>
              </a:rPr>
              <a:t>2</a:t>
            </a:r>
            <a:r>
              <a:rPr lang="zh-CN" altLang="en-US" sz="2800" b="1" dirty="0">
                <a:solidFill>
                  <a:srgbClr val="FF0000"/>
                </a:solidFill>
                <a:latin typeface="Times New Roman" pitchFamily="18" charset="0"/>
                <a:cs typeface="Times New Roman" pitchFamily="18" charset="0"/>
              </a:rPr>
              <a:t>）用多表连接实现</a:t>
            </a:r>
          </a:p>
          <a:p>
            <a:pPr eaLnBrk="1" hangingPunct="1">
              <a:buFont typeface="Wingdings" panose="05000000000000000000" pitchFamily="2" charset="2"/>
              <a:buNone/>
            </a:pPr>
            <a:r>
              <a:rPr lang="zh-CN" altLang="en-US" sz="2400" b="1" dirty="0">
                <a:solidFill>
                  <a:srgbClr val="009900"/>
                </a:solidFill>
                <a:latin typeface="Times New Roman" pitchFamily="18" charset="0"/>
                <a:cs typeface="Times New Roman" pitchFamily="18" charset="0"/>
              </a:rPr>
              <a:t>	</a:t>
            </a:r>
            <a:r>
              <a:rPr lang="en-US" altLang="zh-CN" sz="2400" b="1" dirty="0">
                <a:solidFill>
                  <a:srgbClr val="0000FF"/>
                </a:solidFill>
                <a:latin typeface="Times New Roman" pitchFamily="18" charset="0"/>
                <a:cs typeface="Times New Roman" pitchFamily="18" charset="0"/>
              </a:rPr>
              <a:t>DELETE FROM SC </a:t>
            </a:r>
          </a:p>
          <a:p>
            <a:pPr eaLnBrk="1" hangingPunct="1">
              <a:buFont typeface="Wingdings" panose="05000000000000000000" pitchFamily="2" charset="2"/>
              <a:buNone/>
            </a:pPr>
            <a:r>
              <a:rPr lang="en-US" altLang="zh-CN" sz="2400" b="1" dirty="0">
                <a:solidFill>
                  <a:srgbClr val="0000FF"/>
                </a:solidFill>
                <a:latin typeface="Times New Roman" pitchFamily="18" charset="0"/>
                <a:cs typeface="Times New Roman" pitchFamily="18" charset="0"/>
              </a:rPr>
              <a:t>	  FROM SC JOIN Student ON SC.Sno = Student.Sno</a:t>
            </a:r>
          </a:p>
          <a:p>
            <a:pPr eaLnBrk="1" hangingPunct="1">
              <a:buFont typeface="Wingdings" panose="05000000000000000000" pitchFamily="2" charset="2"/>
              <a:buNone/>
            </a:pPr>
            <a:r>
              <a:rPr lang="en-US" altLang="zh-CN" sz="2400" b="1" dirty="0">
                <a:solidFill>
                  <a:srgbClr val="0000FF"/>
                </a:solidFill>
                <a:latin typeface="Times New Roman" pitchFamily="18" charset="0"/>
                <a:cs typeface="Times New Roman" pitchFamily="18" charset="0"/>
              </a:rPr>
              <a:t>		WHERE Sdept = '</a:t>
            </a:r>
            <a:r>
              <a:rPr lang="zh-CN" altLang="en-US" sz="2400" b="1" dirty="0">
                <a:solidFill>
                  <a:srgbClr val="0000FF"/>
                </a:solidFill>
                <a:latin typeface="Times New Roman" pitchFamily="18" charset="0"/>
                <a:cs typeface="Times New Roman" pitchFamily="18" charset="0"/>
              </a:rPr>
              <a:t>计算机系</a:t>
            </a:r>
            <a:r>
              <a:rPr lang="en-US" altLang="zh-CN" sz="2400" b="1" dirty="0">
                <a:solidFill>
                  <a:srgbClr val="0000FF"/>
                </a:solidFill>
                <a:latin typeface="Times New Roman" pitchFamily="18" charset="0"/>
                <a:cs typeface="Times New Roman" pitchFamily="18" charset="0"/>
              </a:rPr>
              <a:t>' AND Grade &lt; 60</a:t>
            </a:r>
            <a:r>
              <a:rPr lang="en-US" altLang="zh-CN" sz="2400" b="1" dirty="0">
                <a:latin typeface="Times New Roman" pitchFamily="18" charset="0"/>
                <a:cs typeface="Times New Roman" pitchFamily="18" charset="0"/>
              </a:rPr>
              <a:t> </a:t>
            </a:r>
            <a:endParaRPr lang="zh-CN" altLang="en-US" sz="2400" b="1" dirty="0">
              <a:latin typeface="Times New Roman" pitchFamily="18" charset="0"/>
              <a:cs typeface="Times New Roman" pitchFamily="18" charset="0"/>
            </a:endParaRPr>
          </a:p>
        </p:txBody>
      </p:sp>
    </p:spTree>
    <p:extLst>
      <p:ext uri="{BB962C8B-B14F-4D97-AF65-F5344CB8AC3E}">
        <p14:creationId xmlns:p14="http://schemas.microsoft.com/office/powerpoint/2010/main" val="2736770824"/>
      </p:ext>
    </p:extLst>
  </p:cSld>
  <p:clrMapOvr>
    <a:masterClrMapping/>
  </p:clrMapOvr>
  <p:timing>
    <p:tnLst>
      <p:par>
        <p:cTn id="1" dur="indefinite" restart="never" nodeType="tmRoot"/>
      </p:par>
    </p:tn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Rectangle 2"/>
          <p:cNvSpPr>
            <a:spLocks noGrp="1"/>
          </p:cNvSpPr>
          <p:nvPr>
            <p:ph type="title"/>
          </p:nvPr>
        </p:nvSpPr>
        <p:spPr>
          <a:xfrm>
            <a:off x="500063" y="152400"/>
            <a:ext cx="8001000" cy="685800"/>
          </a:xfrm>
          <a:noFill/>
          <a:ln w="9525">
            <a:noFill/>
          </a:ln>
        </p:spPr>
        <p:txBody>
          <a:bodyPr vert="horz" wrap="square" lIns="91440" tIns="45720" rIns="91440" bIns="45720" rtlCol="0" anchor="ctr" anchorCtr="0">
            <a:noAutofit/>
          </a:bodyPr>
          <a:lstStyle/>
          <a:p>
            <a:pPr lvl="0" algn="ctr" eaLnBrk="1" hangingPunct="1">
              <a:buClrTx/>
              <a:buSzTx/>
              <a:buFontTx/>
            </a:pPr>
            <a:r>
              <a:rPr lang="zh-CN" altLang="en-US" sz="4400" b="0" dirty="0" smtClean="0">
                <a:latin typeface="黑体" panose="02010609060101010101" pitchFamily="2" charset="-122"/>
                <a:ea typeface="黑体" panose="02010609060101010101" pitchFamily="2" charset="-122"/>
                <a:sym typeface="+mn-ea"/>
              </a:rPr>
              <a:t>课堂练习</a:t>
            </a:r>
            <a:endParaRPr lang="zh-CN" altLang="en-US" sz="4400" b="0" dirty="0">
              <a:latin typeface="黑体" panose="02010609060101010101" pitchFamily="2" charset="-122"/>
              <a:ea typeface="黑体" panose="02010609060101010101" pitchFamily="2" charset="-122"/>
              <a:sym typeface="+mn-ea"/>
            </a:endParaRPr>
          </a:p>
        </p:txBody>
      </p:sp>
      <p:sp>
        <p:nvSpPr>
          <p:cNvPr id="132099" name="Rectangle 3"/>
          <p:cNvSpPr>
            <a:spLocks noGrp="1"/>
          </p:cNvSpPr>
          <p:nvPr>
            <p:ph idx="1"/>
          </p:nvPr>
        </p:nvSpPr>
        <p:spPr>
          <a:xfrm>
            <a:off x="179512" y="1196752"/>
            <a:ext cx="8784976" cy="576064"/>
          </a:xfrm>
        </p:spPr>
        <p:txBody>
          <a:bodyPr vert="horz" wrap="square" lIns="91440" tIns="45720" rIns="91440" bIns="45720" anchor="t" anchorCtr="0"/>
          <a:lstStyle/>
          <a:p>
            <a:pPr marL="0" indent="0" eaLnBrk="1" hangingPunct="1">
              <a:buNone/>
            </a:pPr>
            <a:r>
              <a:rPr lang="zh-CN" altLang="en-US" sz="3200" b="1" dirty="0" smtClean="0">
                <a:cs typeface="等线" panose="02010600030101010101" charset="-122"/>
              </a:rPr>
              <a:t>例</a:t>
            </a:r>
            <a:r>
              <a:rPr lang="en-US" altLang="zh-CN" sz="3200" b="1" dirty="0" smtClean="0">
                <a:cs typeface="等线" panose="02010600030101010101" charset="-122"/>
              </a:rPr>
              <a:t>4.83 </a:t>
            </a:r>
            <a:r>
              <a:rPr lang="zh-CN" altLang="en-US" sz="3200" b="1" dirty="0" smtClean="0">
                <a:cs typeface="等线" panose="02010600030101010101" charset="-122"/>
              </a:rPr>
              <a:t>删除</a:t>
            </a:r>
            <a:r>
              <a:rPr lang="zh-CN" altLang="en-US" sz="3200" b="1" i="1" u="sng" cap="all" dirty="0" smtClean="0">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cs typeface="等线" panose="02010600030101010101" charset="-122"/>
              </a:rPr>
              <a:t>选课总学分最多的学生</a:t>
            </a:r>
            <a:r>
              <a:rPr lang="zh-CN" altLang="en-US" sz="3200" b="1" dirty="0" smtClean="0">
                <a:cs typeface="等线" panose="02010600030101010101" charset="-122"/>
              </a:rPr>
              <a:t>的选课记录。</a:t>
            </a:r>
            <a:endParaRPr lang="en-US" altLang="zh-CN" sz="3200" b="1" dirty="0" smtClean="0">
              <a:cs typeface="等线" panose="02010600030101010101" charset="-122"/>
            </a:endParaRPr>
          </a:p>
          <a:p>
            <a:pPr marL="0" indent="0" eaLnBrk="1" hangingPunct="1">
              <a:buNone/>
            </a:pPr>
            <a:r>
              <a:rPr lang="en-US" altLang="zh-CN" sz="3200" b="1" dirty="0" smtClean="0">
                <a:cs typeface="等线" panose="02010600030101010101" charset="-122"/>
              </a:rPr>
              <a:t>   </a:t>
            </a:r>
            <a:endParaRPr lang="zh-CN" altLang="en-US" sz="3200" b="1" dirty="0">
              <a:cs typeface="等线" panose="02010600030101010101" charset="-122"/>
            </a:endParaRPr>
          </a:p>
        </p:txBody>
      </p:sp>
      <p:sp>
        <p:nvSpPr>
          <p:cNvPr id="3" name="矩形 2"/>
          <p:cNvSpPr/>
          <p:nvPr/>
        </p:nvSpPr>
        <p:spPr>
          <a:xfrm>
            <a:off x="4283968" y="3086958"/>
            <a:ext cx="4860032" cy="2862322"/>
          </a:xfrm>
          <a:prstGeom prst="rect">
            <a:avLst/>
          </a:prstGeom>
        </p:spPr>
        <p:txBody>
          <a:bodyPr wrap="square">
            <a:spAutoFit/>
          </a:bodyPr>
          <a:lstStyle/>
          <a:p>
            <a:pPr algn="l"/>
            <a:r>
              <a:rPr lang="en-US" altLang="zh-CN" sz="3000" b="1" dirty="0">
                <a:latin typeface="Times New Roman" pitchFamily="18" charset="0"/>
                <a:cs typeface="Times New Roman" pitchFamily="18" charset="0"/>
              </a:rPr>
              <a:t>select </a:t>
            </a:r>
            <a:r>
              <a:rPr lang="en-US" altLang="zh-CN" sz="3000" b="1" dirty="0" smtClean="0">
                <a:latin typeface="Times New Roman" pitchFamily="18" charset="0"/>
                <a:cs typeface="Times New Roman" pitchFamily="18" charset="0"/>
              </a:rPr>
              <a:t>top 1 </a:t>
            </a:r>
            <a:r>
              <a:rPr lang="en-US" altLang="zh-CN" sz="3000" b="1" dirty="0" err="1" smtClean="0">
                <a:latin typeface="Times New Roman" pitchFamily="18" charset="0"/>
                <a:cs typeface="Times New Roman" pitchFamily="18" charset="0"/>
              </a:rPr>
              <a:t>sno</a:t>
            </a:r>
            <a:endParaRPr lang="en-US" altLang="zh-CN" sz="3000" b="1" dirty="0">
              <a:latin typeface="Times New Roman" pitchFamily="18" charset="0"/>
              <a:cs typeface="Times New Roman" pitchFamily="18" charset="0"/>
            </a:endParaRPr>
          </a:p>
          <a:p>
            <a:pPr algn="l"/>
            <a:r>
              <a:rPr lang="en-US" altLang="zh-CN" sz="3000" b="1" dirty="0">
                <a:latin typeface="Times New Roman" pitchFamily="18" charset="0"/>
                <a:cs typeface="Times New Roman" pitchFamily="18" charset="0"/>
              </a:rPr>
              <a:t>     from </a:t>
            </a:r>
            <a:r>
              <a:rPr lang="en-US" altLang="zh-CN" sz="3000" b="1" dirty="0" err="1">
                <a:latin typeface="Times New Roman" pitchFamily="18" charset="0"/>
                <a:cs typeface="Times New Roman" pitchFamily="18" charset="0"/>
              </a:rPr>
              <a:t>sc</a:t>
            </a:r>
            <a:r>
              <a:rPr lang="en-US" altLang="zh-CN" sz="3000" b="1" dirty="0">
                <a:latin typeface="Times New Roman" pitchFamily="18" charset="0"/>
                <a:cs typeface="Times New Roman" pitchFamily="18" charset="0"/>
              </a:rPr>
              <a:t> join course </a:t>
            </a:r>
          </a:p>
          <a:p>
            <a:pPr algn="l"/>
            <a:r>
              <a:rPr lang="en-US" altLang="zh-CN" sz="3000" b="1" dirty="0">
                <a:latin typeface="Times New Roman" pitchFamily="18" charset="0"/>
                <a:cs typeface="Times New Roman" pitchFamily="18" charset="0"/>
              </a:rPr>
              <a:t>           on </a:t>
            </a:r>
            <a:r>
              <a:rPr lang="en-US" altLang="zh-CN" sz="3000" b="1" dirty="0" err="1">
                <a:latin typeface="Times New Roman" pitchFamily="18" charset="0"/>
                <a:cs typeface="Times New Roman" pitchFamily="18" charset="0"/>
              </a:rPr>
              <a:t>sc.cno</a:t>
            </a:r>
            <a:r>
              <a:rPr lang="en-US" altLang="zh-CN" sz="3000" b="1" dirty="0">
                <a:latin typeface="Times New Roman" pitchFamily="18" charset="0"/>
                <a:cs typeface="Times New Roman" pitchFamily="18" charset="0"/>
              </a:rPr>
              <a:t>=</a:t>
            </a:r>
            <a:r>
              <a:rPr lang="en-US" altLang="zh-CN" sz="3000" b="1" dirty="0" err="1">
                <a:latin typeface="Times New Roman" pitchFamily="18" charset="0"/>
                <a:cs typeface="Times New Roman" pitchFamily="18" charset="0"/>
              </a:rPr>
              <a:t>course.cno</a:t>
            </a:r>
            <a:endParaRPr lang="en-US" altLang="zh-CN" sz="3000" b="1" dirty="0">
              <a:latin typeface="Times New Roman" pitchFamily="18" charset="0"/>
              <a:cs typeface="Times New Roman" pitchFamily="18" charset="0"/>
            </a:endParaRPr>
          </a:p>
          <a:p>
            <a:pPr algn="l"/>
            <a:r>
              <a:rPr lang="en-US" altLang="zh-CN" sz="3000" b="1" dirty="0">
                <a:latin typeface="Times New Roman" pitchFamily="18" charset="0"/>
                <a:cs typeface="Times New Roman" pitchFamily="18" charset="0"/>
              </a:rPr>
              <a:t>     where grade&gt;=60</a:t>
            </a:r>
          </a:p>
          <a:p>
            <a:pPr algn="l"/>
            <a:r>
              <a:rPr lang="en-US" altLang="zh-CN" sz="3000" b="1" dirty="0">
                <a:latin typeface="Times New Roman" pitchFamily="18" charset="0"/>
                <a:cs typeface="Times New Roman" pitchFamily="18" charset="0"/>
              </a:rPr>
              <a:t>     group by </a:t>
            </a:r>
            <a:r>
              <a:rPr lang="en-US" altLang="zh-CN" sz="3000" b="1" dirty="0" err="1">
                <a:latin typeface="Times New Roman" pitchFamily="18" charset="0"/>
                <a:cs typeface="Times New Roman" pitchFamily="18" charset="0"/>
              </a:rPr>
              <a:t>sno</a:t>
            </a:r>
            <a:r>
              <a:rPr lang="en-US" altLang="zh-CN" sz="3000" b="1" dirty="0">
                <a:latin typeface="Times New Roman" pitchFamily="18" charset="0"/>
                <a:cs typeface="Times New Roman" pitchFamily="18" charset="0"/>
              </a:rPr>
              <a:t> </a:t>
            </a:r>
            <a:endParaRPr lang="en-US" altLang="zh-CN" sz="3000" b="1" dirty="0" smtClean="0">
              <a:latin typeface="Times New Roman" pitchFamily="18" charset="0"/>
              <a:cs typeface="Times New Roman" pitchFamily="18" charset="0"/>
            </a:endParaRPr>
          </a:p>
          <a:p>
            <a:pPr algn="l"/>
            <a:r>
              <a:rPr lang="en-US" altLang="zh-CN" sz="3000" b="1" dirty="0">
                <a:latin typeface="Times New Roman" pitchFamily="18" charset="0"/>
                <a:cs typeface="Times New Roman" pitchFamily="18" charset="0"/>
              </a:rPr>
              <a:t> </a:t>
            </a:r>
            <a:r>
              <a:rPr lang="en-US" altLang="zh-CN" sz="3000" b="1" dirty="0" smtClean="0">
                <a:latin typeface="Times New Roman" pitchFamily="18" charset="0"/>
                <a:cs typeface="Times New Roman" pitchFamily="18" charset="0"/>
              </a:rPr>
              <a:t>  order by sum(credit) </a:t>
            </a:r>
            <a:r>
              <a:rPr lang="en-US" altLang="zh-CN" sz="3000" b="1" dirty="0" err="1" smtClean="0">
                <a:latin typeface="Times New Roman" pitchFamily="18" charset="0"/>
                <a:cs typeface="Times New Roman" pitchFamily="18" charset="0"/>
              </a:rPr>
              <a:t>desc</a:t>
            </a:r>
            <a:endParaRPr lang="zh-CN" altLang="en-US" sz="3000" b="1" dirty="0">
              <a:latin typeface="Times New Roman" pitchFamily="18" charset="0"/>
              <a:cs typeface="Times New Roman" pitchFamily="18" charset="0"/>
            </a:endParaRPr>
          </a:p>
        </p:txBody>
      </p:sp>
      <p:sp>
        <p:nvSpPr>
          <p:cNvPr id="4" name="矩形 3"/>
          <p:cNvSpPr/>
          <p:nvPr/>
        </p:nvSpPr>
        <p:spPr>
          <a:xfrm>
            <a:off x="226772" y="3595082"/>
            <a:ext cx="4572000" cy="553998"/>
          </a:xfrm>
          <a:prstGeom prst="rect">
            <a:avLst/>
          </a:prstGeom>
        </p:spPr>
        <p:txBody>
          <a:bodyPr>
            <a:spAutoFit/>
          </a:bodyPr>
          <a:lstStyle/>
          <a:p>
            <a:pPr algn="l"/>
            <a:r>
              <a:rPr lang="en-US" altLang="zh-CN" sz="3000" b="1" dirty="0" smtClean="0">
                <a:latin typeface="Times New Roman" pitchFamily="18" charset="0"/>
                <a:cs typeface="Times New Roman" pitchFamily="18" charset="0"/>
              </a:rPr>
              <a:t>from </a:t>
            </a:r>
            <a:r>
              <a:rPr lang="en-US" altLang="zh-CN" sz="3000" b="1" dirty="0" err="1" smtClean="0">
                <a:latin typeface="Times New Roman" pitchFamily="18" charset="0"/>
                <a:cs typeface="Times New Roman" pitchFamily="18" charset="0"/>
              </a:rPr>
              <a:t>sc</a:t>
            </a:r>
            <a:endParaRPr lang="zh-CN" altLang="en-US" sz="3000" b="1" dirty="0">
              <a:latin typeface="Times New Roman" pitchFamily="18" charset="0"/>
              <a:cs typeface="Times New Roman" pitchFamily="18" charset="0"/>
            </a:endParaRPr>
          </a:p>
        </p:txBody>
      </p:sp>
      <p:sp>
        <p:nvSpPr>
          <p:cNvPr id="5" name="矩形 4"/>
          <p:cNvSpPr/>
          <p:nvPr/>
        </p:nvSpPr>
        <p:spPr>
          <a:xfrm>
            <a:off x="1493912" y="1820270"/>
            <a:ext cx="1853952" cy="584775"/>
          </a:xfrm>
          <a:prstGeom prst="rect">
            <a:avLst/>
          </a:prstGeom>
        </p:spPr>
        <p:txBody>
          <a:bodyPr wrap="square">
            <a:spAutoFit/>
          </a:bodyPr>
          <a:lstStyle/>
          <a:p>
            <a:pPr algn="l"/>
            <a:r>
              <a:rPr lang="en-US" altLang="zh-CN" sz="3200" b="1" dirty="0">
                <a:latin typeface="Times New Roman" pitchFamily="18" charset="0"/>
                <a:cs typeface="Times New Roman" pitchFamily="18" charset="0"/>
              </a:rPr>
              <a:t>delete </a:t>
            </a:r>
            <a:r>
              <a:rPr lang="en-US" altLang="zh-CN" sz="3200" b="1" dirty="0" err="1" smtClean="0">
                <a:latin typeface="Times New Roman" pitchFamily="18" charset="0"/>
                <a:cs typeface="Times New Roman" pitchFamily="18" charset="0"/>
              </a:rPr>
              <a:t>sc</a:t>
            </a:r>
            <a:endParaRPr lang="en-US" altLang="zh-CN" sz="3200" b="1" dirty="0">
              <a:latin typeface="Times New Roman" pitchFamily="18" charset="0"/>
              <a:cs typeface="Times New Roman" pitchFamily="18" charset="0"/>
            </a:endParaRPr>
          </a:p>
        </p:txBody>
      </p:sp>
      <p:sp>
        <p:nvSpPr>
          <p:cNvPr id="6" name="矩形 5"/>
          <p:cNvSpPr/>
          <p:nvPr/>
        </p:nvSpPr>
        <p:spPr>
          <a:xfrm>
            <a:off x="3203848" y="1820269"/>
            <a:ext cx="2581732" cy="584775"/>
          </a:xfrm>
          <a:prstGeom prst="rect">
            <a:avLst/>
          </a:prstGeom>
        </p:spPr>
        <p:txBody>
          <a:bodyPr wrap="none">
            <a:spAutoFit/>
          </a:bodyPr>
          <a:lstStyle/>
          <a:p>
            <a:pPr algn="l"/>
            <a:r>
              <a:rPr lang="en-US" altLang="zh-CN" sz="3200" b="1" dirty="0">
                <a:latin typeface="Times New Roman" pitchFamily="18" charset="0"/>
                <a:cs typeface="Times New Roman" pitchFamily="18" charset="0"/>
              </a:rPr>
              <a:t>where </a:t>
            </a:r>
            <a:r>
              <a:rPr lang="en-US" altLang="zh-CN" sz="3200" b="1" dirty="0" err="1" smtClean="0">
                <a:latin typeface="Times New Roman" pitchFamily="18" charset="0"/>
                <a:cs typeface="Times New Roman" pitchFamily="18" charset="0"/>
              </a:rPr>
              <a:t>sno</a:t>
            </a:r>
            <a:r>
              <a:rPr lang="en-US" altLang="zh-CN" sz="3200" b="1" dirty="0" smtClean="0">
                <a:latin typeface="Times New Roman" pitchFamily="18" charset="0"/>
                <a:cs typeface="Times New Roman" pitchFamily="18" charset="0"/>
              </a:rPr>
              <a:t>=</a:t>
            </a:r>
            <a:r>
              <a:rPr lang="zh-CN" altLang="en-US" sz="3200" b="1" dirty="0">
                <a:latin typeface="Times New Roman" pitchFamily="18" charset="0"/>
                <a:cs typeface="Times New Roman" pitchFamily="18" charset="0"/>
              </a:rPr>
              <a:t>？</a:t>
            </a:r>
            <a:endParaRPr lang="en-US" altLang="zh-CN" sz="3200" b="1" dirty="0">
              <a:latin typeface="Times New Roman" pitchFamily="18" charset="0"/>
              <a:cs typeface="Times New Roman" pitchFamily="18" charset="0"/>
            </a:endParaRPr>
          </a:p>
        </p:txBody>
      </p:sp>
      <p:sp>
        <p:nvSpPr>
          <p:cNvPr id="7" name="矩形 6"/>
          <p:cNvSpPr/>
          <p:nvPr/>
        </p:nvSpPr>
        <p:spPr>
          <a:xfrm>
            <a:off x="226772" y="4069521"/>
            <a:ext cx="4129204" cy="1015663"/>
          </a:xfrm>
          <a:prstGeom prst="rect">
            <a:avLst/>
          </a:prstGeom>
        </p:spPr>
        <p:txBody>
          <a:bodyPr wrap="square">
            <a:spAutoFit/>
          </a:bodyPr>
          <a:lstStyle/>
          <a:p>
            <a:pPr algn="l"/>
            <a:r>
              <a:rPr lang="en-US" altLang="zh-CN" sz="3000" b="1" dirty="0" smtClean="0">
                <a:latin typeface="Times New Roman" pitchFamily="18" charset="0"/>
                <a:cs typeface="Times New Roman" pitchFamily="18" charset="0"/>
              </a:rPr>
              <a:t>    join </a:t>
            </a:r>
            <a:r>
              <a:rPr lang="en-US" altLang="zh-CN" sz="3000" b="1" dirty="0">
                <a:latin typeface="Times New Roman" pitchFamily="18" charset="0"/>
                <a:cs typeface="Times New Roman" pitchFamily="18" charset="0"/>
              </a:rPr>
              <a:t>course  </a:t>
            </a:r>
            <a:endParaRPr lang="en-US" altLang="zh-CN" sz="3000" b="1" dirty="0" smtClean="0">
              <a:latin typeface="Times New Roman" pitchFamily="18" charset="0"/>
              <a:cs typeface="Times New Roman" pitchFamily="18" charset="0"/>
            </a:endParaRPr>
          </a:p>
          <a:p>
            <a:pPr algn="l"/>
            <a:r>
              <a:rPr lang="en-US" altLang="zh-CN" sz="3000" b="1" dirty="0">
                <a:latin typeface="Times New Roman" pitchFamily="18" charset="0"/>
                <a:cs typeface="Times New Roman" pitchFamily="18" charset="0"/>
              </a:rPr>
              <a:t> </a:t>
            </a:r>
            <a:r>
              <a:rPr lang="en-US" altLang="zh-CN" sz="3000" b="1" dirty="0" smtClean="0">
                <a:latin typeface="Times New Roman" pitchFamily="18" charset="0"/>
                <a:cs typeface="Times New Roman" pitchFamily="18" charset="0"/>
              </a:rPr>
              <a:t>   on </a:t>
            </a:r>
            <a:r>
              <a:rPr lang="en-US" altLang="zh-CN" sz="3000" b="1" dirty="0" err="1" smtClean="0">
                <a:latin typeface="Times New Roman" pitchFamily="18" charset="0"/>
                <a:cs typeface="Times New Roman" pitchFamily="18" charset="0"/>
              </a:rPr>
              <a:t>sc.cno</a:t>
            </a:r>
            <a:r>
              <a:rPr lang="en-US" altLang="zh-CN" sz="3000" b="1" dirty="0" smtClean="0">
                <a:latin typeface="Times New Roman" pitchFamily="18" charset="0"/>
                <a:cs typeface="Times New Roman" pitchFamily="18" charset="0"/>
              </a:rPr>
              <a:t>=</a:t>
            </a:r>
            <a:r>
              <a:rPr lang="en-US" altLang="zh-CN" sz="3000" b="1" dirty="0" err="1" smtClean="0">
                <a:latin typeface="Times New Roman" pitchFamily="18" charset="0"/>
                <a:cs typeface="Times New Roman" pitchFamily="18" charset="0"/>
              </a:rPr>
              <a:t>course.cno</a:t>
            </a:r>
            <a:endParaRPr lang="en-US" altLang="zh-CN" sz="3000" b="1" dirty="0">
              <a:latin typeface="Times New Roman" pitchFamily="18" charset="0"/>
              <a:cs typeface="Times New Roman" pitchFamily="18" charset="0"/>
            </a:endParaRPr>
          </a:p>
        </p:txBody>
      </p:sp>
      <p:sp>
        <p:nvSpPr>
          <p:cNvPr id="8" name="矩形 7"/>
          <p:cNvSpPr/>
          <p:nvPr/>
        </p:nvSpPr>
        <p:spPr>
          <a:xfrm>
            <a:off x="323528" y="5035242"/>
            <a:ext cx="2409121" cy="553998"/>
          </a:xfrm>
          <a:prstGeom prst="rect">
            <a:avLst/>
          </a:prstGeom>
        </p:spPr>
        <p:txBody>
          <a:bodyPr wrap="none">
            <a:spAutoFit/>
          </a:bodyPr>
          <a:lstStyle/>
          <a:p>
            <a:pPr algn="l"/>
            <a:r>
              <a:rPr lang="en-US" altLang="zh-CN" sz="3000" b="1" dirty="0">
                <a:latin typeface="Times New Roman" pitchFamily="18" charset="0"/>
                <a:cs typeface="Times New Roman" pitchFamily="18" charset="0"/>
              </a:rPr>
              <a:t>group by </a:t>
            </a:r>
            <a:r>
              <a:rPr lang="en-US" altLang="zh-CN" sz="3000" b="1" dirty="0" err="1">
                <a:latin typeface="Times New Roman" pitchFamily="18" charset="0"/>
                <a:cs typeface="Times New Roman" pitchFamily="18" charset="0"/>
              </a:rPr>
              <a:t>sno</a:t>
            </a:r>
            <a:r>
              <a:rPr lang="en-US" altLang="zh-CN" sz="3000" b="1" dirty="0">
                <a:latin typeface="Times New Roman" pitchFamily="18" charset="0"/>
                <a:cs typeface="Times New Roman" pitchFamily="18" charset="0"/>
              </a:rPr>
              <a:t> </a:t>
            </a:r>
            <a:endParaRPr lang="zh-CN" altLang="en-US" sz="3000" b="1" dirty="0">
              <a:latin typeface="Times New Roman" pitchFamily="18" charset="0"/>
              <a:cs typeface="Times New Roman" pitchFamily="18" charset="0"/>
            </a:endParaRPr>
          </a:p>
        </p:txBody>
      </p:sp>
      <p:sp>
        <p:nvSpPr>
          <p:cNvPr id="10" name="矩形 9"/>
          <p:cNvSpPr/>
          <p:nvPr/>
        </p:nvSpPr>
        <p:spPr>
          <a:xfrm>
            <a:off x="251520" y="3235042"/>
            <a:ext cx="4572000" cy="553998"/>
          </a:xfrm>
          <a:prstGeom prst="rect">
            <a:avLst/>
          </a:prstGeom>
        </p:spPr>
        <p:txBody>
          <a:bodyPr>
            <a:spAutoFit/>
          </a:bodyPr>
          <a:lstStyle/>
          <a:p>
            <a:pPr algn="l"/>
            <a:r>
              <a:rPr lang="en-US" altLang="zh-CN" sz="3000" b="1" dirty="0" smtClean="0">
                <a:latin typeface="Times New Roman" pitchFamily="18" charset="0"/>
                <a:cs typeface="Times New Roman" pitchFamily="18" charset="0"/>
              </a:rPr>
              <a:t>select </a:t>
            </a:r>
            <a:r>
              <a:rPr lang="en-US" altLang="zh-CN" sz="3000" b="1" dirty="0" err="1" smtClean="0">
                <a:latin typeface="Times New Roman" pitchFamily="18" charset="0"/>
                <a:cs typeface="Times New Roman" pitchFamily="18" charset="0"/>
              </a:rPr>
              <a:t>sno,sum</a:t>
            </a:r>
            <a:r>
              <a:rPr lang="en-US" altLang="zh-CN" sz="3000" b="1" dirty="0" smtClean="0">
                <a:latin typeface="Times New Roman" pitchFamily="18" charset="0"/>
                <a:cs typeface="Times New Roman" pitchFamily="18" charset="0"/>
              </a:rPr>
              <a:t>(credit</a:t>
            </a:r>
            <a:r>
              <a:rPr lang="en-US" altLang="zh-CN" sz="3000" b="1" dirty="0" smtClean="0">
                <a:latin typeface="Times New Roman" pitchFamily="18" charset="0"/>
                <a:cs typeface="Times New Roman" pitchFamily="18" charset="0"/>
              </a:rPr>
              <a:t>)</a:t>
            </a:r>
            <a:endParaRPr lang="en-US" altLang="zh-CN" sz="3000" b="1" dirty="0">
              <a:latin typeface="Times New Roman" pitchFamily="18" charset="0"/>
              <a:cs typeface="Times New Roman" pitchFamily="18" charset="0"/>
            </a:endParaRPr>
          </a:p>
        </p:txBody>
      </p:sp>
      <p:sp>
        <p:nvSpPr>
          <p:cNvPr id="2" name="矩形 1"/>
          <p:cNvSpPr/>
          <p:nvPr/>
        </p:nvSpPr>
        <p:spPr>
          <a:xfrm>
            <a:off x="467544" y="2399398"/>
            <a:ext cx="8424936" cy="523220"/>
          </a:xfrm>
          <a:prstGeom prst="rect">
            <a:avLst/>
          </a:prstGeom>
        </p:spPr>
        <p:txBody>
          <a:bodyPr wrap="square">
            <a:spAutoFit/>
          </a:bodyPr>
          <a:lstStyle/>
          <a:p>
            <a:pPr algn="l"/>
            <a:r>
              <a:rPr lang="zh-CN" altLang="en-US" sz="2800" b="1" dirty="0" smtClean="0">
                <a:solidFill>
                  <a:srgbClr val="0000FF"/>
                </a:solidFill>
                <a:latin typeface="Times New Roman" pitchFamily="18" charset="0"/>
                <a:ea typeface="宋体" pitchFamily="2" charset="-122"/>
                <a:cs typeface="Times New Roman" pitchFamily="18" charset="0"/>
              </a:rPr>
              <a:t>转移难点：查询</a:t>
            </a:r>
            <a:r>
              <a:rPr lang="zh-CN" altLang="en-US" sz="2800" b="1" i="1" dirty="0" smtClean="0">
                <a:solidFill>
                  <a:srgbClr val="FF0000"/>
                </a:solidFill>
                <a:latin typeface="Times New Roman" pitchFamily="18" charset="0"/>
                <a:ea typeface="宋体" pitchFamily="2" charset="-122"/>
                <a:cs typeface="Times New Roman" pitchFamily="18" charset="0"/>
              </a:rPr>
              <a:t>选课总学分</a:t>
            </a:r>
            <a:r>
              <a:rPr lang="zh-CN" altLang="en-US" sz="2800" b="1" dirty="0" smtClean="0">
                <a:solidFill>
                  <a:srgbClr val="0000FF"/>
                </a:solidFill>
                <a:latin typeface="Times New Roman" pitchFamily="18" charset="0"/>
                <a:ea typeface="宋体" pitchFamily="2" charset="-122"/>
                <a:cs typeface="Times New Roman" pitchFamily="18" charset="0"/>
              </a:rPr>
              <a:t>最多的学生，列出学号</a:t>
            </a:r>
            <a:endParaRPr lang="zh-CN" altLang="en-US" sz="2800" dirty="0">
              <a:solidFill>
                <a:srgbClr val="0000FF"/>
              </a:solidFill>
            </a:endParaRPr>
          </a:p>
        </p:txBody>
      </p:sp>
    </p:spTree>
    <p:extLst>
      <p:ext uri="{BB962C8B-B14F-4D97-AF65-F5344CB8AC3E}">
        <p14:creationId xmlns:p14="http://schemas.microsoft.com/office/powerpoint/2010/main" val="3135515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132099">
                                            <p:txEl>
                                              <p:pRg st="0" end="0"/>
                                            </p:txEl>
                                          </p:spTgt>
                                        </p:tgtEl>
                                        <p:attrNameLst>
                                          <p:attrName>style.visibility</p:attrName>
                                        </p:attrNameLst>
                                      </p:cBhvr>
                                      <p:to>
                                        <p:strVal val="visible"/>
                                      </p:to>
                                    </p:set>
                                    <p:animEffect transition="in" filter="randombar(horizontal)">
                                      <p:cBhvr>
                                        <p:cTn id="7" dur="500"/>
                                        <p:tgtEl>
                                          <p:spTgt spid="13209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 calcmode="lin" valueType="num">
                                      <p:cBhvr additive="base">
                                        <p:cTn id="12" dur="500" fill="hold"/>
                                        <p:tgtEl>
                                          <p:spTgt spid="5"/>
                                        </p:tgtEl>
                                        <p:attrNameLst>
                                          <p:attrName>ppt_x</p:attrName>
                                        </p:attrNameLst>
                                      </p:cBhvr>
                                      <p:tavLst>
                                        <p:tav tm="0">
                                          <p:val>
                                            <p:strVal val="0-#ppt_w/2"/>
                                          </p:val>
                                        </p:tav>
                                        <p:tav tm="100000">
                                          <p:val>
                                            <p:strVal val="#ppt_x"/>
                                          </p:val>
                                        </p:tav>
                                      </p:tavLst>
                                    </p:anim>
                                    <p:anim calcmode="lin" valueType="num">
                                      <p:cBhvr additive="base">
                                        <p:cTn id="13" dur="500" fill="hold"/>
                                        <p:tgtEl>
                                          <p:spTgt spid="5"/>
                                        </p:tgtEl>
                                        <p:attrNameLst>
                                          <p:attrName>ppt_y</p:attrName>
                                        </p:attrNameLst>
                                      </p:cBhvr>
                                      <p:tavLst>
                                        <p:tav tm="0">
                                          <p:val>
                                            <p:strVal val="#ppt_y"/>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2" fill="hold" grpId="0" nodeType="clickEffect">
                                  <p:stCondLst>
                                    <p:cond delay="0"/>
                                  </p:stCondLst>
                                  <p:childTnLst>
                                    <p:set>
                                      <p:cBhvr>
                                        <p:cTn id="17" dur="1" fill="hold">
                                          <p:stCondLst>
                                            <p:cond delay="0"/>
                                          </p:stCondLst>
                                        </p:cTn>
                                        <p:tgtEl>
                                          <p:spTgt spid="6"/>
                                        </p:tgtEl>
                                        <p:attrNameLst>
                                          <p:attrName>style.visibility</p:attrName>
                                        </p:attrNameLst>
                                      </p:cBhvr>
                                      <p:to>
                                        <p:strVal val="visible"/>
                                      </p:to>
                                    </p:set>
                                    <p:anim calcmode="lin" valueType="num">
                                      <p:cBhvr additive="base">
                                        <p:cTn id="18" dur="500" fill="hold"/>
                                        <p:tgtEl>
                                          <p:spTgt spid="6"/>
                                        </p:tgtEl>
                                        <p:attrNameLst>
                                          <p:attrName>ppt_x</p:attrName>
                                        </p:attrNameLst>
                                      </p:cBhvr>
                                      <p:tavLst>
                                        <p:tav tm="0">
                                          <p:val>
                                            <p:strVal val="1+#ppt_w/2"/>
                                          </p:val>
                                        </p:tav>
                                        <p:tav tm="100000">
                                          <p:val>
                                            <p:strVal val="#ppt_x"/>
                                          </p:val>
                                        </p:tav>
                                      </p:tavLst>
                                    </p:anim>
                                    <p:anim calcmode="lin" valueType="num">
                                      <p:cBhvr additive="base">
                                        <p:cTn id="19" dur="500" fill="hold"/>
                                        <p:tgtEl>
                                          <p:spTgt spid="6"/>
                                        </p:tgtEl>
                                        <p:attrNameLst>
                                          <p:attrName>ppt_y</p:attrName>
                                        </p:attrNameLst>
                                      </p:cBhvr>
                                      <p:tavLst>
                                        <p:tav tm="0">
                                          <p:val>
                                            <p:strVal val="#ppt_y"/>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2"/>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8"/>
                                        </p:tgtEl>
                                        <p:attrNameLst>
                                          <p:attrName>style.visibility</p:attrName>
                                        </p:attrNameLst>
                                      </p:cBhvr>
                                      <p:to>
                                        <p:strVal val="visible"/>
                                      </p:to>
                                    </p:set>
                                    <p:animEffect transition="in" filter="fade">
                                      <p:cBhvr>
                                        <p:cTn id="28" dur="1000"/>
                                        <p:tgtEl>
                                          <p:spTgt spid="8"/>
                                        </p:tgtEl>
                                      </p:cBhvr>
                                    </p:animEffect>
                                    <p:anim calcmode="lin" valueType="num">
                                      <p:cBhvr>
                                        <p:cTn id="29" dur="1000" fill="hold"/>
                                        <p:tgtEl>
                                          <p:spTgt spid="8"/>
                                        </p:tgtEl>
                                        <p:attrNameLst>
                                          <p:attrName>ppt_x</p:attrName>
                                        </p:attrNameLst>
                                      </p:cBhvr>
                                      <p:tavLst>
                                        <p:tav tm="0">
                                          <p:val>
                                            <p:strVal val="#ppt_x"/>
                                          </p:val>
                                        </p:tav>
                                        <p:tav tm="100000">
                                          <p:val>
                                            <p:strVal val="#ppt_x"/>
                                          </p:val>
                                        </p:tav>
                                      </p:tavLst>
                                    </p:anim>
                                    <p:anim calcmode="lin" valueType="num">
                                      <p:cBhvr>
                                        <p:cTn id="30"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4"/>
                                        </p:tgtEl>
                                        <p:attrNameLst>
                                          <p:attrName>style.visibility</p:attrName>
                                        </p:attrNameLst>
                                      </p:cBhvr>
                                      <p:to>
                                        <p:strVal val="visible"/>
                                      </p:to>
                                    </p:set>
                                    <p:animEffect transition="in" filter="fade">
                                      <p:cBhvr>
                                        <p:cTn id="35" dur="1000"/>
                                        <p:tgtEl>
                                          <p:spTgt spid="4"/>
                                        </p:tgtEl>
                                      </p:cBhvr>
                                    </p:animEffect>
                                    <p:anim calcmode="lin" valueType="num">
                                      <p:cBhvr>
                                        <p:cTn id="36" dur="1000" fill="hold"/>
                                        <p:tgtEl>
                                          <p:spTgt spid="4"/>
                                        </p:tgtEl>
                                        <p:attrNameLst>
                                          <p:attrName>ppt_x</p:attrName>
                                        </p:attrNameLst>
                                      </p:cBhvr>
                                      <p:tavLst>
                                        <p:tav tm="0">
                                          <p:val>
                                            <p:strVal val="#ppt_x"/>
                                          </p:val>
                                        </p:tav>
                                        <p:tav tm="100000">
                                          <p:val>
                                            <p:strVal val="#ppt_x"/>
                                          </p:val>
                                        </p:tav>
                                      </p:tavLst>
                                    </p:anim>
                                    <p:anim calcmode="lin" valueType="num">
                                      <p:cBhvr>
                                        <p:cTn id="37"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10"/>
                                        </p:tgtEl>
                                        <p:attrNameLst>
                                          <p:attrName>style.visibility</p:attrName>
                                        </p:attrNameLst>
                                      </p:cBhvr>
                                      <p:to>
                                        <p:strVal val="visible"/>
                                      </p:to>
                                    </p:set>
                                    <p:animEffect transition="in" filter="fade">
                                      <p:cBhvr>
                                        <p:cTn id="42" dur="1000"/>
                                        <p:tgtEl>
                                          <p:spTgt spid="10"/>
                                        </p:tgtEl>
                                      </p:cBhvr>
                                    </p:animEffect>
                                    <p:anim calcmode="lin" valueType="num">
                                      <p:cBhvr>
                                        <p:cTn id="43" dur="1000" fill="hold"/>
                                        <p:tgtEl>
                                          <p:spTgt spid="10"/>
                                        </p:tgtEl>
                                        <p:attrNameLst>
                                          <p:attrName>ppt_x</p:attrName>
                                        </p:attrNameLst>
                                      </p:cBhvr>
                                      <p:tavLst>
                                        <p:tav tm="0">
                                          <p:val>
                                            <p:strVal val="#ppt_x"/>
                                          </p:val>
                                        </p:tav>
                                        <p:tav tm="100000">
                                          <p:val>
                                            <p:strVal val="#ppt_x"/>
                                          </p:val>
                                        </p:tav>
                                      </p:tavLst>
                                    </p:anim>
                                    <p:anim calcmode="lin" valueType="num">
                                      <p:cBhvr>
                                        <p:cTn id="44"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7"/>
                                        </p:tgtEl>
                                        <p:attrNameLst>
                                          <p:attrName>style.visibility</p:attrName>
                                        </p:attrNameLst>
                                      </p:cBhvr>
                                      <p:to>
                                        <p:strVal val="visible"/>
                                      </p:to>
                                    </p:set>
                                    <p:animEffect transition="in" filter="fade">
                                      <p:cBhvr>
                                        <p:cTn id="49" dur="1000"/>
                                        <p:tgtEl>
                                          <p:spTgt spid="7"/>
                                        </p:tgtEl>
                                      </p:cBhvr>
                                    </p:animEffect>
                                    <p:anim calcmode="lin" valueType="num">
                                      <p:cBhvr>
                                        <p:cTn id="50" dur="1000" fill="hold"/>
                                        <p:tgtEl>
                                          <p:spTgt spid="7"/>
                                        </p:tgtEl>
                                        <p:attrNameLst>
                                          <p:attrName>ppt_x</p:attrName>
                                        </p:attrNameLst>
                                      </p:cBhvr>
                                      <p:tavLst>
                                        <p:tav tm="0">
                                          <p:val>
                                            <p:strVal val="#ppt_x"/>
                                          </p:val>
                                        </p:tav>
                                        <p:tav tm="100000">
                                          <p:val>
                                            <p:strVal val="#ppt_x"/>
                                          </p:val>
                                        </p:tav>
                                      </p:tavLst>
                                    </p:anim>
                                    <p:anim calcmode="lin" valueType="num">
                                      <p:cBhvr>
                                        <p:cTn id="51"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10" presetClass="entr" presetSubtype="0" fill="hold" grpId="0" nodeType="clickEffect">
                                  <p:stCondLst>
                                    <p:cond delay="0"/>
                                  </p:stCondLst>
                                  <p:childTnLst>
                                    <p:set>
                                      <p:cBhvr>
                                        <p:cTn id="55" dur="1" fill="hold">
                                          <p:stCondLst>
                                            <p:cond delay="0"/>
                                          </p:stCondLst>
                                        </p:cTn>
                                        <p:tgtEl>
                                          <p:spTgt spid="3"/>
                                        </p:tgtEl>
                                        <p:attrNameLst>
                                          <p:attrName>style.visibility</p:attrName>
                                        </p:attrNameLst>
                                      </p:cBhvr>
                                      <p:to>
                                        <p:strVal val="visible"/>
                                      </p:to>
                                    </p:set>
                                    <p:animEffect transition="in" filter="fade">
                                      <p:cBhvr>
                                        <p:cTn id="56"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2099" grpId="0" build="p"/>
      <p:bldP spid="3" grpId="0"/>
      <p:bldP spid="4" grpId="0"/>
      <p:bldP spid="5" grpId="0"/>
      <p:bldP spid="6" grpId="0"/>
      <p:bldP spid="7" grpId="0"/>
      <p:bldP spid="8" grpId="0"/>
      <p:bldP spid="10" grpId="0"/>
      <p:bldP spid="2" grpId="0"/>
    </p:bld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Rectangle 2"/>
          <p:cNvSpPr>
            <a:spLocks noGrp="1"/>
          </p:cNvSpPr>
          <p:nvPr>
            <p:ph type="title"/>
          </p:nvPr>
        </p:nvSpPr>
        <p:spPr>
          <a:xfrm>
            <a:off x="500063" y="152400"/>
            <a:ext cx="8001000" cy="685800"/>
          </a:xfrm>
          <a:noFill/>
          <a:ln w="9525">
            <a:noFill/>
          </a:ln>
        </p:spPr>
        <p:txBody>
          <a:bodyPr vert="horz" wrap="square" lIns="91440" tIns="45720" rIns="91440" bIns="45720" rtlCol="0" anchor="ctr" anchorCtr="0">
            <a:noAutofit/>
          </a:bodyPr>
          <a:lstStyle/>
          <a:p>
            <a:pPr lvl="0" algn="ctr" eaLnBrk="1" hangingPunct="1">
              <a:buClrTx/>
              <a:buSzTx/>
              <a:buFontTx/>
            </a:pPr>
            <a:r>
              <a:rPr lang="en-US" altLang="zh-CN" sz="4400" b="0" dirty="0" smtClean="0">
                <a:latin typeface="黑体" panose="02010609060101010101" pitchFamily="2" charset="-122"/>
                <a:ea typeface="黑体" panose="02010609060101010101" pitchFamily="2" charset="-122"/>
                <a:sym typeface="+mn-ea"/>
              </a:rPr>
              <a:t>4.3 </a:t>
            </a:r>
            <a:r>
              <a:rPr lang="zh-CN" altLang="en-US" sz="4400" b="0" dirty="0" smtClean="0">
                <a:latin typeface="黑体" panose="02010609060101010101" pitchFamily="2" charset="-122"/>
                <a:ea typeface="黑体" panose="02010609060101010101" pitchFamily="2" charset="-122"/>
                <a:sym typeface="+mn-ea"/>
              </a:rPr>
              <a:t>小结</a:t>
            </a:r>
            <a:endParaRPr lang="zh-CN" altLang="en-US" sz="4400" b="0" dirty="0">
              <a:latin typeface="黑体" panose="02010609060101010101" pitchFamily="2" charset="-122"/>
              <a:ea typeface="黑体" panose="02010609060101010101" pitchFamily="2" charset="-122"/>
              <a:sym typeface="+mn-ea"/>
            </a:endParaRPr>
          </a:p>
        </p:txBody>
      </p:sp>
      <p:sp>
        <p:nvSpPr>
          <p:cNvPr id="132099" name="Rectangle 3"/>
          <p:cNvSpPr>
            <a:spLocks noGrp="1"/>
          </p:cNvSpPr>
          <p:nvPr>
            <p:ph idx="1"/>
          </p:nvPr>
        </p:nvSpPr>
        <p:spPr>
          <a:xfrm>
            <a:off x="1043608" y="1268760"/>
            <a:ext cx="6229895" cy="4876800"/>
          </a:xfrm>
        </p:spPr>
        <p:txBody>
          <a:bodyPr vert="horz" wrap="square" lIns="91440" tIns="45720" rIns="91440" bIns="45720" anchor="t" anchorCtr="0"/>
          <a:lstStyle/>
          <a:p>
            <a:pPr eaLnBrk="1" hangingPunct="1">
              <a:buFont typeface="Wingdings" panose="05000000000000000000" pitchFamily="2" charset="2"/>
              <a:buNone/>
            </a:pPr>
            <a:r>
              <a:rPr lang="en-US" altLang="zh-CN" sz="4800" b="1" dirty="0" smtClean="0">
                <a:solidFill>
                  <a:srgbClr val="0000FF"/>
                </a:solidFill>
                <a:cs typeface="等线" panose="02010600030101010101" charset="-122"/>
              </a:rPr>
              <a:t> </a:t>
            </a:r>
            <a:r>
              <a:rPr lang="en-US" altLang="zh-CN" sz="4800" b="1" dirty="0" smtClean="0">
                <a:solidFill>
                  <a:schemeClr val="tx1"/>
                </a:solidFill>
                <a:cs typeface="等线" panose="02010600030101010101" charset="-122"/>
              </a:rPr>
              <a:t>SQL</a:t>
            </a:r>
            <a:r>
              <a:rPr lang="zh-CN" altLang="en-US" sz="4800" b="1" dirty="0" smtClean="0">
                <a:solidFill>
                  <a:schemeClr val="tx1"/>
                </a:solidFill>
                <a:cs typeface="等线" panose="02010600030101010101" charset="-122"/>
              </a:rPr>
              <a:t>的四大操作</a:t>
            </a:r>
            <a:endParaRPr lang="en-US" altLang="zh-CN" sz="4800" b="1" dirty="0" smtClean="0">
              <a:solidFill>
                <a:schemeClr val="tx1"/>
              </a:solidFill>
              <a:cs typeface="等线" panose="02010600030101010101" charset="-122"/>
            </a:endParaRPr>
          </a:p>
          <a:p>
            <a:pPr indent="12700" eaLnBrk="1" hangingPunct="1">
              <a:spcBef>
                <a:spcPts val="1800"/>
              </a:spcBef>
            </a:pPr>
            <a:r>
              <a:rPr lang="zh-CN" altLang="en-US" sz="4800" b="1" dirty="0" smtClean="0">
                <a:solidFill>
                  <a:schemeClr val="tx1"/>
                </a:solidFill>
                <a:cs typeface="等线" panose="02010600030101010101" charset="-122"/>
              </a:rPr>
              <a:t> </a:t>
            </a:r>
            <a:r>
              <a:rPr lang="zh-CN" altLang="en-US" sz="4400" b="1" dirty="0" smtClean="0">
                <a:solidFill>
                  <a:schemeClr val="tx1"/>
                </a:solidFill>
                <a:cs typeface="等线" panose="02010600030101010101" charset="-122"/>
              </a:rPr>
              <a:t>增 </a:t>
            </a:r>
            <a:r>
              <a:rPr lang="en-US" altLang="zh-CN" sz="4400" b="1" dirty="0" smtClean="0">
                <a:solidFill>
                  <a:schemeClr val="tx1"/>
                </a:solidFill>
                <a:cs typeface="等线" panose="02010600030101010101" charset="-122"/>
              </a:rPr>
              <a:t>insert</a:t>
            </a:r>
          </a:p>
          <a:p>
            <a:pPr indent="12700" eaLnBrk="1" hangingPunct="1"/>
            <a:r>
              <a:rPr lang="en-US" altLang="zh-CN" sz="4400" b="1" dirty="0">
                <a:solidFill>
                  <a:schemeClr val="tx1"/>
                </a:solidFill>
                <a:cs typeface="等线" panose="02010600030101010101" charset="-122"/>
              </a:rPr>
              <a:t> </a:t>
            </a:r>
            <a:r>
              <a:rPr lang="zh-CN" altLang="en-US" sz="4400" b="1" dirty="0" smtClean="0">
                <a:solidFill>
                  <a:schemeClr val="tx1"/>
                </a:solidFill>
                <a:cs typeface="等线" panose="02010600030101010101" charset="-122"/>
              </a:rPr>
              <a:t>删 </a:t>
            </a:r>
            <a:r>
              <a:rPr lang="en-US" altLang="zh-CN" sz="4400" b="1" dirty="0" smtClean="0">
                <a:solidFill>
                  <a:schemeClr val="tx1"/>
                </a:solidFill>
                <a:cs typeface="等线" panose="02010600030101010101" charset="-122"/>
              </a:rPr>
              <a:t>delete</a:t>
            </a:r>
            <a:endParaRPr lang="en-US" altLang="zh-CN" sz="4400" b="1" dirty="0">
              <a:solidFill>
                <a:schemeClr val="tx1"/>
              </a:solidFill>
              <a:cs typeface="等线" panose="02010600030101010101" charset="-122"/>
            </a:endParaRPr>
          </a:p>
          <a:p>
            <a:pPr indent="12700" eaLnBrk="1" hangingPunct="1"/>
            <a:r>
              <a:rPr lang="en-US" altLang="zh-CN" sz="4400" b="1" dirty="0">
                <a:solidFill>
                  <a:schemeClr val="tx1"/>
                </a:solidFill>
                <a:cs typeface="等线" panose="02010600030101010101" charset="-122"/>
              </a:rPr>
              <a:t> </a:t>
            </a:r>
            <a:r>
              <a:rPr lang="zh-CN" altLang="en-US" sz="4400" b="1" dirty="0" smtClean="0">
                <a:solidFill>
                  <a:schemeClr val="tx1"/>
                </a:solidFill>
                <a:cs typeface="等线" panose="02010600030101010101" charset="-122"/>
              </a:rPr>
              <a:t>改 </a:t>
            </a:r>
            <a:r>
              <a:rPr lang="en-US" altLang="zh-CN" sz="4400" b="1" dirty="0" smtClean="0">
                <a:solidFill>
                  <a:schemeClr val="tx1"/>
                </a:solidFill>
                <a:cs typeface="等线" panose="02010600030101010101" charset="-122"/>
              </a:rPr>
              <a:t>update</a:t>
            </a:r>
            <a:endParaRPr lang="en-US" altLang="zh-CN" sz="4400" b="1" dirty="0">
              <a:solidFill>
                <a:schemeClr val="tx1"/>
              </a:solidFill>
              <a:cs typeface="等线" panose="02010600030101010101" charset="-122"/>
            </a:endParaRPr>
          </a:p>
          <a:p>
            <a:pPr indent="12700" eaLnBrk="1" hangingPunct="1"/>
            <a:r>
              <a:rPr lang="en-US" altLang="zh-CN" sz="4400" b="1" dirty="0">
                <a:solidFill>
                  <a:schemeClr val="tx1"/>
                </a:solidFill>
                <a:cs typeface="等线" panose="02010600030101010101" charset="-122"/>
              </a:rPr>
              <a:t> </a:t>
            </a:r>
            <a:r>
              <a:rPr lang="zh-CN" altLang="en-US" sz="4400" b="1" dirty="0" smtClean="0">
                <a:solidFill>
                  <a:schemeClr val="tx1"/>
                </a:solidFill>
                <a:cs typeface="等线" panose="02010600030101010101" charset="-122"/>
              </a:rPr>
              <a:t>查 </a:t>
            </a:r>
            <a:r>
              <a:rPr lang="en-US" altLang="zh-CN" sz="4400" b="1" dirty="0" smtClean="0">
                <a:solidFill>
                  <a:schemeClr val="tx1"/>
                </a:solidFill>
                <a:cs typeface="等线" panose="02010600030101010101" charset="-122"/>
              </a:rPr>
              <a:t>select  </a:t>
            </a:r>
          </a:p>
        </p:txBody>
      </p:sp>
    </p:spTree>
    <p:extLst>
      <p:ext uri="{BB962C8B-B14F-4D97-AF65-F5344CB8AC3E}">
        <p14:creationId xmlns:p14="http://schemas.microsoft.com/office/powerpoint/2010/main" val="2526970683"/>
      </p:ext>
    </p:extLst>
  </p:cSld>
  <p:clrMapOvr>
    <a:masterClrMapping/>
  </p:clrMapOvr>
  <p:timing>
    <p:tnLst>
      <p:par>
        <p:cTn id="1" dur="indefinite" restart="never" nodeType="tmRoot"/>
      </p:par>
    </p:tn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9" name="Rectangle 3"/>
          <p:cNvSpPr>
            <a:spLocks noGrp="1"/>
          </p:cNvSpPr>
          <p:nvPr>
            <p:ph idx="1"/>
          </p:nvPr>
        </p:nvSpPr>
        <p:spPr>
          <a:xfrm>
            <a:off x="2123728" y="2060848"/>
            <a:ext cx="4567105" cy="864096"/>
          </a:xfrm>
        </p:spPr>
        <p:txBody>
          <a:bodyPr vert="horz" wrap="square" lIns="91440" tIns="45720" rIns="91440" bIns="45720" anchor="t" anchorCtr="0"/>
          <a:lstStyle/>
          <a:p>
            <a:pPr eaLnBrk="1" hangingPunct="1">
              <a:buNone/>
            </a:pPr>
            <a:r>
              <a:rPr lang="zh-CN" altLang="en-US" sz="4800" b="1" dirty="0" smtClean="0">
                <a:solidFill>
                  <a:srgbClr val="0000FF"/>
                </a:solidFill>
                <a:cs typeface="等线" panose="02010600030101010101" charset="-122"/>
              </a:rPr>
              <a:t>教材 </a:t>
            </a:r>
            <a:r>
              <a:rPr lang="en-US" altLang="zh-CN" sz="4800" b="1" dirty="0" smtClean="0">
                <a:solidFill>
                  <a:srgbClr val="0000FF"/>
                </a:solidFill>
                <a:cs typeface="等线" panose="02010600030101010101" charset="-122"/>
              </a:rPr>
              <a:t>P112-115</a:t>
            </a:r>
          </a:p>
        </p:txBody>
      </p:sp>
      <p:sp>
        <p:nvSpPr>
          <p:cNvPr id="5" name="Rectangle 2"/>
          <p:cNvSpPr>
            <a:spLocks noGrp="1"/>
          </p:cNvSpPr>
          <p:nvPr>
            <p:ph type="title"/>
          </p:nvPr>
        </p:nvSpPr>
        <p:spPr>
          <a:xfrm>
            <a:off x="500063" y="152400"/>
            <a:ext cx="8001000" cy="685800"/>
          </a:xfrm>
          <a:noFill/>
          <a:ln w="9525">
            <a:noFill/>
          </a:ln>
        </p:spPr>
        <p:txBody>
          <a:bodyPr vert="horz" wrap="square" lIns="91440" tIns="45720" rIns="91440" bIns="45720" rtlCol="0" anchor="ctr" anchorCtr="0">
            <a:noAutofit/>
          </a:bodyPr>
          <a:lstStyle/>
          <a:p>
            <a:r>
              <a:rPr lang="zh-CN" altLang="en-US" sz="4400" dirty="0">
                <a:sym typeface="+mn-ea"/>
              </a:rPr>
              <a:t>习题易错点（讲解）</a:t>
            </a:r>
            <a:endParaRPr lang="en-US" altLang="zh-CN" sz="4400" dirty="0">
              <a:sym typeface="+mn-ea"/>
            </a:endParaRPr>
          </a:p>
        </p:txBody>
      </p:sp>
      <p:pic>
        <p:nvPicPr>
          <p:cNvPr id="4" name="Picture 207" descr="9"/>
          <p:cNvPicPr>
            <a:picLocks noChangeAspect="1" noChangeArrowheads="1" noCrop="1"/>
          </p:cNvPicPr>
          <p:nvPr/>
        </p:nvPicPr>
        <p:blipFill>
          <a:blip r:embed="rId2">
            <a:extLst>
              <a:ext uri="{28A0092B-C50C-407E-A947-70E740481C1C}">
                <a14:useLocalDpi xmlns:a14="http://schemas.microsoft.com/office/drawing/2010/main" val="0"/>
              </a:ext>
            </a:extLst>
          </a:blip>
          <a:srcRect/>
          <a:stretch>
            <a:fillRect/>
          </a:stretch>
        </p:blipFill>
        <p:spPr bwMode="auto">
          <a:xfrm>
            <a:off x="971600" y="2060848"/>
            <a:ext cx="1079307" cy="88143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71349795"/>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par>
    </p:tn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9" name="Rectangle 3"/>
          <p:cNvSpPr>
            <a:spLocks noGrp="1"/>
          </p:cNvSpPr>
          <p:nvPr>
            <p:ph idx="1"/>
          </p:nvPr>
        </p:nvSpPr>
        <p:spPr>
          <a:xfrm>
            <a:off x="539552" y="2060848"/>
            <a:ext cx="7560840" cy="2448272"/>
          </a:xfrm>
        </p:spPr>
        <p:txBody>
          <a:bodyPr vert="horz" wrap="square" lIns="91440" tIns="45720" rIns="91440" bIns="45720" anchor="t" anchorCtr="0"/>
          <a:lstStyle/>
          <a:p>
            <a:pPr algn="ctr" eaLnBrk="1" hangingPunct="1">
              <a:buNone/>
            </a:pPr>
            <a:r>
              <a:rPr lang="zh-CN" altLang="en-US" sz="4800" b="1" dirty="0" smtClean="0">
                <a:solidFill>
                  <a:srgbClr val="0000FF"/>
                </a:solidFill>
                <a:cs typeface="等线" panose="02010600030101010101" charset="-122"/>
              </a:rPr>
              <a:t>教材 </a:t>
            </a:r>
            <a:r>
              <a:rPr lang="en-US" altLang="zh-CN" sz="4800" b="1" dirty="0" smtClean="0">
                <a:solidFill>
                  <a:srgbClr val="0000FF"/>
                </a:solidFill>
                <a:cs typeface="等线" panose="02010600030101010101" charset="-122"/>
              </a:rPr>
              <a:t>P117</a:t>
            </a:r>
          </a:p>
          <a:p>
            <a:pPr algn="ctr" eaLnBrk="1" hangingPunct="1">
              <a:spcBef>
                <a:spcPts val="2400"/>
              </a:spcBef>
              <a:buFont typeface="Wingdings" panose="05000000000000000000" pitchFamily="2" charset="2"/>
              <a:buNone/>
            </a:pPr>
            <a:r>
              <a:rPr lang="en-US" altLang="zh-CN" sz="4800" b="1" dirty="0">
                <a:solidFill>
                  <a:srgbClr val="0000FF"/>
                </a:solidFill>
                <a:cs typeface="等线" panose="02010600030101010101" charset="-122"/>
              </a:rPr>
              <a:t> </a:t>
            </a:r>
            <a:r>
              <a:rPr lang="en-US" altLang="zh-CN" sz="4800" b="1" dirty="0" smtClean="0">
                <a:solidFill>
                  <a:srgbClr val="0000FF"/>
                </a:solidFill>
                <a:cs typeface="等线" panose="02010600030101010101" charset="-122"/>
              </a:rPr>
              <a:t>   </a:t>
            </a:r>
            <a:r>
              <a:rPr lang="zh-CN" altLang="en-US" sz="4800" b="1" dirty="0" smtClean="0">
                <a:solidFill>
                  <a:srgbClr val="0000FF"/>
                </a:solidFill>
                <a:cs typeface="等线" panose="02010600030101010101" charset="-122"/>
              </a:rPr>
              <a:t>上机练习 </a:t>
            </a:r>
            <a:r>
              <a:rPr lang="en-US" altLang="zh-CN" sz="4800" b="1" dirty="0" smtClean="0">
                <a:solidFill>
                  <a:srgbClr val="0000FF"/>
                </a:solidFill>
                <a:cs typeface="等线" panose="02010600030101010101" charset="-122"/>
              </a:rPr>
              <a:t>24-29</a:t>
            </a:r>
            <a:r>
              <a:rPr lang="zh-CN" altLang="en-US" sz="4800" b="1" dirty="0" smtClean="0">
                <a:solidFill>
                  <a:srgbClr val="0000FF"/>
                </a:solidFill>
                <a:cs typeface="等线" panose="02010600030101010101" charset="-122"/>
              </a:rPr>
              <a:t>题</a:t>
            </a:r>
            <a:endParaRPr lang="en-US" altLang="zh-CN" sz="4800" b="1" dirty="0" smtClean="0">
              <a:solidFill>
                <a:srgbClr val="0000FF"/>
              </a:solidFill>
              <a:cs typeface="等线" panose="02010600030101010101" charset="-122"/>
            </a:endParaRPr>
          </a:p>
        </p:txBody>
      </p:sp>
      <p:sp>
        <p:nvSpPr>
          <p:cNvPr id="4" name="Rectangle 2"/>
          <p:cNvSpPr>
            <a:spLocks noGrp="1"/>
          </p:cNvSpPr>
          <p:nvPr>
            <p:ph type="title"/>
          </p:nvPr>
        </p:nvSpPr>
        <p:spPr>
          <a:xfrm>
            <a:off x="500063" y="152400"/>
            <a:ext cx="8001000" cy="685800"/>
          </a:xfrm>
          <a:noFill/>
          <a:ln w="9525">
            <a:noFill/>
          </a:ln>
        </p:spPr>
        <p:txBody>
          <a:bodyPr vert="horz" wrap="square" lIns="91440" tIns="45720" rIns="91440" bIns="45720" rtlCol="0" anchor="ctr" anchorCtr="0">
            <a:noAutofit/>
          </a:bodyPr>
          <a:lstStyle/>
          <a:p>
            <a:pPr eaLnBrk="1" hangingPunct="1"/>
            <a:r>
              <a:rPr lang="zh-CN" altLang="en-US" sz="4400" dirty="0" smtClean="0">
                <a:sym typeface="+mn-ea"/>
              </a:rPr>
              <a:t>实验</a:t>
            </a:r>
            <a:r>
              <a:rPr lang="zh-CN" altLang="en-US" sz="4400" dirty="0">
                <a:sym typeface="+mn-ea"/>
              </a:rPr>
              <a:t>任务</a:t>
            </a:r>
            <a:endParaRPr lang="en-US" altLang="zh-CN" sz="4400" b="1" dirty="0">
              <a:solidFill>
                <a:srgbClr val="0000FF"/>
              </a:solidFill>
              <a:cs typeface="等线" panose="02010600030101010101" charset="-122"/>
            </a:endParaRPr>
          </a:p>
        </p:txBody>
      </p:sp>
      <p:pic>
        <p:nvPicPr>
          <p:cNvPr id="5" name="Picture 207" descr="9"/>
          <p:cNvPicPr>
            <a:picLocks noChangeAspect="1" noChangeArrowheads="1" noCrop="1"/>
          </p:cNvPicPr>
          <p:nvPr/>
        </p:nvPicPr>
        <p:blipFill>
          <a:blip r:embed="rId2">
            <a:extLst>
              <a:ext uri="{28A0092B-C50C-407E-A947-70E740481C1C}">
                <a14:useLocalDpi xmlns:a14="http://schemas.microsoft.com/office/drawing/2010/main" val="0"/>
              </a:ext>
            </a:extLst>
          </a:blip>
          <a:srcRect/>
          <a:stretch>
            <a:fillRect/>
          </a:stretch>
        </p:blipFill>
        <p:spPr bwMode="auto">
          <a:xfrm>
            <a:off x="1121756" y="2051771"/>
            <a:ext cx="1296144" cy="105851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3672236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KSO_WM_UNIT_TABLE_BEAUTIFY" val="smartTable{502eb922-3074-46fa-b3fd-2f32fce6c093}"/>
</p:tagLst>
</file>

<file path=ppt/theme/theme1.xml><?xml version="1.0" encoding="utf-8"?>
<a:theme xmlns:a="http://schemas.openxmlformats.org/drawingml/2006/main" name="275TGp_biz_light">
  <a:themeElements>
    <a:clrScheme name="275TGp_biz_light 1">
      <a:dk1>
        <a:srgbClr val="2A4C41"/>
      </a:dk1>
      <a:lt1>
        <a:srgbClr val="FFFFFF"/>
      </a:lt1>
      <a:dk2>
        <a:srgbClr val="000000"/>
      </a:dk2>
      <a:lt2>
        <a:srgbClr val="DDDDDD"/>
      </a:lt2>
      <a:accent1>
        <a:srgbClr val="1D518D"/>
      </a:accent1>
      <a:accent2>
        <a:srgbClr val="0099CB"/>
      </a:accent2>
      <a:accent3>
        <a:srgbClr val="FFFFFF"/>
      </a:accent3>
      <a:accent4>
        <a:srgbClr val="224036"/>
      </a:accent4>
      <a:accent5>
        <a:srgbClr val="ABB3C5"/>
      </a:accent5>
      <a:accent6>
        <a:srgbClr val="008AB8"/>
      </a:accent6>
      <a:hlink>
        <a:srgbClr val="00CCFF"/>
      </a:hlink>
      <a:folHlink>
        <a:srgbClr val="749BD4"/>
      </a:folHlink>
    </a:clrScheme>
    <a:fontScheme name="275TGp_biz_light">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r" defTabSz="914400" rtl="0" eaLnBrk="1" fontAlgn="base" latinLnBrk="0" hangingPunct="1">
          <a:lnSpc>
            <a:spcPct val="100000"/>
          </a:lnSpc>
          <a:spcBef>
            <a:spcPct val="0"/>
          </a:spcBef>
          <a:spcAft>
            <a:spcPct val="0"/>
          </a:spcAft>
          <a:buClrTx/>
          <a:buSzTx/>
          <a:buFontTx/>
          <a:buNone/>
          <a:defRPr kumimoji="0" lang="ko-KR" altLang="en-US" sz="1800" b="0" i="0" u="none" strike="noStrike" cap="none" normalizeH="0" baseline="0" smtClean="0">
            <a:ln>
              <a:noFill/>
            </a:ln>
            <a:solidFill>
              <a:schemeClr val="tx1"/>
            </a:solidFill>
            <a:effectLst/>
            <a:latin typeface="Arial" panose="020B0604020202020204" pitchFamily="34" charset="0"/>
            <a:ea typeface="Gulim" panose="02010600030101010101" pitchFamily="34" charset="-127"/>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r" defTabSz="914400" rtl="0" eaLnBrk="1" fontAlgn="base" latinLnBrk="0" hangingPunct="1">
          <a:lnSpc>
            <a:spcPct val="100000"/>
          </a:lnSpc>
          <a:spcBef>
            <a:spcPct val="0"/>
          </a:spcBef>
          <a:spcAft>
            <a:spcPct val="0"/>
          </a:spcAft>
          <a:buClrTx/>
          <a:buSzTx/>
          <a:buFontTx/>
          <a:buNone/>
          <a:defRPr kumimoji="0" lang="ko-KR" altLang="en-US" sz="1800" b="0" i="0" u="none" strike="noStrike" cap="none" normalizeH="0" baseline="0" smtClean="0">
            <a:ln>
              <a:noFill/>
            </a:ln>
            <a:solidFill>
              <a:schemeClr val="tx1"/>
            </a:solidFill>
            <a:effectLst/>
            <a:latin typeface="Arial" panose="020B0604020202020204" pitchFamily="34" charset="0"/>
            <a:ea typeface="Gulim" panose="02010600030101010101" pitchFamily="34" charset="-127"/>
          </a:defRPr>
        </a:defPPr>
      </a:lstStyle>
    </a:lnDef>
  </a:objectDefaults>
  <a:extraClrSchemeLst>
    <a:extraClrScheme>
      <a:clrScheme name="275TGp_biz_light 1">
        <a:dk1>
          <a:srgbClr val="2A4C41"/>
        </a:dk1>
        <a:lt1>
          <a:srgbClr val="FFFFFF"/>
        </a:lt1>
        <a:dk2>
          <a:srgbClr val="000000"/>
        </a:dk2>
        <a:lt2>
          <a:srgbClr val="DDDDDD"/>
        </a:lt2>
        <a:accent1>
          <a:srgbClr val="1D518D"/>
        </a:accent1>
        <a:accent2>
          <a:srgbClr val="0099CB"/>
        </a:accent2>
        <a:accent3>
          <a:srgbClr val="FFFFFF"/>
        </a:accent3>
        <a:accent4>
          <a:srgbClr val="224036"/>
        </a:accent4>
        <a:accent5>
          <a:srgbClr val="ABB3C5"/>
        </a:accent5>
        <a:accent6>
          <a:srgbClr val="008AB8"/>
        </a:accent6>
        <a:hlink>
          <a:srgbClr val="00CCFF"/>
        </a:hlink>
        <a:folHlink>
          <a:srgbClr val="749BD4"/>
        </a:folHlink>
      </a:clrScheme>
      <a:clrMap bg1="lt1" tx1="dk1" bg2="lt2" tx2="dk2" accent1="accent1" accent2="accent2" accent3="accent3" accent4="accent4" accent5="accent5" accent6="accent6" hlink="hlink" folHlink="folHlink"/>
    </a:extraClrScheme>
    <a:extraClrScheme>
      <a:clrScheme name="275TGp_biz_light 2">
        <a:dk1>
          <a:srgbClr val="2A4C41"/>
        </a:dk1>
        <a:lt1>
          <a:srgbClr val="FFFFFF"/>
        </a:lt1>
        <a:dk2>
          <a:srgbClr val="000000"/>
        </a:dk2>
        <a:lt2>
          <a:srgbClr val="DDDDDD"/>
        </a:lt2>
        <a:accent1>
          <a:srgbClr val="7E784E"/>
        </a:accent1>
        <a:accent2>
          <a:srgbClr val="989780"/>
        </a:accent2>
        <a:accent3>
          <a:srgbClr val="FFFFFF"/>
        </a:accent3>
        <a:accent4>
          <a:srgbClr val="224036"/>
        </a:accent4>
        <a:accent5>
          <a:srgbClr val="C0BEB2"/>
        </a:accent5>
        <a:accent6>
          <a:srgbClr val="898873"/>
        </a:accent6>
        <a:hlink>
          <a:srgbClr val="BEBA9C"/>
        </a:hlink>
        <a:folHlink>
          <a:srgbClr val="94A1B4"/>
        </a:folHlink>
      </a:clrScheme>
      <a:clrMap bg1="lt1" tx1="dk1" bg2="lt2" tx2="dk2" accent1="accent1" accent2="accent2" accent3="accent3" accent4="accent4" accent5="accent5" accent6="accent6" hlink="hlink" folHlink="folHlink"/>
    </a:extraClrScheme>
    <a:extraClrScheme>
      <a:clrScheme name="275TGp_biz_light 3">
        <a:dk1>
          <a:srgbClr val="2A4C41"/>
        </a:dk1>
        <a:lt1>
          <a:srgbClr val="FFFFFF"/>
        </a:lt1>
        <a:dk2>
          <a:srgbClr val="000000"/>
        </a:dk2>
        <a:lt2>
          <a:srgbClr val="DDDDDD"/>
        </a:lt2>
        <a:accent1>
          <a:srgbClr val="285F6A"/>
        </a:accent1>
        <a:accent2>
          <a:srgbClr val="419DAF"/>
        </a:accent2>
        <a:accent3>
          <a:srgbClr val="FFFFFF"/>
        </a:accent3>
        <a:accent4>
          <a:srgbClr val="224036"/>
        </a:accent4>
        <a:accent5>
          <a:srgbClr val="ACB6B9"/>
        </a:accent5>
        <a:accent6>
          <a:srgbClr val="3A8E9E"/>
        </a:accent6>
        <a:hlink>
          <a:srgbClr val="34C1D0"/>
        </a:hlink>
        <a:folHlink>
          <a:srgbClr val="749BD4"/>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705</TotalTime>
  <Words>6455</Words>
  <Application>Microsoft Office PowerPoint</Application>
  <PresentationFormat>全屏显示(4:3)</PresentationFormat>
  <Paragraphs>911</Paragraphs>
  <Slides>124</Slides>
  <Notes>0</Notes>
  <HiddenSlides>0</HiddenSlides>
  <MMClips>0</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124</vt:i4>
      </vt:variant>
    </vt:vector>
  </HeadingPairs>
  <TitlesOfParts>
    <vt:vector size="137" baseType="lpstr">
      <vt:lpstr>Arial</vt:lpstr>
      <vt:lpstr>宋体</vt:lpstr>
      <vt:lpstr>Times New Roman</vt:lpstr>
      <vt:lpstr>Calibri</vt:lpstr>
      <vt:lpstr>等线</vt:lpstr>
      <vt:lpstr>Courier New</vt:lpstr>
      <vt:lpstr>Gulim</vt:lpstr>
      <vt:lpstr>Verdana</vt:lpstr>
      <vt:lpstr>Symbol</vt:lpstr>
      <vt:lpstr>黑体</vt:lpstr>
      <vt:lpstr>Wingdings</vt:lpstr>
      <vt:lpstr>楷体</vt:lpstr>
      <vt:lpstr>275TGp_biz_light</vt:lpstr>
      <vt:lpstr>数据库原理与应用 （第3版）</vt:lpstr>
      <vt:lpstr>第4章 数据操作语句</vt:lpstr>
      <vt:lpstr>4.1 数据查询功能 </vt:lpstr>
      <vt:lpstr>4.1.1 查询语句基本格式</vt:lpstr>
      <vt:lpstr>4.1.2 简单查询</vt:lpstr>
      <vt:lpstr> 1. 选择表中若干列</vt:lpstr>
      <vt:lpstr> 查询全部列 </vt:lpstr>
      <vt:lpstr> 查询经过计算的列 </vt:lpstr>
      <vt:lpstr>改变列标题 </vt:lpstr>
      <vt:lpstr>2 选择表中的若干元组</vt:lpstr>
      <vt:lpstr>消除取值相同的记录</vt:lpstr>
      <vt:lpstr> 查询满足条件的元组 </vt:lpstr>
      <vt:lpstr>比较大小</vt:lpstr>
      <vt:lpstr>确定范围</vt:lpstr>
      <vt:lpstr>示例</vt:lpstr>
      <vt:lpstr>示例</vt:lpstr>
      <vt:lpstr>示例</vt:lpstr>
      <vt:lpstr>确定集合</vt:lpstr>
      <vt:lpstr>示例</vt:lpstr>
      <vt:lpstr>示例（续）</vt:lpstr>
      <vt:lpstr>字符匹配</vt:lpstr>
      <vt:lpstr>示例</vt:lpstr>
      <vt:lpstr>示例（续）</vt:lpstr>
      <vt:lpstr>示例（续）</vt:lpstr>
      <vt:lpstr>示例（续）</vt:lpstr>
      <vt:lpstr>转义字符 </vt:lpstr>
      <vt:lpstr>示例</vt:lpstr>
      <vt:lpstr>涉及空值的查询</vt:lpstr>
      <vt:lpstr>示例</vt:lpstr>
      <vt:lpstr>多重条件查询</vt:lpstr>
      <vt:lpstr>多重条件查询（续）</vt:lpstr>
      <vt:lpstr>示例</vt:lpstr>
      <vt:lpstr>示例（续）</vt:lpstr>
      <vt:lpstr>3. 对查询结果进行排序</vt:lpstr>
      <vt:lpstr>示例</vt:lpstr>
      <vt:lpstr>示例（续）</vt:lpstr>
      <vt:lpstr>4. 使用聚合函数汇总数据 </vt:lpstr>
      <vt:lpstr>示例</vt:lpstr>
      <vt:lpstr>注意</vt:lpstr>
      <vt:lpstr>5. 对查询结果进行分组计算 </vt:lpstr>
      <vt:lpstr>使用GROUP BY示例</vt:lpstr>
      <vt:lpstr>示例（续）</vt:lpstr>
      <vt:lpstr>注意</vt:lpstr>
      <vt:lpstr>示例（续）</vt:lpstr>
      <vt:lpstr>示例（续）</vt:lpstr>
      <vt:lpstr>使用HAVING</vt:lpstr>
      <vt:lpstr>示例</vt:lpstr>
      <vt:lpstr>示例（续）</vt:lpstr>
      <vt:lpstr>说明</vt:lpstr>
      <vt:lpstr>示例</vt:lpstr>
      <vt:lpstr>示例</vt:lpstr>
      <vt:lpstr>知识点小结</vt:lpstr>
      <vt:lpstr>4.1.3 多表连接查询 </vt:lpstr>
      <vt:lpstr>连接基础知识</vt:lpstr>
      <vt:lpstr>1 内连接</vt:lpstr>
      <vt:lpstr>示例</vt:lpstr>
      <vt:lpstr>示例（续）</vt:lpstr>
      <vt:lpstr>表别名</vt:lpstr>
      <vt:lpstr>示例（续）</vt:lpstr>
      <vt:lpstr>示例（续）</vt:lpstr>
      <vt:lpstr>示例（续）</vt:lpstr>
      <vt:lpstr>2 自连接</vt:lpstr>
      <vt:lpstr>示例</vt:lpstr>
      <vt:lpstr>示例</vt:lpstr>
      <vt:lpstr>3 外连接</vt:lpstr>
      <vt:lpstr>示例</vt:lpstr>
      <vt:lpstr>示例（续）</vt:lpstr>
      <vt:lpstr>示例</vt:lpstr>
      <vt:lpstr>4.1.4  使用TOP限制结果集 </vt:lpstr>
      <vt:lpstr>示例</vt:lpstr>
      <vt:lpstr>示例（续）</vt:lpstr>
      <vt:lpstr>示例（续）</vt:lpstr>
      <vt:lpstr>示例（续）</vt:lpstr>
      <vt:lpstr>4.1.5 CASE表达式</vt:lpstr>
      <vt:lpstr>1 简单 CASE表达式</vt:lpstr>
      <vt:lpstr>示例</vt:lpstr>
      <vt:lpstr>示例</vt:lpstr>
      <vt:lpstr>2 搜索CASE表达式</vt:lpstr>
      <vt:lpstr>示例</vt:lpstr>
      <vt:lpstr>示例</vt:lpstr>
      <vt:lpstr>4.1.5 合并多个结果集</vt:lpstr>
      <vt:lpstr>使用UNION的基本规则</vt:lpstr>
      <vt:lpstr>示例</vt:lpstr>
      <vt:lpstr>4.1.6 将查询结果保存到新表中</vt:lpstr>
      <vt:lpstr>说明</vt:lpstr>
      <vt:lpstr>示例</vt:lpstr>
      <vt:lpstr>4.1.5 子查询 </vt:lpstr>
      <vt:lpstr>1. 使用子查询进行基于集合的测试</vt:lpstr>
      <vt:lpstr>示例</vt:lpstr>
      <vt:lpstr>示例（续）</vt:lpstr>
      <vt:lpstr>示例（续）</vt:lpstr>
      <vt:lpstr>2．使用子查询进行比较测试</vt:lpstr>
      <vt:lpstr>示例（续）</vt:lpstr>
      <vt:lpstr>示例</vt:lpstr>
      <vt:lpstr>示例</vt:lpstr>
      <vt:lpstr>3. 使用子查询进行存在性测试 </vt:lpstr>
      <vt:lpstr>示例</vt:lpstr>
      <vt:lpstr>注意</vt:lpstr>
      <vt:lpstr>例71的处理过程</vt:lpstr>
      <vt:lpstr>示例（续）</vt:lpstr>
      <vt:lpstr>示例</vt:lpstr>
      <vt:lpstr>第4章 数据操作语句</vt:lpstr>
      <vt:lpstr>4.2 数据更改功能 </vt:lpstr>
      <vt:lpstr>4.2.1 插入数据 </vt:lpstr>
      <vt:lpstr>示例</vt:lpstr>
      <vt:lpstr>示例</vt:lpstr>
      <vt:lpstr>补充：将查询结果插入到旧表 中（追加）</vt:lpstr>
      <vt:lpstr>4.2.2 更新数据 </vt:lpstr>
      <vt:lpstr>无条件更新</vt:lpstr>
      <vt:lpstr>有条件更新</vt:lpstr>
      <vt:lpstr>2. 基于其他表条件的更新</vt:lpstr>
      <vt:lpstr>2. 基于其他表条件的更新</vt:lpstr>
      <vt:lpstr>基于其他表条件的更新（续）</vt:lpstr>
      <vt:lpstr>示例</vt:lpstr>
      <vt:lpstr>示例</vt:lpstr>
      <vt:lpstr>4.2.3 删除数据 </vt:lpstr>
      <vt:lpstr>无条件删除</vt:lpstr>
      <vt:lpstr>有条件删除 </vt:lpstr>
      <vt:lpstr>基于其他表条件的删除</vt:lpstr>
      <vt:lpstr>基于其他表条件的删除</vt:lpstr>
      <vt:lpstr>课堂练习</vt:lpstr>
      <vt:lpstr>4.3 小结</vt:lpstr>
      <vt:lpstr>习题易错点（讲解）</vt:lpstr>
      <vt:lpstr>实验任务</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数据库原理与应用 （第3版）</dc:title>
  <dc:creator/>
  <cp:lastModifiedBy>DELL</cp:lastModifiedBy>
  <cp:revision>50</cp:revision>
  <dcterms:created xsi:type="dcterms:W3CDTF">2001-07-18T23:57:00Z</dcterms:created>
  <dcterms:modified xsi:type="dcterms:W3CDTF">2023-11-25T00:23:48Z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6EE2F4FB17344799977C68BCD9533078</vt:lpwstr>
  </property>
  <property fmtid="{D5CDD505-2E9C-101B-9397-08002B2CF9AE}" pid="3" name="KSOProductBuildVer">
    <vt:lpwstr>2052-11.1.0.10356</vt:lpwstr>
  </property>
</Properties>
</file>