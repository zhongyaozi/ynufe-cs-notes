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360" r:id="rId3"/>
    <p:sldId id="273" r:id="rId4"/>
    <p:sldId id="405" r:id="rId5"/>
    <p:sldId id="406" r:id="rId6"/>
    <p:sldId id="409" r:id="rId7"/>
    <p:sldId id="430" r:id="rId8"/>
    <p:sldId id="410" r:id="rId9"/>
    <p:sldId id="411" r:id="rId10"/>
    <p:sldId id="412" r:id="rId11"/>
    <p:sldId id="413" r:id="rId12"/>
    <p:sldId id="415" r:id="rId13"/>
    <p:sldId id="282" r:id="rId14"/>
    <p:sldId id="345" r:id="rId15"/>
    <p:sldId id="346" r:id="rId16"/>
    <p:sldId id="347" r:id="rId17"/>
    <p:sldId id="416" r:id="rId18"/>
    <p:sldId id="286" r:id="rId19"/>
    <p:sldId id="287" r:id="rId20"/>
    <p:sldId id="288" r:id="rId21"/>
    <p:sldId id="289" r:id="rId22"/>
    <p:sldId id="290" r:id="rId23"/>
    <p:sldId id="291" r:id="rId24"/>
    <p:sldId id="292" r:id="rId25"/>
    <p:sldId id="293" r:id="rId26"/>
    <p:sldId id="294" r:id="rId27"/>
    <p:sldId id="431" r:id="rId28"/>
    <p:sldId id="296" r:id="rId29"/>
    <p:sldId id="297" r:id="rId30"/>
    <p:sldId id="383" r:id="rId31"/>
    <p:sldId id="432" r:id="rId32"/>
    <p:sldId id="433" r:id="rId33"/>
    <p:sldId id="434" r:id="rId34"/>
    <p:sldId id="421" r:id="rId35"/>
    <p:sldId id="385" r:id="rId36"/>
    <p:sldId id="424" r:id="rId37"/>
    <p:sldId id="386" r:id="rId38"/>
    <p:sldId id="387" r:id="rId39"/>
    <p:sldId id="388" r:id="rId40"/>
    <p:sldId id="389" r:id="rId41"/>
    <p:sldId id="390" r:id="rId42"/>
    <p:sldId id="391" r:id="rId43"/>
    <p:sldId id="393" r:id="rId44"/>
    <p:sldId id="394" r:id="rId45"/>
    <p:sldId id="368" r:id="rId46"/>
    <p:sldId id="426" r:id="rId47"/>
    <p:sldId id="381" r:id="rId48"/>
    <p:sldId id="369" r:id="rId49"/>
    <p:sldId id="373" r:id="rId50"/>
  </p:sldIdLst>
  <p:sldSz cx="9144000" cy="6858000" type="screen4x3"/>
  <p:notesSz cx="6858000" cy="9144000"/>
  <p:embeddedFontLst>
    <p:embeddedFont>
      <p:font typeface="Gulim" charset="-127"/>
      <p:regular r:id="rId51"/>
    </p:embeddedFont>
    <p:embeddedFont>
      <p:font typeface="Verdana" pitchFamily="34" charset="0"/>
      <p:regular r:id="rId52"/>
      <p:bold r:id="rId53"/>
      <p:italic r:id="rId54"/>
      <p:boldItalic r:id="rId55"/>
    </p:embeddedFont>
    <p:embeddedFont>
      <p:font typeface="黑体" pitchFamily="49" charset="-122"/>
      <p:regular r:id="rId56"/>
    </p:embeddedFont>
    <p:embeddedFont>
      <p:font typeface="华文新魏" pitchFamily="2" charset="-122"/>
      <p:regular r:id="rId57"/>
    </p:embeddedFont>
    <p:embeddedFont>
      <p:font typeface="楷体_GB2312" charset="-122"/>
      <p:regular r:id="rId58"/>
    </p:embeddedFont>
    <p:embeddedFont>
      <p:font typeface="隶书" pitchFamily="49" charset="-122"/>
      <p:regular r:id="rId59"/>
    </p:embeddedFont>
    <p:embeddedFont>
      <p:font typeface="等线" pitchFamily="2" charset="-122"/>
      <p:regular r:id="rId60"/>
      <p:bold r:id="rId61"/>
    </p:embeddedFont>
    <p:embeddedFont>
      <p:font typeface="华文行楷" pitchFamily="2" charset="-122"/>
      <p:regular r:id="rId62"/>
    </p:embeddedFont>
  </p:embeddedFontLst>
  <p:defaultTextStyle>
    <a:defPPr>
      <a:defRPr lang="ko-KR"/>
    </a:defPPr>
    <a:lvl1pPr marL="0" lvl="0" indent="0" algn="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Gulim" panose="020B0600000101010101" pitchFamily="34" charset="-127"/>
        <a:cs typeface="+mn-cs"/>
      </a:defRPr>
    </a:lvl1pPr>
    <a:lvl2pPr marL="457200" lvl="1" indent="0" algn="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Gulim" panose="020B0600000101010101" pitchFamily="34" charset="-127"/>
        <a:cs typeface="+mn-cs"/>
      </a:defRPr>
    </a:lvl2pPr>
    <a:lvl3pPr marL="914400" lvl="2" indent="0" algn="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Gulim" panose="020B0600000101010101" pitchFamily="34" charset="-127"/>
        <a:cs typeface="+mn-cs"/>
      </a:defRPr>
    </a:lvl3pPr>
    <a:lvl4pPr marL="1371600" lvl="3" indent="0" algn="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Gulim" panose="020B0600000101010101" pitchFamily="34" charset="-127"/>
        <a:cs typeface="+mn-cs"/>
      </a:defRPr>
    </a:lvl4pPr>
    <a:lvl5pPr marL="1828800" lvl="4" indent="0" algn="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Gulim" panose="020B0600000101010101" pitchFamily="34" charset="-127"/>
        <a:cs typeface="+mn-cs"/>
      </a:defRPr>
    </a:lvl5pPr>
    <a:lvl6pPr marL="2286000" lvl="5" indent="0" algn="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Gulim" panose="020B0600000101010101" pitchFamily="34" charset="-127"/>
        <a:cs typeface="+mn-cs"/>
      </a:defRPr>
    </a:lvl6pPr>
    <a:lvl7pPr marL="2743200" lvl="6" indent="0" algn="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Gulim" panose="020B0600000101010101" pitchFamily="34" charset="-127"/>
        <a:cs typeface="+mn-cs"/>
      </a:defRPr>
    </a:lvl7pPr>
    <a:lvl8pPr marL="3200400" lvl="7" indent="0" algn="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Gulim" panose="020B0600000101010101" pitchFamily="34" charset="-127"/>
        <a:cs typeface="+mn-cs"/>
      </a:defRPr>
    </a:lvl8pPr>
    <a:lvl9pPr marL="3657600" lvl="8" indent="0" algn="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Gulim" panose="020B0600000101010101" pitchFamily="34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00"/>
    <a:srgbClr val="009900"/>
    <a:srgbClr val="D60093"/>
    <a:srgbClr val="FF66CC"/>
    <a:srgbClr val="FF9900"/>
    <a:srgbClr val="00CC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08"/>
    <p:restoredTop sz="94603"/>
  </p:normalViewPr>
  <p:slideViewPr>
    <p:cSldViewPr showGuides="1">
      <p:cViewPr>
        <p:scale>
          <a:sx n="80" d="100"/>
          <a:sy n="80" d="100"/>
        </p:scale>
        <p:origin x="-2430" y="-7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425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5.fntdata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font" Target="fonts/font4.fntdata"/><Relationship Id="rId62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3.fntdata"/><Relationship Id="rId58" Type="http://schemas.openxmlformats.org/officeDocument/2006/relationships/font" Target="fonts/font8.fntdata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7.fntdata"/><Relationship Id="rId61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2.fntdata"/><Relationship Id="rId60" Type="http://schemas.openxmlformats.org/officeDocument/2006/relationships/font" Target="fonts/font10.fntdata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6.fntdata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9.fntdata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2"/>
          <p:cNvSpPr/>
          <p:nvPr/>
        </p:nvSpPr>
        <p:spPr bwMode="gray">
          <a:xfrm>
            <a:off x="0" y="3810000"/>
            <a:ext cx="9144000" cy="30480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1920"/>
              </a:cxn>
              <a:cxn ang="0">
                <a:pos x="5760" y="1920"/>
              </a:cxn>
              <a:cxn ang="0">
                <a:pos x="5760" y="0"/>
              </a:cxn>
              <a:cxn ang="0">
                <a:pos x="0" y="0"/>
              </a:cxn>
            </a:cxnLst>
            <a:rect l="0" t="0" r="r" b="b"/>
            <a:pathLst>
              <a:path w="5760" h="1920">
                <a:moveTo>
                  <a:pt x="0" y="0"/>
                </a:moveTo>
                <a:lnTo>
                  <a:pt x="0" y="1920"/>
                </a:lnTo>
                <a:lnTo>
                  <a:pt x="5760" y="1920"/>
                </a:lnTo>
                <a:lnTo>
                  <a:pt x="576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  <a:effectLst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Gulim" panose="020B0600000101010101" pitchFamily="34" charset="-127"/>
              <a:cs typeface="+mn-cs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gray">
          <a:xfrm>
            <a:off x="0" y="3429000"/>
            <a:ext cx="5045075" cy="390525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Gulim" panose="020B0600000101010101" pitchFamily="34" charset="-127"/>
              <a:cs typeface="+mn-cs"/>
            </a:endParaRPr>
          </a:p>
        </p:txBody>
      </p:sp>
      <p:sp>
        <p:nvSpPr>
          <p:cNvPr id="11" name="Freeform 4"/>
          <p:cNvSpPr/>
          <p:nvPr/>
        </p:nvSpPr>
        <p:spPr bwMode="gray">
          <a:xfrm>
            <a:off x="5043488" y="3429000"/>
            <a:ext cx="2195513" cy="3905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341" y="0"/>
              </a:cxn>
              <a:cxn ang="0">
                <a:pos x="1159" y="246"/>
              </a:cxn>
              <a:cxn ang="0">
                <a:pos x="0" y="246"/>
              </a:cxn>
              <a:cxn ang="0">
                <a:pos x="0" y="0"/>
              </a:cxn>
            </a:cxnLst>
            <a:rect l="0" t="0" r="r" b="b"/>
            <a:pathLst>
              <a:path w="1341" h="246">
                <a:moveTo>
                  <a:pt x="0" y="0"/>
                </a:moveTo>
                <a:lnTo>
                  <a:pt x="1341" y="0"/>
                </a:lnTo>
                <a:lnTo>
                  <a:pt x="1159" y="246"/>
                </a:lnTo>
                <a:lnTo>
                  <a:pt x="0" y="24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Gulim" panose="020B0600000101010101" pitchFamily="34" charset="-127"/>
              <a:cs typeface="+mn-cs"/>
            </a:endParaRPr>
          </a:p>
        </p:txBody>
      </p:sp>
      <p:sp>
        <p:nvSpPr>
          <p:cNvPr id="12" name="Freeform 9"/>
          <p:cNvSpPr/>
          <p:nvPr/>
        </p:nvSpPr>
        <p:spPr bwMode="gray">
          <a:xfrm>
            <a:off x="6862763" y="3429000"/>
            <a:ext cx="2281238" cy="390525"/>
          </a:xfrm>
          <a:custGeom>
            <a:avLst/>
            <a:gdLst/>
            <a:ahLst/>
            <a:cxnLst>
              <a:cxn ang="0">
                <a:pos x="189" y="0"/>
              </a:cxn>
              <a:cxn ang="0">
                <a:pos x="0" y="243"/>
              </a:cxn>
              <a:cxn ang="0">
                <a:pos x="1437" y="246"/>
              </a:cxn>
              <a:cxn ang="0">
                <a:pos x="1436" y="0"/>
              </a:cxn>
              <a:cxn ang="0">
                <a:pos x="189" y="0"/>
              </a:cxn>
            </a:cxnLst>
            <a:rect l="0" t="0" r="r" b="b"/>
            <a:pathLst>
              <a:path w="1437" h="246">
                <a:moveTo>
                  <a:pt x="189" y="0"/>
                </a:moveTo>
                <a:lnTo>
                  <a:pt x="0" y="243"/>
                </a:lnTo>
                <a:lnTo>
                  <a:pt x="1437" y="246"/>
                </a:lnTo>
                <a:lnTo>
                  <a:pt x="1436" y="0"/>
                </a:lnTo>
                <a:lnTo>
                  <a:pt x="189" y="0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Gulim" panose="020B0600000101010101" pitchFamily="34" charset="-127"/>
              <a:cs typeface="+mn-cs"/>
            </a:endParaRPr>
          </a:p>
        </p:txBody>
      </p:sp>
      <p:sp>
        <p:nvSpPr>
          <p:cNvPr id="13" name="Freeform 10" descr="2"/>
          <p:cNvSpPr/>
          <p:nvPr/>
        </p:nvSpPr>
        <p:spPr bwMode="gray">
          <a:xfrm>
            <a:off x="0" y="3810000"/>
            <a:ext cx="6865938" cy="14478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337" y="2"/>
              </a:cxn>
              <a:cxn ang="0">
                <a:pos x="3658" y="906"/>
              </a:cxn>
              <a:cxn ang="0">
                <a:pos x="0" y="912"/>
              </a:cxn>
              <a:cxn ang="0">
                <a:pos x="0" y="0"/>
              </a:cxn>
            </a:cxnLst>
            <a:rect l="0" t="0" r="r" b="b"/>
            <a:pathLst>
              <a:path w="4337" h="912">
                <a:moveTo>
                  <a:pt x="0" y="0"/>
                </a:moveTo>
                <a:lnTo>
                  <a:pt x="4337" y="2"/>
                </a:lnTo>
                <a:lnTo>
                  <a:pt x="3658" y="906"/>
                </a:lnTo>
                <a:lnTo>
                  <a:pt x="0" y="912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ln w="9525">
            <a:noFill/>
            <a:round/>
          </a:ln>
          <a:effectLst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Gulim" panose="020B0600000101010101" pitchFamily="34" charset="-127"/>
              <a:cs typeface="+mn-cs"/>
            </a:endParaRPr>
          </a:p>
        </p:txBody>
      </p:sp>
      <p:sp>
        <p:nvSpPr>
          <p:cNvPr id="14" name="Freeform 11"/>
          <p:cNvSpPr/>
          <p:nvPr/>
        </p:nvSpPr>
        <p:spPr bwMode="gray">
          <a:xfrm>
            <a:off x="7162800" y="762000"/>
            <a:ext cx="1981200" cy="2667000"/>
          </a:xfrm>
          <a:custGeom>
            <a:avLst/>
            <a:gdLst/>
            <a:ahLst/>
            <a:cxnLst>
              <a:cxn ang="0">
                <a:pos x="0" y="1680"/>
              </a:cxn>
              <a:cxn ang="0">
                <a:pos x="1248" y="0"/>
              </a:cxn>
              <a:cxn ang="0">
                <a:pos x="1248" y="1680"/>
              </a:cxn>
              <a:cxn ang="0">
                <a:pos x="0" y="1680"/>
              </a:cxn>
            </a:cxnLst>
            <a:rect l="0" t="0" r="r" b="b"/>
            <a:pathLst>
              <a:path w="1248" h="1680">
                <a:moveTo>
                  <a:pt x="0" y="1680"/>
                </a:moveTo>
                <a:lnTo>
                  <a:pt x="1248" y="0"/>
                </a:lnTo>
                <a:lnTo>
                  <a:pt x="1248" y="1680"/>
                </a:lnTo>
                <a:lnTo>
                  <a:pt x="0" y="168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  <a:effectLst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Gulim" panose="020B0600000101010101" pitchFamily="34" charset="-127"/>
              <a:cs typeface="+mn-cs"/>
            </a:endParaRPr>
          </a:p>
        </p:txBody>
      </p:sp>
      <p:sp>
        <p:nvSpPr>
          <p:cNvPr id="15" name="AutoShape 12"/>
          <p:cNvSpPr>
            <a:spLocks noChangeArrowheads="1"/>
          </p:cNvSpPr>
          <p:nvPr/>
        </p:nvSpPr>
        <p:spPr bwMode="gray">
          <a:xfrm>
            <a:off x="4724400" y="3429000"/>
            <a:ext cx="914400" cy="381000"/>
          </a:xfrm>
          <a:prstGeom prst="parallelogram">
            <a:avLst>
              <a:gd name="adj" fmla="val 77089"/>
            </a:avLst>
          </a:prstGeom>
          <a:solidFill>
            <a:schemeClr val="accent2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Gulim" panose="020B0600000101010101" pitchFamily="34" charset="-127"/>
              <a:cs typeface="+mn-cs"/>
            </a:endParaRPr>
          </a:p>
        </p:txBody>
      </p:sp>
      <p:sp>
        <p:nvSpPr>
          <p:cNvPr id="446471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2362200" y="5791200"/>
            <a:ext cx="4648200" cy="3810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46477" name="Rectangle 13"/>
          <p:cNvSpPr>
            <a:spLocks noGrp="1" noChangeArrowheads="1"/>
          </p:cNvSpPr>
          <p:nvPr>
            <p:ph type="ctrTitle"/>
          </p:nvPr>
        </p:nvSpPr>
        <p:spPr>
          <a:xfrm>
            <a:off x="190500" y="2590800"/>
            <a:ext cx="7124700" cy="762000"/>
          </a:xfrm>
        </p:spPr>
        <p:txBody>
          <a:bodyPr/>
          <a:lstStyle>
            <a:lvl1pPr>
              <a:defRPr>
                <a:latin typeface="Times New Roman" pitchFamily="18" charset="0"/>
                <a:ea typeface="宋体" pitchFamily="2" charset="-122"/>
                <a:cs typeface="Times New Roman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6" name="Rectangle 5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5976938" y="6594475"/>
            <a:ext cx="2895600" cy="1682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sz="1000" smtClean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Rectangle 6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3465513" y="6613525"/>
            <a:ext cx="2133600" cy="1682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ctr">
              <a:buNone/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‹#›</a:t>
            </a:fld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8" name="Rectangle 8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274638" y="6605588"/>
            <a:ext cx="2133600" cy="1682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>
              <a:defRPr sz="1000" smtClean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itchFamily="18" charset="0"/>
                <a:ea typeface="宋体" pitchFamily="2" charset="-122"/>
                <a:cs typeface="Times New Roman" pitchFamily="18" charset="0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1">
                <a:latin typeface="Times New Roman" pitchFamily="18" charset="0"/>
                <a:ea typeface="宋体" pitchFamily="2" charset="-122"/>
                <a:cs typeface="Times New Roman" pitchFamily="18" charset="0"/>
              </a:defRPr>
            </a:lvl1pPr>
            <a:lvl2pPr>
              <a:defRPr b="1">
                <a:latin typeface="Times New Roman" pitchFamily="18" charset="0"/>
                <a:ea typeface="宋体" pitchFamily="2" charset="-122"/>
                <a:cs typeface="Times New Roman" pitchFamily="18" charset="0"/>
              </a:defRPr>
            </a:lvl2pPr>
            <a:lvl3pPr>
              <a:defRPr b="1">
                <a:latin typeface="Times New Roman" pitchFamily="18" charset="0"/>
                <a:ea typeface="宋体" pitchFamily="2" charset="-122"/>
                <a:cs typeface="Times New Roman" pitchFamily="18" charset="0"/>
              </a:defRPr>
            </a:lvl3pPr>
            <a:lvl4pPr>
              <a:defRPr b="1">
                <a:latin typeface="Times New Roman" pitchFamily="18" charset="0"/>
                <a:ea typeface="宋体" pitchFamily="2" charset="-122"/>
                <a:cs typeface="Times New Roman" pitchFamily="18" charset="0"/>
              </a:defRPr>
            </a:lvl4pPr>
            <a:lvl5pPr>
              <a:defRPr b="1">
                <a:latin typeface="Times New Roman" pitchFamily="18" charset="0"/>
                <a:ea typeface="宋体" pitchFamily="2" charset="-122"/>
                <a:cs typeface="Times New Roman" pitchFamily="18" charset="0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4876800"/>
          </a:xfrm>
        </p:spPr>
        <p:txBody>
          <a:bodyPr/>
          <a:lstStyle>
            <a:lvl1pPr>
              <a:defRPr sz="2800">
                <a:latin typeface="Times New Roman" pitchFamily="18" charset="0"/>
                <a:ea typeface="宋体" pitchFamily="2" charset="-122"/>
                <a:cs typeface="Times New Roman" pitchFamily="18" charset="0"/>
              </a:defRPr>
            </a:lvl1pPr>
            <a:lvl2pPr>
              <a:defRPr sz="2400">
                <a:latin typeface="Times New Roman" pitchFamily="18" charset="0"/>
                <a:ea typeface="宋体" pitchFamily="2" charset="-122"/>
                <a:cs typeface="Times New Roman" pitchFamily="18" charset="0"/>
              </a:defRPr>
            </a:lvl2pPr>
            <a:lvl3pPr>
              <a:defRPr sz="2000">
                <a:latin typeface="Times New Roman" pitchFamily="18" charset="0"/>
                <a:ea typeface="宋体" pitchFamily="2" charset="-122"/>
                <a:cs typeface="Times New Roman" pitchFamily="18" charset="0"/>
              </a:defRPr>
            </a:lvl3pPr>
            <a:lvl4pPr>
              <a:defRPr sz="1800">
                <a:latin typeface="Times New Roman" pitchFamily="18" charset="0"/>
                <a:ea typeface="宋体" pitchFamily="2" charset="-122"/>
                <a:cs typeface="Times New Roman" pitchFamily="18" charset="0"/>
              </a:defRPr>
            </a:lvl4pPr>
            <a:lvl5pPr>
              <a:defRPr sz="1800">
                <a:latin typeface="Times New Roman" pitchFamily="18" charset="0"/>
                <a:ea typeface="宋体" pitchFamily="2" charset="-122"/>
                <a:cs typeface="Times New Roman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>
                <a:latin typeface="Times New Roman" pitchFamily="18" charset="0"/>
                <a:ea typeface="宋体" pitchFamily="2" charset="-122"/>
                <a:cs typeface="Times New Roman" pitchFamily="18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0350" y="152400"/>
            <a:ext cx="2076450" cy="60198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076950" cy="60198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Freeform 2"/>
          <p:cNvSpPr/>
          <p:nvPr/>
        </p:nvSpPr>
        <p:spPr bwMode="gray">
          <a:xfrm>
            <a:off x="0" y="5638800"/>
            <a:ext cx="9144000" cy="1219200"/>
          </a:xfrm>
          <a:custGeom>
            <a:avLst/>
            <a:gdLst/>
            <a:ahLst/>
            <a:cxnLst>
              <a:cxn ang="0">
                <a:pos x="0" y="512"/>
              </a:cxn>
              <a:cxn ang="0">
                <a:pos x="5120" y="512"/>
              </a:cxn>
              <a:cxn ang="0">
                <a:pos x="5760" y="0"/>
              </a:cxn>
              <a:cxn ang="0">
                <a:pos x="5760" y="768"/>
              </a:cxn>
              <a:cxn ang="0">
                <a:pos x="0" y="768"/>
              </a:cxn>
              <a:cxn ang="0">
                <a:pos x="0" y="512"/>
              </a:cxn>
            </a:cxnLst>
            <a:rect l="0" t="0" r="r" b="b"/>
            <a:pathLst>
              <a:path w="5760" h="768">
                <a:moveTo>
                  <a:pt x="0" y="512"/>
                </a:moveTo>
                <a:lnTo>
                  <a:pt x="5120" y="512"/>
                </a:lnTo>
                <a:lnTo>
                  <a:pt x="5760" y="0"/>
                </a:lnTo>
                <a:lnTo>
                  <a:pt x="5760" y="768"/>
                </a:lnTo>
                <a:lnTo>
                  <a:pt x="0" y="768"/>
                </a:lnTo>
                <a:lnTo>
                  <a:pt x="0" y="512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  <a:effectLst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Gulim" panose="020B0600000101010101" pitchFamily="34" charset="-127"/>
              <a:cs typeface="+mn-cs"/>
            </a:endParaRPr>
          </a:p>
        </p:txBody>
      </p:sp>
      <p:sp>
        <p:nvSpPr>
          <p:cNvPr id="445443" name="Freeform 3"/>
          <p:cNvSpPr/>
          <p:nvPr/>
        </p:nvSpPr>
        <p:spPr bwMode="gray">
          <a:xfrm>
            <a:off x="-3175" y="-3175"/>
            <a:ext cx="9147175" cy="11334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790" y="0"/>
              </a:cxn>
              <a:cxn ang="0">
                <a:pos x="3790" y="232"/>
              </a:cxn>
              <a:cxn ang="0">
                <a:pos x="3380" y="712"/>
              </a:cxn>
              <a:cxn ang="0">
                <a:pos x="2" y="714"/>
              </a:cxn>
              <a:cxn ang="0">
                <a:pos x="0" y="0"/>
              </a:cxn>
            </a:cxnLst>
            <a:rect l="0" t="0" r="r" b="b"/>
            <a:pathLst>
              <a:path w="3790" h="714">
                <a:moveTo>
                  <a:pt x="0" y="0"/>
                </a:moveTo>
                <a:lnTo>
                  <a:pt x="3790" y="0"/>
                </a:lnTo>
                <a:lnTo>
                  <a:pt x="3790" y="232"/>
                </a:lnTo>
                <a:lnTo>
                  <a:pt x="3380" y="712"/>
                </a:lnTo>
                <a:lnTo>
                  <a:pt x="2" y="71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  <a:effectLst/>
        </p:spPr>
        <p:txBody>
          <a:bodyPr wrap="none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Gulim" panose="020B0600000101010101" pitchFamily="34" charset="-127"/>
              <a:cs typeface="+mn-cs"/>
            </a:endParaRPr>
          </a:p>
        </p:txBody>
      </p:sp>
      <p:sp>
        <p:nvSpPr>
          <p:cNvPr id="445444" name="Rectangle 4"/>
          <p:cNvSpPr>
            <a:spLocks noChangeArrowheads="1"/>
          </p:cNvSpPr>
          <p:nvPr/>
        </p:nvSpPr>
        <p:spPr bwMode="gray">
          <a:xfrm>
            <a:off x="0" y="882650"/>
            <a:ext cx="7721600" cy="26035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Gulim" panose="020B0600000101010101" pitchFamily="34" charset="-127"/>
              <a:cs typeface="+mn-cs"/>
            </a:endParaRPr>
          </a:p>
        </p:txBody>
      </p:sp>
      <p:sp>
        <p:nvSpPr>
          <p:cNvPr id="2053" name="Rectangle 5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8229600" cy="4876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45446" name="Rectangle 6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3810000" y="6483350"/>
            <a:ext cx="1828800" cy="244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00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  <p:sp>
        <p:nvSpPr>
          <p:cNvPr id="2055" name="Rectangle 7"/>
          <p:cNvSpPr>
            <a:spLocks noGrp="1"/>
          </p:cNvSpPr>
          <p:nvPr>
            <p:ph type="title"/>
          </p:nvPr>
        </p:nvSpPr>
        <p:spPr>
          <a:xfrm>
            <a:off x="381000" y="152400"/>
            <a:ext cx="6781800" cy="685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445448" name="Freeform 8"/>
          <p:cNvSpPr/>
          <p:nvPr/>
        </p:nvSpPr>
        <p:spPr bwMode="gray">
          <a:xfrm>
            <a:off x="6215063" y="881063"/>
            <a:ext cx="2260600" cy="261938"/>
          </a:xfrm>
          <a:custGeom>
            <a:avLst/>
            <a:gdLst/>
            <a:ahLst/>
            <a:cxnLst>
              <a:cxn ang="0">
                <a:pos x="0" y="165"/>
              </a:cxn>
              <a:cxn ang="0">
                <a:pos x="1221" y="164"/>
              </a:cxn>
              <a:cxn ang="0">
                <a:pos x="1424" y="0"/>
              </a:cxn>
              <a:cxn ang="0">
                <a:pos x="189" y="0"/>
              </a:cxn>
              <a:cxn ang="0">
                <a:pos x="0" y="165"/>
              </a:cxn>
            </a:cxnLst>
            <a:rect l="0" t="0" r="r" b="b"/>
            <a:pathLst>
              <a:path w="1424" h="165">
                <a:moveTo>
                  <a:pt x="0" y="165"/>
                </a:moveTo>
                <a:lnTo>
                  <a:pt x="1221" y="164"/>
                </a:lnTo>
                <a:lnTo>
                  <a:pt x="1424" y="0"/>
                </a:lnTo>
                <a:lnTo>
                  <a:pt x="189" y="0"/>
                </a:lnTo>
                <a:lnTo>
                  <a:pt x="0" y="165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  <a:effectLst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Gulim" panose="020B0600000101010101" pitchFamily="34" charset="-127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itchFamily="18" charset="0"/>
          <a:ea typeface="宋体" pitchFamily="2" charset="-122"/>
          <a:cs typeface="Times New Roman" pitchFamily="18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Verdan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Verdan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Verdan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Verdan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Verdan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Verdan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Verdan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v"/>
        <a:defRPr sz="3200" b="1">
          <a:solidFill>
            <a:schemeClr val="tx2"/>
          </a:solidFill>
          <a:latin typeface="Times New Roman" pitchFamily="18" charset="0"/>
          <a:ea typeface="宋体" pitchFamily="2" charset="-122"/>
          <a:cs typeface="Times New Roman" pitchFamily="18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2800" b="1">
          <a:solidFill>
            <a:schemeClr val="tx2"/>
          </a:solidFill>
          <a:latin typeface="Times New Roman" pitchFamily="18" charset="0"/>
          <a:ea typeface="宋体" pitchFamily="2" charset="-122"/>
          <a:cs typeface="Times New Roman" pitchFamily="18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400" b="1">
          <a:solidFill>
            <a:schemeClr val="tx2"/>
          </a:solidFill>
          <a:latin typeface="Times New Roman" pitchFamily="18" charset="0"/>
          <a:ea typeface="宋体" pitchFamily="2" charset="-122"/>
          <a:cs typeface="Times New Roman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chemeClr val="tx2"/>
          </a:solidFill>
          <a:latin typeface="Times New Roman" pitchFamily="18" charset="0"/>
          <a:ea typeface="宋体" pitchFamily="2" charset="-122"/>
          <a:cs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chemeClr val="tx2"/>
          </a:solidFill>
          <a:latin typeface="Times New Roman" pitchFamily="18" charset="0"/>
          <a:ea typeface="宋体" pitchFamily="2" charset="-122"/>
          <a:cs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Arial" panose="020B0604020202020204" pitchFamily="34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Arial" panose="020B0604020202020204" pitchFamily="34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Arial" panose="020B0604020202020204" pitchFamily="34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8.wmf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ctrTitle"/>
          </p:nvPr>
        </p:nvSpPr>
        <p:spPr>
          <a:xfrm>
            <a:off x="1115616" y="1340768"/>
            <a:ext cx="6769100" cy="1541462"/>
          </a:xfrm>
          <a:ln/>
        </p:spPr>
        <p:txBody>
          <a:bodyPr vert="horz" wrap="square" lIns="91440" tIns="45720" rIns="91440" bIns="45720" anchor="ctr" anchorCtr="0"/>
          <a:lstStyle/>
          <a:p>
            <a:pPr algn="ctr" eaLnBrk="1" hangingPunct="1">
              <a:buClrTx/>
              <a:buSzTx/>
              <a:buFontTx/>
            </a:pPr>
            <a:r>
              <a:rPr lang="zh-CN" altLang="en-US" sz="5400" dirty="0">
                <a:latin typeface="+mj-lt"/>
                <a:ea typeface="黑体" panose="02010609060101010101" pitchFamily="2" charset="-122"/>
                <a:cs typeface="+mj-cs"/>
              </a:rPr>
              <a:t>数据库原理与应用</a:t>
            </a:r>
            <a:r>
              <a:rPr lang="en-US" altLang="zh-CN" sz="5400" dirty="0">
                <a:latin typeface="+mj-lt"/>
                <a:ea typeface="黑体" panose="02010609060101010101" pitchFamily="2" charset="-122"/>
                <a:cs typeface="+mj-cs"/>
              </a:rPr>
              <a:t/>
            </a:r>
            <a:br>
              <a:rPr lang="en-US" altLang="zh-CN" sz="5400" dirty="0">
                <a:latin typeface="+mj-lt"/>
                <a:ea typeface="黑体" panose="02010609060101010101" pitchFamily="2" charset="-122"/>
                <a:cs typeface="+mj-cs"/>
              </a:rPr>
            </a:br>
            <a:r>
              <a:rPr lang="zh-CN" altLang="en-US" sz="4000" dirty="0">
                <a:latin typeface="+mj-lt"/>
                <a:ea typeface="黑体" panose="02010609060101010101" pitchFamily="2" charset="-122"/>
                <a:cs typeface="+mj-cs"/>
              </a:rPr>
              <a:t>（第</a:t>
            </a:r>
            <a:r>
              <a:rPr lang="en-US" altLang="zh-CN" sz="4000" dirty="0" smtClean="0">
                <a:latin typeface="+mj-lt"/>
                <a:ea typeface="黑体" panose="02010609060101010101" pitchFamily="2" charset="-122"/>
                <a:cs typeface="+mj-cs"/>
              </a:rPr>
              <a:t>3</a:t>
            </a:r>
            <a:r>
              <a:rPr lang="zh-CN" altLang="en-US" sz="4000" dirty="0" smtClean="0">
                <a:latin typeface="+mj-lt"/>
                <a:ea typeface="黑体" panose="02010609060101010101" pitchFamily="2" charset="-122"/>
                <a:cs typeface="+mj-cs"/>
              </a:rPr>
              <a:t>版</a:t>
            </a:r>
            <a:r>
              <a:rPr lang="zh-CN" altLang="en-US" sz="4000" dirty="0">
                <a:latin typeface="+mj-lt"/>
                <a:ea typeface="黑体" panose="02010609060101010101" pitchFamily="2" charset="-122"/>
                <a:cs typeface="+mj-cs"/>
              </a:rPr>
              <a:t>）</a:t>
            </a:r>
            <a:endParaRPr lang="zh-CN" altLang="en-US" sz="5400" dirty="0">
              <a:latin typeface="+mj-lt"/>
              <a:ea typeface="黑体" panose="02010609060101010101" pitchFamily="2" charset="-122"/>
              <a:cs typeface="+mj-cs"/>
            </a:endParaRPr>
          </a:p>
        </p:txBody>
      </p:sp>
      <p:sp>
        <p:nvSpPr>
          <p:cNvPr id="4099" name="Rectangle 6"/>
          <p:cNvSpPr>
            <a:spLocks noGrp="1"/>
          </p:cNvSpPr>
          <p:nvPr>
            <p:ph type="subTitle" idx="1"/>
          </p:nvPr>
        </p:nvSpPr>
        <p:spPr>
          <a:xfrm>
            <a:off x="2362200" y="5791200"/>
            <a:ext cx="4648200" cy="517525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>
              <a:buSzTx/>
            </a:pPr>
            <a:r>
              <a:rPr lang="zh-CN" altLang="en-US" sz="2800" dirty="0"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人民邮电出版社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441325" y="152400"/>
            <a:ext cx="7731075" cy="685800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4000" dirty="0">
                <a:cs typeface="黑体" panose="02010609060101010101" pitchFamily="2" charset="-122"/>
              </a:rPr>
              <a:t>第2章 </a:t>
            </a:r>
            <a:r>
              <a:rPr lang="zh-CN" altLang="en-US" sz="4000" dirty="0" smtClean="0">
                <a:cs typeface="黑体" panose="02010609060101010101" pitchFamily="2" charset="-122"/>
              </a:rPr>
              <a:t>数据模型与数据库系统</a:t>
            </a:r>
            <a:r>
              <a:rPr lang="zh-CN" altLang="en-US" sz="4000" dirty="0">
                <a:cs typeface="黑体" panose="02010609060101010101" pitchFamily="2" charset="-122"/>
              </a:rPr>
              <a:t>结构 </a:t>
            </a:r>
          </a:p>
        </p:txBody>
      </p:sp>
      <p:sp>
        <p:nvSpPr>
          <p:cNvPr id="5123" name="Rectangle 3"/>
          <p:cNvSpPr>
            <a:spLocks noGrp="1"/>
          </p:cNvSpPr>
          <p:nvPr>
            <p:ph idx="1"/>
          </p:nvPr>
        </p:nvSpPr>
        <p:spPr>
          <a:xfrm>
            <a:off x="1403648" y="1700808"/>
            <a:ext cx="5621883" cy="3543275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>
              <a:spcBef>
                <a:spcPts val="1800"/>
              </a:spcBef>
            </a:pPr>
            <a:r>
              <a:rPr lang="zh-CN" altLang="en-US" sz="3600" dirty="0"/>
              <a:t>2.1 数据和数据模型 </a:t>
            </a:r>
          </a:p>
          <a:p>
            <a:pPr eaLnBrk="1" hangingPunct="1">
              <a:spcBef>
                <a:spcPts val="1800"/>
              </a:spcBef>
            </a:pPr>
            <a:r>
              <a:rPr lang="zh-CN" altLang="en-US" sz="3600" dirty="0"/>
              <a:t>2.2 概念层数据模型 </a:t>
            </a:r>
          </a:p>
          <a:p>
            <a:pPr eaLnBrk="1" hangingPunct="1">
              <a:spcBef>
                <a:spcPts val="1800"/>
              </a:spcBef>
            </a:pPr>
            <a:r>
              <a:rPr lang="zh-CN" altLang="en-US" sz="3600" dirty="0"/>
              <a:t>2.3 组织层数据模型 </a:t>
            </a:r>
          </a:p>
          <a:p>
            <a:pPr eaLnBrk="1" hangingPunct="1">
              <a:spcBef>
                <a:spcPts val="1800"/>
              </a:spcBef>
            </a:pPr>
            <a:r>
              <a:rPr lang="en-US" altLang="zh-CN" sz="3600" dirty="0"/>
              <a:t>2.4 </a:t>
            </a:r>
            <a:r>
              <a:rPr lang="zh-CN" altLang="en-US" sz="3600" dirty="0"/>
              <a:t>数据库系统的结构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>
                <a:cs typeface="黑体" panose="02010609060101010101" pitchFamily="2" charset="-122"/>
              </a:rPr>
              <a:t>2.1 </a:t>
            </a:r>
            <a:r>
              <a:rPr lang="zh-CN" altLang="en-US" dirty="0">
                <a:cs typeface="黑体" panose="02010609060101010101" pitchFamily="2" charset="-122"/>
              </a:rPr>
              <a:t>数据和数据模型</a:t>
            </a:r>
            <a:endParaRPr lang="en-US" altLang="zh-CN" dirty="0">
              <a:cs typeface="黑体" panose="02010609060101010101" pitchFamily="2" charset="-122"/>
            </a:endParaRPr>
          </a:p>
        </p:txBody>
      </p:sp>
      <p:sp>
        <p:nvSpPr>
          <p:cNvPr id="300035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1196975"/>
            <a:ext cx="8750300" cy="51276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altLang="zh-CN" sz="320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等线" panose="02010600030101010101" charset="-122"/>
              </a:rPr>
              <a:t>1.</a:t>
            </a:r>
            <a:r>
              <a:rPr kumimoji="0" lang="zh-CN" altLang="en-US" sz="320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等线" panose="02010600030101010101" charset="-122"/>
              </a:rPr>
              <a:t>数据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等线" panose="02010600030101010101" charset="-122"/>
              </a:rPr>
              <a:t>人们从实际中抽取的感兴趣的事物特征。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等线" panose="02010600030101010101" charset="-122"/>
              </a:rPr>
              <a:t>有一定的格式，如，性别是一个汉字的字符。格式的规定是数据的语法，而数据的含义是数据的语义。 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等线" panose="02010600030101010101" charset="-122"/>
              </a:rPr>
              <a:t>数据是信息存在的一种形式，只有通过解释或处理才能成为有用的信息。 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等线" panose="02010600030101010101" charset="-122"/>
              </a:rPr>
              <a:t>通过解释、推论、归纳、分析和综合等方法，从数据所获得的有意义的内容称为信息。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6738" y="1414463"/>
            <a:ext cx="8001000" cy="3598862"/>
          </a:xfrm>
          <a:ln/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/>
              <a:t>数据：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zh-CN" dirty="0"/>
              <a:t>（张三，</a:t>
            </a:r>
            <a:r>
              <a:rPr lang="en-US" altLang="zh-CN" dirty="0"/>
              <a:t>9912101</a:t>
            </a:r>
            <a:r>
              <a:rPr lang="zh-CN" altLang="zh-CN" dirty="0"/>
              <a:t>，男，</a:t>
            </a:r>
            <a:r>
              <a:rPr lang="en-US" altLang="zh-CN" dirty="0"/>
              <a:t>1981</a:t>
            </a:r>
            <a:r>
              <a:rPr lang="zh-CN" altLang="zh-CN" dirty="0"/>
              <a:t>，计算机系，应用软件）</a:t>
            </a:r>
            <a:endParaRPr lang="en-US" altLang="zh-CN" dirty="0"/>
          </a:p>
          <a:p>
            <a:r>
              <a:rPr lang="zh-CN" altLang="zh-CN" dirty="0"/>
              <a:t>解释：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zh-CN" dirty="0"/>
              <a:t>张三是</a:t>
            </a:r>
            <a:r>
              <a:rPr lang="en-US" altLang="zh-CN" dirty="0"/>
              <a:t>9912101</a:t>
            </a:r>
            <a:r>
              <a:rPr lang="zh-CN" altLang="zh-CN" dirty="0"/>
              <a:t>班的男生，</a:t>
            </a:r>
            <a:r>
              <a:rPr lang="en-US" altLang="zh-CN" dirty="0"/>
              <a:t>1981</a:t>
            </a:r>
            <a:r>
              <a:rPr lang="zh-CN" altLang="zh-CN" dirty="0"/>
              <a:t>年出生，计算机系应用软件专业</a:t>
            </a:r>
            <a:r>
              <a:rPr lang="zh-CN" altLang="en-US" dirty="0"/>
              <a:t>。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9460" name="日期占位符 3"/>
          <p:cNvSpPr txBox="1">
            <a:spLocks noGrp="1"/>
          </p:cNvSpPr>
          <p:nvPr>
            <p:ph type="dt" sz="half"/>
          </p:nvPr>
        </p:nvSpPr>
        <p:spPr bwMode="gray">
          <a:xfrm>
            <a:off x="3810000" y="6483350"/>
            <a:ext cx="1828800" cy="2444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7A989E-F0F1-4E09-B51B-A116D44DE794}" type="datetime8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2023年10月8日4时46分</a:t>
            </a:fld>
            <a:endParaRPr kumimoji="0" lang="zh-CN" altLang="en-US" sz="10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1" name="灯片编号占位符 4"/>
          <p:cNvSpPr txBox="1">
            <a:spLocks noGrp="1"/>
          </p:cNvSpPr>
          <p:nvPr>
            <p:ph type="sldNum" sz="quarter" idx="10"/>
          </p:nvPr>
        </p:nvSpPr>
        <p:spPr bwMode="gray">
          <a:xfrm>
            <a:off x="6553200" y="6245225"/>
            <a:ext cx="1981200" cy="476250"/>
          </a:xfrm>
          <a:ln/>
        </p:spPr>
        <p:txBody>
          <a:bodyPr vert="horz" wrap="square" lIns="91440" tIns="45720" rIns="91440" bIns="45720" numCol="1" anchor="t" anchorCtr="0" compatLnSpc="1"/>
          <a:lstStyle>
            <a:lvl1pPr marL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1pPr>
            <a:lvl2pPr marL="457200" lvl="1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  <a:cs typeface="+mn-cs"/>
              </a:defRPr>
            </a:lvl2pPr>
            <a:lvl3pPr marL="914400" lvl="2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  <a:cs typeface="+mn-cs"/>
              </a:defRPr>
            </a:lvl3pPr>
            <a:lvl4pPr marL="1371600" lvl="3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  <a:cs typeface="+mn-cs"/>
              </a:defRPr>
            </a:lvl4pPr>
            <a:lvl5pPr marL="1828800" lvl="4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zh-CN" altLang="en-US" sz="1000" dirty="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4</a:t>
            </a:fld>
            <a:endParaRPr lang="zh-CN" altLang="en-US" sz="1000" dirty="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051050" y="5157788"/>
            <a:ext cx="1296988" cy="719138"/>
          </a:xfrm>
          <a:prstGeom prst="rect">
            <a:avLst/>
          </a:prstGeom>
          <a:solidFill>
            <a:srgbClr val="92D050">
              <a:alpha val="69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数据</a:t>
            </a:r>
          </a:p>
        </p:txBody>
      </p:sp>
      <p:sp>
        <p:nvSpPr>
          <p:cNvPr id="7" name="矩形 6"/>
          <p:cNvSpPr/>
          <p:nvPr/>
        </p:nvSpPr>
        <p:spPr>
          <a:xfrm>
            <a:off x="5292725" y="5157788"/>
            <a:ext cx="1295400" cy="719138"/>
          </a:xfrm>
          <a:prstGeom prst="rect">
            <a:avLst/>
          </a:prstGeom>
          <a:solidFill>
            <a:srgbClr val="92D050">
              <a:alpha val="69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信息</a:t>
            </a:r>
          </a:p>
        </p:txBody>
      </p:sp>
      <p:sp>
        <p:nvSpPr>
          <p:cNvPr id="8" name="右箭头 7"/>
          <p:cNvSpPr/>
          <p:nvPr/>
        </p:nvSpPr>
        <p:spPr>
          <a:xfrm>
            <a:off x="3348038" y="5229225"/>
            <a:ext cx="1944688" cy="57626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解释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/>
              <a:t>2.1.2 </a:t>
            </a:r>
            <a:r>
              <a:rPr lang="zh-CN" altLang="en-US" dirty="0"/>
              <a:t>数据模型</a:t>
            </a:r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>
          <a:xfrm>
            <a:off x="323850" y="1268413"/>
            <a:ext cx="8640638" cy="4897437"/>
          </a:xfrm>
          <a:ln/>
        </p:spPr>
        <p:txBody>
          <a:bodyPr vert="horz" wrap="square" lIns="91440" tIns="45720" rIns="91440" bIns="45720" anchor="t" anchorCtr="0"/>
          <a:lstStyle/>
          <a:p>
            <a:pPr marL="469900" indent="-469900" eaLnBrk="1" hangingPunct="1">
              <a:lnSpc>
                <a:spcPct val="105000"/>
              </a:lnSpc>
              <a:spcBef>
                <a:spcPts val="2400"/>
              </a:spcBef>
            </a:pPr>
            <a:r>
              <a:rPr lang="zh-CN" altLang="zh-CN" b="1" dirty="0"/>
              <a:t>现实世界的数据是散乱无章的，散乱的数据不利于人们对其进行有效的管理和处理。</a:t>
            </a:r>
            <a:endParaRPr lang="en-US" altLang="zh-CN" b="1" dirty="0"/>
          </a:p>
          <a:p>
            <a:pPr marL="469900" indent="-469900" eaLnBrk="1" hangingPunct="1">
              <a:lnSpc>
                <a:spcPct val="105000"/>
              </a:lnSpc>
              <a:spcBef>
                <a:spcPts val="2400"/>
              </a:spcBef>
            </a:pPr>
            <a:r>
              <a:rPr lang="zh-CN" altLang="zh-CN" b="1" dirty="0"/>
              <a:t>因此</a:t>
            </a:r>
            <a:r>
              <a:rPr lang="en-US" altLang="zh-CN" b="1" dirty="0"/>
              <a:t>,</a:t>
            </a:r>
            <a:r>
              <a:rPr lang="zh-CN" altLang="zh-CN" b="1" dirty="0"/>
              <a:t>必须把现实世界的数据按照</a:t>
            </a:r>
            <a:r>
              <a:rPr lang="zh-CN" altLang="zh-CN" b="1" dirty="0">
                <a:solidFill>
                  <a:srgbClr val="FF0000"/>
                </a:solidFill>
              </a:rPr>
              <a:t>一定的格式</a:t>
            </a:r>
            <a:r>
              <a:rPr lang="zh-CN" altLang="zh-CN" b="1" dirty="0"/>
              <a:t>组织起来，以方便对其进行操作和使用</a:t>
            </a:r>
            <a:r>
              <a:rPr lang="zh-CN" altLang="en-US" b="1" dirty="0"/>
              <a:t>。</a:t>
            </a:r>
            <a:endParaRPr lang="en-US" altLang="zh-CN" b="1" dirty="0"/>
          </a:p>
          <a:p>
            <a:pPr marL="469900" indent="-469900" eaLnBrk="1" hangingPunct="1">
              <a:lnSpc>
                <a:spcPct val="105000"/>
              </a:lnSpc>
              <a:spcBef>
                <a:spcPts val="2400"/>
              </a:spcBef>
            </a:pPr>
            <a:r>
              <a:rPr lang="zh-CN" altLang="zh-CN" b="1" dirty="0"/>
              <a:t>在用数据库技术管理数据时，数据被按照一定的格式组织起来，比如</a:t>
            </a:r>
            <a:r>
              <a:rPr lang="zh-CN" altLang="zh-CN" b="1" dirty="0">
                <a:solidFill>
                  <a:srgbClr val="FF0000"/>
                </a:solidFill>
              </a:rPr>
              <a:t>二维表</a:t>
            </a:r>
            <a:r>
              <a:rPr lang="zh-CN" altLang="zh-CN" b="1" dirty="0"/>
              <a:t>结构，以使数据能够被更高效地管理和处理</a:t>
            </a:r>
            <a:r>
              <a:rPr lang="zh-CN" altLang="en-US" b="1" dirty="0"/>
              <a:t>。</a:t>
            </a:r>
          </a:p>
          <a:p>
            <a:endParaRPr lang="zh-CN" altLang="en-US" b="0" dirty="0"/>
          </a:p>
        </p:txBody>
      </p:sp>
      <p:sp>
        <p:nvSpPr>
          <p:cNvPr id="22532" name="日期占位符 3"/>
          <p:cNvSpPr txBox="1">
            <a:spLocks noGrp="1"/>
          </p:cNvSpPr>
          <p:nvPr>
            <p:ph type="dt" sz="half"/>
          </p:nvPr>
        </p:nvSpPr>
        <p:spPr bwMode="gray">
          <a:xfrm>
            <a:off x="3810000" y="6483350"/>
            <a:ext cx="1828800" cy="2444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FE660D6-D71B-4282-9787-51DE981059DA}" type="datetime8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2023年10月8日4时46分</a:t>
            </a:fld>
            <a:endParaRPr kumimoji="0" lang="zh-CN" altLang="en-US" sz="10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33" name="灯片编号占位符 4"/>
          <p:cNvSpPr txBox="1">
            <a:spLocks noGrp="1"/>
          </p:cNvSpPr>
          <p:nvPr>
            <p:ph type="sldNum" sz="quarter" idx="10"/>
          </p:nvPr>
        </p:nvSpPr>
        <p:spPr bwMode="gray">
          <a:xfrm>
            <a:off x="6553200" y="6245225"/>
            <a:ext cx="1981200" cy="476250"/>
          </a:xfrm>
          <a:ln/>
        </p:spPr>
        <p:txBody>
          <a:bodyPr vert="horz" wrap="square" lIns="91440" tIns="45720" rIns="91440" bIns="45720" numCol="1" anchor="t" anchorCtr="0" compatLnSpc="1"/>
          <a:lstStyle>
            <a:lvl1pPr marL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1pPr>
            <a:lvl2pPr marL="457200" lvl="1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  <a:cs typeface="+mn-cs"/>
              </a:defRPr>
            </a:lvl2pPr>
            <a:lvl3pPr marL="914400" lvl="2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  <a:cs typeface="+mn-cs"/>
              </a:defRPr>
            </a:lvl3pPr>
            <a:lvl4pPr marL="1371600" lvl="3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  <a:cs typeface="+mn-cs"/>
              </a:defRPr>
            </a:lvl4pPr>
            <a:lvl5pPr marL="1828800" lvl="4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zh-CN" altLang="en-US" sz="1000" dirty="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5</a:t>
            </a:fld>
            <a:endParaRPr lang="zh-CN" altLang="en-US" sz="1000" dirty="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r>
              <a:rPr lang="zh-CN" altLang="en-US" dirty="0"/>
              <a:t>数据模型（续）</a:t>
            </a:r>
          </a:p>
        </p:txBody>
      </p:sp>
      <p:sp>
        <p:nvSpPr>
          <p:cNvPr id="23555" name="内容占位符 2"/>
          <p:cNvSpPr>
            <a:spLocks noGrp="1"/>
          </p:cNvSpPr>
          <p:nvPr>
            <p:ph idx="1"/>
          </p:nvPr>
        </p:nvSpPr>
        <p:spPr>
          <a:xfrm>
            <a:off x="468313" y="1341438"/>
            <a:ext cx="8135937" cy="4751387"/>
          </a:xfrm>
          <a:ln/>
        </p:spPr>
        <p:txBody>
          <a:bodyPr vert="horz" wrap="square" lIns="91440" tIns="45720" rIns="91440" bIns="45720" anchor="t" anchorCtr="0"/>
          <a:lstStyle/>
          <a:p>
            <a:r>
              <a:rPr lang="zh-CN" altLang="zh-CN" dirty="0" smtClean="0"/>
              <a:t>根据</a:t>
            </a:r>
            <a:r>
              <a:rPr lang="zh-CN" altLang="zh-CN" dirty="0"/>
              <a:t>模型应用的不同目的，可以将模型分为两大类</a:t>
            </a:r>
            <a:r>
              <a:rPr lang="zh-CN" altLang="en-US" dirty="0"/>
              <a:t>：</a:t>
            </a:r>
            <a:endParaRPr lang="zh-CN" altLang="zh-CN" dirty="0"/>
          </a:p>
          <a:p>
            <a:pPr>
              <a:spcBef>
                <a:spcPts val="1800"/>
              </a:spcBef>
            </a:pPr>
            <a:r>
              <a:rPr lang="zh-CN" altLang="zh-CN" dirty="0">
                <a:solidFill>
                  <a:srgbClr val="FF0000"/>
                </a:solidFill>
              </a:rPr>
              <a:t>概念层数据模型</a:t>
            </a:r>
            <a:r>
              <a:rPr lang="zh-CN" altLang="en-US" dirty="0"/>
              <a:t>（概念模型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</a:t>
            </a:r>
            <a:r>
              <a:rPr lang="zh-CN" altLang="en-US" dirty="0" smtClean="0"/>
              <a:t>从</a:t>
            </a:r>
            <a:r>
              <a:rPr lang="zh-CN" altLang="en-US" dirty="0"/>
              <a:t>数据的</a:t>
            </a:r>
            <a:r>
              <a:rPr lang="zh-CN" altLang="en-US" dirty="0">
                <a:solidFill>
                  <a:srgbClr val="0000FF"/>
                </a:solidFill>
              </a:rPr>
              <a:t>语义视角</a:t>
            </a:r>
            <a:r>
              <a:rPr lang="zh-CN" altLang="en-US" dirty="0"/>
              <a:t>来抽取模型，是按用户的观点来对数据和信息进行建模。</a:t>
            </a:r>
            <a:endParaRPr lang="en-US" altLang="zh-CN" dirty="0"/>
          </a:p>
          <a:p>
            <a:pPr>
              <a:spcBef>
                <a:spcPts val="1800"/>
              </a:spcBef>
            </a:pPr>
            <a:r>
              <a:rPr lang="zh-CN" altLang="zh-CN" dirty="0">
                <a:solidFill>
                  <a:srgbClr val="FF0000"/>
                </a:solidFill>
              </a:rPr>
              <a:t>组织层数据模型</a:t>
            </a:r>
            <a:r>
              <a:rPr lang="zh-CN" altLang="en-US" dirty="0"/>
              <a:t>（</a:t>
            </a:r>
            <a:r>
              <a:rPr lang="zh-CN" altLang="zh-CN" dirty="0"/>
              <a:t>组织</a:t>
            </a:r>
            <a:r>
              <a:rPr lang="zh-CN" altLang="zh-CN" dirty="0" smtClean="0"/>
              <a:t>模型</a:t>
            </a:r>
            <a:r>
              <a:rPr lang="zh-CN" altLang="en-US" dirty="0" smtClean="0"/>
              <a:t>、逻辑模型）从</a:t>
            </a:r>
            <a:r>
              <a:rPr lang="zh-CN" altLang="en-US" dirty="0"/>
              <a:t>数据的</a:t>
            </a:r>
            <a:r>
              <a:rPr lang="zh-CN" altLang="en-US" dirty="0">
                <a:solidFill>
                  <a:srgbClr val="0000FF"/>
                </a:solidFill>
              </a:rPr>
              <a:t>组织层次</a:t>
            </a:r>
            <a:r>
              <a:rPr lang="zh-CN" altLang="en-US" dirty="0"/>
              <a:t>来描述数据。</a:t>
            </a:r>
          </a:p>
        </p:txBody>
      </p:sp>
      <p:sp>
        <p:nvSpPr>
          <p:cNvPr id="25604" name="日期占位符 3"/>
          <p:cNvSpPr txBox="1">
            <a:spLocks noGrp="1"/>
          </p:cNvSpPr>
          <p:nvPr>
            <p:ph type="dt" sz="half"/>
          </p:nvPr>
        </p:nvSpPr>
        <p:spPr bwMode="gray">
          <a:xfrm>
            <a:off x="3810000" y="6483350"/>
            <a:ext cx="1828800" cy="2444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C49159B-2AFE-417E-85DC-D948AC23BE98}" type="datetime8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2023年10月8日4时46分</a:t>
            </a:fld>
            <a:endParaRPr kumimoji="0" lang="zh-CN" altLang="en-US" sz="10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05" name="灯片编号占位符 4"/>
          <p:cNvSpPr txBox="1">
            <a:spLocks noGrp="1"/>
          </p:cNvSpPr>
          <p:nvPr>
            <p:ph type="sldNum" sz="quarter" idx="10"/>
          </p:nvPr>
        </p:nvSpPr>
        <p:spPr bwMode="gray">
          <a:xfrm>
            <a:off x="6553200" y="6245225"/>
            <a:ext cx="1981200" cy="476250"/>
          </a:xfrm>
          <a:ln/>
        </p:spPr>
        <p:txBody>
          <a:bodyPr vert="horz" wrap="square" lIns="91440" tIns="45720" rIns="91440" bIns="45720" numCol="1" anchor="t" anchorCtr="0" compatLnSpc="1"/>
          <a:lstStyle>
            <a:lvl1pPr marL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1pPr>
            <a:lvl2pPr marL="457200" lvl="1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  <a:cs typeface="+mn-cs"/>
              </a:defRPr>
            </a:lvl2pPr>
            <a:lvl3pPr marL="914400" lvl="2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  <a:cs typeface="+mn-cs"/>
              </a:defRPr>
            </a:lvl3pPr>
            <a:lvl4pPr marL="1371600" lvl="3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  <a:cs typeface="+mn-cs"/>
              </a:defRPr>
            </a:lvl4pPr>
            <a:lvl5pPr marL="1828800" lvl="4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zh-CN" altLang="en-US" sz="1000" dirty="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6</a:t>
            </a:fld>
            <a:endParaRPr lang="zh-CN" altLang="en-US" sz="1000" dirty="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/>
          <p:cNvGrpSpPr/>
          <p:nvPr/>
        </p:nvGrpSpPr>
        <p:grpSpPr>
          <a:xfrm>
            <a:off x="2916238" y="1484313"/>
            <a:ext cx="3505200" cy="4225925"/>
            <a:chOff x="1949" y="1104"/>
            <a:chExt cx="2083" cy="2566"/>
          </a:xfrm>
        </p:grpSpPr>
        <p:sp>
          <p:nvSpPr>
            <p:cNvPr id="15364" name="AutoShape 6"/>
            <p:cNvSpPr/>
            <p:nvPr/>
          </p:nvSpPr>
          <p:spPr>
            <a:xfrm>
              <a:off x="1949" y="1104"/>
              <a:ext cx="1958" cy="410"/>
            </a:xfrm>
            <a:prstGeom prst="star16">
              <a:avLst>
                <a:gd name="adj" fmla="val 37500"/>
              </a:avLst>
            </a:prstGeom>
            <a:solidFill>
              <a:srgbClr val="FFFFFF"/>
            </a:solidFill>
            <a:ln w="2857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algn="ctr" eaLnBrk="0" hangingPunct="0"/>
              <a:r>
                <a:rPr lang="zh-CN" altLang="en-US" sz="2400" b="1" dirty="0">
                  <a:latin typeface="宋体" pitchFamily="2" charset="-122"/>
                  <a:ea typeface="宋体" pitchFamily="2" charset="-122"/>
                </a:rPr>
                <a:t>现实世界</a:t>
              </a:r>
            </a:p>
          </p:txBody>
        </p:sp>
        <p:sp>
          <p:nvSpPr>
            <p:cNvPr id="15365" name="Text Box 7"/>
            <p:cNvSpPr txBox="1"/>
            <p:nvPr/>
          </p:nvSpPr>
          <p:spPr>
            <a:xfrm>
              <a:off x="1949" y="2438"/>
              <a:ext cx="1958" cy="308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algn="ctr" eaLnBrk="0" hangingPunct="0"/>
              <a:r>
                <a:rPr lang="zh-CN" altLang="en-US" sz="2400" b="1" dirty="0">
                  <a:latin typeface="宋体" pitchFamily="2" charset="-122"/>
                  <a:ea typeface="宋体" pitchFamily="2" charset="-122"/>
                </a:rPr>
                <a:t>信息世界：概念模型</a:t>
              </a:r>
            </a:p>
          </p:txBody>
        </p:sp>
        <p:sp>
          <p:nvSpPr>
            <p:cNvPr id="15366" name="Text Box 8"/>
            <p:cNvSpPr txBox="1"/>
            <p:nvPr/>
          </p:nvSpPr>
          <p:spPr>
            <a:xfrm>
              <a:off x="1949" y="3156"/>
              <a:ext cx="2083" cy="514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algn="ctr" eaLnBrk="0" hangingPunct="0"/>
              <a:r>
                <a:rPr lang="zh-CN" altLang="en-US" sz="2400" b="1" dirty="0">
                  <a:latin typeface="宋体" pitchFamily="2" charset="-122"/>
                  <a:ea typeface="宋体" pitchFamily="2" charset="-122"/>
                </a:rPr>
                <a:t>机器世界：具体</a:t>
              </a:r>
              <a:r>
                <a:rPr lang="en-US" altLang="zh-CN" sz="2400" b="1" dirty="0">
                  <a:latin typeface="宋体" pitchFamily="2" charset="-122"/>
                  <a:ea typeface="宋体" pitchFamily="2" charset="-122"/>
                </a:rPr>
                <a:t>DBMS</a:t>
              </a:r>
              <a:r>
                <a:rPr lang="zh-CN" altLang="en-US" sz="2400" b="1" dirty="0">
                  <a:latin typeface="宋体" pitchFamily="2" charset="-122"/>
                  <a:ea typeface="宋体" pitchFamily="2" charset="-122"/>
                </a:rPr>
                <a:t>支持的数据模型</a:t>
              </a:r>
            </a:p>
          </p:txBody>
        </p:sp>
        <p:sp>
          <p:nvSpPr>
            <p:cNvPr id="15367" name="Line 9"/>
            <p:cNvSpPr/>
            <p:nvPr/>
          </p:nvSpPr>
          <p:spPr>
            <a:xfrm>
              <a:off x="2928" y="1536"/>
              <a:ext cx="0" cy="184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5368" name="Line 10"/>
            <p:cNvSpPr/>
            <p:nvPr/>
          </p:nvSpPr>
          <p:spPr>
            <a:xfrm>
              <a:off x="2928" y="2130"/>
              <a:ext cx="0" cy="308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5369" name="Line 11"/>
            <p:cNvSpPr/>
            <p:nvPr/>
          </p:nvSpPr>
          <p:spPr>
            <a:xfrm>
              <a:off x="2928" y="2746"/>
              <a:ext cx="0" cy="41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5370" name="Text Box 12"/>
            <p:cNvSpPr txBox="1"/>
            <p:nvPr/>
          </p:nvSpPr>
          <p:spPr>
            <a:xfrm>
              <a:off x="3091" y="2849"/>
              <a:ext cx="816" cy="307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pPr algn="just" eaLnBrk="0" hangingPunct="0"/>
              <a:r>
                <a:rPr lang="zh-CN" altLang="en-US" sz="2000" b="1" dirty="0">
                  <a:solidFill>
                    <a:srgbClr val="D60093"/>
                  </a:solidFill>
                  <a:latin typeface="宋体" pitchFamily="2" charset="-122"/>
                  <a:ea typeface="宋体" pitchFamily="2" charset="-122"/>
                </a:rPr>
                <a:t>转换</a:t>
              </a:r>
            </a:p>
          </p:txBody>
        </p:sp>
        <p:sp>
          <p:nvSpPr>
            <p:cNvPr id="306189" name="Cloud"/>
            <p:cNvSpPr>
              <a:spLocks noChangeAspect="1" noEditPoints="1" noChangeArrowheads="1"/>
            </p:cNvSpPr>
            <p:nvPr/>
          </p:nvSpPr>
          <p:spPr bwMode="auto">
            <a:xfrm>
              <a:off x="1949" y="1720"/>
              <a:ext cx="1795" cy="410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rgbClr val="FFFF99"/>
            </a:solidFill>
            <a:ln w="9525">
              <a:solidFill>
                <a:srgbClr val="000000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</a:rPr>
                <a:t>人的认识抽象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</a:endParaRPr>
            </a:p>
          </p:txBody>
        </p:sp>
      </p:grpSp>
      <p:sp>
        <p:nvSpPr>
          <p:cNvPr id="306178" name="Rectangle 2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现实世界客观事物的抽象过程 </a:t>
            </a:r>
          </a:p>
        </p:txBody>
      </p:sp>
    </p:spTree>
    <p:extLst>
      <p:ext uri="{BB962C8B-B14F-4D97-AF65-F5344CB8AC3E}">
        <p14:creationId xmlns:p14="http://schemas.microsoft.com/office/powerpoint/2010/main" val="2332243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6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17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r>
              <a:rPr lang="zh-CN" altLang="zh-CN" dirty="0"/>
              <a:t>概念层数据模型</a:t>
            </a:r>
            <a:endParaRPr lang="zh-CN" altLang="en-US" dirty="0"/>
          </a:p>
        </p:txBody>
      </p:sp>
      <p:sp>
        <p:nvSpPr>
          <p:cNvPr id="24579" name="内容占位符 2"/>
          <p:cNvSpPr>
            <a:spLocks noGrp="1"/>
          </p:cNvSpPr>
          <p:nvPr>
            <p:ph idx="1"/>
          </p:nvPr>
        </p:nvSpPr>
        <p:spPr>
          <a:xfrm>
            <a:off x="566738" y="1414463"/>
            <a:ext cx="8001000" cy="4678362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spcBef>
                <a:spcPts val="2400"/>
              </a:spcBef>
            </a:pPr>
            <a:r>
              <a:rPr lang="zh-CN" altLang="zh-CN" dirty="0"/>
              <a:t>从数据的应用语义视角来抽取现实世界中有价值的</a:t>
            </a:r>
            <a:r>
              <a:rPr lang="zh-CN" altLang="zh-CN" dirty="0" smtClean="0"/>
              <a:t>数据</a:t>
            </a:r>
            <a:r>
              <a:rPr lang="zh-CN" altLang="en-US" dirty="0" smtClean="0"/>
              <a:t>，</a:t>
            </a:r>
            <a:r>
              <a:rPr lang="zh-CN" altLang="zh-CN" dirty="0" smtClean="0"/>
              <a:t>并</a:t>
            </a:r>
            <a:r>
              <a:rPr lang="zh-CN" altLang="zh-CN" dirty="0"/>
              <a:t>按用户的观点对数据进行建模。</a:t>
            </a:r>
            <a:endParaRPr lang="en-US" altLang="zh-CN" dirty="0"/>
          </a:p>
          <a:p>
            <a:pPr>
              <a:spcBef>
                <a:spcPts val="2400"/>
              </a:spcBef>
            </a:pPr>
            <a:r>
              <a:rPr lang="zh-CN" altLang="zh-CN" dirty="0"/>
              <a:t>主要用在数据库的</a:t>
            </a:r>
            <a:r>
              <a:rPr lang="zh-CN" altLang="zh-CN" dirty="0" smtClean="0"/>
              <a:t>设计阶段</a:t>
            </a:r>
            <a:r>
              <a:rPr lang="zh-CN" altLang="en-US" dirty="0" smtClean="0"/>
              <a:t>；</a:t>
            </a:r>
            <a:endParaRPr lang="en-US" altLang="zh-CN" dirty="0"/>
          </a:p>
          <a:p>
            <a:pPr>
              <a:spcBef>
                <a:spcPts val="2400"/>
              </a:spcBef>
            </a:pPr>
            <a:r>
              <a:rPr lang="zh-CN" altLang="zh-CN" dirty="0"/>
              <a:t>与具体的数据库管理系统</a:t>
            </a:r>
            <a:r>
              <a:rPr lang="zh-CN" altLang="zh-CN" dirty="0" smtClean="0"/>
              <a:t>无关</a:t>
            </a:r>
            <a:r>
              <a:rPr lang="zh-CN" altLang="en-US" dirty="0" smtClean="0"/>
              <a:t>；</a:t>
            </a:r>
            <a:endParaRPr lang="en-US" altLang="zh-CN" dirty="0"/>
          </a:p>
          <a:p>
            <a:pPr>
              <a:spcBef>
                <a:spcPts val="2400"/>
              </a:spcBef>
            </a:pPr>
            <a:r>
              <a:rPr lang="zh-CN" altLang="zh-CN" dirty="0"/>
              <a:t>与具体的实现方式无关。</a:t>
            </a:r>
            <a:endParaRPr lang="zh-CN" altLang="en-US" dirty="0"/>
          </a:p>
        </p:txBody>
      </p:sp>
      <p:sp>
        <p:nvSpPr>
          <p:cNvPr id="26628" name="日期占位符 3"/>
          <p:cNvSpPr txBox="1">
            <a:spLocks noGrp="1"/>
          </p:cNvSpPr>
          <p:nvPr>
            <p:ph type="dt" sz="half"/>
          </p:nvPr>
        </p:nvSpPr>
        <p:spPr bwMode="gray">
          <a:xfrm>
            <a:off x="3810000" y="6483350"/>
            <a:ext cx="1828800" cy="2444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AAF9983-9B76-4C4D-A52D-BA4F2FAB0F92}" type="datetime8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2023年10月8日4时46分</a:t>
            </a:fld>
            <a:endParaRPr kumimoji="0" lang="zh-CN" altLang="en-US" sz="10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29" name="灯片编号占位符 4"/>
          <p:cNvSpPr txBox="1">
            <a:spLocks noGrp="1"/>
          </p:cNvSpPr>
          <p:nvPr>
            <p:ph type="sldNum" sz="quarter" idx="10"/>
          </p:nvPr>
        </p:nvSpPr>
        <p:spPr bwMode="gray">
          <a:xfrm>
            <a:off x="6553200" y="6245225"/>
            <a:ext cx="1981200" cy="476250"/>
          </a:xfrm>
          <a:ln/>
        </p:spPr>
        <p:txBody>
          <a:bodyPr vert="horz" wrap="square" lIns="91440" tIns="45720" rIns="91440" bIns="45720" numCol="1" anchor="t" anchorCtr="0" compatLnSpc="1"/>
          <a:lstStyle>
            <a:lvl1pPr marL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1pPr>
            <a:lvl2pPr marL="457200" lvl="1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  <a:cs typeface="+mn-cs"/>
              </a:defRPr>
            </a:lvl2pPr>
            <a:lvl3pPr marL="914400" lvl="2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  <a:cs typeface="+mn-cs"/>
              </a:defRPr>
            </a:lvl3pPr>
            <a:lvl4pPr marL="1371600" lvl="3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  <a:cs typeface="+mn-cs"/>
              </a:defRPr>
            </a:lvl4pPr>
            <a:lvl5pPr marL="1828800" lvl="4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zh-CN" altLang="en-US" sz="1000" dirty="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8</a:t>
            </a:fld>
            <a:endParaRPr lang="zh-CN" altLang="en-US" sz="1000" dirty="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r>
              <a:rPr lang="zh-CN" altLang="en-US" dirty="0"/>
              <a:t>组织层数据模型</a:t>
            </a:r>
          </a:p>
        </p:txBody>
      </p:sp>
      <p:sp>
        <p:nvSpPr>
          <p:cNvPr id="25603" name="内容占位符 2"/>
          <p:cNvSpPr>
            <a:spLocks noGrp="1"/>
          </p:cNvSpPr>
          <p:nvPr>
            <p:ph idx="1"/>
          </p:nvPr>
        </p:nvSpPr>
        <p:spPr>
          <a:xfrm>
            <a:off x="566738" y="1414463"/>
            <a:ext cx="8001000" cy="4678362"/>
          </a:xfrm>
          <a:ln/>
        </p:spPr>
        <p:txBody>
          <a:bodyPr vert="horz" wrap="square" lIns="91440" tIns="45720" rIns="91440" bIns="45720" anchor="t" anchorCtr="0"/>
          <a:lstStyle/>
          <a:p>
            <a:r>
              <a:rPr lang="zh-CN" altLang="zh-CN" dirty="0"/>
              <a:t>从数据的组织方式来描述数据。</a:t>
            </a:r>
            <a:r>
              <a:rPr lang="zh-CN" altLang="en-US" dirty="0"/>
              <a:t>主要有：</a:t>
            </a:r>
            <a:endParaRPr lang="en-US" altLang="zh-CN" dirty="0"/>
          </a:p>
          <a:p>
            <a:pPr lvl="1"/>
            <a:r>
              <a:rPr lang="zh-CN" altLang="zh-CN" dirty="0">
                <a:solidFill>
                  <a:srgbClr val="FF0000"/>
                </a:solidFill>
              </a:rPr>
              <a:t>层次模型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zh-CN" dirty="0">
                <a:solidFill>
                  <a:srgbClr val="FF0000"/>
                </a:solidFill>
              </a:rPr>
              <a:t>网状模型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zh-CN" dirty="0">
                <a:solidFill>
                  <a:srgbClr val="FF0000"/>
                </a:solidFill>
              </a:rPr>
              <a:t>关系模型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zh-CN" dirty="0" smtClean="0">
                <a:solidFill>
                  <a:srgbClr val="FF0000"/>
                </a:solidFill>
              </a:rPr>
              <a:t>对象模型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spcBef>
                <a:spcPts val="2400"/>
              </a:spcBef>
            </a:pPr>
            <a:r>
              <a:rPr lang="zh-CN" altLang="zh-CN" dirty="0"/>
              <a:t>是从计算机系统的观点对数据进行建模，</a:t>
            </a:r>
            <a:endParaRPr lang="en-US" altLang="zh-CN" dirty="0"/>
          </a:p>
          <a:p>
            <a:pPr>
              <a:spcBef>
                <a:spcPts val="2400"/>
              </a:spcBef>
            </a:pPr>
            <a:r>
              <a:rPr lang="zh-CN" altLang="zh-CN" dirty="0"/>
              <a:t>与所使用的数据库管理系统有关</a:t>
            </a:r>
            <a:r>
              <a:rPr lang="zh-CN" altLang="en-US" dirty="0"/>
              <a:t>。</a:t>
            </a:r>
          </a:p>
        </p:txBody>
      </p:sp>
      <p:sp>
        <p:nvSpPr>
          <p:cNvPr id="27652" name="日期占位符 3"/>
          <p:cNvSpPr txBox="1">
            <a:spLocks noGrp="1"/>
          </p:cNvSpPr>
          <p:nvPr>
            <p:ph type="dt" sz="half"/>
          </p:nvPr>
        </p:nvSpPr>
        <p:spPr bwMode="gray">
          <a:xfrm>
            <a:off x="3810000" y="6483350"/>
            <a:ext cx="1828800" cy="2444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BB9D92E-F002-434A-8BC7-A569F8D14884}" type="datetime8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2023年10月8日4时46分</a:t>
            </a:fld>
            <a:endParaRPr kumimoji="0" lang="zh-CN" altLang="en-US" sz="10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3" name="灯片编号占位符 4"/>
          <p:cNvSpPr txBox="1">
            <a:spLocks noGrp="1"/>
          </p:cNvSpPr>
          <p:nvPr>
            <p:ph type="sldNum" sz="quarter" idx="10"/>
          </p:nvPr>
        </p:nvSpPr>
        <p:spPr bwMode="gray">
          <a:xfrm>
            <a:off x="6553200" y="6245225"/>
            <a:ext cx="1981200" cy="476250"/>
          </a:xfrm>
          <a:ln/>
        </p:spPr>
        <p:txBody>
          <a:bodyPr vert="horz" wrap="square" lIns="91440" tIns="45720" rIns="91440" bIns="45720" numCol="1" anchor="t" anchorCtr="0" compatLnSpc="1"/>
          <a:lstStyle>
            <a:lvl1pPr marL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1pPr>
            <a:lvl2pPr marL="457200" lvl="1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  <a:cs typeface="+mn-cs"/>
              </a:defRPr>
            </a:lvl2pPr>
            <a:lvl3pPr marL="914400" lvl="2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  <a:cs typeface="+mn-cs"/>
              </a:defRPr>
            </a:lvl3pPr>
            <a:lvl4pPr marL="1371600" lvl="3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  <a:cs typeface="+mn-cs"/>
              </a:defRPr>
            </a:lvl4pPr>
            <a:lvl5pPr marL="1828800" lvl="4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zh-CN" altLang="en-US" sz="1000" dirty="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9</a:t>
            </a:fld>
            <a:endParaRPr lang="zh-CN" altLang="en-US" sz="1000" dirty="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/>
              <a:t>2.2 </a:t>
            </a:r>
            <a:r>
              <a:rPr lang="zh-CN" altLang="zh-CN" dirty="0"/>
              <a:t>概念层数据模型</a:t>
            </a:r>
            <a:endParaRPr lang="zh-CN" altLang="en-US" dirty="0"/>
          </a:p>
        </p:txBody>
      </p:sp>
      <p:sp>
        <p:nvSpPr>
          <p:cNvPr id="26627" name="内容占位符 2"/>
          <p:cNvSpPr>
            <a:spLocks noGrp="1"/>
          </p:cNvSpPr>
          <p:nvPr>
            <p:ph idx="1"/>
          </p:nvPr>
        </p:nvSpPr>
        <p:spPr>
          <a:xfrm>
            <a:off x="1403648" y="1772816"/>
            <a:ext cx="5327650" cy="1857375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lnSpc>
                <a:spcPct val="150000"/>
              </a:lnSpc>
            </a:pPr>
            <a:r>
              <a:rPr lang="en-US" altLang="zh-CN" sz="3600" dirty="0"/>
              <a:t>1. </a:t>
            </a:r>
            <a:r>
              <a:rPr lang="zh-CN" altLang="en-US" sz="3600" dirty="0"/>
              <a:t>基本概念</a:t>
            </a:r>
            <a:endParaRPr lang="en-US" altLang="zh-CN" sz="3600" dirty="0"/>
          </a:p>
          <a:p>
            <a:pPr>
              <a:lnSpc>
                <a:spcPct val="150000"/>
              </a:lnSpc>
            </a:pPr>
            <a:r>
              <a:rPr lang="en-US" altLang="zh-CN" sz="3600" dirty="0"/>
              <a:t>2. </a:t>
            </a:r>
            <a:r>
              <a:rPr lang="zh-CN" altLang="zh-CN" sz="3600" dirty="0"/>
              <a:t>实体</a:t>
            </a:r>
            <a:r>
              <a:rPr lang="en-US" altLang="zh-CN" sz="3600" dirty="0"/>
              <a:t>-</a:t>
            </a:r>
            <a:r>
              <a:rPr lang="zh-CN" altLang="zh-CN" sz="3600" dirty="0"/>
              <a:t>联系模型</a:t>
            </a:r>
            <a:endParaRPr lang="en-US" altLang="zh-CN" sz="3600" dirty="0"/>
          </a:p>
        </p:txBody>
      </p:sp>
      <p:sp>
        <p:nvSpPr>
          <p:cNvPr id="28676" name="日期占位符 3"/>
          <p:cNvSpPr txBox="1">
            <a:spLocks noGrp="1"/>
          </p:cNvSpPr>
          <p:nvPr>
            <p:ph type="dt" sz="half"/>
          </p:nvPr>
        </p:nvSpPr>
        <p:spPr bwMode="gray">
          <a:xfrm>
            <a:off x="3810000" y="6483350"/>
            <a:ext cx="1828800" cy="2444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ECDA1A-87E3-4A81-A1A3-76226BD1356D}" type="datetime8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2023年10月8日4时46分</a:t>
            </a:fld>
            <a:endParaRPr kumimoji="0" lang="zh-CN" altLang="en-US" sz="10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77" name="灯片编号占位符 4"/>
          <p:cNvSpPr txBox="1">
            <a:spLocks noGrp="1"/>
          </p:cNvSpPr>
          <p:nvPr>
            <p:ph type="sldNum" sz="quarter" idx="10"/>
          </p:nvPr>
        </p:nvSpPr>
        <p:spPr bwMode="gray">
          <a:xfrm>
            <a:off x="6553200" y="6245225"/>
            <a:ext cx="1981200" cy="476250"/>
          </a:xfrm>
          <a:ln/>
        </p:spPr>
        <p:txBody>
          <a:bodyPr vert="horz" wrap="square" lIns="91440" tIns="45720" rIns="91440" bIns="45720" numCol="1" anchor="t" anchorCtr="0" compatLnSpc="1"/>
          <a:lstStyle>
            <a:lvl1pPr marL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1pPr>
            <a:lvl2pPr marL="457200" lvl="1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  <a:cs typeface="+mn-cs"/>
              </a:defRPr>
            </a:lvl2pPr>
            <a:lvl3pPr marL="914400" lvl="2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  <a:cs typeface="+mn-cs"/>
              </a:defRPr>
            </a:lvl3pPr>
            <a:lvl4pPr marL="1371600" lvl="3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  <a:cs typeface="+mn-cs"/>
              </a:defRPr>
            </a:lvl4pPr>
            <a:lvl5pPr marL="1828800" lvl="4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zh-CN" altLang="en-US" sz="1000" dirty="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10</a:t>
            </a:fld>
            <a:endParaRPr lang="zh-CN" altLang="en-US" sz="1000" dirty="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/>
              <a:t>1. </a:t>
            </a:r>
            <a:r>
              <a:rPr lang="zh-CN" altLang="en-US" dirty="0"/>
              <a:t>基本概念</a:t>
            </a:r>
          </a:p>
        </p:txBody>
      </p:sp>
      <p:sp>
        <p:nvSpPr>
          <p:cNvPr id="27651" name="内容占位符 2"/>
          <p:cNvSpPr>
            <a:spLocks noGrp="1"/>
          </p:cNvSpPr>
          <p:nvPr>
            <p:ph idx="1"/>
          </p:nvPr>
        </p:nvSpPr>
        <p:spPr>
          <a:xfrm>
            <a:off x="425740" y="1484784"/>
            <a:ext cx="8712968" cy="5112568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>
              <a:spcBef>
                <a:spcPts val="1800"/>
              </a:spcBef>
            </a:pPr>
            <a:r>
              <a:rPr lang="zh-CN" altLang="en-US" sz="2600" dirty="0"/>
              <a:t>概念层数据模型用于对信息世界的建模</a:t>
            </a:r>
            <a:r>
              <a:rPr lang="zh-CN" altLang="en-US" sz="2600" dirty="0" smtClean="0"/>
              <a:t>，是</a:t>
            </a:r>
            <a:r>
              <a:rPr lang="zh-CN" altLang="en-US" sz="2600" dirty="0"/>
              <a:t>现实世界到信息世界的第一层</a:t>
            </a:r>
            <a:r>
              <a:rPr lang="zh-CN" altLang="en-US" sz="2600" dirty="0" smtClean="0"/>
              <a:t>抽象</a:t>
            </a:r>
            <a:endParaRPr lang="en-US" altLang="zh-CN" sz="2600" dirty="0"/>
          </a:p>
          <a:p>
            <a:pPr eaLnBrk="1" hangingPunct="1">
              <a:spcBef>
                <a:spcPts val="1800"/>
              </a:spcBef>
            </a:pPr>
            <a:r>
              <a:rPr lang="zh-CN" altLang="en-US" sz="2600" dirty="0"/>
              <a:t>是数据库设计人员进行数据库设计的工具，也是数据库设计人员和业务领域的用户之间进行交流的工具。</a:t>
            </a:r>
            <a:endParaRPr lang="en-US" altLang="zh-CN" sz="2600" dirty="0"/>
          </a:p>
          <a:p>
            <a:pPr eaLnBrk="1" hangingPunct="1">
              <a:spcBef>
                <a:spcPts val="1800"/>
              </a:spcBef>
            </a:pPr>
            <a:r>
              <a:rPr lang="zh-CN" altLang="en-US" sz="2600" dirty="0"/>
              <a:t>面向用户、面向现实世界的</a:t>
            </a:r>
            <a:r>
              <a:rPr lang="zh-CN" altLang="en-US" sz="2600" dirty="0" smtClean="0"/>
              <a:t>数据模型，与</a:t>
            </a:r>
            <a:r>
              <a:rPr lang="zh-CN" altLang="en-US" sz="2600" dirty="0"/>
              <a:t>具体的</a:t>
            </a:r>
            <a:r>
              <a:rPr lang="en-US" altLang="zh-CN" sz="2600" dirty="0"/>
              <a:t>DBMS</a:t>
            </a:r>
            <a:r>
              <a:rPr lang="zh-CN" altLang="en-US" sz="2600" dirty="0"/>
              <a:t>无关。</a:t>
            </a:r>
            <a:endParaRPr lang="en-US" altLang="zh-CN" sz="2600" dirty="0"/>
          </a:p>
          <a:p>
            <a:pPr eaLnBrk="1" hangingPunct="1">
              <a:spcBef>
                <a:spcPts val="1800"/>
              </a:spcBef>
            </a:pPr>
            <a:r>
              <a:rPr lang="zh-CN" altLang="en-US" sz="2600" dirty="0"/>
              <a:t>常用的概念层数据模型有实体</a:t>
            </a:r>
            <a:r>
              <a:rPr lang="en-US" altLang="zh-CN" sz="2600" dirty="0"/>
              <a:t>-</a:t>
            </a:r>
            <a:r>
              <a:rPr lang="zh-CN" altLang="en-US" sz="2600" dirty="0"/>
              <a:t>联系（</a:t>
            </a:r>
            <a:r>
              <a:rPr lang="en-US" altLang="zh-CN" sz="2600" dirty="0"/>
              <a:t>Entity-Relationship</a:t>
            </a:r>
            <a:r>
              <a:rPr lang="zh-CN" altLang="en-US" sz="2600" dirty="0"/>
              <a:t>，</a:t>
            </a:r>
            <a:r>
              <a:rPr lang="en-US" altLang="zh-CN" sz="2600" dirty="0"/>
              <a:t>E-R</a:t>
            </a:r>
            <a:r>
              <a:rPr lang="zh-CN" altLang="en-US" sz="2600" dirty="0"/>
              <a:t>）模型、语义对象模型。</a:t>
            </a:r>
          </a:p>
        </p:txBody>
      </p:sp>
      <p:sp>
        <p:nvSpPr>
          <p:cNvPr id="29700" name="日期占位符 3"/>
          <p:cNvSpPr txBox="1">
            <a:spLocks noGrp="1"/>
          </p:cNvSpPr>
          <p:nvPr>
            <p:ph type="dt" sz="half"/>
          </p:nvPr>
        </p:nvSpPr>
        <p:spPr bwMode="gray">
          <a:xfrm>
            <a:off x="3810000" y="6483350"/>
            <a:ext cx="1828800" cy="2444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8D9F8B9-71C0-4CAF-A8FB-C05BAE14A539}" type="datetime8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2023年10月8日4时46分</a:t>
            </a:fld>
            <a:endParaRPr kumimoji="0" lang="zh-CN" altLang="en-US" sz="10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01" name="灯片编号占位符 4"/>
          <p:cNvSpPr txBox="1">
            <a:spLocks noGrp="1"/>
          </p:cNvSpPr>
          <p:nvPr>
            <p:ph type="sldNum" sz="quarter" idx="10"/>
          </p:nvPr>
        </p:nvSpPr>
        <p:spPr bwMode="gray">
          <a:xfrm>
            <a:off x="6553200" y="6245225"/>
            <a:ext cx="1981200" cy="476250"/>
          </a:xfrm>
          <a:ln/>
        </p:spPr>
        <p:txBody>
          <a:bodyPr vert="horz" wrap="square" lIns="91440" tIns="45720" rIns="91440" bIns="45720" numCol="1" anchor="t" anchorCtr="0" compatLnSpc="1"/>
          <a:lstStyle>
            <a:lvl1pPr marL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1pPr>
            <a:lvl2pPr marL="457200" lvl="1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  <a:cs typeface="+mn-cs"/>
              </a:defRPr>
            </a:lvl2pPr>
            <a:lvl3pPr marL="914400" lvl="2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  <a:cs typeface="+mn-cs"/>
              </a:defRPr>
            </a:lvl3pPr>
            <a:lvl4pPr marL="1371600" lvl="3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  <a:cs typeface="+mn-cs"/>
              </a:defRPr>
            </a:lvl4pPr>
            <a:lvl5pPr marL="1828800" lvl="4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zh-CN" altLang="en-US" sz="1000" dirty="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11</a:t>
            </a:fld>
            <a:endParaRPr lang="zh-CN" altLang="en-US" sz="1000" dirty="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/>
              <a:t>2. </a:t>
            </a:r>
            <a:r>
              <a:rPr lang="zh-CN" altLang="zh-CN" dirty="0"/>
              <a:t>实体</a:t>
            </a:r>
            <a:r>
              <a:rPr lang="en-US" altLang="zh-CN" dirty="0"/>
              <a:t>-</a:t>
            </a:r>
            <a:r>
              <a:rPr lang="zh-CN" altLang="zh-CN" dirty="0"/>
              <a:t>联系模型</a:t>
            </a:r>
            <a:endParaRPr lang="zh-CN" altLang="en-US" dirty="0"/>
          </a:p>
        </p:txBody>
      </p:sp>
      <p:sp>
        <p:nvSpPr>
          <p:cNvPr id="29699" name="内容占位符 2"/>
          <p:cNvSpPr>
            <a:spLocks noGrp="1"/>
          </p:cNvSpPr>
          <p:nvPr>
            <p:ph idx="1"/>
          </p:nvPr>
        </p:nvSpPr>
        <p:spPr>
          <a:xfrm>
            <a:off x="755576" y="1628800"/>
            <a:ext cx="7848103" cy="4032349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spcBef>
                <a:spcPts val="1800"/>
              </a:spcBef>
            </a:pPr>
            <a:r>
              <a:rPr lang="zh-CN" altLang="en-US" sz="3000" dirty="0"/>
              <a:t>由</a:t>
            </a:r>
            <a:r>
              <a:rPr lang="en-US" altLang="zh-CN" sz="3000" dirty="0"/>
              <a:t>P. P. S. Chen</a:t>
            </a:r>
            <a:r>
              <a:rPr lang="zh-CN" altLang="zh-CN" sz="3000" dirty="0"/>
              <a:t>于</a:t>
            </a:r>
            <a:r>
              <a:rPr lang="en-US" altLang="zh-CN" sz="3000" dirty="0"/>
              <a:t>1976</a:t>
            </a:r>
            <a:r>
              <a:rPr lang="zh-CN" altLang="zh-CN" sz="3000" dirty="0"/>
              <a:t>年提出</a:t>
            </a:r>
            <a:r>
              <a:rPr lang="zh-CN" altLang="en-US" sz="3000" dirty="0"/>
              <a:t>，</a:t>
            </a:r>
            <a:r>
              <a:rPr lang="zh-CN" altLang="zh-CN" sz="3000" dirty="0"/>
              <a:t>即通常所说的</a:t>
            </a:r>
            <a:r>
              <a:rPr lang="en-US" altLang="zh-CN" sz="3000" dirty="0"/>
              <a:t>E-R</a:t>
            </a:r>
            <a:r>
              <a:rPr lang="zh-CN" altLang="zh-CN" sz="3000" dirty="0"/>
              <a:t>方法。</a:t>
            </a:r>
            <a:endParaRPr lang="en-US" altLang="zh-CN" sz="3000" dirty="0"/>
          </a:p>
          <a:p>
            <a:pPr>
              <a:spcBef>
                <a:spcPts val="1800"/>
              </a:spcBef>
            </a:pPr>
            <a:r>
              <a:rPr lang="zh-CN" altLang="zh-CN" sz="3000" dirty="0"/>
              <a:t>这种方法由于简单、实用，因此得到了广泛的应用，也是目前描述信息结构最常用的方法。</a:t>
            </a:r>
            <a:endParaRPr lang="en-US" altLang="zh-CN" sz="3000" dirty="0"/>
          </a:p>
          <a:p>
            <a:pPr>
              <a:spcBef>
                <a:spcPts val="1800"/>
              </a:spcBef>
            </a:pPr>
            <a:r>
              <a:rPr lang="zh-CN" altLang="zh-CN" sz="3000" dirty="0"/>
              <a:t>实体</a:t>
            </a:r>
            <a:r>
              <a:rPr lang="en-US" altLang="zh-CN" sz="3000" dirty="0"/>
              <a:t>-</a:t>
            </a:r>
            <a:r>
              <a:rPr lang="zh-CN" altLang="zh-CN" sz="3000" dirty="0"/>
              <a:t>联系方法使用的工具称为</a:t>
            </a:r>
            <a:r>
              <a:rPr lang="en-US" altLang="zh-CN" sz="3000" dirty="0">
                <a:solidFill>
                  <a:srgbClr val="FF0000"/>
                </a:solidFill>
              </a:rPr>
              <a:t>E-R</a:t>
            </a:r>
            <a:r>
              <a:rPr lang="zh-CN" altLang="zh-CN" sz="3000" dirty="0">
                <a:solidFill>
                  <a:srgbClr val="FF0000"/>
                </a:solidFill>
              </a:rPr>
              <a:t>图</a:t>
            </a:r>
            <a:r>
              <a:rPr lang="zh-CN" altLang="zh-CN" sz="3000" dirty="0">
                <a:sym typeface="+mn-ea"/>
              </a:rPr>
              <a:t>。</a:t>
            </a:r>
            <a:endParaRPr lang="en-US" altLang="zh-CN" sz="3000" dirty="0">
              <a:solidFill>
                <a:srgbClr val="FF0000"/>
              </a:solidFill>
            </a:endParaRPr>
          </a:p>
          <a:p>
            <a:pPr>
              <a:spcBef>
                <a:spcPts val="1800"/>
              </a:spcBef>
            </a:pPr>
            <a:r>
              <a:rPr lang="zh-CN" altLang="zh-CN" sz="3000" dirty="0"/>
              <a:t>也把这种描述结果称为</a:t>
            </a:r>
            <a:r>
              <a:rPr lang="en-US" altLang="zh-CN" sz="3000" dirty="0">
                <a:solidFill>
                  <a:srgbClr val="FF0000"/>
                </a:solidFill>
              </a:rPr>
              <a:t>E-R</a:t>
            </a:r>
            <a:r>
              <a:rPr lang="zh-CN" altLang="zh-CN" sz="3000" dirty="0">
                <a:solidFill>
                  <a:srgbClr val="FF0000"/>
                </a:solidFill>
              </a:rPr>
              <a:t>模型</a:t>
            </a:r>
            <a:r>
              <a:rPr lang="zh-CN" altLang="en-US" sz="3000" dirty="0"/>
              <a:t>。</a:t>
            </a:r>
          </a:p>
        </p:txBody>
      </p:sp>
      <p:sp>
        <p:nvSpPr>
          <p:cNvPr id="31748" name="日期占位符 3"/>
          <p:cNvSpPr txBox="1">
            <a:spLocks noGrp="1"/>
          </p:cNvSpPr>
          <p:nvPr>
            <p:ph type="dt" sz="half"/>
          </p:nvPr>
        </p:nvSpPr>
        <p:spPr bwMode="gray">
          <a:xfrm>
            <a:off x="3810000" y="6483350"/>
            <a:ext cx="1828800" cy="2444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5F4D262-4C7E-4453-A54E-358E92D32545}" type="datetime8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2023年10月8日4时46分</a:t>
            </a:fld>
            <a:endParaRPr kumimoji="0" lang="zh-CN" altLang="en-US" sz="10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749" name="灯片编号占位符 4"/>
          <p:cNvSpPr txBox="1">
            <a:spLocks noGrp="1"/>
          </p:cNvSpPr>
          <p:nvPr>
            <p:ph type="sldNum" sz="quarter" idx="10"/>
          </p:nvPr>
        </p:nvSpPr>
        <p:spPr bwMode="gray">
          <a:xfrm>
            <a:off x="6553200" y="6245225"/>
            <a:ext cx="1981200" cy="476250"/>
          </a:xfrm>
          <a:ln/>
        </p:spPr>
        <p:txBody>
          <a:bodyPr vert="horz" wrap="square" lIns="91440" tIns="45720" rIns="91440" bIns="45720" numCol="1" anchor="t" anchorCtr="0" compatLnSpc="1"/>
          <a:lstStyle>
            <a:lvl1pPr marL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1pPr>
            <a:lvl2pPr marL="457200" lvl="1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  <a:cs typeface="+mn-cs"/>
              </a:defRPr>
            </a:lvl2pPr>
            <a:lvl3pPr marL="914400" lvl="2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  <a:cs typeface="+mn-cs"/>
              </a:defRPr>
            </a:lvl3pPr>
            <a:lvl4pPr marL="1371600" lvl="3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  <a:cs typeface="+mn-cs"/>
              </a:defRPr>
            </a:lvl4pPr>
            <a:lvl5pPr marL="1828800" lvl="4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zh-CN" altLang="en-US" sz="1000" dirty="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12</a:t>
            </a:fld>
            <a:endParaRPr lang="zh-CN" altLang="en-US" sz="1000" dirty="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2"/>
          <p:cNvSpPr>
            <a:spLocks noGrp="1"/>
          </p:cNvSpPr>
          <p:nvPr>
            <p:ph type="title"/>
          </p:nvPr>
        </p:nvSpPr>
        <p:spPr>
          <a:xfrm>
            <a:off x="381000" y="152400"/>
            <a:ext cx="6781800" cy="70485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altLang="zh-CN" dirty="0">
                <a:sym typeface="+mn-ea"/>
              </a:rPr>
              <a:t>实体-联系模型 </a:t>
            </a:r>
          </a:p>
        </p:txBody>
      </p:sp>
      <p:sp>
        <p:nvSpPr>
          <p:cNvPr id="309251" name="Rectangle 3"/>
          <p:cNvSpPr>
            <a:spLocks noGrp="1"/>
          </p:cNvSpPr>
          <p:nvPr>
            <p:ph idx="1"/>
          </p:nvPr>
        </p:nvSpPr>
        <p:spPr>
          <a:xfrm>
            <a:off x="2339752" y="1700808"/>
            <a:ext cx="3308350" cy="3071813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50000"/>
              </a:lnSpc>
            </a:pPr>
            <a:r>
              <a:rPr lang="zh-CN" altLang="en-US" sz="3600" dirty="0">
                <a:solidFill>
                  <a:schemeClr val="tx2"/>
                </a:solidFill>
                <a:cs typeface="等线" panose="02010600030101010101" charset="-122"/>
              </a:rPr>
              <a:t>实体 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3600" dirty="0">
                <a:solidFill>
                  <a:schemeClr val="tx2"/>
                </a:solidFill>
                <a:cs typeface="等线" panose="02010600030101010101" charset="-122"/>
              </a:rPr>
              <a:t>属性 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3600" dirty="0">
                <a:solidFill>
                  <a:schemeClr val="tx2"/>
                </a:solidFill>
                <a:cs typeface="等线" panose="02010600030101010101" charset="-122"/>
              </a:rPr>
              <a:t>联系 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09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9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309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09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09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09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9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09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09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9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09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09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250" grpId="0"/>
      <p:bldP spid="309251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dirty="0">
                <a:ea typeface="黑体" panose="02010609060101010101" pitchFamily="2" charset="-122"/>
              </a:rPr>
              <a:t>实体</a:t>
            </a:r>
          </a:p>
        </p:txBody>
      </p:sp>
      <p:sp>
        <p:nvSpPr>
          <p:cNvPr id="23555" name="Rectangle 3"/>
          <p:cNvSpPr>
            <a:spLocks noGrp="1"/>
          </p:cNvSpPr>
          <p:nvPr>
            <p:ph idx="1"/>
          </p:nvPr>
        </p:nvSpPr>
        <p:spPr>
          <a:xfrm>
            <a:off x="539750" y="1412875"/>
            <a:ext cx="7777163" cy="4554538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sz="3500" dirty="0"/>
              <a:t>具有公共性质的可相互区分的现实世界对象的集合。</a:t>
            </a:r>
          </a:p>
          <a:p>
            <a:pPr eaLnBrk="1" hangingPunct="1"/>
            <a:r>
              <a:rPr lang="zh-CN" altLang="en-US" sz="3500" dirty="0"/>
              <a:t>可以是具体的事物，也可以是抽象的概念或联系</a:t>
            </a:r>
          </a:p>
          <a:p>
            <a:pPr eaLnBrk="1" hangingPunct="1">
              <a:spcBef>
                <a:spcPct val="50000"/>
              </a:spcBef>
              <a:buClr>
                <a:schemeClr val="bg1"/>
              </a:buClr>
            </a:pPr>
            <a:r>
              <a:rPr lang="zh-CN" altLang="en-US" sz="3500" dirty="0"/>
              <a:t>具体的事物：</a:t>
            </a:r>
            <a:r>
              <a:rPr lang="zh-CN" altLang="en-US" sz="3500" dirty="0">
                <a:solidFill>
                  <a:srgbClr val="FF0000"/>
                </a:solidFill>
              </a:rPr>
              <a:t>学生、课程、职工</a:t>
            </a:r>
          </a:p>
          <a:p>
            <a:pPr eaLnBrk="1" hangingPunct="1">
              <a:spcBef>
                <a:spcPct val="50000"/>
              </a:spcBef>
              <a:buClr>
                <a:schemeClr val="bg1"/>
              </a:buClr>
            </a:pPr>
            <a:r>
              <a:rPr lang="zh-CN" altLang="en-US" sz="3500" dirty="0"/>
              <a:t>抽象的联系：</a:t>
            </a:r>
            <a:r>
              <a:rPr lang="zh-CN" altLang="en-US" sz="3500" dirty="0">
                <a:solidFill>
                  <a:srgbClr val="FF0000"/>
                </a:solidFill>
              </a:rPr>
              <a:t>学生选课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dirty="0">
                <a:sym typeface="+mn-ea"/>
              </a:rPr>
              <a:t>实体的表示方式</a:t>
            </a:r>
          </a:p>
        </p:txBody>
      </p:sp>
      <p:sp>
        <p:nvSpPr>
          <p:cNvPr id="24579" name="Rectangle 3"/>
          <p:cNvSpPr>
            <a:spLocks noGrp="1"/>
          </p:cNvSpPr>
          <p:nvPr>
            <p:ph idx="1"/>
          </p:nvPr>
        </p:nvSpPr>
        <p:spPr>
          <a:xfrm>
            <a:off x="457200" y="1549400"/>
            <a:ext cx="7799388" cy="4622800"/>
          </a:xfrm>
          <a:ln/>
        </p:spPr>
        <p:txBody>
          <a:bodyPr vert="horz" wrap="square" lIns="91440" tIns="45720" rIns="91440" bIns="45720" anchor="t" anchorCtr="0"/>
          <a:lstStyle/>
          <a:p>
            <a:pPr algn="just" eaLnBrk="1" hangingPunct="1"/>
            <a:r>
              <a:rPr lang="zh-CN" altLang="en-US" sz="3600" dirty="0">
                <a:cs typeface="等线" panose="02010600030101010101" charset="-122"/>
              </a:rPr>
              <a:t>在</a:t>
            </a:r>
            <a:r>
              <a:rPr lang="en-US" altLang="zh-CN" sz="3600" dirty="0">
                <a:cs typeface="等线" panose="02010600030101010101" charset="-122"/>
              </a:rPr>
              <a:t>E-R</a:t>
            </a:r>
            <a:r>
              <a:rPr lang="zh-CN" altLang="en-US" sz="3600" dirty="0">
                <a:cs typeface="等线" panose="02010600030101010101" charset="-122"/>
              </a:rPr>
              <a:t>图中用矩形框表示实体，把实体名写在框内，比如学生实体可以表示为：</a:t>
            </a:r>
          </a:p>
        </p:txBody>
      </p:sp>
      <p:sp>
        <p:nvSpPr>
          <p:cNvPr id="381956" name="Text Box 4"/>
          <p:cNvSpPr txBox="1"/>
          <p:nvPr/>
        </p:nvSpPr>
        <p:spPr>
          <a:xfrm>
            <a:off x="3563938" y="3933825"/>
            <a:ext cx="1339850" cy="800100"/>
          </a:xfrm>
          <a:prstGeom prst="rect">
            <a:avLst/>
          </a:prstGeom>
          <a:noFill/>
          <a:ln w="38100" cap="sq" cmpd="sng">
            <a:solidFill>
              <a:srgbClr val="FF000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4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学生</a:t>
            </a:r>
            <a:endParaRPr lang="zh-CN" altLang="en-US" sz="24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81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195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dirty="0">
                <a:ea typeface="黑体" panose="02010609060101010101" pitchFamily="2" charset="-122"/>
              </a:rPr>
              <a:t>属性</a:t>
            </a:r>
          </a:p>
        </p:txBody>
      </p:sp>
      <p:sp>
        <p:nvSpPr>
          <p:cNvPr id="382979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pPr>
              <a:spcBef>
                <a:spcPct val="50000"/>
              </a:spcBef>
              <a:buClr>
                <a:schemeClr val="bg1"/>
              </a:buClr>
            </a:pPr>
            <a:r>
              <a:rPr lang="zh-CN" altLang="en-US" sz="4000" dirty="0"/>
              <a:t>实体所具有的特征或性质。</a:t>
            </a:r>
          </a:p>
        </p:txBody>
      </p:sp>
      <p:graphicFrame>
        <p:nvGraphicFramePr>
          <p:cNvPr id="382980" name="Object 4"/>
          <p:cNvGraphicFramePr/>
          <p:nvPr>
            <p:extLst>
              <p:ext uri="{D42A27DB-BD31-4B8C-83A1-F6EECF244321}">
                <p14:modId xmlns:p14="http://schemas.microsoft.com/office/powerpoint/2010/main" val="3428420021"/>
              </p:ext>
            </p:extLst>
          </p:nvPr>
        </p:nvGraphicFramePr>
        <p:xfrm>
          <a:off x="3851920" y="2492896"/>
          <a:ext cx="2408237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r:id="rId3" imgW="3848100" imgH="5478780" progId="MS_ClipArt_Gallery.2">
                  <p:embed/>
                </p:oleObj>
              </mc:Choice>
              <mc:Fallback>
                <p:oleObj r:id="rId3" imgW="3848100" imgH="5478780" progId="MS_ClipArt_Gallery.2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51920" y="2492896"/>
                        <a:ext cx="2408237" cy="342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2981" name="Text Box 5"/>
          <p:cNvSpPr txBox="1"/>
          <p:nvPr/>
        </p:nvSpPr>
        <p:spPr>
          <a:xfrm>
            <a:off x="2339975" y="2420888"/>
            <a:ext cx="1371600" cy="3323987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身高</a:t>
            </a:r>
          </a:p>
          <a:p>
            <a:pPr algn="l">
              <a:spcBef>
                <a:spcPct val="50000"/>
              </a:spcBef>
            </a:pPr>
            <a:r>
              <a:rPr lang="zh-CN" altLang="en-US" sz="3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年龄</a:t>
            </a:r>
          </a:p>
          <a:p>
            <a:pPr algn="l">
              <a:spcBef>
                <a:spcPct val="50000"/>
              </a:spcBef>
            </a:pPr>
            <a:r>
              <a:rPr lang="zh-CN" altLang="en-US" sz="3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性别</a:t>
            </a:r>
          </a:p>
          <a:p>
            <a:pPr algn="l">
              <a:spcBef>
                <a:spcPct val="50000"/>
              </a:spcBef>
            </a:pPr>
            <a:r>
              <a:rPr lang="zh-CN" altLang="en-US" sz="3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体重</a:t>
            </a:r>
          </a:p>
          <a:p>
            <a:pPr algn="l">
              <a:spcBef>
                <a:spcPct val="50000"/>
              </a:spcBef>
            </a:pPr>
            <a:r>
              <a:rPr lang="en-US" altLang="zh-CN" sz="3000" b="1" dirty="0" smtClean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……</a:t>
            </a:r>
            <a:endParaRPr lang="en-US" altLang="zh-CN" sz="3000" b="1" dirty="0"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82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82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382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82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82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298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dirty="0">
                <a:sym typeface="+mn-ea"/>
              </a:rPr>
              <a:t>属性的表示方式</a:t>
            </a:r>
          </a:p>
        </p:txBody>
      </p:sp>
      <p:sp>
        <p:nvSpPr>
          <p:cNvPr id="25603" name="Rectangle 3"/>
          <p:cNvSpPr>
            <a:spLocks noGrp="1"/>
          </p:cNvSpPr>
          <p:nvPr>
            <p:ph idx="1"/>
          </p:nvPr>
        </p:nvSpPr>
        <p:spPr>
          <a:xfrm>
            <a:off x="501333" y="1411923"/>
            <a:ext cx="8032750" cy="1444625"/>
          </a:xfrm>
          <a:ln/>
        </p:spPr>
        <p:txBody>
          <a:bodyPr vert="horz" wrap="square" lIns="91440" tIns="45720" rIns="91440" bIns="45720" anchor="t" anchorCtr="0"/>
          <a:lstStyle/>
          <a:p>
            <a:pPr algn="just">
              <a:buNone/>
            </a:pPr>
            <a:r>
              <a:rPr lang="zh-CN" altLang="en-US" sz="3600" dirty="0">
                <a:cs typeface="等线" panose="02010600030101010101" charset="-122"/>
              </a:rPr>
              <a:t>  用圆角矩形或椭圆框表示，框内写上属性名，并用连线连到相应实体。</a:t>
            </a:r>
          </a:p>
        </p:txBody>
      </p:sp>
      <p:grpSp>
        <p:nvGrpSpPr>
          <p:cNvPr id="2" name="Group 4"/>
          <p:cNvGrpSpPr/>
          <p:nvPr/>
        </p:nvGrpSpPr>
        <p:grpSpPr>
          <a:xfrm>
            <a:off x="1908175" y="3284538"/>
            <a:ext cx="5256213" cy="2089150"/>
            <a:chOff x="3072" y="1200"/>
            <a:chExt cx="2544" cy="1008"/>
          </a:xfrm>
        </p:grpSpPr>
        <p:sp>
          <p:nvSpPr>
            <p:cNvPr id="25607" name="Rectangle 5"/>
            <p:cNvSpPr/>
            <p:nvPr/>
          </p:nvSpPr>
          <p:spPr>
            <a:xfrm>
              <a:off x="3744" y="1824"/>
              <a:ext cx="1152" cy="384"/>
            </a:xfrm>
            <a:prstGeom prst="rect">
              <a:avLst/>
            </a:prstGeom>
            <a:noFill/>
            <a:ln w="12700" cap="sq" cmpd="sng">
              <a:solidFill>
                <a:srgbClr val="009900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pPr algn="ctr"/>
              <a:r>
                <a:rPr lang="zh-CN" altLang="en-US" sz="3200" b="1" dirty="0">
                  <a:solidFill>
                    <a:srgbClr val="FF0000"/>
                  </a:solidFill>
                  <a:latin typeface="宋体" pitchFamily="2" charset="-122"/>
                  <a:ea typeface="宋体" pitchFamily="2" charset="-122"/>
                </a:rPr>
                <a:t>学生</a:t>
              </a:r>
              <a:endParaRPr lang="zh-CN" altLang="en-US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25608" name="Oval 6"/>
            <p:cNvSpPr/>
            <p:nvPr/>
          </p:nvSpPr>
          <p:spPr>
            <a:xfrm>
              <a:off x="3072" y="1200"/>
              <a:ext cx="768" cy="336"/>
            </a:xfrm>
            <a:prstGeom prst="ellipse">
              <a:avLst/>
            </a:prstGeom>
            <a:noFill/>
            <a:ln w="12700" cap="sq" cmpd="sng">
              <a:solidFill>
                <a:srgbClr val="009900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pPr algn="ctr"/>
              <a:r>
                <a:rPr lang="zh-CN" altLang="en-US" sz="2400" b="1" dirty="0">
                  <a:solidFill>
                    <a:srgbClr val="FF0000"/>
                  </a:solidFill>
                  <a:latin typeface="宋体" pitchFamily="2" charset="-122"/>
                  <a:ea typeface="宋体" pitchFamily="2" charset="-122"/>
                </a:rPr>
                <a:t>学号</a:t>
              </a:r>
            </a:p>
          </p:txBody>
        </p:sp>
        <p:sp>
          <p:nvSpPr>
            <p:cNvPr id="25609" name="Oval 7"/>
            <p:cNvSpPr/>
            <p:nvPr/>
          </p:nvSpPr>
          <p:spPr>
            <a:xfrm>
              <a:off x="3984" y="1200"/>
              <a:ext cx="768" cy="336"/>
            </a:xfrm>
            <a:prstGeom prst="ellipse">
              <a:avLst/>
            </a:prstGeom>
            <a:noFill/>
            <a:ln w="12700" cap="sq" cmpd="sng">
              <a:solidFill>
                <a:srgbClr val="009900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pPr algn="ctr"/>
              <a:r>
                <a:rPr lang="zh-CN" altLang="en-US" sz="2400" b="1" dirty="0">
                  <a:solidFill>
                    <a:srgbClr val="FF0000"/>
                  </a:solidFill>
                  <a:latin typeface="宋体" pitchFamily="2" charset="-122"/>
                  <a:ea typeface="宋体" pitchFamily="2" charset="-122"/>
                </a:rPr>
                <a:t>姓名</a:t>
              </a:r>
            </a:p>
          </p:txBody>
        </p:sp>
        <p:sp>
          <p:nvSpPr>
            <p:cNvPr id="25610" name="Oval 8"/>
            <p:cNvSpPr/>
            <p:nvPr/>
          </p:nvSpPr>
          <p:spPr>
            <a:xfrm>
              <a:off x="4848" y="1200"/>
              <a:ext cx="768" cy="336"/>
            </a:xfrm>
            <a:prstGeom prst="ellipse">
              <a:avLst/>
            </a:prstGeom>
            <a:noFill/>
            <a:ln w="12700" cap="sq" cmpd="sng">
              <a:solidFill>
                <a:srgbClr val="009900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 anchorCtr="0"/>
            <a:lstStyle/>
            <a:p>
              <a:pPr algn="ctr"/>
              <a:r>
                <a:rPr lang="zh-CN" altLang="en-US" sz="2400" b="1" dirty="0">
                  <a:solidFill>
                    <a:srgbClr val="FF0000"/>
                  </a:solidFill>
                  <a:latin typeface="宋体" pitchFamily="2" charset="-122"/>
                  <a:ea typeface="宋体" pitchFamily="2" charset="-122"/>
                </a:rPr>
                <a:t>性别</a:t>
              </a:r>
            </a:p>
          </p:txBody>
        </p:sp>
        <p:sp>
          <p:nvSpPr>
            <p:cNvPr id="25611" name="Line 9"/>
            <p:cNvSpPr/>
            <p:nvPr/>
          </p:nvSpPr>
          <p:spPr>
            <a:xfrm flipH="1">
              <a:off x="4656" y="1536"/>
              <a:ext cx="576" cy="288"/>
            </a:xfrm>
            <a:prstGeom prst="line">
              <a:avLst/>
            </a:prstGeom>
            <a:ln w="12700" cap="sq" cmpd="sng">
              <a:solidFill>
                <a:srgbClr val="0099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5612" name="Line 10"/>
            <p:cNvSpPr/>
            <p:nvPr/>
          </p:nvSpPr>
          <p:spPr>
            <a:xfrm>
              <a:off x="4368" y="1536"/>
              <a:ext cx="0" cy="288"/>
            </a:xfrm>
            <a:prstGeom prst="line">
              <a:avLst/>
            </a:prstGeom>
            <a:ln w="12700" cap="sq" cmpd="sng">
              <a:solidFill>
                <a:srgbClr val="0099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5613" name="Line 11"/>
            <p:cNvSpPr/>
            <p:nvPr/>
          </p:nvSpPr>
          <p:spPr>
            <a:xfrm>
              <a:off x="3456" y="1536"/>
              <a:ext cx="672" cy="288"/>
            </a:xfrm>
            <a:prstGeom prst="line">
              <a:avLst/>
            </a:prstGeom>
            <a:ln w="12700" cap="sq" cmpd="sng">
              <a:solidFill>
                <a:srgbClr val="0099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37893" name="日期占位符 11"/>
          <p:cNvSpPr txBox="1">
            <a:spLocks noGrp="1"/>
          </p:cNvSpPr>
          <p:nvPr>
            <p:ph type="dt" sz="half"/>
          </p:nvPr>
        </p:nvSpPr>
        <p:spPr bwMode="gray">
          <a:xfrm>
            <a:off x="3810000" y="6483350"/>
            <a:ext cx="1828800" cy="2444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BDB69AA-E64C-48DF-A522-ADAEB4F81CA0}" type="datetime8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2023年10月8日4时46分</a:t>
            </a:fld>
            <a:endParaRPr kumimoji="0" lang="zh-CN" altLang="en-US" sz="10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894" name="灯片编号占位符 12"/>
          <p:cNvSpPr txBox="1">
            <a:spLocks noGrp="1"/>
          </p:cNvSpPr>
          <p:nvPr>
            <p:ph type="sldNum" sz="quarter" idx="10"/>
          </p:nvPr>
        </p:nvSpPr>
        <p:spPr bwMode="gray">
          <a:xfrm>
            <a:off x="6553200" y="6245225"/>
            <a:ext cx="1981200" cy="476250"/>
          </a:xfrm>
          <a:ln/>
        </p:spPr>
        <p:txBody>
          <a:bodyPr vert="horz" wrap="square" lIns="91440" tIns="45720" rIns="91440" bIns="45720" numCol="1" anchor="t" anchorCtr="0" compatLnSpc="1"/>
          <a:lstStyle>
            <a:lvl1pPr marL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</a:defRPr>
            </a:lvl1pPr>
            <a:lvl2pPr marL="457200" lvl="1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  <a:cs typeface="+mn-cs"/>
              </a:defRPr>
            </a:lvl2pPr>
            <a:lvl3pPr marL="914400" lvl="2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  <a:cs typeface="+mn-cs"/>
              </a:defRPr>
            </a:lvl3pPr>
            <a:lvl4pPr marL="1371600" lvl="3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  <a:cs typeface="+mn-cs"/>
              </a:defRPr>
            </a:lvl4pPr>
            <a:lvl5pPr marL="1828800" lvl="4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Gulim" panose="020B0600000101010101" pitchFamily="34" charset="-127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zh-CN" altLang="en-US" sz="1000" dirty="0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17</a:t>
            </a:fld>
            <a:endParaRPr lang="zh-CN" altLang="en-US" sz="1000" dirty="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2"/>
          <p:cNvSpPr>
            <a:spLocks noGrp="1"/>
          </p:cNvSpPr>
          <p:nvPr>
            <p:ph type="title"/>
          </p:nvPr>
        </p:nvSpPr>
        <p:spPr>
          <a:xfrm>
            <a:off x="381000" y="152400"/>
            <a:ext cx="6781800" cy="528955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dirty="0">
                <a:ea typeface="黑体" panose="02010609060101010101" pitchFamily="2" charset="-122"/>
              </a:rPr>
              <a:t>联系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13347" name="Rectangle 3"/>
          <p:cNvSpPr>
            <a:spLocks noGrp="1"/>
          </p:cNvSpPr>
          <p:nvPr>
            <p:ph idx="1"/>
          </p:nvPr>
        </p:nvSpPr>
        <p:spPr>
          <a:xfrm>
            <a:off x="251520" y="1268760"/>
            <a:ext cx="8757731" cy="4592955"/>
          </a:xfrm>
          <a:ln/>
        </p:spPr>
        <p:txBody>
          <a:bodyPr vert="horz" wrap="square" lIns="91440" tIns="45720" rIns="91440" bIns="45720" anchor="t" anchorCtr="0"/>
          <a:lstStyle/>
          <a:p>
            <a:pPr algn="just" eaLnBrk="1" hangingPunct="1"/>
            <a:r>
              <a:rPr lang="zh-CN" altLang="en-US" sz="3400" dirty="0">
                <a:cs typeface="等线" panose="02010600030101010101" charset="-122"/>
              </a:rPr>
              <a:t>联系是数据之间的关联集合，是客观存在的应用语义链 。</a:t>
            </a:r>
          </a:p>
          <a:p>
            <a:pPr algn="just" eaLnBrk="1" hangingPunct="1">
              <a:spcBef>
                <a:spcPts val="2400"/>
              </a:spcBef>
            </a:pPr>
            <a:r>
              <a:rPr lang="zh-CN" altLang="en-US" sz="3400" dirty="0">
                <a:cs typeface="等线" panose="02010600030101010101" charset="-122"/>
              </a:rPr>
              <a:t>实体内部的联系：一个实体内属性之间的联系</a:t>
            </a:r>
            <a:r>
              <a:rPr lang="zh-CN" altLang="en-US" sz="3400" dirty="0">
                <a:solidFill>
                  <a:schemeClr val="accent2"/>
                </a:solidFill>
                <a:cs typeface="等线" panose="02010600030101010101" charset="-122"/>
              </a:rPr>
              <a:t>。</a:t>
            </a:r>
          </a:p>
          <a:p>
            <a:pPr lvl="1" algn="just" eaLnBrk="1" hangingPunct="1"/>
            <a:r>
              <a:rPr lang="zh-CN" altLang="en-US" sz="3100" dirty="0">
                <a:solidFill>
                  <a:srgbClr val="FF0000"/>
                </a:solidFill>
                <a:cs typeface="等线" panose="02010600030101010101" charset="-122"/>
              </a:rPr>
              <a:t>职工实体内部的职工号</a:t>
            </a:r>
            <a:r>
              <a:rPr lang="zh-CN" altLang="en-US" sz="3100" dirty="0" smtClean="0">
                <a:solidFill>
                  <a:srgbClr val="FF0000"/>
                </a:solidFill>
                <a:cs typeface="等线" panose="02010600030101010101" charset="-122"/>
              </a:rPr>
              <a:t>和部门</a:t>
            </a:r>
            <a:r>
              <a:rPr lang="zh-CN" altLang="en-US" sz="3100" dirty="0">
                <a:solidFill>
                  <a:srgbClr val="FF0000"/>
                </a:solidFill>
                <a:cs typeface="等线" panose="02010600030101010101" charset="-122"/>
              </a:rPr>
              <a:t>经理号</a:t>
            </a:r>
          </a:p>
          <a:p>
            <a:pPr algn="just" eaLnBrk="1" hangingPunct="1">
              <a:spcBef>
                <a:spcPts val="2400"/>
              </a:spcBef>
            </a:pPr>
            <a:r>
              <a:rPr lang="zh-CN" altLang="en-US" sz="3400" dirty="0">
                <a:cs typeface="等线" panose="02010600030101010101" charset="-122"/>
              </a:rPr>
              <a:t>实体之间的联系：不同实体之间的联系。</a:t>
            </a:r>
          </a:p>
          <a:p>
            <a:pPr lvl="1" algn="just" eaLnBrk="1" hangingPunct="1"/>
            <a:r>
              <a:rPr lang="zh-CN" altLang="en-US" sz="3100" dirty="0">
                <a:solidFill>
                  <a:srgbClr val="FF0000"/>
                </a:solidFill>
                <a:cs typeface="等线" panose="02010600030101010101" charset="-122"/>
              </a:rPr>
              <a:t>课程实体和学生实体之间的选课联系。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13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3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313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13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13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13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13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13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13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3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13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13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3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13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13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13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13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13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346" grpId="0"/>
      <p:bldP spid="313347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/>
          <p:nvPr/>
        </p:nvSpPr>
        <p:spPr>
          <a:xfrm>
            <a:off x="899160" y="116205"/>
            <a:ext cx="3740150" cy="74866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3600" kern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  <a:cs typeface="+mj-cs"/>
                <a:sym typeface="+mn-ea"/>
              </a:rPr>
              <a:t>联系的表示方式</a:t>
            </a:r>
          </a:p>
        </p:txBody>
      </p:sp>
      <p:sp>
        <p:nvSpPr>
          <p:cNvPr id="314371" name="Text Box 3"/>
          <p:cNvSpPr txBox="1"/>
          <p:nvPr/>
        </p:nvSpPr>
        <p:spPr>
          <a:xfrm>
            <a:off x="609600" y="2183894"/>
            <a:ext cx="4029710" cy="2862322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en-US" sz="3600" b="1" dirty="0">
                <a:solidFill>
                  <a:schemeClr val="tx2"/>
                </a:solidFill>
                <a:latin typeface="宋体" pitchFamily="2" charset="-122"/>
                <a:ea typeface="宋体" pitchFamily="2" charset="-122"/>
                <a:cs typeface="等线" panose="02010600030101010101" charset="-122"/>
              </a:rPr>
              <a:t>     实体之间的联系用菱形框表示，框内写上联系名，并用连线与有关的实体相连。</a:t>
            </a:r>
          </a:p>
        </p:txBody>
      </p:sp>
      <p:sp>
        <p:nvSpPr>
          <p:cNvPr id="314372" name="AutoShape 4"/>
          <p:cNvSpPr/>
          <p:nvPr/>
        </p:nvSpPr>
        <p:spPr>
          <a:xfrm>
            <a:off x="5217160" y="3043555"/>
            <a:ext cx="2319020" cy="1143000"/>
          </a:xfrm>
          <a:prstGeom prst="flowChartDecision">
            <a:avLst/>
          </a:prstGeom>
          <a:noFill/>
          <a:ln w="38100" cap="sq" cmpd="sng">
            <a:solidFill>
              <a:srgbClr val="FF000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pPr algn="ctr"/>
            <a:r>
              <a:rPr lang="en-US" altLang="zh-CN" sz="3200" b="1" dirty="0">
                <a:latin typeface="宋体" pitchFamily="2" charset="-122"/>
                <a:ea typeface="宋体" pitchFamily="2" charset="-122"/>
              </a:rPr>
              <a:t> 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</a:rPr>
              <a:t>联系名</a:t>
            </a:r>
          </a:p>
        </p:txBody>
      </p:sp>
      <p:sp>
        <p:nvSpPr>
          <p:cNvPr id="314373" name="Text Box 5"/>
          <p:cNvSpPr txBox="1"/>
          <p:nvPr/>
        </p:nvSpPr>
        <p:spPr>
          <a:xfrm>
            <a:off x="5782310" y="1700213"/>
            <a:ext cx="1209675" cy="583565"/>
          </a:xfrm>
          <a:prstGeom prst="rect">
            <a:avLst/>
          </a:prstGeom>
          <a:noFill/>
          <a:ln w="38100" cap="sq" cmpd="sng">
            <a:solidFill>
              <a:srgbClr val="FF000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3200" b="1" dirty="0">
                <a:latin typeface="宋体" pitchFamily="2" charset="-122"/>
                <a:ea typeface="宋体" pitchFamily="2" charset="-122"/>
                <a:cs typeface="等线" panose="02010600030101010101" charset="-122"/>
              </a:rPr>
              <a:t>实体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等线" panose="02010600030101010101" charset="-122"/>
              </a:rPr>
              <a:t>1</a:t>
            </a:r>
          </a:p>
        </p:txBody>
      </p:sp>
      <p:sp>
        <p:nvSpPr>
          <p:cNvPr id="314374" name="Text Box 6"/>
          <p:cNvSpPr txBox="1"/>
          <p:nvPr/>
        </p:nvSpPr>
        <p:spPr>
          <a:xfrm>
            <a:off x="5786120" y="4948238"/>
            <a:ext cx="1209675" cy="583565"/>
          </a:xfrm>
          <a:prstGeom prst="rect">
            <a:avLst/>
          </a:prstGeom>
          <a:noFill/>
          <a:ln w="38100" cap="sq" cmpd="sng">
            <a:solidFill>
              <a:srgbClr val="FF000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3200" b="1" dirty="0">
                <a:latin typeface="宋体" pitchFamily="2" charset="-122"/>
                <a:ea typeface="宋体" pitchFamily="2" charset="-122"/>
                <a:cs typeface="等线" panose="02010600030101010101" charset="-122"/>
              </a:rPr>
              <a:t>实体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等线" panose="02010600030101010101" charset="-122"/>
              </a:rPr>
              <a:t>2</a:t>
            </a:r>
          </a:p>
        </p:txBody>
      </p:sp>
      <p:sp>
        <p:nvSpPr>
          <p:cNvPr id="314375" name="Line 7"/>
          <p:cNvSpPr/>
          <p:nvPr/>
        </p:nvSpPr>
        <p:spPr>
          <a:xfrm flipV="1">
            <a:off x="6375400" y="2357438"/>
            <a:ext cx="0" cy="685800"/>
          </a:xfrm>
          <a:prstGeom prst="line">
            <a:avLst/>
          </a:prstGeom>
          <a:ln w="38100" cap="sq" cmpd="sng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4376" name="Line 8"/>
          <p:cNvSpPr/>
          <p:nvPr/>
        </p:nvSpPr>
        <p:spPr>
          <a:xfrm>
            <a:off x="6375400" y="4186238"/>
            <a:ext cx="0" cy="762000"/>
          </a:xfrm>
          <a:prstGeom prst="line">
            <a:avLst/>
          </a:prstGeom>
          <a:ln w="38100" cap="sq" cmpd="sng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1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4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4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314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4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4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0" dur="1" fill="hold"/>
                                        <p:tgtEl>
                                          <p:spTgt spid="314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00"/>
                            </p:stCondLst>
                            <p:childTnLst>
                              <p:par>
                                <p:cTn id="22" presetID="17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143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143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143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143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0"/>
                            </p:stCondLst>
                            <p:childTnLst>
                              <p:par>
                                <p:cTn id="29" presetID="17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143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143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143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143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371" grpId="0"/>
      <p:bldP spid="314372" grpId="0" bldLvl="0" animBg="1"/>
      <p:bldP spid="314373" grpId="0" bldLvl="0" animBg="1"/>
      <p:bldP spid="314374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/>
          <p:nvPr/>
        </p:nvSpPr>
        <p:spPr>
          <a:xfrm>
            <a:off x="2555875" y="164783"/>
            <a:ext cx="3406775" cy="64516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3600" kern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  <a:cs typeface="+mj-cs"/>
                <a:sym typeface="+mn-ea"/>
              </a:rPr>
              <a:t>联系的种类</a:t>
            </a:r>
          </a:p>
        </p:txBody>
      </p:sp>
      <p:sp>
        <p:nvSpPr>
          <p:cNvPr id="315395" name="Text Box 3"/>
          <p:cNvSpPr txBox="1">
            <a:spLocks noChangeArrowheads="1"/>
          </p:cNvSpPr>
          <p:nvPr/>
        </p:nvSpPr>
        <p:spPr bwMode="auto">
          <a:xfrm>
            <a:off x="2627313" y="1844675"/>
            <a:ext cx="3765550" cy="276325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R="0" algn="l" defTabSz="914400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  <a:defRPr/>
            </a:pPr>
            <a:r>
              <a:rPr kumimoji="1" lang="zh-CN" altLang="en-US" sz="3600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  <a:ea typeface="宋体" pitchFamily="2" charset="-122"/>
                <a:cs typeface="等线" panose="02010600030101010101" charset="-122"/>
              </a:rPr>
              <a:t>一对一联系</a:t>
            </a:r>
            <a:r>
              <a:rPr kumimoji="1" lang="en-US" altLang="zh-CN" sz="3600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  <a:ea typeface="宋体" pitchFamily="2" charset="-122"/>
                <a:cs typeface="等线" panose="02010600030101010101" charset="-122"/>
              </a:rPr>
              <a:t>(1:1)</a:t>
            </a:r>
          </a:p>
          <a:p>
            <a:pPr marR="0" algn="l" defTabSz="914400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  <a:defRPr/>
            </a:pPr>
            <a:r>
              <a:rPr kumimoji="1" lang="zh-CN" altLang="en-US" sz="3600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  <a:ea typeface="宋体" pitchFamily="2" charset="-122"/>
                <a:cs typeface="等线" panose="02010600030101010101" charset="-122"/>
              </a:rPr>
              <a:t>一对多联系</a:t>
            </a:r>
            <a:r>
              <a:rPr kumimoji="1" lang="en-US" altLang="zh-CN" sz="3600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  <a:ea typeface="宋体" pitchFamily="2" charset="-122"/>
                <a:cs typeface="等线" panose="02010600030101010101" charset="-122"/>
              </a:rPr>
              <a:t>(1:n)</a:t>
            </a:r>
          </a:p>
          <a:p>
            <a:pPr marR="0" algn="l" defTabSz="914400">
              <a:lnSpc>
                <a:spcPct val="150000"/>
              </a:lnSpc>
              <a:spcBef>
                <a:spcPts val="1200"/>
              </a:spcBef>
              <a:buClrTx/>
              <a:buSzTx/>
              <a:buFontTx/>
              <a:buNone/>
              <a:defRPr/>
            </a:pPr>
            <a:r>
              <a:rPr kumimoji="1" lang="zh-CN" altLang="en-US" sz="3600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  <a:ea typeface="宋体" pitchFamily="2" charset="-122"/>
                <a:cs typeface="等线" panose="02010600030101010101" charset="-122"/>
              </a:rPr>
              <a:t>多对多联系</a:t>
            </a:r>
            <a:r>
              <a:rPr kumimoji="1" lang="en-US" altLang="zh-CN" sz="3600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  <a:ea typeface="宋体" pitchFamily="2" charset="-122"/>
                <a:cs typeface="等线" panose="02010600030101010101" charset="-122"/>
              </a:rPr>
              <a:t>(</a:t>
            </a:r>
            <a:r>
              <a:rPr kumimoji="1" lang="en-US" altLang="zh-CN" sz="3600" kern="1200" cap="none" spc="0" normalizeH="0" baseline="0" noProof="0" dirty="0" err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  <a:ea typeface="宋体" pitchFamily="2" charset="-122"/>
                <a:cs typeface="等线" panose="02010600030101010101" charset="-122"/>
              </a:rPr>
              <a:t>m:n</a:t>
            </a:r>
            <a:r>
              <a:rPr kumimoji="1" lang="en-US" altLang="zh-CN" sz="3600" kern="1200" cap="none" spc="0" normalizeH="0" baseline="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  <a:ea typeface="宋体" pitchFamily="2" charset="-122"/>
                <a:cs typeface="等线" panose="02010600030101010101" charset="-122"/>
              </a:rPr>
              <a:t>)</a:t>
            </a:r>
          </a:p>
        </p:txBody>
      </p:sp>
    </p:spTree>
  </p:cSld>
  <p:clrMapOvr>
    <a:masterClrMapping/>
  </p:clrMapOvr>
  <p:transition>
    <p:push dir="r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Text Box 4"/>
          <p:cNvSpPr/>
          <p:nvPr/>
        </p:nvSpPr>
        <p:spPr>
          <a:xfrm>
            <a:off x="2555875" y="135414"/>
            <a:ext cx="3765550" cy="64516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3600" kern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  <a:cs typeface="+mj-cs"/>
                <a:sym typeface="+mn-ea"/>
              </a:rPr>
              <a:t>一对一联系(1:1)</a:t>
            </a:r>
          </a:p>
        </p:txBody>
      </p:sp>
      <p:pic>
        <p:nvPicPr>
          <p:cNvPr id="29700" name="对象 9"/>
          <p:cNvPicPr/>
          <p:nvPr/>
        </p:nvPicPr>
        <p:blipFill>
          <a:blip r:embed="rId2"/>
          <a:srcRect t="-423" b="-423"/>
          <a:stretch>
            <a:fillRect/>
          </a:stretch>
        </p:blipFill>
        <p:spPr>
          <a:xfrm>
            <a:off x="2555875" y="1484784"/>
            <a:ext cx="3000375" cy="1500188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9" name="Group 32"/>
          <p:cNvGrpSpPr>
            <a:grpSpLocks noChangeAspect="1"/>
          </p:cNvGrpSpPr>
          <p:nvPr/>
        </p:nvGrpSpPr>
        <p:grpSpPr bwMode="auto">
          <a:xfrm>
            <a:off x="619125" y="3303588"/>
            <a:ext cx="8056563" cy="2819400"/>
            <a:chOff x="3206" y="7241"/>
            <a:chExt cx="6168" cy="3078"/>
          </a:xfrm>
        </p:grpSpPr>
        <p:sp>
          <p:nvSpPr>
            <p:cNvPr id="30" name="AutoShape 33"/>
            <p:cNvSpPr>
              <a:spLocks noChangeAspect="1" noChangeArrowheads="1"/>
            </p:cNvSpPr>
            <p:nvPr/>
          </p:nvSpPr>
          <p:spPr bwMode="auto">
            <a:xfrm>
              <a:off x="3206" y="7241"/>
              <a:ext cx="6168" cy="307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tIns="0" bIns="36000"/>
            <a:lstStyle/>
            <a:p>
              <a:endParaRPr lang="zh-CN" altLang="en-US"/>
            </a:p>
          </p:txBody>
        </p:sp>
        <p:sp>
          <p:nvSpPr>
            <p:cNvPr id="31" name="Line 34"/>
            <p:cNvSpPr>
              <a:spLocks noChangeShapeType="1"/>
            </p:cNvSpPr>
            <p:nvPr/>
          </p:nvSpPr>
          <p:spPr bwMode="auto">
            <a:xfrm>
              <a:off x="5280" y="8177"/>
              <a:ext cx="1718" cy="24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35"/>
            <p:cNvSpPr>
              <a:spLocks noChangeShapeType="1"/>
            </p:cNvSpPr>
            <p:nvPr/>
          </p:nvSpPr>
          <p:spPr bwMode="auto">
            <a:xfrm flipV="1">
              <a:off x="5280" y="8738"/>
              <a:ext cx="1718" cy="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36"/>
            <p:cNvSpPr>
              <a:spLocks noChangeShapeType="1"/>
            </p:cNvSpPr>
            <p:nvPr/>
          </p:nvSpPr>
          <p:spPr bwMode="auto">
            <a:xfrm>
              <a:off x="5279" y="8513"/>
              <a:ext cx="1718" cy="49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37"/>
            <p:cNvSpPr>
              <a:spLocks noChangeShapeType="1"/>
            </p:cNvSpPr>
            <p:nvPr/>
          </p:nvSpPr>
          <p:spPr bwMode="auto">
            <a:xfrm flipV="1">
              <a:off x="5282" y="9314"/>
              <a:ext cx="1718" cy="10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 Box 38"/>
            <p:cNvSpPr txBox="1">
              <a:spLocks noChangeArrowheads="1"/>
            </p:cNvSpPr>
            <p:nvPr/>
          </p:nvSpPr>
          <p:spPr bwMode="auto">
            <a:xfrm>
              <a:off x="4290" y="7268"/>
              <a:ext cx="900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0800" rIns="0" bIns="108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zh-CN" altLang="en-US" sz="1800" b="1">
                  <a:solidFill>
                    <a:srgbClr val="FF00FF"/>
                  </a:solidFill>
                  <a:latin typeface="Times New Roman" pitchFamily="18" charset="0"/>
                </a:rPr>
                <a:t>销货单</a:t>
              </a:r>
              <a:endParaRPr lang="zh-CN" altLang="en-US" sz="1800"/>
            </a:p>
          </p:txBody>
        </p:sp>
        <p:grpSp>
          <p:nvGrpSpPr>
            <p:cNvPr id="36" name="Group 39"/>
            <p:cNvGrpSpPr>
              <a:grpSpLocks/>
            </p:cNvGrpSpPr>
            <p:nvPr/>
          </p:nvGrpSpPr>
          <p:grpSpPr bwMode="auto">
            <a:xfrm>
              <a:off x="4200" y="7670"/>
              <a:ext cx="1080" cy="2220"/>
              <a:chOff x="4200" y="7670"/>
              <a:chExt cx="1080" cy="2220"/>
            </a:xfrm>
          </p:grpSpPr>
          <p:sp>
            <p:nvSpPr>
              <p:cNvPr id="45" name="Rectangle 40"/>
              <p:cNvSpPr>
                <a:spLocks noChangeArrowheads="1"/>
              </p:cNvSpPr>
              <p:nvPr/>
            </p:nvSpPr>
            <p:spPr bwMode="auto">
              <a:xfrm>
                <a:off x="4200" y="8018"/>
                <a:ext cx="1080" cy="312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0" bIns="36000"/>
              <a:lstStyle/>
              <a:p>
                <a:pPr algn="ctr"/>
                <a:r>
                  <a:rPr lang="en-US" altLang="zh-CN" sz="1800" dirty="0">
                    <a:latin typeface="Times New Roman" pitchFamily="18" charset="0"/>
                  </a:rPr>
                  <a:t>XS01003</a:t>
                </a:r>
                <a:endParaRPr lang="en-US" altLang="zh-CN" sz="1800" dirty="0"/>
              </a:p>
            </p:txBody>
          </p:sp>
          <p:sp>
            <p:nvSpPr>
              <p:cNvPr id="46" name="Rectangle 41"/>
              <p:cNvSpPr>
                <a:spLocks noChangeArrowheads="1"/>
              </p:cNvSpPr>
              <p:nvPr/>
            </p:nvSpPr>
            <p:spPr bwMode="auto">
              <a:xfrm>
                <a:off x="4200" y="8330"/>
                <a:ext cx="1080" cy="312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0" bIns="36000"/>
              <a:lstStyle/>
              <a:p>
                <a:pPr algn="ctr"/>
                <a:r>
                  <a:rPr lang="en-US" altLang="zh-CN" sz="1800">
                    <a:latin typeface="Times New Roman" pitchFamily="18" charset="0"/>
                  </a:rPr>
                  <a:t>XS01015</a:t>
                </a:r>
                <a:endParaRPr lang="en-US" altLang="zh-CN" sz="1800"/>
              </a:p>
            </p:txBody>
          </p:sp>
          <p:sp>
            <p:nvSpPr>
              <p:cNvPr id="47" name="Rectangle 42"/>
              <p:cNvSpPr>
                <a:spLocks noChangeArrowheads="1"/>
              </p:cNvSpPr>
              <p:nvPr/>
            </p:nvSpPr>
            <p:spPr bwMode="auto">
              <a:xfrm>
                <a:off x="4200" y="8642"/>
                <a:ext cx="1080" cy="312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0" bIns="36000"/>
              <a:lstStyle/>
              <a:p>
                <a:pPr algn="ctr"/>
                <a:r>
                  <a:rPr lang="en-US" altLang="zh-CN" sz="1800">
                    <a:latin typeface="Times New Roman" pitchFamily="18" charset="0"/>
                  </a:rPr>
                  <a:t>XS06008</a:t>
                </a:r>
                <a:endParaRPr lang="en-US" altLang="zh-CN" sz="1800"/>
              </a:p>
            </p:txBody>
          </p:sp>
          <p:sp>
            <p:nvSpPr>
              <p:cNvPr id="48" name="Rectangle 43"/>
              <p:cNvSpPr>
                <a:spLocks noChangeArrowheads="1"/>
              </p:cNvSpPr>
              <p:nvPr/>
            </p:nvSpPr>
            <p:spPr bwMode="auto">
              <a:xfrm>
                <a:off x="4200" y="8954"/>
                <a:ext cx="1080" cy="312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0" bIns="36000"/>
              <a:lstStyle/>
              <a:p>
                <a:pPr algn="ctr"/>
                <a:r>
                  <a:rPr lang="en-US" altLang="zh-CN" sz="1800">
                    <a:latin typeface="Times New Roman" pitchFamily="18" charset="0"/>
                  </a:rPr>
                  <a:t>XS07011</a:t>
                </a:r>
                <a:endParaRPr lang="en-US" altLang="zh-CN" sz="1800"/>
              </a:p>
            </p:txBody>
          </p:sp>
          <p:sp>
            <p:nvSpPr>
              <p:cNvPr id="49" name="Rectangle 44"/>
              <p:cNvSpPr>
                <a:spLocks noChangeArrowheads="1"/>
              </p:cNvSpPr>
              <p:nvPr/>
            </p:nvSpPr>
            <p:spPr bwMode="auto">
              <a:xfrm>
                <a:off x="4200" y="9266"/>
                <a:ext cx="1080" cy="312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0" bIns="36000"/>
              <a:lstStyle/>
              <a:p>
                <a:pPr algn="ctr"/>
                <a:r>
                  <a:rPr lang="en-US" altLang="zh-CN" sz="1800">
                    <a:latin typeface="Times New Roman" pitchFamily="18" charset="0"/>
                  </a:rPr>
                  <a:t>XS12033</a:t>
                </a:r>
                <a:endParaRPr lang="en-US" altLang="zh-CN" sz="1800"/>
              </a:p>
            </p:txBody>
          </p:sp>
          <p:sp>
            <p:nvSpPr>
              <p:cNvPr id="50" name="Rectangle 45"/>
              <p:cNvSpPr>
                <a:spLocks noChangeArrowheads="1"/>
              </p:cNvSpPr>
              <p:nvPr/>
            </p:nvSpPr>
            <p:spPr bwMode="auto">
              <a:xfrm>
                <a:off x="4200" y="9578"/>
                <a:ext cx="1080" cy="312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0" bIns="36000"/>
              <a:lstStyle/>
              <a:p>
                <a:pPr algn="ctr"/>
                <a:r>
                  <a:rPr lang="en-US" altLang="zh-CN" sz="1800">
                    <a:latin typeface="Times New Roman" pitchFamily="18" charset="0"/>
                  </a:rPr>
                  <a:t>XS12047</a:t>
                </a:r>
                <a:endParaRPr lang="en-US" altLang="zh-CN" sz="1800"/>
              </a:p>
            </p:txBody>
          </p:sp>
          <p:sp>
            <p:nvSpPr>
              <p:cNvPr id="51" name="Text Box 46"/>
              <p:cNvSpPr txBox="1">
                <a:spLocks noChangeArrowheads="1"/>
              </p:cNvSpPr>
              <p:nvPr/>
            </p:nvSpPr>
            <p:spPr bwMode="auto">
              <a:xfrm>
                <a:off x="4290" y="7670"/>
                <a:ext cx="900" cy="2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10800" rIns="0" bIns="10800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굴림" pitchFamily="34" charset="-127"/>
                    <a:ea typeface="굴림" pitchFamily="34" charset="-127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굴림" pitchFamily="34" charset="-127"/>
                    <a:ea typeface="굴림" pitchFamily="34" charset="-127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굴림" pitchFamily="34" charset="-127"/>
                    <a:ea typeface="굴림" pitchFamily="34" charset="-127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굴림" pitchFamily="34" charset="-127"/>
                    <a:ea typeface="굴림" pitchFamily="34" charset="-127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굴림" pitchFamily="34" charset="-127"/>
                    <a:ea typeface="굴림" pitchFamily="34" charset="-127"/>
                  </a:defRPr>
                </a:lvl5pPr>
                <a:lvl6pPr marL="25146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34" charset="-127"/>
                    <a:ea typeface="굴림" pitchFamily="34" charset="-127"/>
                  </a:defRPr>
                </a:lvl6pPr>
                <a:lvl7pPr marL="29718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34" charset="-127"/>
                    <a:ea typeface="굴림" pitchFamily="34" charset="-127"/>
                  </a:defRPr>
                </a:lvl7pPr>
                <a:lvl8pPr marL="34290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34" charset="-127"/>
                    <a:ea typeface="굴림" pitchFamily="34" charset="-127"/>
                  </a:defRPr>
                </a:lvl8pPr>
                <a:lvl9pPr marL="3886200" indent="-22860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34" charset="-127"/>
                    <a:ea typeface="굴림" pitchFamily="34" charset="-127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</a:pPr>
                <a:r>
                  <a:rPr lang="zh-CN" altLang="en-US" sz="1800" b="1" u="sng">
                    <a:solidFill>
                      <a:srgbClr val="008000"/>
                    </a:solidFill>
                    <a:latin typeface="华文新魏" pitchFamily="2" charset="-122"/>
                    <a:ea typeface="华文新魏" pitchFamily="2" charset="-122"/>
                  </a:rPr>
                  <a:t>销货单号</a:t>
                </a:r>
                <a:endParaRPr lang="zh-CN" altLang="en-US" sz="1800"/>
              </a:p>
            </p:txBody>
          </p:sp>
        </p:grpSp>
        <p:sp>
          <p:nvSpPr>
            <p:cNvPr id="37" name="Rectangle 47"/>
            <p:cNvSpPr>
              <a:spLocks noChangeArrowheads="1"/>
            </p:cNvSpPr>
            <p:nvPr/>
          </p:nvSpPr>
          <p:spPr bwMode="auto">
            <a:xfrm>
              <a:off x="7008" y="8243"/>
              <a:ext cx="1080" cy="31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0" rIns="18000" bIns="36000"/>
            <a:lstStyle/>
            <a:p>
              <a:pPr algn="ctr"/>
              <a:r>
                <a:rPr lang="en-US" altLang="zh-CN" sz="1800">
                  <a:latin typeface="Times New Roman" pitchFamily="18" charset="0"/>
                </a:rPr>
                <a:t>F20110001</a:t>
              </a:r>
              <a:endParaRPr lang="en-US" altLang="zh-CN" sz="1800"/>
            </a:p>
          </p:txBody>
        </p:sp>
        <p:sp>
          <p:nvSpPr>
            <p:cNvPr id="38" name="Rectangle 48"/>
            <p:cNvSpPr>
              <a:spLocks noChangeArrowheads="1"/>
            </p:cNvSpPr>
            <p:nvPr/>
          </p:nvSpPr>
          <p:spPr bwMode="auto">
            <a:xfrm>
              <a:off x="7008" y="8555"/>
              <a:ext cx="1080" cy="31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0" rIns="18000" bIns="36000"/>
            <a:lstStyle/>
            <a:p>
              <a:pPr algn="ctr"/>
              <a:r>
                <a:rPr lang="en-US" altLang="zh-CN" sz="1800">
                  <a:latin typeface="Times New Roman" pitchFamily="18" charset="0"/>
                </a:rPr>
                <a:t>F20110033</a:t>
              </a:r>
              <a:endParaRPr lang="en-US" altLang="zh-CN" sz="1800"/>
            </a:p>
          </p:txBody>
        </p:sp>
        <p:sp>
          <p:nvSpPr>
            <p:cNvPr id="39" name="Rectangle 49"/>
            <p:cNvSpPr>
              <a:spLocks noChangeArrowheads="1"/>
            </p:cNvSpPr>
            <p:nvPr/>
          </p:nvSpPr>
          <p:spPr bwMode="auto">
            <a:xfrm>
              <a:off x="7008" y="8867"/>
              <a:ext cx="1080" cy="31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0" rIns="18000" bIns="36000"/>
            <a:lstStyle/>
            <a:p>
              <a:pPr algn="ctr"/>
              <a:r>
                <a:rPr lang="en-US" altLang="zh-CN" sz="1800">
                  <a:latin typeface="Times New Roman" pitchFamily="18" charset="0"/>
                </a:rPr>
                <a:t>F20120048</a:t>
              </a:r>
              <a:endParaRPr lang="en-US" altLang="zh-CN" sz="1800"/>
            </a:p>
          </p:txBody>
        </p:sp>
        <p:sp>
          <p:nvSpPr>
            <p:cNvPr id="40" name="Rectangle 50"/>
            <p:cNvSpPr>
              <a:spLocks noChangeArrowheads="1"/>
            </p:cNvSpPr>
            <p:nvPr/>
          </p:nvSpPr>
          <p:spPr bwMode="auto">
            <a:xfrm>
              <a:off x="7008" y="9179"/>
              <a:ext cx="1080" cy="312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0" rIns="18000" bIns="36000"/>
            <a:lstStyle/>
            <a:p>
              <a:pPr algn="ctr"/>
              <a:r>
                <a:rPr lang="en-US" altLang="zh-CN" sz="1800">
                  <a:latin typeface="Times New Roman" pitchFamily="18" charset="0"/>
                </a:rPr>
                <a:t>F20120105</a:t>
              </a:r>
              <a:endParaRPr lang="en-US" altLang="zh-CN" sz="1800"/>
            </a:p>
          </p:txBody>
        </p:sp>
        <p:sp>
          <p:nvSpPr>
            <p:cNvPr id="41" name="Oval 51"/>
            <p:cNvSpPr>
              <a:spLocks noChangeArrowheads="1"/>
            </p:cNvSpPr>
            <p:nvPr/>
          </p:nvSpPr>
          <p:spPr bwMode="auto">
            <a:xfrm>
              <a:off x="6652" y="7745"/>
              <a:ext cx="1786" cy="207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Text Box 52"/>
            <p:cNvSpPr txBox="1">
              <a:spLocks noChangeArrowheads="1"/>
            </p:cNvSpPr>
            <p:nvPr/>
          </p:nvSpPr>
          <p:spPr bwMode="auto">
            <a:xfrm>
              <a:off x="7113" y="7454"/>
              <a:ext cx="90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0800" rIns="0" bIns="108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zh-CN" altLang="en-US" sz="1800" b="1">
                  <a:solidFill>
                    <a:srgbClr val="FF00FF"/>
                  </a:solidFill>
                  <a:latin typeface="Times New Roman" pitchFamily="18" charset="0"/>
                </a:rPr>
                <a:t>发票</a:t>
              </a:r>
              <a:endParaRPr lang="zh-CN" altLang="en-US" sz="1800"/>
            </a:p>
          </p:txBody>
        </p:sp>
        <p:sp>
          <p:nvSpPr>
            <p:cNvPr id="43" name="Text Box 53"/>
            <p:cNvSpPr txBox="1">
              <a:spLocks noChangeArrowheads="1"/>
            </p:cNvSpPr>
            <p:nvPr/>
          </p:nvSpPr>
          <p:spPr bwMode="auto">
            <a:xfrm>
              <a:off x="7092" y="7910"/>
              <a:ext cx="90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0800" rIns="0" bIns="108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zh-CN" altLang="en-US" sz="1800" b="1" u="sng">
                  <a:solidFill>
                    <a:srgbClr val="008000"/>
                  </a:solidFill>
                  <a:latin typeface="华文新魏" pitchFamily="2" charset="-122"/>
                  <a:ea typeface="华文新魏" pitchFamily="2" charset="-122"/>
                </a:rPr>
                <a:t>发票编号</a:t>
              </a:r>
              <a:endParaRPr lang="zh-CN" altLang="en-US" sz="1800"/>
            </a:p>
          </p:txBody>
        </p:sp>
        <p:sp>
          <p:nvSpPr>
            <p:cNvPr id="44" name="Oval 54"/>
            <p:cNvSpPr>
              <a:spLocks noChangeArrowheads="1"/>
            </p:cNvSpPr>
            <p:nvPr/>
          </p:nvSpPr>
          <p:spPr bwMode="auto">
            <a:xfrm>
              <a:off x="3786" y="7556"/>
              <a:ext cx="1904" cy="26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/>
          </p:cNvSpPr>
          <p:nvPr>
            <p:ph type="title"/>
          </p:nvPr>
        </p:nvSpPr>
        <p:spPr>
          <a:xfrm>
            <a:off x="381000" y="152400"/>
            <a:ext cx="5451475" cy="547688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dirty="0">
                <a:sym typeface="+mn-ea"/>
              </a:rPr>
              <a:t>一对一联系的例子</a:t>
            </a:r>
          </a:p>
        </p:txBody>
      </p:sp>
      <p:sp>
        <p:nvSpPr>
          <p:cNvPr id="30723" name="Rectangle 3"/>
          <p:cNvSpPr>
            <a:spLocks noGrp="1"/>
          </p:cNvSpPr>
          <p:nvPr>
            <p:ph idx="1"/>
          </p:nvPr>
        </p:nvSpPr>
        <p:spPr>
          <a:xfrm>
            <a:off x="179512" y="1428750"/>
            <a:ext cx="5256584" cy="4538663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zh-CN" altLang="en-US" dirty="0">
                <a:latin typeface="宋体" pitchFamily="2" charset="-122"/>
                <a:cs typeface="等线" panose="02010600030101010101" charset="-122"/>
              </a:rPr>
              <a:t>	部门</a:t>
            </a:r>
            <a:r>
              <a:rPr lang="zh-CN" altLang="en-US" dirty="0" smtClean="0">
                <a:latin typeface="宋体" pitchFamily="2" charset="-122"/>
                <a:cs typeface="等线" panose="02010600030101010101" charset="-122"/>
              </a:rPr>
              <a:t>和经理</a:t>
            </a:r>
            <a:endParaRPr lang="en-US" altLang="zh-CN" dirty="0" smtClean="0">
              <a:latin typeface="宋体" pitchFamily="2" charset="-122"/>
              <a:cs typeface="等线" panose="02010600030101010101" charset="-122"/>
            </a:endParaRPr>
          </a:p>
          <a:p>
            <a:pPr eaLnBrk="1" hangingPunct="1">
              <a:buNone/>
            </a:pPr>
            <a:r>
              <a:rPr lang="zh-CN" altLang="en-US" dirty="0" smtClean="0">
                <a:latin typeface="宋体" pitchFamily="2" charset="-122"/>
                <a:cs typeface="等线" panose="02010600030101010101" charset="-122"/>
              </a:rPr>
              <a:t>（假设</a:t>
            </a:r>
            <a:endParaRPr lang="en-US" altLang="zh-CN" dirty="0" smtClean="0">
              <a:latin typeface="宋体" pitchFamily="2" charset="-122"/>
              <a:cs typeface="等线" panose="02010600030101010101" charset="-122"/>
            </a:endParaRPr>
          </a:p>
          <a:p>
            <a:pPr eaLnBrk="1" hangingPunct="1">
              <a:buNone/>
            </a:pPr>
            <a:r>
              <a:rPr lang="en-US" altLang="zh-CN" dirty="0">
                <a:latin typeface="宋体" pitchFamily="2" charset="-122"/>
                <a:cs typeface="等线" panose="02010600030101010101" charset="-122"/>
              </a:rPr>
              <a:t> </a:t>
            </a:r>
            <a:r>
              <a:rPr lang="en-US" altLang="zh-CN" dirty="0" smtClean="0">
                <a:latin typeface="宋体" pitchFamily="2" charset="-122"/>
                <a:cs typeface="等线" panose="02010600030101010101" charset="-122"/>
              </a:rPr>
              <a:t>   </a:t>
            </a:r>
            <a:r>
              <a:rPr lang="zh-CN" altLang="en-US" dirty="0" smtClean="0">
                <a:latin typeface="宋体" pitchFamily="2" charset="-122"/>
                <a:cs typeface="等线" panose="02010600030101010101" charset="-122"/>
              </a:rPr>
              <a:t>一</a:t>
            </a:r>
            <a:r>
              <a:rPr lang="zh-CN" altLang="en-US" dirty="0">
                <a:latin typeface="宋体" pitchFamily="2" charset="-122"/>
                <a:cs typeface="等线" panose="02010600030101010101" charset="-122"/>
              </a:rPr>
              <a:t>个部门只有一</a:t>
            </a:r>
            <a:r>
              <a:rPr lang="zh-CN" altLang="en-US" dirty="0" smtClean="0">
                <a:latin typeface="宋体" pitchFamily="2" charset="-122"/>
                <a:cs typeface="等线" panose="02010600030101010101" charset="-122"/>
              </a:rPr>
              <a:t>个经理，</a:t>
            </a:r>
            <a:endParaRPr lang="en-US" altLang="zh-CN" dirty="0" smtClean="0">
              <a:latin typeface="宋体" pitchFamily="2" charset="-122"/>
              <a:cs typeface="等线" panose="02010600030101010101" charset="-122"/>
            </a:endParaRPr>
          </a:p>
          <a:p>
            <a:pPr eaLnBrk="1" hangingPunct="1">
              <a:buNone/>
            </a:pPr>
            <a:r>
              <a:rPr lang="en-US" altLang="zh-CN" dirty="0">
                <a:latin typeface="宋体" pitchFamily="2" charset="-122"/>
                <a:cs typeface="等线" panose="02010600030101010101" charset="-122"/>
              </a:rPr>
              <a:t> </a:t>
            </a:r>
            <a:r>
              <a:rPr lang="en-US" altLang="zh-CN" dirty="0" smtClean="0">
                <a:latin typeface="宋体" pitchFamily="2" charset="-122"/>
                <a:cs typeface="等线" panose="02010600030101010101" charset="-122"/>
              </a:rPr>
              <a:t>   </a:t>
            </a:r>
            <a:r>
              <a:rPr lang="zh-CN" altLang="en-US" dirty="0" smtClean="0">
                <a:latin typeface="宋体" pitchFamily="2" charset="-122"/>
                <a:cs typeface="等线" panose="02010600030101010101" charset="-122"/>
              </a:rPr>
              <a:t>一个人</a:t>
            </a:r>
            <a:r>
              <a:rPr lang="zh-CN" altLang="en-US" dirty="0">
                <a:latin typeface="宋体" pitchFamily="2" charset="-122"/>
                <a:cs typeface="等线" panose="02010600030101010101" charset="-122"/>
              </a:rPr>
              <a:t>只当一个部门的经理</a:t>
            </a:r>
            <a:r>
              <a:rPr lang="zh-CN" altLang="en-US" dirty="0" smtClean="0">
                <a:latin typeface="宋体" pitchFamily="2" charset="-122"/>
                <a:cs typeface="等线" panose="02010600030101010101" charset="-122"/>
              </a:rPr>
              <a:t>）</a:t>
            </a:r>
            <a:endParaRPr lang="zh-CN" altLang="en-US" dirty="0">
              <a:latin typeface="宋体" pitchFamily="2" charset="-122"/>
              <a:cs typeface="等线" panose="02010600030101010101" charset="-122"/>
            </a:endParaRPr>
          </a:p>
        </p:txBody>
      </p:sp>
      <p:sp>
        <p:nvSpPr>
          <p:cNvPr id="317444" name="AutoShape 4"/>
          <p:cNvSpPr/>
          <p:nvPr/>
        </p:nvSpPr>
        <p:spPr>
          <a:xfrm>
            <a:off x="5621338" y="3060700"/>
            <a:ext cx="2133600" cy="914400"/>
          </a:xfrm>
          <a:prstGeom prst="flowChartDecision">
            <a:avLst/>
          </a:prstGeom>
          <a:noFill/>
          <a:ln w="38100" cap="sq" cmpd="sng">
            <a:solidFill>
              <a:srgbClr val="FF000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pPr algn="ctr"/>
            <a:r>
              <a:rPr lang="zh-CN" altLang="en-US" sz="3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管理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445" name="Text Box 5"/>
          <p:cNvSpPr txBox="1"/>
          <p:nvPr/>
        </p:nvSpPr>
        <p:spPr>
          <a:xfrm>
            <a:off x="6084888" y="1628775"/>
            <a:ext cx="1111202" cy="646331"/>
          </a:xfrm>
          <a:prstGeom prst="rect">
            <a:avLst/>
          </a:prstGeom>
          <a:noFill/>
          <a:ln w="38100" cap="sq" cmpd="sng">
            <a:solidFill>
              <a:srgbClr val="FF000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3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经理</a:t>
            </a:r>
          </a:p>
        </p:txBody>
      </p:sp>
      <p:sp>
        <p:nvSpPr>
          <p:cNvPr id="317446" name="Text Box 6"/>
          <p:cNvSpPr txBox="1"/>
          <p:nvPr/>
        </p:nvSpPr>
        <p:spPr>
          <a:xfrm>
            <a:off x="6161088" y="4660900"/>
            <a:ext cx="1111202" cy="646331"/>
          </a:xfrm>
          <a:prstGeom prst="rect">
            <a:avLst/>
          </a:prstGeom>
          <a:noFill/>
          <a:ln w="38100" cap="sq" cmpd="sng">
            <a:solidFill>
              <a:srgbClr val="FF000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3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部门</a:t>
            </a:r>
          </a:p>
        </p:txBody>
      </p:sp>
      <p:sp>
        <p:nvSpPr>
          <p:cNvPr id="317447" name="Line 7"/>
          <p:cNvSpPr/>
          <p:nvPr/>
        </p:nvSpPr>
        <p:spPr>
          <a:xfrm>
            <a:off x="6688138" y="3975100"/>
            <a:ext cx="0" cy="685800"/>
          </a:xfrm>
          <a:prstGeom prst="line">
            <a:avLst/>
          </a:prstGeom>
          <a:ln w="38100" cap="sq" cmpd="sng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7448" name="Line 8"/>
          <p:cNvSpPr/>
          <p:nvPr/>
        </p:nvSpPr>
        <p:spPr>
          <a:xfrm flipV="1">
            <a:off x="6688138" y="2298700"/>
            <a:ext cx="0" cy="762000"/>
          </a:xfrm>
          <a:prstGeom prst="line">
            <a:avLst/>
          </a:prstGeom>
          <a:ln w="38100" cap="sq" cmpd="sng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7449" name="Text Box 9"/>
          <p:cNvSpPr txBox="1"/>
          <p:nvPr/>
        </p:nvSpPr>
        <p:spPr>
          <a:xfrm>
            <a:off x="6684963" y="2451100"/>
            <a:ext cx="3365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17450" name="Text Box 10"/>
          <p:cNvSpPr txBox="1"/>
          <p:nvPr/>
        </p:nvSpPr>
        <p:spPr>
          <a:xfrm>
            <a:off x="6684963" y="4051300"/>
            <a:ext cx="3365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1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4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1" fill="hold"/>
                                        <p:tgtEl>
                                          <p:spTgt spid="31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4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1" fill="hold"/>
                                        <p:tgtEl>
                                          <p:spTgt spid="317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17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174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17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174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174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0"/>
                            </p:stCondLst>
                            <p:childTnLst>
                              <p:par>
                                <p:cTn id="24" presetID="17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174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17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174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174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500"/>
                            </p:stCondLst>
                            <p:childTnLst>
                              <p:par>
                                <p:cTn id="31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3" dur="1" fill="hold"/>
                                        <p:tgtEl>
                                          <p:spTgt spid="317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000"/>
                            </p:stCondLst>
                            <p:childTnLst>
                              <p:par>
                                <p:cTn id="35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317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44" grpId="0" animBg="1"/>
      <p:bldP spid="317445" grpId="0" animBg="1"/>
      <p:bldP spid="317446" grpId="0" animBg="1"/>
      <p:bldP spid="317449" grpId="0"/>
      <p:bldP spid="31745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/>
          <p:nvPr/>
        </p:nvSpPr>
        <p:spPr>
          <a:xfrm>
            <a:off x="2771775" y="260350"/>
            <a:ext cx="3632200" cy="6096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lnSpcReduction="10000"/>
          </a:bodyPr>
          <a:lstStyle/>
          <a:p>
            <a:pPr lvl="0" algn="l">
              <a:buClrTx/>
              <a:buSzTx/>
              <a:buFontTx/>
            </a:pPr>
            <a:r>
              <a:rPr lang="zh-CN" altLang="en-US" sz="3600" kern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  <a:cs typeface="+mj-cs"/>
                <a:sym typeface="+mn-ea"/>
              </a:rPr>
              <a:t>一对多的联系</a:t>
            </a:r>
          </a:p>
        </p:txBody>
      </p:sp>
      <p:pic>
        <p:nvPicPr>
          <p:cNvPr id="31748" name="对象 10"/>
          <p:cNvPicPr/>
          <p:nvPr/>
        </p:nvPicPr>
        <p:blipFill>
          <a:blip r:embed="rId2"/>
          <a:srcRect t="-423" b="-423"/>
          <a:stretch>
            <a:fillRect/>
          </a:stretch>
        </p:blipFill>
        <p:spPr>
          <a:xfrm>
            <a:off x="2539845" y="1556792"/>
            <a:ext cx="2786063" cy="1500187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5" name="Group 34"/>
          <p:cNvGrpSpPr>
            <a:grpSpLocks noChangeAspect="1"/>
          </p:cNvGrpSpPr>
          <p:nvPr/>
        </p:nvGrpSpPr>
        <p:grpSpPr bwMode="auto">
          <a:xfrm>
            <a:off x="1763689" y="3687763"/>
            <a:ext cx="5653734" cy="2280809"/>
            <a:chOff x="3832" y="7325"/>
            <a:chExt cx="4970" cy="3206"/>
          </a:xfrm>
        </p:grpSpPr>
        <p:grpSp>
          <p:nvGrpSpPr>
            <p:cNvPr id="6" name="Group 36"/>
            <p:cNvGrpSpPr>
              <a:grpSpLocks/>
            </p:cNvGrpSpPr>
            <p:nvPr/>
          </p:nvGrpSpPr>
          <p:grpSpPr bwMode="auto">
            <a:xfrm>
              <a:off x="7260" y="8018"/>
              <a:ext cx="1080" cy="2184"/>
              <a:chOff x="4200" y="8018"/>
              <a:chExt cx="1080" cy="2184"/>
            </a:xfrm>
          </p:grpSpPr>
          <p:sp>
            <p:nvSpPr>
              <p:cNvPr id="24" name="Rectangle 37"/>
              <p:cNvSpPr>
                <a:spLocks noChangeArrowheads="1"/>
              </p:cNvSpPr>
              <p:nvPr/>
            </p:nvSpPr>
            <p:spPr bwMode="auto">
              <a:xfrm>
                <a:off x="4200" y="8018"/>
                <a:ext cx="1080" cy="312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8000" tIns="0" rIns="18000" bIns="36000"/>
              <a:lstStyle/>
              <a:p>
                <a:pPr algn="ctr"/>
                <a:r>
                  <a:rPr lang="en-US" altLang="zh-CN" sz="1800" b="1">
                    <a:latin typeface="Times New Roman" pitchFamily="18" charset="0"/>
                  </a:rPr>
                  <a:t>1201000012</a:t>
                </a:r>
                <a:endParaRPr lang="en-US" altLang="zh-CN" sz="1800" b="1"/>
              </a:p>
            </p:txBody>
          </p:sp>
          <p:sp>
            <p:nvSpPr>
              <p:cNvPr id="25" name="Rectangle 38"/>
              <p:cNvSpPr>
                <a:spLocks noChangeArrowheads="1"/>
              </p:cNvSpPr>
              <p:nvPr/>
            </p:nvSpPr>
            <p:spPr bwMode="auto">
              <a:xfrm>
                <a:off x="4200" y="8330"/>
                <a:ext cx="1080" cy="312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8000" tIns="0" rIns="18000" bIns="36000"/>
              <a:lstStyle/>
              <a:p>
                <a:pPr algn="ctr"/>
                <a:r>
                  <a:rPr lang="en-US" altLang="zh-CN" sz="1800" b="1">
                    <a:latin typeface="Times New Roman" pitchFamily="18" charset="0"/>
                  </a:rPr>
                  <a:t>1201000148</a:t>
                </a:r>
                <a:endParaRPr lang="en-US" altLang="zh-CN" sz="1800" b="1"/>
              </a:p>
            </p:txBody>
          </p:sp>
          <p:sp>
            <p:nvSpPr>
              <p:cNvPr id="26" name="Rectangle 39"/>
              <p:cNvSpPr>
                <a:spLocks noChangeArrowheads="1"/>
              </p:cNvSpPr>
              <p:nvPr/>
            </p:nvSpPr>
            <p:spPr bwMode="auto">
              <a:xfrm>
                <a:off x="4200" y="8642"/>
                <a:ext cx="1080" cy="312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8000" tIns="0" rIns="18000" bIns="36000"/>
              <a:lstStyle/>
              <a:p>
                <a:pPr algn="ctr"/>
                <a:r>
                  <a:rPr lang="en-US" altLang="zh-CN" sz="1800" b="1">
                    <a:latin typeface="Times New Roman" pitchFamily="18" charset="0"/>
                  </a:rPr>
                  <a:t>1201100006</a:t>
                </a:r>
                <a:endParaRPr lang="en-US" altLang="zh-CN" sz="1800" b="1"/>
              </a:p>
            </p:txBody>
          </p:sp>
          <p:sp>
            <p:nvSpPr>
              <p:cNvPr id="27" name="Rectangle 40"/>
              <p:cNvSpPr>
                <a:spLocks noChangeArrowheads="1"/>
              </p:cNvSpPr>
              <p:nvPr/>
            </p:nvSpPr>
            <p:spPr bwMode="auto">
              <a:xfrm>
                <a:off x="4200" y="8954"/>
                <a:ext cx="1080" cy="312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8000" tIns="0" rIns="18000" bIns="36000"/>
              <a:lstStyle/>
              <a:p>
                <a:pPr algn="ctr"/>
                <a:r>
                  <a:rPr lang="en-US" altLang="zh-CN" sz="1800" b="1">
                    <a:latin typeface="Times New Roman" pitchFamily="18" charset="0"/>
                  </a:rPr>
                  <a:t>1201100258</a:t>
                </a:r>
                <a:endParaRPr lang="en-US" altLang="zh-CN" sz="1800" b="1"/>
              </a:p>
            </p:txBody>
          </p:sp>
          <p:sp>
            <p:nvSpPr>
              <p:cNvPr id="28" name="Rectangle 41"/>
              <p:cNvSpPr>
                <a:spLocks noChangeArrowheads="1"/>
              </p:cNvSpPr>
              <p:nvPr/>
            </p:nvSpPr>
            <p:spPr bwMode="auto">
              <a:xfrm>
                <a:off x="4200" y="9266"/>
                <a:ext cx="1080" cy="312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8000" tIns="0" rIns="18000" bIns="36000"/>
              <a:lstStyle/>
              <a:p>
                <a:pPr algn="ctr"/>
                <a:r>
                  <a:rPr lang="en-US" altLang="zh-CN" sz="1800" b="1">
                    <a:latin typeface="Times New Roman" pitchFamily="18" charset="0"/>
                  </a:rPr>
                  <a:t>1201107543</a:t>
                </a:r>
                <a:endParaRPr lang="en-US" altLang="zh-CN" sz="1800" b="1"/>
              </a:p>
            </p:txBody>
          </p:sp>
          <p:sp>
            <p:nvSpPr>
              <p:cNvPr id="29" name="Rectangle 42"/>
              <p:cNvSpPr>
                <a:spLocks noChangeArrowheads="1"/>
              </p:cNvSpPr>
              <p:nvPr/>
            </p:nvSpPr>
            <p:spPr bwMode="auto">
              <a:xfrm>
                <a:off x="4200" y="9578"/>
                <a:ext cx="1080" cy="312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8000" tIns="0" rIns="18000" bIns="36000"/>
              <a:lstStyle/>
              <a:p>
                <a:pPr algn="ctr"/>
                <a:r>
                  <a:rPr lang="en-US" altLang="zh-CN" sz="1800" b="1">
                    <a:latin typeface="Times New Roman" pitchFamily="18" charset="0"/>
                  </a:rPr>
                  <a:t>1201200867</a:t>
                </a:r>
                <a:endParaRPr lang="en-US" altLang="zh-CN" sz="1800" b="1"/>
              </a:p>
            </p:txBody>
          </p:sp>
          <p:sp>
            <p:nvSpPr>
              <p:cNvPr id="30" name="Rectangle 43"/>
              <p:cNvSpPr>
                <a:spLocks noChangeArrowheads="1"/>
              </p:cNvSpPr>
              <p:nvPr/>
            </p:nvSpPr>
            <p:spPr bwMode="auto">
              <a:xfrm>
                <a:off x="4200" y="9890"/>
                <a:ext cx="1080" cy="312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8000" tIns="0" rIns="18000" bIns="36000"/>
              <a:lstStyle/>
              <a:p>
                <a:pPr algn="ctr"/>
                <a:r>
                  <a:rPr lang="en-US" altLang="zh-CN" sz="1800" b="1">
                    <a:latin typeface="Times New Roman" pitchFamily="18" charset="0"/>
                  </a:rPr>
                  <a:t>2201200025</a:t>
                </a:r>
                <a:endParaRPr lang="en-US" altLang="zh-CN" sz="1800" b="1"/>
              </a:p>
            </p:txBody>
          </p:sp>
        </p:grpSp>
        <p:grpSp>
          <p:nvGrpSpPr>
            <p:cNvPr id="7" name="Group 44"/>
            <p:cNvGrpSpPr>
              <a:grpSpLocks/>
            </p:cNvGrpSpPr>
            <p:nvPr/>
          </p:nvGrpSpPr>
          <p:grpSpPr bwMode="auto">
            <a:xfrm>
              <a:off x="4200" y="8414"/>
              <a:ext cx="1080" cy="1248"/>
              <a:chOff x="4164" y="8018"/>
              <a:chExt cx="1080" cy="1248"/>
            </a:xfrm>
          </p:grpSpPr>
          <p:sp>
            <p:nvSpPr>
              <p:cNvPr id="20" name="Rectangle 45"/>
              <p:cNvSpPr>
                <a:spLocks noChangeArrowheads="1"/>
              </p:cNvSpPr>
              <p:nvPr/>
            </p:nvSpPr>
            <p:spPr bwMode="auto">
              <a:xfrm>
                <a:off x="4164" y="8018"/>
                <a:ext cx="1080" cy="312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0" bIns="36000"/>
              <a:lstStyle/>
              <a:p>
                <a:pPr algn="ctr"/>
                <a:r>
                  <a:rPr lang="en-US" altLang="zh-CN" sz="1800" b="1">
                    <a:latin typeface="Times New Roman" pitchFamily="18" charset="0"/>
                  </a:rPr>
                  <a:t>20100601</a:t>
                </a:r>
                <a:endParaRPr lang="en-US" altLang="zh-CN" sz="1800" b="1"/>
              </a:p>
            </p:txBody>
          </p:sp>
          <p:sp>
            <p:nvSpPr>
              <p:cNvPr id="21" name="Rectangle 46"/>
              <p:cNvSpPr>
                <a:spLocks noChangeArrowheads="1"/>
              </p:cNvSpPr>
              <p:nvPr/>
            </p:nvSpPr>
            <p:spPr bwMode="auto">
              <a:xfrm>
                <a:off x="4164" y="8330"/>
                <a:ext cx="1080" cy="312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0" bIns="36000"/>
              <a:lstStyle/>
              <a:p>
                <a:pPr algn="ctr"/>
                <a:r>
                  <a:rPr lang="en-US" altLang="zh-CN" sz="1800" b="1">
                    <a:latin typeface="Times New Roman" pitchFamily="18" charset="0"/>
                  </a:rPr>
                  <a:t>20110801</a:t>
                </a:r>
                <a:endParaRPr lang="en-US" altLang="zh-CN" sz="1800" b="1"/>
              </a:p>
            </p:txBody>
          </p:sp>
          <p:sp>
            <p:nvSpPr>
              <p:cNvPr id="22" name="Rectangle 47"/>
              <p:cNvSpPr>
                <a:spLocks noChangeArrowheads="1"/>
              </p:cNvSpPr>
              <p:nvPr/>
            </p:nvSpPr>
            <p:spPr bwMode="auto">
              <a:xfrm>
                <a:off x="4164" y="8642"/>
                <a:ext cx="1080" cy="312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0" bIns="36000"/>
              <a:lstStyle/>
              <a:p>
                <a:pPr algn="ctr"/>
                <a:r>
                  <a:rPr lang="en-US" altLang="zh-CN" sz="1800" b="1">
                    <a:latin typeface="Times New Roman" pitchFamily="18" charset="0"/>
                  </a:rPr>
                  <a:t>20110803</a:t>
                </a:r>
                <a:endParaRPr lang="en-US" altLang="zh-CN" sz="1800" b="1"/>
              </a:p>
            </p:txBody>
          </p:sp>
          <p:sp>
            <p:nvSpPr>
              <p:cNvPr id="23" name="Rectangle 48"/>
              <p:cNvSpPr>
                <a:spLocks noChangeArrowheads="1"/>
              </p:cNvSpPr>
              <p:nvPr/>
            </p:nvSpPr>
            <p:spPr bwMode="auto">
              <a:xfrm>
                <a:off x="4164" y="8954"/>
                <a:ext cx="1080" cy="312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0" bIns="36000"/>
              <a:lstStyle/>
              <a:p>
                <a:pPr algn="ctr"/>
                <a:r>
                  <a:rPr lang="en-US" altLang="zh-CN" sz="1800" b="1">
                    <a:latin typeface="Times New Roman" pitchFamily="18" charset="0"/>
                  </a:rPr>
                  <a:t>20120502</a:t>
                </a:r>
                <a:endParaRPr lang="en-US" altLang="zh-CN" sz="1800" b="1"/>
              </a:p>
            </p:txBody>
          </p:sp>
        </p:grpSp>
        <p:sp>
          <p:nvSpPr>
            <p:cNvPr id="8" name="Line 49"/>
            <p:cNvSpPr>
              <a:spLocks noChangeShapeType="1"/>
            </p:cNvSpPr>
            <p:nvPr/>
          </p:nvSpPr>
          <p:spPr bwMode="auto">
            <a:xfrm>
              <a:off x="5288" y="9191"/>
              <a:ext cx="1972" cy="2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9" name="Line 50"/>
            <p:cNvSpPr>
              <a:spLocks noChangeShapeType="1"/>
            </p:cNvSpPr>
            <p:nvPr/>
          </p:nvSpPr>
          <p:spPr bwMode="auto">
            <a:xfrm flipV="1">
              <a:off x="5280" y="8487"/>
              <a:ext cx="1980" cy="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10" name="Line 51"/>
            <p:cNvSpPr>
              <a:spLocks noChangeShapeType="1"/>
            </p:cNvSpPr>
            <p:nvPr/>
          </p:nvSpPr>
          <p:spPr bwMode="auto">
            <a:xfrm flipV="1">
              <a:off x="5272" y="9119"/>
              <a:ext cx="1988" cy="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tIns="0" bIns="36000"/>
            <a:lstStyle/>
            <a:p>
              <a:endParaRPr lang="zh-CN" altLang="en-US" b="1"/>
            </a:p>
          </p:txBody>
        </p:sp>
        <p:sp>
          <p:nvSpPr>
            <p:cNvPr id="11" name="Line 52"/>
            <p:cNvSpPr>
              <a:spLocks noChangeShapeType="1"/>
            </p:cNvSpPr>
            <p:nvPr/>
          </p:nvSpPr>
          <p:spPr bwMode="auto">
            <a:xfrm>
              <a:off x="5272" y="9476"/>
              <a:ext cx="1988" cy="25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tIns="0" bIns="36000"/>
            <a:lstStyle/>
            <a:p>
              <a:endParaRPr lang="zh-CN" altLang="en-US" b="1"/>
            </a:p>
          </p:txBody>
        </p:sp>
        <p:sp>
          <p:nvSpPr>
            <p:cNvPr id="12" name="Line 53"/>
            <p:cNvSpPr>
              <a:spLocks noChangeShapeType="1"/>
            </p:cNvSpPr>
            <p:nvPr/>
          </p:nvSpPr>
          <p:spPr bwMode="auto">
            <a:xfrm flipV="1">
              <a:off x="5290" y="8192"/>
              <a:ext cx="1970" cy="3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tIns="0" bIns="36000"/>
            <a:lstStyle/>
            <a:p>
              <a:endParaRPr lang="zh-CN" altLang="en-US" b="1"/>
            </a:p>
          </p:txBody>
        </p:sp>
        <p:sp>
          <p:nvSpPr>
            <p:cNvPr id="13" name="Line 54"/>
            <p:cNvSpPr>
              <a:spLocks noChangeShapeType="1"/>
            </p:cNvSpPr>
            <p:nvPr/>
          </p:nvSpPr>
          <p:spPr bwMode="auto">
            <a:xfrm flipV="1">
              <a:off x="5298" y="8798"/>
              <a:ext cx="1962" cy="4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14" name="Text Box 55"/>
            <p:cNvSpPr txBox="1">
              <a:spLocks noChangeArrowheads="1"/>
            </p:cNvSpPr>
            <p:nvPr/>
          </p:nvSpPr>
          <p:spPr bwMode="auto">
            <a:xfrm>
              <a:off x="4284" y="8081"/>
              <a:ext cx="900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0800" rIns="0" bIns="108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zh-CN" altLang="en-US" sz="1800" b="1" u="sng" dirty="0">
                  <a:solidFill>
                    <a:srgbClr val="008000"/>
                  </a:solidFill>
                  <a:latin typeface="宋体" pitchFamily="2" charset="-122"/>
                  <a:ea typeface="宋体" pitchFamily="2" charset="-122"/>
                </a:rPr>
                <a:t>班级编号</a:t>
              </a:r>
              <a:endParaRPr lang="zh-CN" altLang="en-US" sz="1800" b="1" dirty="0"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5" name="Text Box 56"/>
            <p:cNvSpPr txBox="1">
              <a:spLocks noChangeArrowheads="1"/>
            </p:cNvSpPr>
            <p:nvPr/>
          </p:nvSpPr>
          <p:spPr bwMode="auto">
            <a:xfrm>
              <a:off x="7338" y="7718"/>
              <a:ext cx="90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0800" rIns="0" bIns="108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zh-CN" altLang="en-US" sz="1800" b="1" u="sng" dirty="0">
                  <a:solidFill>
                    <a:srgbClr val="008000"/>
                  </a:solidFill>
                  <a:latin typeface="华文新魏" pitchFamily="2" charset="-122"/>
                  <a:ea typeface="华文新魏" pitchFamily="2" charset="-122"/>
                </a:rPr>
                <a:t>学号</a:t>
              </a:r>
              <a:endParaRPr lang="zh-CN" altLang="en-US" sz="1800" b="1" dirty="0"/>
            </a:p>
          </p:txBody>
        </p:sp>
        <p:sp>
          <p:nvSpPr>
            <p:cNvPr id="16" name="Text Box 57"/>
            <p:cNvSpPr txBox="1">
              <a:spLocks noChangeArrowheads="1"/>
            </p:cNvSpPr>
            <p:nvPr/>
          </p:nvSpPr>
          <p:spPr bwMode="auto">
            <a:xfrm>
              <a:off x="7351" y="7325"/>
              <a:ext cx="900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9pPr>
            </a:lstStyle>
            <a:p>
              <a:pPr algn="ctr" eaLnBrk="1" hangingPunct="1">
                <a:lnSpc>
                  <a:spcPct val="96000"/>
                </a:lnSpc>
              </a:pPr>
              <a:r>
                <a:rPr lang="zh-CN" altLang="en-US" sz="1800" b="1" dirty="0">
                  <a:solidFill>
                    <a:srgbClr val="FF00FF"/>
                  </a:solidFill>
                  <a:latin typeface="宋体" pitchFamily="2" charset="-122"/>
                  <a:ea typeface="宋体" pitchFamily="2" charset="-122"/>
                </a:rPr>
                <a:t>学生</a:t>
              </a:r>
              <a:endParaRPr lang="zh-CN" altLang="en-US" sz="1800" b="1" dirty="0"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7" name="Text Box 58"/>
            <p:cNvSpPr txBox="1">
              <a:spLocks noChangeArrowheads="1"/>
            </p:cNvSpPr>
            <p:nvPr/>
          </p:nvSpPr>
          <p:spPr bwMode="auto">
            <a:xfrm>
              <a:off x="4292" y="7565"/>
              <a:ext cx="900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9pPr>
            </a:lstStyle>
            <a:p>
              <a:pPr algn="ctr" eaLnBrk="1" hangingPunct="1">
                <a:lnSpc>
                  <a:spcPct val="96000"/>
                </a:lnSpc>
              </a:pPr>
              <a:r>
                <a:rPr lang="zh-CN" altLang="en-US" sz="1800" b="1" dirty="0">
                  <a:solidFill>
                    <a:srgbClr val="FF00FF"/>
                  </a:solidFill>
                  <a:latin typeface="宋体" pitchFamily="2" charset="-122"/>
                  <a:ea typeface="宋体" pitchFamily="2" charset="-122"/>
                </a:rPr>
                <a:t>班级</a:t>
              </a:r>
              <a:endParaRPr lang="zh-CN" altLang="en-US" sz="1800" b="1" dirty="0"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18" name="Oval 59"/>
            <p:cNvSpPr>
              <a:spLocks noChangeArrowheads="1"/>
            </p:cNvSpPr>
            <p:nvPr/>
          </p:nvSpPr>
          <p:spPr bwMode="auto">
            <a:xfrm>
              <a:off x="3832" y="7874"/>
              <a:ext cx="1820" cy="220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19" name="Oval 60"/>
            <p:cNvSpPr>
              <a:spLocks noChangeArrowheads="1"/>
            </p:cNvSpPr>
            <p:nvPr/>
          </p:nvSpPr>
          <p:spPr bwMode="auto">
            <a:xfrm>
              <a:off x="6810" y="7640"/>
              <a:ext cx="1992" cy="2891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Text Box 2"/>
          <p:cNvSpPr txBox="1"/>
          <p:nvPr/>
        </p:nvSpPr>
        <p:spPr>
          <a:xfrm>
            <a:off x="357188" y="1428750"/>
            <a:ext cx="5502275" cy="457356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zh-CN" altLang="en-US" sz="3200" b="1" dirty="0" smtClean="0">
                <a:solidFill>
                  <a:schemeClr val="tx2"/>
                </a:solidFill>
                <a:latin typeface="宋体" pitchFamily="2" charset="-122"/>
                <a:ea typeface="宋体" pitchFamily="2" charset="-122"/>
                <a:cs typeface="等线" panose="02010600030101010101" charset="-122"/>
              </a:rPr>
              <a:t>    有</a:t>
            </a:r>
            <a:r>
              <a:rPr lang="zh-CN" altLang="en-US" sz="3200" b="1" dirty="0">
                <a:solidFill>
                  <a:schemeClr val="tx2"/>
                </a:solidFill>
                <a:latin typeface="宋体" pitchFamily="2" charset="-122"/>
                <a:ea typeface="宋体" pitchFamily="2" charset="-122"/>
                <a:cs typeface="等线" panose="02010600030101010101" charset="-122"/>
              </a:rPr>
              <a:t>部门和职工两个实体，并且有语义</a:t>
            </a:r>
            <a:r>
              <a:rPr lang="zh-CN" altLang="en-US" sz="3200" b="1" dirty="0" smtClean="0">
                <a:solidFill>
                  <a:schemeClr val="tx2"/>
                </a:solidFill>
                <a:latin typeface="宋体" pitchFamily="2" charset="-122"/>
                <a:ea typeface="宋体" pitchFamily="2" charset="-122"/>
                <a:cs typeface="等线" panose="02010600030101010101" charset="-122"/>
              </a:rPr>
              <a:t>：</a:t>
            </a:r>
            <a:endParaRPr lang="en-US" altLang="zh-CN" sz="3200" b="1" dirty="0" smtClean="0">
              <a:solidFill>
                <a:schemeClr val="tx2"/>
              </a:solidFill>
              <a:latin typeface="宋体" pitchFamily="2" charset="-122"/>
              <a:ea typeface="宋体" pitchFamily="2" charset="-122"/>
              <a:cs typeface="等线" panose="02010600030101010101" charset="-122"/>
            </a:endParaRPr>
          </a:p>
          <a:p>
            <a:pPr algn="l">
              <a:lnSpc>
                <a:spcPct val="130000"/>
              </a:lnSpc>
              <a:buNone/>
            </a:pPr>
            <a:r>
              <a:rPr lang="en-US" altLang="zh-CN" sz="3200" b="1" dirty="0">
                <a:solidFill>
                  <a:schemeClr val="tx2"/>
                </a:solidFill>
                <a:latin typeface="宋体" pitchFamily="2" charset="-122"/>
                <a:ea typeface="宋体" pitchFamily="2" charset="-122"/>
                <a:cs typeface="等线" panose="02010600030101010101" charset="-122"/>
              </a:rPr>
              <a:t> </a:t>
            </a:r>
            <a:r>
              <a:rPr lang="en-US" altLang="zh-CN" sz="3200" b="1" dirty="0" smtClean="0">
                <a:solidFill>
                  <a:schemeClr val="tx2"/>
                </a:solidFill>
                <a:latin typeface="宋体" pitchFamily="2" charset="-122"/>
                <a:ea typeface="宋体" pitchFamily="2" charset="-122"/>
                <a:cs typeface="等线" panose="02010600030101010101" charset="-122"/>
              </a:rPr>
              <a:t>   </a:t>
            </a:r>
            <a:r>
              <a:rPr lang="zh-CN" altLang="en-US" sz="3200" b="1" dirty="0" smtClean="0">
                <a:solidFill>
                  <a:schemeClr val="tx2"/>
                </a:solidFill>
                <a:latin typeface="宋体" pitchFamily="2" charset="-122"/>
                <a:ea typeface="宋体" pitchFamily="2" charset="-122"/>
                <a:cs typeface="等线" panose="02010600030101010101" charset="-122"/>
              </a:rPr>
              <a:t>一</a:t>
            </a:r>
            <a:r>
              <a:rPr lang="zh-CN" altLang="en-US" sz="3200" b="1" dirty="0">
                <a:solidFill>
                  <a:schemeClr val="tx2"/>
                </a:solidFill>
                <a:latin typeface="宋体" pitchFamily="2" charset="-122"/>
                <a:ea typeface="宋体" pitchFamily="2" charset="-122"/>
                <a:cs typeface="等线" panose="02010600030101010101" charset="-122"/>
              </a:rPr>
              <a:t>个部门可以有多名职工，但是一个职工只在一个部门工作。则部门和职工之间的联系是一对多的，我们把这种联系命名为工作。</a:t>
            </a:r>
            <a:endParaRPr lang="zh-CN" altLang="en-US" sz="3600" b="1" dirty="0">
              <a:solidFill>
                <a:schemeClr val="tx2"/>
              </a:solidFill>
              <a:latin typeface="宋体" pitchFamily="2" charset="-122"/>
              <a:ea typeface="宋体" pitchFamily="2" charset="-122"/>
              <a:cs typeface="等线" panose="02010600030101010101" charset="-122"/>
            </a:endParaRPr>
          </a:p>
        </p:txBody>
      </p:sp>
      <p:sp>
        <p:nvSpPr>
          <p:cNvPr id="32771" name="Text Box 3"/>
          <p:cNvSpPr/>
          <p:nvPr/>
        </p:nvSpPr>
        <p:spPr>
          <a:xfrm>
            <a:off x="2195513" y="113983"/>
            <a:ext cx="3854450" cy="64516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3600" kern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  <a:cs typeface="+mj-cs"/>
                <a:sym typeface="+mn-ea"/>
              </a:rPr>
              <a:t>一对多联系的例子</a:t>
            </a:r>
          </a:p>
        </p:txBody>
      </p:sp>
      <p:sp>
        <p:nvSpPr>
          <p:cNvPr id="319492" name="AutoShape 4"/>
          <p:cNvSpPr/>
          <p:nvPr/>
        </p:nvSpPr>
        <p:spPr>
          <a:xfrm>
            <a:off x="6477000" y="3074988"/>
            <a:ext cx="2133600" cy="914400"/>
          </a:xfrm>
          <a:prstGeom prst="flowChartDecision">
            <a:avLst/>
          </a:prstGeom>
          <a:noFill/>
          <a:ln w="38100" cap="sq" cmpd="sng">
            <a:solidFill>
              <a:srgbClr val="FF000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pPr algn="ctr"/>
            <a:r>
              <a:rPr lang="zh-CN" altLang="en-US" sz="3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工作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9493" name="Text Box 5"/>
          <p:cNvSpPr txBox="1"/>
          <p:nvPr/>
        </p:nvSpPr>
        <p:spPr>
          <a:xfrm>
            <a:off x="6940550" y="1643063"/>
            <a:ext cx="1111202" cy="646331"/>
          </a:xfrm>
          <a:prstGeom prst="rect">
            <a:avLst/>
          </a:prstGeom>
          <a:noFill/>
          <a:ln w="38100" cap="sq" cmpd="sng">
            <a:solidFill>
              <a:srgbClr val="FF000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3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部门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9494" name="Text Box 6"/>
          <p:cNvSpPr txBox="1"/>
          <p:nvPr/>
        </p:nvSpPr>
        <p:spPr>
          <a:xfrm>
            <a:off x="7016750" y="4675188"/>
            <a:ext cx="1111202" cy="646331"/>
          </a:xfrm>
          <a:prstGeom prst="rect">
            <a:avLst/>
          </a:prstGeom>
          <a:noFill/>
          <a:ln w="38100" cap="sq" cmpd="sng">
            <a:solidFill>
              <a:srgbClr val="FF000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3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职工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9495" name="Line 7"/>
          <p:cNvSpPr/>
          <p:nvPr/>
        </p:nvSpPr>
        <p:spPr>
          <a:xfrm>
            <a:off x="7543800" y="3989388"/>
            <a:ext cx="0" cy="685800"/>
          </a:xfrm>
          <a:prstGeom prst="line">
            <a:avLst/>
          </a:prstGeom>
          <a:ln w="38100" cap="sq" cmpd="sng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9496" name="Line 8"/>
          <p:cNvSpPr/>
          <p:nvPr/>
        </p:nvSpPr>
        <p:spPr>
          <a:xfrm flipV="1">
            <a:off x="7543800" y="2312988"/>
            <a:ext cx="0" cy="762000"/>
          </a:xfrm>
          <a:prstGeom prst="line">
            <a:avLst/>
          </a:prstGeom>
          <a:ln w="38100" cap="sq" cmpd="sng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9497" name="Text Box 9"/>
          <p:cNvSpPr txBox="1"/>
          <p:nvPr/>
        </p:nvSpPr>
        <p:spPr>
          <a:xfrm>
            <a:off x="7527925" y="2465388"/>
            <a:ext cx="3365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19498" name="Text Box 10"/>
          <p:cNvSpPr txBox="1"/>
          <p:nvPr/>
        </p:nvSpPr>
        <p:spPr>
          <a:xfrm>
            <a:off x="7543800" y="4065588"/>
            <a:ext cx="3365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1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1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19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4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319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4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0" dur="1" fill="hold"/>
                                        <p:tgtEl>
                                          <p:spTgt spid="319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00"/>
                            </p:stCondLst>
                            <p:childTnLst>
                              <p:par>
                                <p:cTn id="22" presetID="17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19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19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194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194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0"/>
                            </p:stCondLst>
                            <p:childTnLst>
                              <p:par>
                                <p:cTn id="29" presetID="17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19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19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194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194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6500"/>
                            </p:stCondLst>
                            <p:childTnLst>
                              <p:par>
                                <p:cTn id="36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8" dur="1" fill="hold"/>
                                        <p:tgtEl>
                                          <p:spTgt spid="319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000"/>
                            </p:stCondLst>
                            <p:childTnLst>
                              <p:par>
                                <p:cTn id="40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319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490" grpId="0"/>
      <p:bldP spid="319492" grpId="0" animBg="1"/>
      <p:bldP spid="319493" grpId="0" animBg="1"/>
      <p:bldP spid="319494" grpId="0" animBg="1"/>
      <p:bldP spid="319497" grpId="0"/>
      <p:bldP spid="31949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/>
          <p:nvPr/>
        </p:nvSpPr>
        <p:spPr>
          <a:xfrm>
            <a:off x="2916238" y="188913"/>
            <a:ext cx="3632200" cy="6858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3600" kern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  <a:cs typeface="+mj-cs"/>
                <a:sym typeface="+mn-ea"/>
              </a:rPr>
              <a:t>多对多的联系</a:t>
            </a:r>
          </a:p>
        </p:txBody>
      </p:sp>
      <p:pic>
        <p:nvPicPr>
          <p:cNvPr id="33796" name="对象 11"/>
          <p:cNvPicPr/>
          <p:nvPr/>
        </p:nvPicPr>
        <p:blipFill>
          <a:blip r:embed="rId2"/>
          <a:srcRect t="-423" b="-423"/>
          <a:stretch>
            <a:fillRect/>
          </a:stretch>
        </p:blipFill>
        <p:spPr>
          <a:xfrm>
            <a:off x="2267744" y="1484784"/>
            <a:ext cx="3000375" cy="157162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5" name="Group 36"/>
          <p:cNvGrpSpPr>
            <a:grpSpLocks noChangeAspect="1"/>
          </p:cNvGrpSpPr>
          <p:nvPr/>
        </p:nvGrpSpPr>
        <p:grpSpPr bwMode="auto">
          <a:xfrm>
            <a:off x="107504" y="3414173"/>
            <a:ext cx="9036496" cy="2724150"/>
            <a:chOff x="2220" y="6692"/>
            <a:chExt cx="8232" cy="3498"/>
          </a:xfrm>
        </p:grpSpPr>
        <p:sp>
          <p:nvSpPr>
            <p:cNvPr id="6" name="AutoShape 37"/>
            <p:cNvSpPr>
              <a:spLocks noChangeAspect="1" noChangeArrowheads="1"/>
            </p:cNvSpPr>
            <p:nvPr/>
          </p:nvSpPr>
          <p:spPr bwMode="auto">
            <a:xfrm>
              <a:off x="2220" y="6692"/>
              <a:ext cx="8232" cy="349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tIns="10800" bIns="10800"/>
            <a:lstStyle/>
            <a:p>
              <a:endParaRPr lang="zh-CN" altLang="en-US" b="1" dirty="0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7" name="Text Box 38"/>
            <p:cNvSpPr txBox="1">
              <a:spLocks noChangeArrowheads="1"/>
            </p:cNvSpPr>
            <p:nvPr/>
          </p:nvSpPr>
          <p:spPr bwMode="auto">
            <a:xfrm>
              <a:off x="4511" y="6854"/>
              <a:ext cx="900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zh-CN" altLang="en-US" sz="1800" b="1" dirty="0">
                  <a:solidFill>
                    <a:srgbClr val="FF00FF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学生</a:t>
              </a:r>
              <a:endParaRPr lang="zh-CN" altLang="en-US" sz="1800" b="1" dirty="0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8" name="Text Box 39"/>
            <p:cNvSpPr txBox="1">
              <a:spLocks noChangeArrowheads="1"/>
            </p:cNvSpPr>
            <p:nvPr/>
          </p:nvSpPr>
          <p:spPr bwMode="auto">
            <a:xfrm>
              <a:off x="7571" y="6992"/>
              <a:ext cx="914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zh-CN" altLang="en-US" sz="1800" b="1" dirty="0">
                  <a:solidFill>
                    <a:srgbClr val="FF00FF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课程</a:t>
              </a:r>
              <a:endParaRPr lang="zh-CN" altLang="en-US" sz="1800" b="1" dirty="0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9" name="Line 40"/>
            <p:cNvSpPr>
              <a:spLocks noChangeShapeType="1"/>
            </p:cNvSpPr>
            <p:nvPr/>
          </p:nvSpPr>
          <p:spPr bwMode="auto">
            <a:xfrm>
              <a:off x="5510" y="7706"/>
              <a:ext cx="1980" cy="15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10" name="Line 41"/>
            <p:cNvSpPr>
              <a:spLocks noChangeShapeType="1"/>
            </p:cNvSpPr>
            <p:nvPr/>
          </p:nvSpPr>
          <p:spPr bwMode="auto">
            <a:xfrm flipV="1">
              <a:off x="5510" y="8207"/>
              <a:ext cx="1980" cy="1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11" name="Line 42"/>
            <p:cNvSpPr>
              <a:spLocks noChangeShapeType="1"/>
            </p:cNvSpPr>
            <p:nvPr/>
          </p:nvSpPr>
          <p:spPr bwMode="auto">
            <a:xfrm flipV="1">
              <a:off x="5510" y="9401"/>
              <a:ext cx="1980" cy="1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12" name="Line 43"/>
            <p:cNvSpPr>
              <a:spLocks noChangeShapeType="1"/>
            </p:cNvSpPr>
            <p:nvPr/>
          </p:nvSpPr>
          <p:spPr bwMode="auto">
            <a:xfrm>
              <a:off x="5509" y="8033"/>
              <a:ext cx="1973" cy="10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13" name="Line 44"/>
            <p:cNvSpPr>
              <a:spLocks noChangeShapeType="1"/>
            </p:cNvSpPr>
            <p:nvPr/>
          </p:nvSpPr>
          <p:spPr bwMode="auto">
            <a:xfrm flipV="1">
              <a:off x="5510" y="7856"/>
              <a:ext cx="1980" cy="1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14" name="Line 45"/>
            <p:cNvSpPr>
              <a:spLocks noChangeShapeType="1"/>
            </p:cNvSpPr>
            <p:nvPr/>
          </p:nvSpPr>
          <p:spPr bwMode="auto">
            <a:xfrm flipV="1">
              <a:off x="5510" y="8474"/>
              <a:ext cx="1980" cy="1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15" name="Line 46"/>
            <p:cNvSpPr>
              <a:spLocks noChangeShapeType="1"/>
            </p:cNvSpPr>
            <p:nvPr/>
          </p:nvSpPr>
          <p:spPr bwMode="auto">
            <a:xfrm>
              <a:off x="5510" y="7706"/>
              <a:ext cx="1972" cy="4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16" name="Line 47"/>
            <p:cNvSpPr>
              <a:spLocks noChangeShapeType="1"/>
            </p:cNvSpPr>
            <p:nvPr/>
          </p:nvSpPr>
          <p:spPr bwMode="auto">
            <a:xfrm>
              <a:off x="5510" y="8339"/>
              <a:ext cx="1990" cy="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tIns="10800" bIns="10800"/>
            <a:lstStyle/>
            <a:p>
              <a:endParaRPr lang="zh-CN" altLang="en-US" b="1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17" name="Line 48"/>
            <p:cNvSpPr>
              <a:spLocks noChangeShapeType="1"/>
            </p:cNvSpPr>
            <p:nvPr/>
          </p:nvSpPr>
          <p:spPr bwMode="auto">
            <a:xfrm>
              <a:off x="5510" y="9266"/>
              <a:ext cx="1980" cy="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18" name="Line 49"/>
            <p:cNvSpPr>
              <a:spLocks noChangeShapeType="1"/>
            </p:cNvSpPr>
            <p:nvPr/>
          </p:nvSpPr>
          <p:spPr bwMode="auto">
            <a:xfrm>
              <a:off x="5518" y="8939"/>
              <a:ext cx="1970" cy="44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19" name="Text Box 50"/>
            <p:cNvSpPr txBox="1">
              <a:spLocks noChangeArrowheads="1"/>
            </p:cNvSpPr>
            <p:nvPr/>
          </p:nvSpPr>
          <p:spPr bwMode="auto">
            <a:xfrm>
              <a:off x="4521" y="7250"/>
              <a:ext cx="900" cy="2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0800" rIns="0" bIns="108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zh-CN" altLang="en-US" sz="1800" b="1" u="sng" dirty="0">
                  <a:solidFill>
                    <a:srgbClr val="008000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学号</a:t>
              </a:r>
              <a:endParaRPr lang="zh-CN" altLang="en-US" sz="1800" b="1" dirty="0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20" name="Text Box 51"/>
            <p:cNvSpPr txBox="1">
              <a:spLocks noChangeArrowheads="1"/>
            </p:cNvSpPr>
            <p:nvPr/>
          </p:nvSpPr>
          <p:spPr bwMode="auto">
            <a:xfrm>
              <a:off x="7584" y="7364"/>
              <a:ext cx="90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0800" rIns="0" bIns="108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zh-CN" altLang="en-US" sz="1800" b="1" u="sng" dirty="0">
                  <a:solidFill>
                    <a:srgbClr val="008000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课程号</a:t>
              </a:r>
              <a:endParaRPr lang="zh-CN" altLang="en-US" sz="1800" b="1" dirty="0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grpSp>
          <p:nvGrpSpPr>
            <p:cNvPr id="21" name="Group 52"/>
            <p:cNvGrpSpPr>
              <a:grpSpLocks/>
            </p:cNvGrpSpPr>
            <p:nvPr/>
          </p:nvGrpSpPr>
          <p:grpSpPr bwMode="auto">
            <a:xfrm>
              <a:off x="7490" y="7685"/>
              <a:ext cx="1080" cy="1872"/>
              <a:chOff x="4200" y="7706"/>
              <a:chExt cx="1080" cy="1872"/>
            </a:xfrm>
          </p:grpSpPr>
          <p:sp>
            <p:nvSpPr>
              <p:cNvPr id="34" name="Rectangle 53"/>
              <p:cNvSpPr>
                <a:spLocks noChangeArrowheads="1"/>
              </p:cNvSpPr>
              <p:nvPr/>
            </p:nvSpPr>
            <p:spPr bwMode="auto">
              <a:xfrm>
                <a:off x="4200" y="7706"/>
                <a:ext cx="1080" cy="312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0" bIns="36000"/>
              <a:lstStyle/>
              <a:p>
                <a:pPr algn="ctr"/>
                <a:r>
                  <a:rPr lang="en-US" altLang="zh-CN" sz="1800" b="1"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AC0013</a:t>
                </a:r>
              </a:p>
            </p:txBody>
          </p:sp>
          <p:sp>
            <p:nvSpPr>
              <p:cNvPr id="35" name="Rectangle 54"/>
              <p:cNvSpPr>
                <a:spLocks noChangeArrowheads="1"/>
              </p:cNvSpPr>
              <p:nvPr/>
            </p:nvSpPr>
            <p:spPr bwMode="auto">
              <a:xfrm>
                <a:off x="4200" y="8018"/>
                <a:ext cx="1080" cy="312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0" bIns="36000"/>
              <a:lstStyle/>
              <a:p>
                <a:pPr algn="ctr"/>
                <a:r>
                  <a:rPr lang="en-US" altLang="zh-CN" sz="1800" b="1"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AC0054</a:t>
                </a:r>
              </a:p>
            </p:txBody>
          </p:sp>
          <p:sp>
            <p:nvSpPr>
              <p:cNvPr id="36" name="Rectangle 55"/>
              <p:cNvSpPr>
                <a:spLocks noChangeArrowheads="1"/>
              </p:cNvSpPr>
              <p:nvPr/>
            </p:nvSpPr>
            <p:spPr bwMode="auto">
              <a:xfrm>
                <a:off x="4200" y="8330"/>
                <a:ext cx="1080" cy="312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0" bIns="36000"/>
              <a:lstStyle/>
              <a:p>
                <a:pPr algn="ctr"/>
                <a:r>
                  <a:rPr lang="en-US" altLang="zh-CN" sz="1800" b="1"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CN0283</a:t>
                </a:r>
              </a:p>
            </p:txBody>
          </p:sp>
          <p:sp>
            <p:nvSpPr>
              <p:cNvPr id="37" name="Rectangle 56"/>
              <p:cNvSpPr>
                <a:spLocks noChangeArrowheads="1"/>
              </p:cNvSpPr>
              <p:nvPr/>
            </p:nvSpPr>
            <p:spPr bwMode="auto">
              <a:xfrm>
                <a:off x="4200" y="8642"/>
                <a:ext cx="1080" cy="312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0" bIns="36000"/>
              <a:lstStyle/>
              <a:p>
                <a:pPr algn="ctr"/>
                <a:r>
                  <a:rPr lang="en-US" altLang="zh-CN" sz="1800" b="1"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CS0125</a:t>
                </a:r>
              </a:p>
            </p:txBody>
          </p:sp>
          <p:sp>
            <p:nvSpPr>
              <p:cNvPr id="38" name="Rectangle 57"/>
              <p:cNvSpPr>
                <a:spLocks noChangeArrowheads="1"/>
              </p:cNvSpPr>
              <p:nvPr/>
            </p:nvSpPr>
            <p:spPr bwMode="auto">
              <a:xfrm>
                <a:off x="4200" y="8954"/>
                <a:ext cx="1080" cy="312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0" bIns="36000"/>
              <a:lstStyle/>
              <a:p>
                <a:pPr algn="ctr"/>
                <a:r>
                  <a:rPr lang="en-US" altLang="zh-CN" sz="1800" b="1"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CS0154</a:t>
                </a:r>
              </a:p>
            </p:txBody>
          </p:sp>
          <p:sp>
            <p:nvSpPr>
              <p:cNvPr id="39" name="Rectangle 58"/>
              <p:cNvSpPr>
                <a:spLocks noChangeArrowheads="1"/>
              </p:cNvSpPr>
              <p:nvPr/>
            </p:nvSpPr>
            <p:spPr bwMode="auto">
              <a:xfrm>
                <a:off x="4200" y="9266"/>
                <a:ext cx="1080" cy="312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0" bIns="36000"/>
              <a:lstStyle/>
              <a:p>
                <a:pPr algn="ctr"/>
                <a:r>
                  <a:rPr lang="en-US" altLang="zh-CN" sz="1800" b="1"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CS0283</a:t>
                </a:r>
              </a:p>
            </p:txBody>
          </p:sp>
        </p:grpSp>
        <p:sp>
          <p:nvSpPr>
            <p:cNvPr id="22" name="Oval 59"/>
            <p:cNvSpPr>
              <a:spLocks noChangeArrowheads="1"/>
            </p:cNvSpPr>
            <p:nvPr/>
          </p:nvSpPr>
          <p:spPr bwMode="auto">
            <a:xfrm>
              <a:off x="7022" y="7261"/>
              <a:ext cx="2019" cy="2602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b="1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23" name="Oval 60"/>
            <p:cNvSpPr>
              <a:spLocks noChangeArrowheads="1"/>
            </p:cNvSpPr>
            <p:nvPr/>
          </p:nvSpPr>
          <p:spPr bwMode="auto">
            <a:xfrm>
              <a:off x="3962" y="7142"/>
              <a:ext cx="1990" cy="2994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b="1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sp>
          <p:nvSpPr>
            <p:cNvPr id="24" name="Line 61"/>
            <p:cNvSpPr>
              <a:spLocks noChangeShapeType="1"/>
            </p:cNvSpPr>
            <p:nvPr/>
          </p:nvSpPr>
          <p:spPr bwMode="auto">
            <a:xfrm flipV="1">
              <a:off x="5510" y="8477"/>
              <a:ext cx="1974" cy="4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  <p:grpSp>
          <p:nvGrpSpPr>
            <p:cNvPr id="25" name="Group 62"/>
            <p:cNvGrpSpPr>
              <a:grpSpLocks/>
            </p:cNvGrpSpPr>
            <p:nvPr/>
          </p:nvGrpSpPr>
          <p:grpSpPr bwMode="auto">
            <a:xfrm>
              <a:off x="4421" y="7547"/>
              <a:ext cx="1080" cy="2184"/>
              <a:chOff x="4200" y="8018"/>
              <a:chExt cx="1080" cy="2184"/>
            </a:xfrm>
          </p:grpSpPr>
          <p:sp>
            <p:nvSpPr>
              <p:cNvPr id="27" name="Rectangle 63"/>
              <p:cNvSpPr>
                <a:spLocks noChangeArrowheads="1"/>
              </p:cNvSpPr>
              <p:nvPr/>
            </p:nvSpPr>
            <p:spPr bwMode="auto">
              <a:xfrm>
                <a:off x="4200" y="8018"/>
                <a:ext cx="1080" cy="312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8000" tIns="0" rIns="18000" bIns="36000"/>
              <a:lstStyle/>
              <a:p>
                <a:pPr algn="ctr"/>
                <a:r>
                  <a:rPr lang="en-US" altLang="zh-CN" sz="1800" b="1"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1201000012</a:t>
                </a:r>
              </a:p>
            </p:txBody>
          </p:sp>
          <p:sp>
            <p:nvSpPr>
              <p:cNvPr id="28" name="Rectangle 64"/>
              <p:cNvSpPr>
                <a:spLocks noChangeArrowheads="1"/>
              </p:cNvSpPr>
              <p:nvPr/>
            </p:nvSpPr>
            <p:spPr bwMode="auto">
              <a:xfrm>
                <a:off x="4200" y="8330"/>
                <a:ext cx="1080" cy="312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8000" tIns="0" rIns="18000" bIns="36000"/>
              <a:lstStyle/>
              <a:p>
                <a:pPr algn="ctr"/>
                <a:r>
                  <a:rPr lang="en-US" altLang="zh-CN" sz="1800" b="1"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1201000148</a:t>
                </a:r>
              </a:p>
            </p:txBody>
          </p:sp>
          <p:sp>
            <p:nvSpPr>
              <p:cNvPr id="29" name="Rectangle 65"/>
              <p:cNvSpPr>
                <a:spLocks noChangeArrowheads="1"/>
              </p:cNvSpPr>
              <p:nvPr/>
            </p:nvSpPr>
            <p:spPr bwMode="auto">
              <a:xfrm>
                <a:off x="4200" y="8642"/>
                <a:ext cx="1080" cy="312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8000" tIns="0" rIns="18000" bIns="36000"/>
              <a:lstStyle/>
              <a:p>
                <a:pPr algn="ctr"/>
                <a:r>
                  <a:rPr lang="en-US" altLang="zh-CN" sz="1800" b="1"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1201100006</a:t>
                </a:r>
              </a:p>
            </p:txBody>
          </p:sp>
          <p:sp>
            <p:nvSpPr>
              <p:cNvPr id="30" name="Rectangle 66"/>
              <p:cNvSpPr>
                <a:spLocks noChangeArrowheads="1"/>
              </p:cNvSpPr>
              <p:nvPr/>
            </p:nvSpPr>
            <p:spPr bwMode="auto">
              <a:xfrm>
                <a:off x="4200" y="8954"/>
                <a:ext cx="1080" cy="312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8000" tIns="0" rIns="18000" bIns="36000"/>
              <a:lstStyle/>
              <a:p>
                <a:pPr algn="ctr"/>
                <a:r>
                  <a:rPr lang="en-US" altLang="zh-CN" sz="1800" b="1"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1201100258</a:t>
                </a:r>
              </a:p>
            </p:txBody>
          </p:sp>
          <p:sp>
            <p:nvSpPr>
              <p:cNvPr id="31" name="Rectangle 67"/>
              <p:cNvSpPr>
                <a:spLocks noChangeArrowheads="1"/>
              </p:cNvSpPr>
              <p:nvPr/>
            </p:nvSpPr>
            <p:spPr bwMode="auto">
              <a:xfrm>
                <a:off x="4200" y="9266"/>
                <a:ext cx="1080" cy="312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8000" tIns="0" rIns="18000" bIns="36000"/>
              <a:lstStyle/>
              <a:p>
                <a:pPr algn="ctr"/>
                <a:r>
                  <a:rPr lang="en-US" altLang="zh-CN" sz="1800" b="1"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1201107543</a:t>
                </a:r>
              </a:p>
            </p:txBody>
          </p:sp>
          <p:sp>
            <p:nvSpPr>
              <p:cNvPr id="32" name="Rectangle 68"/>
              <p:cNvSpPr>
                <a:spLocks noChangeArrowheads="1"/>
              </p:cNvSpPr>
              <p:nvPr/>
            </p:nvSpPr>
            <p:spPr bwMode="auto">
              <a:xfrm>
                <a:off x="4200" y="9578"/>
                <a:ext cx="1080" cy="312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8000" tIns="0" rIns="18000" bIns="36000"/>
              <a:lstStyle/>
              <a:p>
                <a:pPr algn="ctr"/>
                <a:r>
                  <a:rPr lang="en-US" altLang="zh-CN" sz="1800" b="1"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1201200867</a:t>
                </a:r>
              </a:p>
            </p:txBody>
          </p:sp>
          <p:sp>
            <p:nvSpPr>
              <p:cNvPr id="33" name="Rectangle 69"/>
              <p:cNvSpPr>
                <a:spLocks noChangeArrowheads="1"/>
              </p:cNvSpPr>
              <p:nvPr/>
            </p:nvSpPr>
            <p:spPr bwMode="auto">
              <a:xfrm>
                <a:off x="4200" y="9890"/>
                <a:ext cx="1080" cy="312"/>
              </a:xfrm>
              <a:prstGeom prst="rect">
                <a:avLst/>
              </a:prstGeom>
              <a:solidFill>
                <a:srgbClr val="FFFFFF"/>
              </a:soli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8000" tIns="0" rIns="18000" bIns="36000"/>
              <a:lstStyle/>
              <a:p>
                <a:pPr algn="ctr"/>
                <a:r>
                  <a:rPr lang="en-US" altLang="zh-CN" sz="1800" b="1"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2201200025</a:t>
                </a:r>
              </a:p>
            </p:txBody>
          </p:sp>
        </p:grpSp>
        <p:sp>
          <p:nvSpPr>
            <p:cNvPr id="26" name="Line 70"/>
            <p:cNvSpPr>
              <a:spLocks noChangeShapeType="1"/>
            </p:cNvSpPr>
            <p:nvPr/>
          </p:nvSpPr>
          <p:spPr bwMode="auto">
            <a:xfrm>
              <a:off x="5510" y="8021"/>
              <a:ext cx="1972" cy="4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>
                <a:latin typeface="Times New Roman" pitchFamily="18" charset="0"/>
                <a:ea typeface="宋体" pitchFamily="2" charset="-122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/>
          <p:nvPr/>
        </p:nvSpPr>
        <p:spPr>
          <a:xfrm>
            <a:off x="2484438" y="239395"/>
            <a:ext cx="3841750" cy="64516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3600" kern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  <a:cs typeface="+mj-cs"/>
                <a:sym typeface="+mn-ea"/>
              </a:rPr>
              <a:t>多对多联系的例子</a:t>
            </a:r>
          </a:p>
        </p:txBody>
      </p:sp>
      <p:sp>
        <p:nvSpPr>
          <p:cNvPr id="321539" name="Text Box 3"/>
          <p:cNvSpPr txBox="1"/>
          <p:nvPr/>
        </p:nvSpPr>
        <p:spPr>
          <a:xfrm>
            <a:off x="539115" y="1423988"/>
            <a:ext cx="4948238" cy="4819781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3200" b="1" dirty="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有学生和课程两个实体，并且有语义</a:t>
            </a:r>
            <a:r>
              <a:rPr lang="zh-CN" altLang="en-US" sz="3200" b="1" dirty="0" smtClean="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：</a:t>
            </a:r>
            <a:endParaRPr lang="en-US" altLang="zh-CN" sz="3200" b="1" dirty="0" smtClean="0">
              <a:solidFill>
                <a:schemeClr val="tx2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algn="l">
              <a:lnSpc>
                <a:spcPct val="120000"/>
              </a:lnSpc>
              <a:buNone/>
            </a:pPr>
            <a:r>
              <a:rPr lang="en-US" altLang="zh-CN" sz="3200" b="1" dirty="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lang="en-US" altLang="zh-CN" sz="3200" b="1" dirty="0" smtClean="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</a:t>
            </a:r>
            <a:r>
              <a:rPr lang="zh-CN" altLang="en-US" sz="3200" b="1" dirty="0" smtClean="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一</a:t>
            </a:r>
            <a:r>
              <a:rPr lang="zh-CN" altLang="en-US" sz="3200" b="1" dirty="0">
                <a:solidFill>
                  <a:schemeClr val="tx2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个学生可以修多门课程，一门课程可以被多个学生修。那么学生和课程之间的联系就是多对多的，我们把这种联系命名为选课。</a:t>
            </a:r>
          </a:p>
        </p:txBody>
      </p:sp>
      <p:sp>
        <p:nvSpPr>
          <p:cNvPr id="321540" name="Rectangle 4"/>
          <p:cNvSpPr/>
          <p:nvPr/>
        </p:nvSpPr>
        <p:spPr>
          <a:xfrm>
            <a:off x="6237288" y="1571625"/>
            <a:ext cx="1828800" cy="685800"/>
          </a:xfrm>
          <a:prstGeom prst="rect">
            <a:avLst/>
          </a:prstGeom>
          <a:noFill/>
          <a:ln w="38100" cap="sq" cmpd="sng">
            <a:solidFill>
              <a:srgbClr val="FF000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pPr algn="ctr"/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学生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1541" name="Rectangle 5"/>
          <p:cNvSpPr/>
          <p:nvPr/>
        </p:nvSpPr>
        <p:spPr>
          <a:xfrm>
            <a:off x="6313488" y="4848225"/>
            <a:ext cx="1828800" cy="685800"/>
          </a:xfrm>
          <a:prstGeom prst="rect">
            <a:avLst/>
          </a:prstGeom>
          <a:noFill/>
          <a:ln w="38100" cap="sq" cmpd="sng">
            <a:solidFill>
              <a:srgbClr val="FF000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pPr algn="ctr"/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课程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1542" name="AutoShape 6"/>
          <p:cNvSpPr/>
          <p:nvPr/>
        </p:nvSpPr>
        <p:spPr>
          <a:xfrm>
            <a:off x="6084888" y="2943225"/>
            <a:ext cx="2286000" cy="1143000"/>
          </a:xfrm>
          <a:prstGeom prst="flowChartDecision">
            <a:avLst/>
          </a:prstGeom>
          <a:noFill/>
          <a:ln w="38100" cap="sq" cmpd="sng">
            <a:solidFill>
              <a:srgbClr val="FF0000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/>
          <a:p>
            <a:pPr algn="ctr"/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选课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1543" name="Line 7"/>
          <p:cNvSpPr/>
          <p:nvPr/>
        </p:nvSpPr>
        <p:spPr>
          <a:xfrm flipV="1">
            <a:off x="7227888" y="2257425"/>
            <a:ext cx="0" cy="685800"/>
          </a:xfrm>
          <a:prstGeom prst="line">
            <a:avLst/>
          </a:prstGeom>
          <a:ln w="38100" cap="sq" cmpd="sng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21544" name="Line 8"/>
          <p:cNvSpPr/>
          <p:nvPr/>
        </p:nvSpPr>
        <p:spPr>
          <a:xfrm>
            <a:off x="7227888" y="4086225"/>
            <a:ext cx="0" cy="762000"/>
          </a:xfrm>
          <a:prstGeom prst="line">
            <a:avLst/>
          </a:prstGeom>
          <a:ln w="38100" cap="sq" cmpd="sng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21545" name="Text Box 9"/>
          <p:cNvSpPr txBox="1"/>
          <p:nvPr/>
        </p:nvSpPr>
        <p:spPr>
          <a:xfrm>
            <a:off x="7212013" y="2333625"/>
            <a:ext cx="420687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</a:p>
        </p:txBody>
      </p:sp>
      <p:sp>
        <p:nvSpPr>
          <p:cNvPr id="321546" name="Text Box 10"/>
          <p:cNvSpPr txBox="1"/>
          <p:nvPr/>
        </p:nvSpPr>
        <p:spPr>
          <a:xfrm>
            <a:off x="7212013" y="4162425"/>
            <a:ext cx="33655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1" fill="hold"/>
                                        <p:tgtEl>
                                          <p:spTgt spid="32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4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1" fill="hold"/>
                                        <p:tgtEl>
                                          <p:spTgt spid="32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4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32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7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21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21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215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215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0"/>
                            </p:stCondLst>
                            <p:childTnLst>
                              <p:par>
                                <p:cTn id="28" presetID="17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215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215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215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215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500"/>
                            </p:stCondLst>
                            <p:childTnLst>
                              <p:par>
                                <p:cTn id="35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32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7000"/>
                            </p:stCondLst>
                            <p:childTnLst>
                              <p:par>
                                <p:cTn id="39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1" dur="1" fill="hold"/>
                                        <p:tgtEl>
                                          <p:spTgt spid="32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39" grpId="0"/>
      <p:bldP spid="321540" grpId="0" animBg="1"/>
      <p:bldP spid="321541" grpId="0" animBg="1"/>
      <p:bldP spid="321542" grpId="0" animBg="1"/>
      <p:bldP spid="321545" grpId="0"/>
      <p:bldP spid="32154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ea typeface="宋体" pitchFamily="2" charset="-122"/>
              </a:rPr>
              <a:t>关联多个实体的联系</a:t>
            </a:r>
          </a:p>
        </p:txBody>
      </p:sp>
      <p:sp>
        <p:nvSpPr>
          <p:cNvPr id="405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052513"/>
            <a:ext cx="8610600" cy="3313112"/>
          </a:xfrm>
        </p:spPr>
        <p:txBody>
          <a:bodyPr/>
          <a:lstStyle/>
          <a:p>
            <a:pPr eaLnBrk="1" hangingPunct="1"/>
            <a:r>
              <a:rPr lang="zh-CN" altLang="en-US" sz="2800" dirty="0" smtClean="0">
                <a:solidFill>
                  <a:srgbClr val="D60093"/>
                </a:solidFill>
              </a:rPr>
              <a:t>顾客购买商品</a:t>
            </a:r>
            <a:r>
              <a:rPr lang="zh-CN" altLang="en-US" sz="2800" dirty="0" smtClean="0"/>
              <a:t>：</a:t>
            </a:r>
          </a:p>
          <a:p>
            <a:pPr lvl="1" eaLnBrk="1" hangingPunct="1"/>
            <a:r>
              <a:rPr lang="zh-CN" altLang="en-US" sz="2800" dirty="0" smtClean="0"/>
              <a:t>每个顾客可以从多个售货员那里购买商品，并且可以购买多种商品；</a:t>
            </a:r>
          </a:p>
          <a:p>
            <a:pPr lvl="1" eaLnBrk="1" hangingPunct="1"/>
            <a:r>
              <a:rPr lang="zh-CN" altLang="en-US" sz="2800" dirty="0" smtClean="0"/>
              <a:t>每个售货员可以向多名顾客销售商品，并且可以销售多种商品；</a:t>
            </a:r>
          </a:p>
          <a:p>
            <a:pPr lvl="1" eaLnBrk="1" hangingPunct="1"/>
            <a:r>
              <a:rPr lang="zh-CN" altLang="en-US" sz="2800" dirty="0" smtClean="0"/>
              <a:t>每种商品可由多个售货员销售，并且可以销售给多名顾客。 </a:t>
            </a: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1384300" y="4525963"/>
            <a:ext cx="5862638" cy="1565275"/>
            <a:chOff x="1059" y="1344"/>
            <a:chExt cx="3693" cy="2112"/>
          </a:xfrm>
        </p:grpSpPr>
        <p:sp>
          <p:nvSpPr>
            <p:cNvPr id="28677" name="Text Box 18"/>
            <p:cNvSpPr txBox="1">
              <a:spLocks noChangeArrowheads="1"/>
            </p:cNvSpPr>
            <p:nvPr/>
          </p:nvSpPr>
          <p:spPr bwMode="auto">
            <a:xfrm>
              <a:off x="3136" y="1766"/>
              <a:ext cx="359" cy="3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9pPr>
            </a:lstStyle>
            <a:p>
              <a:pPr algn="just" latinLnBrk="0"/>
              <a:r>
                <a:rPr kumimoji="0" lang="en-US" altLang="zh-CN" sz="1800" b="1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m</a:t>
              </a:r>
            </a:p>
          </p:txBody>
        </p:sp>
        <p:sp>
          <p:nvSpPr>
            <p:cNvPr id="28678" name="Text Box 19"/>
            <p:cNvSpPr txBox="1">
              <a:spLocks noChangeArrowheads="1"/>
            </p:cNvSpPr>
            <p:nvPr/>
          </p:nvSpPr>
          <p:spPr bwMode="auto">
            <a:xfrm>
              <a:off x="4393" y="2470"/>
              <a:ext cx="359" cy="3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9pPr>
            </a:lstStyle>
            <a:p>
              <a:pPr algn="just" latinLnBrk="0"/>
              <a:r>
                <a:rPr kumimoji="0" lang="en-US" altLang="zh-CN" sz="1800" b="1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n</a:t>
              </a:r>
            </a:p>
          </p:txBody>
        </p:sp>
        <p:sp>
          <p:nvSpPr>
            <p:cNvPr id="28679" name="Text Box 20"/>
            <p:cNvSpPr txBox="1">
              <a:spLocks noChangeArrowheads="1"/>
            </p:cNvSpPr>
            <p:nvPr/>
          </p:nvSpPr>
          <p:spPr bwMode="auto">
            <a:xfrm>
              <a:off x="1623" y="2586"/>
              <a:ext cx="359" cy="3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9pPr>
            </a:lstStyle>
            <a:p>
              <a:pPr algn="just" latinLnBrk="0"/>
              <a:r>
                <a:rPr kumimoji="0" lang="en-US" altLang="zh-CN" sz="1800" b="1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p</a:t>
              </a:r>
            </a:p>
          </p:txBody>
        </p:sp>
        <p:sp>
          <p:nvSpPr>
            <p:cNvPr id="28680" name="Line 21"/>
            <p:cNvSpPr>
              <a:spLocks noChangeShapeType="1"/>
            </p:cNvSpPr>
            <p:nvPr/>
          </p:nvSpPr>
          <p:spPr bwMode="auto">
            <a:xfrm>
              <a:off x="1521" y="2470"/>
              <a:ext cx="692" cy="0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28681" name="Line 22"/>
            <p:cNvSpPr>
              <a:spLocks noChangeShapeType="1"/>
            </p:cNvSpPr>
            <p:nvPr/>
          </p:nvSpPr>
          <p:spPr bwMode="auto">
            <a:xfrm>
              <a:off x="1521" y="2470"/>
              <a:ext cx="0" cy="564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28682" name="Line 23"/>
            <p:cNvSpPr>
              <a:spLocks noChangeShapeType="1"/>
            </p:cNvSpPr>
            <p:nvPr/>
          </p:nvSpPr>
          <p:spPr bwMode="auto">
            <a:xfrm>
              <a:off x="3598" y="2470"/>
              <a:ext cx="692" cy="0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28683" name="Line 24"/>
            <p:cNvSpPr>
              <a:spLocks noChangeShapeType="1"/>
            </p:cNvSpPr>
            <p:nvPr/>
          </p:nvSpPr>
          <p:spPr bwMode="auto">
            <a:xfrm>
              <a:off x="4290" y="2470"/>
              <a:ext cx="0" cy="564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28684" name="Text Box 25"/>
            <p:cNvSpPr txBox="1">
              <a:spLocks noChangeArrowheads="1"/>
            </p:cNvSpPr>
            <p:nvPr/>
          </p:nvSpPr>
          <p:spPr bwMode="auto">
            <a:xfrm>
              <a:off x="1059" y="3034"/>
              <a:ext cx="1154" cy="42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99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9pPr>
            </a:lstStyle>
            <a:p>
              <a:pPr algn="ctr" latinLnBrk="0"/>
              <a:r>
                <a:rPr kumimoji="0" lang="zh-CN" altLang="en-US" sz="1800" b="1">
                  <a:solidFill>
                    <a:srgbClr val="FF0000"/>
                  </a:solidFill>
                  <a:latin typeface="宋体" pitchFamily="2" charset="-122"/>
                  <a:ea typeface="宋体" pitchFamily="2" charset="-122"/>
                </a:rPr>
                <a:t>顾客</a:t>
              </a:r>
            </a:p>
          </p:txBody>
        </p:sp>
        <p:sp>
          <p:nvSpPr>
            <p:cNvPr id="28685" name="Text Box 26"/>
            <p:cNvSpPr txBox="1">
              <a:spLocks noChangeArrowheads="1"/>
            </p:cNvSpPr>
            <p:nvPr/>
          </p:nvSpPr>
          <p:spPr bwMode="auto">
            <a:xfrm>
              <a:off x="3598" y="3034"/>
              <a:ext cx="1154" cy="42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99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9pPr>
            </a:lstStyle>
            <a:p>
              <a:pPr algn="ctr" latinLnBrk="0"/>
              <a:r>
                <a:rPr kumimoji="0" lang="zh-CN" altLang="en-US" sz="1800" b="1">
                  <a:solidFill>
                    <a:srgbClr val="FF0000"/>
                  </a:solidFill>
                  <a:latin typeface="宋体" pitchFamily="2" charset="-122"/>
                  <a:ea typeface="宋体" pitchFamily="2" charset="-122"/>
                </a:rPr>
                <a:t>商品</a:t>
              </a:r>
            </a:p>
          </p:txBody>
        </p:sp>
        <p:sp>
          <p:nvSpPr>
            <p:cNvPr id="28686" name="Text Box 27"/>
            <p:cNvSpPr txBox="1">
              <a:spLocks noChangeArrowheads="1"/>
            </p:cNvSpPr>
            <p:nvPr/>
          </p:nvSpPr>
          <p:spPr bwMode="auto">
            <a:xfrm>
              <a:off x="2213" y="1344"/>
              <a:ext cx="1154" cy="42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99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34" charset="-127"/>
                  <a:ea typeface="굴림" pitchFamily="34" charset="-127"/>
                </a:defRPr>
              </a:lvl9pPr>
            </a:lstStyle>
            <a:p>
              <a:pPr algn="ctr" latinLnBrk="0"/>
              <a:r>
                <a:rPr kumimoji="0" lang="zh-CN" altLang="en-US" sz="1800" b="1" dirty="0">
                  <a:solidFill>
                    <a:srgbClr val="FF0000"/>
                  </a:solidFill>
                  <a:latin typeface="宋体" pitchFamily="2" charset="-122"/>
                  <a:ea typeface="宋体" pitchFamily="2" charset="-122"/>
                </a:rPr>
                <a:t>售货员</a:t>
              </a:r>
            </a:p>
          </p:txBody>
        </p:sp>
        <p:sp>
          <p:nvSpPr>
            <p:cNvPr id="28687" name="AutoShape 28"/>
            <p:cNvSpPr>
              <a:spLocks noChangeArrowheads="1"/>
            </p:cNvSpPr>
            <p:nvPr/>
          </p:nvSpPr>
          <p:spPr bwMode="auto">
            <a:xfrm>
              <a:off x="2213" y="2189"/>
              <a:ext cx="1385" cy="563"/>
            </a:xfrm>
            <a:prstGeom prst="diamond">
              <a:avLst/>
            </a:prstGeom>
            <a:solidFill>
              <a:schemeClr val="bg1"/>
            </a:solidFill>
            <a:ln w="28575">
              <a:solidFill>
                <a:srgbClr val="0099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latinLnBrk="0" hangingPunct="0"/>
              <a:r>
                <a:rPr kumimoji="0" lang="zh-CN" altLang="en-US" sz="1800" b="1">
                  <a:solidFill>
                    <a:srgbClr val="FF0000"/>
                  </a:solidFill>
                  <a:latin typeface="宋体" pitchFamily="2" charset="-122"/>
                  <a:ea typeface="宋体" pitchFamily="2" charset="-122"/>
                </a:rPr>
                <a:t>销售</a:t>
              </a:r>
            </a:p>
          </p:txBody>
        </p:sp>
        <p:sp>
          <p:nvSpPr>
            <p:cNvPr id="28688" name="Line 29"/>
            <p:cNvSpPr>
              <a:spLocks noChangeShapeType="1"/>
            </p:cNvSpPr>
            <p:nvPr/>
          </p:nvSpPr>
          <p:spPr bwMode="auto">
            <a:xfrm flipV="1">
              <a:off x="2906" y="1766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>
                <a:latin typeface="宋体" pitchFamily="2" charset="-122"/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75785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05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405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405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405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5507" grpId="0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dirty="0">
                <a:sym typeface="+mn-ea"/>
              </a:rPr>
              <a:t>2.3 组织层数据模型</a:t>
            </a:r>
          </a:p>
        </p:txBody>
      </p:sp>
      <p:sp>
        <p:nvSpPr>
          <p:cNvPr id="36867" name="Rectangle 3"/>
          <p:cNvSpPr>
            <a:spLocks noGrp="1"/>
          </p:cNvSpPr>
          <p:nvPr>
            <p:ph idx="1"/>
          </p:nvPr>
        </p:nvSpPr>
        <p:spPr>
          <a:xfrm>
            <a:off x="642938" y="1428750"/>
            <a:ext cx="8105526" cy="2864346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>
              <a:spcBef>
                <a:spcPts val="2400"/>
              </a:spcBef>
            </a:pPr>
            <a:r>
              <a:rPr lang="en-US" altLang="zh-CN" sz="3600" dirty="0">
                <a:cs typeface="等线" panose="02010600030101010101" charset="-122"/>
              </a:rPr>
              <a:t>2.3.1 </a:t>
            </a:r>
            <a:r>
              <a:rPr lang="zh-CN" altLang="en-US" sz="3600" dirty="0">
                <a:cs typeface="等线" panose="02010600030101010101" charset="-122"/>
              </a:rPr>
              <a:t>关系数据模型的数据结构</a:t>
            </a:r>
          </a:p>
          <a:p>
            <a:pPr eaLnBrk="1" hangingPunct="1">
              <a:spcBef>
                <a:spcPts val="2400"/>
              </a:spcBef>
            </a:pPr>
            <a:r>
              <a:rPr lang="en-US" altLang="zh-CN" sz="3600" dirty="0">
                <a:cs typeface="等线" panose="02010600030101010101" charset="-122"/>
              </a:rPr>
              <a:t>2.3.2 </a:t>
            </a:r>
            <a:r>
              <a:rPr lang="zh-CN" altLang="en-US" sz="3600" dirty="0">
                <a:cs typeface="等线" panose="02010600030101010101" charset="-122"/>
              </a:rPr>
              <a:t>关系数据模型的数据操作</a:t>
            </a:r>
          </a:p>
          <a:p>
            <a:pPr eaLnBrk="1" hangingPunct="1">
              <a:spcBef>
                <a:spcPts val="2400"/>
              </a:spcBef>
            </a:pPr>
            <a:r>
              <a:rPr lang="en-US" altLang="zh-CN" sz="3600" dirty="0">
                <a:cs typeface="等线" panose="02010600030101010101" charset="-122"/>
              </a:rPr>
              <a:t>2.3.3 </a:t>
            </a:r>
            <a:r>
              <a:rPr lang="zh-CN" altLang="en-US" sz="3600" dirty="0">
                <a:cs typeface="等线" panose="02010600030101010101" charset="-122"/>
              </a:rPr>
              <a:t>关系数据模型的数据完整性约束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547664" y="4293096"/>
            <a:ext cx="6453336" cy="172819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3200" b="0">
                <a:solidFill>
                  <a:schemeClr val="tx2"/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 b="0">
                <a:solidFill>
                  <a:schemeClr val="tx2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400" b="0">
                <a:solidFill>
                  <a:schemeClr val="tx2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0">
                <a:solidFill>
                  <a:schemeClr val="tx2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0">
                <a:solidFill>
                  <a:schemeClr val="tx2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marL="0" indent="0" eaLnBrk="1" hangingPunct="1">
              <a:buNone/>
            </a:pPr>
            <a:r>
              <a:rPr lang="zh-CN" altLang="en-US" sz="2800" b="1" dirty="0" smtClean="0">
                <a:latin typeface="宋体" pitchFamily="2" charset="-122"/>
                <a:ea typeface="宋体" pitchFamily="2" charset="-122"/>
              </a:rPr>
              <a:t>层次数据模型</a:t>
            </a:r>
            <a:r>
              <a:rPr lang="en-US" altLang="zh-CN" sz="2800" b="1" dirty="0" smtClean="0">
                <a:latin typeface="宋体" pitchFamily="2" charset="-122"/>
                <a:ea typeface="宋体" pitchFamily="2" charset="-122"/>
                <a:sym typeface="Wingdings" pitchFamily="2" charset="2"/>
              </a:rPr>
              <a:t></a:t>
            </a:r>
            <a:r>
              <a:rPr lang="zh-CN" altLang="en-US" sz="2800" b="1" dirty="0" smtClean="0">
                <a:latin typeface="宋体" pitchFamily="2" charset="-122"/>
                <a:ea typeface="宋体" pitchFamily="2" charset="-122"/>
              </a:rPr>
              <a:t>网状数据模型</a:t>
            </a:r>
            <a:r>
              <a:rPr lang="en-US" altLang="zh-CN" sz="2800" b="1" dirty="0" smtClean="0">
                <a:latin typeface="宋体" pitchFamily="2" charset="-122"/>
                <a:ea typeface="宋体" pitchFamily="2" charset="-122"/>
                <a:sym typeface="Wingdings" pitchFamily="2" charset="2"/>
              </a:rPr>
              <a:t></a:t>
            </a:r>
            <a:endParaRPr lang="zh-CN" altLang="en-US" sz="2800" b="1" dirty="0" smtClean="0">
              <a:latin typeface="宋体" pitchFamily="2" charset="-122"/>
              <a:ea typeface="宋体" pitchFamily="2" charset="-122"/>
            </a:endParaRPr>
          </a:p>
          <a:p>
            <a:pPr marL="0" indent="0" eaLnBrk="1" hangingPunct="1">
              <a:buNone/>
            </a:pPr>
            <a:r>
              <a:rPr lang="zh-CN" altLang="en-US" sz="2800" b="1" dirty="0" smtClean="0">
                <a:latin typeface="宋体" pitchFamily="2" charset="-122"/>
                <a:ea typeface="宋体" pitchFamily="2" charset="-122"/>
              </a:rPr>
              <a:t>关系数据模型</a:t>
            </a:r>
            <a:r>
              <a:rPr lang="en-US" altLang="zh-CN" sz="2800" b="1" dirty="0" smtClean="0">
                <a:latin typeface="宋体" pitchFamily="2" charset="-122"/>
                <a:ea typeface="宋体" pitchFamily="2" charset="-122"/>
                <a:sym typeface="Wingdings" pitchFamily="2" charset="2"/>
              </a:rPr>
              <a:t></a:t>
            </a:r>
          </a:p>
          <a:p>
            <a:pPr marL="0" indent="0" eaLnBrk="1" hangingPunct="1">
              <a:buNone/>
            </a:pPr>
            <a:r>
              <a:rPr lang="zh-CN" altLang="en-US" sz="2800" b="1" dirty="0" smtClean="0">
                <a:latin typeface="宋体" pitchFamily="2" charset="-122"/>
                <a:ea typeface="宋体" pitchFamily="2" charset="-122"/>
                <a:sym typeface="Wingdings" pitchFamily="2" charset="2"/>
              </a:rPr>
              <a:t>对象模型</a:t>
            </a:r>
            <a:endParaRPr lang="zh-CN" altLang="en-US" sz="2800" b="1" dirty="0" smtClean="0"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en-US" altLang="zh-CN" dirty="0" smtClean="0">
                <a:sym typeface="+mn-ea"/>
              </a:rPr>
              <a:t>2.3.1 </a:t>
            </a:r>
            <a:r>
              <a:rPr lang="zh-CN" altLang="en-US" dirty="0" smtClean="0">
                <a:sym typeface="+mn-ea"/>
              </a:rPr>
              <a:t>关系数据模型</a:t>
            </a:r>
            <a:r>
              <a:rPr lang="zh-CN" altLang="en-US" dirty="0">
                <a:sym typeface="+mn-ea"/>
              </a:rPr>
              <a:t>的数据结构</a:t>
            </a:r>
          </a:p>
        </p:txBody>
      </p:sp>
      <p:sp>
        <p:nvSpPr>
          <p:cNvPr id="324611" name="Rectangle 3"/>
          <p:cNvSpPr>
            <a:spLocks noGrp="1"/>
          </p:cNvSpPr>
          <p:nvPr>
            <p:ph idx="1"/>
          </p:nvPr>
        </p:nvSpPr>
        <p:spPr>
          <a:xfrm>
            <a:off x="539433" y="1268730"/>
            <a:ext cx="8229600" cy="2692400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>
              <a:spcBef>
                <a:spcPts val="1200"/>
              </a:spcBef>
            </a:pPr>
            <a:r>
              <a:rPr lang="zh-CN" altLang="en-US" sz="3000" dirty="0">
                <a:cs typeface="等线" panose="02010600030101010101" charset="-122"/>
              </a:rPr>
              <a:t>把数据看成是二维表中的元素，而这个二维表就是关系 </a:t>
            </a:r>
          </a:p>
          <a:p>
            <a:pPr eaLnBrk="1" hangingPunct="1">
              <a:spcBef>
                <a:spcPts val="1200"/>
              </a:spcBef>
            </a:pPr>
            <a:r>
              <a:rPr lang="zh-CN" altLang="en-US" sz="3000" dirty="0">
                <a:cs typeface="等线" panose="02010600030101010101" charset="-122"/>
              </a:rPr>
              <a:t>用</a:t>
            </a:r>
            <a:r>
              <a:rPr lang="zh-CN" altLang="en-US" sz="3000" dirty="0">
                <a:solidFill>
                  <a:srgbClr val="FF0000"/>
                </a:solidFill>
                <a:cs typeface="等线" panose="02010600030101010101" charset="-122"/>
              </a:rPr>
              <a:t>关系</a:t>
            </a:r>
            <a:r>
              <a:rPr lang="zh-CN" altLang="en-US" sz="3000" dirty="0">
                <a:cs typeface="等线" panose="02010600030101010101" charset="-122"/>
              </a:rPr>
              <a:t>（表格数据）表示实体和实体之间联系的模型称为关系数据模型</a:t>
            </a:r>
          </a:p>
          <a:p>
            <a:pPr eaLnBrk="1" hangingPunct="1">
              <a:spcBef>
                <a:spcPts val="1200"/>
              </a:spcBef>
            </a:pPr>
            <a:r>
              <a:rPr lang="zh-CN" altLang="en-US" sz="3000" dirty="0">
                <a:cs typeface="等线" panose="02010600030101010101" charset="-122"/>
              </a:rPr>
              <a:t>示例：学生基本信息表</a:t>
            </a:r>
          </a:p>
        </p:txBody>
      </p:sp>
      <p:pic>
        <p:nvPicPr>
          <p:cNvPr id="37892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150" y="4076700"/>
            <a:ext cx="5041900" cy="2149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610" grpId="0"/>
      <p:bldP spid="324611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dirty="0">
                <a:sym typeface="+mn-ea"/>
              </a:rPr>
              <a:t>一些基本术语</a:t>
            </a:r>
          </a:p>
        </p:txBody>
      </p:sp>
      <p:sp>
        <p:nvSpPr>
          <p:cNvPr id="38915" name="Rectangle 3"/>
          <p:cNvSpPr>
            <a:spLocks noGrp="1"/>
          </p:cNvSpPr>
          <p:nvPr>
            <p:ph idx="1"/>
          </p:nvPr>
        </p:nvSpPr>
        <p:spPr>
          <a:xfrm>
            <a:off x="428625" y="1214438"/>
            <a:ext cx="8218488" cy="2428875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>
              <a:spcBef>
                <a:spcPts val="200"/>
              </a:spcBef>
            </a:pPr>
            <a:r>
              <a:rPr lang="zh-CN" altLang="en-US" dirty="0" smtClean="0">
                <a:solidFill>
                  <a:srgbClr val="FF0000"/>
                </a:solidFill>
                <a:cs typeface="等线" panose="02010600030101010101" charset="-122"/>
              </a:rPr>
              <a:t>关系</a:t>
            </a:r>
            <a:r>
              <a:rPr lang="zh-CN" altLang="en-US" dirty="0" smtClean="0">
                <a:cs typeface="等线" panose="02010600030101010101" charset="-122"/>
              </a:rPr>
              <a:t>：</a:t>
            </a:r>
            <a:r>
              <a:rPr lang="zh-CN" altLang="en-US" dirty="0">
                <a:cs typeface="等线" panose="02010600030101010101" charset="-122"/>
              </a:rPr>
              <a:t>就是二维表，它满足如下性质：</a:t>
            </a:r>
          </a:p>
          <a:p>
            <a:pPr lvl="1" eaLnBrk="1" hangingPunct="1">
              <a:spcBef>
                <a:spcPts val="1200"/>
              </a:spcBef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cs typeface="等线" panose="02010600030101010101" charset="-122"/>
              </a:rPr>
              <a:t>关系表中的每一列都是不可再分的基本属性。 </a:t>
            </a:r>
          </a:p>
          <a:p>
            <a:pPr lvl="1" eaLnBrk="1" hangingPunct="1">
              <a:spcBef>
                <a:spcPts val="1200"/>
              </a:spcBef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cs typeface="等线" panose="02010600030101010101" charset="-122"/>
              </a:rPr>
              <a:t>表中各属性不能重名。 </a:t>
            </a:r>
          </a:p>
          <a:p>
            <a:pPr lvl="1" eaLnBrk="1" hangingPunct="1">
              <a:spcBef>
                <a:spcPts val="1200"/>
              </a:spcBef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cs typeface="等线" panose="02010600030101010101" charset="-122"/>
              </a:rPr>
              <a:t>表中的行、列次序并不重要。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425671"/>
              </p:ext>
            </p:extLst>
          </p:nvPr>
        </p:nvGraphicFramePr>
        <p:xfrm>
          <a:off x="642938" y="4341813"/>
          <a:ext cx="7858178" cy="2087892"/>
        </p:xfrm>
        <a:graphic>
          <a:graphicData uri="http://schemas.openxmlformats.org/drawingml/2006/table">
            <a:tbl>
              <a:tblPr/>
              <a:tblGrid>
                <a:gridCol w="1229398"/>
                <a:gridCol w="1162945"/>
                <a:gridCol w="814060"/>
                <a:gridCol w="930355"/>
                <a:gridCol w="1506843"/>
                <a:gridCol w="819045"/>
                <a:gridCol w="697766"/>
                <a:gridCol w="697766"/>
              </a:tblGrid>
              <a:tr h="200026">
                <a:tc rowSpan="2"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chemeClr val="tx2"/>
                          </a:solidFill>
                          <a:latin typeface="宋体" pitchFamily="2" charset="-122"/>
                          <a:ea typeface="宋体" pitchFamily="2" charset="-122"/>
                          <a:cs typeface="Times New Roman" panose="02020603050405020304"/>
                        </a:rPr>
                        <a:t>学号</a:t>
                      </a:r>
                      <a:endParaRPr lang="zh-CN" sz="2000" b="1" kern="100" dirty="0">
                        <a:solidFill>
                          <a:schemeClr val="tx2"/>
                        </a:solidFill>
                        <a:latin typeface="宋体" pitchFamily="2" charset="-122"/>
                        <a:ea typeface="宋体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chemeClr val="tx2"/>
                          </a:solidFill>
                          <a:latin typeface="宋体" pitchFamily="2" charset="-122"/>
                          <a:ea typeface="宋体" pitchFamily="2" charset="-122"/>
                          <a:cs typeface="Times New Roman" panose="02020603050405020304"/>
                        </a:rPr>
                        <a:t>姓名</a:t>
                      </a:r>
                      <a:endParaRPr lang="zh-CN" sz="2000" b="1" kern="100" dirty="0">
                        <a:solidFill>
                          <a:schemeClr val="tx2"/>
                        </a:solidFill>
                        <a:latin typeface="宋体" pitchFamily="2" charset="-122"/>
                        <a:ea typeface="宋体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chemeClr val="tx2"/>
                          </a:solidFill>
                          <a:latin typeface="宋体" pitchFamily="2" charset="-122"/>
                          <a:ea typeface="宋体" pitchFamily="2" charset="-122"/>
                          <a:cs typeface="Times New Roman" panose="02020603050405020304"/>
                        </a:rPr>
                        <a:t>年龄</a:t>
                      </a:r>
                      <a:endParaRPr lang="zh-CN" sz="2000" b="1" kern="100" dirty="0">
                        <a:solidFill>
                          <a:schemeClr val="tx2"/>
                        </a:solidFill>
                        <a:latin typeface="宋体" pitchFamily="2" charset="-122"/>
                        <a:ea typeface="宋体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chemeClr val="tx2"/>
                          </a:solidFill>
                          <a:latin typeface="宋体" pitchFamily="2" charset="-122"/>
                          <a:ea typeface="宋体" pitchFamily="2" charset="-122"/>
                          <a:cs typeface="Times New Roman" panose="02020603050405020304"/>
                        </a:rPr>
                        <a:t>性别</a:t>
                      </a:r>
                      <a:endParaRPr lang="zh-CN" sz="2000" b="1" kern="100" dirty="0">
                        <a:solidFill>
                          <a:schemeClr val="tx2"/>
                        </a:solidFill>
                        <a:latin typeface="宋体" pitchFamily="2" charset="-122"/>
                        <a:ea typeface="宋体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chemeClr val="tx2"/>
                          </a:solidFill>
                          <a:latin typeface="宋体" pitchFamily="2" charset="-122"/>
                          <a:ea typeface="宋体" pitchFamily="2" charset="-122"/>
                          <a:cs typeface="Times New Roman" panose="02020603050405020304"/>
                        </a:rPr>
                        <a:t>所在系</a:t>
                      </a:r>
                      <a:endParaRPr lang="zh-CN" sz="2000" b="1" kern="100" dirty="0">
                        <a:solidFill>
                          <a:schemeClr val="tx2"/>
                        </a:solidFill>
                        <a:latin typeface="宋体" pitchFamily="2" charset="-122"/>
                        <a:ea typeface="宋体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indent="26670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D60093"/>
                          </a:solidFill>
                          <a:latin typeface="宋体" pitchFamily="2" charset="-122"/>
                          <a:ea typeface="宋体" pitchFamily="2" charset="-122"/>
                          <a:cs typeface="Times New Roman" panose="02020603050405020304"/>
                        </a:rPr>
                        <a:t>出生日期</a:t>
                      </a:r>
                      <a:endParaRPr lang="zh-CN" sz="2000" b="1" kern="100" dirty="0">
                        <a:solidFill>
                          <a:srgbClr val="D60093"/>
                        </a:solidFill>
                        <a:latin typeface="宋体" pitchFamily="2" charset="-122"/>
                        <a:ea typeface="宋体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</a:tr>
              <a:tr h="20002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latin typeface="宋体" pitchFamily="2" charset="-122"/>
                          <a:ea typeface="宋体" pitchFamily="2" charset="-122"/>
                          <a:cs typeface="Times New Roman" panose="02020603050405020304"/>
                        </a:rPr>
                        <a:t>年</a:t>
                      </a:r>
                      <a:endParaRPr lang="zh-CN" sz="2000" b="1" kern="100" dirty="0">
                        <a:latin typeface="宋体" pitchFamily="2" charset="-122"/>
                        <a:ea typeface="宋体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latin typeface="宋体" pitchFamily="2" charset="-122"/>
                          <a:ea typeface="宋体" pitchFamily="2" charset="-122"/>
                          <a:cs typeface="Times New Roman" panose="02020603050405020304"/>
                        </a:rPr>
                        <a:t>月</a:t>
                      </a:r>
                      <a:endParaRPr lang="zh-CN" sz="2000" b="1" kern="100" dirty="0">
                        <a:latin typeface="宋体" pitchFamily="2" charset="-122"/>
                        <a:ea typeface="宋体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latin typeface="宋体" pitchFamily="2" charset="-122"/>
                          <a:ea typeface="宋体" pitchFamily="2" charset="-122"/>
                          <a:cs typeface="Times New Roman" panose="02020603050405020304"/>
                        </a:rPr>
                        <a:t>日</a:t>
                      </a:r>
                      <a:endParaRPr lang="zh-CN" sz="2000" b="1" kern="100" dirty="0">
                        <a:latin typeface="宋体" pitchFamily="2" charset="-122"/>
                        <a:ea typeface="宋体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3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宋体" pitchFamily="2" charset="-122"/>
                          <a:ea typeface="宋体" pitchFamily="2" charset="-122"/>
                          <a:cs typeface="Times New Roman" panose="02020603050405020304"/>
                        </a:rPr>
                        <a:t>0611101</a:t>
                      </a:r>
                      <a:endParaRPr lang="zh-CN" sz="2000" b="1" kern="100">
                        <a:latin typeface="宋体" pitchFamily="2" charset="-122"/>
                        <a:ea typeface="宋体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latin typeface="宋体" pitchFamily="2" charset="-122"/>
                          <a:ea typeface="宋体" pitchFamily="2" charset="-122"/>
                          <a:cs typeface="Times New Roman" panose="02020603050405020304"/>
                        </a:rPr>
                        <a:t>李勇</a:t>
                      </a:r>
                      <a:endParaRPr lang="zh-CN" sz="2000" b="1" kern="100">
                        <a:latin typeface="宋体" pitchFamily="2" charset="-122"/>
                        <a:ea typeface="宋体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宋体" pitchFamily="2" charset="-122"/>
                          <a:ea typeface="宋体" pitchFamily="2" charset="-122"/>
                          <a:cs typeface="Times New Roman" panose="02020603050405020304"/>
                        </a:rPr>
                        <a:t>21</a:t>
                      </a:r>
                      <a:endParaRPr lang="zh-CN" sz="2000" b="1" kern="100">
                        <a:latin typeface="宋体" pitchFamily="2" charset="-122"/>
                        <a:ea typeface="宋体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latin typeface="宋体" pitchFamily="2" charset="-122"/>
                          <a:ea typeface="宋体" pitchFamily="2" charset="-122"/>
                          <a:cs typeface="Times New Roman" panose="02020603050405020304"/>
                        </a:rPr>
                        <a:t>男</a:t>
                      </a:r>
                      <a:endParaRPr lang="zh-CN" sz="2000" b="1" kern="100">
                        <a:latin typeface="宋体" pitchFamily="2" charset="-122"/>
                        <a:ea typeface="宋体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latin typeface="宋体" pitchFamily="2" charset="-122"/>
                          <a:ea typeface="宋体" pitchFamily="2" charset="-122"/>
                          <a:cs typeface="Times New Roman" panose="02020603050405020304"/>
                        </a:rPr>
                        <a:t>计算机系</a:t>
                      </a:r>
                      <a:endParaRPr lang="zh-CN" sz="2000" b="1" kern="100" dirty="0">
                        <a:latin typeface="宋体" pitchFamily="2" charset="-122"/>
                        <a:ea typeface="宋体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宋体" pitchFamily="2" charset="-122"/>
                          <a:ea typeface="宋体" pitchFamily="2" charset="-122"/>
                          <a:cs typeface="Times New Roman" panose="02020603050405020304"/>
                        </a:rPr>
                        <a:t>1987</a:t>
                      </a:r>
                      <a:endParaRPr lang="zh-CN" sz="2000" b="1" kern="100">
                        <a:latin typeface="宋体" pitchFamily="2" charset="-122"/>
                        <a:ea typeface="宋体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宋体" pitchFamily="2" charset="-122"/>
                          <a:ea typeface="宋体" pitchFamily="2" charset="-122"/>
                          <a:cs typeface="Times New Roman" panose="02020603050405020304"/>
                        </a:rPr>
                        <a:t>4</a:t>
                      </a:r>
                      <a:endParaRPr lang="zh-CN" sz="2000" b="1" kern="100">
                        <a:latin typeface="宋体" pitchFamily="2" charset="-122"/>
                        <a:ea typeface="宋体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宋体" pitchFamily="2" charset="-122"/>
                          <a:ea typeface="宋体" pitchFamily="2" charset="-122"/>
                          <a:cs typeface="Times New Roman" panose="02020603050405020304"/>
                        </a:rPr>
                        <a:t>6</a:t>
                      </a:r>
                      <a:endParaRPr lang="zh-CN" sz="2000" b="1" kern="100">
                        <a:latin typeface="宋体" pitchFamily="2" charset="-122"/>
                        <a:ea typeface="宋体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3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宋体" pitchFamily="2" charset="-122"/>
                          <a:ea typeface="宋体" pitchFamily="2" charset="-122"/>
                          <a:cs typeface="Times New Roman" panose="02020603050405020304"/>
                        </a:rPr>
                        <a:t>0611102</a:t>
                      </a:r>
                      <a:endParaRPr lang="zh-CN" sz="2000" b="1" kern="100">
                        <a:latin typeface="宋体" pitchFamily="2" charset="-122"/>
                        <a:ea typeface="宋体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latin typeface="宋体" pitchFamily="2" charset="-122"/>
                          <a:ea typeface="宋体" pitchFamily="2" charset="-122"/>
                          <a:cs typeface="Times New Roman" panose="02020603050405020304"/>
                        </a:rPr>
                        <a:t>刘晨</a:t>
                      </a:r>
                      <a:endParaRPr lang="zh-CN" sz="2000" b="1" kern="100">
                        <a:latin typeface="宋体" pitchFamily="2" charset="-122"/>
                        <a:ea typeface="宋体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宋体" pitchFamily="2" charset="-122"/>
                          <a:ea typeface="宋体" pitchFamily="2" charset="-122"/>
                          <a:cs typeface="Times New Roman" panose="02020603050405020304"/>
                        </a:rPr>
                        <a:t>20</a:t>
                      </a:r>
                      <a:endParaRPr lang="zh-CN" sz="2000" b="1" kern="100" dirty="0">
                        <a:latin typeface="宋体" pitchFamily="2" charset="-122"/>
                        <a:ea typeface="宋体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latin typeface="宋体" pitchFamily="2" charset="-122"/>
                          <a:ea typeface="宋体" pitchFamily="2" charset="-122"/>
                          <a:cs typeface="Times New Roman" panose="02020603050405020304"/>
                        </a:rPr>
                        <a:t>男</a:t>
                      </a:r>
                      <a:endParaRPr lang="zh-CN" sz="2000" b="1" kern="100">
                        <a:latin typeface="宋体" pitchFamily="2" charset="-122"/>
                        <a:ea typeface="宋体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latin typeface="宋体" pitchFamily="2" charset="-122"/>
                          <a:ea typeface="宋体" pitchFamily="2" charset="-122"/>
                          <a:cs typeface="Times New Roman" panose="02020603050405020304"/>
                        </a:rPr>
                        <a:t>计算机系</a:t>
                      </a:r>
                      <a:endParaRPr lang="zh-CN" sz="2000" b="1" kern="100">
                        <a:latin typeface="宋体" pitchFamily="2" charset="-122"/>
                        <a:ea typeface="宋体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宋体" pitchFamily="2" charset="-122"/>
                          <a:ea typeface="宋体" pitchFamily="2" charset="-122"/>
                          <a:cs typeface="Times New Roman" panose="02020603050405020304"/>
                        </a:rPr>
                        <a:t>1988</a:t>
                      </a:r>
                      <a:endParaRPr lang="zh-CN" sz="2000" b="1" kern="100">
                        <a:latin typeface="宋体" pitchFamily="2" charset="-122"/>
                        <a:ea typeface="宋体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宋体" pitchFamily="2" charset="-122"/>
                          <a:ea typeface="宋体" pitchFamily="2" charset="-122"/>
                          <a:cs typeface="Times New Roman" panose="02020603050405020304"/>
                        </a:rPr>
                        <a:t>12</a:t>
                      </a:r>
                      <a:endParaRPr lang="zh-CN" sz="2000" b="1" kern="100">
                        <a:latin typeface="宋体" pitchFamily="2" charset="-122"/>
                        <a:ea typeface="宋体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宋体" pitchFamily="2" charset="-122"/>
                          <a:ea typeface="宋体" pitchFamily="2" charset="-122"/>
                          <a:cs typeface="Times New Roman" panose="02020603050405020304"/>
                        </a:rPr>
                        <a:t>15</a:t>
                      </a:r>
                      <a:endParaRPr lang="zh-CN" sz="2000" b="1" kern="100">
                        <a:latin typeface="宋体" pitchFamily="2" charset="-122"/>
                        <a:ea typeface="宋体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3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宋体" pitchFamily="2" charset="-122"/>
                          <a:ea typeface="宋体" pitchFamily="2" charset="-122"/>
                          <a:cs typeface="Times New Roman" panose="02020603050405020304"/>
                        </a:rPr>
                        <a:t>0611103</a:t>
                      </a:r>
                      <a:endParaRPr lang="zh-CN" sz="2000" b="1" kern="100">
                        <a:latin typeface="宋体" pitchFamily="2" charset="-122"/>
                        <a:ea typeface="宋体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latin typeface="宋体" pitchFamily="2" charset="-122"/>
                          <a:ea typeface="宋体" pitchFamily="2" charset="-122"/>
                          <a:cs typeface="Times New Roman" panose="02020603050405020304"/>
                        </a:rPr>
                        <a:t>王敏</a:t>
                      </a:r>
                      <a:endParaRPr lang="zh-CN" sz="2000" b="1" kern="100">
                        <a:latin typeface="宋体" pitchFamily="2" charset="-122"/>
                        <a:ea typeface="宋体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宋体" pitchFamily="2" charset="-122"/>
                          <a:ea typeface="宋体" pitchFamily="2" charset="-122"/>
                          <a:cs typeface="Times New Roman" panose="02020603050405020304"/>
                        </a:rPr>
                        <a:t>20</a:t>
                      </a:r>
                      <a:endParaRPr lang="zh-CN" sz="2000" b="1" kern="100">
                        <a:latin typeface="宋体" pitchFamily="2" charset="-122"/>
                        <a:ea typeface="宋体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latin typeface="宋体" pitchFamily="2" charset="-122"/>
                          <a:ea typeface="宋体" pitchFamily="2" charset="-122"/>
                          <a:cs typeface="Times New Roman" panose="02020603050405020304"/>
                        </a:rPr>
                        <a:t>女</a:t>
                      </a:r>
                      <a:endParaRPr lang="zh-CN" sz="2000" b="1" kern="100">
                        <a:latin typeface="宋体" pitchFamily="2" charset="-122"/>
                        <a:ea typeface="宋体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latin typeface="宋体" pitchFamily="2" charset="-122"/>
                          <a:ea typeface="宋体" pitchFamily="2" charset="-122"/>
                          <a:cs typeface="Times New Roman" panose="02020603050405020304"/>
                        </a:rPr>
                        <a:t>计算机系</a:t>
                      </a:r>
                      <a:endParaRPr lang="zh-CN" sz="2000" b="1" kern="100">
                        <a:latin typeface="宋体" pitchFamily="2" charset="-122"/>
                        <a:ea typeface="宋体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宋体" pitchFamily="2" charset="-122"/>
                          <a:ea typeface="宋体" pitchFamily="2" charset="-122"/>
                          <a:cs typeface="Times New Roman" panose="02020603050405020304"/>
                        </a:rPr>
                        <a:t>1988</a:t>
                      </a:r>
                      <a:endParaRPr lang="zh-CN" sz="2000" b="1" kern="100">
                        <a:latin typeface="宋体" pitchFamily="2" charset="-122"/>
                        <a:ea typeface="宋体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宋体" pitchFamily="2" charset="-122"/>
                          <a:ea typeface="宋体" pitchFamily="2" charset="-122"/>
                          <a:cs typeface="Times New Roman" panose="02020603050405020304"/>
                        </a:rPr>
                        <a:t>8</a:t>
                      </a:r>
                      <a:endParaRPr lang="zh-CN" sz="2000" b="1" kern="100">
                        <a:latin typeface="宋体" pitchFamily="2" charset="-122"/>
                        <a:ea typeface="宋体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宋体" pitchFamily="2" charset="-122"/>
                          <a:ea typeface="宋体" pitchFamily="2" charset="-122"/>
                          <a:cs typeface="Times New Roman" panose="02020603050405020304"/>
                        </a:rPr>
                        <a:t>21</a:t>
                      </a:r>
                      <a:endParaRPr lang="zh-CN" sz="2000" b="1" kern="100">
                        <a:latin typeface="宋体" pitchFamily="2" charset="-122"/>
                        <a:ea typeface="宋体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3"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宋体" pitchFamily="2" charset="-122"/>
                          <a:ea typeface="宋体" pitchFamily="2" charset="-122"/>
                          <a:cs typeface="Times New Roman" panose="02020603050405020304"/>
                        </a:rPr>
                        <a:t>0621101</a:t>
                      </a:r>
                      <a:endParaRPr lang="zh-CN" sz="2000" b="1" kern="100">
                        <a:latin typeface="宋体" pitchFamily="2" charset="-122"/>
                        <a:ea typeface="宋体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latin typeface="宋体" pitchFamily="2" charset="-122"/>
                          <a:ea typeface="宋体" pitchFamily="2" charset="-122"/>
                          <a:cs typeface="Times New Roman" panose="02020603050405020304"/>
                        </a:rPr>
                        <a:t>张立</a:t>
                      </a:r>
                      <a:endParaRPr lang="zh-CN" sz="2000" b="1" kern="100">
                        <a:latin typeface="宋体" pitchFamily="2" charset="-122"/>
                        <a:ea typeface="宋体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宋体" pitchFamily="2" charset="-122"/>
                          <a:ea typeface="宋体" pitchFamily="2" charset="-122"/>
                          <a:cs typeface="Times New Roman" panose="02020603050405020304"/>
                        </a:rPr>
                        <a:t>20</a:t>
                      </a:r>
                      <a:endParaRPr lang="zh-CN" sz="2000" b="1" kern="100" dirty="0">
                        <a:latin typeface="宋体" pitchFamily="2" charset="-122"/>
                        <a:ea typeface="宋体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latin typeface="宋体" pitchFamily="2" charset="-122"/>
                          <a:ea typeface="宋体" pitchFamily="2" charset="-122"/>
                          <a:cs typeface="Times New Roman" panose="02020603050405020304"/>
                        </a:rPr>
                        <a:t>男</a:t>
                      </a:r>
                      <a:endParaRPr lang="zh-CN" sz="2000" b="1" kern="100" dirty="0">
                        <a:latin typeface="宋体" pitchFamily="2" charset="-122"/>
                        <a:ea typeface="宋体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latin typeface="宋体" pitchFamily="2" charset="-122"/>
                          <a:ea typeface="宋体" pitchFamily="2" charset="-122"/>
                          <a:cs typeface="Times New Roman" panose="02020603050405020304"/>
                        </a:rPr>
                        <a:t>信息管理系</a:t>
                      </a:r>
                      <a:endParaRPr lang="zh-CN" sz="2000" b="1" kern="100" dirty="0">
                        <a:latin typeface="宋体" pitchFamily="2" charset="-122"/>
                        <a:ea typeface="宋体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宋体" pitchFamily="2" charset="-122"/>
                          <a:ea typeface="宋体" pitchFamily="2" charset="-122"/>
                          <a:cs typeface="Times New Roman" panose="02020603050405020304"/>
                        </a:rPr>
                        <a:t>1988</a:t>
                      </a:r>
                      <a:endParaRPr lang="zh-CN" sz="2000" b="1" kern="100">
                        <a:latin typeface="宋体" pitchFamily="2" charset="-122"/>
                        <a:ea typeface="宋体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宋体" pitchFamily="2" charset="-122"/>
                          <a:ea typeface="宋体" pitchFamily="2" charset="-122"/>
                          <a:cs typeface="Times New Roman" panose="02020603050405020304"/>
                        </a:rPr>
                        <a:t>6</a:t>
                      </a:r>
                      <a:endParaRPr lang="zh-CN" sz="2000" b="1" kern="100">
                        <a:latin typeface="宋体" pitchFamily="2" charset="-122"/>
                        <a:ea typeface="宋体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just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宋体" pitchFamily="2" charset="-122"/>
                          <a:ea typeface="宋体" pitchFamily="2" charset="-122"/>
                          <a:cs typeface="Times New Roman" panose="02020603050405020304"/>
                        </a:rPr>
                        <a:t>3</a:t>
                      </a:r>
                      <a:endParaRPr lang="zh-CN" sz="2000" b="1" kern="100" dirty="0">
                        <a:latin typeface="宋体" pitchFamily="2" charset="-122"/>
                        <a:ea typeface="宋体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8974" name="圆角矩形标注 4"/>
          <p:cNvSpPr/>
          <p:nvPr/>
        </p:nvSpPr>
        <p:spPr>
          <a:xfrm>
            <a:off x="6858000" y="3767138"/>
            <a:ext cx="1643063" cy="428625"/>
          </a:xfrm>
          <a:prstGeom prst="wedgeRoundRectCallout">
            <a:avLst>
              <a:gd name="adj1" fmla="val -14833"/>
              <a:gd name="adj2" fmla="val 86380"/>
              <a:gd name="adj3" fmla="val 16667"/>
            </a:avLst>
          </a:prstGeom>
          <a:noFill/>
          <a:ln w="15875" cap="flat" cmpd="sng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algn="l"/>
            <a:r>
              <a:rPr lang="zh-CN" altLang="en-US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不是基本属性</a:t>
            </a:r>
          </a:p>
        </p:txBody>
      </p:sp>
      <p:sp>
        <p:nvSpPr>
          <p:cNvPr id="38975" name="圆角矩形标注 5"/>
          <p:cNvSpPr/>
          <p:nvPr/>
        </p:nvSpPr>
        <p:spPr>
          <a:xfrm>
            <a:off x="714375" y="3786188"/>
            <a:ext cx="1357313" cy="428625"/>
          </a:xfrm>
          <a:prstGeom prst="wedgeRoundRectCallout">
            <a:avLst>
              <a:gd name="adj1" fmla="val -10245"/>
              <a:gd name="adj2" fmla="val 84181"/>
              <a:gd name="adj3" fmla="val 16667"/>
            </a:avLst>
          </a:prstGeom>
          <a:noFill/>
          <a:ln w="15875" cap="flat" cmpd="sng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algn="l"/>
            <a:r>
              <a:rPr lang="zh-CN" altLang="en-US" sz="2000" b="1" dirty="0">
                <a:solidFill>
                  <a:srgbClr val="009900"/>
                </a:solidFill>
                <a:latin typeface="宋体" pitchFamily="2" charset="-122"/>
                <a:ea typeface="宋体" pitchFamily="2" charset="-122"/>
              </a:rPr>
              <a:t>不是关系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610600" cy="1143000"/>
          </a:xfrm>
        </p:spPr>
        <p:txBody>
          <a:bodyPr/>
          <a:lstStyle/>
          <a:p>
            <a:pPr eaLnBrk="1" hangingPunct="1"/>
            <a:r>
              <a:rPr lang="zh-CN" altLang="en-US" dirty="0">
                <a:sym typeface="+mn-ea"/>
              </a:rPr>
              <a:t>一些基本术语（续</a:t>
            </a:r>
            <a:r>
              <a:rPr lang="zh-CN" altLang="en-US" dirty="0" smtClean="0">
                <a:sym typeface="+mn-ea"/>
              </a:rPr>
              <a:t>）</a:t>
            </a:r>
            <a:endParaRPr lang="zh-CN" altLang="en-US" dirty="0" smtClean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196752"/>
            <a:ext cx="8610600" cy="5040312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ts val="1800"/>
              </a:spcBef>
            </a:pPr>
            <a:r>
              <a:rPr lang="zh-CN" altLang="en-US" sz="2600" dirty="0">
                <a:solidFill>
                  <a:srgbClr val="FF0000"/>
                </a:solidFill>
                <a:cs typeface="等线" panose="02010600030101010101" charset="-122"/>
              </a:rPr>
              <a:t>关系</a:t>
            </a:r>
            <a:r>
              <a:rPr lang="zh-CN" altLang="en-US" sz="2600" dirty="0" smtClean="0">
                <a:latin typeface="宋体" pitchFamily="2" charset="-122"/>
              </a:rPr>
              <a:t> ：</a:t>
            </a:r>
            <a:r>
              <a:rPr lang="zh-CN" altLang="en-US" sz="2600" dirty="0">
                <a:cs typeface="等线" panose="02010600030101010101" charset="-122"/>
              </a:rPr>
              <a:t>关系就是二维表。并满足如下性质：</a:t>
            </a:r>
          </a:p>
          <a:p>
            <a:pPr lvl="1" eaLnBrk="1" hangingPunct="1">
              <a:lnSpc>
                <a:spcPct val="90000"/>
              </a:lnSpc>
              <a:spcBef>
                <a:spcPts val="1800"/>
              </a:spcBef>
              <a:buFont typeface="Wingdings" pitchFamily="2" charset="2"/>
              <a:buChar char="Ø"/>
            </a:pPr>
            <a:r>
              <a:rPr lang="zh-CN" altLang="en-US" sz="2600" dirty="0">
                <a:cs typeface="等线" panose="02010600030101010101" charset="-122"/>
              </a:rPr>
              <a:t>关系表中的每一列都是不可再分的基本属性；</a:t>
            </a:r>
          </a:p>
          <a:p>
            <a:pPr lvl="1" eaLnBrk="1" hangingPunct="1">
              <a:lnSpc>
                <a:spcPct val="90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zh-CN" altLang="en-US" sz="2600" dirty="0">
                <a:cs typeface="等线" panose="02010600030101010101" charset="-122"/>
              </a:rPr>
              <a:t>表中的行、列次序并不重要。</a:t>
            </a:r>
          </a:p>
          <a:p>
            <a:pPr eaLnBrk="1" hangingPunct="1">
              <a:lnSpc>
                <a:spcPct val="90000"/>
              </a:lnSpc>
              <a:spcBef>
                <a:spcPts val="1800"/>
              </a:spcBef>
            </a:pPr>
            <a:r>
              <a:rPr lang="zh-CN" altLang="en-US" sz="2600" dirty="0">
                <a:solidFill>
                  <a:srgbClr val="FF0000"/>
                </a:solidFill>
                <a:cs typeface="等线" panose="02010600030101010101" charset="-122"/>
              </a:rPr>
              <a:t>属性（字段） </a:t>
            </a:r>
            <a:r>
              <a:rPr lang="zh-CN" altLang="en-US" sz="2600" dirty="0" smtClean="0">
                <a:latin typeface="宋体" pitchFamily="2" charset="-122"/>
              </a:rPr>
              <a:t>：</a:t>
            </a:r>
            <a:r>
              <a:rPr lang="zh-CN" altLang="en-US" sz="2600" dirty="0">
                <a:cs typeface="等线" panose="02010600030101010101" charset="-122"/>
              </a:rPr>
              <a:t>表中的每一列。</a:t>
            </a:r>
          </a:p>
          <a:p>
            <a:pPr eaLnBrk="1" hangingPunct="1">
              <a:lnSpc>
                <a:spcPct val="90000"/>
              </a:lnSpc>
              <a:spcBef>
                <a:spcPts val="1800"/>
              </a:spcBef>
            </a:pPr>
            <a:r>
              <a:rPr lang="zh-CN" altLang="en-US" sz="2600" dirty="0">
                <a:solidFill>
                  <a:srgbClr val="FF0000"/>
                </a:solidFill>
                <a:cs typeface="等线" panose="02010600030101010101" charset="-122"/>
              </a:rPr>
              <a:t>值域</a:t>
            </a:r>
            <a:r>
              <a:rPr lang="zh-CN" altLang="en-US" sz="2600" dirty="0" smtClean="0">
                <a:latin typeface="宋体" pitchFamily="2" charset="-122"/>
              </a:rPr>
              <a:t>：</a:t>
            </a:r>
            <a:r>
              <a:rPr lang="zh-CN" altLang="en-US" sz="2600" dirty="0">
                <a:cs typeface="等线" panose="02010600030101010101" charset="-122"/>
              </a:rPr>
              <a:t>属性的取值范围 </a:t>
            </a:r>
            <a:r>
              <a:rPr lang="zh-CN" altLang="en-US" sz="2600" dirty="0" smtClean="0">
                <a:cs typeface="等线" panose="02010600030101010101" charset="-122"/>
              </a:rPr>
              <a:t>。</a:t>
            </a:r>
            <a:endParaRPr lang="en-US" altLang="zh-CN" sz="2600" dirty="0" smtClean="0">
              <a:cs typeface="等线" panose="02010600030101010101" charset="-122"/>
            </a:endParaRPr>
          </a:p>
          <a:p>
            <a:pPr marL="0" indent="0" eaLnBrk="1" hangingPunct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2600" dirty="0" smtClean="0">
                <a:cs typeface="等线" panose="02010600030101010101" charset="-122"/>
              </a:rPr>
              <a:t>                 </a:t>
            </a:r>
            <a:r>
              <a:rPr lang="zh-CN" altLang="en-US" sz="2600" dirty="0" smtClean="0">
                <a:cs typeface="等线" panose="02010600030101010101" charset="-122"/>
              </a:rPr>
              <a:t>如</a:t>
            </a:r>
            <a:r>
              <a:rPr lang="zh-CN" altLang="en-US" sz="2600" dirty="0">
                <a:cs typeface="等线" panose="02010600030101010101" charset="-122"/>
              </a:rPr>
              <a:t>，性别只能是‘男’和‘女’两个值。</a:t>
            </a:r>
            <a:endParaRPr lang="en-US" altLang="zh-CN" sz="2600" dirty="0">
              <a:cs typeface="等线" panose="02010600030101010101" charset="-122"/>
            </a:endParaRPr>
          </a:p>
          <a:p>
            <a:pPr eaLnBrk="1" hangingPunct="1">
              <a:spcBef>
                <a:spcPts val="1800"/>
              </a:spcBef>
            </a:pPr>
            <a:r>
              <a:rPr lang="zh-CN" altLang="en-US" sz="2600" dirty="0">
                <a:solidFill>
                  <a:srgbClr val="FF0000"/>
                </a:solidFill>
                <a:cs typeface="等线" panose="02010600030101010101" charset="-122"/>
              </a:rPr>
              <a:t>元组（记录）</a:t>
            </a:r>
            <a:r>
              <a:rPr lang="zh-CN" altLang="en-US" sz="2600" dirty="0" smtClean="0">
                <a:latin typeface="宋体" pitchFamily="2" charset="-122"/>
              </a:rPr>
              <a:t>：</a:t>
            </a:r>
            <a:r>
              <a:rPr lang="zh-CN" altLang="en-US" sz="2600" dirty="0">
                <a:cs typeface="等线" panose="02010600030101010101" charset="-122"/>
              </a:rPr>
              <a:t>表中的每一行。</a:t>
            </a:r>
          </a:p>
          <a:p>
            <a:pPr eaLnBrk="1" hangingPunct="1">
              <a:spcBef>
                <a:spcPts val="1800"/>
              </a:spcBef>
            </a:pPr>
            <a:r>
              <a:rPr lang="zh-CN" altLang="en-US" sz="2600" dirty="0">
                <a:solidFill>
                  <a:srgbClr val="FF0000"/>
                </a:solidFill>
                <a:cs typeface="等线" panose="02010600030101010101" charset="-122"/>
              </a:rPr>
              <a:t>分量</a:t>
            </a:r>
            <a:r>
              <a:rPr lang="en-US" altLang="zh-CN" sz="2600" dirty="0" smtClean="0">
                <a:latin typeface="宋体" pitchFamily="2" charset="-122"/>
              </a:rPr>
              <a:t>：</a:t>
            </a:r>
            <a:r>
              <a:rPr lang="zh-CN" altLang="en-US" sz="2600" dirty="0">
                <a:cs typeface="等线" panose="02010600030101010101" charset="-122"/>
              </a:rPr>
              <a:t>元组中的每一个属性值称为元组的一个</a:t>
            </a:r>
            <a:r>
              <a:rPr lang="zh-CN" altLang="en-US" sz="2600" dirty="0" smtClean="0">
                <a:cs typeface="等线" panose="02010600030101010101" charset="-122"/>
              </a:rPr>
              <a:t>分量</a:t>
            </a:r>
            <a:endParaRPr lang="en-US" altLang="zh-CN" sz="2600" dirty="0" smtClean="0">
              <a:cs typeface="等线" panose="02010600030101010101" charset="-122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zh-CN" sz="2600" dirty="0">
                <a:cs typeface="等线" panose="02010600030101010101" charset="-122"/>
              </a:rPr>
              <a:t> </a:t>
            </a:r>
            <a:r>
              <a:rPr lang="en-US" altLang="zh-CN" sz="2600" dirty="0" smtClean="0">
                <a:cs typeface="等线" panose="02010600030101010101" charset="-122"/>
              </a:rPr>
              <a:t>                n</a:t>
            </a:r>
            <a:r>
              <a:rPr lang="zh-CN" altLang="en-US" sz="2600" dirty="0">
                <a:cs typeface="等线" panose="02010600030101010101" charset="-122"/>
              </a:rPr>
              <a:t>元关系的每个元组有</a:t>
            </a:r>
            <a:r>
              <a:rPr lang="en-US" altLang="zh-CN" sz="2600" dirty="0">
                <a:cs typeface="等线" panose="02010600030101010101" charset="-122"/>
              </a:rPr>
              <a:t>n</a:t>
            </a:r>
            <a:r>
              <a:rPr lang="zh-CN" altLang="en-US" sz="2600" dirty="0">
                <a:cs typeface="等线" panose="02010600030101010101" charset="-122"/>
              </a:rPr>
              <a:t>个分量。</a:t>
            </a:r>
          </a:p>
          <a:p>
            <a:pPr eaLnBrk="1" hangingPunct="1">
              <a:lnSpc>
                <a:spcPct val="90000"/>
              </a:lnSpc>
              <a:spcBef>
                <a:spcPts val="1800"/>
              </a:spcBef>
            </a:pPr>
            <a:endParaRPr lang="zh-CN" altLang="en-US" sz="2600" dirty="0" smtClean="0"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4808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ym typeface="+mn-ea"/>
              </a:rPr>
              <a:t>一些基本术语（续）</a:t>
            </a:r>
            <a:endParaRPr lang="zh-CN" altLang="en-US" b="1" dirty="0" smtClean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412776"/>
            <a:ext cx="8496944" cy="403244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dirty="0">
                <a:solidFill>
                  <a:srgbClr val="FF0000"/>
                </a:solidFill>
              </a:rPr>
              <a:t>关系模式</a:t>
            </a:r>
            <a:r>
              <a:rPr lang="zh-CN" altLang="en-US" sz="2800" dirty="0"/>
              <a:t>：关系模式是关系的“型”或元组的结构共性的描述。关系模式实际上对应关系表的表头。</a:t>
            </a:r>
            <a:endParaRPr lang="en-US" altLang="zh-CN" sz="2800" dirty="0"/>
          </a:p>
          <a:p>
            <a:pPr marL="0" indent="0" eaLnBrk="1" hangingPunct="1">
              <a:spcBef>
                <a:spcPts val="1800"/>
              </a:spcBef>
              <a:buFontTx/>
              <a:buNone/>
              <a:defRPr/>
            </a:pPr>
            <a:r>
              <a:rPr lang="en-US" altLang="zh-CN" sz="2800" dirty="0"/>
              <a:t>   </a:t>
            </a:r>
            <a:r>
              <a:rPr lang="zh-CN" altLang="en-US" sz="2800" dirty="0"/>
              <a:t>设关系名为</a:t>
            </a:r>
            <a:r>
              <a:rPr lang="en-US" altLang="zh-CN" sz="2800" dirty="0"/>
              <a:t>R</a:t>
            </a:r>
            <a:r>
              <a:rPr lang="zh-CN" altLang="en-US" sz="2800" dirty="0"/>
              <a:t>，属性分别为</a:t>
            </a:r>
            <a:r>
              <a:rPr lang="en-US" altLang="zh-CN" sz="2800" dirty="0"/>
              <a:t>A1</a:t>
            </a:r>
            <a:r>
              <a:rPr lang="zh-CN" altLang="en-US" sz="2800" dirty="0"/>
              <a:t>，</a:t>
            </a:r>
            <a:r>
              <a:rPr lang="en-US" altLang="zh-CN" sz="2800" dirty="0"/>
              <a:t>A2</a:t>
            </a:r>
            <a:r>
              <a:rPr lang="zh-CN" altLang="en-US" sz="2800" dirty="0"/>
              <a:t>，</a:t>
            </a:r>
            <a:r>
              <a:rPr lang="en-US" altLang="zh-CN" sz="2800" dirty="0"/>
              <a:t>…</a:t>
            </a:r>
            <a:r>
              <a:rPr lang="zh-CN" altLang="en-US" sz="2800" dirty="0"/>
              <a:t>，</a:t>
            </a:r>
            <a:r>
              <a:rPr lang="en-US" altLang="zh-CN" sz="2800" dirty="0"/>
              <a:t>An</a:t>
            </a:r>
            <a:r>
              <a:rPr lang="zh-CN" altLang="en-US" sz="2800" dirty="0" smtClean="0"/>
              <a:t>，    </a:t>
            </a:r>
            <a:endParaRPr lang="en-US" altLang="zh-CN" sz="2800" dirty="0" smtClean="0"/>
          </a:p>
          <a:p>
            <a:pPr marL="0" indent="0" eaLnBrk="1" hangingPunct="1">
              <a:buFontTx/>
              <a:buNone/>
              <a:defRPr/>
            </a:pPr>
            <a:r>
              <a:rPr lang="en-US" altLang="zh-CN" sz="2800" dirty="0"/>
              <a:t> </a:t>
            </a:r>
            <a:r>
              <a:rPr lang="en-US" altLang="zh-CN" sz="2800" dirty="0" smtClean="0"/>
              <a:t>  </a:t>
            </a:r>
            <a:r>
              <a:rPr lang="zh-CN" altLang="en-US" sz="2800" dirty="0" smtClean="0"/>
              <a:t>则</a:t>
            </a:r>
            <a:r>
              <a:rPr lang="zh-CN" altLang="en-US" sz="2800" dirty="0"/>
              <a:t>关系模式可以表示为：</a:t>
            </a:r>
            <a:r>
              <a:rPr lang="en-US" altLang="zh-CN" sz="2800" dirty="0">
                <a:solidFill>
                  <a:srgbClr val="FF0000"/>
                </a:solidFill>
              </a:rPr>
              <a:t>R</a:t>
            </a:r>
            <a:r>
              <a:rPr lang="zh-CN" altLang="en-US" sz="2800" dirty="0">
                <a:solidFill>
                  <a:srgbClr val="FF0000"/>
                </a:solidFill>
              </a:rPr>
              <a:t>（</a:t>
            </a:r>
            <a:r>
              <a:rPr lang="en-US" altLang="zh-CN" sz="2800" dirty="0">
                <a:solidFill>
                  <a:srgbClr val="FF0000"/>
                </a:solidFill>
              </a:rPr>
              <a:t>A1</a:t>
            </a:r>
            <a:r>
              <a:rPr lang="zh-CN" altLang="en-US" sz="2800" dirty="0">
                <a:solidFill>
                  <a:srgbClr val="FF0000"/>
                </a:solidFill>
              </a:rPr>
              <a:t>，</a:t>
            </a:r>
            <a:r>
              <a:rPr lang="en-US" altLang="zh-CN" sz="2800" dirty="0">
                <a:solidFill>
                  <a:srgbClr val="FF0000"/>
                </a:solidFill>
              </a:rPr>
              <a:t>A2</a:t>
            </a:r>
            <a:r>
              <a:rPr lang="zh-CN" altLang="en-US" sz="2800" dirty="0">
                <a:solidFill>
                  <a:srgbClr val="FF0000"/>
                </a:solidFill>
              </a:rPr>
              <a:t>，</a:t>
            </a:r>
            <a:r>
              <a:rPr lang="en-US" altLang="zh-CN" sz="2800" dirty="0">
                <a:solidFill>
                  <a:srgbClr val="FF0000"/>
                </a:solidFill>
              </a:rPr>
              <a:t>…</a:t>
            </a:r>
            <a:r>
              <a:rPr lang="zh-CN" altLang="en-US" sz="2800" dirty="0">
                <a:solidFill>
                  <a:srgbClr val="FF0000"/>
                </a:solidFill>
              </a:rPr>
              <a:t>，</a:t>
            </a:r>
            <a:r>
              <a:rPr lang="en-US" altLang="zh-CN" sz="2800" dirty="0">
                <a:solidFill>
                  <a:srgbClr val="FF0000"/>
                </a:solidFill>
              </a:rPr>
              <a:t>An</a:t>
            </a:r>
            <a:r>
              <a:rPr lang="zh-CN" altLang="en-US" sz="2800" dirty="0">
                <a:solidFill>
                  <a:srgbClr val="FF0000"/>
                </a:solidFill>
              </a:rPr>
              <a:t>） 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endParaRPr lang="en-US" altLang="zh-CN" sz="2800" dirty="0"/>
          </a:p>
          <a:p>
            <a:pPr eaLnBrk="1" hangingPunct="1">
              <a:defRPr/>
            </a:pPr>
            <a:r>
              <a:rPr lang="zh-CN" altLang="en-US" sz="2800" dirty="0">
                <a:solidFill>
                  <a:srgbClr val="FF0000"/>
                </a:solidFill>
              </a:rPr>
              <a:t>关系数据库</a:t>
            </a:r>
            <a:r>
              <a:rPr lang="zh-CN" altLang="en-US" sz="2800" dirty="0"/>
              <a:t>：对应于一个关系模型的所有关系的集合称为关系数据库。</a:t>
            </a:r>
          </a:p>
        </p:txBody>
      </p:sp>
    </p:spTree>
    <p:extLst>
      <p:ext uri="{BB962C8B-B14F-4D97-AF65-F5344CB8AC3E}">
        <p14:creationId xmlns:p14="http://schemas.microsoft.com/office/powerpoint/2010/main" val="3022803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6781800" cy="756320"/>
          </a:xfrm>
        </p:spPr>
        <p:txBody>
          <a:bodyPr/>
          <a:lstStyle/>
          <a:p>
            <a:pPr eaLnBrk="1" hangingPunct="1"/>
            <a:r>
              <a:rPr lang="zh-CN" altLang="en-US" dirty="0"/>
              <a:t>关系、关系</a:t>
            </a:r>
            <a:r>
              <a:rPr lang="zh-CN" altLang="en-US" dirty="0" smtClean="0"/>
              <a:t>模式</a:t>
            </a:r>
          </a:p>
        </p:txBody>
      </p:sp>
      <p:sp>
        <p:nvSpPr>
          <p:cNvPr id="45059" name="内容占位符 2"/>
          <p:cNvSpPr>
            <a:spLocks noGrp="1"/>
          </p:cNvSpPr>
          <p:nvPr>
            <p:ph idx="1"/>
          </p:nvPr>
        </p:nvSpPr>
        <p:spPr>
          <a:xfrm>
            <a:off x="683568" y="1413470"/>
            <a:ext cx="7799388" cy="1727498"/>
          </a:xfrm>
        </p:spPr>
        <p:txBody>
          <a:bodyPr/>
          <a:lstStyle/>
          <a:p>
            <a:pPr marL="0" indent="0" eaLnBrk="1" hangingPunct="1">
              <a:spcBef>
                <a:spcPts val="0"/>
              </a:spcBef>
              <a:buNone/>
              <a:defRPr/>
            </a:pPr>
            <a:endParaRPr lang="en-US" altLang="zh-CN" sz="2800" dirty="0" smtClean="0">
              <a:latin typeface="宋体" pitchFamily="2" charset="-122"/>
            </a:endParaRPr>
          </a:p>
          <a:p>
            <a:pPr marL="0" indent="0" eaLnBrk="1" hangingPunct="1">
              <a:spcBef>
                <a:spcPts val="1800"/>
              </a:spcBef>
              <a:buFontTx/>
              <a:buNone/>
              <a:defRPr/>
            </a:pPr>
            <a:r>
              <a:rPr lang="zh-CN" altLang="en-US" sz="2800" dirty="0" smtClean="0">
                <a:latin typeface="宋体" pitchFamily="2" charset="-122"/>
              </a:rPr>
              <a:t> 学生（学号，姓名，年龄，性别）</a:t>
            </a:r>
          </a:p>
        </p:txBody>
      </p:sp>
      <p:pic>
        <p:nvPicPr>
          <p:cNvPr id="3379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140968"/>
            <a:ext cx="5543550" cy="206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2024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dirty="0">
                <a:sym typeface="+mn-ea"/>
              </a:rPr>
              <a:t>一些基本术语（续）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07504" y="1196752"/>
            <a:ext cx="8928991" cy="525303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3200" b="0">
                <a:solidFill>
                  <a:schemeClr val="tx2"/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 b="0">
                <a:solidFill>
                  <a:schemeClr val="tx2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400" b="0">
                <a:solidFill>
                  <a:schemeClr val="tx2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0">
                <a:solidFill>
                  <a:schemeClr val="tx2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0">
                <a:solidFill>
                  <a:schemeClr val="tx2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1200"/>
              </a:spcBef>
              <a:defRPr/>
            </a:pPr>
            <a:r>
              <a:rPr lang="zh-CN" altLang="en-US" sz="20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候选码</a:t>
            </a:r>
            <a:r>
              <a:rPr lang="en-US" altLang="zh-CN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：</a:t>
            </a:r>
            <a:r>
              <a:rPr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能够惟一标识关系中的一个元组</a:t>
            </a:r>
            <a:endParaRPr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0" indent="0" eaLnBrk="1" hangingPunct="1">
              <a:spcBef>
                <a:spcPts val="0"/>
              </a:spcBef>
              <a:buNone/>
              <a:defRPr/>
            </a:pP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lang="en-US" altLang="zh-CN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</a:t>
            </a:r>
            <a:r>
              <a:rPr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的一个属性或最小属性组。</a:t>
            </a:r>
            <a:endParaRPr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0" indent="0">
              <a:spcBef>
                <a:spcPts val="1200"/>
              </a:spcBef>
              <a:buFontTx/>
              <a:buNone/>
              <a:defRPr/>
            </a:pPr>
            <a:r>
              <a:rPr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候选码可以由一个属性组成。</a:t>
            </a:r>
            <a:endParaRPr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lvl="1">
              <a:spcBef>
                <a:spcPts val="0"/>
              </a:spcBef>
              <a:defRPr/>
            </a:pPr>
            <a:r>
              <a:rPr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学生（学号，姓名，性别），候选码是：学号</a:t>
            </a:r>
            <a:endParaRPr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lvl="1">
              <a:spcBef>
                <a:spcPts val="0"/>
              </a:spcBef>
              <a:defRPr/>
            </a:pP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学生（学号，姓名，</a:t>
            </a:r>
            <a:r>
              <a:rPr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性别，身份证号），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候选码是：学</a:t>
            </a:r>
            <a:r>
              <a:rPr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号，身份证号</a:t>
            </a:r>
            <a:endParaRPr lang="en-US" altLang="zh-CN" sz="2000" b="1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0" indent="0">
              <a:spcBef>
                <a:spcPts val="0"/>
              </a:spcBef>
              <a:buFontTx/>
              <a:buNone/>
              <a:defRPr/>
            </a:pPr>
            <a:endParaRPr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0" indent="0">
              <a:spcBef>
                <a:spcPts val="0"/>
              </a:spcBef>
              <a:buFontTx/>
              <a:buNone/>
              <a:defRPr/>
            </a:pPr>
            <a:r>
              <a:rPr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也可以由多个属性共同组成。</a:t>
            </a:r>
            <a:endParaRPr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lvl="1">
              <a:spcBef>
                <a:spcPts val="0"/>
              </a:spcBef>
              <a:defRPr/>
            </a:pP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选课（学号，课程</a:t>
            </a:r>
            <a:r>
              <a:rPr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号，成绩）的候选码是（学号，课程号）。</a:t>
            </a:r>
          </a:p>
          <a:p>
            <a:pPr eaLnBrk="1" hangingPunct="1">
              <a:spcBef>
                <a:spcPts val="1800"/>
              </a:spcBef>
              <a:defRPr/>
            </a:pPr>
            <a:r>
              <a:rPr lang="zh-CN" altLang="en-US" sz="20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主码</a:t>
            </a:r>
            <a:r>
              <a:rPr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（主键、主关键字）：当一个关系中有多个候选码时，可以从中选择一个作为主码。每个关系只能有一个主码。</a:t>
            </a:r>
            <a:endParaRPr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0" indent="0" eaLnBrk="1" hangingPunct="1">
              <a:spcBef>
                <a:spcPts val="600"/>
              </a:spcBef>
              <a:buNone/>
              <a:defRPr/>
            </a:pPr>
            <a:r>
              <a:rPr lang="zh-CN" altLang="en-US" sz="20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注意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：不能根据关系在某时刻所存储的内容来决定其主码</a:t>
            </a:r>
            <a:r>
              <a:rPr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。</a:t>
            </a:r>
            <a:endPara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dirty="0">
                <a:sym typeface="+mn-ea"/>
              </a:rPr>
              <a:t>主码示例</a:t>
            </a:r>
          </a:p>
        </p:txBody>
      </p:sp>
      <p:sp>
        <p:nvSpPr>
          <p:cNvPr id="47107" name="Rectangle 3"/>
          <p:cNvSpPr>
            <a:spLocks noGrp="1"/>
          </p:cNvSpPr>
          <p:nvPr>
            <p:ph idx="1"/>
          </p:nvPr>
        </p:nvSpPr>
        <p:spPr>
          <a:xfrm>
            <a:off x="457200" y="1412875"/>
            <a:ext cx="8291513" cy="4759325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sz="3600" dirty="0">
                <a:cs typeface="等线" panose="02010600030101010101" charset="-122"/>
              </a:rPr>
              <a:t>学生关系模式：</a:t>
            </a:r>
          </a:p>
          <a:p>
            <a:pPr lvl="1" eaLnBrk="1" hangingPunct="1">
              <a:buNone/>
            </a:pPr>
            <a:r>
              <a:rPr lang="en-US" altLang="zh-CN" sz="3600" dirty="0">
                <a:cs typeface="等线" panose="02010600030101010101" charset="-122"/>
              </a:rPr>
              <a:t>(</a:t>
            </a:r>
            <a:r>
              <a:rPr lang="zh-CN" altLang="en-US" sz="3600" u="sng" dirty="0">
                <a:solidFill>
                  <a:srgbClr val="FF0000"/>
                </a:solidFill>
                <a:cs typeface="等线" panose="02010600030101010101" charset="-122"/>
              </a:rPr>
              <a:t>学号</a:t>
            </a:r>
            <a:r>
              <a:rPr lang="zh-CN" altLang="en-US" sz="3600" dirty="0">
                <a:cs typeface="等线" panose="02010600030101010101" charset="-122"/>
              </a:rPr>
              <a:t>，姓名，年龄，性别，所在系</a:t>
            </a:r>
            <a:r>
              <a:rPr lang="en-US" altLang="zh-CN" sz="3600" dirty="0">
                <a:cs typeface="等线" panose="02010600030101010101" charset="-122"/>
              </a:rPr>
              <a:t>)</a:t>
            </a:r>
          </a:p>
          <a:p>
            <a:pPr eaLnBrk="1" hangingPunct="1"/>
            <a:r>
              <a:rPr lang="zh-CN" altLang="en-US" sz="3600" dirty="0">
                <a:cs typeface="等线" panose="02010600030101010101" charset="-122"/>
              </a:rPr>
              <a:t>选课关系模式：</a:t>
            </a:r>
          </a:p>
          <a:p>
            <a:pPr lvl="1" eaLnBrk="1" hangingPunct="1"/>
            <a:r>
              <a:rPr lang="en-US" altLang="zh-CN" sz="3200" dirty="0">
                <a:cs typeface="等线" panose="02010600030101010101" charset="-122"/>
              </a:rPr>
              <a:t>(</a:t>
            </a:r>
            <a:r>
              <a:rPr lang="zh-CN" altLang="en-US" sz="3200" u="sng" dirty="0">
                <a:solidFill>
                  <a:srgbClr val="FF0000"/>
                </a:solidFill>
                <a:cs typeface="等线" panose="02010600030101010101" charset="-122"/>
              </a:rPr>
              <a:t>学号，课程号</a:t>
            </a:r>
            <a:r>
              <a:rPr lang="zh-CN" altLang="en-US" sz="3200" dirty="0">
                <a:cs typeface="等线" panose="02010600030101010101" charset="-122"/>
              </a:rPr>
              <a:t>，成绩</a:t>
            </a:r>
            <a:r>
              <a:rPr lang="en-US" altLang="zh-CN" sz="3200" dirty="0">
                <a:cs typeface="等线" panose="02010600030101010101" charset="-122"/>
              </a:rPr>
              <a:t>)</a:t>
            </a:r>
            <a:r>
              <a:rPr lang="zh-CN" altLang="en-US" sz="3200" dirty="0">
                <a:cs typeface="等线" panose="02010600030101010101" charset="-122"/>
              </a:rPr>
              <a:t>：一个学生对一门课程只能有一次考试；</a:t>
            </a:r>
            <a:endParaRPr lang="en-US" altLang="zh-CN" sz="3200" dirty="0">
              <a:cs typeface="等线" panose="02010600030101010101" charset="-122"/>
            </a:endParaRPr>
          </a:p>
          <a:p>
            <a:pPr lvl="1" eaLnBrk="1" hangingPunct="1"/>
            <a:r>
              <a:rPr lang="en-US" altLang="zh-CN" sz="3200" dirty="0">
                <a:cs typeface="等线" panose="02010600030101010101" charset="-122"/>
              </a:rPr>
              <a:t>(</a:t>
            </a:r>
            <a:r>
              <a:rPr lang="zh-CN" altLang="en-US" sz="3200" u="sng" dirty="0">
                <a:solidFill>
                  <a:srgbClr val="FF0000"/>
                </a:solidFill>
                <a:cs typeface="等线" panose="02010600030101010101" charset="-122"/>
              </a:rPr>
              <a:t>学号，课程号，考试次数</a:t>
            </a:r>
            <a:r>
              <a:rPr lang="zh-CN" altLang="en-US" sz="3200" dirty="0">
                <a:cs typeface="等线" panose="02010600030101010101" charset="-122"/>
              </a:rPr>
              <a:t>，成绩</a:t>
            </a:r>
            <a:r>
              <a:rPr lang="en-US" altLang="zh-CN" sz="3200" dirty="0">
                <a:cs typeface="等线" panose="02010600030101010101" charset="-122"/>
              </a:rPr>
              <a:t>)</a:t>
            </a:r>
            <a:r>
              <a:rPr lang="zh-CN" altLang="en-US" sz="3200" dirty="0">
                <a:cs typeface="等线" panose="02010600030101010101" charset="-122"/>
              </a:rPr>
              <a:t>：一个学生对一门课程可有多次考试。</a:t>
            </a:r>
            <a:endParaRPr lang="en-US" altLang="zh-CN" sz="3200" dirty="0">
              <a:cs typeface="等线" panose="02010600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dirty="0">
                <a:sym typeface="+mn-ea"/>
              </a:rPr>
              <a:t>术语对比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1059750"/>
              </p:ext>
            </p:extLst>
          </p:nvPr>
        </p:nvGraphicFramePr>
        <p:xfrm>
          <a:off x="1071563" y="1643063"/>
          <a:ext cx="7000924" cy="3857738"/>
        </p:xfrm>
        <a:graphic>
          <a:graphicData uri="http://schemas.openxmlformats.org/drawingml/2006/table">
            <a:tbl>
              <a:tblPr/>
              <a:tblGrid>
                <a:gridCol w="3357586"/>
                <a:gridCol w="3643338"/>
              </a:tblGrid>
              <a:tr h="551180">
                <a:tc>
                  <a:txBody>
                    <a:bodyPr/>
                    <a:lstStyle/>
                    <a:p>
                      <a:pPr algn="ctr">
                        <a:spcBef>
                          <a:spcPts val="155"/>
                        </a:spcBef>
                        <a:spcAft>
                          <a:spcPts val="155"/>
                        </a:spcAft>
                      </a:pPr>
                      <a:r>
                        <a:rPr lang="zh-CN" sz="2400" b="1" kern="1000" dirty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关系术语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55"/>
                        </a:spcBef>
                        <a:spcAft>
                          <a:spcPts val="155"/>
                        </a:spcAft>
                      </a:pPr>
                      <a:r>
                        <a:rPr lang="zh-CN" sz="2400" b="1" kern="1000" dirty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一般的表格术语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1093">
                <a:tc>
                  <a:txBody>
                    <a:bodyPr/>
                    <a:lstStyle/>
                    <a:p>
                      <a:pPr algn="ctr">
                        <a:spcBef>
                          <a:spcPts val="155"/>
                        </a:spcBef>
                        <a:spcAft>
                          <a:spcPts val="155"/>
                        </a:spcAft>
                      </a:pPr>
                      <a:r>
                        <a:rPr lang="zh-CN" sz="2400" b="1" kern="1000" dirty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关系名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55"/>
                        </a:spcBef>
                        <a:spcAft>
                          <a:spcPts val="155"/>
                        </a:spcAft>
                      </a:pPr>
                      <a:r>
                        <a:rPr lang="zh-CN" sz="2400" b="1" kern="100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表名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1093">
                <a:tc>
                  <a:txBody>
                    <a:bodyPr/>
                    <a:lstStyle/>
                    <a:p>
                      <a:pPr algn="ctr">
                        <a:spcBef>
                          <a:spcPts val="155"/>
                        </a:spcBef>
                        <a:spcAft>
                          <a:spcPts val="155"/>
                        </a:spcAft>
                      </a:pPr>
                      <a:r>
                        <a:rPr lang="zh-CN" sz="2400" b="1" kern="1000" dirty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关系模式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55"/>
                        </a:spcBef>
                        <a:spcAft>
                          <a:spcPts val="155"/>
                        </a:spcAft>
                      </a:pPr>
                      <a:r>
                        <a:rPr lang="zh-CN" sz="2400" b="1" kern="100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表头（表所含列的描述）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1093">
                <a:tc>
                  <a:txBody>
                    <a:bodyPr/>
                    <a:lstStyle/>
                    <a:p>
                      <a:pPr algn="ctr">
                        <a:spcBef>
                          <a:spcPts val="155"/>
                        </a:spcBef>
                        <a:spcAft>
                          <a:spcPts val="155"/>
                        </a:spcAft>
                      </a:pPr>
                      <a:r>
                        <a:rPr lang="zh-CN" sz="2400" b="1" kern="1000" dirty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关系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55"/>
                        </a:spcBef>
                        <a:spcAft>
                          <a:spcPts val="155"/>
                        </a:spcAft>
                      </a:pPr>
                      <a:r>
                        <a:rPr lang="zh-CN" sz="2400" b="1" kern="1000" dirty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（一张）二维表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1093">
                <a:tc>
                  <a:txBody>
                    <a:bodyPr/>
                    <a:lstStyle/>
                    <a:p>
                      <a:pPr algn="ctr">
                        <a:spcBef>
                          <a:spcPts val="155"/>
                        </a:spcBef>
                        <a:spcAft>
                          <a:spcPts val="155"/>
                        </a:spcAft>
                      </a:pPr>
                      <a:r>
                        <a:rPr lang="zh-CN" sz="2400" b="1" kern="100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元组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55"/>
                        </a:spcBef>
                        <a:spcAft>
                          <a:spcPts val="155"/>
                        </a:spcAft>
                      </a:pPr>
                      <a:r>
                        <a:rPr lang="zh-CN" sz="2400" b="1" kern="1000" dirty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记录或行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1093">
                <a:tc>
                  <a:txBody>
                    <a:bodyPr/>
                    <a:lstStyle/>
                    <a:p>
                      <a:pPr algn="ctr">
                        <a:spcBef>
                          <a:spcPts val="155"/>
                        </a:spcBef>
                        <a:spcAft>
                          <a:spcPts val="155"/>
                        </a:spcAft>
                      </a:pPr>
                      <a:r>
                        <a:rPr lang="zh-CN" sz="2400" b="1" kern="100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属性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55"/>
                        </a:spcBef>
                        <a:spcAft>
                          <a:spcPts val="155"/>
                        </a:spcAft>
                      </a:pPr>
                      <a:r>
                        <a:rPr lang="zh-CN" sz="2400" b="1" kern="1000" dirty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列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1093">
                <a:tc>
                  <a:txBody>
                    <a:bodyPr/>
                    <a:lstStyle/>
                    <a:p>
                      <a:pPr algn="ctr">
                        <a:spcBef>
                          <a:spcPts val="155"/>
                        </a:spcBef>
                        <a:spcAft>
                          <a:spcPts val="155"/>
                        </a:spcAft>
                      </a:pPr>
                      <a:r>
                        <a:rPr lang="zh-CN" sz="2400" b="1" kern="100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分量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55"/>
                        </a:spcBef>
                        <a:spcAft>
                          <a:spcPts val="155"/>
                        </a:spcAft>
                      </a:pPr>
                      <a:r>
                        <a:rPr lang="zh-CN" sz="2400" b="1" kern="1000" dirty="0">
                          <a:solidFill>
                            <a:schemeClr val="tx2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一条记录中某个列的值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en-US" altLang="zh-CN" dirty="0" smtClean="0">
                <a:sym typeface="+mn-ea"/>
              </a:rPr>
              <a:t>2.3.2 </a:t>
            </a:r>
            <a:r>
              <a:rPr lang="zh-CN" altLang="en-US" dirty="0" smtClean="0">
                <a:sym typeface="+mn-ea"/>
              </a:rPr>
              <a:t>关系</a:t>
            </a:r>
            <a:r>
              <a:rPr lang="zh-CN" altLang="en-US" dirty="0">
                <a:sym typeface="+mn-ea"/>
              </a:rPr>
              <a:t>模型的数据操作 </a:t>
            </a:r>
          </a:p>
        </p:txBody>
      </p:sp>
      <p:sp>
        <p:nvSpPr>
          <p:cNvPr id="50179" name="Rectangle 3"/>
          <p:cNvSpPr>
            <a:spLocks noGrp="1"/>
          </p:cNvSpPr>
          <p:nvPr>
            <p:ph idx="1"/>
          </p:nvPr>
        </p:nvSpPr>
        <p:spPr>
          <a:xfrm>
            <a:off x="457200" y="1343025"/>
            <a:ext cx="8229600" cy="4829175"/>
          </a:xfrm>
          <a:ln/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spcBef>
                <a:spcPts val="2400"/>
              </a:spcBef>
            </a:pPr>
            <a:r>
              <a:rPr lang="zh-CN" altLang="en-US" dirty="0">
                <a:cs typeface="等线" panose="02010600030101010101" charset="-122"/>
              </a:rPr>
              <a:t>关系模型的操作对象是</a:t>
            </a:r>
            <a:r>
              <a:rPr lang="zh-CN" altLang="en-US" dirty="0">
                <a:solidFill>
                  <a:srgbClr val="FF0000"/>
                </a:solidFill>
                <a:cs typeface="等线" panose="02010600030101010101" charset="-122"/>
              </a:rPr>
              <a:t>集合</a:t>
            </a:r>
            <a:r>
              <a:rPr lang="zh-CN" altLang="en-US" dirty="0">
                <a:cs typeface="等线" panose="02010600030101010101" charset="-122"/>
              </a:rPr>
              <a:t>（也就是关系）</a:t>
            </a:r>
          </a:p>
          <a:p>
            <a:pPr marL="0" indent="0" algn="just" eaLnBrk="1" hangingPunct="1">
              <a:spcBef>
                <a:spcPts val="600"/>
              </a:spcBef>
              <a:buNone/>
            </a:pPr>
            <a:r>
              <a:rPr lang="zh-CN" altLang="en-US" dirty="0">
                <a:cs typeface="等线" panose="02010600030101010101" charset="-122"/>
              </a:rPr>
              <a:t>（非关系型数据库系统中典型的操作是一次一行或一次一个记录</a:t>
            </a:r>
            <a:r>
              <a:rPr lang="zh-CN" altLang="en-US" dirty="0" smtClean="0">
                <a:cs typeface="等线" panose="02010600030101010101" charset="-122"/>
              </a:rPr>
              <a:t>）</a:t>
            </a:r>
            <a:endParaRPr lang="zh-CN" altLang="en-US" dirty="0">
              <a:cs typeface="等线" panose="02010600030101010101" charset="-122"/>
            </a:endParaRPr>
          </a:p>
          <a:p>
            <a:pPr algn="just" eaLnBrk="1" hangingPunct="1">
              <a:spcBef>
                <a:spcPts val="2400"/>
              </a:spcBef>
            </a:pPr>
            <a:r>
              <a:rPr lang="zh-CN" altLang="en-US" dirty="0">
                <a:cs typeface="等线" panose="02010600030101010101" charset="-122"/>
              </a:rPr>
              <a:t>集合处理能力是关系系统区别于其他系统的一个重要特征。</a:t>
            </a:r>
          </a:p>
          <a:p>
            <a:pPr algn="just" eaLnBrk="1" hangingPunct="1">
              <a:spcBef>
                <a:spcPts val="2400"/>
              </a:spcBef>
            </a:pPr>
            <a:r>
              <a:rPr lang="zh-CN" altLang="en-US" dirty="0">
                <a:cs typeface="等线" panose="02010600030101010101" charset="-122"/>
              </a:rPr>
              <a:t>关系数据模型的数据操作主要包括四种：查询、插入、删除和修改数据。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en-US" altLang="zh-CN" dirty="0" smtClean="0">
                <a:sym typeface="+mn-ea"/>
              </a:rPr>
              <a:t>2.3.3 </a:t>
            </a:r>
            <a:r>
              <a:rPr lang="zh-CN" altLang="en-US" dirty="0" smtClean="0">
                <a:sym typeface="+mn-ea"/>
              </a:rPr>
              <a:t>关系</a:t>
            </a:r>
            <a:r>
              <a:rPr lang="zh-CN" altLang="en-US" dirty="0">
                <a:sym typeface="+mn-ea"/>
              </a:rPr>
              <a:t>模型的数据完整性约束 </a:t>
            </a:r>
          </a:p>
        </p:txBody>
      </p:sp>
      <p:sp>
        <p:nvSpPr>
          <p:cNvPr id="51203" name="Rectangle 3"/>
          <p:cNvSpPr>
            <a:spLocks noGrp="1"/>
          </p:cNvSpPr>
          <p:nvPr>
            <p:ph idx="1"/>
          </p:nvPr>
        </p:nvSpPr>
        <p:spPr>
          <a:xfrm>
            <a:off x="323528" y="1772815"/>
            <a:ext cx="8568951" cy="4085059"/>
          </a:xfrm>
          <a:ln/>
        </p:spPr>
        <p:txBody>
          <a:bodyPr vert="horz" wrap="square" lIns="91440" tIns="45720" rIns="91440" bIns="45720" anchor="t" anchorCtr="0"/>
          <a:lstStyle/>
          <a:p>
            <a:pPr marL="0" indent="0">
              <a:buNone/>
            </a:pPr>
            <a:r>
              <a:rPr lang="zh-CN" altLang="en-US" dirty="0">
                <a:cs typeface="等线" panose="02010600030101010101" charset="-122"/>
              </a:rPr>
              <a:t>数据的完整性是指保证数据正确性的特征。</a:t>
            </a:r>
            <a:endParaRPr lang="en-US" altLang="zh-CN" dirty="0">
              <a:cs typeface="等线" panose="02010600030101010101" charset="-122"/>
            </a:endParaRPr>
          </a:p>
          <a:p>
            <a:pPr eaLnBrk="1" hangingPunct="1"/>
            <a:endParaRPr lang="en-US" altLang="zh-CN" dirty="0" smtClean="0">
              <a:solidFill>
                <a:srgbClr val="FF0000"/>
              </a:solidFill>
              <a:cs typeface="等线" panose="02010600030101010101" charset="-122"/>
            </a:endParaRPr>
          </a:p>
          <a:p>
            <a:pPr marL="1885950" indent="12700" eaLnBrk="1" hangingPunct="1">
              <a:spcBef>
                <a:spcPts val="1800"/>
              </a:spcBef>
            </a:pPr>
            <a:r>
              <a:rPr lang="zh-CN" altLang="en-US" dirty="0" smtClean="0">
                <a:solidFill>
                  <a:srgbClr val="FF0000"/>
                </a:solidFill>
                <a:cs typeface="等线" panose="02010600030101010101" charset="-122"/>
              </a:rPr>
              <a:t>实体完整性 </a:t>
            </a:r>
            <a:endParaRPr lang="zh-CN" altLang="en-US" dirty="0">
              <a:solidFill>
                <a:srgbClr val="FF0000"/>
              </a:solidFill>
              <a:cs typeface="等线" panose="02010600030101010101" charset="-122"/>
            </a:endParaRPr>
          </a:p>
          <a:p>
            <a:pPr marL="1885950" indent="12700" algn="just" eaLnBrk="1" hangingPunct="1">
              <a:spcBef>
                <a:spcPts val="1800"/>
              </a:spcBef>
            </a:pPr>
            <a:r>
              <a:rPr lang="zh-CN" altLang="en-US" dirty="0">
                <a:solidFill>
                  <a:srgbClr val="FF0000"/>
                </a:solidFill>
                <a:cs typeface="等线" panose="02010600030101010101" charset="-122"/>
              </a:rPr>
              <a:t>参照完整性</a:t>
            </a:r>
          </a:p>
          <a:p>
            <a:pPr marL="1885950" indent="12700" eaLnBrk="1" hangingPunct="1">
              <a:spcBef>
                <a:spcPts val="1800"/>
              </a:spcBef>
            </a:pPr>
            <a:r>
              <a:rPr lang="zh-CN" altLang="en-US" dirty="0">
                <a:solidFill>
                  <a:srgbClr val="FF0000"/>
                </a:solidFill>
                <a:cs typeface="等线" panose="02010600030101010101" charset="-122"/>
              </a:rPr>
              <a:t>用户定义的完整性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226" name="Rectangle 2"/>
          <p:cNvSpPr>
            <a:spLocks noGrp="1"/>
          </p:cNvSpPr>
          <p:nvPr>
            <p:ph type="title"/>
          </p:nvPr>
        </p:nvSpPr>
        <p:spPr>
          <a:xfrm>
            <a:off x="381000" y="152400"/>
            <a:ext cx="6781800" cy="595313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dirty="0">
                <a:sym typeface="+mn-ea"/>
              </a:rPr>
              <a:t>实体完整性</a:t>
            </a:r>
          </a:p>
        </p:txBody>
      </p:sp>
      <p:sp>
        <p:nvSpPr>
          <p:cNvPr id="436227" name="Rectangle 3"/>
          <p:cNvSpPr>
            <a:spLocks noGrp="1"/>
          </p:cNvSpPr>
          <p:nvPr>
            <p:ph idx="1"/>
          </p:nvPr>
        </p:nvSpPr>
        <p:spPr>
          <a:xfrm>
            <a:off x="539552" y="1268760"/>
            <a:ext cx="7713663" cy="4554538"/>
          </a:xfrm>
          <a:ln/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spcBef>
                <a:spcPts val="2400"/>
              </a:spcBef>
            </a:pPr>
            <a:r>
              <a:rPr lang="zh-CN" altLang="en-US" sz="3600" dirty="0">
                <a:cs typeface="等线" panose="02010600030101010101" charset="-122"/>
              </a:rPr>
              <a:t>实体完整性指的是关系数据库中所有的表都必须有主码。</a:t>
            </a:r>
            <a:r>
              <a:rPr lang="zh-CN" altLang="en-US" sz="2800" dirty="0">
                <a:cs typeface="等线" panose="02010600030101010101" charset="-122"/>
              </a:rPr>
              <a:t> </a:t>
            </a:r>
            <a:endParaRPr lang="zh-CN" altLang="en-US" sz="3600" dirty="0">
              <a:cs typeface="等线" panose="02010600030101010101" charset="-122"/>
            </a:endParaRPr>
          </a:p>
          <a:p>
            <a:pPr algn="just" eaLnBrk="1" hangingPunct="1">
              <a:spcBef>
                <a:spcPts val="2400"/>
              </a:spcBef>
            </a:pPr>
            <a:r>
              <a:rPr lang="zh-CN" altLang="en-US" sz="3600" dirty="0">
                <a:cs typeface="等线" panose="02010600030101010101" charset="-122"/>
              </a:rPr>
              <a:t>而且表中不允许存在如下的记录：</a:t>
            </a:r>
          </a:p>
          <a:p>
            <a:pPr lvl="1" algn="just" eaLnBrk="1" hangingPunct="1">
              <a:spcBef>
                <a:spcPts val="2400"/>
              </a:spcBef>
            </a:pPr>
            <a:r>
              <a:rPr lang="zh-CN" altLang="en-US" sz="3200" b="1" dirty="0">
                <a:solidFill>
                  <a:srgbClr val="FF0000"/>
                </a:solidFill>
                <a:cs typeface="等线" panose="02010600030101010101" charset="-122"/>
              </a:rPr>
              <a:t>无主码值的记录</a:t>
            </a:r>
          </a:p>
          <a:p>
            <a:pPr lvl="1" algn="just" eaLnBrk="1" hangingPunct="1">
              <a:spcBef>
                <a:spcPts val="2400"/>
              </a:spcBef>
            </a:pPr>
            <a:r>
              <a:rPr lang="zh-CN" altLang="en-US" sz="3200" b="1" dirty="0">
                <a:solidFill>
                  <a:srgbClr val="FF0000"/>
                </a:solidFill>
                <a:cs typeface="等线" panose="02010600030101010101" charset="-122"/>
              </a:rPr>
              <a:t>主码值相同的记录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6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6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36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6226" grpId="0"/>
      <p:bldP spid="436227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0" name="Rectangle 2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dirty="0">
                <a:sym typeface="+mn-ea"/>
              </a:rPr>
              <a:t>参照完整性</a:t>
            </a:r>
          </a:p>
        </p:txBody>
      </p:sp>
      <p:sp>
        <p:nvSpPr>
          <p:cNvPr id="437251" name="Rectangle 3"/>
          <p:cNvSpPr>
            <a:spLocks noGrp="1"/>
          </p:cNvSpPr>
          <p:nvPr>
            <p:ph idx="1"/>
          </p:nvPr>
        </p:nvSpPr>
        <p:spPr>
          <a:xfrm>
            <a:off x="381000" y="1428750"/>
            <a:ext cx="8312785" cy="4679950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>
              <a:spcBef>
                <a:spcPts val="3600"/>
              </a:spcBef>
            </a:pPr>
            <a:r>
              <a:rPr lang="zh-CN" altLang="en-US" dirty="0"/>
              <a:t>用于描述实体之间的联系。</a:t>
            </a:r>
          </a:p>
          <a:p>
            <a:pPr eaLnBrk="1" hangingPunct="1">
              <a:spcBef>
                <a:spcPts val="3600"/>
              </a:spcBef>
            </a:pPr>
            <a:r>
              <a:rPr lang="zh-CN" altLang="en-US" dirty="0"/>
              <a:t>参照完整性一般是指多个实体（表）之间的关联关系。 </a:t>
            </a:r>
          </a:p>
          <a:p>
            <a:pPr eaLnBrk="1" hangingPunct="1">
              <a:spcBef>
                <a:spcPts val="3600"/>
              </a:spcBef>
            </a:pPr>
            <a:r>
              <a:rPr lang="zh-CN" altLang="en-US" dirty="0"/>
              <a:t>一般用</a:t>
            </a:r>
            <a:r>
              <a:rPr lang="zh-CN" altLang="en-US" dirty="0">
                <a:solidFill>
                  <a:srgbClr val="FF0000"/>
                </a:solidFill>
              </a:rPr>
              <a:t>外码</a:t>
            </a:r>
            <a:r>
              <a:rPr lang="zh-CN" altLang="en-US" dirty="0"/>
              <a:t>实现。</a:t>
            </a:r>
          </a:p>
        </p:txBody>
      </p:sp>
    </p:spTree>
  </p:cSld>
  <p:clrMapOvr>
    <a:masterClrMapping/>
  </p:clrMapOvr>
  <p:transition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9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9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37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37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37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37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37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37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37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37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37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7250" grpId="0"/>
      <p:bldP spid="437251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dirty="0">
                <a:sym typeface="+mn-ea"/>
              </a:rPr>
              <a:t>外码引用例1</a:t>
            </a:r>
          </a:p>
        </p:txBody>
      </p:sp>
      <p:sp>
        <p:nvSpPr>
          <p:cNvPr id="438275" name="Rectangle 3"/>
          <p:cNvSpPr/>
          <p:nvPr/>
        </p:nvSpPr>
        <p:spPr>
          <a:xfrm>
            <a:off x="1352550" y="1871663"/>
            <a:ext cx="1441450" cy="533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 eaLnBrk="0" hangingPunct="0"/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学生</a:t>
            </a:r>
          </a:p>
        </p:txBody>
      </p:sp>
      <p:sp>
        <p:nvSpPr>
          <p:cNvPr id="438276" name="Rectangle 4"/>
          <p:cNvSpPr/>
          <p:nvPr/>
        </p:nvSpPr>
        <p:spPr>
          <a:xfrm>
            <a:off x="6540500" y="1871663"/>
            <a:ext cx="1441450" cy="609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 eaLnBrk="0" hangingPunct="0"/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专业</a:t>
            </a:r>
          </a:p>
        </p:txBody>
      </p:sp>
      <p:sp>
        <p:nvSpPr>
          <p:cNvPr id="438277" name="AutoShape 5"/>
          <p:cNvSpPr/>
          <p:nvPr/>
        </p:nvSpPr>
        <p:spPr>
          <a:xfrm>
            <a:off x="3659188" y="1719263"/>
            <a:ext cx="1731962" cy="914400"/>
          </a:xfrm>
          <a:prstGeom prst="diamond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just" eaLnBrk="0" hangingPunct="0"/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属于</a:t>
            </a:r>
          </a:p>
        </p:txBody>
      </p:sp>
      <p:sp>
        <p:nvSpPr>
          <p:cNvPr id="438278" name="Line 6"/>
          <p:cNvSpPr/>
          <p:nvPr/>
        </p:nvSpPr>
        <p:spPr>
          <a:xfrm>
            <a:off x="2849563" y="2176463"/>
            <a:ext cx="865187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38279" name="Line 7"/>
          <p:cNvSpPr/>
          <p:nvPr/>
        </p:nvSpPr>
        <p:spPr>
          <a:xfrm>
            <a:off x="5391150" y="2176463"/>
            <a:ext cx="1149350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38280" name="AutoShape 8"/>
          <p:cNvSpPr/>
          <p:nvPr/>
        </p:nvSpPr>
        <p:spPr>
          <a:xfrm rot="12009213">
            <a:off x="1797050" y="2424113"/>
            <a:ext cx="304800" cy="914400"/>
          </a:xfrm>
          <a:prstGeom prst="upArrow">
            <a:avLst>
              <a:gd name="adj1" fmla="val 50000"/>
              <a:gd name="adj2" fmla="val 75000"/>
            </a:avLst>
          </a:prstGeom>
          <a:solidFill>
            <a:srgbClr val="FF66CC"/>
          </a:solidFill>
          <a:ln w="9525" cap="flat" cmpd="sng">
            <a:solidFill>
              <a:srgbClr val="FF66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38282" name="Text Box 10"/>
          <p:cNvSpPr txBox="1"/>
          <p:nvPr/>
        </p:nvSpPr>
        <p:spPr>
          <a:xfrm>
            <a:off x="323850" y="3500438"/>
            <a:ext cx="3795713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2800" b="1" u="sng" dirty="0">
                <a:solidFill>
                  <a:srgbClr val="FF0000"/>
                </a:solidFill>
                <a:latin typeface="Gulim" panose="020B0600000101010101" pitchFamily="34" charset="-127"/>
                <a:ea typeface="宋体" panose="02010600030101010101" pitchFamily="2" charset="-122"/>
              </a:rPr>
              <a:t>学号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姓名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800" b="1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专业号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 …)</a:t>
            </a:r>
          </a:p>
        </p:txBody>
      </p:sp>
      <p:sp>
        <p:nvSpPr>
          <p:cNvPr id="438283" name="Text Box 11"/>
          <p:cNvSpPr txBox="1"/>
          <p:nvPr/>
        </p:nvSpPr>
        <p:spPr>
          <a:xfrm>
            <a:off x="5651500" y="3429000"/>
            <a:ext cx="34194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 latinLnBrk="1">
              <a:spcBef>
                <a:spcPct val="50000"/>
              </a:spcBef>
            </a:pPr>
            <a:r>
              <a:rPr lang="zh-CN" altLang="en-US" sz="2800" b="1" dirty="0">
                <a:solidFill>
                  <a:srgbClr val="CC6600"/>
                </a:solidFill>
                <a:latin typeface="Gulim" panose="020B0600000101010101" pitchFamily="34" charset="-127"/>
                <a:ea typeface="宋体" panose="02010600030101010101" pitchFamily="2" charset="-122"/>
              </a:rPr>
              <a:t>（</a:t>
            </a:r>
            <a:r>
              <a:rPr lang="zh-CN" altLang="en-US" sz="2800" b="1" u="sng" dirty="0">
                <a:solidFill>
                  <a:srgbClr val="CC6600"/>
                </a:solidFill>
                <a:latin typeface="Gulim" panose="020B0600000101010101" pitchFamily="34" charset="-127"/>
                <a:ea typeface="宋体" panose="02010600030101010101" pitchFamily="2" charset="-122"/>
              </a:rPr>
              <a:t>专业号</a:t>
            </a:r>
            <a:r>
              <a:rPr lang="zh-CN" altLang="en-US" sz="2800" b="1" dirty="0">
                <a:solidFill>
                  <a:srgbClr val="CC6600"/>
                </a:solidFill>
                <a:latin typeface="Gulim" panose="020B0600000101010101" pitchFamily="34" charset="-127"/>
                <a:ea typeface="宋体" panose="02010600030101010101" pitchFamily="2" charset="-122"/>
              </a:rPr>
              <a:t>，专业名）</a:t>
            </a:r>
          </a:p>
        </p:txBody>
      </p:sp>
      <p:sp>
        <p:nvSpPr>
          <p:cNvPr id="54284" name="AutoShape 12"/>
          <p:cNvSpPr/>
          <p:nvPr/>
        </p:nvSpPr>
        <p:spPr>
          <a:xfrm rot="-169809">
            <a:off x="2703513" y="4221163"/>
            <a:ext cx="3887787" cy="720725"/>
          </a:xfrm>
          <a:prstGeom prst="curvedUpArrow">
            <a:avLst>
              <a:gd name="adj1" fmla="val 107885"/>
              <a:gd name="adj2" fmla="val 215770"/>
              <a:gd name="adj3" fmla="val 33333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3" name="AutoShape 8"/>
          <p:cNvSpPr/>
          <p:nvPr/>
        </p:nvSpPr>
        <p:spPr>
          <a:xfrm rot="10311321">
            <a:off x="7108825" y="2594409"/>
            <a:ext cx="304800" cy="914400"/>
          </a:xfrm>
          <a:prstGeom prst="upArrow">
            <a:avLst>
              <a:gd name="adj1" fmla="val 50000"/>
              <a:gd name="adj2" fmla="val 75000"/>
            </a:avLst>
          </a:prstGeom>
          <a:solidFill>
            <a:srgbClr val="FF66CC"/>
          </a:solidFill>
          <a:ln w="9525" cap="flat" cmpd="sng">
            <a:solidFill>
              <a:srgbClr val="FF66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8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8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38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8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38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38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38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38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382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382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38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38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382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382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38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38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382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382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438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38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38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8275" grpId="0" animBg="1"/>
      <p:bldP spid="438276" grpId="0" animBg="1"/>
      <p:bldP spid="438277" grpId="0" animBg="1"/>
      <p:bldP spid="438280" grpId="0" animBg="1"/>
      <p:bldP spid="438282" grpId="0"/>
      <p:bldP spid="438283" grpId="0"/>
      <p:bldP spid="1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298" name="Rectangle 2"/>
          <p:cNvSpPr/>
          <p:nvPr/>
        </p:nvSpPr>
        <p:spPr>
          <a:xfrm>
            <a:off x="971550" y="188913"/>
            <a:ext cx="5257800" cy="6477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3600" kern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  <a:cs typeface="+mj-cs"/>
                <a:sym typeface="+mn-ea"/>
              </a:rPr>
              <a:t>外码引用例2</a:t>
            </a:r>
          </a:p>
        </p:txBody>
      </p:sp>
      <p:sp>
        <p:nvSpPr>
          <p:cNvPr id="439299" name="Rectangle 3"/>
          <p:cNvSpPr/>
          <p:nvPr/>
        </p:nvSpPr>
        <p:spPr>
          <a:xfrm>
            <a:off x="1393825" y="1852613"/>
            <a:ext cx="1441450" cy="533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 eaLnBrk="0" hangingPunct="0"/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学生</a:t>
            </a:r>
          </a:p>
        </p:txBody>
      </p:sp>
      <p:sp>
        <p:nvSpPr>
          <p:cNvPr id="439300" name="Rectangle 4"/>
          <p:cNvSpPr/>
          <p:nvPr/>
        </p:nvSpPr>
        <p:spPr>
          <a:xfrm>
            <a:off x="6581775" y="1852613"/>
            <a:ext cx="1441450" cy="609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 eaLnBrk="0" hangingPunct="0"/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课程</a:t>
            </a:r>
          </a:p>
        </p:txBody>
      </p:sp>
      <p:sp>
        <p:nvSpPr>
          <p:cNvPr id="439301" name="AutoShape 5"/>
          <p:cNvSpPr/>
          <p:nvPr/>
        </p:nvSpPr>
        <p:spPr>
          <a:xfrm>
            <a:off x="3700463" y="1700213"/>
            <a:ext cx="1731962" cy="914400"/>
          </a:xfrm>
          <a:prstGeom prst="diamond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just" eaLnBrk="0" hangingPunct="0"/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修课</a:t>
            </a:r>
          </a:p>
        </p:txBody>
      </p:sp>
      <p:sp>
        <p:nvSpPr>
          <p:cNvPr id="439302" name="Line 6"/>
          <p:cNvSpPr/>
          <p:nvPr/>
        </p:nvSpPr>
        <p:spPr>
          <a:xfrm>
            <a:off x="2890838" y="2157413"/>
            <a:ext cx="865187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39303" name="Line 7"/>
          <p:cNvSpPr/>
          <p:nvPr/>
        </p:nvSpPr>
        <p:spPr>
          <a:xfrm>
            <a:off x="5432425" y="2157413"/>
            <a:ext cx="1149350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39304" name="AutoShape 8"/>
          <p:cNvSpPr/>
          <p:nvPr/>
        </p:nvSpPr>
        <p:spPr>
          <a:xfrm rot="12811448">
            <a:off x="1838325" y="2405063"/>
            <a:ext cx="304800" cy="914400"/>
          </a:xfrm>
          <a:prstGeom prst="up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39305" name="Text Box 9"/>
          <p:cNvSpPr txBox="1"/>
          <p:nvPr/>
        </p:nvSpPr>
        <p:spPr>
          <a:xfrm>
            <a:off x="250825" y="3452813"/>
            <a:ext cx="3200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Gulim" panose="020B0600000101010101" pitchFamily="34" charset="-127"/>
                <a:ea typeface="宋体" panose="02010600030101010101" pitchFamily="2" charset="-122"/>
              </a:rPr>
              <a:t>（</a:t>
            </a:r>
            <a:r>
              <a:rPr lang="zh-CN" altLang="en-US" sz="2400" b="1" u="sng" dirty="0">
                <a:solidFill>
                  <a:srgbClr val="FF0000"/>
                </a:solidFill>
                <a:latin typeface="Gulim" panose="020B0600000101010101" pitchFamily="34" charset="-127"/>
                <a:ea typeface="宋体" panose="02010600030101010101" pitchFamily="2" charset="-122"/>
              </a:rPr>
              <a:t>学号</a:t>
            </a:r>
            <a:r>
              <a:rPr lang="zh-CN" altLang="en-US" sz="2400" b="1" dirty="0">
                <a:solidFill>
                  <a:srgbClr val="FF0000"/>
                </a:solidFill>
                <a:latin typeface="Gulim" panose="020B0600000101010101" pitchFamily="34" charset="-127"/>
                <a:ea typeface="宋体" panose="02010600030101010101" pitchFamily="2" charset="-122"/>
              </a:rPr>
              <a:t>，姓名，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r>
              <a:rPr lang="zh-CN" altLang="en-US" sz="2400" b="1" dirty="0">
                <a:solidFill>
                  <a:srgbClr val="FF0000"/>
                </a:solidFill>
                <a:latin typeface="Gulim" panose="020B0600000101010101" pitchFamily="34" charset="-127"/>
                <a:ea typeface="宋体" panose="02010600030101010101" pitchFamily="2" charset="-122"/>
              </a:rPr>
              <a:t>）</a:t>
            </a:r>
            <a:endParaRPr lang="en-US" altLang="zh-CN" sz="2400" b="1" dirty="0">
              <a:solidFill>
                <a:srgbClr val="FF0000"/>
              </a:solidFill>
              <a:latin typeface="Gulim" panose="020B0600000101010101" pitchFamily="34" charset="-127"/>
              <a:ea typeface="宋体" panose="02010600030101010101" pitchFamily="2" charset="-122"/>
            </a:endParaRPr>
          </a:p>
        </p:txBody>
      </p:sp>
      <p:sp>
        <p:nvSpPr>
          <p:cNvPr id="439307" name="Text Box 11"/>
          <p:cNvSpPr txBox="1"/>
          <p:nvPr/>
        </p:nvSpPr>
        <p:spPr>
          <a:xfrm>
            <a:off x="5580063" y="3429000"/>
            <a:ext cx="35099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 b="1" dirty="0">
                <a:solidFill>
                  <a:srgbClr val="CC6600"/>
                </a:solidFill>
                <a:latin typeface="Gulim" panose="020B0600000101010101" pitchFamily="34" charset="-127"/>
                <a:ea typeface="宋体" panose="02010600030101010101" pitchFamily="2" charset="-122"/>
              </a:rPr>
              <a:t>（</a:t>
            </a:r>
            <a:r>
              <a:rPr lang="zh-CN" altLang="en-US" sz="2400" b="1" u="sng" dirty="0">
                <a:solidFill>
                  <a:srgbClr val="CC6600"/>
                </a:solidFill>
                <a:latin typeface="Gulim" panose="020B0600000101010101" pitchFamily="34" charset="-127"/>
                <a:ea typeface="宋体" panose="02010600030101010101" pitchFamily="2" charset="-122"/>
              </a:rPr>
              <a:t>课程号</a:t>
            </a:r>
            <a:r>
              <a:rPr lang="zh-CN" altLang="en-US" sz="2400" b="1" dirty="0">
                <a:solidFill>
                  <a:srgbClr val="CC6600"/>
                </a:solidFill>
                <a:latin typeface="Gulim" panose="020B0600000101010101" pitchFamily="34" charset="-127"/>
                <a:ea typeface="宋体" panose="02010600030101010101" pitchFamily="2" charset="-122"/>
              </a:rPr>
              <a:t>，课程名</a:t>
            </a:r>
            <a:r>
              <a:rPr lang="en-US" altLang="zh-CN" sz="2400" b="1" dirty="0">
                <a:solidFill>
                  <a:srgbClr val="CC6600"/>
                </a:solidFill>
                <a:latin typeface="Gulim" panose="020B0600000101010101" pitchFamily="34" charset="-127"/>
                <a:ea typeface="宋体" panose="02010600030101010101" pitchFamily="2" charset="-122"/>
              </a:rPr>
              <a:t>, </a:t>
            </a:r>
            <a:r>
              <a:rPr lang="en-US" altLang="zh-CN" sz="2400" b="1" dirty="0">
                <a:solidFill>
                  <a:srgbClr val="CC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r>
              <a:rPr lang="zh-CN" altLang="en-US" sz="2400" b="1" dirty="0">
                <a:solidFill>
                  <a:srgbClr val="CC6600"/>
                </a:solidFill>
                <a:latin typeface="Gulim" panose="020B0600000101010101" pitchFamily="34" charset="-127"/>
                <a:ea typeface="宋体" panose="02010600030101010101" pitchFamily="2" charset="-122"/>
              </a:rPr>
              <a:t>）</a:t>
            </a:r>
            <a:endParaRPr lang="en-US" altLang="zh-CN" sz="2400" b="1" dirty="0">
              <a:solidFill>
                <a:srgbClr val="CC6600"/>
              </a:solidFill>
              <a:latin typeface="Gulim" panose="020B0600000101010101" pitchFamily="34" charset="-127"/>
              <a:ea typeface="宋体" panose="02010600030101010101" pitchFamily="2" charset="-122"/>
            </a:endParaRPr>
          </a:p>
        </p:txBody>
      </p:sp>
      <p:sp>
        <p:nvSpPr>
          <p:cNvPr id="439308" name="AutoShape 12"/>
          <p:cNvSpPr/>
          <p:nvPr/>
        </p:nvSpPr>
        <p:spPr>
          <a:xfrm rot="11060480">
            <a:off x="4441825" y="2843213"/>
            <a:ext cx="304800" cy="1676400"/>
          </a:xfrm>
          <a:prstGeom prst="upArrow">
            <a:avLst>
              <a:gd name="adj1" fmla="val 50000"/>
              <a:gd name="adj2" fmla="val 137500"/>
            </a:avLst>
          </a:prstGeom>
          <a:solidFill>
            <a:srgbClr val="0000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39309" name="Text Box 13"/>
          <p:cNvSpPr txBox="1"/>
          <p:nvPr/>
        </p:nvSpPr>
        <p:spPr>
          <a:xfrm>
            <a:off x="2689225" y="4762500"/>
            <a:ext cx="45720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2800" b="1" u="sng" dirty="0">
                <a:solidFill>
                  <a:srgbClr val="FF0000"/>
                </a:solidFill>
                <a:latin typeface="Gulim" panose="020B0600000101010101" pitchFamily="34" charset="-127"/>
                <a:ea typeface="宋体" panose="02010600030101010101" pitchFamily="2" charset="-122"/>
              </a:rPr>
              <a:t>学号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800" b="1" u="sng" dirty="0">
                <a:solidFill>
                  <a:srgbClr val="CC6600"/>
                </a:solidFill>
                <a:latin typeface="Gulim" panose="020B0600000101010101" pitchFamily="34" charset="-127"/>
                <a:ea typeface="宋体" panose="02010600030101010101" pitchFamily="2" charset="-122"/>
              </a:rPr>
              <a:t>课程号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成绩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 …)</a:t>
            </a:r>
          </a:p>
        </p:txBody>
      </p:sp>
      <p:sp>
        <p:nvSpPr>
          <p:cNvPr id="439310" name="Line 14"/>
          <p:cNvSpPr/>
          <p:nvPr/>
        </p:nvSpPr>
        <p:spPr>
          <a:xfrm flipH="1" flipV="1">
            <a:off x="1012825" y="3910013"/>
            <a:ext cx="2057400" cy="838200"/>
          </a:xfrm>
          <a:prstGeom prst="line">
            <a:avLst/>
          </a:prstGeom>
          <a:ln w="38100" cap="flat" cmpd="sng">
            <a:solidFill>
              <a:srgbClr val="FF00FF"/>
            </a:solidFill>
            <a:prstDash val="dash"/>
            <a:headEnd type="none" w="med" len="med"/>
            <a:tailEnd type="triangle" w="med" len="med"/>
          </a:ln>
        </p:spPr>
      </p:sp>
      <p:sp>
        <p:nvSpPr>
          <p:cNvPr id="439311" name="Line 15"/>
          <p:cNvSpPr/>
          <p:nvPr/>
        </p:nvSpPr>
        <p:spPr>
          <a:xfrm flipV="1">
            <a:off x="4518025" y="3986213"/>
            <a:ext cx="1676400" cy="762000"/>
          </a:xfrm>
          <a:prstGeom prst="line">
            <a:avLst/>
          </a:prstGeom>
          <a:ln w="38100" cap="flat" cmpd="sng">
            <a:solidFill>
              <a:srgbClr val="FF00FF"/>
            </a:solidFill>
            <a:prstDash val="dash"/>
            <a:headEnd type="none" w="med" len="med"/>
            <a:tailEnd type="triangle" w="med" len="med"/>
          </a:ln>
        </p:spPr>
      </p:sp>
      <p:sp>
        <p:nvSpPr>
          <p:cNvPr id="16" name="AutoShape 8"/>
          <p:cNvSpPr/>
          <p:nvPr/>
        </p:nvSpPr>
        <p:spPr>
          <a:xfrm rot="9227316">
            <a:off x="7150100" y="2557464"/>
            <a:ext cx="304800" cy="914400"/>
          </a:xfrm>
          <a:prstGeom prst="up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439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39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39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39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39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39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39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39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39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393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393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39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39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393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393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39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39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393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393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8" dur="500"/>
                                        <p:tgtEl>
                                          <p:spTgt spid="439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439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39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39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393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393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39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39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0" dur="500"/>
                                        <p:tgtEl>
                                          <p:spTgt spid="439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4" dur="500"/>
                                        <p:tgtEl>
                                          <p:spTgt spid="439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9298" grpId="0"/>
      <p:bldP spid="439299" grpId="0" animBg="1"/>
      <p:bldP spid="439300" grpId="0" animBg="1"/>
      <p:bldP spid="439301" grpId="0" animBg="1"/>
      <p:bldP spid="439304" grpId="0" animBg="1"/>
      <p:bldP spid="439305" grpId="0"/>
      <p:bldP spid="439307" grpId="0"/>
      <p:bldP spid="439308" grpId="0" animBg="1"/>
      <p:bldP spid="439309" grpId="0"/>
      <p:bldP spid="1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dirty="0">
                <a:sym typeface="+mn-ea"/>
              </a:rPr>
              <a:t>参照完整性规则</a:t>
            </a:r>
          </a:p>
        </p:txBody>
      </p:sp>
      <p:sp>
        <p:nvSpPr>
          <p:cNvPr id="56323" name="Rectangle 3"/>
          <p:cNvSpPr>
            <a:spLocks noGrp="1"/>
          </p:cNvSpPr>
          <p:nvPr>
            <p:ph idx="1"/>
          </p:nvPr>
        </p:nvSpPr>
        <p:spPr>
          <a:xfrm>
            <a:off x="366394" y="1362710"/>
            <a:ext cx="8526086" cy="4780915"/>
          </a:xfrm>
          <a:ln/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spcBef>
                <a:spcPts val="1800"/>
              </a:spcBef>
            </a:pPr>
            <a:r>
              <a:rPr lang="zh-CN" altLang="en-US" dirty="0"/>
              <a:t>参照完整性规则就是定义外码与主码之间的引用规则。</a:t>
            </a:r>
          </a:p>
          <a:p>
            <a:pPr algn="just" eaLnBrk="1" hangingPunct="1">
              <a:spcBef>
                <a:spcPts val="1800"/>
              </a:spcBef>
            </a:pPr>
            <a:r>
              <a:rPr lang="zh-CN" altLang="en-US" dirty="0"/>
              <a:t>对于外码，一般应符合如下要求：</a:t>
            </a:r>
          </a:p>
          <a:p>
            <a:pPr lvl="1" algn="just" eaLnBrk="1" hangingPunct="1">
              <a:spcBef>
                <a:spcPts val="1800"/>
              </a:spcBef>
            </a:pPr>
            <a:r>
              <a:rPr lang="zh-CN" altLang="en-US" dirty="0">
                <a:solidFill>
                  <a:srgbClr val="FF0066"/>
                </a:solidFill>
              </a:rPr>
              <a:t>或者值为空；</a:t>
            </a:r>
          </a:p>
          <a:p>
            <a:pPr lvl="1" algn="just" eaLnBrk="1" hangingPunct="1">
              <a:spcBef>
                <a:spcPts val="600"/>
              </a:spcBef>
            </a:pPr>
            <a:r>
              <a:rPr lang="zh-CN" altLang="en-US" dirty="0">
                <a:solidFill>
                  <a:srgbClr val="FF0066"/>
                </a:solidFill>
              </a:rPr>
              <a:t>或者等于其所应用的关系中的某个元组的主码值。</a:t>
            </a:r>
            <a:endParaRPr lang="en-US" altLang="zh-CN" dirty="0">
              <a:solidFill>
                <a:srgbClr val="FF0066"/>
              </a:solidFill>
            </a:endParaRPr>
          </a:p>
          <a:p>
            <a:pPr algn="just" eaLnBrk="1" hangingPunct="1">
              <a:spcBef>
                <a:spcPts val="1800"/>
              </a:spcBef>
            </a:pPr>
            <a:r>
              <a:rPr lang="zh-CN" altLang="en-US" sz="2800" dirty="0">
                <a:solidFill>
                  <a:srgbClr val="FF0000"/>
                </a:solidFill>
              </a:rPr>
              <a:t>外码说明</a:t>
            </a:r>
            <a:r>
              <a:rPr lang="zh-CN" altLang="en-US" sz="2800" dirty="0">
                <a:solidFill>
                  <a:srgbClr val="FF0066"/>
                </a:solidFill>
              </a:rPr>
              <a:t>：</a:t>
            </a:r>
            <a:r>
              <a:rPr lang="zh-CN" altLang="en-US" sz="2800" dirty="0"/>
              <a:t>外码不一定要与被引用列同名，只要它们的语义相同即可。</a:t>
            </a:r>
            <a:endParaRPr lang="zh-CN" altLang="en-US" sz="2800" dirty="0">
              <a:solidFill>
                <a:srgbClr val="FF00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370" name="Rectangle 2"/>
          <p:cNvSpPr>
            <a:spLocks noGrp="1"/>
          </p:cNvSpPr>
          <p:nvPr>
            <p:ph type="title"/>
          </p:nvPr>
        </p:nvSpPr>
        <p:spPr>
          <a:xfrm>
            <a:off x="381000" y="152400"/>
            <a:ext cx="6781800" cy="62865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dirty="0">
                <a:sym typeface="+mn-ea"/>
              </a:rPr>
              <a:t>用户定义的完整性</a:t>
            </a:r>
          </a:p>
        </p:txBody>
      </p:sp>
      <p:sp>
        <p:nvSpPr>
          <p:cNvPr id="442371" name="Rectangle 3"/>
          <p:cNvSpPr>
            <a:spLocks noGrp="1" noChangeArrowheads="1"/>
          </p:cNvSpPr>
          <p:nvPr>
            <p:ph idx="1"/>
          </p:nvPr>
        </p:nvSpPr>
        <p:spPr>
          <a:xfrm>
            <a:off x="571500" y="1285875"/>
            <a:ext cx="8320980" cy="48577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zh-CN" altLang="en-US" sz="300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等线" panose="02010600030101010101" charset="-122"/>
              </a:rPr>
              <a:t>也称为</a:t>
            </a:r>
            <a:r>
              <a:rPr kumimoji="0" lang="zh-CN" altLang="en-US" sz="3000" i="0" u="none" strike="noStrike" kern="0" cap="none" spc="0" normalizeH="0" baseline="0" noProof="0" dirty="0" smtClean="0">
                <a:ln>
                  <a:noFill/>
                </a:ln>
                <a:solidFill>
                  <a:srgbClr val="D60093"/>
                </a:solidFill>
                <a:effectLst/>
                <a:uLnTx/>
                <a:uFillTx/>
                <a:cs typeface="等线" panose="02010600030101010101" charset="-122"/>
              </a:rPr>
              <a:t>域完整性</a:t>
            </a:r>
            <a:r>
              <a:rPr kumimoji="0" lang="zh-CN" altLang="en-US" sz="300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等线" panose="02010600030101010101" charset="-122"/>
              </a:rPr>
              <a:t>或</a:t>
            </a:r>
            <a:r>
              <a:rPr kumimoji="0" lang="zh-CN" altLang="en-US" sz="3000" i="0" u="none" strike="noStrike" kern="0" cap="none" spc="0" normalizeH="0" baseline="0" noProof="0" dirty="0" smtClean="0">
                <a:ln>
                  <a:noFill/>
                </a:ln>
                <a:solidFill>
                  <a:srgbClr val="D60093"/>
                </a:solidFill>
                <a:effectLst/>
                <a:uLnTx/>
                <a:uFillTx/>
                <a:cs typeface="等线" panose="02010600030101010101" charset="-122"/>
              </a:rPr>
              <a:t>语义完整性</a:t>
            </a:r>
            <a:r>
              <a:rPr kumimoji="0" lang="zh-CN" altLang="en-US" sz="300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等线" panose="02010600030101010101" charset="-122"/>
              </a:rPr>
              <a:t>。</a:t>
            </a:r>
            <a:endParaRPr kumimoji="0" lang="en-US" altLang="zh-CN" sz="300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cs typeface="等线" panose="02010600030101010101" charset="-122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zh-CN" altLang="en-US" sz="300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等线" panose="02010600030101010101" charset="-122"/>
              </a:rPr>
              <a:t>按应用语义，属性数据有</a:t>
            </a:r>
            <a:r>
              <a:rPr kumimoji="0" lang="zh-CN" altLang="en-US" sz="300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等线" panose="02010600030101010101" charset="-122"/>
              </a:rPr>
              <a:t>：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3000" i="0" u="none" strike="noStrike" kern="0" cap="none" spc="0" normalizeH="0" baseline="0" noProof="0" dirty="0" smtClean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cs typeface="等线" panose="02010600030101010101" charset="-122"/>
              </a:rPr>
              <a:t>类型与长度限制</a:t>
            </a:r>
            <a:r>
              <a:rPr kumimoji="0" lang="zh-CN" altLang="en-US" sz="300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等线" panose="02010600030101010101" charset="-122"/>
              </a:rPr>
              <a:t>：方便计算机操作</a:t>
            </a:r>
            <a:r>
              <a:rPr kumimoji="0" lang="en-US" altLang="zh-CN" sz="300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等线" panose="02010600030101010101" charset="-122"/>
              </a:rPr>
              <a:t>;</a:t>
            </a:r>
            <a:endParaRPr kumimoji="0" lang="zh-CN" altLang="en-US" sz="300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cs typeface="等线" panose="02010600030101010101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3000" i="0" u="none" strike="noStrike" kern="0" cap="none" spc="0" normalizeH="0" baseline="0" noProof="0" dirty="0" smtClean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cs typeface="等线" panose="02010600030101010101" charset="-122"/>
              </a:rPr>
              <a:t>取值范围限制</a:t>
            </a:r>
            <a:r>
              <a:rPr kumimoji="0" lang="zh-CN" altLang="en-US" sz="300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等线" panose="02010600030101010101" charset="-122"/>
              </a:rPr>
              <a:t>：防止属性值与应用语义矛盾。</a:t>
            </a:r>
            <a:endParaRPr kumimoji="0" lang="en-US" altLang="zh-CN" sz="300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cs typeface="等线" panose="02010600030101010101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3000"/>
              </a:spcBef>
              <a:spcAft>
                <a:spcPct val="0"/>
              </a:spcAft>
              <a:buClr>
                <a:srgbClr val="A50021"/>
              </a:buClr>
              <a:buSzPct val="75000"/>
              <a:buNone/>
              <a:defRPr/>
            </a:pPr>
            <a:r>
              <a:rPr kumimoji="1" lang="zh-CN" altLang="en-US" sz="300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等线" panose="02010600030101010101" charset="-122"/>
              </a:rPr>
              <a:t>示例：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000" i="0" u="none" strike="noStrike" kern="0" cap="none" spc="0" normalizeH="0" baseline="0" noProof="0" dirty="0" smtClean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cs typeface="等线" panose="02010600030101010101" charset="-122"/>
              </a:rPr>
              <a:t>成绩</a:t>
            </a:r>
            <a:r>
              <a:rPr kumimoji="1" lang="zh-CN" altLang="en-US" sz="300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等线" panose="02010600030101010101" charset="-122"/>
              </a:rPr>
              <a:t>：</a:t>
            </a:r>
            <a:r>
              <a:rPr kumimoji="1" lang="en-US" altLang="zh-CN" sz="300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等线" panose="02010600030101010101" charset="-122"/>
              </a:rPr>
              <a:t>[0 .. 100]    </a:t>
            </a:r>
            <a:r>
              <a:rPr kumimoji="1" lang="zh-CN" altLang="en-US" sz="300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等线" panose="02010600030101010101" charset="-122"/>
              </a:rPr>
              <a:t>或</a:t>
            </a:r>
            <a:endParaRPr kumimoji="1" lang="en-US" altLang="zh-CN" sz="3000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cs typeface="等线" panose="02010600030101010101" charset="-122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1" lang="en-US" altLang="zh-CN" sz="300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等线" panose="02010600030101010101" charset="-122"/>
              </a:rPr>
              <a:t>        {</a:t>
            </a:r>
            <a:r>
              <a:rPr kumimoji="1" lang="zh-CN" altLang="en-US" sz="300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等线" panose="02010600030101010101" charset="-122"/>
              </a:rPr>
              <a:t>优、良、中、及格、不及格</a:t>
            </a:r>
            <a:r>
              <a:rPr kumimoji="1" lang="en-US" altLang="zh-CN" sz="300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等线" panose="02010600030101010101" charset="-122"/>
              </a:rPr>
              <a:t>}</a:t>
            </a:r>
            <a:endParaRPr kumimoji="0" lang="zh-CN" altLang="en-US" sz="300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cs typeface="等线" panose="02010600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423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423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42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2370" grpId="0"/>
      <p:bldP spid="442371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dirty="0">
                <a:sym typeface="+mn-ea"/>
              </a:rPr>
              <a:t>2.4 数据库系统的结构</a:t>
            </a:r>
          </a:p>
        </p:txBody>
      </p:sp>
      <p:sp>
        <p:nvSpPr>
          <p:cNvPr id="59395" name="Rectangle 3"/>
          <p:cNvSpPr>
            <a:spLocks noGrp="1"/>
          </p:cNvSpPr>
          <p:nvPr>
            <p:ph idx="1"/>
          </p:nvPr>
        </p:nvSpPr>
        <p:spPr>
          <a:xfrm>
            <a:off x="611188" y="1549400"/>
            <a:ext cx="7300912" cy="3248025"/>
          </a:xfrm>
          <a:ln/>
        </p:spPr>
        <p:txBody>
          <a:bodyPr vert="horz" wrap="square" lIns="91440" tIns="45720" rIns="91440" bIns="45720" anchor="t" anchorCtr="0"/>
          <a:lstStyle/>
          <a:p>
            <a:pPr indent="-57150" algn="just" eaLnBrk="1" hangingPunct="1">
              <a:spcBef>
                <a:spcPts val="2400"/>
              </a:spcBef>
            </a:pPr>
            <a:r>
              <a:rPr lang="zh-CN" altLang="en-US" sz="3600" dirty="0">
                <a:cs typeface="等线" panose="02010600030101010101" charset="-122"/>
              </a:rPr>
              <a:t> </a:t>
            </a:r>
            <a:r>
              <a:rPr lang="en-US" altLang="zh-CN" sz="3600" dirty="0">
                <a:cs typeface="等线" panose="02010600030101010101" charset="-122"/>
              </a:rPr>
              <a:t>2.4.1 </a:t>
            </a:r>
            <a:r>
              <a:rPr lang="zh-CN" altLang="en-US" sz="3600" dirty="0">
                <a:cs typeface="等线" panose="02010600030101010101" charset="-122"/>
              </a:rPr>
              <a:t>模式的基本概念</a:t>
            </a:r>
          </a:p>
          <a:p>
            <a:pPr indent="-57150" algn="just" eaLnBrk="1" hangingPunct="1">
              <a:spcBef>
                <a:spcPts val="2400"/>
              </a:spcBef>
            </a:pPr>
            <a:r>
              <a:rPr lang="zh-CN" altLang="en-US" sz="3600" dirty="0">
                <a:cs typeface="等线" panose="02010600030101010101" charset="-122"/>
              </a:rPr>
              <a:t> </a:t>
            </a:r>
            <a:r>
              <a:rPr lang="en-US" altLang="zh-CN" sz="3600" dirty="0">
                <a:cs typeface="等线" panose="02010600030101010101" charset="-122"/>
              </a:rPr>
              <a:t>2.4.2 </a:t>
            </a:r>
            <a:r>
              <a:rPr lang="zh-CN" altLang="en-US" sz="3600" dirty="0">
                <a:cs typeface="等线" panose="02010600030101010101" charset="-122"/>
              </a:rPr>
              <a:t>三级模式结构</a:t>
            </a:r>
          </a:p>
          <a:p>
            <a:pPr indent="-57150" algn="just" eaLnBrk="1" hangingPunct="1">
              <a:spcBef>
                <a:spcPts val="2400"/>
              </a:spcBef>
            </a:pPr>
            <a:r>
              <a:rPr lang="zh-CN" altLang="en-US" sz="3600" dirty="0">
                <a:cs typeface="等线" panose="02010600030101010101" charset="-122"/>
              </a:rPr>
              <a:t> </a:t>
            </a:r>
            <a:r>
              <a:rPr lang="en-US" altLang="zh-CN" sz="3600" dirty="0">
                <a:cs typeface="等线" panose="02010600030101010101" charset="-122"/>
              </a:rPr>
              <a:t>2.4.3 </a:t>
            </a:r>
            <a:r>
              <a:rPr lang="zh-CN" altLang="en-US" sz="3600" dirty="0">
                <a:cs typeface="等线" panose="02010600030101010101" charset="-122"/>
              </a:rPr>
              <a:t>数据库的模式映像功能</a:t>
            </a:r>
            <a:r>
              <a:rPr lang="zh-CN" altLang="en-US" sz="3600" dirty="0" smtClean="0">
                <a:cs typeface="等线" panose="02010600030101010101" charset="-122"/>
              </a:rPr>
              <a:t>与</a:t>
            </a:r>
            <a:endParaRPr lang="en-US" altLang="zh-CN" sz="3600" dirty="0" smtClean="0">
              <a:cs typeface="等线" panose="02010600030101010101" charset="-122"/>
            </a:endParaRPr>
          </a:p>
          <a:p>
            <a:pPr marL="285750" indent="0" algn="just" eaLnBrk="1" hangingPunct="1">
              <a:buNone/>
            </a:pPr>
            <a:r>
              <a:rPr lang="en-US" altLang="zh-CN" sz="3600" dirty="0">
                <a:cs typeface="等线" panose="02010600030101010101" charset="-122"/>
              </a:rPr>
              <a:t> </a:t>
            </a:r>
            <a:r>
              <a:rPr lang="en-US" altLang="zh-CN" sz="3600" dirty="0" smtClean="0">
                <a:cs typeface="等线" panose="02010600030101010101" charset="-122"/>
              </a:rPr>
              <a:t>             </a:t>
            </a:r>
            <a:r>
              <a:rPr lang="zh-CN" altLang="en-US" sz="3600" dirty="0" smtClean="0">
                <a:cs typeface="等线" panose="02010600030101010101" charset="-122"/>
              </a:rPr>
              <a:t>数据独立性  </a:t>
            </a:r>
            <a:endParaRPr lang="zh-CN" altLang="en-US" sz="3600" dirty="0">
              <a:cs typeface="等线" panose="02010600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dirty="0" smtClean="0">
                <a:sym typeface="+mn-ea"/>
              </a:rPr>
              <a:t>数据库系统结构</a:t>
            </a:r>
            <a:endParaRPr lang="zh-CN" altLang="en-US" dirty="0">
              <a:sym typeface="+mn-ea"/>
            </a:endParaRPr>
          </a:p>
        </p:txBody>
      </p:sp>
      <p:sp>
        <p:nvSpPr>
          <p:cNvPr id="60419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72450" cy="4876800"/>
          </a:xfrm>
          <a:ln/>
        </p:spPr>
        <p:txBody>
          <a:bodyPr vert="horz" wrap="square" lIns="91440" tIns="45720" rIns="91440" bIns="45720" anchor="t" anchorCtr="0"/>
          <a:lstStyle/>
          <a:p>
            <a:pPr algn="just"/>
            <a:r>
              <a:rPr lang="zh-CN" altLang="en-US" sz="3000" dirty="0">
                <a:cs typeface="等线" panose="02010600030101010101" charset="-122"/>
              </a:rPr>
              <a:t>考察数据库系统的结构可以有多种不同的层次</a:t>
            </a:r>
            <a:r>
              <a:rPr lang="zh-CN" altLang="en-US" sz="3000" dirty="0" smtClean="0">
                <a:cs typeface="等线" panose="02010600030101010101" charset="-122"/>
              </a:rPr>
              <a:t>或不同</a:t>
            </a:r>
            <a:r>
              <a:rPr lang="zh-CN" altLang="en-US" sz="3000" dirty="0">
                <a:cs typeface="等线" panose="02010600030101010101" charset="-122"/>
              </a:rPr>
              <a:t>的角度。</a:t>
            </a:r>
          </a:p>
          <a:p>
            <a:pPr lvl="1" algn="just"/>
            <a:r>
              <a:rPr lang="zh-CN" altLang="en-US" sz="3000" dirty="0">
                <a:cs typeface="等线" panose="02010600030101010101" charset="-122"/>
              </a:rPr>
              <a:t>从数据库管理角度看，数据库系统通常采用三级模式结构</a:t>
            </a:r>
            <a:r>
              <a:rPr lang="zh-CN" altLang="en-US" sz="3000" dirty="0" smtClean="0">
                <a:cs typeface="等线" panose="02010600030101010101" charset="-122"/>
              </a:rPr>
              <a:t>。</a:t>
            </a:r>
            <a:endParaRPr lang="en-US" altLang="zh-CN" sz="3000" dirty="0" smtClean="0">
              <a:cs typeface="等线" panose="02010600030101010101" charset="-122"/>
            </a:endParaRPr>
          </a:p>
          <a:p>
            <a:pPr marL="457200" lvl="1" indent="0" algn="just">
              <a:spcBef>
                <a:spcPts val="0"/>
              </a:spcBef>
              <a:buNone/>
            </a:pPr>
            <a:r>
              <a:rPr lang="en-US" altLang="zh-CN" sz="3000" dirty="0">
                <a:cs typeface="等线" panose="02010600030101010101" charset="-122"/>
              </a:rPr>
              <a:t> </a:t>
            </a:r>
            <a:r>
              <a:rPr lang="en-US" altLang="zh-CN" sz="3000" dirty="0" smtClean="0">
                <a:cs typeface="等线" panose="02010600030101010101" charset="-122"/>
              </a:rPr>
              <a:t>  </a:t>
            </a:r>
            <a:r>
              <a:rPr lang="zh-CN" altLang="en-US" sz="3000" dirty="0" smtClean="0">
                <a:cs typeface="等线" panose="02010600030101010101" charset="-122"/>
              </a:rPr>
              <a:t>这</a:t>
            </a:r>
            <a:r>
              <a:rPr lang="zh-CN" altLang="en-US" sz="3000" dirty="0">
                <a:cs typeface="等线" panose="02010600030101010101" charset="-122"/>
              </a:rPr>
              <a:t>是数据库系统的</a:t>
            </a:r>
            <a:r>
              <a:rPr lang="zh-CN" altLang="en-US" sz="3000" dirty="0">
                <a:solidFill>
                  <a:srgbClr val="FF0000"/>
                </a:solidFill>
                <a:cs typeface="等线" panose="02010600030101010101" charset="-122"/>
              </a:rPr>
              <a:t>内部结构</a:t>
            </a:r>
            <a:r>
              <a:rPr lang="zh-CN" altLang="en-US" sz="3000" dirty="0">
                <a:cs typeface="等线" panose="02010600030101010101" charset="-122"/>
              </a:rPr>
              <a:t>； </a:t>
            </a:r>
            <a:endParaRPr lang="zh-CN" altLang="en-US" sz="3000" dirty="0">
              <a:solidFill>
                <a:srgbClr val="009900"/>
              </a:solidFill>
              <a:cs typeface="等线" panose="02010600030101010101" charset="-122"/>
            </a:endParaRPr>
          </a:p>
          <a:p>
            <a:pPr lvl="1" algn="just">
              <a:spcBef>
                <a:spcPts val="1200"/>
              </a:spcBef>
            </a:pPr>
            <a:r>
              <a:rPr lang="zh-CN" altLang="en-US" sz="3000" dirty="0">
                <a:cs typeface="等线" panose="02010600030101010101" charset="-122"/>
              </a:rPr>
              <a:t>从数据库最终用户角度看，数据库系统的结构分为集中式结构、文件服务器结构、客户</a:t>
            </a:r>
            <a:r>
              <a:rPr lang="en-US" altLang="zh-CN" sz="3000" dirty="0">
                <a:cs typeface="等线" panose="02010600030101010101" charset="-122"/>
              </a:rPr>
              <a:t>/</a:t>
            </a:r>
            <a:r>
              <a:rPr lang="zh-CN" altLang="en-US" sz="3000" dirty="0">
                <a:cs typeface="等线" panose="02010600030101010101" charset="-122"/>
              </a:rPr>
              <a:t>服务器结构等</a:t>
            </a:r>
            <a:r>
              <a:rPr lang="zh-CN" altLang="en-US" sz="3000" dirty="0" smtClean="0">
                <a:cs typeface="等线" panose="02010600030101010101" charset="-122"/>
              </a:rPr>
              <a:t>。</a:t>
            </a:r>
            <a:endParaRPr lang="en-US" altLang="zh-CN" sz="3000" dirty="0" smtClean="0">
              <a:cs typeface="等线" panose="02010600030101010101" charset="-122"/>
            </a:endParaRPr>
          </a:p>
          <a:p>
            <a:pPr marL="457200" lvl="1" indent="0" algn="just">
              <a:spcBef>
                <a:spcPts val="0"/>
              </a:spcBef>
              <a:buNone/>
            </a:pPr>
            <a:r>
              <a:rPr lang="en-US" altLang="zh-CN" sz="3000" dirty="0">
                <a:cs typeface="等线" panose="02010600030101010101" charset="-122"/>
              </a:rPr>
              <a:t> </a:t>
            </a:r>
            <a:r>
              <a:rPr lang="en-US" altLang="zh-CN" sz="3000" dirty="0" smtClean="0">
                <a:cs typeface="等线" panose="02010600030101010101" charset="-122"/>
              </a:rPr>
              <a:t> </a:t>
            </a:r>
            <a:r>
              <a:rPr lang="zh-CN" altLang="en-US" sz="3000" dirty="0" smtClean="0">
                <a:cs typeface="等线" panose="02010600030101010101" charset="-122"/>
              </a:rPr>
              <a:t>这</a:t>
            </a:r>
            <a:r>
              <a:rPr lang="zh-CN" altLang="en-US" sz="3000" dirty="0">
                <a:cs typeface="等线" panose="02010600030101010101" charset="-122"/>
              </a:rPr>
              <a:t>是数据库系统的</a:t>
            </a:r>
            <a:r>
              <a:rPr lang="zh-CN" altLang="en-US" sz="3000" dirty="0">
                <a:solidFill>
                  <a:srgbClr val="FF0000"/>
                </a:solidFill>
                <a:cs typeface="等线" panose="02010600030101010101" charset="-122"/>
              </a:rPr>
              <a:t>外部结构</a:t>
            </a:r>
            <a:r>
              <a:rPr lang="zh-CN" altLang="en-US" sz="3000" dirty="0">
                <a:cs typeface="等线" panose="02010600030101010101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/>
          </p:cNvSpPr>
          <p:nvPr>
            <p:ph type="title"/>
          </p:nvPr>
        </p:nvSpPr>
        <p:spPr>
          <a:xfrm>
            <a:off x="250825" y="0"/>
            <a:ext cx="8610600" cy="990600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lvl="0" eaLnBrk="1" hangingPunct="1"/>
            <a:r>
              <a:rPr lang="zh-CN" altLang="en-US" dirty="0">
                <a:sym typeface="+mn-ea"/>
              </a:rPr>
              <a:t>2.4.1 模式的基本概念</a:t>
            </a:r>
          </a:p>
        </p:txBody>
      </p:sp>
      <p:sp>
        <p:nvSpPr>
          <p:cNvPr id="429060" name="Text Box 4"/>
          <p:cNvSpPr txBox="1"/>
          <p:nvPr/>
        </p:nvSpPr>
        <p:spPr>
          <a:xfrm>
            <a:off x="323850" y="1628775"/>
            <a:ext cx="2305050" cy="941388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lstStyle/>
          <a:p>
            <a:pPr algn="just" eaLnBrk="0" hangingPunct="0"/>
            <a:r>
              <a:rPr lang="zh-CN" altLang="en-US" sz="2400" b="1" dirty="0">
                <a:solidFill>
                  <a:srgbClr val="142CE0"/>
                </a:solidFill>
                <a:latin typeface="宋体" pitchFamily="2" charset="-122"/>
                <a:ea typeface="宋体" pitchFamily="2" charset="-122"/>
                <a:cs typeface="等线" panose="02010600030101010101" charset="-122"/>
              </a:rPr>
              <a:t>表头</a:t>
            </a:r>
          </a:p>
          <a:p>
            <a:pPr algn="just" eaLnBrk="0" hangingPunct="0"/>
            <a:r>
              <a:rPr lang="zh-CN" altLang="en-US" sz="2400" b="1" dirty="0">
                <a:latin typeface="宋体" pitchFamily="2" charset="-122"/>
                <a:ea typeface="宋体" pitchFamily="2" charset="-122"/>
                <a:cs typeface="等线" panose="02010600030101010101" charset="-122"/>
              </a:rPr>
              <a:t> （关系模式）</a:t>
            </a:r>
          </a:p>
        </p:txBody>
      </p:sp>
      <p:sp>
        <p:nvSpPr>
          <p:cNvPr id="429061" name="Text Box 5"/>
          <p:cNvSpPr txBox="1"/>
          <p:nvPr/>
        </p:nvSpPr>
        <p:spPr>
          <a:xfrm>
            <a:off x="1673225" y="3000375"/>
            <a:ext cx="928688" cy="56515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lstStyle/>
          <a:p>
            <a:pPr algn="just" eaLnBrk="0" hangingPunct="0"/>
            <a:r>
              <a:rPr lang="zh-CN" altLang="en-US" sz="2400" b="1" dirty="0">
                <a:solidFill>
                  <a:srgbClr val="142CE0"/>
                </a:solidFill>
                <a:latin typeface="宋体" pitchFamily="2" charset="-122"/>
                <a:ea typeface="宋体" pitchFamily="2" charset="-122"/>
              </a:rPr>
              <a:t>元组</a:t>
            </a:r>
          </a:p>
        </p:txBody>
      </p:sp>
      <p:sp>
        <p:nvSpPr>
          <p:cNvPr id="429062" name="AutoShape 6"/>
          <p:cNvSpPr/>
          <p:nvPr/>
        </p:nvSpPr>
        <p:spPr>
          <a:xfrm>
            <a:off x="2601913" y="2009775"/>
            <a:ext cx="685800" cy="304800"/>
          </a:xfrm>
          <a:prstGeom prst="rightArrow">
            <a:avLst>
              <a:gd name="adj1" fmla="val 50000"/>
              <a:gd name="adj2" fmla="val 5625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29063" name="AutoShape 7"/>
          <p:cNvSpPr/>
          <p:nvPr/>
        </p:nvSpPr>
        <p:spPr>
          <a:xfrm>
            <a:off x="2525713" y="3076575"/>
            <a:ext cx="685800" cy="304800"/>
          </a:xfrm>
          <a:prstGeom prst="rightArrow">
            <a:avLst>
              <a:gd name="adj1" fmla="val 50000"/>
              <a:gd name="adj2" fmla="val 56250"/>
            </a:avLst>
          </a:prstGeom>
          <a:solidFill>
            <a:srgbClr val="FF6600"/>
          </a:solidFill>
          <a:ln w="9525" cap="flat" cmpd="sng">
            <a:solidFill>
              <a:srgbClr val="FF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429097" name="Group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649268"/>
              </p:ext>
            </p:extLst>
          </p:nvPr>
        </p:nvGraphicFramePr>
        <p:xfrm>
          <a:off x="3287713" y="1885950"/>
          <a:ext cx="5257800" cy="2651760"/>
        </p:xfrm>
        <a:graphic>
          <a:graphicData uri="http://schemas.openxmlformats.org/drawingml/2006/table">
            <a:tbl>
              <a:tblPr/>
              <a:tblGrid>
                <a:gridCol w="1314450"/>
                <a:gridCol w="1314450"/>
                <a:gridCol w="1314450"/>
                <a:gridCol w="1314450"/>
              </a:tblGrid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B0724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属性</a:t>
                      </a:r>
                      <a:r>
                        <a:rPr kumimoji="0" lang="en-US" altLang="zh-CN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B0724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B0724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属性</a:t>
                      </a: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B0724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B0724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B0724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属性</a:t>
                      </a: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B0724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wdDnDiag">
                      <a:fgClr>
                        <a:schemeClr val="bg1"/>
                      </a:fgClr>
                      <a:bgClr>
                        <a:srgbClr val="F79F0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wdDnDiag">
                      <a:fgClr>
                        <a:schemeClr val="bg1"/>
                      </a:fgClr>
                      <a:bgClr>
                        <a:srgbClr val="F79F0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wdDnDiag">
                      <a:fgClr>
                        <a:schemeClr val="bg1"/>
                      </a:fgClr>
                      <a:bgClr>
                        <a:srgbClr val="F79F0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wdDnDiag">
                      <a:fgClr>
                        <a:schemeClr val="bg1"/>
                      </a:fgClr>
                      <a:bgClr>
                        <a:srgbClr val="F79F0F"/>
                      </a:bgClr>
                    </a:pattFill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29098" name="Text Box 42"/>
          <p:cNvSpPr txBox="1"/>
          <p:nvPr/>
        </p:nvSpPr>
        <p:spPr>
          <a:xfrm>
            <a:off x="468313" y="4868863"/>
            <a:ext cx="7921625" cy="1066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tx2"/>
                </a:solidFill>
                <a:latin typeface="宋体" pitchFamily="2" charset="-122"/>
                <a:ea typeface="宋体" pitchFamily="2" charset="-122"/>
              </a:rPr>
              <a:t>示例：学生关系</a:t>
            </a:r>
            <a:r>
              <a:rPr lang="zh-CN" altLang="en-US" sz="3200" b="1" dirty="0" smtClean="0">
                <a:solidFill>
                  <a:schemeClr val="tx2"/>
                </a:solidFill>
                <a:latin typeface="宋体" pitchFamily="2" charset="-122"/>
                <a:ea typeface="宋体" pitchFamily="2" charset="-122"/>
              </a:rPr>
              <a:t>模式</a:t>
            </a:r>
            <a:endParaRPr lang="zh-CN" altLang="en-US" sz="3200" b="1" dirty="0">
              <a:solidFill>
                <a:schemeClr val="tx2"/>
              </a:solidFill>
              <a:latin typeface="宋体" pitchFamily="2" charset="-122"/>
              <a:ea typeface="宋体" pitchFamily="2" charset="-122"/>
            </a:endParaRPr>
          </a:p>
          <a:p>
            <a:pPr algn="l"/>
            <a:r>
              <a:rPr lang="zh-CN" altLang="en-US" sz="3200" b="1" dirty="0">
                <a:solidFill>
                  <a:schemeClr val="tx2"/>
                </a:solidFill>
                <a:latin typeface="宋体" pitchFamily="2" charset="-122"/>
                <a:ea typeface="宋体" pitchFamily="2" charset="-122"/>
              </a:rPr>
              <a:t>学生（学号，姓名，年龄，性别，所在系）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290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90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29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29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29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290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29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290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290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429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9060" grpId="0" animBg="1"/>
      <p:bldP spid="429061" grpId="0" animBg="1"/>
      <p:bldP spid="429062" grpId="0" animBg="1"/>
      <p:bldP spid="429063" grpId="0" animBg="1"/>
      <p:bldP spid="429098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/>
          </p:cNvSpPr>
          <p:nvPr>
            <p:ph type="title"/>
          </p:nvPr>
        </p:nvSpPr>
        <p:spPr>
          <a:xfrm>
            <a:off x="625475" y="282575"/>
            <a:ext cx="6122988" cy="474663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>
            <a:normAutofit fontScale="90000"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dirty="0">
                <a:sym typeface="+mn-ea"/>
              </a:rPr>
              <a:t>2.4.2 三级模式结构</a:t>
            </a:r>
          </a:p>
        </p:txBody>
      </p:sp>
      <p:graphicFrame>
        <p:nvGraphicFramePr>
          <p:cNvPr id="2" name="对象 1"/>
          <p:cNvGraphicFramePr/>
          <p:nvPr/>
        </p:nvGraphicFramePr>
        <p:xfrm>
          <a:off x="611505" y="1412240"/>
          <a:ext cx="7706360" cy="4599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3" r:id="rId3" imgW="5111750" imgH="2901950" progId="Paint.Picture">
                  <p:embed/>
                </p:oleObj>
              </mc:Choice>
              <mc:Fallback>
                <p:oleObj r:id="rId3" imgW="5111750" imgH="2901950" progId="Paint.Picture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1505" y="1412240"/>
                        <a:ext cx="7706360" cy="45999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Rectangle 2"/>
          <p:cNvSpPr>
            <a:spLocks noGrp="1"/>
          </p:cNvSpPr>
          <p:nvPr>
            <p:ph type="title"/>
          </p:nvPr>
        </p:nvSpPr>
        <p:spPr>
          <a:xfrm>
            <a:off x="0" y="189230"/>
            <a:ext cx="8964488" cy="583565"/>
          </a:xfrm>
          <a:noFill/>
          <a:ln w="9525">
            <a:noFill/>
          </a:ln>
        </p:spPr>
        <p:txBody>
          <a:bodyPr vert="horz" wrap="square" lIns="91440" tIns="45720" rIns="91440" bIns="45720" rtlCol="0" anchor="ctr" anchorCtr="0"/>
          <a:lstStyle/>
          <a:p>
            <a:pPr lvl="0" algn="l" eaLnBrk="1" hangingPunct="1">
              <a:buClrTx/>
              <a:buSzTx/>
              <a:buFontTx/>
            </a:pPr>
            <a:r>
              <a:rPr lang="en-US" altLang="zh-CN" dirty="0" smtClean="0">
                <a:sym typeface="+mn-ea"/>
              </a:rPr>
              <a:t>2.4.3 </a:t>
            </a:r>
            <a:r>
              <a:rPr lang="zh-CN" altLang="en-US" dirty="0" smtClean="0">
                <a:sym typeface="+mn-ea"/>
              </a:rPr>
              <a:t>数据库</a:t>
            </a:r>
            <a:r>
              <a:rPr lang="zh-CN" altLang="en-US" dirty="0">
                <a:sym typeface="+mn-ea"/>
              </a:rPr>
              <a:t>的模式映像功能与数据独立性 </a:t>
            </a:r>
          </a:p>
        </p:txBody>
      </p:sp>
      <p:sp>
        <p:nvSpPr>
          <p:cNvPr id="418819" name="Rectangle 3"/>
          <p:cNvSpPr>
            <a:spLocks noGrp="1"/>
          </p:cNvSpPr>
          <p:nvPr>
            <p:ph idx="1"/>
          </p:nvPr>
        </p:nvSpPr>
        <p:spPr>
          <a:xfrm>
            <a:off x="251520" y="1196752"/>
            <a:ext cx="8437880" cy="4946650"/>
          </a:xfrm>
          <a:ln/>
        </p:spPr>
        <p:txBody>
          <a:bodyPr vert="horz" wrap="square" lIns="91440" tIns="45720" rIns="91440" bIns="45720" anchor="t" anchorCtr="0"/>
          <a:lstStyle/>
          <a:p>
            <a:pPr algn="just" eaLnBrk="1" hangingPunct="1"/>
            <a:r>
              <a:rPr lang="zh-CN" altLang="en-US" sz="3000" dirty="0">
                <a:cs typeface="等线" panose="02010600030101010101" charset="-122"/>
              </a:rPr>
              <a:t>三级模式是对数据的三个抽象</a:t>
            </a:r>
            <a:r>
              <a:rPr lang="zh-CN" altLang="en-US" sz="3000" dirty="0" smtClean="0">
                <a:cs typeface="等线" panose="02010600030101010101" charset="-122"/>
              </a:rPr>
              <a:t>级别</a:t>
            </a:r>
            <a:endParaRPr lang="en-US" altLang="zh-CN" sz="3000" dirty="0" smtClean="0">
              <a:cs typeface="等线" panose="02010600030101010101" charset="-122"/>
            </a:endParaRPr>
          </a:p>
          <a:p>
            <a:pPr marL="0" indent="0" algn="just" eaLnBrk="1" hangingPunct="1">
              <a:buNone/>
            </a:pPr>
            <a:r>
              <a:rPr lang="en-US" altLang="zh-CN" sz="3000" dirty="0">
                <a:cs typeface="等线" panose="02010600030101010101" charset="-122"/>
              </a:rPr>
              <a:t> </a:t>
            </a:r>
            <a:r>
              <a:rPr lang="en-US" altLang="zh-CN" sz="3000" dirty="0" smtClean="0">
                <a:cs typeface="等线" panose="02010600030101010101" charset="-122"/>
              </a:rPr>
              <a:t>   </a:t>
            </a:r>
            <a:r>
              <a:rPr lang="zh-CN" altLang="en-US" sz="3000" dirty="0" smtClean="0">
                <a:cs typeface="等线" panose="02010600030101010101" charset="-122"/>
              </a:rPr>
              <a:t>它</a:t>
            </a:r>
            <a:r>
              <a:rPr lang="zh-CN" altLang="en-US" sz="3000" dirty="0">
                <a:cs typeface="等线" panose="02010600030101010101" charset="-122"/>
              </a:rPr>
              <a:t>把数据的具体组织留给</a:t>
            </a:r>
            <a:r>
              <a:rPr lang="en-US" altLang="zh-CN" sz="3000" dirty="0">
                <a:cs typeface="等线" panose="02010600030101010101" charset="-122"/>
              </a:rPr>
              <a:t>DBMS</a:t>
            </a:r>
            <a:r>
              <a:rPr lang="zh-CN" altLang="en-US" sz="3000" dirty="0">
                <a:cs typeface="等线" panose="02010600030101010101" charset="-122"/>
              </a:rPr>
              <a:t>管理，使用户能逻辑地、抽象地处理数据，而不必关心数据在计算机中的具体表示方式与存储方式。</a:t>
            </a:r>
          </a:p>
          <a:p>
            <a:pPr algn="just" eaLnBrk="1" hangingPunct="1">
              <a:spcBef>
                <a:spcPts val="1800"/>
              </a:spcBef>
            </a:pPr>
            <a:r>
              <a:rPr lang="zh-CN" altLang="en-US" sz="3000" dirty="0">
                <a:cs typeface="等线" panose="02010600030101010101" charset="-122"/>
              </a:rPr>
              <a:t>为了能够在</a:t>
            </a:r>
            <a:r>
              <a:rPr lang="zh-CN" altLang="en-US" sz="3000" dirty="0" smtClean="0">
                <a:cs typeface="等线" panose="02010600030101010101" charset="-122"/>
              </a:rPr>
              <a:t>内部实现</a:t>
            </a:r>
            <a:r>
              <a:rPr lang="zh-CN" altLang="en-US" sz="3000" dirty="0">
                <a:cs typeface="等线" panose="02010600030101010101" charset="-122"/>
              </a:rPr>
              <a:t>这三个抽象层次的联系和转换，数据库管理系统在三级模式之间提供了两层映象</a:t>
            </a:r>
            <a:r>
              <a:rPr lang="zh-CN" altLang="en-US" sz="3000" dirty="0" smtClean="0">
                <a:cs typeface="等线" panose="02010600030101010101" charset="-122"/>
              </a:rPr>
              <a:t>：</a:t>
            </a:r>
            <a:endParaRPr lang="zh-CN" altLang="en-US" sz="3000" dirty="0">
              <a:cs typeface="等线" panose="02010600030101010101" charset="-122"/>
            </a:endParaRPr>
          </a:p>
          <a:p>
            <a:pPr lvl="1" algn="just" eaLnBrk="1" hangingPunct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rgbClr val="FF0000"/>
                </a:solidFill>
                <a:cs typeface="等线" panose="02010600030101010101" charset="-122"/>
              </a:rPr>
              <a:t>外模式</a:t>
            </a:r>
            <a:r>
              <a:rPr lang="en-US" altLang="zh-CN" sz="3000" b="1" dirty="0">
                <a:solidFill>
                  <a:srgbClr val="FF0000"/>
                </a:solidFill>
                <a:cs typeface="等线" panose="02010600030101010101" charset="-122"/>
              </a:rPr>
              <a:t>/</a:t>
            </a:r>
            <a:r>
              <a:rPr lang="zh-CN" altLang="en-US" sz="3000" b="1" dirty="0">
                <a:solidFill>
                  <a:srgbClr val="FF0000"/>
                </a:solidFill>
                <a:cs typeface="等线" panose="02010600030101010101" charset="-122"/>
              </a:rPr>
              <a:t>模式</a:t>
            </a:r>
            <a:r>
              <a:rPr lang="zh-CN" altLang="en-US" sz="3000" b="1" dirty="0" smtClean="0">
                <a:solidFill>
                  <a:srgbClr val="FF0000"/>
                </a:solidFill>
                <a:cs typeface="等线" panose="02010600030101010101" charset="-122"/>
              </a:rPr>
              <a:t>映象</a:t>
            </a:r>
            <a:r>
              <a:rPr lang="en-US" altLang="zh-CN" sz="3000" b="1" dirty="0" smtClean="0">
                <a:solidFill>
                  <a:srgbClr val="FF0000"/>
                </a:solidFill>
                <a:cs typeface="等线" panose="02010600030101010101" charset="-122"/>
              </a:rPr>
              <a:t>   </a:t>
            </a:r>
            <a:r>
              <a:rPr lang="en-US" altLang="zh-CN" sz="3000" b="1" dirty="0" smtClean="0">
                <a:solidFill>
                  <a:srgbClr val="FF0000"/>
                </a:solidFill>
                <a:cs typeface="等线" panose="02010600030101010101" charset="-122"/>
                <a:sym typeface="Wingdings" pitchFamily="2" charset="2"/>
              </a:rPr>
              <a:t>  </a:t>
            </a:r>
            <a:r>
              <a:rPr lang="zh-CN" altLang="en-US" sz="3200" b="1" dirty="0" smtClean="0">
                <a:solidFill>
                  <a:srgbClr val="FF0000"/>
                </a:solidFill>
                <a:cs typeface="等线" panose="02010600030101010101" charset="-122"/>
              </a:rPr>
              <a:t>逻辑独立性</a:t>
            </a:r>
            <a:endParaRPr lang="zh-CN" altLang="en-US" sz="3000" b="1" dirty="0">
              <a:solidFill>
                <a:srgbClr val="FF0000"/>
              </a:solidFill>
              <a:cs typeface="等线" panose="02010600030101010101" charset="-122"/>
            </a:endParaRPr>
          </a:p>
          <a:p>
            <a:pPr lvl="1" algn="just" eaLnBrk="1" hangingPunct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rgbClr val="FF0000"/>
                </a:solidFill>
                <a:cs typeface="等线" panose="02010600030101010101" charset="-122"/>
              </a:rPr>
              <a:t>模式</a:t>
            </a:r>
            <a:r>
              <a:rPr lang="en-US" altLang="zh-CN" sz="3000" b="1" dirty="0">
                <a:solidFill>
                  <a:srgbClr val="FF0000"/>
                </a:solidFill>
                <a:cs typeface="等线" panose="02010600030101010101" charset="-122"/>
              </a:rPr>
              <a:t>/</a:t>
            </a:r>
            <a:r>
              <a:rPr lang="zh-CN" altLang="en-US" sz="3000" b="1" dirty="0">
                <a:solidFill>
                  <a:srgbClr val="FF0000"/>
                </a:solidFill>
                <a:cs typeface="等线" panose="02010600030101010101" charset="-122"/>
              </a:rPr>
              <a:t>内模式</a:t>
            </a:r>
            <a:r>
              <a:rPr lang="zh-CN" altLang="en-US" sz="3000" b="1" dirty="0" smtClean="0">
                <a:solidFill>
                  <a:srgbClr val="FF0000"/>
                </a:solidFill>
                <a:cs typeface="等线" panose="02010600030101010101" charset="-122"/>
              </a:rPr>
              <a:t>映象</a:t>
            </a:r>
            <a:r>
              <a:rPr lang="en-US" altLang="zh-CN" sz="3000" b="1" dirty="0" smtClean="0">
                <a:solidFill>
                  <a:srgbClr val="FF0000"/>
                </a:solidFill>
                <a:cs typeface="等线" panose="02010600030101010101" charset="-122"/>
              </a:rPr>
              <a:t>   </a:t>
            </a:r>
            <a:r>
              <a:rPr lang="en-US" altLang="zh-CN" sz="3000" b="1" dirty="0" smtClean="0">
                <a:solidFill>
                  <a:srgbClr val="FF0000"/>
                </a:solidFill>
                <a:cs typeface="等线" panose="02010600030101010101" charset="-122"/>
                <a:sym typeface="Wingdings" pitchFamily="2" charset="2"/>
              </a:rPr>
              <a:t>  </a:t>
            </a:r>
            <a:r>
              <a:rPr lang="zh-CN" altLang="en-US" sz="3200" b="1" dirty="0">
                <a:solidFill>
                  <a:srgbClr val="FF0000"/>
                </a:solidFill>
                <a:cs typeface="等线" panose="02010600030101010101" charset="-122"/>
                <a:sym typeface="Wingdings" pitchFamily="2" charset="2"/>
              </a:rPr>
              <a:t>物理独立性</a:t>
            </a:r>
            <a:endParaRPr lang="zh-CN" altLang="en-US" sz="3200" b="1" dirty="0">
              <a:solidFill>
                <a:srgbClr val="FF0000"/>
              </a:solidFill>
              <a:cs typeface="等线" panose="02010600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8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8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8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8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8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8818" grpId="0"/>
      <p:bldP spid="418819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39191f1c-dff7-4d18-b59a-a5e1a2f46f8f}"/>
</p:tagLst>
</file>

<file path=ppt/theme/theme1.xml><?xml version="1.0" encoding="utf-8"?>
<a:theme xmlns:a="http://schemas.openxmlformats.org/drawingml/2006/main" name="275TGp_biz_light">
  <a:themeElements>
    <a:clrScheme name="275TGp_biz_light 1">
      <a:dk1>
        <a:srgbClr val="2A4C41"/>
      </a:dk1>
      <a:lt1>
        <a:srgbClr val="FFFFFF"/>
      </a:lt1>
      <a:dk2>
        <a:srgbClr val="000000"/>
      </a:dk2>
      <a:lt2>
        <a:srgbClr val="DDDDDD"/>
      </a:lt2>
      <a:accent1>
        <a:srgbClr val="1D518D"/>
      </a:accent1>
      <a:accent2>
        <a:srgbClr val="0099CB"/>
      </a:accent2>
      <a:accent3>
        <a:srgbClr val="FFFFFF"/>
      </a:accent3>
      <a:accent4>
        <a:srgbClr val="224036"/>
      </a:accent4>
      <a:accent5>
        <a:srgbClr val="ABB3C5"/>
      </a:accent5>
      <a:accent6>
        <a:srgbClr val="008AB8"/>
      </a:accent6>
      <a:hlink>
        <a:srgbClr val="00CCFF"/>
      </a:hlink>
      <a:folHlink>
        <a:srgbClr val="749BD4"/>
      </a:folHlink>
    </a:clrScheme>
    <a:fontScheme name="275TGp_biz_ligh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굴림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굴림" pitchFamily="34" charset="-127"/>
          </a:defRPr>
        </a:defPPr>
      </a:lstStyle>
    </a:lnDef>
  </a:objectDefaults>
  <a:extraClrSchemeLst>
    <a:extraClrScheme>
      <a:clrScheme name="275TGp_biz_light 1">
        <a:dk1>
          <a:srgbClr val="2A4C41"/>
        </a:dk1>
        <a:lt1>
          <a:srgbClr val="FFFFFF"/>
        </a:lt1>
        <a:dk2>
          <a:srgbClr val="000000"/>
        </a:dk2>
        <a:lt2>
          <a:srgbClr val="DDDDDD"/>
        </a:lt2>
        <a:accent1>
          <a:srgbClr val="1D518D"/>
        </a:accent1>
        <a:accent2>
          <a:srgbClr val="0099CB"/>
        </a:accent2>
        <a:accent3>
          <a:srgbClr val="FFFFFF"/>
        </a:accent3>
        <a:accent4>
          <a:srgbClr val="224036"/>
        </a:accent4>
        <a:accent5>
          <a:srgbClr val="ABB3C5"/>
        </a:accent5>
        <a:accent6>
          <a:srgbClr val="008AB8"/>
        </a:accent6>
        <a:hlink>
          <a:srgbClr val="00CCFF"/>
        </a:hlink>
        <a:folHlink>
          <a:srgbClr val="749BD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75TGp_biz_light 2">
        <a:dk1>
          <a:srgbClr val="2A4C41"/>
        </a:dk1>
        <a:lt1>
          <a:srgbClr val="FFFFFF"/>
        </a:lt1>
        <a:dk2>
          <a:srgbClr val="000000"/>
        </a:dk2>
        <a:lt2>
          <a:srgbClr val="DDDDDD"/>
        </a:lt2>
        <a:accent1>
          <a:srgbClr val="7E784E"/>
        </a:accent1>
        <a:accent2>
          <a:srgbClr val="989780"/>
        </a:accent2>
        <a:accent3>
          <a:srgbClr val="FFFFFF"/>
        </a:accent3>
        <a:accent4>
          <a:srgbClr val="224036"/>
        </a:accent4>
        <a:accent5>
          <a:srgbClr val="C0BEB2"/>
        </a:accent5>
        <a:accent6>
          <a:srgbClr val="898873"/>
        </a:accent6>
        <a:hlink>
          <a:srgbClr val="BEBA9C"/>
        </a:hlink>
        <a:folHlink>
          <a:srgbClr val="94A1B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75TGp_biz_light 3">
        <a:dk1>
          <a:srgbClr val="2A4C41"/>
        </a:dk1>
        <a:lt1>
          <a:srgbClr val="FFFFFF"/>
        </a:lt1>
        <a:dk2>
          <a:srgbClr val="000000"/>
        </a:dk2>
        <a:lt2>
          <a:srgbClr val="DDDDDD"/>
        </a:lt2>
        <a:accent1>
          <a:srgbClr val="285F6A"/>
        </a:accent1>
        <a:accent2>
          <a:srgbClr val="419DAF"/>
        </a:accent2>
        <a:accent3>
          <a:srgbClr val="FFFFFF"/>
        </a:accent3>
        <a:accent4>
          <a:srgbClr val="224036"/>
        </a:accent4>
        <a:accent5>
          <a:srgbClr val="ACB6B9"/>
        </a:accent5>
        <a:accent6>
          <a:srgbClr val="3A8E9E"/>
        </a:accent6>
        <a:hlink>
          <a:srgbClr val="34C1D0"/>
        </a:hlink>
        <a:folHlink>
          <a:srgbClr val="749BD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2410</Words>
  <Application>Microsoft Office PowerPoint</Application>
  <PresentationFormat>全屏显示(4:3)</PresentationFormat>
  <Paragraphs>392</Paragraphs>
  <Slides>49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49</vt:i4>
      </vt:variant>
    </vt:vector>
  </HeadingPairs>
  <TitlesOfParts>
    <vt:vector size="64" baseType="lpstr">
      <vt:lpstr>Arial</vt:lpstr>
      <vt:lpstr>宋体</vt:lpstr>
      <vt:lpstr>Gulim</vt:lpstr>
      <vt:lpstr>Verdana</vt:lpstr>
      <vt:lpstr>黑体</vt:lpstr>
      <vt:lpstr>Wingdings</vt:lpstr>
      <vt:lpstr>华文新魏</vt:lpstr>
      <vt:lpstr>楷体_GB2312</vt:lpstr>
      <vt:lpstr>Times New Roman</vt:lpstr>
      <vt:lpstr>隶书</vt:lpstr>
      <vt:lpstr>等线</vt:lpstr>
      <vt:lpstr>华文行楷</vt:lpstr>
      <vt:lpstr>275TGp_biz_light</vt:lpstr>
      <vt:lpstr>MS_ClipArt_Gallery.2</vt:lpstr>
      <vt:lpstr>Bitmap Image</vt:lpstr>
      <vt:lpstr>数据库原理与应用 （第3版）</vt:lpstr>
      <vt:lpstr>第2章 数据模型与数据库系统结构 </vt:lpstr>
      <vt:lpstr>2.1 数据和数据模型</vt:lpstr>
      <vt:lpstr>示例</vt:lpstr>
      <vt:lpstr>2.1.2 数据模型</vt:lpstr>
      <vt:lpstr>数据模型（续）</vt:lpstr>
      <vt:lpstr>现实世界客观事物的抽象过程 </vt:lpstr>
      <vt:lpstr>概念层数据模型</vt:lpstr>
      <vt:lpstr>组织层数据模型</vt:lpstr>
      <vt:lpstr>2.2 概念层数据模型</vt:lpstr>
      <vt:lpstr>1. 基本概念</vt:lpstr>
      <vt:lpstr>2. 实体-联系模型</vt:lpstr>
      <vt:lpstr>实体-联系模型 </vt:lpstr>
      <vt:lpstr>实体</vt:lpstr>
      <vt:lpstr>实体的表示方式</vt:lpstr>
      <vt:lpstr>属性</vt:lpstr>
      <vt:lpstr>属性的表示方式</vt:lpstr>
      <vt:lpstr>联系 </vt:lpstr>
      <vt:lpstr>PowerPoint 演示文稿</vt:lpstr>
      <vt:lpstr>PowerPoint 演示文稿</vt:lpstr>
      <vt:lpstr>PowerPoint 演示文稿</vt:lpstr>
      <vt:lpstr>一对一联系的例子</vt:lpstr>
      <vt:lpstr>PowerPoint 演示文稿</vt:lpstr>
      <vt:lpstr>PowerPoint 演示文稿</vt:lpstr>
      <vt:lpstr>PowerPoint 演示文稿</vt:lpstr>
      <vt:lpstr>PowerPoint 演示文稿</vt:lpstr>
      <vt:lpstr>关联多个实体的联系</vt:lpstr>
      <vt:lpstr>2.3 组织层数据模型</vt:lpstr>
      <vt:lpstr>2.3.1 关系数据模型的数据结构</vt:lpstr>
      <vt:lpstr>一些基本术语</vt:lpstr>
      <vt:lpstr>一些基本术语（续）</vt:lpstr>
      <vt:lpstr>一些基本术语（续）</vt:lpstr>
      <vt:lpstr>关系、关系模式</vt:lpstr>
      <vt:lpstr>一些基本术语（续）</vt:lpstr>
      <vt:lpstr>主码示例</vt:lpstr>
      <vt:lpstr>术语对比</vt:lpstr>
      <vt:lpstr>2.3.2 关系模型的数据操作 </vt:lpstr>
      <vt:lpstr>2.3.3 关系模型的数据完整性约束 </vt:lpstr>
      <vt:lpstr>实体完整性</vt:lpstr>
      <vt:lpstr>参照完整性</vt:lpstr>
      <vt:lpstr>外码引用例1</vt:lpstr>
      <vt:lpstr>PowerPoint 演示文稿</vt:lpstr>
      <vt:lpstr>参照完整性规则</vt:lpstr>
      <vt:lpstr>用户定义的完整性</vt:lpstr>
      <vt:lpstr>2.4 数据库系统的结构</vt:lpstr>
      <vt:lpstr>数据库系统结构</vt:lpstr>
      <vt:lpstr>2.4.1 模式的基本概念</vt:lpstr>
      <vt:lpstr>2.4.2 三级模式结构</vt:lpstr>
      <vt:lpstr>2.4.3 数据库的模式映像功能与数据独立性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数据库原理与应用 （第3版）</dc:title>
  <dc:creator>Administrator</dc:creator>
  <cp:lastModifiedBy>DELL</cp:lastModifiedBy>
  <cp:revision>33</cp:revision>
  <dcterms:created xsi:type="dcterms:W3CDTF">2001-07-18T23:57:34Z</dcterms:created>
  <dcterms:modified xsi:type="dcterms:W3CDTF">2023-10-08T08:57:45Z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1F6D5100DC2C43C1AF6A03BABF48129F</vt:lpwstr>
  </property>
  <property fmtid="{D5CDD505-2E9C-101B-9397-08002B2CF9AE}" pid="3" name="KSOProductBuildVer">
    <vt:lpwstr>2052-11.1.0.10356</vt:lpwstr>
  </property>
</Properties>
</file>