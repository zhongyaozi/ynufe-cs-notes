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6" r:id="rId3"/>
    <p:sldId id="265" r:id="rId4"/>
    <p:sldId id="600" r:id="rId5"/>
    <p:sldId id="611" r:id="rId6"/>
    <p:sldId id="601" r:id="rId7"/>
    <p:sldId id="602" r:id="rId8"/>
    <p:sldId id="603" r:id="rId9"/>
    <p:sldId id="604" r:id="rId10"/>
    <p:sldId id="612" r:id="rId11"/>
    <p:sldId id="606" r:id="rId12"/>
    <p:sldId id="614" r:id="rId13"/>
    <p:sldId id="613" r:id="rId14"/>
    <p:sldId id="607" r:id="rId15"/>
    <p:sldId id="608" r:id="rId16"/>
    <p:sldId id="609" r:id="rId17"/>
    <p:sldId id="617" r:id="rId18"/>
    <p:sldId id="618" r:id="rId19"/>
    <p:sldId id="619" r:id="rId20"/>
    <p:sldId id="615" r:id="rId21"/>
    <p:sldId id="616" r:id="rId22"/>
    <p:sldId id="610" r:id="rId23"/>
    <p:sldId id="620" r:id="rId24"/>
    <p:sldId id="621" r:id="rId25"/>
    <p:sldId id="622" r:id="rId26"/>
    <p:sldId id="623" r:id="rId27"/>
    <p:sldId id="624" r:id="rId28"/>
    <p:sldId id="625" r:id="rId29"/>
    <p:sldId id="626" r:id="rId30"/>
    <p:sldId id="627" r:id="rId31"/>
    <p:sldId id="628" r:id="rId32"/>
    <p:sldId id="629" r:id="rId33"/>
    <p:sldId id="630" r:id="rId34"/>
    <p:sldId id="631" r:id="rId35"/>
    <p:sldId id="633" r:id="rId36"/>
    <p:sldId id="634" r:id="rId37"/>
    <p:sldId id="635" r:id="rId38"/>
    <p:sldId id="636" r:id="rId39"/>
    <p:sldId id="637" r:id="rId40"/>
    <p:sldId id="638" r:id="rId41"/>
    <p:sldId id="639" r:id="rId42"/>
    <p:sldId id="640" r:id="rId43"/>
    <p:sldId id="642" r:id="rId44"/>
    <p:sldId id="643" r:id="rId45"/>
    <p:sldId id="644" r:id="rId46"/>
    <p:sldId id="646" r:id="rId47"/>
    <p:sldId id="647" r:id="rId48"/>
    <p:sldId id="648" r:id="rId49"/>
    <p:sldId id="651" r:id="rId50"/>
    <p:sldId id="650" r:id="rId51"/>
    <p:sldId id="268" r:id="rId52"/>
  </p:sldIdLst>
  <p:sldSz cx="9144000" cy="5143500" type="screen16x9"/>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0" userDrawn="1">
          <p15:clr>
            <a:srgbClr val="A4A3A4"/>
          </p15:clr>
        </p15:guide>
        <p15:guide id="2" pos="2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00" autoAdjust="0"/>
    <p:restoredTop sz="94505" autoAdjust="0"/>
  </p:normalViewPr>
  <p:slideViewPr>
    <p:cSldViewPr snapToGrid="0" showGuides="1">
      <p:cViewPr varScale="1">
        <p:scale>
          <a:sx n="102" d="100"/>
          <a:sy n="102" d="100"/>
        </p:scale>
        <p:origin x="984" y="77"/>
      </p:cViewPr>
      <p:guideLst>
        <p:guide orient="horz" pos="1680"/>
        <p:guide pos="2862"/>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7" Type="http://schemas.openxmlformats.org/officeDocument/2006/relationships/tags" Target="tags/tag4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notesMaster" Target="notesMasters/notesMaster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4B316-0222-4D51-B5FC-C1A17122DD5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39083-D833-4A4D-8333-6F5719A2B70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00B0F0"/>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9057" y="4459731"/>
            <a:ext cx="996794" cy="484863"/>
            <a:chOff x="-314808" y="5891888"/>
            <a:chExt cx="1521205" cy="739781"/>
          </a:xfrm>
          <a:gradFill>
            <a:gsLst>
              <a:gs pos="97000">
                <a:srgbClr val="0070C0"/>
              </a:gs>
              <a:gs pos="3000">
                <a:schemeClr val="accent1">
                  <a:lumMod val="20000"/>
                  <a:lumOff val="80000"/>
                  <a:alpha val="0"/>
                </a:schemeClr>
              </a:gs>
            </a:gsLst>
            <a:lin ang="0" scaled="0"/>
          </a:gradFill>
        </p:grpSpPr>
        <p:grpSp>
          <p:nvGrpSpPr>
            <p:cNvPr id="8" name="组合 7"/>
            <p:cNvGrpSpPr/>
            <p:nvPr/>
          </p:nvGrpSpPr>
          <p:grpSpPr>
            <a:xfrm>
              <a:off x="-314808" y="5891888"/>
              <a:ext cx="1521205" cy="115200"/>
              <a:chOff x="-314808" y="5891888"/>
              <a:chExt cx="1521205" cy="115200"/>
            </a:xfrm>
            <a:grpFill/>
          </p:grpSpPr>
          <p:sp>
            <p:nvSpPr>
              <p:cNvPr id="53" name="椭圆 52"/>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5" name="椭圆 54"/>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6" name="椭圆 55"/>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7" name="椭圆 56"/>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8" name="椭圆 57"/>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9" name="椭圆 58"/>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0" name="椭圆 59"/>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1" name="椭圆 60"/>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2" name="椭圆 61"/>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14808" y="6049285"/>
              <a:ext cx="1521205" cy="115200"/>
              <a:chOff x="-314808" y="5891888"/>
              <a:chExt cx="1521205" cy="115200"/>
            </a:xfrm>
            <a:grpFill/>
          </p:grpSpPr>
          <p:sp>
            <p:nvSpPr>
              <p:cNvPr id="43" name="椭圆 42"/>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椭圆 44"/>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6" name="椭圆 45"/>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椭圆 46"/>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8" name="椭圆 47"/>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椭圆 48"/>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0" name="椭圆 49"/>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椭圆 50"/>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2" name="椭圆 51"/>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314808" y="6199343"/>
              <a:ext cx="1521205" cy="115200"/>
              <a:chOff x="-314808" y="5891888"/>
              <a:chExt cx="1521205" cy="115200"/>
            </a:xfrm>
            <a:grpFill/>
          </p:grpSpPr>
          <p:sp>
            <p:nvSpPr>
              <p:cNvPr id="33" name="椭圆 32"/>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5" name="椭圆 34"/>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6" name="椭圆 35"/>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7" name="椭圆 36"/>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8" name="椭圆 37"/>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9" name="椭圆 38"/>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0" name="椭圆 39"/>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1" name="椭圆 40"/>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314808" y="6359088"/>
              <a:ext cx="1521205" cy="115200"/>
              <a:chOff x="-314808" y="5891888"/>
              <a:chExt cx="1521205" cy="115200"/>
            </a:xfrm>
            <a:grpFill/>
          </p:grpSpPr>
          <p:sp>
            <p:nvSpPr>
              <p:cNvPr id="23" name="椭圆 22"/>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椭圆 24"/>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6" name="椭圆 25"/>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椭圆 26"/>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椭圆 27"/>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椭圆 28"/>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椭圆 29"/>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椭圆 30"/>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2" name="椭圆 31"/>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314808" y="6516469"/>
              <a:ext cx="1521205" cy="115200"/>
              <a:chOff x="-314808" y="5891888"/>
              <a:chExt cx="1521205" cy="115200"/>
            </a:xfrm>
            <a:grpFill/>
          </p:grpSpPr>
          <p:sp>
            <p:nvSpPr>
              <p:cNvPr id="13" name="椭圆 12"/>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 name="椭圆 14"/>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 name="椭圆 3"/>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 name="椭圆 4"/>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 name="椭圆 5"/>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9" name="椭圆 18"/>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0" name="椭圆 19"/>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1" name="椭圆 20"/>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2" name="椭圆 21"/>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69" name="组合 68"/>
          <p:cNvGrpSpPr/>
          <p:nvPr userDrawn="1"/>
        </p:nvGrpSpPr>
        <p:grpSpPr>
          <a:xfrm>
            <a:off x="6593205" y="-3347085"/>
            <a:ext cx="5415280" cy="5370195"/>
            <a:chOff x="9382" y="-6381"/>
            <a:chExt cx="9072" cy="9070"/>
          </a:xfrm>
        </p:grpSpPr>
        <p:sp>
          <p:nvSpPr>
            <p:cNvPr id="64" name="圆: 空心 63"/>
            <p:cNvSpPr/>
            <p:nvPr userDrawn="1"/>
          </p:nvSpPr>
          <p:spPr>
            <a:xfrm rot="14118983">
              <a:off x="9579" y="-3371"/>
              <a:ext cx="560" cy="560"/>
            </a:xfrm>
            <a:prstGeom prst="donut">
              <a:avLst>
                <a:gd name="adj" fmla="val 1277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椭圆 64"/>
            <p:cNvSpPr/>
            <p:nvPr userDrawn="1"/>
          </p:nvSpPr>
          <p:spPr>
            <a:xfrm rot="14118983">
              <a:off x="9961" y="-5804"/>
              <a:ext cx="7915" cy="7917"/>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 name="椭圆 65"/>
            <p:cNvSpPr/>
            <p:nvPr userDrawn="1"/>
          </p:nvSpPr>
          <p:spPr>
            <a:xfrm rot="14118983">
              <a:off x="9383" y="-6382"/>
              <a:ext cx="9071" cy="9073"/>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 name="圆: 空心 66"/>
            <p:cNvSpPr/>
            <p:nvPr userDrawn="1"/>
          </p:nvSpPr>
          <p:spPr>
            <a:xfrm rot="14118983">
              <a:off x="12740" y="2027"/>
              <a:ext cx="560" cy="560"/>
            </a:xfrm>
            <a:prstGeom prst="donut">
              <a:avLst>
                <a:gd name="adj" fmla="val 1277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 name="矩形: 圆角 67"/>
            <p:cNvSpPr/>
            <p:nvPr userDrawn="1"/>
          </p:nvSpPr>
          <p:spPr>
            <a:xfrm rot="13671819">
              <a:off x="10456" y="691"/>
              <a:ext cx="568" cy="557"/>
            </a:xfrm>
            <a:prstGeom prst="roundRect">
              <a:avLst>
                <a:gd name="adj" fmla="val 2971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0" name="圆: 空心 69"/>
          <p:cNvSpPr/>
          <p:nvPr userDrawn="1"/>
        </p:nvSpPr>
        <p:spPr>
          <a:xfrm rot="20126852">
            <a:off x="4237196" y="3312592"/>
            <a:ext cx="4493419" cy="4494436"/>
          </a:xfrm>
          <a:prstGeom prst="donut">
            <a:avLst>
              <a:gd name="adj" fmla="val 8516"/>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 name="圆: 空心 70"/>
          <p:cNvSpPr/>
          <p:nvPr userDrawn="1"/>
        </p:nvSpPr>
        <p:spPr>
          <a:xfrm rot="20126852">
            <a:off x="7514749" y="2975807"/>
            <a:ext cx="355759" cy="355839"/>
          </a:xfrm>
          <a:prstGeom prst="donut">
            <a:avLst>
              <a:gd name="adj" fmla="val 1277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矩形: 圆角 71"/>
          <p:cNvSpPr/>
          <p:nvPr userDrawn="1"/>
        </p:nvSpPr>
        <p:spPr>
          <a:xfrm rot="19502231">
            <a:off x="4854893" y="3149678"/>
            <a:ext cx="340043" cy="334403"/>
          </a:xfrm>
          <a:prstGeom prst="roundRect">
            <a:avLst>
              <a:gd name="adj" fmla="val 2971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userDrawn="1"/>
        </p:nvSpPr>
        <p:spPr>
          <a:xfrm rot="20126852">
            <a:off x="3970973" y="3046308"/>
            <a:ext cx="5025866" cy="5027004"/>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 name="圆: 空心 73"/>
          <p:cNvSpPr/>
          <p:nvPr userDrawn="1"/>
        </p:nvSpPr>
        <p:spPr>
          <a:xfrm rot="20126852">
            <a:off x="3837146" y="4315802"/>
            <a:ext cx="355759" cy="355839"/>
          </a:xfrm>
          <a:prstGeom prst="donut">
            <a:avLst>
              <a:gd name="adj" fmla="val 1277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 name="椭圆 74"/>
          <p:cNvSpPr/>
          <p:nvPr userDrawn="1"/>
        </p:nvSpPr>
        <p:spPr>
          <a:xfrm>
            <a:off x="514808" y="926276"/>
            <a:ext cx="287417" cy="287482"/>
          </a:xfrm>
          <a:prstGeom prst="ellipse">
            <a:avLst/>
          </a:prstGeom>
          <a:gradFill flip="none" rotWithShape="1">
            <a:gsLst>
              <a:gs pos="88000">
                <a:schemeClr val="accent5"/>
              </a:gs>
              <a:gs pos="39000">
                <a:schemeClr val="accent4"/>
              </a:gs>
            </a:gsLst>
            <a:path path="circle">
              <a:fillToRect l="100000" t="100000"/>
            </a:path>
            <a:tileRect r="-100000" b="-100000"/>
          </a:gradFill>
          <a:ln>
            <a:noFill/>
          </a:ln>
          <a:effectLst>
            <a:outerShdw blurRad="241300" dist="215900" dir="2700000" algn="tl" rotWithShape="0">
              <a:schemeClr val="accent1">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 name="椭圆 75"/>
          <p:cNvSpPr/>
          <p:nvPr userDrawn="1"/>
        </p:nvSpPr>
        <p:spPr>
          <a:xfrm>
            <a:off x="751556" y="2993724"/>
            <a:ext cx="120884" cy="120912"/>
          </a:xfrm>
          <a:prstGeom prst="ellipse">
            <a:avLst/>
          </a:prstGeom>
          <a:gradFill flip="none" rotWithShape="1">
            <a:gsLst>
              <a:gs pos="88000">
                <a:schemeClr val="accent5"/>
              </a:gs>
              <a:gs pos="39000">
                <a:schemeClr val="accent4"/>
              </a:gs>
            </a:gsLst>
            <a:path path="circle">
              <a:fillToRect l="100000" t="100000"/>
            </a:path>
            <a:tileRect r="-100000" b="-100000"/>
          </a:gradFill>
          <a:ln>
            <a:noFill/>
          </a:ln>
          <a:effectLst>
            <a:outerShdw blurRad="241300" dist="215900" dir="5400000" algn="tl" rotWithShape="0">
              <a:schemeClr val="accent1">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 name="椭圆 76"/>
          <p:cNvSpPr/>
          <p:nvPr userDrawn="1"/>
        </p:nvSpPr>
        <p:spPr>
          <a:xfrm>
            <a:off x="757528" y="3191747"/>
            <a:ext cx="108941" cy="108966"/>
          </a:xfrm>
          <a:prstGeom prst="ellipse">
            <a:avLst/>
          </a:prstGeom>
          <a:gradFill flip="none" rotWithShape="1">
            <a:gsLst>
              <a:gs pos="88000">
                <a:schemeClr val="accent5">
                  <a:lumMod val="100000"/>
                  <a:alpha val="80000"/>
                </a:schemeClr>
              </a:gs>
              <a:gs pos="39000">
                <a:schemeClr val="accent4">
                  <a:alpha val="80000"/>
                </a:schemeClr>
              </a:gs>
            </a:gsLst>
            <a:path path="circle">
              <a:fillToRect l="100000" t="100000"/>
            </a:path>
            <a:tileRect r="-100000" b="-100000"/>
          </a:gradFill>
          <a:ln>
            <a:noFill/>
          </a:ln>
          <a:effectLst>
            <a:outerShdw blurRad="241300" dist="215900" dir="5400000" algn="tl" rotWithShape="0">
              <a:schemeClr val="accent1">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100000"/>
                </a:schemeClr>
              </a:solidFill>
            </a:endParaRPr>
          </a:p>
        </p:txBody>
      </p:sp>
      <p:sp>
        <p:nvSpPr>
          <p:cNvPr id="78" name="椭圆 77"/>
          <p:cNvSpPr/>
          <p:nvPr userDrawn="1"/>
        </p:nvSpPr>
        <p:spPr>
          <a:xfrm>
            <a:off x="763499" y="3377824"/>
            <a:ext cx="96999" cy="97021"/>
          </a:xfrm>
          <a:prstGeom prst="ellipse">
            <a:avLst/>
          </a:prstGeom>
          <a:gradFill flip="none" rotWithShape="1">
            <a:gsLst>
              <a:gs pos="88000">
                <a:schemeClr val="accent5">
                  <a:alpha val="69000"/>
                </a:schemeClr>
              </a:gs>
              <a:gs pos="39000">
                <a:schemeClr val="accent4">
                  <a:alpha val="70000"/>
                </a:schemeClr>
              </a:gs>
            </a:gsLst>
            <a:path path="circle">
              <a:fillToRect l="100000" t="100000"/>
            </a:path>
            <a:tileRect r="-100000" b="-100000"/>
          </a:gradFill>
          <a:ln>
            <a:noFill/>
          </a:ln>
          <a:effectLst>
            <a:outerShdw blurRad="241300" dist="215900" dir="5400000" algn="tl" rotWithShape="0">
              <a:schemeClr val="accent1">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79" name="组合 78"/>
          <p:cNvGrpSpPr/>
          <p:nvPr userDrawn="1"/>
        </p:nvGrpSpPr>
        <p:grpSpPr>
          <a:xfrm flipH="1">
            <a:off x="4218144" y="676428"/>
            <a:ext cx="996794" cy="484863"/>
            <a:chOff x="-314808" y="5891888"/>
            <a:chExt cx="1521205" cy="739781"/>
          </a:xfrm>
          <a:gradFill>
            <a:gsLst>
              <a:gs pos="97000">
                <a:srgbClr val="0070C0"/>
              </a:gs>
              <a:gs pos="3000">
                <a:schemeClr val="accent1">
                  <a:lumMod val="20000"/>
                  <a:lumOff val="80000"/>
                  <a:alpha val="0"/>
                </a:schemeClr>
              </a:gs>
            </a:gsLst>
            <a:lin ang="0" scaled="0"/>
          </a:gradFill>
        </p:grpSpPr>
        <p:grpSp>
          <p:nvGrpSpPr>
            <p:cNvPr id="80" name="组合 79"/>
            <p:cNvGrpSpPr/>
            <p:nvPr/>
          </p:nvGrpSpPr>
          <p:grpSpPr>
            <a:xfrm>
              <a:off x="-314808" y="5891888"/>
              <a:ext cx="1521205" cy="115200"/>
              <a:chOff x="-314808" y="5891888"/>
              <a:chExt cx="1521205" cy="115200"/>
            </a:xfrm>
            <a:grpFill/>
          </p:grpSpPr>
          <p:sp>
            <p:nvSpPr>
              <p:cNvPr id="125" name="椭圆 124"/>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7" name="椭圆 126"/>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8" name="椭圆 127"/>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9" name="椭圆 128"/>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0" name="椭圆 129"/>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1" name="椭圆 130"/>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2" name="椭圆 131"/>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3" name="椭圆 132"/>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4" name="椭圆 133"/>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1" name="组合 80"/>
            <p:cNvGrpSpPr/>
            <p:nvPr/>
          </p:nvGrpSpPr>
          <p:grpSpPr>
            <a:xfrm>
              <a:off x="-314808" y="6049285"/>
              <a:ext cx="1521205" cy="115200"/>
              <a:chOff x="-314808" y="5891888"/>
              <a:chExt cx="1521205" cy="115200"/>
            </a:xfrm>
            <a:grpFill/>
          </p:grpSpPr>
          <p:sp>
            <p:nvSpPr>
              <p:cNvPr id="115" name="椭圆 114"/>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7" name="椭圆 116"/>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8" name="椭圆 117"/>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9" name="椭圆 118"/>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0" name="椭圆 119"/>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1" name="椭圆 120"/>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2" name="椭圆 121"/>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3" name="椭圆 122"/>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4" name="椭圆 123"/>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2" name="组合 81"/>
            <p:cNvGrpSpPr/>
            <p:nvPr/>
          </p:nvGrpSpPr>
          <p:grpSpPr>
            <a:xfrm>
              <a:off x="-314808" y="6199343"/>
              <a:ext cx="1521205" cy="115200"/>
              <a:chOff x="-314808" y="5891888"/>
              <a:chExt cx="1521205" cy="115200"/>
            </a:xfrm>
            <a:grpFill/>
          </p:grpSpPr>
          <p:sp>
            <p:nvSpPr>
              <p:cNvPr id="105" name="椭圆 104"/>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7" name="椭圆 106"/>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8" name="椭圆 107"/>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9" name="椭圆 108"/>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0" name="椭圆 109"/>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1" name="椭圆 110"/>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2" name="椭圆 111"/>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3" name="椭圆 112"/>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4" name="椭圆 113"/>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3" name="组合 82"/>
            <p:cNvGrpSpPr/>
            <p:nvPr/>
          </p:nvGrpSpPr>
          <p:grpSpPr>
            <a:xfrm>
              <a:off x="-314808" y="6359088"/>
              <a:ext cx="1521205" cy="115200"/>
              <a:chOff x="-314808" y="5891888"/>
              <a:chExt cx="1521205" cy="115200"/>
            </a:xfrm>
            <a:grpFill/>
          </p:grpSpPr>
          <p:sp>
            <p:nvSpPr>
              <p:cNvPr id="95" name="椭圆 94"/>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7" name="椭圆 96"/>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8" name="椭圆 97"/>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9" name="椭圆 98"/>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0" name="椭圆 99"/>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1" name="椭圆 100"/>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2" name="椭圆 101"/>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3" name="椭圆 102"/>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4" name="椭圆 103"/>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p:cNvGrpSpPr/>
            <p:nvPr/>
          </p:nvGrpSpPr>
          <p:grpSpPr>
            <a:xfrm>
              <a:off x="-314808" y="6516469"/>
              <a:ext cx="1521205" cy="115200"/>
              <a:chOff x="-314808" y="5891888"/>
              <a:chExt cx="1521205" cy="115200"/>
            </a:xfrm>
            <a:grpFill/>
          </p:grpSpPr>
          <p:sp>
            <p:nvSpPr>
              <p:cNvPr id="85" name="椭圆 84"/>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7" name="椭圆 86"/>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8" name="椭圆 87"/>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9" name="椭圆 88"/>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0" name="椭圆 89"/>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1" name="椭圆 90"/>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2" name="椭圆 91"/>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3" name="椭圆 92"/>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4" name="椭圆 93"/>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0" name="圆: 空心 7"/>
          <p:cNvSpPr/>
          <p:nvPr userDrawn="1"/>
        </p:nvSpPr>
        <p:spPr>
          <a:xfrm rot="6360479">
            <a:off x="-810577" y="989872"/>
            <a:ext cx="3163729" cy="3164445"/>
          </a:xfrm>
          <a:prstGeom prst="donut">
            <a:avLst>
              <a:gd name="adj" fmla="val 8516"/>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1" name="椭圆 20"/>
          <p:cNvSpPr/>
          <p:nvPr userDrawn="1"/>
        </p:nvSpPr>
        <p:spPr>
          <a:xfrm rot="6360479">
            <a:off x="-997744" y="802663"/>
            <a:ext cx="3538538" cy="3539339"/>
          </a:xfrm>
          <a:prstGeom prst="ellipse">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22" name="组合 21"/>
          <p:cNvGrpSpPr/>
          <p:nvPr userDrawn="1"/>
        </p:nvGrpSpPr>
        <p:grpSpPr>
          <a:xfrm>
            <a:off x="229325" y="1995861"/>
            <a:ext cx="1554480" cy="1152106"/>
            <a:chOff x="839167" y="2134244"/>
            <a:chExt cx="2072640" cy="1535794"/>
          </a:xfrm>
        </p:grpSpPr>
        <p:sp>
          <p:nvSpPr>
            <p:cNvPr id="23" name="文本框 22"/>
            <p:cNvSpPr txBox="1"/>
            <p:nvPr/>
          </p:nvSpPr>
          <p:spPr>
            <a:xfrm>
              <a:off x="839167" y="2134244"/>
              <a:ext cx="2072640" cy="1229082"/>
            </a:xfrm>
            <a:prstGeom prst="rect">
              <a:avLst/>
            </a:prstGeom>
            <a:noFill/>
          </p:spPr>
          <p:txBody>
            <a:bodyPr wrap="none" rtlCol="0">
              <a:spAutoFit/>
            </a:bodyPr>
            <a:lstStyle/>
            <a:p>
              <a:r>
                <a:rPr lang="zh-CN" altLang="en-US" sz="5400" b="1" dirty="0">
                  <a:solidFill>
                    <a:schemeClr val="accent4"/>
                  </a:solidFill>
                </a:rPr>
                <a:t>目录</a:t>
              </a:r>
              <a:endParaRPr lang="zh-CN" altLang="en-US" sz="5400" b="1" dirty="0">
                <a:solidFill>
                  <a:schemeClr val="accent4"/>
                </a:solidFill>
              </a:endParaRPr>
            </a:p>
          </p:txBody>
        </p:sp>
        <p:sp>
          <p:nvSpPr>
            <p:cNvPr id="24" name="文本框 23"/>
            <p:cNvSpPr txBox="1"/>
            <p:nvPr/>
          </p:nvSpPr>
          <p:spPr>
            <a:xfrm>
              <a:off x="915307" y="3179082"/>
              <a:ext cx="1920240" cy="490956"/>
            </a:xfrm>
            <a:prstGeom prst="rect">
              <a:avLst/>
            </a:prstGeom>
            <a:noFill/>
          </p:spPr>
          <p:txBody>
            <a:bodyPr wrap="none" rtlCol="0">
              <a:spAutoFit/>
            </a:bodyPr>
            <a:lstStyle/>
            <a:p>
              <a:r>
                <a:rPr lang="en-US" altLang="zh-CN" dirty="0">
                  <a:solidFill>
                    <a:schemeClr val="accent4"/>
                  </a:solidFill>
                </a:rPr>
                <a:t>CONTENTS</a:t>
              </a:r>
              <a:endParaRPr lang="zh-CN" altLang="en-US" dirty="0">
                <a:solidFill>
                  <a:schemeClr val="accent4"/>
                </a:solidFill>
              </a:endParaRPr>
            </a:p>
          </p:txBody>
        </p:sp>
      </p:grpSp>
      <p:sp>
        <p:nvSpPr>
          <p:cNvPr id="25" name="椭圆 24"/>
          <p:cNvSpPr/>
          <p:nvPr userDrawn="1"/>
        </p:nvSpPr>
        <p:spPr>
          <a:xfrm>
            <a:off x="7474109" y="-1189740"/>
            <a:ext cx="2807494" cy="2808129"/>
          </a:xfrm>
          <a:prstGeom prst="ellipse">
            <a:avLst/>
          </a:prstGeom>
          <a:gradFill>
            <a:gsLst>
              <a:gs pos="13000">
                <a:srgbClr val="00B0F0">
                  <a:alpha val="100000"/>
                </a:srgbClr>
              </a:gs>
              <a:gs pos="100000">
                <a:srgbClr val="F7F5FD"/>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userDrawn="1"/>
        </p:nvGrpSpPr>
        <p:grpSpPr>
          <a:xfrm>
            <a:off x="6344603" y="3795619"/>
            <a:ext cx="4331018" cy="4331998"/>
            <a:chOff x="13322" y="7968"/>
            <a:chExt cx="9094" cy="9094"/>
          </a:xfrm>
        </p:grpSpPr>
        <p:sp>
          <p:nvSpPr>
            <p:cNvPr id="27" name="圆: 空心 12"/>
            <p:cNvSpPr/>
            <p:nvPr userDrawn="1"/>
          </p:nvSpPr>
          <p:spPr>
            <a:xfrm rot="21135856">
              <a:off x="20545" y="9172"/>
              <a:ext cx="562" cy="562"/>
            </a:xfrm>
            <a:prstGeom prst="donut">
              <a:avLst>
                <a:gd name="adj" fmla="val 12773"/>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椭圆 27"/>
            <p:cNvSpPr/>
            <p:nvPr userDrawn="1"/>
          </p:nvSpPr>
          <p:spPr>
            <a:xfrm rot="21135856">
              <a:off x="13902" y="8547"/>
              <a:ext cx="7935" cy="7935"/>
            </a:xfrm>
            <a:prstGeom prst="ellipse">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9" name="椭圆 28"/>
            <p:cNvSpPr/>
            <p:nvPr userDrawn="1"/>
          </p:nvSpPr>
          <p:spPr>
            <a:xfrm rot="21135856">
              <a:off x="13322" y="7968"/>
              <a:ext cx="9094" cy="9094"/>
            </a:xfrm>
            <a:prstGeom prst="ellipse">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0" name="圆: 空心 15"/>
            <p:cNvSpPr/>
            <p:nvPr userDrawn="1"/>
          </p:nvSpPr>
          <p:spPr>
            <a:xfrm rot="21135856">
              <a:off x="14285" y="9545"/>
              <a:ext cx="562" cy="562"/>
            </a:xfrm>
            <a:prstGeom prst="donut">
              <a:avLst>
                <a:gd name="adj" fmla="val 12773"/>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1" name="矩形: 圆角 16"/>
            <p:cNvSpPr/>
            <p:nvPr userDrawn="1"/>
          </p:nvSpPr>
          <p:spPr>
            <a:xfrm rot="20688691">
              <a:off x="16513" y="8116"/>
              <a:ext cx="569" cy="559"/>
            </a:xfrm>
            <a:prstGeom prst="roundRect">
              <a:avLst>
                <a:gd name="adj" fmla="val 2971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00B0F0"/>
        </a:solidFill>
        <a:effectLst/>
      </p:bgPr>
    </p:bg>
    <p:spTree>
      <p:nvGrpSpPr>
        <p:cNvPr id="1" name=""/>
        <p:cNvGrpSpPr/>
        <p:nvPr/>
      </p:nvGrpSpPr>
      <p:grpSpPr>
        <a:xfrm>
          <a:off x="0" y="0"/>
          <a:ext cx="0" cy="0"/>
          <a:chOff x="0" y="0"/>
          <a:chExt cx="0" cy="0"/>
        </a:xfrm>
      </p:grpSpPr>
      <p:grpSp>
        <p:nvGrpSpPr>
          <p:cNvPr id="40" name="组合 39"/>
          <p:cNvGrpSpPr/>
          <p:nvPr userDrawn="1"/>
        </p:nvGrpSpPr>
        <p:grpSpPr>
          <a:xfrm>
            <a:off x="6691630" y="-3149600"/>
            <a:ext cx="5097780" cy="5100320"/>
            <a:chOff x="10538" y="-4960"/>
            <a:chExt cx="8028" cy="8032"/>
          </a:xfrm>
        </p:grpSpPr>
        <p:sp>
          <p:nvSpPr>
            <p:cNvPr id="30" name="圆: 空心 16"/>
            <p:cNvSpPr/>
            <p:nvPr userDrawn="1"/>
          </p:nvSpPr>
          <p:spPr>
            <a:xfrm rot="20126852">
              <a:off x="10538" y="-4960"/>
              <a:ext cx="8029" cy="8032"/>
            </a:xfrm>
            <a:prstGeom prst="donut">
              <a:avLst>
                <a:gd name="adj" fmla="val 8516"/>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9" name="椭圆 38"/>
            <p:cNvSpPr/>
            <p:nvPr userDrawn="1"/>
          </p:nvSpPr>
          <p:spPr>
            <a:xfrm>
              <a:off x="11237" y="-4260"/>
              <a:ext cx="6631" cy="6631"/>
            </a:xfrm>
            <a:prstGeom prst="ellipse">
              <a:avLst/>
            </a:prstGeom>
            <a:solidFill>
              <a:srgbClr val="FAFAFA"/>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userDrawn="1"/>
        </p:nvGrpSpPr>
        <p:grpSpPr>
          <a:xfrm>
            <a:off x="-3257550" y="3146425"/>
            <a:ext cx="5487670" cy="5537200"/>
            <a:chOff x="-3950" y="6727"/>
            <a:chExt cx="8281" cy="8354"/>
          </a:xfrm>
        </p:grpSpPr>
        <p:sp>
          <p:nvSpPr>
            <p:cNvPr id="18" name="圆: 空心 7"/>
            <p:cNvSpPr/>
            <p:nvPr userDrawn="1"/>
          </p:nvSpPr>
          <p:spPr>
            <a:xfrm rot="3796111">
              <a:off x="-3521" y="7414"/>
              <a:ext cx="7239" cy="7239"/>
            </a:xfrm>
            <a:prstGeom prst="donut">
              <a:avLst>
                <a:gd name="adj" fmla="val 8516"/>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2" name="圆: 空心 8"/>
            <p:cNvSpPr/>
            <p:nvPr userDrawn="1"/>
          </p:nvSpPr>
          <p:spPr>
            <a:xfrm rot="3796111">
              <a:off x="3759" y="12565"/>
              <a:ext cx="573" cy="573"/>
            </a:xfrm>
            <a:prstGeom prst="donut">
              <a:avLst>
                <a:gd name="adj" fmla="val 1277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9"/>
            <p:cNvSpPr/>
            <p:nvPr userDrawn="1"/>
          </p:nvSpPr>
          <p:spPr>
            <a:xfrm rot="3171490">
              <a:off x="3346" y="8278"/>
              <a:ext cx="548" cy="539"/>
            </a:xfrm>
            <a:prstGeom prst="roundRect">
              <a:avLst>
                <a:gd name="adj" fmla="val 2971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userDrawn="1"/>
          </p:nvSpPr>
          <p:spPr>
            <a:xfrm rot="3796111">
              <a:off x="-3950" y="6985"/>
              <a:ext cx="8097" cy="8097"/>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5" name="圆: 空心 11"/>
            <p:cNvSpPr/>
            <p:nvPr userDrawn="1"/>
          </p:nvSpPr>
          <p:spPr>
            <a:xfrm rot="3796111">
              <a:off x="1377" y="6727"/>
              <a:ext cx="573" cy="573"/>
            </a:xfrm>
            <a:prstGeom prst="donut">
              <a:avLst>
                <a:gd name="adj" fmla="val 1277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6" name="文本框 25"/>
          <p:cNvSpPr txBox="1"/>
          <p:nvPr userDrawn="1"/>
        </p:nvSpPr>
        <p:spPr>
          <a:xfrm>
            <a:off x="2646644" y="1225178"/>
            <a:ext cx="1199515" cy="1938020"/>
          </a:xfrm>
          <a:prstGeom prst="rect">
            <a:avLst/>
          </a:prstGeom>
          <a:noFill/>
        </p:spPr>
        <p:txBody>
          <a:bodyPr wrap="none" rtlCol="0">
            <a:spAutoFit/>
          </a:bodyPr>
          <a:lstStyle/>
          <a:p>
            <a:r>
              <a:rPr lang="en-US" altLang="zh-CN" sz="12000" dirty="0">
                <a:solidFill>
                  <a:srgbClr val="0070C0"/>
                </a:solidFill>
              </a:rPr>
              <a:t>P</a:t>
            </a:r>
            <a:endParaRPr lang="en-US" altLang="zh-CN" sz="12000" dirty="0">
              <a:solidFill>
                <a:srgbClr val="0070C0"/>
              </a:solidFill>
            </a:endParaRPr>
          </a:p>
        </p:txBody>
      </p:sp>
      <p:sp>
        <p:nvSpPr>
          <p:cNvPr id="27" name="文本框 26"/>
          <p:cNvSpPr txBox="1"/>
          <p:nvPr userDrawn="1"/>
        </p:nvSpPr>
        <p:spPr>
          <a:xfrm>
            <a:off x="3018306" y="2425520"/>
            <a:ext cx="786765" cy="460375"/>
          </a:xfrm>
          <a:prstGeom prst="rect">
            <a:avLst/>
          </a:prstGeom>
          <a:noFill/>
        </p:spPr>
        <p:txBody>
          <a:bodyPr wrap="none" rtlCol="0">
            <a:spAutoFit/>
          </a:bodyPr>
          <a:lstStyle/>
          <a:p>
            <a:r>
              <a:rPr lang="en-US" altLang="zh-CN" sz="2400" dirty="0">
                <a:solidFill>
                  <a:schemeClr val="accent1">
                    <a:lumMod val="75000"/>
                  </a:schemeClr>
                </a:solidFill>
              </a:rPr>
              <a:t>ART</a:t>
            </a:r>
            <a:endParaRPr lang="zh-CN" altLang="en-US" sz="2400" dirty="0">
              <a:solidFill>
                <a:schemeClr val="accent1">
                  <a:lumMod val="75000"/>
                </a:schemeClr>
              </a:solidFill>
            </a:endParaRPr>
          </a:p>
        </p:txBody>
      </p:sp>
      <p:sp>
        <p:nvSpPr>
          <p:cNvPr id="28" name="圆: 空心 14"/>
          <p:cNvSpPr/>
          <p:nvPr userDrawn="1"/>
        </p:nvSpPr>
        <p:spPr>
          <a:xfrm rot="20126852">
            <a:off x="7849717" y="4204472"/>
            <a:ext cx="501303" cy="501417"/>
          </a:xfrm>
          <a:prstGeom prst="donut">
            <a:avLst>
              <a:gd name="adj" fmla="val 1277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32" name="直接连接符 31"/>
          <p:cNvCxnSpPr/>
          <p:nvPr userDrawn="1"/>
        </p:nvCxnSpPr>
        <p:spPr>
          <a:xfrm flipH="1">
            <a:off x="5517221" y="2193833"/>
            <a:ext cx="4778828" cy="0"/>
          </a:xfrm>
          <a:prstGeom prst="line">
            <a:avLst/>
          </a:prstGeom>
          <a:ln w="6350">
            <a:solidFill>
              <a:srgbClr val="0070C0"/>
            </a:solidFill>
          </a:ln>
        </p:spPr>
        <p:style>
          <a:lnRef idx="1">
            <a:schemeClr val="accent1"/>
          </a:lnRef>
          <a:fillRef idx="0">
            <a:schemeClr val="accent1"/>
          </a:fillRef>
          <a:effectRef idx="0">
            <a:schemeClr val="accent1"/>
          </a:effectRef>
          <a:fontRef idx="minor">
            <a:schemeClr val="tx1"/>
          </a:fontRef>
        </p:style>
      </p:cxnSp>
      <p:sp>
        <p:nvSpPr>
          <p:cNvPr id="33" name="椭圆 32"/>
          <p:cNvSpPr/>
          <p:nvPr userDrawn="1"/>
        </p:nvSpPr>
        <p:spPr>
          <a:xfrm>
            <a:off x="5270896" y="3851352"/>
            <a:ext cx="715568" cy="715730"/>
          </a:xfrm>
          <a:prstGeom prst="ellipse">
            <a:avLst/>
          </a:prstGeom>
          <a:gradFill flip="none" rotWithShape="1">
            <a:gsLst>
              <a:gs pos="0">
                <a:srgbClr val="FAFAFA"/>
              </a:gs>
              <a:gs pos="77000">
                <a:srgbClr val="0090D8">
                  <a:alpha val="100000"/>
                </a:srgbClr>
              </a:gs>
              <a:gs pos="100000">
                <a:srgbClr val="0070C0"/>
              </a:gs>
            </a:gsLst>
            <a:lin ang="2700000" scaled="1"/>
            <a:tileRect/>
          </a:gradFill>
          <a:ln>
            <a:noFill/>
          </a:ln>
          <a:effectLst>
            <a:outerShdw blurRad="279400" dist="114300" dir="2700000" algn="tl" rotWithShape="0">
              <a:schemeClr val="accent1">
                <a:alpha val="28000"/>
              </a:scheme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userDrawn="1"/>
        </p:nvSpPr>
        <p:spPr>
          <a:xfrm>
            <a:off x="1393984" y="1790629"/>
            <a:ext cx="511016" cy="511132"/>
          </a:xfrm>
          <a:prstGeom prst="ellipse">
            <a:avLst/>
          </a:prstGeom>
          <a:gradFill flip="none" rotWithShape="1">
            <a:gsLst>
              <a:gs pos="0">
                <a:schemeClr val="bg1"/>
              </a:gs>
              <a:gs pos="77000">
                <a:srgbClr val="0090D8">
                  <a:alpha val="100000"/>
                </a:srgbClr>
              </a:gs>
              <a:gs pos="100000">
                <a:srgbClr val="0070C0"/>
              </a:gs>
            </a:gsLst>
            <a:lin ang="2700000" scaled="1"/>
            <a:tileRect/>
          </a:gradFill>
          <a:ln>
            <a:noFill/>
          </a:ln>
          <a:effectLst>
            <a:outerShdw blurRad="279400" dist="114300" dir="2700000" algn="tl" rotWithShape="0">
              <a:schemeClr val="accent1">
                <a:alpha val="28000"/>
              </a:scheme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userDrawn="1"/>
        </p:nvSpPr>
        <p:spPr>
          <a:xfrm>
            <a:off x="2536984" y="481598"/>
            <a:ext cx="637699" cy="637843"/>
          </a:xfrm>
          <a:prstGeom prst="ellipse">
            <a:avLst/>
          </a:prstGeom>
          <a:gradFill flip="none" rotWithShape="1">
            <a:gsLst>
              <a:gs pos="0">
                <a:schemeClr val="bg1"/>
              </a:gs>
              <a:gs pos="77000">
                <a:srgbClr val="0090D8">
                  <a:alpha val="100000"/>
                </a:srgbClr>
              </a:gs>
              <a:gs pos="100000">
                <a:srgbClr val="0070C0"/>
              </a:gs>
            </a:gsLst>
            <a:lin ang="2700000" scaled="1"/>
            <a:tileRect/>
          </a:gradFill>
          <a:ln>
            <a:noFill/>
          </a:ln>
          <a:effectLst>
            <a:outerShdw blurRad="279400" dist="114300" dir="2700000" algn="tl" rotWithShape="0">
              <a:schemeClr val="accent1">
                <a:alpha val="28000"/>
              </a:scheme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userDrawn="1"/>
        </p:nvSpPr>
        <p:spPr>
          <a:xfrm>
            <a:off x="6556534" y="3038210"/>
            <a:ext cx="485775" cy="485885"/>
          </a:xfrm>
          <a:prstGeom prst="ellipse">
            <a:avLst/>
          </a:prstGeom>
          <a:gradFill flip="none" rotWithShape="1">
            <a:gsLst>
              <a:gs pos="0">
                <a:schemeClr val="bg1"/>
              </a:gs>
              <a:gs pos="77000">
                <a:srgbClr val="0090D8">
                  <a:alpha val="100000"/>
                </a:srgbClr>
              </a:gs>
              <a:gs pos="100000">
                <a:srgbClr val="0070C0"/>
              </a:gs>
            </a:gsLst>
            <a:lin ang="2700000" scaled="1"/>
            <a:tileRect/>
          </a:gradFill>
          <a:ln>
            <a:noFill/>
          </a:ln>
          <a:effectLst>
            <a:outerShdw blurRad="279400" dist="114300" dir="2700000" algn="tl" rotWithShape="0">
              <a:schemeClr val="accent1">
                <a:alpha val="28000"/>
              </a:scheme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userDrawn="1"/>
        </p:nvSpPr>
        <p:spPr>
          <a:xfrm>
            <a:off x="545306" y="415384"/>
            <a:ext cx="430054" cy="430151"/>
          </a:xfrm>
          <a:prstGeom prst="ellipse">
            <a:avLst/>
          </a:prstGeom>
          <a:gradFill flip="none" rotWithShape="1">
            <a:gsLst>
              <a:gs pos="0">
                <a:srgbClr val="FAFAFA"/>
              </a:gs>
              <a:gs pos="77000">
                <a:srgbClr val="0090D8">
                  <a:alpha val="100000"/>
                </a:srgbClr>
              </a:gs>
              <a:gs pos="100000">
                <a:srgbClr val="0070C0"/>
              </a:gs>
            </a:gsLst>
            <a:lin ang="2700000" scaled="1"/>
            <a:tileRect/>
          </a:gradFill>
          <a:ln>
            <a:noFill/>
          </a:ln>
          <a:effectLst>
            <a:outerShdw blurRad="279400" dist="114300" dir="2700000" algn="tl" rotWithShape="0">
              <a:schemeClr val="accent1">
                <a:alpha val="28000"/>
              </a:scheme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noFill/>
        <a:effectLst/>
      </p:bgPr>
    </p:bg>
    <p:spTree>
      <p:nvGrpSpPr>
        <p:cNvPr id="1" name=""/>
        <p:cNvGrpSpPr/>
        <p:nvPr/>
      </p:nvGrpSpPr>
      <p:grpSpPr>
        <a:xfrm>
          <a:off x="0" y="0"/>
          <a:ext cx="0" cy="0"/>
          <a:chOff x="0" y="0"/>
          <a:chExt cx="0" cy="0"/>
        </a:xfrm>
      </p:grpSpPr>
      <p:sp>
        <p:nvSpPr>
          <p:cNvPr id="26" name="任意多边形: 形状 4"/>
          <p:cNvSpPr/>
          <p:nvPr userDrawn="1"/>
        </p:nvSpPr>
        <p:spPr>
          <a:xfrm>
            <a:off x="0" y="4655658"/>
            <a:ext cx="9144000" cy="489006"/>
          </a:xfrm>
          <a:custGeom>
            <a:avLst/>
            <a:gdLst>
              <a:gd name="connsiteX0" fmla="*/ 3976914 w 12192000"/>
              <a:gd name="connsiteY0" fmla="*/ 844 h 675758"/>
              <a:gd name="connsiteX1" fmla="*/ 7024914 w 12192000"/>
              <a:gd name="connsiteY1" fmla="*/ 392730 h 675758"/>
              <a:gd name="connsiteX2" fmla="*/ 10319657 w 12192000"/>
              <a:gd name="connsiteY2" fmla="*/ 44388 h 675758"/>
              <a:gd name="connsiteX3" fmla="*/ 12124871 w 12192000"/>
              <a:gd name="connsiteY3" fmla="*/ 527895 h 675758"/>
              <a:gd name="connsiteX4" fmla="*/ 12192000 w 12192000"/>
              <a:gd name="connsiteY4" fmla="*/ 553896 h 675758"/>
              <a:gd name="connsiteX5" fmla="*/ 12192000 w 12192000"/>
              <a:gd name="connsiteY5" fmla="*/ 675758 h 675758"/>
              <a:gd name="connsiteX6" fmla="*/ 0 w 12192000"/>
              <a:gd name="connsiteY6" fmla="*/ 675758 h 675758"/>
              <a:gd name="connsiteX7" fmla="*/ 0 w 12192000"/>
              <a:gd name="connsiteY7" fmla="*/ 415109 h 675758"/>
              <a:gd name="connsiteX8" fmla="*/ 118439 w 12192000"/>
              <a:gd name="connsiteY8" fmla="*/ 390770 h 675758"/>
              <a:gd name="connsiteX9" fmla="*/ 3976914 w 12192000"/>
              <a:gd name="connsiteY9" fmla="*/ 844 h 675758"/>
              <a:gd name="connsiteX0-1" fmla="*/ 3759199 w 12192000"/>
              <a:gd name="connsiteY0-2" fmla="*/ 5976 h 651861"/>
              <a:gd name="connsiteX1-3" fmla="*/ 7024914 w 12192000"/>
              <a:gd name="connsiteY1-4" fmla="*/ 368833 h 651861"/>
              <a:gd name="connsiteX2-5" fmla="*/ 10319657 w 12192000"/>
              <a:gd name="connsiteY2-6" fmla="*/ 20491 h 651861"/>
              <a:gd name="connsiteX3-7" fmla="*/ 12124871 w 12192000"/>
              <a:gd name="connsiteY3-8" fmla="*/ 503998 h 651861"/>
              <a:gd name="connsiteX4-9" fmla="*/ 12192000 w 12192000"/>
              <a:gd name="connsiteY4-10" fmla="*/ 529999 h 651861"/>
              <a:gd name="connsiteX5-11" fmla="*/ 12192000 w 12192000"/>
              <a:gd name="connsiteY5-12" fmla="*/ 651861 h 651861"/>
              <a:gd name="connsiteX6-13" fmla="*/ 0 w 12192000"/>
              <a:gd name="connsiteY6-14" fmla="*/ 651861 h 651861"/>
              <a:gd name="connsiteX7-15" fmla="*/ 0 w 12192000"/>
              <a:gd name="connsiteY7-16" fmla="*/ 391212 h 651861"/>
              <a:gd name="connsiteX8-17" fmla="*/ 118439 w 12192000"/>
              <a:gd name="connsiteY8-18" fmla="*/ 366873 h 651861"/>
              <a:gd name="connsiteX9-19" fmla="*/ 3759199 w 12192000"/>
              <a:gd name="connsiteY9-20" fmla="*/ 5976 h 651861"/>
              <a:gd name="connsiteX0-21" fmla="*/ 3759199 w 12192000"/>
              <a:gd name="connsiteY0-22" fmla="*/ 5976 h 651861"/>
              <a:gd name="connsiteX1-23" fmla="*/ 7024914 w 12192000"/>
              <a:gd name="connsiteY1-24" fmla="*/ 368833 h 651861"/>
              <a:gd name="connsiteX2-25" fmla="*/ 10319657 w 12192000"/>
              <a:gd name="connsiteY2-26" fmla="*/ 20491 h 651861"/>
              <a:gd name="connsiteX3-27" fmla="*/ 12124871 w 12192000"/>
              <a:gd name="connsiteY3-28" fmla="*/ 503998 h 651861"/>
              <a:gd name="connsiteX4-29" fmla="*/ 12192000 w 12192000"/>
              <a:gd name="connsiteY4-30" fmla="*/ 529999 h 651861"/>
              <a:gd name="connsiteX5-31" fmla="*/ 12192000 w 12192000"/>
              <a:gd name="connsiteY5-32" fmla="*/ 651861 h 651861"/>
              <a:gd name="connsiteX6-33" fmla="*/ 0 w 12192000"/>
              <a:gd name="connsiteY6-34" fmla="*/ 651861 h 651861"/>
              <a:gd name="connsiteX7-35" fmla="*/ 0 w 12192000"/>
              <a:gd name="connsiteY7-36" fmla="*/ 391212 h 651861"/>
              <a:gd name="connsiteX8-37" fmla="*/ 118439 w 12192000"/>
              <a:gd name="connsiteY8-38" fmla="*/ 366873 h 651861"/>
              <a:gd name="connsiteX9-39" fmla="*/ 3759199 w 12192000"/>
              <a:gd name="connsiteY9-40" fmla="*/ 5976 h 651861"/>
              <a:gd name="connsiteX0-41" fmla="*/ 3759199 w 12192000"/>
              <a:gd name="connsiteY0-42" fmla="*/ 5976 h 651861"/>
              <a:gd name="connsiteX1-43" fmla="*/ 7024914 w 12192000"/>
              <a:gd name="connsiteY1-44" fmla="*/ 368833 h 651861"/>
              <a:gd name="connsiteX2-45" fmla="*/ 10319657 w 12192000"/>
              <a:gd name="connsiteY2-46" fmla="*/ 20491 h 651861"/>
              <a:gd name="connsiteX3-47" fmla="*/ 12124871 w 12192000"/>
              <a:gd name="connsiteY3-48" fmla="*/ 503998 h 651861"/>
              <a:gd name="connsiteX4-49" fmla="*/ 12192000 w 12192000"/>
              <a:gd name="connsiteY4-50" fmla="*/ 529999 h 651861"/>
              <a:gd name="connsiteX5-51" fmla="*/ 12192000 w 12192000"/>
              <a:gd name="connsiteY5-52" fmla="*/ 651861 h 651861"/>
              <a:gd name="connsiteX6-53" fmla="*/ 0 w 12192000"/>
              <a:gd name="connsiteY6-54" fmla="*/ 651861 h 651861"/>
              <a:gd name="connsiteX7-55" fmla="*/ 0 w 12192000"/>
              <a:gd name="connsiteY7-56" fmla="*/ 391212 h 651861"/>
              <a:gd name="connsiteX8-57" fmla="*/ 118439 w 12192000"/>
              <a:gd name="connsiteY8-58" fmla="*/ 366873 h 651861"/>
              <a:gd name="connsiteX9-59" fmla="*/ 3759199 w 12192000"/>
              <a:gd name="connsiteY9-60" fmla="*/ 5976 h 651861"/>
              <a:gd name="connsiteX0-61" fmla="*/ 3759199 w 12192000"/>
              <a:gd name="connsiteY0-62" fmla="*/ 5976 h 651861"/>
              <a:gd name="connsiteX1-63" fmla="*/ 7024914 w 12192000"/>
              <a:gd name="connsiteY1-64" fmla="*/ 368833 h 651861"/>
              <a:gd name="connsiteX2-65" fmla="*/ 10319657 w 12192000"/>
              <a:gd name="connsiteY2-66" fmla="*/ 20491 h 651861"/>
              <a:gd name="connsiteX3-67" fmla="*/ 12124871 w 12192000"/>
              <a:gd name="connsiteY3-68" fmla="*/ 503998 h 651861"/>
              <a:gd name="connsiteX4-69" fmla="*/ 12192000 w 12192000"/>
              <a:gd name="connsiteY4-70" fmla="*/ 529999 h 651861"/>
              <a:gd name="connsiteX5-71" fmla="*/ 12192000 w 12192000"/>
              <a:gd name="connsiteY5-72" fmla="*/ 651861 h 651861"/>
              <a:gd name="connsiteX6-73" fmla="*/ 0 w 12192000"/>
              <a:gd name="connsiteY6-74" fmla="*/ 651861 h 651861"/>
              <a:gd name="connsiteX7-75" fmla="*/ 0 w 12192000"/>
              <a:gd name="connsiteY7-76" fmla="*/ 391212 h 651861"/>
              <a:gd name="connsiteX8-77" fmla="*/ 205525 w 12192000"/>
              <a:gd name="connsiteY8-78" fmla="*/ 395902 h 651861"/>
              <a:gd name="connsiteX9-79" fmla="*/ 3759199 w 12192000"/>
              <a:gd name="connsiteY9-80" fmla="*/ 5976 h 6518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192000" h="651861">
                <a:moveTo>
                  <a:pt x="3759199" y="5976"/>
                </a:moveTo>
                <a:cubicBezTo>
                  <a:pt x="5101770" y="-15796"/>
                  <a:pt x="5931504" y="366414"/>
                  <a:pt x="7024914" y="368833"/>
                </a:cubicBezTo>
                <a:cubicBezTo>
                  <a:pt x="8118324" y="371252"/>
                  <a:pt x="9269790" y="-102881"/>
                  <a:pt x="10319657" y="20491"/>
                </a:cubicBezTo>
                <a:cubicBezTo>
                  <a:pt x="10844590" y="82177"/>
                  <a:pt x="11535228" y="282958"/>
                  <a:pt x="12124871" y="503998"/>
                </a:cubicBezTo>
                <a:lnTo>
                  <a:pt x="12192000" y="529999"/>
                </a:lnTo>
                <a:lnTo>
                  <a:pt x="12192000" y="651861"/>
                </a:lnTo>
                <a:lnTo>
                  <a:pt x="0" y="651861"/>
                </a:lnTo>
                <a:lnTo>
                  <a:pt x="0" y="391212"/>
                </a:lnTo>
                <a:lnTo>
                  <a:pt x="205525" y="395902"/>
                </a:lnTo>
                <a:cubicBezTo>
                  <a:pt x="1209023" y="204245"/>
                  <a:pt x="2794452" y="23666"/>
                  <a:pt x="3759199" y="5976"/>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任意多边形: 形状 5"/>
          <p:cNvSpPr/>
          <p:nvPr userDrawn="1"/>
        </p:nvSpPr>
        <p:spPr>
          <a:xfrm>
            <a:off x="0" y="4503891"/>
            <a:ext cx="9144000" cy="640774"/>
          </a:xfrm>
          <a:custGeom>
            <a:avLst/>
            <a:gdLst>
              <a:gd name="connsiteX0" fmla="*/ 12192000 w 12192000"/>
              <a:gd name="connsiteY0" fmla="*/ 0 h 854172"/>
              <a:gd name="connsiteX1" fmla="*/ 12192000 w 12192000"/>
              <a:gd name="connsiteY1" fmla="*/ 854172 h 854172"/>
              <a:gd name="connsiteX2" fmla="*/ 0 w 12192000"/>
              <a:gd name="connsiteY2" fmla="*/ 854172 h 854172"/>
              <a:gd name="connsiteX3" fmla="*/ 0 w 12192000"/>
              <a:gd name="connsiteY3" fmla="*/ 17601 h 854172"/>
              <a:gd name="connsiteX4" fmla="*/ 203313 w 12192000"/>
              <a:gd name="connsiteY4" fmla="*/ 47722 h 854172"/>
              <a:gd name="connsiteX5" fmla="*/ 3759200 w 12192000"/>
              <a:gd name="connsiteY5" fmla="*/ 687257 h 854172"/>
              <a:gd name="connsiteX6" fmla="*/ 7170057 w 12192000"/>
              <a:gd name="connsiteY6" fmla="*/ 193772 h 854172"/>
              <a:gd name="connsiteX7" fmla="*/ 9898743 w 12192000"/>
              <a:gd name="connsiteY7" fmla="*/ 716286 h 854172"/>
              <a:gd name="connsiteX8" fmla="*/ 12149705 w 12192000"/>
              <a:gd name="connsiteY8" fmla="*/ 13137 h 854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854172">
                <a:moveTo>
                  <a:pt x="12192000" y="0"/>
                </a:moveTo>
                <a:lnTo>
                  <a:pt x="12192000" y="854172"/>
                </a:lnTo>
                <a:lnTo>
                  <a:pt x="0" y="854172"/>
                </a:lnTo>
                <a:lnTo>
                  <a:pt x="0" y="17601"/>
                </a:lnTo>
                <a:lnTo>
                  <a:pt x="203313" y="47722"/>
                </a:lnTo>
                <a:cubicBezTo>
                  <a:pt x="1247775" y="220079"/>
                  <a:pt x="2783114" y="661857"/>
                  <a:pt x="3759200" y="687257"/>
                </a:cubicBezTo>
                <a:cubicBezTo>
                  <a:pt x="5060649" y="721124"/>
                  <a:pt x="6146800" y="188934"/>
                  <a:pt x="7170057" y="193772"/>
                </a:cubicBezTo>
                <a:cubicBezTo>
                  <a:pt x="8193314" y="198610"/>
                  <a:pt x="8972248" y="767086"/>
                  <a:pt x="9898743" y="716286"/>
                </a:cubicBezTo>
                <a:cubicBezTo>
                  <a:pt x="10593614" y="678186"/>
                  <a:pt x="11481707" y="234594"/>
                  <a:pt x="12149705" y="13137"/>
                </a:cubicBezTo>
                <a:close/>
              </a:path>
            </a:pathLst>
          </a:custGeom>
          <a:gradFill flip="none" rotWithShape="1">
            <a:gsLst>
              <a:gs pos="0">
                <a:srgbClr val="00B0F0"/>
              </a:gs>
              <a:gs pos="100000">
                <a:srgbClr val="0070C0">
                  <a:alpha val="39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页脚占位符 27"/>
          <p:cNvSpPr>
            <a:spLocks noGrp="1"/>
          </p:cNvSpPr>
          <p:nvPr>
            <p:ph type="ftr" sz="quarter" idx="11"/>
          </p:nvPr>
        </p:nvSpPr>
        <p:spPr/>
        <p:txBody>
          <a:bodyPr/>
          <a:lstStyle/>
          <a:p>
            <a:endParaRPr lang="zh-CN" altLang="en-US"/>
          </a:p>
        </p:txBody>
      </p:sp>
      <p:sp>
        <p:nvSpPr>
          <p:cNvPr id="29" name="椭圆 28"/>
          <p:cNvSpPr/>
          <p:nvPr userDrawn="1"/>
        </p:nvSpPr>
        <p:spPr>
          <a:xfrm>
            <a:off x="-232497" y="-240262"/>
            <a:ext cx="560841" cy="560968"/>
          </a:xfrm>
          <a:prstGeom prst="ellipse">
            <a:avLst/>
          </a:prstGeom>
          <a:solidFill>
            <a:schemeClr val="accent4"/>
          </a:solidFill>
          <a:ln>
            <a:noFill/>
          </a:ln>
          <a:effectLst>
            <a:outerShdw blurRad="317500" dist="25400" dir="2700000" algn="tl" rotWithShape="0">
              <a:schemeClr val="accent4">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0" name="文本占位符 29"/>
          <p:cNvSpPr>
            <a:spLocks noGrp="1"/>
          </p:cNvSpPr>
          <p:nvPr>
            <p:ph type="body" sz="quarter" idx="13" hasCustomPrompt="1"/>
          </p:nvPr>
        </p:nvSpPr>
        <p:spPr>
          <a:xfrm>
            <a:off x="304800" y="164325"/>
            <a:ext cx="5507831" cy="360180"/>
          </a:xfrm>
          <a:noFill/>
        </p:spPr>
        <p:txBody>
          <a:bodyPr wrap="square" rtlCol="0">
            <a:spAutoFit/>
          </a:bodyPr>
          <a:lstStyle>
            <a:lvl1pPr marL="0" indent="0" algn="l">
              <a:buFontTx/>
              <a:buNone/>
              <a:defRPr lang="zh-CN" altLang="en-US" b="1" dirty="0" smtClean="0">
                <a:solidFill>
                  <a:srgbClr val="00B0F0"/>
                </a:solidFill>
              </a:defRPr>
            </a:lvl1pPr>
            <a:lvl2pPr>
              <a:defRPr lang="zh-CN" altLang="en-US" sz="1350" dirty="0" smtClean="0"/>
            </a:lvl2pPr>
            <a:lvl3pPr>
              <a:defRPr lang="zh-CN" altLang="en-US" sz="1350" dirty="0" smtClean="0"/>
            </a:lvl3pPr>
            <a:lvl4pPr>
              <a:defRPr lang="zh-CN" altLang="en-US" dirty="0" smtClean="0"/>
            </a:lvl4pPr>
            <a:lvl5pPr>
              <a:defRPr lang="zh-CN" altLang="en-US" dirty="0"/>
            </a:lvl5pPr>
          </a:lstStyle>
          <a:p>
            <a:pPr marL="0" lvl="0"/>
            <a:r>
              <a:rPr lang="zh-CN" altLang="en-US" dirty="0"/>
              <a:t>请单击此处输入标题</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gradFill>
          <a:gsLst>
            <a:gs pos="0">
              <a:srgbClr val="00B0F0">
                <a:alpha val="45000"/>
              </a:srgbClr>
            </a:gs>
            <a:gs pos="100000">
              <a:srgbClr val="00B0F0"/>
            </a:gs>
          </a:gsLst>
          <a:lin ang="0" scaled="0"/>
        </a:gradFill>
        <a:effectLst/>
      </p:bgPr>
    </p:bg>
    <p:spTree>
      <p:nvGrpSpPr>
        <p:cNvPr id="1" name=""/>
        <p:cNvGrpSpPr/>
        <p:nvPr/>
      </p:nvGrpSpPr>
      <p:grpSpPr>
        <a:xfrm>
          <a:off x="0" y="0"/>
          <a:ext cx="0" cy="0"/>
          <a:chOff x="0" y="0"/>
          <a:chExt cx="0" cy="0"/>
        </a:xfrm>
      </p:grpSpPr>
      <p:grpSp>
        <p:nvGrpSpPr>
          <p:cNvPr id="16" name="组合 15"/>
          <p:cNvGrpSpPr/>
          <p:nvPr userDrawn="1"/>
        </p:nvGrpSpPr>
        <p:grpSpPr>
          <a:xfrm>
            <a:off x="305991" y="420217"/>
            <a:ext cx="996794" cy="484863"/>
            <a:chOff x="-314808" y="5891888"/>
            <a:chExt cx="1521205" cy="739781"/>
          </a:xfrm>
          <a:gradFill>
            <a:gsLst>
              <a:gs pos="97000">
                <a:srgbClr val="0070C0"/>
              </a:gs>
              <a:gs pos="3000">
                <a:schemeClr val="accent1">
                  <a:lumMod val="20000"/>
                  <a:lumOff val="80000"/>
                  <a:alpha val="0"/>
                </a:schemeClr>
              </a:gs>
            </a:gsLst>
            <a:lin ang="0" scaled="0"/>
          </a:gradFill>
        </p:grpSpPr>
        <p:grpSp>
          <p:nvGrpSpPr>
            <p:cNvPr id="17" name="组合 16"/>
            <p:cNvGrpSpPr/>
            <p:nvPr/>
          </p:nvGrpSpPr>
          <p:grpSpPr>
            <a:xfrm>
              <a:off x="-314808" y="5891888"/>
              <a:ext cx="1521205" cy="115200"/>
              <a:chOff x="-314808" y="5891888"/>
              <a:chExt cx="1521205" cy="115200"/>
            </a:xfrm>
            <a:grpFill/>
          </p:grpSpPr>
          <p:sp>
            <p:nvSpPr>
              <p:cNvPr id="53" name="椭圆 52"/>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5" name="椭圆 54"/>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6" name="椭圆 55"/>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7" name="椭圆 56"/>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8" name="椭圆 57"/>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9" name="椭圆 58"/>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0" name="椭圆 59"/>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1" name="椭圆 60"/>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2" name="椭圆 61"/>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314808" y="6049285"/>
              <a:ext cx="1521205" cy="115200"/>
              <a:chOff x="-314808" y="5891888"/>
              <a:chExt cx="1521205" cy="115200"/>
            </a:xfrm>
            <a:grpFill/>
          </p:grpSpPr>
          <p:sp>
            <p:nvSpPr>
              <p:cNvPr id="43" name="椭圆 42"/>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椭圆 44"/>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6" name="椭圆 45"/>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椭圆 46"/>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8" name="椭圆 47"/>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椭圆 48"/>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0" name="椭圆 49"/>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椭圆 50"/>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2" name="椭圆 51"/>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314808" y="6199343"/>
              <a:ext cx="1521205" cy="115200"/>
              <a:chOff x="-314808" y="5891888"/>
              <a:chExt cx="1521205" cy="115200"/>
            </a:xfrm>
            <a:grpFill/>
          </p:grpSpPr>
          <p:sp>
            <p:nvSpPr>
              <p:cNvPr id="33" name="椭圆 32"/>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5" name="椭圆 34"/>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6" name="椭圆 35"/>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7" name="椭圆 36"/>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8" name="椭圆 37"/>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9" name="椭圆 38"/>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0" name="椭圆 39"/>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1" name="椭圆 40"/>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314808" y="6359088"/>
              <a:ext cx="1521205" cy="115200"/>
              <a:chOff x="-314808" y="5891888"/>
              <a:chExt cx="1521205" cy="115200"/>
            </a:xfrm>
            <a:grpFill/>
          </p:grpSpPr>
          <p:sp>
            <p:nvSpPr>
              <p:cNvPr id="23" name="椭圆 22"/>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椭圆 24"/>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6" name="椭圆 25"/>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椭圆 26"/>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椭圆 27"/>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椭圆 28"/>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椭圆 29"/>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椭圆 30"/>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2" name="椭圆 31"/>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314808" y="6516469"/>
              <a:ext cx="1521205" cy="115200"/>
              <a:chOff x="-314808" y="5891888"/>
              <a:chExt cx="1521205" cy="115200"/>
            </a:xfrm>
            <a:grpFill/>
          </p:grpSpPr>
          <p:sp>
            <p:nvSpPr>
              <p:cNvPr id="22" name="椭圆 21"/>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4" name="椭圆 63"/>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5" name="椭圆 64"/>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6" name="椭圆 65"/>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7" name="椭圆 66"/>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8" name="椭圆 67"/>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9" name="椭圆 68"/>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0" name="椭圆 69"/>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1" name="椭圆 70"/>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72" name="组合 71"/>
          <p:cNvGrpSpPr/>
          <p:nvPr userDrawn="1"/>
        </p:nvGrpSpPr>
        <p:grpSpPr>
          <a:xfrm>
            <a:off x="7329488" y="-1650104"/>
            <a:ext cx="3077528" cy="3078224"/>
            <a:chOff x="15390" y="-3464"/>
            <a:chExt cx="6462" cy="6462"/>
          </a:xfrm>
        </p:grpSpPr>
        <p:sp>
          <p:nvSpPr>
            <p:cNvPr id="73" name="圆: 空心 63"/>
            <p:cNvSpPr/>
            <p:nvPr userDrawn="1"/>
          </p:nvSpPr>
          <p:spPr>
            <a:xfrm rot="14767474">
              <a:off x="15748" y="-1846"/>
              <a:ext cx="399" cy="399"/>
            </a:xfrm>
            <a:prstGeom prst="donut">
              <a:avLst>
                <a:gd name="adj" fmla="val 1277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椭圆 73"/>
            <p:cNvSpPr/>
            <p:nvPr userDrawn="1"/>
          </p:nvSpPr>
          <p:spPr>
            <a:xfrm rot="14767474">
              <a:off x="15802" y="-3053"/>
              <a:ext cx="5639" cy="563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 name="椭圆 74"/>
            <p:cNvSpPr/>
            <p:nvPr userDrawn="1"/>
          </p:nvSpPr>
          <p:spPr>
            <a:xfrm rot="14767474">
              <a:off x="15390" y="-3464"/>
              <a:ext cx="6463" cy="6463"/>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 name="圆: 空心 66"/>
            <p:cNvSpPr/>
            <p:nvPr userDrawn="1"/>
          </p:nvSpPr>
          <p:spPr>
            <a:xfrm rot="14767474">
              <a:off x="17239" y="2354"/>
              <a:ext cx="399" cy="399"/>
            </a:xfrm>
            <a:prstGeom prst="donut">
              <a:avLst>
                <a:gd name="adj" fmla="val 1277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 name="矩形: 圆角 67"/>
            <p:cNvSpPr/>
            <p:nvPr userDrawn="1"/>
          </p:nvSpPr>
          <p:spPr>
            <a:xfrm rot="14320310">
              <a:off x="15819" y="1114"/>
              <a:ext cx="404" cy="397"/>
            </a:xfrm>
            <a:prstGeom prst="roundRect">
              <a:avLst>
                <a:gd name="adj" fmla="val 2971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圆: 空心 69"/>
          <p:cNvSpPr/>
          <p:nvPr userDrawn="1"/>
        </p:nvSpPr>
        <p:spPr>
          <a:xfrm rot="3926852">
            <a:off x="-2288857" y="3139674"/>
            <a:ext cx="3885248" cy="3886127"/>
          </a:xfrm>
          <a:prstGeom prst="donut">
            <a:avLst>
              <a:gd name="adj" fmla="val 5922"/>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 name="圆: 空心 70"/>
          <p:cNvSpPr/>
          <p:nvPr userDrawn="1"/>
        </p:nvSpPr>
        <p:spPr>
          <a:xfrm rot="3926852">
            <a:off x="1579721" y="5974004"/>
            <a:ext cx="307658" cy="307727"/>
          </a:xfrm>
          <a:prstGeom prst="donut">
            <a:avLst>
              <a:gd name="adj" fmla="val 12773"/>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矩形: 圆角 71"/>
          <p:cNvSpPr/>
          <p:nvPr userDrawn="1"/>
        </p:nvSpPr>
        <p:spPr>
          <a:xfrm rot="3302231">
            <a:off x="1445895" y="3676530"/>
            <a:ext cx="293846" cy="289149"/>
          </a:xfrm>
          <a:prstGeom prst="roundRect">
            <a:avLst>
              <a:gd name="adj" fmla="val 2971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userDrawn="1"/>
        </p:nvSpPr>
        <p:spPr>
          <a:xfrm rot="3926852">
            <a:off x="-2518886" y="2909594"/>
            <a:ext cx="4345305" cy="434628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 name="圆: 空心 73"/>
          <p:cNvSpPr/>
          <p:nvPr userDrawn="1"/>
        </p:nvSpPr>
        <p:spPr>
          <a:xfrm rot="3926852">
            <a:off x="421481" y="2793839"/>
            <a:ext cx="307658" cy="307727"/>
          </a:xfrm>
          <a:prstGeom prst="donut">
            <a:avLst>
              <a:gd name="adj" fmla="val 1277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 name="椭圆 82"/>
          <p:cNvSpPr/>
          <p:nvPr userDrawn="1"/>
        </p:nvSpPr>
        <p:spPr>
          <a:xfrm>
            <a:off x="-855447" y="3931756"/>
            <a:ext cx="1710893" cy="1711281"/>
          </a:xfrm>
          <a:prstGeom prst="ellipse">
            <a:avLst/>
          </a:prstGeom>
          <a:gradFill flip="none" rotWithShape="1">
            <a:gsLst>
              <a:gs pos="88000">
                <a:schemeClr val="bg1"/>
              </a:gs>
              <a:gs pos="39000">
                <a:srgbClr val="0070C0">
                  <a:alpha val="41000"/>
                </a:srgbClr>
              </a:gs>
            </a:gsLst>
            <a:path path="circle">
              <a:fillToRect l="100000" t="100000"/>
            </a:path>
            <a:tileRect r="-100000" b="-100000"/>
          </a:gradFill>
          <a:ln>
            <a:noFill/>
          </a:ln>
          <a:effectLst>
            <a:outerShdw blurRad="241300" dist="215900" dir="2700000" algn="tl" rotWithShape="0">
              <a:schemeClr val="accent1">
                <a:lumMod val="50000"/>
                <a:alpha val="1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84" name="组合 83"/>
          <p:cNvGrpSpPr/>
          <p:nvPr userDrawn="1"/>
        </p:nvGrpSpPr>
        <p:grpSpPr>
          <a:xfrm flipH="1">
            <a:off x="7815023" y="4192970"/>
            <a:ext cx="996794" cy="484863"/>
            <a:chOff x="-314808" y="5891888"/>
            <a:chExt cx="1521205" cy="739781"/>
          </a:xfrm>
          <a:gradFill>
            <a:gsLst>
              <a:gs pos="97000">
                <a:srgbClr val="0070C0"/>
              </a:gs>
              <a:gs pos="3000">
                <a:schemeClr val="accent1">
                  <a:lumMod val="20000"/>
                  <a:lumOff val="80000"/>
                  <a:alpha val="0"/>
                </a:schemeClr>
              </a:gs>
            </a:gsLst>
            <a:lin ang="0" scaled="0"/>
          </a:gradFill>
        </p:grpSpPr>
        <p:grpSp>
          <p:nvGrpSpPr>
            <p:cNvPr id="85" name="组合 84"/>
            <p:cNvGrpSpPr/>
            <p:nvPr/>
          </p:nvGrpSpPr>
          <p:grpSpPr>
            <a:xfrm>
              <a:off x="-314808" y="5891888"/>
              <a:ext cx="1521205" cy="115200"/>
              <a:chOff x="-314808" y="5891888"/>
              <a:chExt cx="1521205" cy="115200"/>
            </a:xfrm>
            <a:grpFill/>
          </p:grpSpPr>
          <p:sp>
            <p:nvSpPr>
              <p:cNvPr id="122" name="椭圆 121"/>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4" name="椭圆 123"/>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5" name="椭圆 124"/>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6" name="椭圆 125"/>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7" name="椭圆 126"/>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8" name="椭圆 127"/>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9" name="椭圆 128"/>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0" name="椭圆 129"/>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1" name="椭圆 130"/>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6" name="组合 85"/>
            <p:cNvGrpSpPr/>
            <p:nvPr/>
          </p:nvGrpSpPr>
          <p:grpSpPr>
            <a:xfrm>
              <a:off x="-314808" y="6049285"/>
              <a:ext cx="1521205" cy="115200"/>
              <a:chOff x="-314808" y="5891888"/>
              <a:chExt cx="1521205" cy="115200"/>
            </a:xfrm>
            <a:grpFill/>
          </p:grpSpPr>
          <p:sp>
            <p:nvSpPr>
              <p:cNvPr id="112" name="椭圆 111"/>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4" name="椭圆 113"/>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5" name="椭圆 114"/>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6" name="椭圆 115"/>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7" name="椭圆 116"/>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8" name="椭圆 117"/>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9" name="椭圆 118"/>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0" name="椭圆 119"/>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1" name="椭圆 120"/>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p:cNvGrpSpPr/>
            <p:nvPr/>
          </p:nvGrpSpPr>
          <p:grpSpPr>
            <a:xfrm>
              <a:off x="-314808" y="6199343"/>
              <a:ext cx="1521205" cy="115200"/>
              <a:chOff x="-314808" y="5891888"/>
              <a:chExt cx="1521205" cy="115200"/>
            </a:xfrm>
            <a:grpFill/>
          </p:grpSpPr>
          <p:sp>
            <p:nvSpPr>
              <p:cNvPr id="102" name="椭圆 101"/>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4" name="椭圆 103"/>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5" name="椭圆 104"/>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6" name="椭圆 105"/>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7" name="椭圆 106"/>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8" name="椭圆 107"/>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9" name="椭圆 108"/>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0" name="椭圆 109"/>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1" name="椭圆 110"/>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nvGrpSpPr>
          <p:grpSpPr>
            <a:xfrm>
              <a:off x="-314808" y="6359088"/>
              <a:ext cx="1521205" cy="115200"/>
              <a:chOff x="-314808" y="5891888"/>
              <a:chExt cx="1521205" cy="115200"/>
            </a:xfrm>
            <a:grpFill/>
          </p:grpSpPr>
          <p:sp>
            <p:nvSpPr>
              <p:cNvPr id="92" name="椭圆 91"/>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4" name="椭圆 93"/>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5" name="椭圆 94"/>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6" name="椭圆 95"/>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7" name="椭圆 96"/>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8" name="椭圆 97"/>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9" name="椭圆 98"/>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0" name="椭圆 99"/>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1" name="椭圆 100"/>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p:cNvGrpSpPr/>
            <p:nvPr/>
          </p:nvGrpSpPr>
          <p:grpSpPr>
            <a:xfrm>
              <a:off x="-314808" y="6516469"/>
              <a:ext cx="1521205" cy="115200"/>
              <a:chOff x="-314808" y="5891888"/>
              <a:chExt cx="1521205" cy="115200"/>
            </a:xfrm>
            <a:grpFill/>
          </p:grpSpPr>
          <p:sp>
            <p:nvSpPr>
              <p:cNvPr id="90" name="椭圆 89"/>
              <p:cNvSpPr>
                <a:spLocks noChangeAspect="1"/>
              </p:cNvSpPr>
              <p:nvPr/>
            </p:nvSpPr>
            <p:spPr>
              <a:xfrm>
                <a:off x="1091786" y="5891888"/>
                <a:ext cx="114611" cy="115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a:spLocks noChangeAspect="1"/>
              </p:cNvSpPr>
              <p:nvPr/>
            </p:nvSpPr>
            <p:spPr>
              <a:xfrm>
                <a:off x="916392" y="5894339"/>
                <a:ext cx="109836" cy="110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2" name="椭圆 131"/>
              <p:cNvSpPr>
                <a:spLocks noChangeAspect="1"/>
              </p:cNvSpPr>
              <p:nvPr/>
            </p:nvSpPr>
            <p:spPr>
              <a:xfrm>
                <a:off x="745778" y="5896791"/>
                <a:ext cx="105060" cy="105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3" name="椭圆 132"/>
              <p:cNvSpPr>
                <a:spLocks noChangeAspect="1"/>
              </p:cNvSpPr>
              <p:nvPr/>
            </p:nvSpPr>
            <p:spPr>
              <a:xfrm>
                <a:off x="579939" y="5899242"/>
                <a:ext cx="100285" cy="100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4" name="椭圆 133"/>
              <p:cNvSpPr>
                <a:spLocks noChangeAspect="1"/>
              </p:cNvSpPr>
              <p:nvPr/>
            </p:nvSpPr>
            <p:spPr>
              <a:xfrm>
                <a:off x="418876" y="5901693"/>
                <a:ext cx="95509" cy="960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5" name="椭圆 134"/>
              <p:cNvSpPr>
                <a:spLocks noChangeAspect="1"/>
              </p:cNvSpPr>
              <p:nvPr/>
            </p:nvSpPr>
            <p:spPr>
              <a:xfrm>
                <a:off x="262588" y="5904145"/>
                <a:ext cx="90734" cy="912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6" name="椭圆 135"/>
              <p:cNvSpPr>
                <a:spLocks noChangeAspect="1"/>
              </p:cNvSpPr>
              <p:nvPr/>
            </p:nvSpPr>
            <p:spPr>
              <a:xfrm>
                <a:off x="111076" y="5906596"/>
                <a:ext cx="85958" cy="864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7" name="椭圆 136"/>
              <p:cNvSpPr>
                <a:spLocks noChangeAspect="1"/>
              </p:cNvSpPr>
              <p:nvPr/>
            </p:nvSpPr>
            <p:spPr>
              <a:xfrm>
                <a:off x="-35661" y="5909047"/>
                <a:ext cx="81183" cy="816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8" name="椭圆 137"/>
              <p:cNvSpPr>
                <a:spLocks noChangeAspect="1"/>
              </p:cNvSpPr>
              <p:nvPr/>
            </p:nvSpPr>
            <p:spPr>
              <a:xfrm>
                <a:off x="-177622" y="5911498"/>
                <a:ext cx="76407" cy="7680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9" name="椭圆 138"/>
              <p:cNvSpPr>
                <a:spLocks noChangeAspect="1"/>
              </p:cNvSpPr>
              <p:nvPr/>
            </p:nvSpPr>
            <p:spPr>
              <a:xfrm>
                <a:off x="-314808" y="5913950"/>
                <a:ext cx="71632" cy="7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08" name="椭圆 207"/>
          <p:cNvSpPr/>
          <p:nvPr userDrawn="1"/>
        </p:nvSpPr>
        <p:spPr>
          <a:xfrm>
            <a:off x="6021387" y="2743700"/>
            <a:ext cx="269058" cy="269058"/>
          </a:xfrm>
          <a:prstGeom prst="ellipse">
            <a:avLst/>
          </a:prstGeom>
          <a:gradFill flip="none" rotWithShape="1">
            <a:gsLst>
              <a:gs pos="88000">
                <a:schemeClr val="accent5"/>
              </a:gs>
              <a:gs pos="39000">
                <a:schemeClr val="accent4"/>
              </a:gs>
            </a:gsLst>
            <a:path path="circle">
              <a:fillToRect l="100000" t="100000"/>
            </a:path>
            <a:tileRect r="-100000" b="-100000"/>
          </a:gradFill>
          <a:ln>
            <a:noFill/>
          </a:ln>
          <a:effectLst>
            <a:outerShdw blurRad="279400" dist="177800" dir="2100000" algn="tl" rotWithShape="0">
              <a:schemeClr val="accent1">
                <a:lumMod val="50000"/>
                <a:alpha val="4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40" name="文本框 139"/>
          <p:cNvSpPr txBox="1"/>
          <p:nvPr userDrawn="1"/>
        </p:nvSpPr>
        <p:spPr>
          <a:xfrm>
            <a:off x="2877754" y="2100605"/>
            <a:ext cx="3388492" cy="829945"/>
          </a:xfrm>
          <a:prstGeom prst="rect">
            <a:avLst/>
          </a:prstGeom>
          <a:noFill/>
          <a:effectLst/>
        </p:spPr>
        <p:txBody>
          <a:bodyPr wrap="square" rtlCol="0">
            <a:spAutoFit/>
          </a:bodyPr>
          <a:lstStyle/>
          <a:p>
            <a:pPr algn="dist"/>
            <a:r>
              <a:rPr lang="zh-CN" altLang="en-US" sz="4800" b="1" dirty="0">
                <a:gradFill flip="none" rotWithShape="1">
                  <a:gsLst>
                    <a:gs pos="0">
                      <a:schemeClr val="bg1"/>
                    </a:gs>
                    <a:gs pos="100000">
                      <a:schemeClr val="accent3">
                        <a:lumMod val="40000"/>
                        <a:lumOff val="60000"/>
                      </a:schemeClr>
                    </a:gs>
                  </a:gsLst>
                  <a:lin ang="5400000" scaled="1"/>
                  <a:tileRect/>
                </a:gradFill>
                <a:effectLst>
                  <a:outerShdw blurRad="177800" dist="177800" dir="5400000" sx="102000" sy="102000" algn="tl" rotWithShape="0">
                    <a:schemeClr val="accent2">
                      <a:lumMod val="50000"/>
                      <a:alpha val="27000"/>
                    </a:schemeClr>
                  </a:outerShdw>
                </a:effectLst>
              </a:rPr>
              <a:t>感谢聆听</a:t>
            </a:r>
            <a:endParaRPr lang="zh-CN" altLang="en-US" sz="4800" b="1" dirty="0">
              <a:gradFill flip="none" rotWithShape="1">
                <a:gsLst>
                  <a:gs pos="0">
                    <a:schemeClr val="bg1"/>
                  </a:gs>
                  <a:gs pos="100000">
                    <a:schemeClr val="accent3">
                      <a:lumMod val="40000"/>
                      <a:lumOff val="60000"/>
                    </a:schemeClr>
                  </a:gs>
                </a:gsLst>
                <a:lin ang="5400000" scaled="1"/>
                <a:tileRect/>
              </a:gradFill>
              <a:effectLst>
                <a:outerShdw blurRad="177800" dist="177800" dir="5400000" sx="102000" sy="102000" algn="tl" rotWithShape="0">
                  <a:schemeClr val="accent2">
                    <a:lumMod val="50000"/>
                    <a:alpha val="27000"/>
                  </a:schemeClr>
                </a:outerShdw>
              </a:effectLst>
            </a:endParaRPr>
          </a:p>
        </p:txBody>
      </p:sp>
      <p:grpSp>
        <p:nvGrpSpPr>
          <p:cNvPr id="141" name="组合 140"/>
          <p:cNvGrpSpPr/>
          <p:nvPr userDrawn="1"/>
        </p:nvGrpSpPr>
        <p:grpSpPr>
          <a:xfrm>
            <a:off x="4515540" y="3069908"/>
            <a:ext cx="161179" cy="641350"/>
            <a:chOff x="-1537925" y="3016323"/>
            <a:chExt cx="161179" cy="641350"/>
          </a:xfrm>
        </p:grpSpPr>
        <p:sp>
          <p:nvSpPr>
            <p:cNvPr id="148" name="椭圆 147"/>
            <p:cNvSpPr/>
            <p:nvPr/>
          </p:nvSpPr>
          <p:spPr>
            <a:xfrm>
              <a:off x="-1537925" y="3016323"/>
              <a:ext cx="161179" cy="161179"/>
            </a:xfrm>
            <a:prstGeom prst="ellipse">
              <a:avLst/>
            </a:prstGeom>
            <a:gradFill flip="none" rotWithShape="1">
              <a:gsLst>
                <a:gs pos="88000">
                  <a:schemeClr val="accent5"/>
                </a:gs>
                <a:gs pos="39000">
                  <a:schemeClr val="accent4"/>
                </a:gs>
              </a:gsLst>
              <a:path path="circle">
                <a:fillToRect l="100000" t="100000"/>
              </a:path>
              <a:tileRect r="-100000" b="-100000"/>
            </a:gradFill>
            <a:ln>
              <a:noFill/>
            </a:ln>
            <a:effectLst>
              <a:outerShdw blurRad="241300" dist="215900" dir="5400000" algn="tl" rotWithShape="0">
                <a:schemeClr val="accent1">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49" name="椭圆 148"/>
            <p:cNvSpPr/>
            <p:nvPr/>
          </p:nvSpPr>
          <p:spPr>
            <a:xfrm>
              <a:off x="-1529963" y="3280294"/>
              <a:ext cx="145255" cy="145255"/>
            </a:xfrm>
            <a:prstGeom prst="ellipse">
              <a:avLst/>
            </a:prstGeom>
            <a:gradFill flip="none" rotWithShape="1">
              <a:gsLst>
                <a:gs pos="88000">
                  <a:schemeClr val="accent5">
                    <a:lumMod val="100000"/>
                    <a:alpha val="80000"/>
                  </a:schemeClr>
                </a:gs>
                <a:gs pos="39000">
                  <a:schemeClr val="accent4">
                    <a:alpha val="80000"/>
                  </a:schemeClr>
                </a:gs>
              </a:gsLst>
              <a:path path="circle">
                <a:fillToRect l="100000" t="100000"/>
              </a:path>
              <a:tileRect r="-100000" b="-100000"/>
            </a:gradFill>
            <a:ln>
              <a:noFill/>
            </a:ln>
            <a:effectLst>
              <a:outerShdw blurRad="241300" dist="215900" dir="5400000" algn="tl" rotWithShape="0">
                <a:schemeClr val="accent1">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100000"/>
                  </a:schemeClr>
                </a:solidFill>
              </a:endParaRPr>
            </a:p>
          </p:txBody>
        </p:sp>
        <p:sp>
          <p:nvSpPr>
            <p:cNvPr id="150" name="椭圆 149"/>
            <p:cNvSpPr/>
            <p:nvPr/>
          </p:nvSpPr>
          <p:spPr>
            <a:xfrm>
              <a:off x="-1522002" y="3528341"/>
              <a:ext cx="129332" cy="129332"/>
            </a:xfrm>
            <a:prstGeom prst="ellipse">
              <a:avLst/>
            </a:prstGeom>
            <a:gradFill flip="none" rotWithShape="1">
              <a:gsLst>
                <a:gs pos="88000">
                  <a:schemeClr val="accent5">
                    <a:alpha val="69000"/>
                  </a:schemeClr>
                </a:gs>
                <a:gs pos="39000">
                  <a:schemeClr val="accent4">
                    <a:alpha val="70000"/>
                  </a:schemeClr>
                </a:gs>
              </a:gsLst>
              <a:path path="circle">
                <a:fillToRect l="100000" t="100000"/>
              </a:path>
              <a:tileRect r="-100000" b="-100000"/>
            </a:gradFill>
            <a:ln>
              <a:noFill/>
            </a:ln>
            <a:effectLst>
              <a:outerShdw blurRad="241300" dist="215900" dir="5400000" algn="tl" rotWithShape="0">
                <a:schemeClr val="accent1">
                  <a:lumMod val="50000"/>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42" name="文本框 141"/>
          <p:cNvSpPr txBox="1"/>
          <p:nvPr userDrawn="1"/>
        </p:nvSpPr>
        <p:spPr>
          <a:xfrm>
            <a:off x="1471931" y="805559"/>
            <a:ext cx="6248399" cy="1106805"/>
          </a:xfrm>
          <a:prstGeom prst="rect">
            <a:avLst/>
          </a:prstGeom>
          <a:noFill/>
          <a:effectLst/>
        </p:spPr>
        <p:txBody>
          <a:bodyPr wrap="square" rtlCol="0">
            <a:spAutoFit/>
          </a:bodyPr>
          <a:lstStyle>
            <a:defPPr>
              <a:defRPr lang="zh-CN"/>
            </a:defPPr>
            <a:lvl1pPr algn="dist">
              <a:defRPr sz="4800" b="1">
                <a:gradFill flip="none" rotWithShape="1">
                  <a:gsLst>
                    <a:gs pos="0">
                      <a:schemeClr val="bg1"/>
                    </a:gs>
                    <a:gs pos="100000">
                      <a:schemeClr val="accent3">
                        <a:lumMod val="40000"/>
                        <a:lumOff val="60000"/>
                      </a:schemeClr>
                    </a:gs>
                  </a:gsLst>
                  <a:lin ang="5400000" scaled="1"/>
                  <a:tileRect/>
                </a:gradFill>
                <a:effectLst>
                  <a:outerShdw blurRad="177800" dist="177800" dir="5400000" sx="102000" sy="102000" algn="tl" rotWithShape="0">
                    <a:schemeClr val="accent2">
                      <a:lumMod val="50000"/>
                      <a:alpha val="27000"/>
                    </a:schemeClr>
                  </a:outerShdw>
                </a:effectLst>
              </a:defRPr>
            </a:lvl1pPr>
          </a:lstStyle>
          <a:p>
            <a:r>
              <a:rPr lang="en-US" altLang="zh-CN" sz="6600" dirty="0"/>
              <a:t>THANK YOU</a:t>
            </a:r>
            <a:endParaRPr lang="zh-CN" alt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456300" y="456403"/>
            <a:ext cx="8226900" cy="52932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456300" y="1118053"/>
            <a:ext cx="8226900" cy="3570208"/>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8"/>
            </p:custDataLst>
          </p:nvPr>
        </p:nvSpPr>
        <p:spPr>
          <a:xfrm>
            <a:off x="459000" y="4736872"/>
            <a:ext cx="2025000" cy="237654"/>
          </a:xfrm>
          <a:prstGeom prst="rect">
            <a:avLst/>
          </a:prstGeom>
        </p:spPr>
        <p:txBody>
          <a:bodyPr vert="horz" lIns="91440" tIns="45720" rIns="91440" bIns="45720" rtlCol="0" anchor="ctr">
            <a:normAutofit/>
          </a:bodyPr>
          <a:lstStyle>
            <a:lvl1pPr algn="l">
              <a:defRPr sz="75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9"/>
            </p:custDataLst>
          </p:nvPr>
        </p:nvSpPr>
        <p:spPr>
          <a:xfrm>
            <a:off x="3087000" y="4736872"/>
            <a:ext cx="2970000" cy="237654"/>
          </a:xfrm>
          <a:prstGeom prst="rect">
            <a:avLst/>
          </a:prstGeom>
        </p:spPr>
        <p:txBody>
          <a:bodyPr vert="horz" lIns="91440" tIns="45720" rIns="91440" bIns="45720" rtlCol="0" anchor="ctr">
            <a:normAutofit/>
          </a:bodyPr>
          <a:lstStyle>
            <a:lvl1pPr algn="ctr">
              <a:defRPr sz="75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6658200" y="4736872"/>
            <a:ext cx="2025000" cy="237654"/>
          </a:xfrm>
          <a:prstGeom prst="rect">
            <a:avLst/>
          </a:prstGeom>
        </p:spPr>
        <p:txBody>
          <a:bodyPr vert="horz" lIns="91440" tIns="45720" rIns="91440" bIns="45720" rtlCol="0" anchor="ctr">
            <a:normAutofit/>
          </a:bodyPr>
          <a:lstStyle>
            <a:lvl1pPr algn="r">
              <a:defRPr sz="75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1"/>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685800" rtl="0" eaLnBrk="1" fontAlgn="auto" latinLnBrk="0" hangingPunct="1">
        <a:lnSpc>
          <a:spcPct val="100000"/>
        </a:lnSpc>
        <a:spcBef>
          <a:spcPct val="0"/>
        </a:spcBef>
        <a:buNone/>
        <a:defRPr sz="27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35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20000"/>
        </a:lnSpc>
        <a:spcBef>
          <a:spcPts val="0"/>
        </a:spcBef>
        <a:spcAft>
          <a:spcPts val="600"/>
        </a:spcAft>
        <a:buFont typeface="Arial" panose="020B0604020202020204" pitchFamily="34" charset="0"/>
        <a:buChar char="●"/>
        <a:tabLst>
          <a:tab pos="1207770" algn="l"/>
          <a:tab pos="1207770" algn="l"/>
          <a:tab pos="1207770" algn="l"/>
          <a:tab pos="1207770" algn="l"/>
        </a:tabLst>
        <a:defRPr sz="12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20000"/>
        </a:lnSpc>
        <a:spcBef>
          <a:spcPts val="0"/>
        </a:spcBef>
        <a:spcAft>
          <a:spcPts val="600"/>
        </a:spcAft>
        <a:buFont typeface="Arial" panose="020B0604020202020204" pitchFamily="34" charset="0"/>
        <a:buChar char="●"/>
        <a:defRPr sz="12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20000"/>
        </a:lnSpc>
        <a:spcBef>
          <a:spcPts val="0"/>
        </a:spcBef>
        <a:spcAft>
          <a:spcPts val="300"/>
        </a:spcAft>
        <a:buFont typeface="Wingdings" panose="05000000000000000000" charset="0"/>
        <a:buChar char=""/>
        <a:defRPr sz="105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20000"/>
        </a:lnSpc>
        <a:spcBef>
          <a:spcPts val="0"/>
        </a:spcBef>
        <a:spcAft>
          <a:spcPts val="300"/>
        </a:spcAft>
        <a:buFont typeface="Arial" panose="020B0604020202020204" pitchFamily="34" charset="0"/>
        <a:buChar char="•"/>
        <a:defRPr sz="105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5.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6.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0.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0" y="1569462"/>
            <a:ext cx="9153095" cy="1541780"/>
          </a:xfrm>
        </p:spPr>
        <p:txBody>
          <a:bodyPr>
            <a:normAutofit/>
          </a:bodyPr>
          <a:lstStyle/>
          <a:p>
            <a:pPr algn="ctr"/>
            <a:r>
              <a:rPr lang="en-US" altLang="zh-CN" sz="3100" dirty="0" smtClean="0">
                <a:gradFill flip="none" rotWithShape="1">
                  <a:gsLst>
                    <a:gs pos="0">
                      <a:schemeClr val="bg1"/>
                    </a:gs>
                    <a:gs pos="100000">
                      <a:schemeClr val="accent3">
                        <a:lumMod val="40000"/>
                        <a:lumOff val="60000"/>
                      </a:schemeClr>
                    </a:gs>
                  </a:gsLst>
                  <a:lin ang="5400000" scaled="1"/>
                  <a:tileRect/>
                </a:gradFill>
                <a:effectLst>
                  <a:outerShdw blurRad="165100" dist="63500" dir="2700000" sx="105000" sy="105000" algn="tl" rotWithShape="0">
                    <a:schemeClr val="accent2">
                      <a:lumMod val="50000"/>
                      <a:alpha val="35000"/>
                    </a:schemeClr>
                  </a:outerShdw>
                </a:effectLst>
                <a:sym typeface="+mn-ea"/>
              </a:rPr>
              <a:t>《</a:t>
            </a:r>
            <a:r>
              <a:rPr lang="zh-CN" altLang="en-US" sz="3100" smtClean="0">
                <a:gradFill flip="none" rotWithShape="1">
                  <a:gsLst>
                    <a:gs pos="0">
                      <a:schemeClr val="bg1"/>
                    </a:gs>
                    <a:gs pos="100000">
                      <a:schemeClr val="accent3">
                        <a:lumMod val="40000"/>
                        <a:lumOff val="60000"/>
                      </a:schemeClr>
                    </a:gs>
                  </a:gsLst>
                  <a:lin ang="5400000" scaled="1"/>
                  <a:tileRect/>
                </a:gradFill>
                <a:effectLst>
                  <a:outerShdw blurRad="165100" dist="63500" dir="2700000" sx="105000" sy="105000" algn="tl" rotWithShape="0">
                    <a:schemeClr val="accent2">
                      <a:lumMod val="50000"/>
                      <a:alpha val="35000"/>
                    </a:schemeClr>
                  </a:outerShdw>
                </a:effectLst>
                <a:sym typeface="+mn-ea"/>
              </a:rPr>
              <a:t>习近平新时代中国特色社会主义思想概论</a:t>
            </a:r>
            <a:r>
              <a:rPr lang="en-US" altLang="zh-CN" sz="3100" smtClean="0">
                <a:gradFill flip="none" rotWithShape="1">
                  <a:gsLst>
                    <a:gs pos="0">
                      <a:schemeClr val="bg1"/>
                    </a:gs>
                    <a:gs pos="100000">
                      <a:schemeClr val="accent3">
                        <a:lumMod val="40000"/>
                        <a:lumOff val="60000"/>
                      </a:schemeClr>
                    </a:gs>
                  </a:gsLst>
                  <a:lin ang="5400000" scaled="1"/>
                  <a:tileRect/>
                </a:gradFill>
                <a:effectLst>
                  <a:outerShdw blurRad="165100" dist="63500" dir="2700000" sx="105000" sy="105000" algn="tl" rotWithShape="0">
                    <a:schemeClr val="accent2">
                      <a:lumMod val="50000"/>
                      <a:alpha val="35000"/>
                    </a:schemeClr>
                  </a:outerShdw>
                </a:effectLst>
                <a:sym typeface="+mn-ea"/>
              </a:rPr>
              <a:t>》</a:t>
            </a:r>
            <a:br>
              <a:rPr lang="en-US" altLang="zh-CN" sz="4000" dirty="0">
                <a:gradFill flip="none" rotWithShape="1">
                  <a:gsLst>
                    <a:gs pos="0">
                      <a:schemeClr val="bg1"/>
                    </a:gs>
                    <a:gs pos="100000">
                      <a:schemeClr val="accent3">
                        <a:lumMod val="40000"/>
                        <a:lumOff val="60000"/>
                      </a:schemeClr>
                    </a:gs>
                  </a:gsLst>
                  <a:lin ang="5400000" scaled="1"/>
                  <a:tileRect/>
                </a:gradFill>
                <a:effectLst>
                  <a:outerShdw blurRad="165100" dist="63500" dir="2700000" sx="105000" sy="105000" algn="tl" rotWithShape="0">
                    <a:schemeClr val="accent2">
                      <a:lumMod val="50000"/>
                      <a:alpha val="35000"/>
                    </a:schemeClr>
                  </a:outerShdw>
                </a:effectLst>
                <a:sym typeface="+mn-ea"/>
              </a:rPr>
            </a:br>
            <a:r>
              <a:rPr lang="zh-CN" altLang="en-US" sz="4900" dirty="0">
                <a:gradFill flip="none" rotWithShape="1">
                  <a:gsLst>
                    <a:gs pos="0">
                      <a:schemeClr val="bg1"/>
                    </a:gs>
                    <a:gs pos="100000">
                      <a:schemeClr val="accent3">
                        <a:lumMod val="40000"/>
                        <a:lumOff val="60000"/>
                      </a:schemeClr>
                    </a:gs>
                  </a:gsLst>
                  <a:lin ang="5400000" scaled="1"/>
                  <a:tileRect/>
                </a:gradFill>
                <a:effectLst>
                  <a:outerShdw blurRad="165100" dist="63500" dir="2700000" sx="105000" sy="105000" algn="tl" rotWithShape="0">
                    <a:schemeClr val="accent2">
                      <a:lumMod val="50000"/>
                      <a:alpha val="35000"/>
                    </a:schemeClr>
                  </a:outerShdw>
                </a:effectLst>
                <a:sym typeface="+mn-ea"/>
              </a:rPr>
              <a:t>重难点解析</a:t>
            </a:r>
            <a:endParaRPr lang="zh-CN" altLang="zh-CN" dirty="0"/>
          </a:p>
        </p:txBody>
      </p:sp>
      <p:sp>
        <p:nvSpPr>
          <p:cNvPr id="140" name="文本框 139"/>
          <p:cNvSpPr txBox="1"/>
          <p:nvPr/>
        </p:nvSpPr>
        <p:spPr>
          <a:xfrm>
            <a:off x="639896" y="3836030"/>
            <a:ext cx="1723549" cy="400110"/>
          </a:xfrm>
          <a:prstGeom prst="rect">
            <a:avLst/>
          </a:prstGeom>
          <a:noFill/>
        </p:spPr>
        <p:txBody>
          <a:bodyPr wrap="none" rtlCol="0">
            <a:spAutoFit/>
          </a:bodyPr>
          <a:lstStyle/>
          <a:p>
            <a:r>
              <a:rPr lang="zh-CN" altLang="en-US" sz="2000" dirty="0">
                <a:solidFill>
                  <a:schemeClr val="bg1"/>
                </a:solidFill>
                <a:effectLst>
                  <a:outerShdw blurRad="165100" sx="102000" sy="102000" algn="ctr" rotWithShape="0">
                    <a:schemeClr val="accent1">
                      <a:lumMod val="50000"/>
                      <a:alpha val="22000"/>
                    </a:schemeClr>
                  </a:outerShdw>
                </a:effectLst>
              </a:rPr>
              <a:t>主讲人：周莉</a:t>
            </a:r>
            <a:endParaRPr lang="zh-CN" altLang="en-US" sz="2000" dirty="0">
              <a:solidFill>
                <a:schemeClr val="bg1"/>
              </a:solidFill>
              <a:effectLst>
                <a:outerShdw blurRad="165100" sx="102000" sy="102000" algn="ctr" rotWithShape="0">
                  <a:schemeClr val="accent1">
                    <a:lumMod val="50000"/>
                    <a:alpha val="22000"/>
                  </a:schemeClr>
                </a:outerShdw>
              </a:effectLst>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959371" y="156830"/>
            <a:ext cx="7330189" cy="615164"/>
          </a:xfrm>
        </p:spPr>
        <p:txBody>
          <a:bodyPr/>
          <a:lstStyle/>
          <a:p>
            <a:pPr algn="ctr"/>
            <a:r>
              <a:rPr lang="zh-CN" altLang="en-US" sz="2800" dirty="0"/>
              <a:t>第一讲马克思主义中国化时代化新的飞跃</a:t>
            </a:r>
            <a:endParaRPr lang="zh-CN" altLang="en-US" sz="2800" dirty="0"/>
          </a:p>
        </p:txBody>
      </p:sp>
      <p:sp>
        <p:nvSpPr>
          <p:cNvPr id="4" name="TextBox 3"/>
          <p:cNvSpPr txBox="1"/>
          <p:nvPr/>
        </p:nvSpPr>
        <p:spPr>
          <a:xfrm>
            <a:off x="256842" y="847570"/>
            <a:ext cx="4367624" cy="4154984"/>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r>
              <a:rPr lang="en-US" altLang="zh-CN" dirty="0"/>
              <a:t>1.</a:t>
            </a:r>
            <a:r>
              <a:rPr lang="zh-CN" altLang="en-US" dirty="0"/>
              <a:t>习近平新时代中国特色社会主义思想创立的时代背景</a:t>
            </a:r>
            <a:endParaRPr lang="zh-CN" altLang="en-US" dirty="0"/>
          </a:p>
          <a:p>
            <a:r>
              <a:rPr lang="en-US" altLang="zh-CN" dirty="0"/>
              <a:t>2.</a:t>
            </a:r>
            <a:r>
              <a:rPr lang="zh-CN" altLang="en-US" dirty="0"/>
              <a:t>世界正经历百年未有之大变局</a:t>
            </a:r>
            <a:endParaRPr lang="zh-CN" altLang="en-US" dirty="0"/>
          </a:p>
          <a:p>
            <a:r>
              <a:rPr lang="en-US" altLang="zh-CN" dirty="0"/>
              <a:t>3.</a:t>
            </a:r>
            <a:r>
              <a:rPr lang="zh-CN" altLang="en-US" dirty="0"/>
              <a:t>社会主要矛盾变化是进入新时代的重要依据</a:t>
            </a:r>
            <a:endParaRPr lang="zh-CN" altLang="en-US" dirty="0"/>
          </a:p>
          <a:p>
            <a:r>
              <a:rPr lang="en-US" altLang="zh-CN" dirty="0"/>
              <a:t>4.</a:t>
            </a:r>
            <a:r>
              <a:rPr lang="zh-CN" altLang="en-US" dirty="0"/>
              <a:t>新时代的内涵和意义</a:t>
            </a:r>
            <a:endParaRPr lang="zh-CN" altLang="en-US" dirty="0"/>
          </a:p>
          <a:p>
            <a:r>
              <a:rPr lang="en-US" altLang="zh-CN" dirty="0"/>
              <a:t>5.“</a:t>
            </a:r>
            <a:r>
              <a:rPr lang="zh-CN" altLang="en-US" dirty="0"/>
              <a:t>两个结合</a:t>
            </a:r>
            <a:r>
              <a:rPr lang="zh-CN" altLang="en-US" dirty="0" smtClean="0"/>
              <a:t>”</a:t>
            </a:r>
            <a:endParaRPr lang="en-US" altLang="zh-CN" dirty="0" smtClean="0"/>
          </a:p>
          <a:p>
            <a:r>
              <a:rPr lang="zh-CN" altLang="en-US" dirty="0" smtClean="0"/>
              <a:t> </a:t>
            </a:r>
            <a:r>
              <a:rPr lang="en-US" altLang="zh-CN" dirty="0" smtClean="0"/>
              <a:t>6</a:t>
            </a:r>
            <a:r>
              <a:rPr lang="en-US" altLang="zh-CN" dirty="0"/>
              <a:t>.</a:t>
            </a:r>
            <a:r>
              <a:rPr lang="zh-CN" altLang="en-US" dirty="0"/>
              <a:t>习近平新时代中国特色社会主义思想回答了什么重大时代课题</a:t>
            </a:r>
            <a:endParaRPr lang="zh-CN" altLang="en-US" dirty="0"/>
          </a:p>
          <a:p>
            <a:r>
              <a:rPr lang="en-US" altLang="zh-CN" dirty="0"/>
              <a:t>7.</a:t>
            </a:r>
            <a:r>
              <a:rPr lang="zh-CN" altLang="en-US" dirty="0"/>
              <a:t>习近平新时代中国特色社会主义思想的主要内容</a:t>
            </a:r>
            <a:endParaRPr lang="zh-CN" altLang="en-US" dirty="0"/>
          </a:p>
          <a:p>
            <a:r>
              <a:rPr lang="en-US" altLang="zh-CN" dirty="0"/>
              <a:t>8.</a:t>
            </a:r>
            <a:r>
              <a:rPr lang="zh-CN" altLang="en-US" dirty="0"/>
              <a:t>习近平新时代中国特色社会主义思想的世界观和方法论（“六个必须坚持”</a:t>
            </a:r>
            <a:r>
              <a:rPr lang="zh-CN" altLang="en-US" dirty="0" smtClean="0"/>
              <a:t>）</a:t>
            </a:r>
            <a:endParaRPr lang="zh-CN" altLang="en-US" dirty="0"/>
          </a:p>
        </p:txBody>
      </p:sp>
      <p:sp>
        <p:nvSpPr>
          <p:cNvPr id="3" name="矩形 2"/>
          <p:cNvSpPr/>
          <p:nvPr/>
        </p:nvSpPr>
        <p:spPr>
          <a:xfrm>
            <a:off x="4699416" y="1889386"/>
            <a:ext cx="4444584" cy="1384995"/>
          </a:xfrm>
          <a:prstGeom prst="rect">
            <a:avLst/>
          </a:prstGeom>
        </p:spPr>
        <p:txBody>
          <a:bodyPr wrap="square">
            <a:spAutoFit/>
          </a:bodyPr>
          <a:lstStyle/>
          <a:p>
            <a:pPr>
              <a:lnSpc>
                <a:spcPct val="150000"/>
              </a:lnSpc>
            </a:pPr>
            <a:r>
              <a:rPr lang="zh-CN" altLang="en-US" sz="2000" dirty="0" smtClean="0"/>
              <a:t>二、难点：</a:t>
            </a:r>
            <a:endParaRPr lang="en-US" altLang="zh-CN" sz="2000" dirty="0" smtClean="0"/>
          </a:p>
          <a:p>
            <a:pPr>
              <a:lnSpc>
                <a:spcPct val="150000"/>
              </a:lnSpc>
            </a:pPr>
            <a:r>
              <a:rPr lang="en-US" altLang="zh-CN" dirty="0">
                <a:solidFill>
                  <a:srgbClr val="FF0000"/>
                </a:solidFill>
              </a:rPr>
              <a:t>1</a:t>
            </a:r>
            <a:r>
              <a:rPr lang="zh-CN" altLang="en-US" dirty="0">
                <a:solidFill>
                  <a:srgbClr val="FF0000"/>
                </a:solidFill>
              </a:rPr>
              <a:t>、如何正确认识改革开放前后两个历史时期的关系</a:t>
            </a:r>
            <a:r>
              <a:rPr lang="zh-CN" altLang="en-US" dirty="0" smtClean="0">
                <a:solidFill>
                  <a:srgbClr val="FF0000"/>
                </a:solidFill>
              </a:rPr>
              <a:t>？</a:t>
            </a:r>
            <a:endParaRPr lang="zh-CN" altLang="en-US" dirty="0">
              <a:solidFill>
                <a:srgbClr val="FF0000"/>
              </a:solidFill>
            </a:endParaRPr>
          </a:p>
        </p:txBody>
      </p:sp>
      <p:sp>
        <p:nvSpPr>
          <p:cNvPr id="5" name="矩形 4"/>
          <p:cNvSpPr/>
          <p:nvPr/>
        </p:nvSpPr>
        <p:spPr>
          <a:xfrm>
            <a:off x="4635708" y="1070355"/>
            <a:ext cx="4572000" cy="646331"/>
          </a:xfrm>
          <a:prstGeom prst="rect">
            <a:avLst/>
          </a:prstGeom>
        </p:spPr>
        <p:txBody>
          <a:bodyPr>
            <a:spAutoFit/>
          </a:bodyPr>
          <a:lstStyle/>
          <a:p>
            <a:r>
              <a:rPr lang="en-US" altLang="zh-CN" dirty="0" smtClean="0"/>
              <a:t>9.</a:t>
            </a:r>
            <a:r>
              <a:rPr lang="zh-CN" altLang="en-US" dirty="0"/>
              <a:t>习近平新时代中国特色社会主义思想的历史地位</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876425" y="164325"/>
            <a:ext cx="6278224" cy="527197"/>
          </a:xfrm>
        </p:spPr>
        <p:txBody>
          <a:bodyPr/>
          <a:lstStyle/>
          <a:p>
            <a:pPr algn="ctr"/>
            <a:r>
              <a:rPr lang="zh-CN" altLang="en-US" sz="2400" dirty="0"/>
              <a:t>第一讲马克思主义中国化时代化新的飞跃</a:t>
            </a:r>
            <a:endParaRPr lang="zh-CN" altLang="en-US" sz="2400" dirty="0"/>
          </a:p>
        </p:txBody>
      </p:sp>
      <p:sp>
        <p:nvSpPr>
          <p:cNvPr id="6" name="文本框 5"/>
          <p:cNvSpPr txBox="1"/>
          <p:nvPr/>
        </p:nvSpPr>
        <p:spPr>
          <a:xfrm>
            <a:off x="105515" y="1020408"/>
            <a:ext cx="3541820" cy="4124206"/>
          </a:xfrm>
          <a:prstGeom prst="rect">
            <a:avLst/>
          </a:prstGeom>
          <a:noFill/>
        </p:spPr>
        <p:txBody>
          <a:bodyPr wrap="square">
            <a:spAutoFit/>
          </a:bodyPr>
          <a:lstStyle/>
          <a:p>
            <a:r>
              <a:rPr lang="en-US" altLang="zh-CN" b="1" dirty="0" smtClean="0">
                <a:solidFill>
                  <a:srgbClr val="FF0000"/>
                </a:solidFill>
              </a:rPr>
              <a:t>1</a:t>
            </a:r>
            <a:r>
              <a:rPr lang="zh-CN" altLang="en-US" b="1" dirty="0">
                <a:solidFill>
                  <a:srgbClr val="FF0000"/>
                </a:solidFill>
              </a:rPr>
              <a:t>、习近平新时代中国特色社会主义思想创立的时代背景</a:t>
            </a:r>
            <a:endParaRPr lang="zh-CN" altLang="en-US" b="1" dirty="0">
              <a:solidFill>
                <a:srgbClr val="FF0000"/>
              </a:solidFill>
            </a:endParaRPr>
          </a:p>
          <a:p>
            <a:r>
              <a:rPr lang="zh-CN" altLang="en-US" dirty="0" smtClean="0"/>
              <a:t>（</a:t>
            </a:r>
            <a:r>
              <a:rPr lang="en-US" altLang="zh-CN" dirty="0" smtClean="0"/>
              <a:t>1</a:t>
            </a:r>
            <a:r>
              <a:rPr lang="zh-CN" altLang="en-US" dirty="0" smtClean="0"/>
              <a:t>）时代背景：两</a:t>
            </a:r>
            <a:r>
              <a:rPr lang="zh-CN" altLang="en-US" dirty="0"/>
              <a:t>个</a:t>
            </a:r>
            <a:r>
              <a:rPr lang="zh-CN" altLang="en-US" dirty="0" smtClean="0"/>
              <a:t>大局</a:t>
            </a:r>
            <a:endParaRPr lang="en-US" altLang="zh-CN" dirty="0" smtClean="0"/>
          </a:p>
          <a:p>
            <a:r>
              <a:rPr lang="zh-CN" altLang="en-US" sz="1400" dirty="0" smtClean="0"/>
              <a:t>（中华民族</a:t>
            </a:r>
            <a:r>
              <a:rPr lang="zh-CN" altLang="en-US" sz="1400" dirty="0"/>
              <a:t>伟大复兴的战略</a:t>
            </a:r>
            <a:r>
              <a:rPr lang="zh-CN" altLang="en-US" sz="1400" dirty="0" smtClean="0"/>
              <a:t>全局；世界</a:t>
            </a:r>
            <a:r>
              <a:rPr lang="zh-CN" altLang="en-US" sz="1400" dirty="0"/>
              <a:t>百年未有之大变</a:t>
            </a:r>
            <a:r>
              <a:rPr lang="zh-CN" altLang="en-US" sz="1400" dirty="0" smtClean="0"/>
              <a:t>局）</a:t>
            </a:r>
            <a:endParaRPr lang="en-US" altLang="zh-CN" sz="1400" dirty="0" smtClean="0"/>
          </a:p>
          <a:p>
            <a:r>
              <a:rPr lang="en-US" altLang="zh-CN" b="1" dirty="0" smtClean="0">
                <a:solidFill>
                  <a:srgbClr val="FF0000"/>
                </a:solidFill>
              </a:rPr>
              <a:t>2</a:t>
            </a:r>
            <a:r>
              <a:rPr lang="zh-CN" altLang="en-US" b="1" dirty="0">
                <a:solidFill>
                  <a:srgbClr val="FF0000"/>
                </a:solidFill>
              </a:rPr>
              <a:t>、世界正经历百年未有之大变</a:t>
            </a:r>
            <a:r>
              <a:rPr lang="zh-CN" altLang="en-US" b="1" dirty="0" smtClean="0">
                <a:solidFill>
                  <a:srgbClr val="FF0000"/>
                </a:solidFill>
              </a:rPr>
              <a:t>局</a:t>
            </a:r>
            <a:endParaRPr lang="en-US" altLang="zh-CN" b="1" dirty="0">
              <a:solidFill>
                <a:srgbClr val="FF0000"/>
              </a:solidFill>
            </a:endParaRPr>
          </a:p>
          <a:p>
            <a:r>
              <a:rPr lang="zh-CN" altLang="en-US" dirty="0"/>
              <a:t>表现</a:t>
            </a:r>
            <a:r>
              <a:rPr lang="zh-CN" altLang="en-US" dirty="0" smtClean="0"/>
              <a:t>：</a:t>
            </a:r>
            <a:endParaRPr lang="en-US" altLang="zh-CN" dirty="0" smtClean="0"/>
          </a:p>
          <a:p>
            <a:r>
              <a:rPr lang="zh-CN" altLang="en-US" dirty="0" smtClean="0"/>
              <a:t>（</a:t>
            </a:r>
            <a:r>
              <a:rPr lang="en-US" altLang="zh-CN" dirty="0" smtClean="0"/>
              <a:t>1</a:t>
            </a:r>
            <a:r>
              <a:rPr lang="zh-CN" altLang="en-US" dirty="0" smtClean="0"/>
              <a:t>）当前</a:t>
            </a:r>
            <a:r>
              <a:rPr lang="zh-CN" altLang="en-US" dirty="0"/>
              <a:t>国际格局和国际体系正在发生深刻调整</a:t>
            </a:r>
            <a:endParaRPr lang="zh-CN" altLang="en-US" dirty="0"/>
          </a:p>
          <a:p>
            <a:r>
              <a:rPr lang="zh-CN" altLang="en-US" dirty="0" smtClean="0"/>
              <a:t>（</a:t>
            </a:r>
            <a:r>
              <a:rPr lang="en-US" altLang="zh-CN" dirty="0" smtClean="0"/>
              <a:t>2</a:t>
            </a:r>
            <a:r>
              <a:rPr lang="zh-CN" altLang="en-US" dirty="0" smtClean="0"/>
              <a:t>）全球</a:t>
            </a:r>
            <a:r>
              <a:rPr lang="zh-CN" altLang="en-US" dirty="0"/>
              <a:t>治理体系正在发生深刻变革</a:t>
            </a:r>
            <a:endParaRPr lang="zh-CN" altLang="en-US" dirty="0"/>
          </a:p>
          <a:p>
            <a:r>
              <a:rPr lang="zh-CN" altLang="en-US" dirty="0" smtClean="0"/>
              <a:t>（</a:t>
            </a:r>
            <a:r>
              <a:rPr lang="en-US" altLang="zh-CN" dirty="0" smtClean="0"/>
              <a:t>3</a:t>
            </a:r>
            <a:r>
              <a:rPr lang="zh-CN" altLang="en-US" dirty="0" smtClean="0"/>
              <a:t>）国际</a:t>
            </a:r>
            <a:r>
              <a:rPr lang="zh-CN" altLang="en-US" dirty="0"/>
              <a:t>力量对比正在发生近代以来最具革命性的变化</a:t>
            </a:r>
            <a:endParaRPr lang="zh-CN" altLang="en-US" dirty="0"/>
          </a:p>
          <a:p>
            <a:r>
              <a:rPr lang="zh-CN" altLang="en-US" dirty="0" smtClean="0"/>
              <a:t>（</a:t>
            </a:r>
            <a:r>
              <a:rPr lang="en-US" altLang="zh-CN" dirty="0" smtClean="0"/>
              <a:t>4</a:t>
            </a:r>
            <a:r>
              <a:rPr lang="zh-CN" altLang="en-US" dirty="0" smtClean="0"/>
              <a:t>）世界</a:t>
            </a:r>
            <a:r>
              <a:rPr lang="zh-CN" altLang="en-US" dirty="0"/>
              <a:t>范围呈现出影响人类历史进程和趋向的重大</a:t>
            </a:r>
            <a:r>
              <a:rPr lang="zh-CN" altLang="en-US" dirty="0" smtClean="0"/>
              <a:t>态势</a:t>
            </a:r>
            <a:endParaRPr lang="zh-CN" altLang="en-US" dirty="0"/>
          </a:p>
        </p:txBody>
      </p:sp>
      <p:sp>
        <p:nvSpPr>
          <p:cNvPr id="9" name="文本框 8"/>
          <p:cNvSpPr txBox="1"/>
          <p:nvPr/>
        </p:nvSpPr>
        <p:spPr>
          <a:xfrm>
            <a:off x="3796166" y="921068"/>
            <a:ext cx="5272884" cy="4308872"/>
          </a:xfrm>
          <a:prstGeom prst="rect">
            <a:avLst/>
          </a:prstGeom>
          <a:noFill/>
        </p:spPr>
        <p:txBody>
          <a:bodyPr wrap="square">
            <a:spAutoFit/>
          </a:bodyPr>
          <a:lstStyle/>
          <a:p>
            <a:r>
              <a:rPr lang="en-US" altLang="zh-CN" b="1" dirty="0" smtClean="0">
                <a:solidFill>
                  <a:srgbClr val="FF0000"/>
                </a:solidFill>
              </a:rPr>
              <a:t>3</a:t>
            </a:r>
            <a:r>
              <a:rPr lang="zh-CN" altLang="en-US" b="1" dirty="0">
                <a:solidFill>
                  <a:srgbClr val="FF0000"/>
                </a:solidFill>
              </a:rPr>
              <a:t>、社会主要矛盾变化是进入新时代的重要</a:t>
            </a:r>
            <a:r>
              <a:rPr lang="zh-CN" altLang="en-US" b="1" dirty="0" smtClean="0">
                <a:solidFill>
                  <a:srgbClr val="FF0000"/>
                </a:solidFill>
              </a:rPr>
              <a:t>依据</a:t>
            </a:r>
            <a:endParaRPr lang="zh-CN" altLang="en-US" b="1" dirty="0">
              <a:solidFill>
                <a:srgbClr val="FF0000"/>
              </a:solidFill>
            </a:endParaRPr>
          </a:p>
          <a:p>
            <a:r>
              <a:rPr lang="zh-CN" altLang="en-US" dirty="0"/>
              <a:t>主要矛盾：人民日益增长的美好生活需要和不平衡不充分的发展之间的矛盾。</a:t>
            </a:r>
            <a:endParaRPr lang="en-US" altLang="zh-CN" dirty="0"/>
          </a:p>
          <a:p>
            <a:r>
              <a:rPr lang="en-US" altLang="zh-CN" b="1" dirty="0" smtClean="0">
                <a:solidFill>
                  <a:srgbClr val="FF0000"/>
                </a:solidFill>
              </a:rPr>
              <a:t>4.</a:t>
            </a:r>
            <a:r>
              <a:rPr lang="zh-CN" altLang="en-US" b="1" dirty="0" smtClean="0">
                <a:solidFill>
                  <a:srgbClr val="FF0000"/>
                </a:solidFill>
              </a:rPr>
              <a:t>历史方位：新时代（内涵和意义）</a:t>
            </a:r>
            <a:endParaRPr lang="en-US" altLang="zh-CN" b="1" dirty="0" smtClean="0">
              <a:solidFill>
                <a:srgbClr val="FF0000"/>
              </a:solidFill>
            </a:endParaRPr>
          </a:p>
          <a:p>
            <a:r>
              <a:rPr lang="zh-CN" altLang="en-US" b="1" dirty="0" smtClean="0">
                <a:solidFill>
                  <a:srgbClr val="FF0000"/>
                </a:solidFill>
              </a:rPr>
              <a:t>（</a:t>
            </a:r>
            <a:r>
              <a:rPr lang="en-US" altLang="zh-CN" b="1" dirty="0" smtClean="0">
                <a:solidFill>
                  <a:srgbClr val="FF0000"/>
                </a:solidFill>
              </a:rPr>
              <a:t>1</a:t>
            </a:r>
            <a:r>
              <a:rPr lang="zh-CN" altLang="en-US" b="1" dirty="0" smtClean="0">
                <a:solidFill>
                  <a:srgbClr val="FF0000"/>
                </a:solidFill>
              </a:rPr>
              <a:t>）</a:t>
            </a:r>
            <a:r>
              <a:rPr lang="zh-CN" altLang="en-US" b="1" dirty="0" smtClean="0"/>
              <a:t>新时代的内涵（“</a:t>
            </a:r>
            <a:r>
              <a:rPr lang="en-US" altLang="zh-CN" b="1" dirty="0" smtClean="0"/>
              <a:t>5</a:t>
            </a:r>
            <a:r>
              <a:rPr lang="zh-CN" altLang="en-US" b="1" dirty="0" smtClean="0"/>
              <a:t>个是”）</a:t>
            </a:r>
            <a:endParaRPr lang="en-US" altLang="zh-CN" b="1" dirty="0" smtClean="0"/>
          </a:p>
          <a:p>
            <a:r>
              <a:rPr lang="zh-CN" altLang="en-US" sz="1200" dirty="0" smtClean="0"/>
              <a:t>①是</a:t>
            </a:r>
            <a:r>
              <a:rPr lang="zh-CN" altLang="en-US" sz="1200" dirty="0"/>
              <a:t>承前启后、继往开来、在新的历史条件下继续夺取中国特色社会主义伟大胜利的时代</a:t>
            </a:r>
            <a:endParaRPr lang="zh-CN" altLang="en-US" sz="1200" dirty="0"/>
          </a:p>
          <a:p>
            <a:r>
              <a:rPr lang="zh-CN" altLang="en-US" sz="1200" dirty="0"/>
              <a:t>②是决胜全面建成小康社会、进而全面建设社会主义现代化强国的</a:t>
            </a:r>
            <a:r>
              <a:rPr lang="zh-CN" altLang="en-US" sz="1200" dirty="0" smtClean="0"/>
              <a:t>时代</a:t>
            </a:r>
            <a:endParaRPr lang="en-US" altLang="zh-CN" sz="1200" dirty="0"/>
          </a:p>
          <a:p>
            <a:r>
              <a:rPr lang="zh-CN" altLang="en-US" sz="1200" dirty="0"/>
              <a:t>③是全国各族人民团结奋斗、不断创造美好生活、逐步实现全体人民共同富裕的时代</a:t>
            </a:r>
            <a:endParaRPr lang="zh-CN" altLang="en-US" sz="1200" dirty="0"/>
          </a:p>
          <a:p>
            <a:r>
              <a:rPr lang="zh-CN" altLang="en-US" sz="1200" dirty="0"/>
              <a:t>④是全体中华儿女勠力同心、奋力实现中华民族伟大复兴中国梦的时代</a:t>
            </a:r>
            <a:endParaRPr lang="zh-CN" altLang="en-US" sz="1200" dirty="0"/>
          </a:p>
          <a:p>
            <a:r>
              <a:rPr lang="zh-CN" altLang="en-US" sz="1200" dirty="0"/>
              <a:t>⑤是我国不断为人类作出更大贡献的</a:t>
            </a:r>
            <a:r>
              <a:rPr lang="zh-CN" altLang="en-US" sz="1200" dirty="0" smtClean="0"/>
              <a:t>时代</a:t>
            </a:r>
            <a:endParaRPr lang="en-US" altLang="zh-CN" sz="1200" dirty="0" smtClean="0"/>
          </a:p>
          <a:p>
            <a:r>
              <a:rPr lang="zh-CN" altLang="en-US" sz="1600" b="1" dirty="0" smtClean="0"/>
              <a:t>（</a:t>
            </a:r>
            <a:r>
              <a:rPr lang="en-US" altLang="zh-CN" sz="1600" b="1" dirty="0" smtClean="0"/>
              <a:t>2</a:t>
            </a:r>
            <a:r>
              <a:rPr lang="zh-CN" altLang="en-US" sz="1600" b="1" dirty="0" smtClean="0"/>
              <a:t>）新时代的意义（“</a:t>
            </a:r>
            <a:r>
              <a:rPr lang="en-US" altLang="zh-CN" sz="1600" b="1" dirty="0" smtClean="0"/>
              <a:t>3</a:t>
            </a:r>
            <a:r>
              <a:rPr lang="zh-CN" altLang="en-US" sz="1600" b="1" dirty="0" smtClean="0"/>
              <a:t>个意味着”）</a:t>
            </a:r>
            <a:endParaRPr lang="en-US" altLang="zh-CN" sz="1600" b="1" dirty="0" smtClean="0"/>
          </a:p>
          <a:p>
            <a:pPr>
              <a:lnSpc>
                <a:spcPct val="150000"/>
              </a:lnSpc>
            </a:pPr>
            <a:r>
              <a:rPr lang="zh-CN" altLang="en-US" sz="1400" dirty="0"/>
              <a:t>①意味着中华民族迎来了从站起来、富起来到强起来的伟大飞跃</a:t>
            </a:r>
            <a:endParaRPr lang="zh-CN" altLang="en-US" sz="1400" dirty="0"/>
          </a:p>
          <a:p>
            <a:pPr>
              <a:lnSpc>
                <a:spcPct val="150000"/>
              </a:lnSpc>
            </a:pPr>
            <a:r>
              <a:rPr lang="zh-CN" altLang="en-US" sz="1400" dirty="0"/>
              <a:t>②</a:t>
            </a:r>
            <a:r>
              <a:rPr lang="zh-CN" altLang="en-US" sz="1400" dirty="0" smtClean="0"/>
              <a:t>意味着</a:t>
            </a:r>
            <a:r>
              <a:rPr lang="zh-CN" altLang="en-US" sz="1400" dirty="0"/>
              <a:t>科学社会主义在二十一世纪的中国焕发出强大生机活力</a:t>
            </a:r>
            <a:endParaRPr lang="zh-CN" altLang="en-US" sz="1400" dirty="0"/>
          </a:p>
          <a:p>
            <a:pPr>
              <a:lnSpc>
                <a:spcPct val="150000"/>
              </a:lnSpc>
            </a:pPr>
            <a:r>
              <a:rPr lang="zh-CN" altLang="en-US" sz="1400" dirty="0"/>
              <a:t>③</a:t>
            </a:r>
            <a:r>
              <a:rPr lang="zh-CN" altLang="en-US" sz="1400" dirty="0" smtClean="0"/>
              <a:t>意味着</a:t>
            </a:r>
            <a:r>
              <a:rPr lang="zh-CN" altLang="en-US" sz="1400" dirty="0"/>
              <a:t>拓展了发展中国家走向现代化的途径，为解决人类问题贡献了中国智慧和中国</a:t>
            </a:r>
            <a:r>
              <a:rPr lang="zh-CN" altLang="en-US" sz="1400" dirty="0" smtClean="0"/>
              <a:t>方案</a:t>
            </a:r>
            <a:endParaRPr lang="zh-CN" altLang="en-US" sz="1400" dirty="0"/>
          </a:p>
        </p:txBody>
      </p:sp>
      <p:sp>
        <p:nvSpPr>
          <p:cNvPr id="3" name="矩形 2"/>
          <p:cNvSpPr/>
          <p:nvPr/>
        </p:nvSpPr>
        <p:spPr>
          <a:xfrm>
            <a:off x="200015" y="517819"/>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876425" y="164325"/>
            <a:ext cx="6278224" cy="527197"/>
          </a:xfrm>
        </p:spPr>
        <p:txBody>
          <a:bodyPr/>
          <a:lstStyle/>
          <a:p>
            <a:pPr algn="ctr"/>
            <a:r>
              <a:rPr lang="zh-CN" altLang="en-US" sz="2400" dirty="0"/>
              <a:t>第一讲马克思主义中国化时代化新的飞跃</a:t>
            </a:r>
            <a:endParaRPr lang="zh-CN" altLang="en-US" sz="2400" dirty="0"/>
          </a:p>
        </p:txBody>
      </p:sp>
      <p:sp>
        <p:nvSpPr>
          <p:cNvPr id="6" name="文本框 5"/>
          <p:cNvSpPr txBox="1"/>
          <p:nvPr/>
        </p:nvSpPr>
        <p:spPr>
          <a:xfrm>
            <a:off x="105515" y="1020408"/>
            <a:ext cx="3541820" cy="4001095"/>
          </a:xfrm>
          <a:prstGeom prst="rect">
            <a:avLst/>
          </a:prstGeom>
          <a:noFill/>
        </p:spPr>
        <p:txBody>
          <a:bodyPr wrap="square">
            <a:spAutoFit/>
          </a:bodyPr>
          <a:lstStyle/>
          <a:p>
            <a:r>
              <a:rPr lang="en-US" altLang="zh-CN" b="1" dirty="0" smtClean="0">
                <a:solidFill>
                  <a:srgbClr val="FF0000"/>
                </a:solidFill>
              </a:rPr>
              <a:t>5</a:t>
            </a:r>
            <a:r>
              <a:rPr lang="zh-CN" altLang="en-US" b="1" dirty="0" smtClean="0">
                <a:solidFill>
                  <a:srgbClr val="FF0000"/>
                </a:solidFill>
              </a:rPr>
              <a:t>、习近平新时代中国特色社会主义思想的根本途径：</a:t>
            </a:r>
            <a:r>
              <a:rPr lang="en-US" altLang="zh-CN" b="1" dirty="0" smtClean="0">
                <a:solidFill>
                  <a:srgbClr val="FF0000"/>
                </a:solidFill>
              </a:rPr>
              <a:t>“</a:t>
            </a:r>
            <a:r>
              <a:rPr lang="zh-CN" altLang="en-US" b="1" dirty="0">
                <a:solidFill>
                  <a:srgbClr val="FF0000"/>
                </a:solidFill>
              </a:rPr>
              <a:t>两个结合”</a:t>
            </a:r>
            <a:endParaRPr lang="zh-CN" altLang="en-US" b="1" dirty="0">
              <a:solidFill>
                <a:srgbClr val="FF0000"/>
              </a:solidFill>
            </a:endParaRPr>
          </a:p>
          <a:p>
            <a:r>
              <a:rPr lang="zh-CN" altLang="en-US" dirty="0" smtClean="0"/>
              <a:t>（</a:t>
            </a:r>
            <a:r>
              <a:rPr lang="en-US" altLang="zh-CN" dirty="0" smtClean="0"/>
              <a:t>1</a:t>
            </a:r>
            <a:r>
              <a:rPr lang="zh-CN" altLang="en-US" dirty="0"/>
              <a:t>）坚持把马克思主义基本原理同中国具体实际相</a:t>
            </a:r>
            <a:r>
              <a:rPr lang="zh-CN" altLang="en-US" dirty="0" smtClean="0"/>
              <a:t>结合</a:t>
            </a:r>
            <a:r>
              <a:rPr lang="zh-CN" altLang="en-US" dirty="0"/>
              <a:t>，</a:t>
            </a:r>
            <a:r>
              <a:rPr lang="zh-CN" altLang="en-US" dirty="0" smtClean="0"/>
              <a:t>同</a:t>
            </a:r>
            <a:r>
              <a:rPr lang="zh-CN" altLang="en-US" dirty="0"/>
              <a:t>中华优秀传统文化相</a:t>
            </a:r>
            <a:r>
              <a:rPr lang="zh-CN" altLang="en-US" dirty="0" smtClean="0"/>
              <a:t>结合</a:t>
            </a:r>
            <a:endParaRPr lang="en-US" altLang="zh-CN" sz="1400" dirty="0" smtClean="0"/>
          </a:p>
          <a:p>
            <a:r>
              <a:rPr lang="en-US" altLang="zh-CN" b="1" dirty="0" smtClean="0">
                <a:solidFill>
                  <a:srgbClr val="FF0000"/>
                </a:solidFill>
              </a:rPr>
              <a:t>6</a:t>
            </a:r>
            <a:r>
              <a:rPr lang="zh-CN" altLang="en-US" b="1" dirty="0" smtClean="0">
                <a:solidFill>
                  <a:srgbClr val="FF0000"/>
                </a:solidFill>
              </a:rPr>
              <a:t>、</a:t>
            </a:r>
            <a:r>
              <a:rPr lang="zh-CN" altLang="en-US" b="1" dirty="0">
                <a:solidFill>
                  <a:srgbClr val="FF0000"/>
                </a:solidFill>
              </a:rPr>
              <a:t>习近平新时代中国特色社会主义思想回答了什么重大时代课题</a:t>
            </a:r>
            <a:endParaRPr lang="zh-CN" altLang="en-US" b="1" dirty="0">
              <a:solidFill>
                <a:srgbClr val="FF0000"/>
              </a:solidFill>
            </a:endParaRPr>
          </a:p>
          <a:p>
            <a:r>
              <a:rPr lang="zh-CN" altLang="en-US" sz="1600" dirty="0" smtClean="0"/>
              <a:t>（</a:t>
            </a:r>
            <a:r>
              <a:rPr lang="en-US" altLang="zh-CN" sz="1600" dirty="0" smtClean="0"/>
              <a:t>1</a:t>
            </a:r>
            <a:r>
              <a:rPr lang="zh-CN" altLang="en-US" sz="1600" dirty="0"/>
              <a:t>）新时代坚持和发展什么样的中国特色社会主义、怎样坚持和</a:t>
            </a:r>
            <a:r>
              <a:rPr lang="zh-CN" altLang="en-US" sz="1600" dirty="0" smtClean="0"/>
              <a:t>发展中国</a:t>
            </a:r>
            <a:r>
              <a:rPr lang="zh-CN" altLang="en-US" sz="1600" dirty="0"/>
              <a:t>特色社会主义</a:t>
            </a:r>
            <a:endParaRPr lang="zh-CN" altLang="en-US" sz="1600" dirty="0"/>
          </a:p>
          <a:p>
            <a:r>
              <a:rPr lang="zh-CN" altLang="en-US" sz="1600" dirty="0" smtClean="0"/>
              <a:t>（</a:t>
            </a:r>
            <a:r>
              <a:rPr lang="en-US" altLang="zh-CN" sz="1600" dirty="0" smtClean="0"/>
              <a:t>2</a:t>
            </a:r>
            <a:r>
              <a:rPr lang="zh-CN" altLang="en-US" sz="1600" dirty="0" smtClean="0"/>
              <a:t>）</a:t>
            </a:r>
            <a:r>
              <a:rPr lang="zh-CN" altLang="en-US" sz="1600" dirty="0"/>
              <a:t>建设什么样的社会主义现代化强国、怎样建设社会主义现代化强国</a:t>
            </a:r>
            <a:endParaRPr lang="zh-CN" altLang="en-US" sz="1600" dirty="0"/>
          </a:p>
          <a:p>
            <a:r>
              <a:rPr lang="zh-CN" altLang="en-US" sz="1600" dirty="0" smtClean="0"/>
              <a:t>（</a:t>
            </a:r>
            <a:r>
              <a:rPr lang="en-US" altLang="zh-CN" sz="1600" dirty="0" smtClean="0"/>
              <a:t>3</a:t>
            </a:r>
            <a:r>
              <a:rPr lang="zh-CN" altLang="en-US" sz="1600" dirty="0"/>
              <a:t>）建设什么样的长期执政的马克思主义政党、怎样建设长期执政</a:t>
            </a:r>
            <a:r>
              <a:rPr lang="zh-CN" altLang="en-US" sz="1600" dirty="0" smtClean="0"/>
              <a:t>的马克思主义</a:t>
            </a:r>
            <a:r>
              <a:rPr lang="zh-CN" altLang="en-US" sz="1600" dirty="0"/>
              <a:t>政党</a:t>
            </a:r>
            <a:endParaRPr lang="zh-CN" altLang="en-US" sz="1600" dirty="0"/>
          </a:p>
        </p:txBody>
      </p:sp>
      <p:sp>
        <p:nvSpPr>
          <p:cNvPr id="9" name="文本框 8"/>
          <p:cNvSpPr txBox="1"/>
          <p:nvPr/>
        </p:nvSpPr>
        <p:spPr>
          <a:xfrm>
            <a:off x="3796166" y="921068"/>
            <a:ext cx="5272884" cy="3462486"/>
          </a:xfrm>
          <a:prstGeom prst="rect">
            <a:avLst/>
          </a:prstGeom>
          <a:noFill/>
        </p:spPr>
        <p:txBody>
          <a:bodyPr wrap="square">
            <a:spAutoFit/>
          </a:bodyPr>
          <a:lstStyle/>
          <a:p>
            <a:r>
              <a:rPr lang="en-US" altLang="zh-CN" b="1" dirty="0" smtClean="0">
                <a:solidFill>
                  <a:srgbClr val="FF0000"/>
                </a:solidFill>
              </a:rPr>
              <a:t>7</a:t>
            </a:r>
            <a:r>
              <a:rPr lang="zh-CN" altLang="en-US" b="1" dirty="0" smtClean="0">
                <a:solidFill>
                  <a:srgbClr val="FF0000"/>
                </a:solidFill>
              </a:rPr>
              <a:t>、</a:t>
            </a:r>
            <a:r>
              <a:rPr lang="zh-CN" altLang="en-US" b="1" dirty="0">
                <a:solidFill>
                  <a:srgbClr val="FF0000"/>
                </a:solidFill>
              </a:rPr>
              <a:t>习近平新时代中国特色社会主义思想的主要</a:t>
            </a:r>
            <a:r>
              <a:rPr lang="zh-CN" altLang="en-US" b="1" dirty="0" smtClean="0">
                <a:solidFill>
                  <a:srgbClr val="FF0000"/>
                </a:solidFill>
              </a:rPr>
              <a:t>内容</a:t>
            </a:r>
            <a:endParaRPr lang="zh-CN" altLang="en-US" b="1" dirty="0">
              <a:solidFill>
                <a:srgbClr val="FF0000"/>
              </a:solidFill>
            </a:endParaRPr>
          </a:p>
          <a:p>
            <a:r>
              <a:rPr lang="zh-CN" altLang="en-US" dirty="0" smtClean="0"/>
              <a:t>主要</a:t>
            </a:r>
            <a:r>
              <a:rPr lang="zh-CN" altLang="en-US" dirty="0"/>
              <a:t>内容：“ 十 个 明 确 </a:t>
            </a:r>
            <a:r>
              <a:rPr lang="zh-CN" altLang="en-US" dirty="0" smtClean="0"/>
              <a:t>”、“十四个坚持”、“十三个方面的成就”</a:t>
            </a:r>
            <a:endParaRPr lang="zh-CN" altLang="en-US" dirty="0"/>
          </a:p>
          <a:p>
            <a:r>
              <a:rPr lang="en-US" altLang="zh-CN" b="1" dirty="0" smtClean="0">
                <a:solidFill>
                  <a:srgbClr val="FF0000"/>
                </a:solidFill>
              </a:rPr>
              <a:t>8.</a:t>
            </a:r>
            <a:r>
              <a:rPr lang="zh-CN" altLang="en-US" b="1" dirty="0">
                <a:solidFill>
                  <a:srgbClr val="FF0000"/>
                </a:solidFill>
              </a:rPr>
              <a:t>习近平新时代中国特色</a:t>
            </a:r>
            <a:r>
              <a:rPr lang="zh-CN" altLang="en-US" b="1" dirty="0" smtClean="0">
                <a:solidFill>
                  <a:srgbClr val="FF0000"/>
                </a:solidFill>
              </a:rPr>
              <a:t>社会主义思想</a:t>
            </a:r>
            <a:r>
              <a:rPr lang="zh-CN" altLang="en-US" b="1" dirty="0">
                <a:solidFill>
                  <a:srgbClr val="FF0000"/>
                </a:solidFill>
              </a:rPr>
              <a:t>的世界观和</a:t>
            </a:r>
            <a:r>
              <a:rPr lang="zh-CN" altLang="en-US" b="1" dirty="0" smtClean="0">
                <a:solidFill>
                  <a:srgbClr val="FF0000"/>
                </a:solidFill>
              </a:rPr>
              <a:t>方法论（“六个必须坚持”）</a:t>
            </a:r>
            <a:endParaRPr lang="zh-CN" altLang="en-US" b="1" dirty="0">
              <a:solidFill>
                <a:srgbClr val="FF0000"/>
              </a:solidFill>
            </a:endParaRPr>
          </a:p>
          <a:p>
            <a:r>
              <a:rPr lang="zh-CN" altLang="en-US" b="1" dirty="0" smtClean="0">
                <a:solidFill>
                  <a:srgbClr val="FF0000"/>
                </a:solidFill>
              </a:rPr>
              <a:t>（</a:t>
            </a:r>
            <a:r>
              <a:rPr lang="en-US" altLang="zh-CN" b="1" dirty="0" smtClean="0">
                <a:solidFill>
                  <a:srgbClr val="FF0000"/>
                </a:solidFill>
              </a:rPr>
              <a:t>1</a:t>
            </a:r>
            <a:r>
              <a:rPr lang="zh-CN" altLang="en-US" b="1" dirty="0" smtClean="0">
                <a:solidFill>
                  <a:srgbClr val="FF0000"/>
                </a:solidFill>
              </a:rPr>
              <a:t>）必须</a:t>
            </a:r>
            <a:r>
              <a:rPr lang="zh-CN" altLang="en-US" sz="1200" dirty="0" smtClean="0"/>
              <a:t>坚持</a:t>
            </a:r>
            <a:r>
              <a:rPr lang="zh-CN" altLang="en-US" sz="1200" dirty="0"/>
              <a:t>人民至上、坚持自信</a:t>
            </a:r>
            <a:r>
              <a:rPr lang="zh-CN" altLang="en-US" sz="1200" dirty="0" smtClean="0"/>
              <a:t>自立、坚持守正创新、坚持问题导向、坚持系统观念、坚持胸怀天下</a:t>
            </a:r>
            <a:endParaRPr lang="zh-CN" altLang="en-US" sz="1200" dirty="0"/>
          </a:p>
          <a:p>
            <a:r>
              <a:rPr lang="en-US" altLang="zh-CN" b="1" dirty="0">
                <a:solidFill>
                  <a:srgbClr val="FF0000"/>
                </a:solidFill>
              </a:rPr>
              <a:t>9.</a:t>
            </a:r>
            <a:r>
              <a:rPr lang="zh-CN" altLang="en-US" b="1" dirty="0">
                <a:solidFill>
                  <a:srgbClr val="FF0000"/>
                </a:solidFill>
              </a:rPr>
              <a:t>习近平新时代中国特色社会主义思想的历史地位</a:t>
            </a:r>
            <a:endParaRPr lang="zh-CN" altLang="en-US" b="1" dirty="0">
              <a:solidFill>
                <a:srgbClr val="FF0000"/>
              </a:solidFill>
            </a:endParaRPr>
          </a:p>
          <a:p>
            <a:pPr>
              <a:lnSpc>
                <a:spcPct val="150000"/>
              </a:lnSpc>
            </a:pPr>
            <a:r>
              <a:rPr lang="zh-CN" altLang="en-US" sz="1400" dirty="0"/>
              <a:t>①当代中国马克思主义、二十一世纪</a:t>
            </a:r>
            <a:r>
              <a:rPr lang="zh-CN" altLang="en-US" sz="1400" dirty="0" smtClean="0"/>
              <a:t>马克思主义</a:t>
            </a:r>
            <a:endParaRPr lang="en-US" altLang="zh-CN" sz="1400" dirty="0" smtClean="0"/>
          </a:p>
          <a:p>
            <a:pPr>
              <a:lnSpc>
                <a:spcPct val="150000"/>
              </a:lnSpc>
            </a:pPr>
            <a:r>
              <a:rPr lang="zh-CN" altLang="en-US" sz="1400" dirty="0"/>
              <a:t>②中华文化和中国精神的时代精华</a:t>
            </a:r>
            <a:endParaRPr lang="zh-CN" altLang="en-US" sz="1400" dirty="0"/>
          </a:p>
          <a:p>
            <a:pPr>
              <a:lnSpc>
                <a:spcPct val="150000"/>
              </a:lnSpc>
            </a:pPr>
            <a:r>
              <a:rPr lang="zh-CN" altLang="en-US" sz="1400" dirty="0"/>
              <a:t>③马克思主义中国化时代化新的飞跃</a:t>
            </a:r>
            <a:endParaRPr lang="zh-CN" altLang="en-US" sz="1400" dirty="0"/>
          </a:p>
        </p:txBody>
      </p:sp>
      <p:sp>
        <p:nvSpPr>
          <p:cNvPr id="3" name="矩形 2"/>
          <p:cNvSpPr/>
          <p:nvPr/>
        </p:nvSpPr>
        <p:spPr>
          <a:xfrm>
            <a:off x="200015" y="517819"/>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04800" y="164325"/>
            <a:ext cx="5507831" cy="599396"/>
          </a:xfrm>
        </p:spPr>
        <p:txBody>
          <a:bodyPr/>
          <a:lstStyle/>
          <a:p>
            <a:r>
              <a:rPr lang="zh-CN" altLang="en-US" sz="2800" dirty="0"/>
              <a:t>二、难点</a:t>
            </a:r>
            <a:r>
              <a:rPr lang="zh-CN" altLang="en-US" sz="2800" dirty="0" smtClean="0"/>
              <a:t>：</a:t>
            </a:r>
            <a:endParaRPr lang="zh-CN" altLang="en-US" sz="2800" dirty="0"/>
          </a:p>
        </p:txBody>
      </p:sp>
      <p:sp>
        <p:nvSpPr>
          <p:cNvPr id="3" name="矩形 2"/>
          <p:cNvSpPr/>
          <p:nvPr/>
        </p:nvSpPr>
        <p:spPr>
          <a:xfrm>
            <a:off x="224852" y="981706"/>
            <a:ext cx="8776741" cy="4115037"/>
          </a:xfrm>
          <a:prstGeom prst="rect">
            <a:avLst/>
          </a:prstGeom>
        </p:spPr>
        <p:txBody>
          <a:bodyPr wrap="square">
            <a:spAutoFit/>
          </a:bodyPr>
          <a:lstStyle/>
          <a:p>
            <a:pPr indent="457200">
              <a:lnSpc>
                <a:spcPct val="150000"/>
              </a:lnSpc>
            </a:pPr>
            <a:r>
              <a:rPr lang="en-US" altLang="zh-CN" b="1" dirty="0" smtClean="0">
                <a:solidFill>
                  <a:srgbClr val="FF0000"/>
                </a:solidFill>
              </a:rPr>
              <a:t>1</a:t>
            </a:r>
            <a:r>
              <a:rPr lang="zh-CN" altLang="en-US" b="1" dirty="0">
                <a:solidFill>
                  <a:srgbClr val="FF0000"/>
                </a:solidFill>
              </a:rPr>
              <a:t>、如何正确认识改革开放前后两个历史时期的关系</a:t>
            </a:r>
            <a:r>
              <a:rPr lang="zh-CN" altLang="en-US" b="1" dirty="0" smtClean="0">
                <a:solidFill>
                  <a:srgbClr val="FF0000"/>
                </a:solidFill>
              </a:rPr>
              <a:t>？</a:t>
            </a:r>
            <a:endParaRPr lang="en-US" altLang="zh-CN" b="1" dirty="0" smtClean="0">
              <a:solidFill>
                <a:srgbClr val="FF0000"/>
              </a:solidFill>
            </a:endParaRPr>
          </a:p>
          <a:p>
            <a:pPr indent="457200">
              <a:lnSpc>
                <a:spcPct val="150000"/>
              </a:lnSpc>
            </a:pPr>
            <a:r>
              <a:rPr lang="zh-CN" altLang="en-US" dirty="0"/>
              <a:t>这是两个相互联系又有重大区别的时期，但本质上都是我们党领导人民进行社会主义建设的实践探索</a:t>
            </a:r>
            <a:r>
              <a:rPr lang="zh-CN" altLang="en-US" dirty="0" smtClean="0"/>
              <a:t>。</a:t>
            </a:r>
            <a:endParaRPr lang="en-US" altLang="zh-CN" dirty="0" smtClean="0"/>
          </a:p>
          <a:p>
            <a:pPr indent="457200">
              <a:lnSpc>
                <a:spcPct val="150000"/>
              </a:lnSpc>
            </a:pPr>
            <a:r>
              <a:rPr lang="zh-CN" altLang="en-US" dirty="0"/>
              <a:t>如果没有</a:t>
            </a:r>
            <a:r>
              <a:rPr lang="en-US" altLang="zh-CN" dirty="0"/>
              <a:t>1949</a:t>
            </a:r>
            <a:r>
              <a:rPr lang="zh-CN" altLang="en-US" dirty="0"/>
              <a:t>年建立新中国并进行社会主义革命和建设，积累了重要的思想、物质、制度条件，积累了正反两方面经验，改革开放也很难顺利推进。</a:t>
            </a:r>
            <a:endParaRPr lang="zh-CN" altLang="en-US" dirty="0"/>
          </a:p>
          <a:p>
            <a:pPr indent="457200">
              <a:lnSpc>
                <a:spcPct val="150000"/>
              </a:lnSpc>
            </a:pPr>
            <a:r>
              <a:rPr lang="zh-CN" altLang="en-US" dirty="0"/>
              <a:t>虽然这两个历史时期在进行社会主义建设的思想指导、方针政策、实际工作上有很大差别，但两者决不是彼此割裂的，更不是根本对立的。</a:t>
            </a:r>
            <a:endParaRPr lang="zh-CN" altLang="en-US" dirty="0"/>
          </a:p>
          <a:p>
            <a:pPr indent="457200">
              <a:lnSpc>
                <a:spcPct val="150000"/>
              </a:lnSpc>
            </a:pPr>
            <a:r>
              <a:rPr lang="zh-CN" altLang="en-US" dirty="0"/>
              <a:t>不能用改革开放后的历史时期否定改革开放前的历史时期，也不能用改革开放前的历史时期否定改革开放后的历史时期。</a:t>
            </a:r>
            <a:endParaRPr lang="zh-CN" altLang="en-US" dirty="0"/>
          </a:p>
          <a:p>
            <a:pPr indent="457200">
              <a:lnSpc>
                <a:spcPct val="150000"/>
              </a:lnSpc>
            </a:pPr>
            <a:endParaRPr lang="zh-CN" altLang="en-US" sz="1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2132" y="164325"/>
            <a:ext cx="8124668" cy="1159549"/>
          </a:xfrm>
        </p:spPr>
        <p:txBody>
          <a:bodyPr/>
          <a:lstStyle/>
          <a:p>
            <a:pPr algn="ctr"/>
            <a:r>
              <a:rPr lang="zh-CN" altLang="en-US" sz="2800" dirty="0"/>
              <a:t>第二讲 坚持和发展中国特色社会主义的总任务</a:t>
            </a:r>
            <a:endParaRPr lang="zh-CN" altLang="en-US" sz="2800" dirty="0"/>
          </a:p>
        </p:txBody>
      </p:sp>
      <p:sp>
        <p:nvSpPr>
          <p:cNvPr id="4" name="TextBox 3"/>
          <p:cNvSpPr txBox="1"/>
          <p:nvPr/>
        </p:nvSpPr>
        <p:spPr>
          <a:xfrm>
            <a:off x="204376" y="744099"/>
            <a:ext cx="4367624" cy="2769989"/>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sz="1600" dirty="0">
                <a:solidFill>
                  <a:srgbClr val="FF0000"/>
                </a:solidFill>
              </a:rPr>
              <a:t>1.</a:t>
            </a:r>
            <a:r>
              <a:rPr lang="zh-CN" altLang="en-US" sz="1600" dirty="0">
                <a:solidFill>
                  <a:srgbClr val="FF0000"/>
                </a:solidFill>
              </a:rPr>
              <a:t>中国梦的科学内涵</a:t>
            </a:r>
            <a:endParaRPr lang="zh-CN" altLang="en-US" sz="1600" dirty="0">
              <a:solidFill>
                <a:srgbClr val="FF0000"/>
              </a:solidFill>
            </a:endParaRPr>
          </a:p>
          <a:p>
            <a:pPr>
              <a:lnSpc>
                <a:spcPct val="150000"/>
              </a:lnSpc>
            </a:pPr>
            <a:r>
              <a:rPr lang="en-US" altLang="zh-CN" sz="1600" dirty="0">
                <a:solidFill>
                  <a:srgbClr val="FF0000"/>
                </a:solidFill>
              </a:rPr>
              <a:t>2.</a:t>
            </a:r>
            <a:r>
              <a:rPr lang="zh-CN" altLang="en-US" sz="1600" dirty="0">
                <a:solidFill>
                  <a:srgbClr val="FF0000"/>
                </a:solidFill>
              </a:rPr>
              <a:t>实现中国梦的路径</a:t>
            </a:r>
            <a:endParaRPr lang="zh-CN" altLang="en-US" sz="1600" dirty="0">
              <a:solidFill>
                <a:srgbClr val="FF0000"/>
              </a:solidFill>
            </a:endParaRPr>
          </a:p>
          <a:p>
            <a:pPr>
              <a:lnSpc>
                <a:spcPct val="150000"/>
              </a:lnSpc>
            </a:pPr>
            <a:r>
              <a:rPr lang="en-US" altLang="zh-CN" sz="1600" dirty="0">
                <a:solidFill>
                  <a:srgbClr val="FF0000"/>
                </a:solidFill>
              </a:rPr>
              <a:t>3.</a:t>
            </a:r>
            <a:r>
              <a:rPr lang="zh-CN" altLang="en-US" sz="1600" dirty="0">
                <a:solidFill>
                  <a:srgbClr val="FF0000"/>
                </a:solidFill>
              </a:rPr>
              <a:t>实现社会主义现代化强国的时间表和路线图</a:t>
            </a:r>
            <a:endParaRPr lang="zh-CN" altLang="en-US" sz="1600" dirty="0">
              <a:solidFill>
                <a:srgbClr val="FF0000"/>
              </a:solidFill>
            </a:endParaRPr>
          </a:p>
          <a:p>
            <a:pPr>
              <a:lnSpc>
                <a:spcPct val="150000"/>
              </a:lnSpc>
            </a:pPr>
            <a:r>
              <a:rPr lang="en-US" altLang="zh-CN" sz="1600" dirty="0">
                <a:solidFill>
                  <a:srgbClr val="FF0000"/>
                </a:solidFill>
              </a:rPr>
              <a:t>4.</a:t>
            </a:r>
            <a:r>
              <a:rPr lang="zh-CN" altLang="en-US" sz="1600" dirty="0">
                <a:solidFill>
                  <a:srgbClr val="FF0000"/>
                </a:solidFill>
              </a:rPr>
              <a:t>实现中华民族伟大复兴是党百年奋斗的主题</a:t>
            </a:r>
            <a:endParaRPr lang="zh-CN" altLang="en-US" sz="1600" dirty="0">
              <a:solidFill>
                <a:srgbClr val="FF0000"/>
              </a:solidFill>
            </a:endParaRPr>
          </a:p>
          <a:p>
            <a:pPr>
              <a:lnSpc>
                <a:spcPct val="150000"/>
              </a:lnSpc>
            </a:pPr>
            <a:r>
              <a:rPr lang="en-US" altLang="zh-CN" sz="1600" dirty="0">
                <a:solidFill>
                  <a:srgbClr val="FF0000"/>
                </a:solidFill>
              </a:rPr>
              <a:t>5.</a:t>
            </a:r>
            <a:r>
              <a:rPr lang="zh-CN" altLang="en-US" sz="1600" dirty="0">
                <a:solidFill>
                  <a:srgbClr val="FF0000"/>
                </a:solidFill>
              </a:rPr>
              <a:t>建成社会主义现代化强国的战略安排</a:t>
            </a:r>
            <a:endParaRPr lang="zh-CN" altLang="en-US" sz="1600" dirty="0">
              <a:solidFill>
                <a:srgbClr val="FF0000"/>
              </a:solidFill>
            </a:endParaRPr>
          </a:p>
          <a:p>
            <a:pPr>
              <a:lnSpc>
                <a:spcPct val="150000"/>
              </a:lnSpc>
            </a:pPr>
            <a:r>
              <a:rPr lang="en-US" altLang="zh-CN" sz="1600" dirty="0">
                <a:solidFill>
                  <a:srgbClr val="FF0000"/>
                </a:solidFill>
              </a:rPr>
              <a:t>6.</a:t>
            </a:r>
            <a:r>
              <a:rPr lang="zh-CN" altLang="en-US" sz="1600" dirty="0">
                <a:solidFill>
                  <a:srgbClr val="FF0000"/>
                </a:solidFill>
              </a:rPr>
              <a:t>中国式现代化的重要特征</a:t>
            </a:r>
            <a:endParaRPr lang="zh-CN" altLang="en-US" sz="1600" dirty="0">
              <a:solidFill>
                <a:srgbClr val="FF0000"/>
              </a:solidFill>
            </a:endParaRPr>
          </a:p>
        </p:txBody>
      </p:sp>
      <p:sp>
        <p:nvSpPr>
          <p:cNvPr id="3" name="矩形 2"/>
          <p:cNvSpPr/>
          <p:nvPr/>
        </p:nvSpPr>
        <p:spPr>
          <a:xfrm>
            <a:off x="4572000" y="763721"/>
            <a:ext cx="4572000" cy="1477328"/>
          </a:xfrm>
          <a:prstGeom prst="rect">
            <a:avLst/>
          </a:prstGeom>
        </p:spPr>
        <p:txBody>
          <a:bodyPr>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a:solidFill>
                  <a:srgbClr val="FF0000"/>
                </a:solidFill>
              </a:rPr>
              <a:t>1</a:t>
            </a:r>
            <a:r>
              <a:rPr lang="en-US" altLang="zh-CN" sz="2000" dirty="0" smtClean="0">
                <a:solidFill>
                  <a:srgbClr val="FF0000"/>
                </a:solidFill>
              </a:rPr>
              <a:t>.</a:t>
            </a:r>
            <a:r>
              <a:rPr lang="zh-CN" altLang="en-US" sz="2000" dirty="0">
                <a:solidFill>
                  <a:srgbClr val="FF0000"/>
                </a:solidFill>
              </a:rPr>
              <a:t>如何理解中国特色社会主义是实现</a:t>
            </a:r>
            <a:r>
              <a:rPr lang="zh-CN" altLang="en-US" sz="2000" dirty="0" smtClean="0">
                <a:solidFill>
                  <a:srgbClr val="FF0000"/>
                </a:solidFill>
              </a:rPr>
              <a:t>中华民族伟大</a:t>
            </a:r>
            <a:r>
              <a:rPr lang="zh-CN" altLang="en-US" sz="2000" dirty="0">
                <a:solidFill>
                  <a:srgbClr val="FF0000"/>
                </a:solidFill>
              </a:rPr>
              <a:t>复兴的</a:t>
            </a:r>
            <a:r>
              <a:rPr lang="zh-CN" altLang="en-US" sz="2000" dirty="0" smtClean="0">
                <a:solidFill>
                  <a:srgbClr val="FF0000"/>
                </a:solidFill>
              </a:rPr>
              <a:t>必由之路？</a:t>
            </a:r>
            <a:endParaRPr lang="zh-CN" altLang="en-US"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71993" y="164325"/>
            <a:ext cx="7382656" cy="1007328"/>
          </a:xfrm>
        </p:spPr>
        <p:txBody>
          <a:bodyPr/>
          <a:lstStyle/>
          <a:p>
            <a:pPr algn="ctr"/>
            <a:r>
              <a:rPr lang="zh-CN" altLang="en-US" sz="2400" dirty="0"/>
              <a:t>第二讲 坚持和发展中国特色社会主义的总任务</a:t>
            </a:r>
            <a:endParaRPr lang="zh-CN" altLang="en-US" sz="2400" dirty="0"/>
          </a:p>
        </p:txBody>
      </p:sp>
      <p:sp>
        <p:nvSpPr>
          <p:cNvPr id="6" name="文本框 5"/>
          <p:cNvSpPr txBox="1"/>
          <p:nvPr/>
        </p:nvSpPr>
        <p:spPr>
          <a:xfrm>
            <a:off x="105515" y="926961"/>
            <a:ext cx="3541820" cy="4216539"/>
          </a:xfrm>
          <a:prstGeom prst="rect">
            <a:avLst/>
          </a:prstGeom>
          <a:noFill/>
        </p:spPr>
        <p:txBody>
          <a:bodyPr wrap="square">
            <a:spAutoFit/>
          </a:bodyPr>
          <a:lstStyle/>
          <a:p>
            <a:r>
              <a:rPr lang="en-US" altLang="zh-CN" b="1" dirty="0">
                <a:solidFill>
                  <a:srgbClr val="FF0000"/>
                </a:solidFill>
              </a:rPr>
              <a:t>1.</a:t>
            </a:r>
            <a:r>
              <a:rPr lang="zh-CN" altLang="en-US" b="1" dirty="0">
                <a:solidFill>
                  <a:srgbClr val="FF0000"/>
                </a:solidFill>
              </a:rPr>
              <a:t>中国梦的科学</a:t>
            </a:r>
            <a:r>
              <a:rPr lang="zh-CN" altLang="en-US" b="1" dirty="0" smtClean="0">
                <a:solidFill>
                  <a:srgbClr val="FF0000"/>
                </a:solidFill>
              </a:rPr>
              <a:t>内涵</a:t>
            </a:r>
            <a:endParaRPr lang="en-US" altLang="zh-CN" b="1" dirty="0" smtClean="0">
              <a:solidFill>
                <a:srgbClr val="FF0000"/>
              </a:solidFill>
            </a:endParaRPr>
          </a:p>
          <a:p>
            <a:r>
              <a:rPr lang="zh-CN" altLang="en-US" sz="1400" b="1" dirty="0" smtClean="0"/>
              <a:t>（</a:t>
            </a:r>
            <a:r>
              <a:rPr lang="en-US" altLang="zh-CN" sz="1400" b="1" dirty="0" smtClean="0"/>
              <a:t>1</a:t>
            </a:r>
            <a:r>
              <a:rPr lang="zh-CN" altLang="en-US" sz="1400" b="1" dirty="0" smtClean="0"/>
              <a:t>）中国梦即中华民族伟大复兴</a:t>
            </a:r>
            <a:endParaRPr lang="en-US" altLang="zh-CN" sz="1400" b="1" dirty="0" smtClean="0"/>
          </a:p>
          <a:p>
            <a:r>
              <a:rPr lang="zh-CN" altLang="en-US" sz="1400" b="1" dirty="0" smtClean="0"/>
              <a:t>（</a:t>
            </a:r>
            <a:r>
              <a:rPr lang="en-US" altLang="zh-CN" sz="1400" b="1" dirty="0" smtClean="0"/>
              <a:t>2</a:t>
            </a:r>
            <a:r>
              <a:rPr lang="zh-CN" altLang="en-US" sz="1400" b="1" dirty="0" smtClean="0"/>
              <a:t>）中国</a:t>
            </a:r>
            <a:r>
              <a:rPr lang="zh-CN" altLang="en-US" sz="1400" b="1" dirty="0"/>
              <a:t>梦的本质是国家富强、民族振兴、人民</a:t>
            </a:r>
            <a:r>
              <a:rPr lang="zh-CN" altLang="en-US" sz="1400" b="1" dirty="0" smtClean="0"/>
              <a:t>幸福</a:t>
            </a:r>
            <a:endParaRPr lang="zh-CN" altLang="en-US" b="1" dirty="0">
              <a:solidFill>
                <a:srgbClr val="FF0000"/>
              </a:solidFill>
            </a:endParaRPr>
          </a:p>
          <a:p>
            <a:r>
              <a:rPr lang="en-US" altLang="zh-CN" b="1" dirty="0">
                <a:solidFill>
                  <a:srgbClr val="FF0000"/>
                </a:solidFill>
              </a:rPr>
              <a:t>2.</a:t>
            </a:r>
            <a:r>
              <a:rPr lang="zh-CN" altLang="en-US" b="1" dirty="0">
                <a:solidFill>
                  <a:srgbClr val="FF0000"/>
                </a:solidFill>
              </a:rPr>
              <a:t>实现中国梦的</a:t>
            </a:r>
            <a:r>
              <a:rPr lang="zh-CN" altLang="en-US" b="1" dirty="0" smtClean="0">
                <a:solidFill>
                  <a:srgbClr val="FF0000"/>
                </a:solidFill>
              </a:rPr>
              <a:t>路径</a:t>
            </a:r>
            <a:endParaRPr lang="en-US" altLang="zh-CN" b="1" dirty="0" smtClean="0">
              <a:solidFill>
                <a:srgbClr val="FF0000"/>
              </a:solidFill>
            </a:endParaRPr>
          </a:p>
          <a:p>
            <a:r>
              <a:rPr lang="zh-CN" altLang="en-US" sz="1400" b="1" dirty="0" smtClean="0"/>
              <a:t>（</a:t>
            </a:r>
            <a:r>
              <a:rPr lang="en-US" altLang="zh-CN" sz="1400" b="1" dirty="0" smtClean="0"/>
              <a:t>1</a:t>
            </a:r>
            <a:r>
              <a:rPr lang="zh-CN" altLang="en-US" sz="1400" b="1" dirty="0" smtClean="0"/>
              <a:t>）实现</a:t>
            </a:r>
            <a:r>
              <a:rPr lang="zh-CN" altLang="en-US" sz="1400" b="1" dirty="0"/>
              <a:t>中国梦必须走中国道路</a:t>
            </a:r>
            <a:r>
              <a:rPr lang="en-US" altLang="zh-CN" sz="1400" b="1" dirty="0"/>
              <a:t>——</a:t>
            </a:r>
            <a:r>
              <a:rPr lang="zh-CN" altLang="en-US" sz="1400" b="1" dirty="0"/>
              <a:t>中国特色社会主义道路</a:t>
            </a:r>
            <a:endParaRPr lang="zh-CN" altLang="en-US" sz="1400" b="1" dirty="0"/>
          </a:p>
          <a:p>
            <a:r>
              <a:rPr lang="zh-CN" altLang="en-US" sz="1400" b="1" dirty="0" smtClean="0"/>
              <a:t>（</a:t>
            </a:r>
            <a:r>
              <a:rPr lang="en-US" altLang="zh-CN" sz="1400" b="1" dirty="0" smtClean="0"/>
              <a:t>2</a:t>
            </a:r>
            <a:r>
              <a:rPr lang="zh-CN" altLang="en-US" sz="1400" b="1" dirty="0"/>
              <a:t>）实现中国梦必须弘扬中国精神</a:t>
            </a:r>
            <a:r>
              <a:rPr lang="en-US" altLang="zh-CN" sz="1400" b="1" dirty="0"/>
              <a:t>——</a:t>
            </a:r>
            <a:r>
              <a:rPr lang="zh-CN" altLang="en-US" sz="1400" b="1" dirty="0"/>
              <a:t>以爱国主义为核心的民族精神和以改革创新为核心的时代精神</a:t>
            </a:r>
            <a:endParaRPr lang="zh-CN" altLang="en-US" sz="1400" b="1" dirty="0"/>
          </a:p>
          <a:p>
            <a:r>
              <a:rPr lang="zh-CN" altLang="en-US" sz="1400" b="1" dirty="0" smtClean="0"/>
              <a:t>（</a:t>
            </a:r>
            <a:r>
              <a:rPr lang="en-US" altLang="zh-CN" sz="1400" b="1" dirty="0" smtClean="0"/>
              <a:t>3</a:t>
            </a:r>
            <a:r>
              <a:rPr lang="zh-CN" altLang="en-US" sz="1400" b="1" dirty="0"/>
              <a:t>）实现中国梦必须凝聚中国力量</a:t>
            </a:r>
            <a:r>
              <a:rPr lang="en-US" altLang="zh-CN" sz="1400" b="1" dirty="0"/>
              <a:t>——</a:t>
            </a:r>
            <a:r>
              <a:rPr lang="zh-CN" altLang="en-US" sz="1400" b="1" dirty="0"/>
              <a:t>中国各族人民大团结的</a:t>
            </a:r>
            <a:r>
              <a:rPr lang="zh-CN" altLang="en-US" sz="1400" b="1" dirty="0" smtClean="0"/>
              <a:t>力量</a:t>
            </a:r>
            <a:endParaRPr lang="zh-CN" altLang="en-US" sz="1400" b="1" dirty="0"/>
          </a:p>
          <a:p>
            <a:r>
              <a:rPr lang="en-US" altLang="zh-CN" b="1" dirty="0">
                <a:solidFill>
                  <a:srgbClr val="FF0000"/>
                </a:solidFill>
              </a:rPr>
              <a:t>3.</a:t>
            </a:r>
            <a:r>
              <a:rPr lang="zh-CN" altLang="en-US" b="1" dirty="0">
                <a:solidFill>
                  <a:srgbClr val="FF0000"/>
                </a:solidFill>
              </a:rPr>
              <a:t>实现社会主义现代化强国的时间表和</a:t>
            </a:r>
            <a:r>
              <a:rPr lang="zh-CN" altLang="en-US" b="1" dirty="0" smtClean="0">
                <a:solidFill>
                  <a:srgbClr val="FF0000"/>
                </a:solidFill>
              </a:rPr>
              <a:t>路线图</a:t>
            </a:r>
            <a:endParaRPr lang="en-US" altLang="zh-CN" b="1" dirty="0" smtClean="0">
              <a:solidFill>
                <a:srgbClr val="FF0000"/>
              </a:solidFill>
            </a:endParaRPr>
          </a:p>
          <a:p>
            <a:r>
              <a:rPr lang="zh-CN" altLang="en-US" sz="1400" b="1" dirty="0" smtClean="0"/>
              <a:t>（</a:t>
            </a:r>
            <a:r>
              <a:rPr lang="en-US" altLang="zh-CN" sz="1400" b="1" dirty="0" smtClean="0"/>
              <a:t>1</a:t>
            </a:r>
            <a:r>
              <a:rPr lang="zh-CN" altLang="en-US" sz="1400" b="1" dirty="0" smtClean="0"/>
              <a:t>）第一步，</a:t>
            </a:r>
            <a:r>
              <a:rPr lang="en-US" altLang="zh-CN" sz="1400" b="1" dirty="0" smtClean="0"/>
              <a:t>2035</a:t>
            </a:r>
            <a:r>
              <a:rPr lang="zh-CN" altLang="en-US" sz="1400" b="1" dirty="0" smtClean="0"/>
              <a:t>年，基本实现社会主义</a:t>
            </a:r>
            <a:r>
              <a:rPr lang="zh-CN" altLang="en-US" sz="1400" b="1" dirty="0"/>
              <a:t>现代化</a:t>
            </a:r>
            <a:endParaRPr lang="zh-CN" altLang="en-US" sz="1400" b="1" dirty="0"/>
          </a:p>
          <a:p>
            <a:r>
              <a:rPr lang="zh-CN" altLang="en-US" sz="1400" b="1" dirty="0" smtClean="0"/>
              <a:t>（</a:t>
            </a:r>
            <a:r>
              <a:rPr lang="en-US" altLang="zh-CN" sz="1400" b="1" dirty="0" smtClean="0"/>
              <a:t>2</a:t>
            </a:r>
            <a:r>
              <a:rPr lang="zh-CN" altLang="en-US" sz="1400" b="1" dirty="0" smtClean="0"/>
              <a:t>）第二</a:t>
            </a:r>
            <a:r>
              <a:rPr lang="zh-CN" altLang="en-US" sz="1400" b="1" dirty="0"/>
              <a:t>步，本世纪中叶，建成富强民主文明和谐美丽的</a:t>
            </a:r>
            <a:r>
              <a:rPr lang="zh-CN" altLang="en-US" sz="1400" b="1" dirty="0" smtClean="0"/>
              <a:t>社会主义现代化强国</a:t>
            </a:r>
            <a:endParaRPr lang="zh-CN" altLang="en-US" sz="1400" b="1" dirty="0"/>
          </a:p>
        </p:txBody>
      </p:sp>
      <p:sp>
        <p:nvSpPr>
          <p:cNvPr id="9" name="文本框 8"/>
          <p:cNvSpPr txBox="1"/>
          <p:nvPr/>
        </p:nvSpPr>
        <p:spPr>
          <a:xfrm>
            <a:off x="3871116" y="667989"/>
            <a:ext cx="5272884" cy="4462760"/>
          </a:xfrm>
          <a:prstGeom prst="rect">
            <a:avLst/>
          </a:prstGeom>
          <a:noFill/>
        </p:spPr>
        <p:txBody>
          <a:bodyPr wrap="square">
            <a:spAutoFit/>
          </a:bodyPr>
          <a:lstStyle/>
          <a:p>
            <a:r>
              <a:rPr lang="en-US" altLang="zh-CN" b="1" dirty="0" smtClean="0">
                <a:solidFill>
                  <a:srgbClr val="FF0000"/>
                </a:solidFill>
              </a:rPr>
              <a:t>4</a:t>
            </a:r>
            <a:r>
              <a:rPr lang="zh-CN" altLang="en-US" b="1" dirty="0">
                <a:solidFill>
                  <a:srgbClr val="FF0000"/>
                </a:solidFill>
              </a:rPr>
              <a:t>、到</a:t>
            </a:r>
            <a:r>
              <a:rPr lang="en-US" altLang="zh-CN" b="1" dirty="0">
                <a:solidFill>
                  <a:srgbClr val="FF0000"/>
                </a:solidFill>
              </a:rPr>
              <a:t>2035</a:t>
            </a:r>
            <a:r>
              <a:rPr lang="zh-CN" altLang="en-US" b="1" dirty="0">
                <a:solidFill>
                  <a:srgbClr val="FF0000"/>
                </a:solidFill>
              </a:rPr>
              <a:t>年，我国基本实现社会主义现代化的远景目标是什么？</a:t>
            </a:r>
            <a:endParaRPr lang="en-US" altLang="zh-CN" b="1" dirty="0" smtClean="0">
              <a:solidFill>
                <a:srgbClr val="FF0000"/>
              </a:solidFill>
            </a:endParaRPr>
          </a:p>
          <a:p>
            <a:r>
              <a:rPr lang="zh-CN" altLang="en-US" sz="1000" b="1" dirty="0" smtClean="0"/>
              <a:t>    一</a:t>
            </a:r>
            <a:r>
              <a:rPr lang="zh-CN" altLang="en-US" sz="1000" b="1" dirty="0"/>
              <a:t>、我国经济实力、科技实力、综合国力将大幅跃升，经济总量和城乡居民人均收入将再迈上新的大台阶，关键核心技术实现重大突破，进入创新型国家前列。</a:t>
            </a:r>
            <a:endParaRPr lang="zh-CN" altLang="en-US" sz="1000" b="1" dirty="0"/>
          </a:p>
          <a:p>
            <a:r>
              <a:rPr lang="zh-CN" altLang="en-US" sz="1000" b="1" dirty="0"/>
              <a:t>    二、基本实现新型工业化、信息化、城镇化、农业现代化，建成现代化经济体系。</a:t>
            </a:r>
            <a:endParaRPr lang="zh-CN" altLang="en-US" sz="1000" b="1" dirty="0"/>
          </a:p>
          <a:p>
            <a:r>
              <a:rPr lang="zh-CN" altLang="en-US" sz="1000" b="1" dirty="0"/>
              <a:t>    三、基本实现国家治理体系和治理能力现代化，人民平等参与、平等发展权利得到充分保障，基本建成法治国家、法治政府、法治社会。</a:t>
            </a:r>
            <a:endParaRPr lang="zh-CN" altLang="en-US" sz="1000" b="1" dirty="0"/>
          </a:p>
          <a:p>
            <a:r>
              <a:rPr lang="zh-CN" altLang="en-US" sz="1000" b="1" dirty="0"/>
              <a:t>    四、建成文化强国、教育强国、人才强国、体育强国、健康中国，国民素质和社会文明程度达到新高度，国家文化软实力显著增强。</a:t>
            </a:r>
            <a:endParaRPr lang="zh-CN" altLang="en-US" sz="1000" b="1" dirty="0"/>
          </a:p>
          <a:p>
            <a:r>
              <a:rPr lang="zh-CN" altLang="en-US" sz="1000" b="1" dirty="0"/>
              <a:t>    五、广泛形成绿色生产生活方式，碳排放达峰后稳中有降，生态环境根本好转，美丽中国建设目标基本实现。</a:t>
            </a:r>
            <a:endParaRPr lang="zh-CN" altLang="en-US" sz="1000" b="1" dirty="0"/>
          </a:p>
          <a:p>
            <a:r>
              <a:rPr lang="zh-CN" altLang="en-US" sz="1000" b="1" dirty="0"/>
              <a:t>    六、形成对外开放新格局，参与国际经济合作和竞争新优势明显增强。</a:t>
            </a:r>
            <a:endParaRPr lang="zh-CN" altLang="en-US" sz="1000" b="1" dirty="0"/>
          </a:p>
          <a:p>
            <a:r>
              <a:rPr lang="zh-CN" altLang="en-US" sz="1000" b="1" dirty="0"/>
              <a:t>    七、人均国内生产总值达到中等发达国家水平，中等收入群体显著扩大，基本公共服务实现均等化，城乡区域发展差距和居民生活水平差距显著缩小。</a:t>
            </a:r>
            <a:endParaRPr lang="zh-CN" altLang="en-US" sz="1000" b="1" dirty="0"/>
          </a:p>
          <a:p>
            <a:r>
              <a:rPr lang="zh-CN" altLang="en-US" sz="1000" b="1" dirty="0"/>
              <a:t>    八、平安中国建设达到更高水平，基本实现国防和军队现代化。</a:t>
            </a:r>
            <a:endParaRPr lang="zh-CN" altLang="en-US" sz="1000" b="1" dirty="0"/>
          </a:p>
          <a:p>
            <a:r>
              <a:rPr lang="zh-CN" altLang="en-US" sz="1000" b="1" dirty="0"/>
              <a:t>    九、人民生活更加美好，人的全面发展、全体人民共同富裕取得更为明显的实质性进展</a:t>
            </a:r>
            <a:r>
              <a:rPr lang="zh-CN" altLang="en-US" sz="1000" b="1" dirty="0" smtClean="0"/>
              <a:t>。</a:t>
            </a:r>
            <a:endParaRPr lang="en-US" altLang="zh-CN" sz="1000" b="1" dirty="0" smtClean="0"/>
          </a:p>
          <a:p>
            <a:r>
              <a:rPr lang="en-US" altLang="zh-CN" b="1" dirty="0" smtClean="0">
                <a:solidFill>
                  <a:srgbClr val="FF0000"/>
                </a:solidFill>
              </a:rPr>
              <a:t>5.</a:t>
            </a:r>
            <a:r>
              <a:rPr lang="zh-CN" altLang="en-US" b="1" dirty="0">
                <a:solidFill>
                  <a:srgbClr val="FF0000"/>
                </a:solidFill>
              </a:rPr>
              <a:t>中国式现代化的重要</a:t>
            </a:r>
            <a:r>
              <a:rPr lang="zh-CN" altLang="en-US" b="1" dirty="0" smtClean="0">
                <a:solidFill>
                  <a:srgbClr val="FF0000"/>
                </a:solidFill>
              </a:rPr>
              <a:t>特征</a:t>
            </a:r>
            <a:endParaRPr lang="en-US" altLang="zh-CN" b="1" dirty="0" smtClean="0">
              <a:solidFill>
                <a:srgbClr val="FF0000"/>
              </a:solidFill>
            </a:endParaRPr>
          </a:p>
          <a:p>
            <a:r>
              <a:rPr lang="zh-CN" altLang="en-US" b="1" dirty="0" smtClean="0"/>
              <a:t>（</a:t>
            </a:r>
            <a:r>
              <a:rPr lang="en-US" altLang="zh-CN" b="1" dirty="0" smtClean="0"/>
              <a:t>1</a:t>
            </a:r>
            <a:r>
              <a:rPr lang="zh-CN" altLang="en-US" b="1" dirty="0"/>
              <a:t>）人口</a:t>
            </a:r>
            <a:r>
              <a:rPr lang="zh-CN" altLang="en-US" b="1" dirty="0" smtClean="0"/>
              <a:t>规模巨大</a:t>
            </a:r>
            <a:endParaRPr lang="en-US" altLang="zh-CN" b="1" dirty="0" smtClean="0"/>
          </a:p>
          <a:p>
            <a:r>
              <a:rPr lang="zh-CN" altLang="en-US" b="1" dirty="0" smtClean="0"/>
              <a:t>（</a:t>
            </a:r>
            <a:r>
              <a:rPr lang="en-US" altLang="zh-CN" b="1" dirty="0" smtClean="0"/>
              <a:t>2</a:t>
            </a:r>
            <a:r>
              <a:rPr lang="zh-CN" altLang="en-US" b="1" dirty="0"/>
              <a:t>）全体</a:t>
            </a:r>
            <a:r>
              <a:rPr lang="zh-CN" altLang="en-US" b="1" dirty="0" smtClean="0"/>
              <a:t>人民共同富裕</a:t>
            </a:r>
            <a:endParaRPr lang="en-US" altLang="zh-CN" b="1" dirty="0" smtClean="0"/>
          </a:p>
          <a:p>
            <a:r>
              <a:rPr lang="zh-CN" altLang="en-US" b="1" dirty="0" smtClean="0"/>
              <a:t>（</a:t>
            </a:r>
            <a:r>
              <a:rPr lang="en-US" altLang="zh-CN" b="1" dirty="0" smtClean="0"/>
              <a:t>3</a:t>
            </a:r>
            <a:r>
              <a:rPr lang="zh-CN" altLang="en-US" b="1" dirty="0"/>
              <a:t>）</a:t>
            </a:r>
            <a:r>
              <a:rPr lang="zh-CN" altLang="en-US" b="1" dirty="0" smtClean="0"/>
              <a:t>物质文明和</a:t>
            </a:r>
            <a:r>
              <a:rPr lang="zh-CN" altLang="en-US" b="1" dirty="0"/>
              <a:t>精神文明相</a:t>
            </a:r>
            <a:r>
              <a:rPr lang="zh-CN" altLang="en-US" b="1" dirty="0" smtClean="0"/>
              <a:t>协调</a:t>
            </a:r>
            <a:endParaRPr lang="en-US" altLang="zh-CN" b="1" dirty="0" smtClean="0"/>
          </a:p>
          <a:p>
            <a:r>
              <a:rPr lang="zh-CN" altLang="en-US" b="1" dirty="0" smtClean="0"/>
              <a:t>（</a:t>
            </a:r>
            <a:r>
              <a:rPr lang="en-US" altLang="zh-CN" b="1" dirty="0" smtClean="0"/>
              <a:t>4</a:t>
            </a:r>
            <a:r>
              <a:rPr lang="zh-CN" altLang="en-US" b="1" dirty="0"/>
              <a:t>）人与</a:t>
            </a:r>
            <a:r>
              <a:rPr lang="zh-CN" altLang="en-US" b="1" dirty="0" smtClean="0"/>
              <a:t>自然和谐共生</a:t>
            </a:r>
            <a:endParaRPr lang="en-US" altLang="zh-CN" b="1" dirty="0" smtClean="0"/>
          </a:p>
          <a:p>
            <a:r>
              <a:rPr lang="zh-CN" altLang="en-US" b="1" dirty="0" smtClean="0"/>
              <a:t>（</a:t>
            </a:r>
            <a:r>
              <a:rPr lang="en-US" altLang="zh-CN" b="1" dirty="0" smtClean="0"/>
              <a:t>5</a:t>
            </a:r>
            <a:r>
              <a:rPr lang="zh-CN" altLang="en-US" b="1" dirty="0"/>
              <a:t>）走</a:t>
            </a:r>
            <a:r>
              <a:rPr lang="zh-CN" altLang="en-US" b="1" dirty="0" smtClean="0"/>
              <a:t>和平发展道路</a:t>
            </a:r>
            <a:endParaRPr lang="zh-CN" altLang="en-US" b="1" dirty="0"/>
          </a:p>
        </p:txBody>
      </p:sp>
      <p:sp>
        <p:nvSpPr>
          <p:cNvPr id="3" name="矩形 2"/>
          <p:cNvSpPr/>
          <p:nvPr/>
        </p:nvSpPr>
        <p:spPr>
          <a:xfrm>
            <a:off x="200015" y="517819"/>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04800" y="164325"/>
            <a:ext cx="5507831" cy="1024833"/>
          </a:xfrm>
        </p:spPr>
        <p:txBody>
          <a:bodyPr/>
          <a:lstStyle/>
          <a:p>
            <a:r>
              <a:rPr lang="zh-CN" altLang="en-US" sz="2800" dirty="0"/>
              <a:t>二、难点：</a:t>
            </a:r>
            <a:endParaRPr lang="zh-CN" altLang="en-US" sz="2800" dirty="0"/>
          </a:p>
          <a:p>
            <a:endParaRPr lang="zh-CN" altLang="en-US" dirty="0"/>
          </a:p>
        </p:txBody>
      </p:sp>
      <p:sp>
        <p:nvSpPr>
          <p:cNvPr id="3" name="矩形 2"/>
          <p:cNvSpPr/>
          <p:nvPr/>
        </p:nvSpPr>
        <p:spPr>
          <a:xfrm>
            <a:off x="367258" y="831804"/>
            <a:ext cx="8776741" cy="499111"/>
          </a:xfrm>
          <a:prstGeom prst="rect">
            <a:avLst/>
          </a:prstGeom>
        </p:spPr>
        <p:txBody>
          <a:bodyPr wrap="square">
            <a:spAutoFit/>
          </a:bodyPr>
          <a:lstStyle/>
          <a:p>
            <a:pPr>
              <a:lnSpc>
                <a:spcPct val="150000"/>
              </a:lnSpc>
            </a:pPr>
            <a:r>
              <a:rPr lang="en-US" altLang="zh-CN" sz="2000" dirty="0">
                <a:solidFill>
                  <a:srgbClr val="FF0000"/>
                </a:solidFill>
              </a:rPr>
              <a:t>1</a:t>
            </a:r>
            <a:r>
              <a:rPr lang="en-US" altLang="zh-CN" sz="2000" dirty="0" smtClean="0">
                <a:solidFill>
                  <a:srgbClr val="FF0000"/>
                </a:solidFill>
              </a:rPr>
              <a:t>.</a:t>
            </a:r>
            <a:r>
              <a:rPr lang="zh-CN" altLang="en-US" sz="2000" dirty="0">
                <a:solidFill>
                  <a:srgbClr val="FF0000"/>
                </a:solidFill>
              </a:rPr>
              <a:t>如何理解中国特色社会主义是实现中华民族伟大复兴的必由之路？</a:t>
            </a:r>
            <a:endParaRPr lang="zh-CN" altLang="en-US" sz="2000" dirty="0">
              <a:solidFill>
                <a:srgbClr val="FF0000"/>
              </a:solidFill>
            </a:endParaRPr>
          </a:p>
        </p:txBody>
      </p:sp>
      <p:sp>
        <p:nvSpPr>
          <p:cNvPr id="5" name="矩形 4"/>
          <p:cNvSpPr/>
          <p:nvPr/>
        </p:nvSpPr>
        <p:spPr>
          <a:xfrm>
            <a:off x="367257" y="1330915"/>
            <a:ext cx="8461949" cy="2306955"/>
          </a:xfrm>
          <a:prstGeom prst="rect">
            <a:avLst/>
          </a:prstGeom>
        </p:spPr>
        <p:txBody>
          <a:bodyPr wrap="square">
            <a:spAutoFit/>
          </a:bodyPr>
          <a:lstStyle/>
          <a:p>
            <a:pPr>
              <a:lnSpc>
                <a:spcPct val="150000"/>
              </a:lnSpc>
            </a:pPr>
            <a:r>
              <a:rPr lang="zh-CN" altLang="en-US" sz="2400" dirty="0" smtClean="0"/>
              <a:t>（</a:t>
            </a:r>
            <a:r>
              <a:rPr lang="en-US" altLang="zh-CN" sz="2400" dirty="0" smtClean="0"/>
              <a:t>1</a:t>
            </a:r>
            <a:r>
              <a:rPr lang="zh-CN" altLang="en-US" sz="2400" dirty="0" smtClean="0"/>
              <a:t>）党</a:t>
            </a:r>
            <a:r>
              <a:rPr lang="zh-CN" altLang="en-US" sz="2400" dirty="0"/>
              <a:t>和人民长期奋斗取得的根本</a:t>
            </a:r>
            <a:r>
              <a:rPr lang="zh-CN" altLang="en-US" sz="2400" dirty="0" smtClean="0"/>
              <a:t>成就</a:t>
            </a:r>
            <a:endParaRPr lang="en-US" altLang="zh-CN" sz="2400" dirty="0" smtClean="0"/>
          </a:p>
          <a:p>
            <a:pPr>
              <a:lnSpc>
                <a:spcPct val="150000"/>
              </a:lnSpc>
            </a:pPr>
            <a:r>
              <a:rPr lang="zh-CN" altLang="en-US" sz="2400" dirty="0" smtClean="0"/>
              <a:t>（</a:t>
            </a:r>
            <a:r>
              <a:rPr lang="en-US" altLang="zh-CN" sz="2400" dirty="0" smtClean="0"/>
              <a:t>2</a:t>
            </a:r>
            <a:r>
              <a:rPr lang="zh-CN" altLang="en-US" sz="2400" dirty="0" smtClean="0"/>
              <a:t>）</a:t>
            </a:r>
            <a:r>
              <a:rPr lang="zh-CN" altLang="en-US" sz="2400" dirty="0">
                <a:effectLst/>
                <a:latin typeface="+mn-ea"/>
              </a:rPr>
              <a:t>中国特色社会主义是社会主义而不是其他什么主义</a:t>
            </a:r>
            <a:endParaRPr lang="zh-CN" altLang="en-US" sz="2400" dirty="0">
              <a:effectLst/>
              <a:latin typeface="+mn-ea"/>
            </a:endParaRPr>
          </a:p>
          <a:p>
            <a:pPr>
              <a:lnSpc>
                <a:spcPct val="150000"/>
              </a:lnSpc>
            </a:pPr>
            <a:r>
              <a:rPr lang="zh-CN" altLang="en-US" sz="2400" dirty="0" smtClean="0"/>
              <a:t>（</a:t>
            </a:r>
            <a:r>
              <a:rPr lang="en-US" altLang="zh-CN" sz="2400" dirty="0" smtClean="0"/>
              <a:t>3</a:t>
            </a:r>
            <a:r>
              <a:rPr lang="zh-CN" altLang="en-US" sz="2400" dirty="0"/>
              <a:t>）新时代坚持和发展中国特色社会主义要一以贯之 </a:t>
            </a:r>
            <a:endParaRPr lang="zh-CN" altLang="en-US" sz="2400" dirty="0"/>
          </a:p>
          <a:p>
            <a:pPr>
              <a:lnSpc>
                <a:spcPct val="150000"/>
              </a:lnSpc>
            </a:pPr>
            <a:r>
              <a:rPr lang="zh-CN" altLang="en-US" sz="2400" dirty="0" smtClean="0"/>
              <a:t>（</a:t>
            </a:r>
            <a:r>
              <a:rPr lang="en-US" altLang="zh-CN" sz="2400" dirty="0" smtClean="0"/>
              <a:t>4</a:t>
            </a:r>
            <a:r>
              <a:rPr lang="zh-CN" altLang="en-US" sz="2400" dirty="0"/>
              <a:t>）坚定中国特色社会主义</a:t>
            </a:r>
            <a:r>
              <a:rPr lang="zh-CN" altLang="en-US" sz="2400" dirty="0" smtClean="0"/>
              <a:t>“四个自信”</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2132" y="164325"/>
            <a:ext cx="8124668" cy="599396"/>
          </a:xfrm>
        </p:spPr>
        <p:txBody>
          <a:bodyPr/>
          <a:lstStyle/>
          <a:p>
            <a:pPr algn="ctr"/>
            <a:r>
              <a:rPr lang="zh-CN" altLang="en-US" sz="2800" dirty="0"/>
              <a:t>第三讲 坚持党的全面领导</a:t>
            </a:r>
            <a:endParaRPr lang="zh-CN" altLang="en-US" sz="2800" dirty="0"/>
          </a:p>
        </p:txBody>
      </p:sp>
      <p:sp>
        <p:nvSpPr>
          <p:cNvPr id="4" name="TextBox 3"/>
          <p:cNvSpPr txBox="1"/>
          <p:nvPr/>
        </p:nvSpPr>
        <p:spPr>
          <a:xfrm>
            <a:off x="204376" y="744099"/>
            <a:ext cx="4367624" cy="3139321"/>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sz="1600" dirty="0">
                <a:solidFill>
                  <a:srgbClr val="FF0000"/>
                </a:solidFill>
              </a:rPr>
              <a:t>1.</a:t>
            </a:r>
            <a:r>
              <a:rPr lang="zh-CN" altLang="en-US" sz="1600" dirty="0">
                <a:solidFill>
                  <a:srgbClr val="FF0000"/>
                </a:solidFill>
              </a:rPr>
              <a:t>党是最高政治领导力量</a:t>
            </a:r>
            <a:endParaRPr lang="zh-CN" altLang="en-US" sz="1600" dirty="0">
              <a:solidFill>
                <a:srgbClr val="FF0000"/>
              </a:solidFill>
            </a:endParaRPr>
          </a:p>
          <a:p>
            <a:pPr>
              <a:lnSpc>
                <a:spcPct val="150000"/>
              </a:lnSpc>
            </a:pPr>
            <a:r>
              <a:rPr lang="en-US" altLang="zh-CN" sz="1600" dirty="0">
                <a:solidFill>
                  <a:srgbClr val="FF0000"/>
                </a:solidFill>
              </a:rPr>
              <a:t>2.</a:t>
            </a:r>
            <a:r>
              <a:rPr lang="zh-CN" altLang="en-US" sz="1600" dirty="0">
                <a:solidFill>
                  <a:srgbClr val="FF0000"/>
                </a:solidFill>
              </a:rPr>
              <a:t>中国特色社会主义最本质的特征</a:t>
            </a:r>
            <a:endParaRPr lang="zh-CN" altLang="en-US" sz="1600" dirty="0">
              <a:solidFill>
                <a:srgbClr val="FF0000"/>
              </a:solidFill>
            </a:endParaRPr>
          </a:p>
          <a:p>
            <a:pPr>
              <a:lnSpc>
                <a:spcPct val="150000"/>
              </a:lnSpc>
            </a:pPr>
            <a:r>
              <a:rPr lang="en-US" altLang="zh-CN" sz="1600" dirty="0">
                <a:solidFill>
                  <a:srgbClr val="FF0000"/>
                </a:solidFill>
              </a:rPr>
              <a:t>3.</a:t>
            </a:r>
            <a:r>
              <a:rPr lang="zh-CN" altLang="en-US" sz="1600" dirty="0">
                <a:solidFill>
                  <a:srgbClr val="FF0000"/>
                </a:solidFill>
              </a:rPr>
              <a:t>中国共产党领导是中国特色社会主义制度的最大</a:t>
            </a:r>
            <a:r>
              <a:rPr lang="zh-CN" altLang="en-US" sz="1600" dirty="0" smtClean="0">
                <a:solidFill>
                  <a:srgbClr val="FF0000"/>
                </a:solidFill>
              </a:rPr>
              <a:t>优势</a:t>
            </a:r>
            <a:endParaRPr lang="en-US" altLang="zh-CN" sz="1600" dirty="0" smtClean="0">
              <a:solidFill>
                <a:srgbClr val="FF0000"/>
              </a:solidFill>
            </a:endParaRPr>
          </a:p>
          <a:p>
            <a:pPr>
              <a:lnSpc>
                <a:spcPct val="150000"/>
              </a:lnSpc>
            </a:pPr>
            <a:r>
              <a:rPr lang="en-US" altLang="zh-CN" sz="1600" dirty="0" smtClean="0">
                <a:solidFill>
                  <a:srgbClr val="FF0000"/>
                </a:solidFill>
              </a:rPr>
              <a:t>4.</a:t>
            </a:r>
            <a:r>
              <a:rPr lang="zh-CN" altLang="en-US" sz="1600" dirty="0">
                <a:solidFill>
                  <a:srgbClr val="FF0000"/>
                </a:solidFill>
              </a:rPr>
              <a:t>党的领导是全面的、系统的、</a:t>
            </a:r>
            <a:r>
              <a:rPr lang="zh-CN" altLang="en-US" sz="1600" dirty="0" smtClean="0">
                <a:solidFill>
                  <a:srgbClr val="FF0000"/>
                </a:solidFill>
              </a:rPr>
              <a:t>整体的</a:t>
            </a:r>
            <a:endParaRPr lang="zh-CN" altLang="en-US" sz="1600" dirty="0">
              <a:solidFill>
                <a:srgbClr val="FF0000"/>
              </a:solidFill>
            </a:endParaRPr>
          </a:p>
          <a:p>
            <a:pPr>
              <a:lnSpc>
                <a:spcPct val="150000"/>
              </a:lnSpc>
            </a:pPr>
            <a:r>
              <a:rPr lang="en-US" altLang="zh-CN" sz="1600" dirty="0" smtClean="0">
                <a:solidFill>
                  <a:srgbClr val="FF0000"/>
                </a:solidFill>
              </a:rPr>
              <a:t>5.“</a:t>
            </a:r>
            <a:r>
              <a:rPr lang="zh-CN" altLang="en-US" sz="1600" dirty="0">
                <a:solidFill>
                  <a:srgbClr val="FF0000"/>
                </a:solidFill>
              </a:rPr>
              <a:t>四个意识</a:t>
            </a:r>
            <a:r>
              <a:rPr lang="zh-CN" altLang="en-US" sz="1600" dirty="0" smtClean="0">
                <a:solidFill>
                  <a:srgbClr val="FF0000"/>
                </a:solidFill>
              </a:rPr>
              <a:t>”</a:t>
            </a:r>
            <a:endParaRPr lang="en-US" altLang="zh-CN" sz="1600" dirty="0" smtClean="0">
              <a:solidFill>
                <a:srgbClr val="FF0000"/>
              </a:solidFill>
            </a:endParaRPr>
          </a:p>
          <a:p>
            <a:pPr>
              <a:lnSpc>
                <a:spcPct val="150000"/>
              </a:lnSpc>
            </a:pPr>
            <a:r>
              <a:rPr lang="en-US" altLang="zh-CN" sz="1600" dirty="0" smtClean="0">
                <a:solidFill>
                  <a:srgbClr val="FF0000"/>
                </a:solidFill>
              </a:rPr>
              <a:t>6.</a:t>
            </a:r>
            <a:r>
              <a:rPr lang="zh-CN" altLang="en-US" sz="1600" dirty="0" smtClean="0">
                <a:solidFill>
                  <a:srgbClr val="FF0000"/>
                </a:solidFill>
              </a:rPr>
              <a:t>“两个维护”</a:t>
            </a:r>
            <a:endParaRPr lang="zh-CN" altLang="en-US" sz="1600" dirty="0">
              <a:solidFill>
                <a:srgbClr val="FF0000"/>
              </a:solidFill>
            </a:endParaRPr>
          </a:p>
        </p:txBody>
      </p:sp>
      <p:sp>
        <p:nvSpPr>
          <p:cNvPr id="3" name="矩形 2"/>
          <p:cNvSpPr/>
          <p:nvPr/>
        </p:nvSpPr>
        <p:spPr>
          <a:xfrm>
            <a:off x="4572000" y="763721"/>
            <a:ext cx="4572000" cy="1477328"/>
          </a:xfrm>
          <a:prstGeom prst="rect">
            <a:avLst/>
          </a:prstGeom>
        </p:spPr>
        <p:txBody>
          <a:bodyPr>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a:solidFill>
                  <a:srgbClr val="FF0000"/>
                </a:solidFill>
              </a:rPr>
              <a:t>1</a:t>
            </a:r>
            <a:r>
              <a:rPr lang="en-US" altLang="zh-CN" sz="2000" dirty="0" smtClean="0">
                <a:solidFill>
                  <a:srgbClr val="FF0000"/>
                </a:solidFill>
              </a:rPr>
              <a:t>.</a:t>
            </a:r>
            <a:r>
              <a:rPr lang="zh-CN" altLang="en-US" sz="2000" dirty="0">
                <a:solidFill>
                  <a:srgbClr val="FF0000"/>
                </a:solidFill>
              </a:rPr>
              <a:t>维护党中央权威和集中统一领导同坚持民主集中制是否矛盾</a:t>
            </a:r>
            <a:r>
              <a:rPr lang="en-US" altLang="zh-CN" sz="2000" dirty="0">
                <a:solidFill>
                  <a:srgbClr val="FF0000"/>
                </a:solidFill>
              </a:rPr>
              <a:t>?</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244185" y="164325"/>
            <a:ext cx="6140072" cy="599396"/>
          </a:xfrm>
        </p:spPr>
        <p:txBody>
          <a:bodyPr/>
          <a:lstStyle/>
          <a:p>
            <a:pPr algn="ctr"/>
            <a:r>
              <a:rPr lang="zh-CN" altLang="en-US" sz="2800" dirty="0"/>
              <a:t>第三讲 坚持党的全面领导</a:t>
            </a:r>
            <a:endParaRPr lang="zh-CN" altLang="en-US" sz="2800" dirty="0"/>
          </a:p>
        </p:txBody>
      </p:sp>
      <p:sp>
        <p:nvSpPr>
          <p:cNvPr id="4" name="TextBox 3"/>
          <p:cNvSpPr txBox="1"/>
          <p:nvPr/>
        </p:nvSpPr>
        <p:spPr>
          <a:xfrm>
            <a:off x="136921" y="526852"/>
            <a:ext cx="4367624" cy="4678204"/>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sz="1600" dirty="0">
                <a:solidFill>
                  <a:srgbClr val="FF0000"/>
                </a:solidFill>
              </a:rPr>
              <a:t>1.</a:t>
            </a:r>
            <a:r>
              <a:rPr lang="zh-CN" altLang="en-US" sz="1600" dirty="0">
                <a:solidFill>
                  <a:srgbClr val="FF0000"/>
                </a:solidFill>
              </a:rPr>
              <a:t>党是最高政治领导</a:t>
            </a:r>
            <a:r>
              <a:rPr lang="zh-CN" altLang="en-US" sz="1600" dirty="0" smtClean="0">
                <a:solidFill>
                  <a:srgbClr val="FF0000"/>
                </a:solidFill>
              </a:rPr>
              <a:t>力量</a:t>
            </a:r>
            <a:endParaRPr lang="en-US" altLang="zh-CN" sz="1600" dirty="0" smtClean="0">
              <a:solidFill>
                <a:srgbClr val="FF0000"/>
              </a:solidFill>
            </a:endParaRPr>
          </a:p>
          <a:p>
            <a:r>
              <a:rPr lang="zh-CN" altLang="en-US" sz="1400" dirty="0" smtClean="0"/>
              <a:t>（</a:t>
            </a:r>
            <a:r>
              <a:rPr lang="en-US" altLang="zh-CN" sz="1400" dirty="0" smtClean="0"/>
              <a:t>1</a:t>
            </a:r>
            <a:r>
              <a:rPr lang="zh-CN" altLang="en-US" sz="1400" dirty="0"/>
              <a:t>）引领政治方向</a:t>
            </a:r>
            <a:endParaRPr lang="zh-CN" altLang="en-US" sz="1400" dirty="0"/>
          </a:p>
          <a:p>
            <a:r>
              <a:rPr lang="zh-CN" altLang="en-US" sz="1400" dirty="0" smtClean="0"/>
              <a:t>（</a:t>
            </a:r>
            <a:r>
              <a:rPr lang="en-US" altLang="zh-CN" sz="1400" dirty="0" smtClean="0"/>
              <a:t>2</a:t>
            </a:r>
            <a:r>
              <a:rPr lang="zh-CN" altLang="en-US" sz="1400" dirty="0"/>
              <a:t>）统领政治体系</a:t>
            </a:r>
            <a:endParaRPr lang="zh-CN" altLang="en-US" sz="1400" dirty="0"/>
          </a:p>
          <a:p>
            <a:r>
              <a:rPr lang="zh-CN" altLang="en-US" sz="1400" dirty="0" smtClean="0"/>
              <a:t>（</a:t>
            </a:r>
            <a:r>
              <a:rPr lang="en-US" altLang="zh-CN" sz="1400" dirty="0" smtClean="0"/>
              <a:t>3</a:t>
            </a:r>
            <a:r>
              <a:rPr lang="zh-CN" altLang="en-US" sz="1400" dirty="0"/>
              <a:t>）决断重大事项</a:t>
            </a:r>
            <a:endParaRPr lang="zh-CN" altLang="en-US" sz="1400" dirty="0"/>
          </a:p>
          <a:p>
            <a:r>
              <a:rPr lang="zh-CN" altLang="en-US" sz="1400" dirty="0" smtClean="0"/>
              <a:t>（</a:t>
            </a:r>
            <a:r>
              <a:rPr lang="en-US" altLang="zh-CN" sz="1400" dirty="0" smtClean="0"/>
              <a:t>4</a:t>
            </a:r>
            <a:r>
              <a:rPr lang="zh-CN" altLang="en-US" sz="1400" dirty="0"/>
              <a:t>）领导社会</a:t>
            </a:r>
            <a:r>
              <a:rPr lang="zh-CN" altLang="en-US" sz="1400" dirty="0" smtClean="0"/>
              <a:t>治理</a:t>
            </a:r>
            <a:endParaRPr lang="zh-CN" altLang="en-US" sz="1400" dirty="0"/>
          </a:p>
          <a:p>
            <a:pPr>
              <a:lnSpc>
                <a:spcPct val="150000"/>
              </a:lnSpc>
            </a:pPr>
            <a:r>
              <a:rPr lang="en-US" altLang="zh-CN" sz="1600" dirty="0">
                <a:solidFill>
                  <a:srgbClr val="FF0000"/>
                </a:solidFill>
              </a:rPr>
              <a:t>2.</a:t>
            </a:r>
            <a:r>
              <a:rPr lang="zh-CN" altLang="en-US" sz="1600" dirty="0">
                <a:solidFill>
                  <a:srgbClr val="FF0000"/>
                </a:solidFill>
              </a:rPr>
              <a:t>中国特色社会主义最本质的</a:t>
            </a:r>
            <a:r>
              <a:rPr lang="zh-CN" altLang="en-US" sz="1600" dirty="0" smtClean="0">
                <a:solidFill>
                  <a:srgbClr val="FF0000"/>
                </a:solidFill>
              </a:rPr>
              <a:t>特征：坚持中国共产党的领导</a:t>
            </a:r>
            <a:endParaRPr lang="en-US" altLang="zh-CN" sz="1600" dirty="0" smtClean="0">
              <a:solidFill>
                <a:srgbClr val="FF0000"/>
              </a:solidFill>
            </a:endParaRPr>
          </a:p>
          <a:p>
            <a:r>
              <a:rPr lang="zh-CN" altLang="en-US" sz="1400" dirty="0"/>
              <a:t>中国共产党领导是中国特色社会主义最本质的特征，要置于科学社会主义基本原理中去认识，要置于国际共产主义运动历史经验教训中去分析，要置于中国共产党领导中国社会发展中去把握</a:t>
            </a:r>
            <a:r>
              <a:rPr lang="zh-CN" altLang="en-US" sz="1400" dirty="0" smtClean="0"/>
              <a:t>。</a:t>
            </a:r>
            <a:endParaRPr lang="en-US" altLang="zh-CN" sz="1400" dirty="0" smtClean="0"/>
          </a:p>
          <a:p>
            <a:r>
              <a:rPr lang="zh-CN" altLang="en-US" sz="1400" dirty="0" smtClean="0"/>
              <a:t>（</a:t>
            </a:r>
            <a:r>
              <a:rPr lang="en-US" altLang="zh-CN" sz="1400" dirty="0" smtClean="0"/>
              <a:t>1</a:t>
            </a:r>
            <a:r>
              <a:rPr lang="zh-CN" altLang="en-US" sz="1400" dirty="0"/>
              <a:t>）中国共产党领导是由科学社会主义的理论逻辑决定的</a:t>
            </a:r>
            <a:endParaRPr lang="zh-CN" altLang="en-US" sz="1400" dirty="0"/>
          </a:p>
          <a:p>
            <a:r>
              <a:rPr lang="zh-CN" altLang="en-US" sz="1400" dirty="0" smtClean="0"/>
              <a:t>（</a:t>
            </a:r>
            <a:r>
              <a:rPr lang="en-US" altLang="zh-CN" sz="1400" dirty="0" smtClean="0"/>
              <a:t>2</a:t>
            </a:r>
            <a:r>
              <a:rPr lang="zh-CN" altLang="en-US" sz="1400" dirty="0"/>
              <a:t>）中国共产党领导是由中国特色社会主义产生与发展的历史逻辑决定</a:t>
            </a:r>
            <a:r>
              <a:rPr lang="zh-CN" altLang="en-US" sz="1400" dirty="0" smtClean="0"/>
              <a:t>的</a:t>
            </a:r>
            <a:endParaRPr lang="en-US" altLang="zh-CN" sz="1400" dirty="0" smtClean="0"/>
          </a:p>
          <a:p>
            <a:r>
              <a:rPr lang="zh-CN" altLang="en-US" sz="1400" dirty="0" smtClean="0"/>
              <a:t>（</a:t>
            </a:r>
            <a:r>
              <a:rPr lang="en-US" altLang="zh-CN" sz="1400" dirty="0" smtClean="0"/>
              <a:t>3</a:t>
            </a:r>
            <a:r>
              <a:rPr lang="zh-CN" altLang="en-US" sz="1400" dirty="0"/>
              <a:t>）中国共产党领导是由中国特色社会主义迈向新征程的实践逻辑决定</a:t>
            </a:r>
            <a:r>
              <a:rPr lang="zh-CN" altLang="en-US" sz="1400" dirty="0" smtClean="0"/>
              <a:t>的</a:t>
            </a:r>
            <a:endParaRPr lang="zh-CN" altLang="en-US" sz="1400" dirty="0"/>
          </a:p>
        </p:txBody>
      </p:sp>
      <p:sp>
        <p:nvSpPr>
          <p:cNvPr id="3" name="矩形 2"/>
          <p:cNvSpPr/>
          <p:nvPr/>
        </p:nvSpPr>
        <p:spPr>
          <a:xfrm>
            <a:off x="4572000" y="681275"/>
            <a:ext cx="4572000" cy="4524315"/>
          </a:xfrm>
          <a:prstGeom prst="rect">
            <a:avLst/>
          </a:prstGeom>
        </p:spPr>
        <p:txBody>
          <a:bodyPr>
            <a:spAutoFit/>
          </a:bodyPr>
          <a:lstStyle/>
          <a:p>
            <a:pPr>
              <a:lnSpc>
                <a:spcPct val="150000"/>
              </a:lnSpc>
            </a:pPr>
            <a:r>
              <a:rPr lang="en-US" altLang="zh-CN" sz="1600" dirty="0">
                <a:solidFill>
                  <a:srgbClr val="FF0000"/>
                </a:solidFill>
              </a:rPr>
              <a:t>3.</a:t>
            </a:r>
            <a:r>
              <a:rPr lang="zh-CN" altLang="en-US" sz="1600" dirty="0">
                <a:solidFill>
                  <a:srgbClr val="FF0000"/>
                </a:solidFill>
              </a:rPr>
              <a:t>中国共产党领导是中国特色社会主义制度的最大优势</a:t>
            </a:r>
            <a:endParaRPr lang="en-US" altLang="zh-CN" sz="1600" dirty="0">
              <a:solidFill>
                <a:srgbClr val="FF0000"/>
              </a:solidFill>
            </a:endParaRPr>
          </a:p>
          <a:p>
            <a:r>
              <a:rPr lang="zh-CN" altLang="en-US" sz="1400" dirty="0" smtClean="0"/>
              <a:t>（</a:t>
            </a:r>
            <a:r>
              <a:rPr lang="en-US" altLang="zh-CN" sz="1400" dirty="0" smtClean="0"/>
              <a:t>1</a:t>
            </a:r>
            <a:r>
              <a:rPr lang="zh-CN" altLang="en-US" sz="1400" dirty="0"/>
              <a:t>）中国共产党领导是由中国特色社会主义迈向新征程的实践逻辑决定的</a:t>
            </a:r>
            <a:endParaRPr lang="zh-CN" altLang="en-US" sz="1400" dirty="0"/>
          </a:p>
          <a:p>
            <a:r>
              <a:rPr lang="zh-CN" altLang="en-US" sz="1400" dirty="0" smtClean="0"/>
              <a:t>（</a:t>
            </a:r>
            <a:r>
              <a:rPr lang="en-US" altLang="zh-CN" sz="1400" dirty="0" smtClean="0"/>
              <a:t>2</a:t>
            </a:r>
            <a:r>
              <a:rPr lang="zh-CN" altLang="en-US" sz="1400" dirty="0"/>
              <a:t>）中国共产党领导是充分发挥中国特色社会主义制度优势的根本保障</a:t>
            </a:r>
            <a:endParaRPr lang="zh-CN" altLang="en-US" sz="1400" dirty="0"/>
          </a:p>
          <a:p>
            <a:r>
              <a:rPr lang="zh-CN" altLang="en-US" sz="1400" dirty="0" smtClean="0"/>
              <a:t>（</a:t>
            </a:r>
            <a:r>
              <a:rPr lang="en-US" altLang="zh-CN" sz="1400" dirty="0" smtClean="0"/>
              <a:t>3</a:t>
            </a:r>
            <a:r>
              <a:rPr lang="zh-CN" altLang="en-US" sz="1400" dirty="0"/>
              <a:t>）中国共产党的自身优势是中国特色社会主义制度优势的主要</a:t>
            </a:r>
            <a:r>
              <a:rPr lang="zh-CN" altLang="en-US" sz="1400" dirty="0" smtClean="0"/>
              <a:t>来源</a:t>
            </a:r>
            <a:endParaRPr lang="en-US" altLang="zh-CN" sz="1400" dirty="0" smtClean="0"/>
          </a:p>
          <a:p>
            <a:r>
              <a:rPr lang="en-US" altLang="zh-CN" sz="1600" dirty="0">
                <a:solidFill>
                  <a:srgbClr val="FF0000"/>
                </a:solidFill>
              </a:rPr>
              <a:t>4.</a:t>
            </a:r>
            <a:r>
              <a:rPr lang="zh-CN" altLang="en-US" sz="1600" dirty="0">
                <a:solidFill>
                  <a:srgbClr val="FF0000"/>
                </a:solidFill>
              </a:rPr>
              <a:t>党的领导是全面的、系统的、</a:t>
            </a:r>
            <a:r>
              <a:rPr lang="zh-CN" altLang="en-US" sz="1600" dirty="0" smtClean="0">
                <a:solidFill>
                  <a:srgbClr val="FF0000"/>
                </a:solidFill>
              </a:rPr>
              <a:t>整体的</a:t>
            </a:r>
            <a:endParaRPr lang="en-US" altLang="zh-CN" sz="1600" dirty="0" smtClean="0">
              <a:solidFill>
                <a:srgbClr val="FF0000"/>
              </a:solidFill>
            </a:endParaRPr>
          </a:p>
          <a:p>
            <a:r>
              <a:rPr lang="zh-CN" altLang="en-US" sz="1400" dirty="0" smtClean="0"/>
              <a:t>（</a:t>
            </a:r>
            <a:r>
              <a:rPr lang="en-US" altLang="zh-CN" sz="1400" dirty="0" smtClean="0"/>
              <a:t>1</a:t>
            </a:r>
            <a:r>
              <a:rPr lang="zh-CN" altLang="en-US" sz="1400" dirty="0"/>
              <a:t>）全面的：领导对象要全面</a:t>
            </a:r>
            <a:r>
              <a:rPr lang="zh-CN" altLang="en-US" sz="1400" dirty="0" smtClean="0"/>
              <a:t>覆盖；领导</a:t>
            </a:r>
            <a:r>
              <a:rPr lang="zh-CN" altLang="en-US" sz="1400" dirty="0"/>
              <a:t>内容要全面；领导过程要全面；领导方法要全面</a:t>
            </a:r>
            <a:endParaRPr lang="zh-CN" altLang="en-US" sz="1400" dirty="0"/>
          </a:p>
          <a:p>
            <a:r>
              <a:rPr lang="zh-CN" altLang="en-US" sz="1400" dirty="0"/>
              <a:t>（</a:t>
            </a:r>
            <a:r>
              <a:rPr lang="en-US" altLang="zh-CN" sz="1400" dirty="0"/>
              <a:t>2</a:t>
            </a:r>
            <a:r>
              <a:rPr lang="zh-CN" altLang="en-US" sz="1400" dirty="0"/>
              <a:t>）系统的：建立不忘初心、牢记使命的</a:t>
            </a:r>
            <a:r>
              <a:rPr lang="zh-CN" altLang="en-US" sz="1400" dirty="0" smtClean="0"/>
              <a:t>制度；完善</a:t>
            </a:r>
            <a:r>
              <a:rPr lang="zh-CN" altLang="en-US" sz="1400" dirty="0"/>
              <a:t>坚定维护党中央权威和集中统一领导的各项</a:t>
            </a:r>
            <a:r>
              <a:rPr lang="zh-CN" altLang="en-US" sz="1400" dirty="0" smtClean="0"/>
              <a:t>制度；健全</a:t>
            </a:r>
            <a:r>
              <a:rPr lang="zh-CN" altLang="en-US" sz="1400" dirty="0"/>
              <a:t>党的全面领导</a:t>
            </a:r>
            <a:r>
              <a:rPr lang="zh-CN" altLang="en-US" sz="1400" dirty="0" smtClean="0"/>
              <a:t>制度；健全</a:t>
            </a:r>
            <a:r>
              <a:rPr lang="zh-CN" altLang="en-US" sz="1400" dirty="0"/>
              <a:t>为人民执政、靠人民执政各项</a:t>
            </a:r>
            <a:r>
              <a:rPr lang="zh-CN" altLang="en-US" sz="1400" dirty="0" smtClean="0"/>
              <a:t>制度；健全</a:t>
            </a:r>
            <a:r>
              <a:rPr lang="zh-CN" altLang="en-US" sz="1400" dirty="0"/>
              <a:t>提高党的执政能力和领导水平</a:t>
            </a:r>
            <a:r>
              <a:rPr lang="zh-CN" altLang="en-US" sz="1400" dirty="0" smtClean="0"/>
              <a:t>制度；完善</a:t>
            </a:r>
            <a:r>
              <a:rPr lang="zh-CN" altLang="en-US" sz="1400" dirty="0"/>
              <a:t>全面从严治党制度</a:t>
            </a:r>
            <a:endParaRPr lang="zh-CN" altLang="en-US" sz="1400" dirty="0"/>
          </a:p>
          <a:p>
            <a:r>
              <a:rPr lang="zh-CN" altLang="en-US" sz="1400" dirty="0" smtClean="0"/>
              <a:t>（</a:t>
            </a:r>
            <a:r>
              <a:rPr lang="en-US" altLang="zh-CN" sz="1400" dirty="0" smtClean="0"/>
              <a:t>3</a:t>
            </a:r>
            <a:r>
              <a:rPr lang="zh-CN" altLang="en-US" sz="1400" dirty="0"/>
              <a:t>）整体的：从党的中央组织到地方组织再到基层组织，都要按照党章的规定发挥应有作用，党的领导作用要体现到治国理政的全过程，领导功能的发挥要完整。 </a:t>
            </a:r>
            <a:endParaRPr lang="zh-CN" altLang="en-US" sz="1400"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244185" y="164325"/>
            <a:ext cx="6140072" cy="599396"/>
          </a:xfrm>
        </p:spPr>
        <p:txBody>
          <a:bodyPr/>
          <a:lstStyle/>
          <a:p>
            <a:pPr algn="ctr"/>
            <a:r>
              <a:rPr lang="zh-CN" altLang="en-US" sz="2800" dirty="0"/>
              <a:t>第三讲 坚持党的全面领导</a:t>
            </a:r>
            <a:endParaRPr lang="zh-CN" altLang="en-US" sz="2800" dirty="0"/>
          </a:p>
        </p:txBody>
      </p:sp>
      <p:sp>
        <p:nvSpPr>
          <p:cNvPr id="4" name="TextBox 3"/>
          <p:cNvSpPr txBox="1"/>
          <p:nvPr/>
        </p:nvSpPr>
        <p:spPr>
          <a:xfrm>
            <a:off x="181892" y="924091"/>
            <a:ext cx="4367624" cy="2769989"/>
          </a:xfrm>
          <a:prstGeom prst="rect">
            <a:avLst/>
          </a:prstGeom>
          <a:noFill/>
        </p:spPr>
        <p:txBody>
          <a:bodyPr wrap="square" rtlCol="0">
            <a:spAutoFit/>
          </a:bodyPr>
          <a:lstStyle/>
          <a:p>
            <a:pPr>
              <a:lnSpc>
                <a:spcPct val="150000"/>
              </a:lnSpc>
            </a:pPr>
            <a:r>
              <a:rPr lang="zh-CN" altLang="en-US" sz="2000" dirty="0" smtClean="0"/>
              <a:t>一、重点：</a:t>
            </a:r>
            <a:endParaRPr lang="zh-CN" altLang="en-US" sz="1600" dirty="0">
              <a:solidFill>
                <a:srgbClr val="FF0000"/>
              </a:solidFill>
            </a:endParaRPr>
          </a:p>
          <a:p>
            <a:pPr>
              <a:lnSpc>
                <a:spcPct val="150000"/>
              </a:lnSpc>
            </a:pPr>
            <a:r>
              <a:rPr lang="en-US" altLang="zh-CN" sz="1600" dirty="0">
                <a:solidFill>
                  <a:srgbClr val="FF0000"/>
                </a:solidFill>
              </a:rPr>
              <a:t>5.“</a:t>
            </a:r>
            <a:r>
              <a:rPr lang="zh-CN" altLang="en-US" sz="1600" dirty="0">
                <a:solidFill>
                  <a:srgbClr val="FF0000"/>
                </a:solidFill>
              </a:rPr>
              <a:t>四个意识”</a:t>
            </a:r>
            <a:endParaRPr lang="zh-CN" altLang="en-US" sz="1600" dirty="0">
              <a:solidFill>
                <a:srgbClr val="FF0000"/>
              </a:solidFill>
            </a:endParaRPr>
          </a:p>
          <a:p>
            <a:pPr>
              <a:lnSpc>
                <a:spcPct val="150000"/>
              </a:lnSpc>
            </a:pPr>
            <a:r>
              <a:rPr lang="zh-CN" altLang="en-US" sz="1600" dirty="0">
                <a:solidFill>
                  <a:srgbClr val="FF0000"/>
                </a:solidFill>
              </a:rPr>
              <a:t>政治意识、大局意识、核心意识、看齐意识</a:t>
            </a:r>
            <a:endParaRPr lang="zh-CN" altLang="en-US" sz="1600" dirty="0">
              <a:solidFill>
                <a:srgbClr val="FF0000"/>
              </a:solidFill>
            </a:endParaRPr>
          </a:p>
          <a:p>
            <a:pPr>
              <a:lnSpc>
                <a:spcPct val="150000"/>
              </a:lnSpc>
            </a:pPr>
            <a:r>
              <a:rPr lang="en-US" altLang="zh-CN" sz="1600" dirty="0">
                <a:solidFill>
                  <a:srgbClr val="FF0000"/>
                </a:solidFill>
              </a:rPr>
              <a:t>6</a:t>
            </a:r>
            <a:r>
              <a:rPr lang="zh-CN" altLang="en-US" sz="1600" dirty="0">
                <a:solidFill>
                  <a:srgbClr val="FF0000"/>
                </a:solidFill>
              </a:rPr>
              <a:t>、“两个维护”</a:t>
            </a:r>
            <a:endParaRPr lang="zh-CN" altLang="en-US" sz="1600" dirty="0">
              <a:solidFill>
                <a:srgbClr val="FF0000"/>
              </a:solidFill>
            </a:endParaRPr>
          </a:p>
          <a:p>
            <a:pPr>
              <a:lnSpc>
                <a:spcPct val="150000"/>
              </a:lnSpc>
            </a:pPr>
            <a:r>
              <a:rPr lang="zh-CN" altLang="en-US" sz="1600" dirty="0">
                <a:solidFill>
                  <a:srgbClr val="FF0000"/>
                </a:solidFill>
              </a:rPr>
              <a:t>（</a:t>
            </a:r>
            <a:r>
              <a:rPr lang="en-US" altLang="zh-CN" sz="1600" dirty="0">
                <a:solidFill>
                  <a:srgbClr val="FF0000"/>
                </a:solidFill>
              </a:rPr>
              <a:t>1</a:t>
            </a:r>
            <a:r>
              <a:rPr lang="zh-CN" altLang="en-US" sz="1600" dirty="0">
                <a:solidFill>
                  <a:srgbClr val="FF0000"/>
                </a:solidFill>
              </a:rPr>
              <a:t>）坚决维护习近平总书记党中央的核心、全党的核心地位，</a:t>
            </a:r>
            <a:endParaRPr lang="zh-CN" altLang="en-US" sz="1600" dirty="0">
              <a:solidFill>
                <a:srgbClr val="FF0000"/>
              </a:solidFill>
            </a:endParaRPr>
          </a:p>
          <a:p>
            <a:pPr>
              <a:lnSpc>
                <a:spcPct val="150000"/>
              </a:lnSpc>
            </a:pPr>
            <a:r>
              <a:rPr lang="zh-CN" altLang="en-US" sz="1600" dirty="0">
                <a:solidFill>
                  <a:srgbClr val="FF0000"/>
                </a:solidFill>
              </a:rPr>
              <a:t>（</a:t>
            </a:r>
            <a:r>
              <a:rPr lang="en-US" altLang="zh-CN" sz="1600" dirty="0">
                <a:solidFill>
                  <a:srgbClr val="FF0000"/>
                </a:solidFill>
              </a:rPr>
              <a:t>2</a:t>
            </a:r>
            <a:r>
              <a:rPr lang="zh-CN" altLang="en-US" sz="1600" dirty="0">
                <a:solidFill>
                  <a:srgbClr val="FF0000"/>
                </a:solidFill>
              </a:rPr>
              <a:t>）坚决维护党中央权威和集中统一领导。</a:t>
            </a:r>
            <a:endParaRPr lang="zh-CN" altLang="en-US" sz="16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599396"/>
          </a:xfrm>
        </p:spPr>
        <p:txBody>
          <a:bodyPr/>
          <a:lstStyle/>
          <a:p>
            <a:r>
              <a:rPr lang="zh-CN" altLang="en-US" sz="2800" dirty="0"/>
              <a:t>二、难点</a:t>
            </a:r>
            <a:r>
              <a:rPr lang="zh-CN" altLang="en-US" sz="2800" dirty="0" smtClean="0"/>
              <a:t>：</a:t>
            </a:r>
            <a:endParaRPr lang="zh-CN" altLang="en-US" sz="2800" dirty="0"/>
          </a:p>
        </p:txBody>
      </p:sp>
      <p:sp>
        <p:nvSpPr>
          <p:cNvPr id="3" name="矩形 2"/>
          <p:cNvSpPr/>
          <p:nvPr/>
        </p:nvSpPr>
        <p:spPr>
          <a:xfrm>
            <a:off x="367259" y="707026"/>
            <a:ext cx="8776741" cy="4401205"/>
          </a:xfrm>
          <a:prstGeom prst="rect">
            <a:avLst/>
          </a:prstGeom>
        </p:spPr>
        <p:txBody>
          <a:bodyPr wrap="square">
            <a:spAutoFit/>
          </a:bodyPr>
          <a:lstStyle/>
          <a:p>
            <a:pPr>
              <a:lnSpc>
                <a:spcPct val="150000"/>
              </a:lnSpc>
            </a:pPr>
            <a:r>
              <a:rPr lang="en-US" altLang="zh-CN" sz="2000" dirty="0">
                <a:solidFill>
                  <a:srgbClr val="FF0000"/>
                </a:solidFill>
              </a:rPr>
              <a:t>1</a:t>
            </a:r>
            <a:r>
              <a:rPr lang="en-US" altLang="zh-CN" sz="2000" dirty="0" smtClean="0">
                <a:solidFill>
                  <a:srgbClr val="FF0000"/>
                </a:solidFill>
              </a:rPr>
              <a:t>.</a:t>
            </a:r>
            <a:r>
              <a:rPr lang="zh-CN" altLang="en-US" sz="2000" dirty="0">
                <a:solidFill>
                  <a:srgbClr val="FF0000"/>
                </a:solidFill>
              </a:rPr>
              <a:t>坚持党的全面领导与过去党的一元化领导有什么不同？</a:t>
            </a:r>
            <a:endParaRPr lang="zh-CN" altLang="en-US" sz="2000" dirty="0">
              <a:solidFill>
                <a:srgbClr val="FF0000"/>
              </a:solidFill>
            </a:endParaRPr>
          </a:p>
          <a:p>
            <a:pPr>
              <a:lnSpc>
                <a:spcPts val="2500"/>
              </a:lnSpc>
            </a:pPr>
            <a:r>
              <a:rPr lang="zh-CN" altLang="en-US" sz="1600" dirty="0"/>
              <a:t>答</a:t>
            </a:r>
            <a:r>
              <a:rPr lang="zh-CN" altLang="en-US" sz="1600" dirty="0" smtClean="0"/>
              <a:t>：在</a:t>
            </a:r>
            <a:r>
              <a:rPr lang="zh-CN" altLang="en-US" sz="1600" dirty="0"/>
              <a:t>坚持和加强党的全面领导问题上，一些人把它与过去党的一元化领导简单等同起来，这种认识是错误的。</a:t>
            </a:r>
            <a:endParaRPr lang="zh-CN" altLang="en-US" sz="1600" dirty="0"/>
          </a:p>
          <a:p>
            <a:pPr>
              <a:lnSpc>
                <a:spcPts val="2500"/>
              </a:lnSpc>
            </a:pPr>
            <a:r>
              <a:rPr lang="zh-CN" altLang="en-US" sz="1600" dirty="0" smtClean="0"/>
              <a:t>（</a:t>
            </a:r>
            <a:r>
              <a:rPr lang="en-US" altLang="zh-CN" sz="1600" dirty="0" smtClean="0"/>
              <a:t>1</a:t>
            </a:r>
            <a:r>
              <a:rPr lang="zh-CN" altLang="en-US" sz="1600" dirty="0" smtClean="0"/>
              <a:t>）党</a:t>
            </a:r>
            <a:r>
              <a:rPr lang="zh-CN" altLang="en-US" sz="1600" dirty="0"/>
              <a:t>的一元化领导是抗战时期开始形成的领导制度，当时各根据地长期被分割，为了适应严酷的战争环境，需要党对军、政、民实施统一领导，这对于统一全党的思想意志、有效集中各种资源、推动革命根据地发展，最终取得中国革命的胜利发挥了重要作用。但后来计划经济时期，在“左”的错误思想影响下，加之民主与法制不健全，导致权力过分集中、政企不分、政事不分、政社不分，出现“家长制”“一言堂”，党的一元化领导被极端化和教条化，给党和国家事业带来严重破坏。</a:t>
            </a:r>
            <a:endParaRPr lang="zh-CN" altLang="en-US" sz="1600" dirty="0"/>
          </a:p>
          <a:p>
            <a:pPr>
              <a:lnSpc>
                <a:spcPts val="2500"/>
              </a:lnSpc>
            </a:pPr>
            <a:r>
              <a:rPr lang="zh-CN" altLang="en-US" sz="1600" dirty="0" smtClean="0"/>
              <a:t>（</a:t>
            </a:r>
            <a:r>
              <a:rPr lang="en-US" altLang="zh-CN" sz="1600" dirty="0" smtClean="0"/>
              <a:t>2</a:t>
            </a:r>
            <a:r>
              <a:rPr lang="zh-CN" altLang="en-US" sz="1600" dirty="0" smtClean="0"/>
              <a:t>）改革开放</a:t>
            </a:r>
            <a:r>
              <a:rPr lang="zh-CN" altLang="en-US" sz="1600" dirty="0"/>
              <a:t>以来，我们不断深化对共产党执政规律的认识，特别是党的十八大以后，针对一段时期党的领导被忽视、淡化、弱化的状况，我们党提出坚持和加强党的全面领导。党的全面领导既坚持党的集中统一领导原则，坚持党是最高政治领导力量，又坚持民主集中制、发扬党内民主，坚持党的领导与人民当家作主、依法治国有机统一</a:t>
            </a:r>
            <a:r>
              <a:rPr lang="zh-CN" altLang="en-US" sz="1600" dirty="0" smtClean="0"/>
              <a:t>。</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599396"/>
          </a:xfrm>
        </p:spPr>
        <p:txBody>
          <a:bodyPr/>
          <a:lstStyle/>
          <a:p>
            <a:r>
              <a:rPr lang="zh-CN" altLang="en-US" sz="2800" dirty="0"/>
              <a:t>二、难点</a:t>
            </a:r>
            <a:r>
              <a:rPr lang="zh-CN" altLang="en-US" sz="2800" dirty="0" smtClean="0"/>
              <a:t>：</a:t>
            </a:r>
            <a:endParaRPr lang="zh-CN" altLang="en-US" sz="2800" dirty="0"/>
          </a:p>
        </p:txBody>
      </p:sp>
      <p:sp>
        <p:nvSpPr>
          <p:cNvPr id="3" name="矩形 2"/>
          <p:cNvSpPr/>
          <p:nvPr/>
        </p:nvSpPr>
        <p:spPr>
          <a:xfrm>
            <a:off x="367259" y="707026"/>
            <a:ext cx="8776741" cy="3508653"/>
          </a:xfrm>
          <a:prstGeom prst="rect">
            <a:avLst/>
          </a:prstGeom>
        </p:spPr>
        <p:txBody>
          <a:bodyPr wrap="square">
            <a:spAutoFit/>
          </a:bodyPr>
          <a:lstStyle/>
          <a:p>
            <a:pPr>
              <a:lnSpc>
                <a:spcPct val="150000"/>
              </a:lnSpc>
            </a:pPr>
            <a:r>
              <a:rPr lang="en-US" altLang="zh-CN" sz="2000" dirty="0" smtClean="0">
                <a:solidFill>
                  <a:srgbClr val="FF0000"/>
                </a:solidFill>
              </a:rPr>
              <a:t>2.</a:t>
            </a:r>
            <a:r>
              <a:rPr lang="zh-CN" altLang="en-US" sz="2000" dirty="0">
                <a:solidFill>
                  <a:srgbClr val="FF0000"/>
                </a:solidFill>
              </a:rPr>
              <a:t>维护党中央权威和集中统一领导同坚持民主集中制是否矛盾</a:t>
            </a:r>
            <a:r>
              <a:rPr lang="en-US" altLang="zh-CN" sz="2000" dirty="0">
                <a:solidFill>
                  <a:srgbClr val="FF0000"/>
                </a:solidFill>
              </a:rPr>
              <a:t>?</a:t>
            </a:r>
            <a:endParaRPr lang="en-US" altLang="zh-CN" sz="2000" dirty="0">
              <a:solidFill>
                <a:srgbClr val="FF0000"/>
              </a:solidFill>
            </a:endParaRPr>
          </a:p>
          <a:p>
            <a:pPr>
              <a:lnSpc>
                <a:spcPct val="150000"/>
              </a:lnSpc>
            </a:pPr>
            <a:r>
              <a:rPr lang="zh-CN" altLang="en-US" sz="1600" dirty="0"/>
              <a:t>答：维护党中央权威和集中统一领导同坚持民主集中制是完全一致的。</a:t>
            </a:r>
            <a:endParaRPr lang="zh-CN" altLang="en-US" sz="1600" dirty="0"/>
          </a:p>
          <a:p>
            <a:pPr>
              <a:lnSpc>
                <a:spcPct val="150000"/>
              </a:lnSpc>
            </a:pPr>
            <a:r>
              <a:rPr lang="zh-CN" altLang="en-US" sz="1600" dirty="0"/>
              <a:t>第一，民主集中制包括民主和集中两个方面，两者互为条件、相辅相成、缺一不可。民主是正确集中的前提和基础，离开民主讲集中，集中就成了个人专权专断。集中是民主的必然要求和归宿，离开集中搞民主，就会导致极端民主化和无政府状态。</a:t>
            </a:r>
            <a:endParaRPr lang="zh-CN" altLang="en-US" sz="1600" dirty="0"/>
          </a:p>
          <a:p>
            <a:pPr>
              <a:lnSpc>
                <a:spcPct val="150000"/>
              </a:lnSpc>
            </a:pPr>
            <a:r>
              <a:rPr lang="zh-CN" altLang="en-US" sz="1600" dirty="0"/>
              <a:t>第二，中国共产党实行民主集中制。在充分发扬民主的基础上进行集中，坚持党中央权威和集中统一领导，集中全党智慧，体现全党共同意志，是党的一大创举。</a:t>
            </a:r>
            <a:endParaRPr lang="zh-CN" altLang="en-US" sz="1600" dirty="0"/>
          </a:p>
          <a:p>
            <a:pPr>
              <a:lnSpc>
                <a:spcPct val="150000"/>
              </a:lnSpc>
            </a:pPr>
            <a:r>
              <a:rPr lang="zh-CN" altLang="en-US" sz="1600" dirty="0"/>
              <a:t>第三，坚持党中央权威和集中统一领导，不是说不要民主集中制了，不要发扬党内民主了，而是体现了充分发扬民主基础上的正确集中，把这两者对立起来是不对的、有害的。</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8975" y="66888"/>
            <a:ext cx="9201950" cy="599396"/>
          </a:xfrm>
        </p:spPr>
        <p:txBody>
          <a:bodyPr/>
          <a:lstStyle/>
          <a:p>
            <a:pPr algn="ctr"/>
            <a:r>
              <a:rPr lang="zh-CN" altLang="en-US" sz="2800" dirty="0"/>
              <a:t>第四讲 坚持以人民为中心</a:t>
            </a:r>
            <a:endParaRPr lang="zh-CN" altLang="en-US" sz="2800" dirty="0"/>
          </a:p>
        </p:txBody>
      </p:sp>
      <p:sp>
        <p:nvSpPr>
          <p:cNvPr id="4" name="TextBox 3"/>
          <p:cNvSpPr txBox="1"/>
          <p:nvPr/>
        </p:nvSpPr>
        <p:spPr>
          <a:xfrm>
            <a:off x="136921" y="526852"/>
            <a:ext cx="4367624" cy="4293483"/>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a:solidFill>
                  <a:srgbClr val="FF0000"/>
                </a:solidFill>
              </a:rPr>
              <a:t>1.</a:t>
            </a:r>
            <a:r>
              <a:rPr lang="zh-CN" altLang="en-US" dirty="0">
                <a:solidFill>
                  <a:srgbClr val="FF0000"/>
                </a:solidFill>
              </a:rPr>
              <a:t>群众路线</a:t>
            </a:r>
            <a:endParaRPr lang="zh-CN" altLang="en-US" dirty="0">
              <a:solidFill>
                <a:srgbClr val="FF0000"/>
              </a:solidFill>
            </a:endParaRPr>
          </a:p>
          <a:p>
            <a:pPr>
              <a:lnSpc>
                <a:spcPct val="150000"/>
              </a:lnSpc>
            </a:pPr>
            <a:r>
              <a:rPr lang="en-US" altLang="zh-CN" dirty="0">
                <a:solidFill>
                  <a:srgbClr val="FF0000"/>
                </a:solidFill>
              </a:rPr>
              <a:t>2.</a:t>
            </a:r>
            <a:r>
              <a:rPr lang="zh-CN" altLang="en-US" dirty="0">
                <a:solidFill>
                  <a:srgbClr val="FF0000"/>
                </a:solidFill>
              </a:rPr>
              <a:t>江山就是人民、人民就是江山</a:t>
            </a:r>
            <a:endParaRPr lang="zh-CN" altLang="en-US" dirty="0">
              <a:solidFill>
                <a:srgbClr val="FF0000"/>
              </a:solidFill>
            </a:endParaRPr>
          </a:p>
          <a:p>
            <a:pPr>
              <a:lnSpc>
                <a:spcPct val="150000"/>
              </a:lnSpc>
            </a:pPr>
            <a:r>
              <a:rPr lang="en-US" altLang="zh-CN" dirty="0">
                <a:solidFill>
                  <a:srgbClr val="FF0000"/>
                </a:solidFill>
              </a:rPr>
              <a:t>3.</a:t>
            </a:r>
            <a:r>
              <a:rPr lang="zh-CN" altLang="en-US" dirty="0">
                <a:solidFill>
                  <a:srgbClr val="FF0000"/>
                </a:solidFill>
              </a:rPr>
              <a:t>人民立场是中国共产党的根本政治立场</a:t>
            </a:r>
            <a:endParaRPr lang="zh-CN" altLang="en-US" dirty="0">
              <a:solidFill>
                <a:srgbClr val="FF0000"/>
              </a:solidFill>
            </a:endParaRPr>
          </a:p>
          <a:p>
            <a:pPr>
              <a:lnSpc>
                <a:spcPct val="150000"/>
              </a:lnSpc>
            </a:pPr>
            <a:r>
              <a:rPr lang="en-US" altLang="zh-CN" dirty="0">
                <a:solidFill>
                  <a:srgbClr val="FF0000"/>
                </a:solidFill>
              </a:rPr>
              <a:t>4</a:t>
            </a:r>
            <a:r>
              <a:rPr lang="en-US" altLang="zh-CN" dirty="0" smtClean="0">
                <a:solidFill>
                  <a:srgbClr val="FF0000"/>
                </a:solidFill>
              </a:rPr>
              <a:t>.</a:t>
            </a:r>
            <a:r>
              <a:rPr lang="zh-CN" altLang="en-US" dirty="0">
                <a:solidFill>
                  <a:srgbClr val="FF0000"/>
                </a:solidFill>
              </a:rPr>
              <a:t> </a:t>
            </a:r>
            <a:r>
              <a:rPr lang="zh-CN" altLang="en-US" dirty="0" smtClean="0">
                <a:solidFill>
                  <a:srgbClr val="FF0000"/>
                </a:solidFill>
              </a:rPr>
              <a:t>科学</a:t>
            </a:r>
            <a:r>
              <a:rPr lang="zh-CN" altLang="en-US" dirty="0">
                <a:solidFill>
                  <a:srgbClr val="FF0000"/>
                </a:solidFill>
              </a:rPr>
              <a:t>认识人的全面发展的</a:t>
            </a:r>
            <a:r>
              <a:rPr lang="zh-CN" altLang="en-US" dirty="0" smtClean="0">
                <a:solidFill>
                  <a:srgbClr val="FF0000"/>
                </a:solidFill>
              </a:rPr>
              <a:t>必然性</a:t>
            </a:r>
            <a:endParaRPr lang="en-US" altLang="zh-CN" dirty="0" smtClean="0">
              <a:solidFill>
                <a:srgbClr val="FF0000"/>
              </a:solidFill>
            </a:endParaRPr>
          </a:p>
          <a:p>
            <a:pPr>
              <a:lnSpc>
                <a:spcPct val="150000"/>
              </a:lnSpc>
            </a:pPr>
            <a:r>
              <a:rPr lang="en-US" altLang="zh-CN" b="1" dirty="0">
                <a:solidFill>
                  <a:srgbClr val="FF0000"/>
                </a:solidFill>
              </a:rPr>
              <a:t>5</a:t>
            </a:r>
            <a:r>
              <a:rPr lang="zh-CN" altLang="en-US" b="1" dirty="0">
                <a:solidFill>
                  <a:srgbClr val="FF0000"/>
                </a:solidFill>
              </a:rPr>
              <a:t>、人的全面发展的基本内涵</a:t>
            </a:r>
            <a:endParaRPr lang="zh-CN" altLang="en-US" b="1" dirty="0">
              <a:solidFill>
                <a:srgbClr val="FF0000"/>
              </a:solidFill>
            </a:endParaRPr>
          </a:p>
          <a:p>
            <a:pPr>
              <a:lnSpc>
                <a:spcPct val="150000"/>
              </a:lnSpc>
            </a:pPr>
            <a:r>
              <a:rPr lang="en-US" altLang="zh-CN" dirty="0">
                <a:solidFill>
                  <a:srgbClr val="FF0000"/>
                </a:solidFill>
              </a:rPr>
              <a:t>6</a:t>
            </a:r>
            <a:r>
              <a:rPr lang="zh-CN" altLang="en-US" dirty="0">
                <a:solidFill>
                  <a:srgbClr val="FF0000"/>
                </a:solidFill>
              </a:rPr>
              <a:t>、共同富裕的基本内涵</a:t>
            </a:r>
            <a:endParaRPr lang="zh-CN" altLang="en-US" dirty="0">
              <a:solidFill>
                <a:srgbClr val="FF0000"/>
              </a:solidFill>
            </a:endParaRPr>
          </a:p>
          <a:p>
            <a:pPr>
              <a:lnSpc>
                <a:spcPct val="150000"/>
              </a:lnSpc>
            </a:pPr>
            <a:r>
              <a:rPr lang="en-US" altLang="zh-CN" dirty="0">
                <a:solidFill>
                  <a:srgbClr val="FF0000"/>
                </a:solidFill>
              </a:rPr>
              <a:t>7</a:t>
            </a:r>
            <a:r>
              <a:rPr lang="zh-CN" altLang="en-US" dirty="0">
                <a:solidFill>
                  <a:srgbClr val="FF0000"/>
                </a:solidFill>
              </a:rPr>
              <a:t>、扎实推动共同富裕的重大举措？</a:t>
            </a:r>
            <a:endParaRPr lang="zh-CN" altLang="en-US" dirty="0">
              <a:solidFill>
                <a:srgbClr val="FF0000"/>
              </a:solidFill>
            </a:endParaRPr>
          </a:p>
          <a:p>
            <a:pPr>
              <a:lnSpc>
                <a:spcPct val="150000"/>
              </a:lnSpc>
            </a:pPr>
            <a:endParaRPr lang="en-US" altLang="zh-CN" dirty="0" smtClean="0">
              <a:solidFill>
                <a:srgbClr val="FF0000"/>
              </a:solidFill>
            </a:endParaRPr>
          </a:p>
          <a:p>
            <a:pPr>
              <a:lnSpc>
                <a:spcPct val="150000"/>
              </a:lnSpc>
            </a:pPr>
            <a:endParaRPr lang="zh-CN" altLang="en-US" dirty="0">
              <a:solidFill>
                <a:srgbClr val="FF0000"/>
              </a:solidFill>
            </a:endParaRPr>
          </a:p>
        </p:txBody>
      </p:sp>
      <p:sp>
        <p:nvSpPr>
          <p:cNvPr id="3" name="矩形 2"/>
          <p:cNvSpPr/>
          <p:nvPr/>
        </p:nvSpPr>
        <p:spPr>
          <a:xfrm>
            <a:off x="4572000" y="763721"/>
            <a:ext cx="4572000" cy="1477328"/>
          </a:xfrm>
          <a:prstGeom prst="rect">
            <a:avLst/>
          </a:prstGeom>
        </p:spPr>
        <p:txBody>
          <a:bodyPr>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a:solidFill>
                  <a:srgbClr val="FF0000"/>
                </a:solidFill>
              </a:rPr>
              <a:t>2.</a:t>
            </a:r>
            <a:r>
              <a:rPr lang="zh-CN" altLang="en-US" sz="2000" dirty="0">
                <a:solidFill>
                  <a:srgbClr val="FF0000"/>
                </a:solidFill>
              </a:rPr>
              <a:t>如何理解江山就是人民、人民就是江山</a:t>
            </a:r>
            <a:r>
              <a:rPr lang="en-US" altLang="zh-CN" sz="2000" dirty="0" smtClean="0">
                <a:solidFill>
                  <a:srgbClr val="FF0000"/>
                </a:solidFill>
              </a:rPr>
              <a:t>?</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499006" y="-23694"/>
            <a:ext cx="8476938" cy="599396"/>
          </a:xfrm>
        </p:spPr>
        <p:txBody>
          <a:bodyPr/>
          <a:lstStyle/>
          <a:p>
            <a:pPr algn="ctr"/>
            <a:r>
              <a:rPr lang="zh-CN" altLang="en-US" sz="2800" dirty="0"/>
              <a:t>第四讲 坚持以人民为中心</a:t>
            </a:r>
            <a:endParaRPr lang="zh-CN" altLang="en-US" sz="2800" dirty="0"/>
          </a:p>
        </p:txBody>
      </p:sp>
      <p:sp>
        <p:nvSpPr>
          <p:cNvPr id="6" name="文本框 5"/>
          <p:cNvSpPr txBox="1"/>
          <p:nvPr/>
        </p:nvSpPr>
        <p:spPr>
          <a:xfrm>
            <a:off x="90524" y="777884"/>
            <a:ext cx="3859384" cy="3785652"/>
          </a:xfrm>
          <a:prstGeom prst="rect">
            <a:avLst/>
          </a:prstGeom>
          <a:noFill/>
        </p:spPr>
        <p:txBody>
          <a:bodyPr wrap="square">
            <a:spAutoFit/>
          </a:bodyPr>
          <a:lstStyle/>
          <a:p>
            <a:r>
              <a:rPr lang="en-US" altLang="zh-CN" b="1" dirty="0">
                <a:solidFill>
                  <a:srgbClr val="FF0000"/>
                </a:solidFill>
              </a:rPr>
              <a:t>1.</a:t>
            </a:r>
            <a:r>
              <a:rPr lang="zh-CN" altLang="en-US" b="1" dirty="0" smtClean="0">
                <a:solidFill>
                  <a:srgbClr val="FF0000"/>
                </a:solidFill>
              </a:rPr>
              <a:t>群众路线</a:t>
            </a:r>
            <a:endParaRPr lang="en-US" altLang="zh-CN" b="1" dirty="0" smtClean="0">
              <a:solidFill>
                <a:srgbClr val="FF0000"/>
              </a:solidFill>
            </a:endParaRPr>
          </a:p>
          <a:p>
            <a:r>
              <a:rPr lang="zh-CN" altLang="en-US" sz="1400" b="1" dirty="0"/>
              <a:t>坚持一切为了群众，一切依靠群众，从群众中来，到群众中去，把党的正确主张变为群众的自觉行动。</a:t>
            </a:r>
            <a:endParaRPr lang="zh-CN" altLang="en-US" sz="1400" b="1" dirty="0"/>
          </a:p>
          <a:p>
            <a:r>
              <a:rPr lang="en-US" altLang="zh-CN" b="1" dirty="0">
                <a:solidFill>
                  <a:srgbClr val="FF0000"/>
                </a:solidFill>
              </a:rPr>
              <a:t>2.</a:t>
            </a:r>
            <a:r>
              <a:rPr lang="zh-CN" altLang="en-US" b="1" dirty="0">
                <a:solidFill>
                  <a:srgbClr val="FF0000"/>
                </a:solidFill>
              </a:rPr>
              <a:t>江山就是人民、人民就是</a:t>
            </a:r>
            <a:r>
              <a:rPr lang="zh-CN" altLang="en-US" b="1" dirty="0" smtClean="0">
                <a:solidFill>
                  <a:srgbClr val="FF0000"/>
                </a:solidFill>
              </a:rPr>
              <a:t>江山</a:t>
            </a:r>
            <a:endParaRPr lang="en-US" altLang="zh-CN" b="1" dirty="0" smtClean="0">
              <a:solidFill>
                <a:srgbClr val="FF0000"/>
              </a:solidFill>
            </a:endParaRPr>
          </a:p>
          <a:p>
            <a:r>
              <a:rPr lang="zh-CN" altLang="en-US" sz="1400" b="1" dirty="0"/>
              <a:t>深刻揭示了人民与政权之间的辩证关系，闪耀着历史唯物主义的真理光芒，充分说明我国国体政体的人民性。人民是中国共产党执政兴国的最大底气，人民是我们党的生命之根、执政之基、力量之源</a:t>
            </a:r>
            <a:r>
              <a:rPr lang="zh-CN" altLang="en-US" sz="1400" b="1" dirty="0" smtClean="0"/>
              <a:t>。</a:t>
            </a:r>
            <a:endParaRPr lang="zh-CN" altLang="en-US" b="1" dirty="0">
              <a:solidFill>
                <a:srgbClr val="FF0000"/>
              </a:solidFill>
            </a:endParaRPr>
          </a:p>
          <a:p>
            <a:r>
              <a:rPr lang="en-US" altLang="zh-CN" b="1" dirty="0">
                <a:solidFill>
                  <a:srgbClr val="FF0000"/>
                </a:solidFill>
              </a:rPr>
              <a:t>3.</a:t>
            </a:r>
            <a:r>
              <a:rPr lang="zh-CN" altLang="en-US" b="1" dirty="0">
                <a:solidFill>
                  <a:srgbClr val="FF0000"/>
                </a:solidFill>
              </a:rPr>
              <a:t>人民立场是中国共产党的根本政治</a:t>
            </a:r>
            <a:r>
              <a:rPr lang="zh-CN" altLang="en-US" b="1" dirty="0" smtClean="0">
                <a:solidFill>
                  <a:srgbClr val="FF0000"/>
                </a:solidFill>
              </a:rPr>
              <a:t>立场</a:t>
            </a:r>
            <a:endParaRPr lang="en-US" altLang="zh-CN" b="1" dirty="0" smtClean="0">
              <a:solidFill>
                <a:srgbClr val="FF0000"/>
              </a:solidFill>
            </a:endParaRPr>
          </a:p>
          <a:p>
            <a:r>
              <a:rPr lang="zh-CN" altLang="en-US" sz="1400" b="1" dirty="0"/>
              <a:t>（</a:t>
            </a:r>
            <a:r>
              <a:rPr lang="en-US" altLang="zh-CN" sz="1400" b="1" dirty="0"/>
              <a:t>1</a:t>
            </a:r>
            <a:r>
              <a:rPr lang="zh-CN" altLang="en-US" sz="1400" b="1" dirty="0"/>
              <a:t>）人民立场是马克思主义政党区别于资产阶级政党的显著</a:t>
            </a:r>
            <a:r>
              <a:rPr lang="zh-CN" altLang="en-US" sz="1400" b="1" dirty="0" smtClean="0"/>
              <a:t>标志</a:t>
            </a:r>
            <a:endParaRPr lang="en-US" altLang="zh-CN" sz="1400" b="1" dirty="0" smtClean="0"/>
          </a:p>
          <a:p>
            <a:r>
              <a:rPr lang="zh-CN" altLang="en-US" sz="1400" b="1" dirty="0" smtClean="0"/>
              <a:t>（</a:t>
            </a:r>
            <a:r>
              <a:rPr lang="en-US" altLang="zh-CN" sz="1400" b="1" dirty="0" smtClean="0"/>
              <a:t>2</a:t>
            </a:r>
            <a:r>
              <a:rPr lang="zh-CN" altLang="en-US" sz="1400" b="1" dirty="0"/>
              <a:t>）全心全意为人民服务是党的根本</a:t>
            </a:r>
            <a:r>
              <a:rPr lang="zh-CN" altLang="en-US" sz="1400" b="1" dirty="0" smtClean="0"/>
              <a:t>宗旨</a:t>
            </a:r>
            <a:endParaRPr lang="zh-CN" altLang="en-US" sz="1400" b="1" dirty="0"/>
          </a:p>
          <a:p>
            <a:r>
              <a:rPr lang="zh-CN" altLang="en-US" sz="1400" b="1" dirty="0" smtClean="0"/>
              <a:t>（</a:t>
            </a:r>
            <a:r>
              <a:rPr lang="en-US" altLang="zh-CN" sz="1400" b="1" dirty="0" smtClean="0"/>
              <a:t>3</a:t>
            </a:r>
            <a:r>
              <a:rPr lang="zh-CN" altLang="en-US" sz="1400" b="1" dirty="0" smtClean="0"/>
              <a:t>）</a:t>
            </a:r>
            <a:r>
              <a:rPr lang="zh-CN" altLang="en-US" sz="1400" b="1" dirty="0"/>
              <a:t>党性和人民性是高度一致</a:t>
            </a:r>
            <a:r>
              <a:rPr lang="zh-CN" altLang="en-US" sz="1400" b="1" dirty="0" smtClean="0"/>
              <a:t>的</a:t>
            </a:r>
            <a:endParaRPr lang="zh-CN" altLang="en-US" b="1" dirty="0">
              <a:solidFill>
                <a:srgbClr val="FF0000"/>
              </a:solidFill>
            </a:endParaRPr>
          </a:p>
        </p:txBody>
      </p:sp>
      <p:sp>
        <p:nvSpPr>
          <p:cNvPr id="9" name="文本框 8"/>
          <p:cNvSpPr txBox="1"/>
          <p:nvPr/>
        </p:nvSpPr>
        <p:spPr>
          <a:xfrm>
            <a:off x="3916832" y="575820"/>
            <a:ext cx="5272884" cy="4431983"/>
          </a:xfrm>
          <a:prstGeom prst="rect">
            <a:avLst/>
          </a:prstGeom>
          <a:noFill/>
        </p:spPr>
        <p:txBody>
          <a:bodyPr wrap="square">
            <a:spAutoFit/>
          </a:bodyPr>
          <a:lstStyle/>
          <a:p>
            <a:r>
              <a:rPr lang="en-US" altLang="zh-CN" b="1" dirty="0">
                <a:solidFill>
                  <a:srgbClr val="FF0000"/>
                </a:solidFill>
              </a:rPr>
              <a:t>4.</a:t>
            </a:r>
            <a:r>
              <a:rPr lang="zh-CN" altLang="en-US" b="1" dirty="0">
                <a:solidFill>
                  <a:srgbClr val="FF0000"/>
                </a:solidFill>
              </a:rPr>
              <a:t>科学认识人的全面</a:t>
            </a:r>
            <a:r>
              <a:rPr lang="zh-CN" altLang="en-US" b="1" dirty="0" smtClean="0">
                <a:solidFill>
                  <a:srgbClr val="FF0000"/>
                </a:solidFill>
              </a:rPr>
              <a:t>发展的必然性</a:t>
            </a:r>
            <a:endParaRPr lang="en-US" altLang="zh-CN" b="1" dirty="0" smtClean="0">
              <a:solidFill>
                <a:srgbClr val="FF0000"/>
              </a:solidFill>
            </a:endParaRPr>
          </a:p>
          <a:p>
            <a:r>
              <a:rPr lang="zh-CN" altLang="en-US" sz="1400" b="1" dirty="0" smtClean="0"/>
              <a:t>（</a:t>
            </a:r>
            <a:r>
              <a:rPr lang="en-US" altLang="zh-CN" sz="1400" b="1" dirty="0" smtClean="0"/>
              <a:t>1</a:t>
            </a:r>
            <a:r>
              <a:rPr lang="zh-CN" altLang="en-US" sz="1400" b="1" dirty="0" smtClean="0"/>
              <a:t>）实现</a:t>
            </a:r>
            <a:r>
              <a:rPr lang="zh-CN" altLang="en-US" sz="1400" b="1" dirty="0"/>
              <a:t>人的全面发展是共产主义的基本原则</a:t>
            </a:r>
            <a:endParaRPr lang="zh-CN" altLang="en-US" sz="1400" b="1" dirty="0"/>
          </a:p>
          <a:p>
            <a:r>
              <a:rPr lang="zh-CN" altLang="en-US" sz="1400" b="1" dirty="0" smtClean="0"/>
              <a:t>（</a:t>
            </a:r>
            <a:r>
              <a:rPr lang="en-US" altLang="zh-CN" sz="1400" b="1" dirty="0" smtClean="0"/>
              <a:t>2</a:t>
            </a:r>
            <a:r>
              <a:rPr lang="zh-CN" altLang="en-US" sz="1400" b="1" dirty="0"/>
              <a:t>）人的全面发展是中国特色社会主义的价值目标</a:t>
            </a:r>
            <a:endParaRPr lang="zh-CN" altLang="en-US" sz="1400" b="1" dirty="0"/>
          </a:p>
          <a:p>
            <a:r>
              <a:rPr lang="en-US" altLang="zh-CN" b="1" dirty="0">
                <a:solidFill>
                  <a:srgbClr val="FF0000"/>
                </a:solidFill>
              </a:rPr>
              <a:t>5</a:t>
            </a:r>
            <a:r>
              <a:rPr lang="zh-CN" altLang="en-US" b="1" dirty="0">
                <a:solidFill>
                  <a:srgbClr val="FF0000"/>
                </a:solidFill>
              </a:rPr>
              <a:t>、人的全面发展的基本内涵</a:t>
            </a:r>
            <a:endParaRPr lang="zh-CN" altLang="en-US" b="1" dirty="0">
              <a:solidFill>
                <a:srgbClr val="FF0000"/>
              </a:solidFill>
            </a:endParaRPr>
          </a:p>
          <a:p>
            <a:r>
              <a:rPr lang="zh-CN" altLang="en-US" sz="1400" b="1" dirty="0" smtClean="0"/>
              <a:t>（</a:t>
            </a:r>
            <a:r>
              <a:rPr lang="en-US" altLang="zh-CN" sz="1400" b="1" dirty="0" smtClean="0"/>
              <a:t>1</a:t>
            </a:r>
            <a:r>
              <a:rPr lang="zh-CN" altLang="en-US" sz="1400" b="1" dirty="0" smtClean="0"/>
              <a:t>）人</a:t>
            </a:r>
            <a:r>
              <a:rPr lang="zh-CN" altLang="en-US" sz="1400" b="1" dirty="0"/>
              <a:t>的能力的全面发展</a:t>
            </a:r>
            <a:endParaRPr lang="zh-CN" altLang="en-US" sz="1400" b="1" dirty="0"/>
          </a:p>
          <a:p>
            <a:r>
              <a:rPr lang="zh-CN" altLang="en-US" sz="1400" b="1" dirty="0" smtClean="0"/>
              <a:t>（</a:t>
            </a:r>
            <a:r>
              <a:rPr lang="en-US" altLang="zh-CN" sz="1400" b="1" dirty="0" smtClean="0"/>
              <a:t>2</a:t>
            </a:r>
            <a:r>
              <a:rPr lang="zh-CN" altLang="en-US" sz="1400" b="1" dirty="0"/>
              <a:t>）人的社会关系的充分发展</a:t>
            </a:r>
            <a:endParaRPr lang="zh-CN" altLang="en-US" sz="1400" b="1" dirty="0"/>
          </a:p>
          <a:p>
            <a:r>
              <a:rPr lang="zh-CN" altLang="en-US" sz="1400" b="1" dirty="0" smtClean="0"/>
              <a:t>（</a:t>
            </a:r>
            <a:r>
              <a:rPr lang="en-US" altLang="zh-CN" sz="1400" b="1" dirty="0" smtClean="0"/>
              <a:t>3</a:t>
            </a:r>
            <a:r>
              <a:rPr lang="zh-CN" altLang="en-US" sz="1400" b="1" dirty="0"/>
              <a:t>）人的个性的自由</a:t>
            </a:r>
            <a:r>
              <a:rPr lang="zh-CN" altLang="en-US" sz="1400" b="1" dirty="0" smtClean="0"/>
              <a:t>发展</a:t>
            </a:r>
            <a:endParaRPr lang="en-US" altLang="zh-CN" sz="1400" b="1" dirty="0"/>
          </a:p>
          <a:p>
            <a:r>
              <a:rPr lang="en-US" altLang="zh-CN" b="1" dirty="0" smtClean="0">
                <a:solidFill>
                  <a:srgbClr val="FF0000"/>
                </a:solidFill>
              </a:rPr>
              <a:t>6</a:t>
            </a:r>
            <a:r>
              <a:rPr lang="zh-CN" altLang="en-US" b="1" dirty="0" smtClean="0">
                <a:solidFill>
                  <a:srgbClr val="FF0000"/>
                </a:solidFill>
              </a:rPr>
              <a:t>、共同富裕的基本内涵</a:t>
            </a:r>
            <a:endParaRPr lang="en-US" altLang="zh-CN" b="1" dirty="0" smtClean="0">
              <a:solidFill>
                <a:srgbClr val="FF0000"/>
              </a:solidFill>
            </a:endParaRPr>
          </a:p>
          <a:p>
            <a:r>
              <a:rPr lang="zh-CN" altLang="en-US" sz="1400" b="1" dirty="0"/>
              <a:t>共同富裕是社会主义的本质要求，是中国式现代化的重要特征。我们说的共同富裕是全体人民共同富裕，是人民群众物质生活和精神生活都富裕，不是少数人的富裕，也不是整齐划一的平均主义</a:t>
            </a:r>
            <a:r>
              <a:rPr lang="zh-CN" altLang="en-US" sz="1400" b="1" dirty="0" smtClean="0"/>
              <a:t>。</a:t>
            </a:r>
            <a:endParaRPr lang="en-US" altLang="zh-CN" b="1" dirty="0" smtClean="0">
              <a:solidFill>
                <a:srgbClr val="FF0000"/>
              </a:solidFill>
            </a:endParaRPr>
          </a:p>
          <a:p>
            <a:r>
              <a:rPr lang="en-US" altLang="zh-CN" b="1" dirty="0">
                <a:solidFill>
                  <a:srgbClr val="FF0000"/>
                </a:solidFill>
              </a:rPr>
              <a:t>7</a:t>
            </a:r>
            <a:r>
              <a:rPr lang="zh-CN" altLang="en-US" b="1" dirty="0">
                <a:solidFill>
                  <a:srgbClr val="FF0000"/>
                </a:solidFill>
              </a:rPr>
              <a:t>、扎实推动共同富裕的重大举措？</a:t>
            </a:r>
            <a:endParaRPr lang="en-US" altLang="zh-CN" b="1" dirty="0">
              <a:solidFill>
                <a:srgbClr val="FF0000"/>
              </a:solidFill>
            </a:endParaRPr>
          </a:p>
          <a:p>
            <a:r>
              <a:rPr lang="zh-CN" altLang="en-US" sz="1400" dirty="0" smtClean="0"/>
              <a:t>第一</a:t>
            </a:r>
            <a:r>
              <a:rPr lang="zh-CN" altLang="en-US" sz="1400" dirty="0"/>
              <a:t>，提高发展的平衡性、协调性、包容性。</a:t>
            </a:r>
            <a:endParaRPr lang="zh-CN" altLang="en-US" sz="1400" dirty="0"/>
          </a:p>
          <a:p>
            <a:r>
              <a:rPr lang="zh-CN" altLang="en-US" sz="1400" dirty="0"/>
              <a:t>第二，着力扩大中等收入群体规模。</a:t>
            </a:r>
            <a:endParaRPr lang="zh-CN" altLang="en-US" sz="1400" dirty="0"/>
          </a:p>
          <a:p>
            <a:r>
              <a:rPr lang="zh-CN" altLang="en-US" sz="1400" dirty="0"/>
              <a:t>第三，促进基本公共服务均等化。</a:t>
            </a:r>
            <a:endParaRPr lang="zh-CN" altLang="en-US" sz="1400" dirty="0"/>
          </a:p>
          <a:p>
            <a:r>
              <a:rPr lang="zh-CN" altLang="en-US" sz="1400" dirty="0"/>
              <a:t>第四， 加强对高收入的规范和调节。</a:t>
            </a:r>
            <a:endParaRPr lang="zh-CN" altLang="en-US" sz="1400" dirty="0"/>
          </a:p>
          <a:p>
            <a:r>
              <a:rPr lang="zh-CN" altLang="en-US" sz="1400" dirty="0"/>
              <a:t>第五，促进人民精神生活共同富裕。</a:t>
            </a:r>
            <a:endParaRPr lang="zh-CN" altLang="en-US" sz="1400" dirty="0"/>
          </a:p>
          <a:p>
            <a:r>
              <a:rPr lang="zh-CN" altLang="en-US" sz="1400" dirty="0"/>
              <a:t>第六，促进农民农村共同富裕</a:t>
            </a:r>
            <a:r>
              <a:rPr lang="zh-CN" altLang="en-US" sz="1400" dirty="0" smtClean="0"/>
              <a:t>。</a:t>
            </a:r>
            <a:endParaRPr lang="zh-CN" altLang="en-US" sz="1400" dirty="0"/>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8975" y="66888"/>
            <a:ext cx="9201950" cy="599396"/>
          </a:xfrm>
        </p:spPr>
        <p:txBody>
          <a:bodyPr/>
          <a:lstStyle/>
          <a:p>
            <a:pPr algn="ctr"/>
            <a:r>
              <a:rPr lang="zh-CN" altLang="en-US" sz="2800" dirty="0"/>
              <a:t>第五</a:t>
            </a:r>
            <a:r>
              <a:rPr lang="zh-CN" altLang="en-US" sz="2800" dirty="0" smtClean="0"/>
              <a:t>讲 </a:t>
            </a:r>
            <a:r>
              <a:rPr lang="zh-CN" altLang="en-US" sz="2800" dirty="0"/>
              <a:t>全面深化改革</a:t>
            </a:r>
            <a:endParaRPr lang="zh-CN" altLang="en-US" sz="2800" dirty="0"/>
          </a:p>
        </p:txBody>
      </p:sp>
      <p:sp>
        <p:nvSpPr>
          <p:cNvPr id="4" name="TextBox 3"/>
          <p:cNvSpPr txBox="1"/>
          <p:nvPr/>
        </p:nvSpPr>
        <p:spPr>
          <a:xfrm>
            <a:off x="136921" y="526852"/>
            <a:ext cx="4367624" cy="3877985"/>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b="1" dirty="0">
                <a:solidFill>
                  <a:srgbClr val="FF0000"/>
                </a:solidFill>
              </a:rPr>
              <a:t>1.</a:t>
            </a:r>
            <a:r>
              <a:rPr lang="zh-CN" altLang="en-US" b="1" dirty="0">
                <a:solidFill>
                  <a:srgbClr val="FF0000"/>
                </a:solidFill>
              </a:rPr>
              <a:t>改革开放是决定当代中国前途命运的关键一招</a:t>
            </a:r>
            <a:endParaRPr lang="zh-CN" altLang="en-US" b="1" dirty="0">
              <a:solidFill>
                <a:srgbClr val="FF0000"/>
              </a:solidFill>
            </a:endParaRPr>
          </a:p>
          <a:p>
            <a:r>
              <a:rPr lang="en-US" altLang="zh-CN" b="1" dirty="0">
                <a:solidFill>
                  <a:srgbClr val="FF0000"/>
                </a:solidFill>
              </a:rPr>
              <a:t>2.</a:t>
            </a:r>
            <a:r>
              <a:rPr lang="zh-CN" altLang="en-US" b="1" dirty="0">
                <a:solidFill>
                  <a:srgbClr val="FF0000"/>
                </a:solidFill>
              </a:rPr>
              <a:t>什么是“全面”深化改革</a:t>
            </a:r>
            <a:endParaRPr lang="zh-CN" altLang="en-US" b="1" dirty="0">
              <a:solidFill>
                <a:srgbClr val="FF0000"/>
              </a:solidFill>
            </a:endParaRPr>
          </a:p>
          <a:p>
            <a:r>
              <a:rPr lang="en-US" altLang="zh-CN" b="1" dirty="0" smtClean="0">
                <a:solidFill>
                  <a:srgbClr val="FF0000"/>
                </a:solidFill>
              </a:rPr>
              <a:t>3</a:t>
            </a:r>
            <a:r>
              <a:rPr lang="en-US" altLang="zh-CN" b="1" dirty="0">
                <a:solidFill>
                  <a:srgbClr val="FF0000"/>
                </a:solidFill>
              </a:rPr>
              <a:t>.</a:t>
            </a:r>
            <a:r>
              <a:rPr lang="zh-CN" altLang="en-US" b="1" dirty="0">
                <a:solidFill>
                  <a:srgbClr val="FF0000"/>
                </a:solidFill>
              </a:rPr>
              <a:t>全面深化改革总目标</a:t>
            </a:r>
            <a:endParaRPr lang="en-US" altLang="zh-CN" b="1" dirty="0">
              <a:solidFill>
                <a:srgbClr val="FF0000"/>
              </a:solidFill>
            </a:endParaRPr>
          </a:p>
          <a:p>
            <a:r>
              <a:rPr lang="en-US" altLang="zh-CN" b="1" dirty="0">
                <a:solidFill>
                  <a:srgbClr val="FF0000"/>
                </a:solidFill>
              </a:rPr>
              <a:t>4</a:t>
            </a:r>
            <a:r>
              <a:rPr lang="zh-CN" altLang="en-US" b="1" dirty="0">
                <a:solidFill>
                  <a:srgbClr val="FF0000"/>
                </a:solidFill>
              </a:rPr>
              <a:t>、全面深化改革是有方向、有立场、有原则的</a:t>
            </a:r>
            <a:endParaRPr lang="zh-CN" altLang="en-US" b="1" dirty="0">
              <a:solidFill>
                <a:srgbClr val="FF0000"/>
              </a:solidFill>
            </a:endParaRPr>
          </a:p>
          <a:p>
            <a:r>
              <a:rPr lang="en-US" altLang="zh-CN" b="1" dirty="0" smtClean="0">
                <a:solidFill>
                  <a:srgbClr val="FF0000"/>
                </a:solidFill>
              </a:rPr>
              <a:t>5</a:t>
            </a:r>
            <a:r>
              <a:rPr lang="en-US" altLang="zh-CN" b="1" dirty="0">
                <a:solidFill>
                  <a:srgbClr val="FF0000"/>
                </a:solidFill>
              </a:rPr>
              <a:t>.</a:t>
            </a:r>
            <a:r>
              <a:rPr lang="zh-CN" altLang="en-US" b="1" dirty="0">
                <a:solidFill>
                  <a:srgbClr val="FF0000"/>
                </a:solidFill>
              </a:rPr>
              <a:t>构建对外开放新格局</a:t>
            </a:r>
            <a:endParaRPr lang="en-US" altLang="zh-CN" b="1" dirty="0">
              <a:solidFill>
                <a:srgbClr val="FF0000"/>
              </a:solidFill>
            </a:endParaRPr>
          </a:p>
          <a:p>
            <a:r>
              <a:rPr lang="en-US" altLang="zh-CN" b="1" dirty="0" smtClean="0">
                <a:solidFill>
                  <a:srgbClr val="FF0000"/>
                </a:solidFill>
              </a:rPr>
              <a:t>6</a:t>
            </a:r>
            <a:r>
              <a:rPr lang="en-US" altLang="zh-CN" b="1" dirty="0">
                <a:solidFill>
                  <a:srgbClr val="FF0000"/>
                </a:solidFill>
              </a:rPr>
              <a:t>.</a:t>
            </a:r>
            <a:r>
              <a:rPr lang="zh-CN" altLang="en-US" b="1" dirty="0">
                <a:solidFill>
                  <a:srgbClr val="FF0000"/>
                </a:solidFill>
              </a:rPr>
              <a:t>推动共建“一带一路”高质量发展</a:t>
            </a:r>
            <a:endParaRPr lang="en-US" altLang="zh-CN" b="1" dirty="0">
              <a:solidFill>
                <a:srgbClr val="FF0000"/>
              </a:solidFill>
            </a:endParaRPr>
          </a:p>
          <a:p>
            <a:pPr>
              <a:lnSpc>
                <a:spcPct val="150000"/>
              </a:lnSpc>
            </a:pPr>
            <a:endParaRPr lang="en-US" altLang="zh-CN" dirty="0" smtClean="0">
              <a:solidFill>
                <a:srgbClr val="FF0000"/>
              </a:solidFill>
            </a:endParaRPr>
          </a:p>
          <a:p>
            <a:pPr>
              <a:lnSpc>
                <a:spcPct val="150000"/>
              </a:lnSpc>
            </a:pPr>
            <a:endParaRPr lang="zh-CN" altLang="en-US" dirty="0">
              <a:solidFill>
                <a:srgbClr val="FF0000"/>
              </a:solidFill>
            </a:endParaRPr>
          </a:p>
        </p:txBody>
      </p:sp>
      <p:sp>
        <p:nvSpPr>
          <p:cNvPr id="3" name="矩形 2"/>
          <p:cNvSpPr/>
          <p:nvPr/>
        </p:nvSpPr>
        <p:spPr>
          <a:xfrm>
            <a:off x="4572000" y="763721"/>
            <a:ext cx="4572000" cy="1477328"/>
          </a:xfrm>
          <a:prstGeom prst="rect">
            <a:avLst/>
          </a:prstGeom>
        </p:spPr>
        <p:txBody>
          <a:bodyPr>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a:solidFill>
                  <a:srgbClr val="FF0000"/>
                </a:solidFill>
              </a:rPr>
              <a:t>、全面深化改革主要围绕哪些领域进行改革</a:t>
            </a:r>
            <a:r>
              <a:rPr lang="en-US" altLang="zh-CN" sz="2000" dirty="0">
                <a:solidFill>
                  <a:srgbClr val="FF0000"/>
                </a:solidFill>
              </a:rPr>
              <a:t>?</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39646" y="-45284"/>
            <a:ext cx="8476938" cy="599396"/>
          </a:xfrm>
        </p:spPr>
        <p:txBody>
          <a:bodyPr/>
          <a:lstStyle/>
          <a:p>
            <a:pPr algn="ctr"/>
            <a:r>
              <a:rPr lang="zh-CN" altLang="en-US" sz="2800" dirty="0"/>
              <a:t>第五讲 全面深化改革</a:t>
            </a:r>
            <a:endParaRPr lang="zh-CN" altLang="en-US" sz="2800" dirty="0"/>
          </a:p>
        </p:txBody>
      </p:sp>
      <p:sp>
        <p:nvSpPr>
          <p:cNvPr id="6" name="文本框 5"/>
          <p:cNvSpPr txBox="1"/>
          <p:nvPr/>
        </p:nvSpPr>
        <p:spPr>
          <a:xfrm>
            <a:off x="90524" y="777884"/>
            <a:ext cx="3859384" cy="4001095"/>
          </a:xfrm>
          <a:prstGeom prst="rect">
            <a:avLst/>
          </a:prstGeom>
          <a:noFill/>
        </p:spPr>
        <p:txBody>
          <a:bodyPr wrap="square">
            <a:spAutoFit/>
          </a:bodyPr>
          <a:lstStyle/>
          <a:p>
            <a:r>
              <a:rPr lang="en-US" altLang="zh-CN" b="1" dirty="0">
                <a:solidFill>
                  <a:srgbClr val="FF0000"/>
                </a:solidFill>
              </a:rPr>
              <a:t>1.</a:t>
            </a:r>
            <a:r>
              <a:rPr lang="zh-CN" altLang="en-US" b="1" dirty="0">
                <a:solidFill>
                  <a:srgbClr val="FF0000"/>
                </a:solidFill>
              </a:rPr>
              <a:t>改革开放是决定当代中国前途命运的关键一</a:t>
            </a:r>
            <a:r>
              <a:rPr lang="zh-CN" altLang="en-US" b="1" dirty="0" smtClean="0">
                <a:solidFill>
                  <a:srgbClr val="FF0000"/>
                </a:solidFill>
              </a:rPr>
              <a:t>招</a:t>
            </a:r>
            <a:endParaRPr lang="en-US" altLang="zh-CN" b="1" dirty="0" smtClean="0">
              <a:solidFill>
                <a:srgbClr val="FF0000"/>
              </a:solidFill>
            </a:endParaRPr>
          </a:p>
          <a:p>
            <a:r>
              <a:rPr lang="zh-CN" altLang="en-US" sz="1400" b="1" dirty="0" smtClean="0"/>
              <a:t>（</a:t>
            </a:r>
            <a:r>
              <a:rPr lang="en-US" altLang="zh-CN" sz="1400" b="1" dirty="0" smtClean="0"/>
              <a:t>1</a:t>
            </a:r>
            <a:r>
              <a:rPr lang="zh-CN" altLang="en-US" sz="1400" b="1" dirty="0" smtClean="0"/>
              <a:t>）解决</a:t>
            </a:r>
            <a:r>
              <a:rPr lang="zh-CN" altLang="en-US" sz="1400" b="1" dirty="0"/>
              <a:t>好生产力和生产关系的矛盾，解放和发展生产力</a:t>
            </a:r>
            <a:endParaRPr lang="zh-CN" altLang="en-US" sz="1400" b="1" dirty="0"/>
          </a:p>
          <a:p>
            <a:r>
              <a:rPr lang="zh-CN" altLang="en-US" sz="1400" b="1" dirty="0" smtClean="0"/>
              <a:t>（</a:t>
            </a:r>
            <a:r>
              <a:rPr lang="en-US" altLang="zh-CN" sz="1400" b="1" dirty="0" smtClean="0"/>
              <a:t>2</a:t>
            </a:r>
            <a:r>
              <a:rPr lang="zh-CN" altLang="en-US" sz="1400" b="1" dirty="0" smtClean="0"/>
              <a:t>）解决</a:t>
            </a:r>
            <a:r>
              <a:rPr lang="zh-CN" altLang="en-US" sz="1400" b="1" dirty="0"/>
              <a:t>好经济基础和上层建筑的矛盾，完善和发展社会主义制度</a:t>
            </a:r>
            <a:endParaRPr lang="zh-CN" altLang="en-US" sz="1400" b="1" dirty="0"/>
          </a:p>
          <a:p>
            <a:r>
              <a:rPr lang="zh-CN" altLang="en-US" sz="1400" b="1" dirty="0" smtClean="0"/>
              <a:t>（</a:t>
            </a:r>
            <a:r>
              <a:rPr lang="en-US" altLang="zh-CN" sz="1400" b="1" dirty="0" smtClean="0"/>
              <a:t>3</a:t>
            </a:r>
            <a:r>
              <a:rPr lang="zh-CN" altLang="en-US" sz="1400" b="1" dirty="0" smtClean="0"/>
              <a:t>）进行</a:t>
            </a:r>
            <a:r>
              <a:rPr lang="zh-CN" altLang="en-US" sz="1400" b="1" dirty="0"/>
              <a:t>广泛而深刻的社会变革，推动走出一条中国式现代化道路</a:t>
            </a:r>
            <a:endParaRPr lang="zh-CN" altLang="en-US" sz="1400" b="1" dirty="0"/>
          </a:p>
          <a:p>
            <a:r>
              <a:rPr lang="zh-CN" altLang="en-US" sz="1400" b="1" dirty="0" smtClean="0"/>
              <a:t>（</a:t>
            </a:r>
            <a:r>
              <a:rPr lang="en-US" altLang="zh-CN" sz="1400" b="1" dirty="0" smtClean="0"/>
              <a:t>4</a:t>
            </a:r>
            <a:r>
              <a:rPr lang="zh-CN" altLang="en-US" sz="1400" b="1" dirty="0" smtClean="0"/>
              <a:t>）吸收</a:t>
            </a:r>
            <a:r>
              <a:rPr lang="zh-CN" altLang="en-US" sz="1400" b="1" dirty="0"/>
              <a:t>人类一切优秀文明成果，创造人类文明新</a:t>
            </a:r>
            <a:r>
              <a:rPr lang="zh-CN" altLang="en-US" sz="1400" b="1" dirty="0" smtClean="0"/>
              <a:t>形态</a:t>
            </a:r>
            <a:endParaRPr lang="en-US" altLang="zh-CN" sz="1400" b="1" dirty="0" smtClean="0"/>
          </a:p>
          <a:p>
            <a:r>
              <a:rPr lang="en-US" altLang="zh-CN" b="1" dirty="0" smtClean="0">
                <a:solidFill>
                  <a:srgbClr val="FF0000"/>
                </a:solidFill>
              </a:rPr>
              <a:t>2.</a:t>
            </a:r>
            <a:r>
              <a:rPr lang="zh-CN" altLang="en-US" b="1" dirty="0" smtClean="0">
                <a:solidFill>
                  <a:srgbClr val="FF0000"/>
                </a:solidFill>
              </a:rPr>
              <a:t>什么</a:t>
            </a:r>
            <a:r>
              <a:rPr lang="zh-CN" altLang="en-US" b="1" dirty="0">
                <a:solidFill>
                  <a:srgbClr val="FF0000"/>
                </a:solidFill>
              </a:rPr>
              <a:t>是“全面”深化改革</a:t>
            </a:r>
            <a:endParaRPr lang="zh-CN" altLang="en-US" b="1" dirty="0">
              <a:solidFill>
                <a:srgbClr val="FF0000"/>
              </a:solidFill>
            </a:endParaRPr>
          </a:p>
          <a:p>
            <a:r>
              <a:rPr lang="zh-CN" altLang="en-US" sz="1400" b="1" dirty="0"/>
              <a:t>（</a:t>
            </a:r>
            <a:r>
              <a:rPr lang="en-US" altLang="zh-CN" sz="1400" b="1" dirty="0"/>
              <a:t>1</a:t>
            </a:r>
            <a:r>
              <a:rPr lang="zh-CN" altLang="en-US" sz="1400" b="1" dirty="0"/>
              <a:t>）改革目标的总体性</a:t>
            </a:r>
            <a:endParaRPr lang="zh-CN" altLang="en-US" sz="1400" b="1" dirty="0"/>
          </a:p>
          <a:p>
            <a:r>
              <a:rPr lang="zh-CN" altLang="en-US" sz="1400" b="1" dirty="0"/>
              <a:t>（</a:t>
            </a:r>
            <a:r>
              <a:rPr lang="en-US" altLang="zh-CN" sz="1400" b="1" dirty="0"/>
              <a:t>2</a:t>
            </a:r>
            <a:r>
              <a:rPr lang="zh-CN" altLang="en-US" sz="1400" b="1" dirty="0"/>
              <a:t>）改革领域的全面性</a:t>
            </a:r>
            <a:endParaRPr lang="zh-CN" altLang="en-US" sz="1400" b="1" dirty="0"/>
          </a:p>
          <a:p>
            <a:r>
              <a:rPr lang="zh-CN" altLang="en-US" sz="1400" b="1" dirty="0"/>
              <a:t>（</a:t>
            </a:r>
            <a:r>
              <a:rPr lang="en-US" altLang="zh-CN" sz="1400" b="1" dirty="0"/>
              <a:t>3</a:t>
            </a:r>
            <a:r>
              <a:rPr lang="zh-CN" altLang="en-US" sz="1400" b="1" dirty="0"/>
              <a:t>）改革机制的</a:t>
            </a:r>
            <a:r>
              <a:rPr lang="zh-CN" altLang="en-US" sz="1400" b="1" dirty="0" smtClean="0"/>
              <a:t>系统性</a:t>
            </a:r>
            <a:endParaRPr lang="zh-CN" altLang="en-US" b="1" dirty="0">
              <a:solidFill>
                <a:srgbClr val="FF0000"/>
              </a:solidFill>
            </a:endParaRPr>
          </a:p>
          <a:p>
            <a:r>
              <a:rPr lang="en-US" altLang="zh-CN" b="1" dirty="0" smtClean="0">
                <a:solidFill>
                  <a:srgbClr val="FF0000"/>
                </a:solidFill>
              </a:rPr>
              <a:t>3.</a:t>
            </a:r>
            <a:r>
              <a:rPr lang="zh-CN" altLang="en-US" b="1" dirty="0">
                <a:solidFill>
                  <a:srgbClr val="FF0000"/>
                </a:solidFill>
              </a:rPr>
              <a:t>全面深化改革总</a:t>
            </a:r>
            <a:r>
              <a:rPr lang="zh-CN" altLang="en-US" b="1" dirty="0" smtClean="0">
                <a:solidFill>
                  <a:srgbClr val="FF0000"/>
                </a:solidFill>
              </a:rPr>
              <a:t>目标</a:t>
            </a:r>
            <a:endParaRPr lang="en-US" altLang="zh-CN" b="1" dirty="0" smtClean="0">
              <a:solidFill>
                <a:srgbClr val="FF0000"/>
              </a:solidFill>
            </a:endParaRPr>
          </a:p>
          <a:p>
            <a:r>
              <a:rPr lang="zh-CN" altLang="en-US" sz="1400" b="1" dirty="0"/>
              <a:t>完善和发展中国特色社会主义制度，国家治理体系和治理能力</a:t>
            </a:r>
            <a:r>
              <a:rPr lang="zh-CN" altLang="en-US" sz="1400" b="1" dirty="0" smtClean="0"/>
              <a:t>现代化</a:t>
            </a:r>
            <a:endParaRPr lang="zh-CN" altLang="en-US" b="1" dirty="0">
              <a:solidFill>
                <a:srgbClr val="FF0000"/>
              </a:solidFill>
            </a:endParaRPr>
          </a:p>
        </p:txBody>
      </p:sp>
      <p:sp>
        <p:nvSpPr>
          <p:cNvPr id="9" name="文本框 8"/>
          <p:cNvSpPr txBox="1"/>
          <p:nvPr/>
        </p:nvSpPr>
        <p:spPr>
          <a:xfrm>
            <a:off x="3916832" y="575820"/>
            <a:ext cx="5272884" cy="4093428"/>
          </a:xfrm>
          <a:prstGeom prst="rect">
            <a:avLst/>
          </a:prstGeom>
          <a:noFill/>
        </p:spPr>
        <p:txBody>
          <a:bodyPr wrap="square">
            <a:spAutoFit/>
          </a:bodyPr>
          <a:lstStyle/>
          <a:p>
            <a:r>
              <a:rPr lang="en-US" altLang="zh-CN" b="1" dirty="0" smtClean="0">
                <a:solidFill>
                  <a:srgbClr val="FF0000"/>
                </a:solidFill>
              </a:rPr>
              <a:t>4</a:t>
            </a:r>
            <a:r>
              <a:rPr lang="zh-CN" altLang="en-US" b="1" dirty="0" smtClean="0">
                <a:solidFill>
                  <a:srgbClr val="FF0000"/>
                </a:solidFill>
              </a:rPr>
              <a:t>、全面</a:t>
            </a:r>
            <a:r>
              <a:rPr lang="zh-CN" altLang="en-US" b="1" dirty="0">
                <a:solidFill>
                  <a:srgbClr val="FF0000"/>
                </a:solidFill>
              </a:rPr>
              <a:t>深化改革是有方向、有立场、有原则的</a:t>
            </a:r>
            <a:endParaRPr lang="zh-CN" altLang="en-US" b="1" dirty="0">
              <a:solidFill>
                <a:srgbClr val="FF0000"/>
              </a:solidFill>
            </a:endParaRPr>
          </a:p>
          <a:p>
            <a:r>
              <a:rPr lang="zh-CN" altLang="en-US" sz="1400" b="1" dirty="0"/>
              <a:t>（</a:t>
            </a:r>
            <a:r>
              <a:rPr lang="en-US" altLang="zh-CN" sz="1400" b="1" dirty="0"/>
              <a:t>1</a:t>
            </a:r>
            <a:r>
              <a:rPr lang="zh-CN" altLang="en-US" sz="1400" b="1" dirty="0"/>
              <a:t>）方向：坚持社会主义市场经济改革方向</a:t>
            </a:r>
            <a:endParaRPr lang="zh-CN" altLang="en-US" sz="1400" b="1" dirty="0"/>
          </a:p>
          <a:p>
            <a:r>
              <a:rPr lang="zh-CN" altLang="en-US" sz="1400" b="1" dirty="0"/>
              <a:t>（</a:t>
            </a:r>
            <a:r>
              <a:rPr lang="en-US" altLang="zh-CN" sz="1400" b="1" dirty="0"/>
              <a:t>2</a:t>
            </a:r>
            <a:r>
              <a:rPr lang="zh-CN" altLang="en-US" sz="1400" b="1" dirty="0"/>
              <a:t>）立场：必须以增进民生福祉、提高人民生活品质为出发点和落脚点</a:t>
            </a:r>
            <a:endParaRPr lang="zh-CN" altLang="en-US" sz="1400" b="1" dirty="0"/>
          </a:p>
          <a:p>
            <a:r>
              <a:rPr lang="zh-CN" altLang="en-US" sz="1400" b="1" dirty="0"/>
              <a:t>（</a:t>
            </a:r>
            <a:r>
              <a:rPr lang="en-US" altLang="zh-CN" sz="1400" b="1" dirty="0"/>
              <a:t>3</a:t>
            </a:r>
            <a:r>
              <a:rPr lang="zh-CN" altLang="en-US" sz="1400" b="1" dirty="0"/>
              <a:t>）原则：做到“六个紧紧围绕”</a:t>
            </a:r>
            <a:endParaRPr lang="en-US" altLang="zh-CN" sz="1400" b="1" dirty="0"/>
          </a:p>
          <a:p>
            <a:r>
              <a:rPr lang="en-US" altLang="zh-CN" b="1" dirty="0" smtClean="0">
                <a:solidFill>
                  <a:srgbClr val="FF0000"/>
                </a:solidFill>
              </a:rPr>
              <a:t>5.</a:t>
            </a:r>
            <a:r>
              <a:rPr lang="zh-CN" altLang="en-US" b="1" dirty="0">
                <a:solidFill>
                  <a:srgbClr val="FF0000"/>
                </a:solidFill>
              </a:rPr>
              <a:t>构建对外开放新</a:t>
            </a:r>
            <a:r>
              <a:rPr lang="zh-CN" altLang="en-US" b="1" dirty="0" smtClean="0">
                <a:solidFill>
                  <a:srgbClr val="FF0000"/>
                </a:solidFill>
              </a:rPr>
              <a:t>格局</a:t>
            </a:r>
            <a:endParaRPr lang="en-US" altLang="zh-CN" b="1" dirty="0" smtClean="0">
              <a:solidFill>
                <a:srgbClr val="FF0000"/>
              </a:solidFill>
            </a:endParaRPr>
          </a:p>
          <a:p>
            <a:r>
              <a:rPr lang="zh-CN" altLang="en-US" sz="1400" b="1" dirty="0"/>
              <a:t>（</a:t>
            </a:r>
            <a:r>
              <a:rPr lang="en-US" altLang="zh-CN" sz="1400" b="1" dirty="0"/>
              <a:t>1</a:t>
            </a:r>
            <a:r>
              <a:rPr lang="zh-CN" altLang="en-US" sz="1400" b="1" dirty="0"/>
              <a:t>）实行更加积极主动的开放战略</a:t>
            </a:r>
            <a:endParaRPr lang="zh-CN" altLang="en-US" sz="1400" b="1" dirty="0"/>
          </a:p>
          <a:p>
            <a:r>
              <a:rPr lang="zh-CN" altLang="en-US" sz="1400" b="1" dirty="0"/>
              <a:t>（</a:t>
            </a:r>
            <a:r>
              <a:rPr lang="en-US" altLang="zh-CN" sz="1400" b="1" dirty="0"/>
              <a:t>2</a:t>
            </a:r>
            <a:r>
              <a:rPr lang="zh-CN" altLang="en-US" sz="1400" b="1" dirty="0"/>
              <a:t>）构建互利共赢、多元平衡、安全高效的开放型经济体系</a:t>
            </a:r>
            <a:endParaRPr lang="zh-CN" altLang="en-US" sz="1400" b="1" dirty="0"/>
          </a:p>
          <a:p>
            <a:r>
              <a:rPr lang="zh-CN" altLang="en-US" sz="1400" b="1" dirty="0"/>
              <a:t>（</a:t>
            </a:r>
            <a:r>
              <a:rPr lang="en-US" altLang="zh-CN" sz="1400" b="1" dirty="0"/>
              <a:t>3</a:t>
            </a:r>
            <a:r>
              <a:rPr lang="zh-CN" altLang="en-US" sz="1400" b="1" dirty="0"/>
              <a:t>）推动共建“一带一路”高质量发展</a:t>
            </a:r>
            <a:endParaRPr lang="en-US" altLang="zh-CN" sz="1400" b="1" dirty="0"/>
          </a:p>
          <a:p>
            <a:r>
              <a:rPr lang="en-US" altLang="zh-CN" b="1" dirty="0" smtClean="0">
                <a:solidFill>
                  <a:srgbClr val="FF0000"/>
                </a:solidFill>
              </a:rPr>
              <a:t>6.</a:t>
            </a:r>
            <a:r>
              <a:rPr lang="zh-CN" altLang="en-US" b="1" dirty="0">
                <a:solidFill>
                  <a:srgbClr val="FF0000"/>
                </a:solidFill>
              </a:rPr>
              <a:t>推动共建“一带一路”高质量发展</a:t>
            </a:r>
            <a:endParaRPr lang="en-US" altLang="zh-CN" b="1" dirty="0">
              <a:solidFill>
                <a:srgbClr val="FF0000"/>
              </a:solidFill>
            </a:endParaRPr>
          </a:p>
          <a:p>
            <a:r>
              <a:rPr lang="zh-CN" altLang="en-US" b="1" dirty="0"/>
              <a:t>（</a:t>
            </a:r>
            <a:r>
              <a:rPr lang="en-US" altLang="zh-CN" b="1" dirty="0"/>
              <a:t>1</a:t>
            </a:r>
            <a:r>
              <a:rPr lang="zh-CN" altLang="en-US" b="1" dirty="0"/>
              <a:t>）坚持共商共建共享原则</a:t>
            </a:r>
            <a:endParaRPr lang="en-US" altLang="zh-CN" b="1" dirty="0"/>
          </a:p>
          <a:p>
            <a:r>
              <a:rPr lang="zh-CN" altLang="en-US" b="1" dirty="0"/>
              <a:t>（</a:t>
            </a:r>
            <a:r>
              <a:rPr lang="en-US" altLang="zh-CN" b="1" dirty="0"/>
              <a:t>2</a:t>
            </a:r>
            <a:r>
              <a:rPr lang="zh-CN" altLang="en-US" b="1" dirty="0"/>
              <a:t>）基础设施更加通畅</a:t>
            </a:r>
            <a:endParaRPr lang="zh-CN" altLang="en-US" b="1" dirty="0"/>
          </a:p>
          <a:p>
            <a:r>
              <a:rPr lang="zh-CN" altLang="en-US" b="1" dirty="0"/>
              <a:t>（</a:t>
            </a:r>
            <a:r>
              <a:rPr lang="en-US" altLang="zh-CN" b="1" dirty="0"/>
              <a:t>3</a:t>
            </a:r>
            <a:r>
              <a:rPr lang="zh-CN" altLang="en-US" b="1" dirty="0"/>
              <a:t>）合作层次进一步提升</a:t>
            </a:r>
            <a:endParaRPr lang="zh-CN" altLang="en-US" b="1" dirty="0"/>
          </a:p>
          <a:p>
            <a:r>
              <a:rPr lang="zh-CN" altLang="en-US" b="1" dirty="0"/>
              <a:t>（</a:t>
            </a:r>
            <a:r>
              <a:rPr lang="en-US" altLang="zh-CN" b="1" dirty="0"/>
              <a:t>4</a:t>
            </a:r>
            <a:r>
              <a:rPr lang="zh-CN" altLang="en-US" b="1" dirty="0"/>
              <a:t>）政策对接更加顺畅</a:t>
            </a:r>
            <a:endParaRPr lang="zh-CN" altLang="en-US" b="1" dirty="0"/>
          </a:p>
          <a:p>
            <a:r>
              <a:rPr lang="zh-CN" altLang="en-US" b="1" dirty="0"/>
              <a:t>（</a:t>
            </a:r>
            <a:r>
              <a:rPr lang="en-US" altLang="zh-CN" b="1" dirty="0"/>
              <a:t>5</a:t>
            </a:r>
            <a:r>
              <a:rPr lang="zh-CN" altLang="en-US" b="1" dirty="0"/>
              <a:t>）人文交流更加深入</a:t>
            </a:r>
            <a:endParaRPr lang="zh-CN" altLang="en-US" b="1" dirty="0">
              <a:solidFill>
                <a:srgbClr val="FF0000"/>
              </a:solidFill>
            </a:endParaRPr>
          </a:p>
          <a:p>
            <a:endParaRPr lang="zh-CN" altLang="en-US" b="1" dirty="0">
              <a:solidFill>
                <a:srgbClr val="FF0000"/>
              </a:solidFill>
            </a:endParaRPr>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599396"/>
          </a:xfrm>
        </p:spPr>
        <p:txBody>
          <a:bodyPr/>
          <a:lstStyle/>
          <a:p>
            <a:r>
              <a:rPr lang="zh-CN" altLang="en-US" sz="2800" dirty="0"/>
              <a:t>二、难点</a:t>
            </a:r>
            <a:r>
              <a:rPr lang="zh-CN" altLang="en-US" sz="2800" dirty="0" smtClean="0"/>
              <a:t>：</a:t>
            </a:r>
            <a:endParaRPr lang="zh-CN" altLang="en-US" sz="2800" dirty="0"/>
          </a:p>
        </p:txBody>
      </p:sp>
      <p:sp>
        <p:nvSpPr>
          <p:cNvPr id="3" name="矩形 2"/>
          <p:cNvSpPr/>
          <p:nvPr/>
        </p:nvSpPr>
        <p:spPr>
          <a:xfrm>
            <a:off x="367259" y="707026"/>
            <a:ext cx="8776741" cy="2769989"/>
          </a:xfrm>
          <a:prstGeom prst="rect">
            <a:avLst/>
          </a:prstGeom>
        </p:spPr>
        <p:txBody>
          <a:bodyPr wrap="square">
            <a:spAutoFit/>
          </a:bodyPr>
          <a:lstStyle/>
          <a:p>
            <a:pPr>
              <a:lnSpc>
                <a:spcPct val="150000"/>
              </a:lnSpc>
            </a:pPr>
            <a:r>
              <a:rPr lang="en-US" altLang="zh-CN" sz="2000" dirty="0">
                <a:solidFill>
                  <a:srgbClr val="FF0000"/>
                </a:solidFill>
              </a:rPr>
              <a:t>1</a:t>
            </a:r>
            <a:r>
              <a:rPr lang="zh-CN" altLang="en-US" sz="2000" dirty="0">
                <a:solidFill>
                  <a:srgbClr val="FF0000"/>
                </a:solidFill>
              </a:rPr>
              <a:t>、全面深化改革主要围绕哪些领域进行改革</a:t>
            </a:r>
            <a:r>
              <a:rPr lang="en-US" altLang="zh-CN" sz="2000" dirty="0" smtClean="0">
                <a:solidFill>
                  <a:srgbClr val="FF0000"/>
                </a:solidFill>
              </a:rPr>
              <a:t>?</a:t>
            </a:r>
            <a:endParaRPr lang="en-US" altLang="zh-CN" sz="1600" dirty="0" smtClean="0"/>
          </a:p>
          <a:p>
            <a:pPr>
              <a:lnSpc>
                <a:spcPct val="150000"/>
              </a:lnSpc>
            </a:pPr>
            <a:r>
              <a:rPr lang="zh-CN" altLang="en-US" sz="1600" dirty="0" smtClean="0"/>
              <a:t>第一</a:t>
            </a:r>
            <a:r>
              <a:rPr lang="zh-CN" altLang="en-US" sz="1600" dirty="0"/>
              <a:t>，紧紧围绕使市场在资源配置中起决定性作用深化经济体制改革。</a:t>
            </a:r>
            <a:endParaRPr lang="zh-CN" altLang="en-US" sz="1600" dirty="0"/>
          </a:p>
          <a:p>
            <a:pPr>
              <a:lnSpc>
                <a:spcPct val="150000"/>
              </a:lnSpc>
            </a:pPr>
            <a:r>
              <a:rPr lang="zh-CN" altLang="en-US" sz="1600" dirty="0"/>
              <a:t>第二，紧紧围绕坚持党的领导、人民当家作主、依法治国有机统一深化政治体制改革。</a:t>
            </a:r>
            <a:endParaRPr lang="zh-CN" altLang="en-US" sz="1600" dirty="0"/>
          </a:p>
          <a:p>
            <a:pPr>
              <a:lnSpc>
                <a:spcPct val="150000"/>
              </a:lnSpc>
            </a:pPr>
            <a:r>
              <a:rPr lang="zh-CN" altLang="en-US" sz="1600" dirty="0"/>
              <a:t>第三，紧紧围绕建设社会主义核心价值体系、社会主义文化强国深化文化体制改革。</a:t>
            </a:r>
            <a:endParaRPr lang="zh-CN" altLang="en-US" sz="1600" dirty="0"/>
          </a:p>
          <a:p>
            <a:pPr>
              <a:lnSpc>
                <a:spcPct val="150000"/>
              </a:lnSpc>
            </a:pPr>
            <a:r>
              <a:rPr lang="zh-CN" altLang="en-US" sz="1600" dirty="0"/>
              <a:t>第四，紧紧围绕更好保障和改善民生、促进社会公平正义深化社会体制改革。</a:t>
            </a:r>
            <a:endParaRPr lang="zh-CN" altLang="en-US" sz="1600" dirty="0"/>
          </a:p>
          <a:p>
            <a:pPr>
              <a:lnSpc>
                <a:spcPct val="150000"/>
              </a:lnSpc>
            </a:pPr>
            <a:r>
              <a:rPr lang="zh-CN" altLang="en-US" sz="1600" dirty="0"/>
              <a:t>第五，紧紧围绕建设美丽中国深化生态文明体制改革。</a:t>
            </a:r>
            <a:endParaRPr lang="zh-CN" altLang="en-US" sz="1600" dirty="0"/>
          </a:p>
          <a:p>
            <a:pPr>
              <a:lnSpc>
                <a:spcPct val="150000"/>
              </a:lnSpc>
            </a:pPr>
            <a:r>
              <a:rPr lang="zh-CN" altLang="en-US" sz="1600" dirty="0"/>
              <a:t>第六，紧紧围绕提高科学执政、民主执政、依法执政水平深化党的建设制度改革。</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8975" y="66888"/>
            <a:ext cx="9201950" cy="654667"/>
          </a:xfrm>
        </p:spPr>
        <p:txBody>
          <a:bodyPr/>
          <a:lstStyle/>
          <a:p>
            <a:pPr algn="ctr"/>
            <a:r>
              <a:rPr lang="zh-CN" altLang="en-US" sz="2800" dirty="0" smtClean="0"/>
              <a:t>第六讲 </a:t>
            </a:r>
            <a:r>
              <a:rPr lang="zh-CN" altLang="en-US" sz="2800" dirty="0"/>
              <a:t>以新发展理念引领高质量发展</a:t>
            </a:r>
            <a:endParaRPr lang="zh-CN" altLang="en-US" sz="2800" dirty="0"/>
          </a:p>
        </p:txBody>
      </p:sp>
      <p:sp>
        <p:nvSpPr>
          <p:cNvPr id="4" name="TextBox 3"/>
          <p:cNvSpPr txBox="1"/>
          <p:nvPr/>
        </p:nvSpPr>
        <p:spPr>
          <a:xfrm>
            <a:off x="136921" y="526852"/>
            <a:ext cx="4367624" cy="4293483"/>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a:solidFill>
                  <a:srgbClr val="FF0000"/>
                </a:solidFill>
              </a:rPr>
              <a:t>1.</a:t>
            </a:r>
            <a:r>
              <a:rPr lang="zh-CN" altLang="en-US" dirty="0">
                <a:solidFill>
                  <a:srgbClr val="FF0000"/>
                </a:solidFill>
              </a:rPr>
              <a:t>把握新发展阶段</a:t>
            </a:r>
            <a:endParaRPr lang="zh-CN" altLang="en-US" dirty="0">
              <a:solidFill>
                <a:srgbClr val="FF0000"/>
              </a:solidFill>
            </a:endParaRPr>
          </a:p>
          <a:p>
            <a:pPr>
              <a:lnSpc>
                <a:spcPct val="150000"/>
              </a:lnSpc>
            </a:pPr>
            <a:r>
              <a:rPr lang="en-US" altLang="zh-CN" dirty="0">
                <a:solidFill>
                  <a:srgbClr val="FF0000"/>
                </a:solidFill>
              </a:rPr>
              <a:t>2.</a:t>
            </a:r>
            <a:r>
              <a:rPr lang="zh-CN" altLang="en-US" dirty="0">
                <a:solidFill>
                  <a:srgbClr val="FF0000"/>
                </a:solidFill>
              </a:rPr>
              <a:t>贯彻新发展理念</a:t>
            </a:r>
            <a:endParaRPr lang="zh-CN" altLang="en-US" dirty="0">
              <a:solidFill>
                <a:srgbClr val="FF0000"/>
              </a:solidFill>
            </a:endParaRPr>
          </a:p>
          <a:p>
            <a:pPr>
              <a:lnSpc>
                <a:spcPct val="150000"/>
              </a:lnSpc>
            </a:pPr>
            <a:r>
              <a:rPr lang="en-US" altLang="zh-CN" dirty="0">
                <a:solidFill>
                  <a:srgbClr val="FF0000"/>
                </a:solidFill>
              </a:rPr>
              <a:t>3.</a:t>
            </a:r>
            <a:r>
              <a:rPr lang="zh-CN" altLang="en-US" dirty="0">
                <a:solidFill>
                  <a:srgbClr val="FF0000"/>
                </a:solidFill>
              </a:rPr>
              <a:t>构建新发展格局</a:t>
            </a:r>
            <a:endParaRPr lang="zh-CN" altLang="en-US" dirty="0">
              <a:solidFill>
                <a:srgbClr val="FF0000"/>
              </a:solidFill>
            </a:endParaRPr>
          </a:p>
          <a:p>
            <a:pPr>
              <a:lnSpc>
                <a:spcPct val="150000"/>
              </a:lnSpc>
            </a:pPr>
            <a:r>
              <a:rPr lang="en-US" altLang="zh-CN" dirty="0">
                <a:solidFill>
                  <a:srgbClr val="FF0000"/>
                </a:solidFill>
              </a:rPr>
              <a:t>4.</a:t>
            </a:r>
            <a:r>
              <a:rPr lang="zh-CN" altLang="en-US" dirty="0">
                <a:solidFill>
                  <a:srgbClr val="FF0000"/>
                </a:solidFill>
              </a:rPr>
              <a:t>我国经济发展进入新</a:t>
            </a:r>
            <a:r>
              <a:rPr lang="zh-CN" altLang="en-US" dirty="0" smtClean="0">
                <a:solidFill>
                  <a:srgbClr val="FF0000"/>
                </a:solidFill>
              </a:rPr>
              <a:t>常态</a:t>
            </a:r>
            <a:endParaRPr lang="en-US" altLang="zh-CN" dirty="0" smtClean="0">
              <a:solidFill>
                <a:srgbClr val="FF0000"/>
              </a:solidFill>
            </a:endParaRPr>
          </a:p>
          <a:p>
            <a:pPr>
              <a:lnSpc>
                <a:spcPct val="150000"/>
              </a:lnSpc>
            </a:pPr>
            <a:r>
              <a:rPr lang="en-US" altLang="zh-CN" dirty="0" smtClean="0">
                <a:solidFill>
                  <a:srgbClr val="FF0000"/>
                </a:solidFill>
              </a:rPr>
              <a:t>5.</a:t>
            </a:r>
            <a:r>
              <a:rPr lang="zh-CN" altLang="en-US" dirty="0">
                <a:solidFill>
                  <a:srgbClr val="FF0000"/>
                </a:solidFill>
              </a:rPr>
              <a:t>高质量发展是全面建设社会主义现代化国家的首要</a:t>
            </a:r>
            <a:r>
              <a:rPr lang="zh-CN" altLang="en-US" dirty="0" smtClean="0">
                <a:solidFill>
                  <a:srgbClr val="FF0000"/>
                </a:solidFill>
              </a:rPr>
              <a:t>任务</a:t>
            </a:r>
            <a:endParaRPr lang="zh-CN" altLang="en-US" dirty="0">
              <a:solidFill>
                <a:srgbClr val="FF0000"/>
              </a:solidFill>
            </a:endParaRPr>
          </a:p>
          <a:p>
            <a:pPr>
              <a:lnSpc>
                <a:spcPct val="150000"/>
              </a:lnSpc>
            </a:pPr>
            <a:r>
              <a:rPr lang="en-US" altLang="zh-CN" dirty="0" smtClean="0">
                <a:solidFill>
                  <a:srgbClr val="FF0000"/>
                </a:solidFill>
              </a:rPr>
              <a:t>6.</a:t>
            </a:r>
            <a:r>
              <a:rPr lang="zh-CN" altLang="en-US" dirty="0">
                <a:solidFill>
                  <a:srgbClr val="FF0000"/>
                </a:solidFill>
              </a:rPr>
              <a:t>以供给侧结构性改革为主线</a:t>
            </a:r>
            <a:endParaRPr lang="zh-CN" altLang="en-US" dirty="0">
              <a:solidFill>
                <a:srgbClr val="FF0000"/>
              </a:solidFill>
            </a:endParaRPr>
          </a:p>
          <a:p>
            <a:pPr>
              <a:lnSpc>
                <a:spcPct val="150000"/>
              </a:lnSpc>
            </a:pPr>
            <a:endParaRPr lang="en-US" altLang="zh-CN" dirty="0" smtClean="0">
              <a:solidFill>
                <a:srgbClr val="FF0000"/>
              </a:solidFill>
            </a:endParaRPr>
          </a:p>
          <a:p>
            <a:pPr>
              <a:lnSpc>
                <a:spcPct val="150000"/>
              </a:lnSpc>
            </a:pPr>
            <a:endParaRPr lang="zh-CN" altLang="en-US" dirty="0">
              <a:solidFill>
                <a:srgbClr val="FF0000"/>
              </a:solidFill>
            </a:endParaRPr>
          </a:p>
        </p:txBody>
      </p:sp>
      <p:sp>
        <p:nvSpPr>
          <p:cNvPr id="3" name="矩形 2"/>
          <p:cNvSpPr/>
          <p:nvPr/>
        </p:nvSpPr>
        <p:spPr>
          <a:xfrm>
            <a:off x="4572000" y="763721"/>
            <a:ext cx="4572000" cy="1477328"/>
          </a:xfrm>
          <a:prstGeom prst="rect">
            <a:avLst/>
          </a:prstGeom>
        </p:spPr>
        <p:txBody>
          <a:bodyPr>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smtClean="0">
                <a:solidFill>
                  <a:srgbClr val="FF0000"/>
                </a:solidFill>
              </a:rPr>
              <a:t>、如何</a:t>
            </a:r>
            <a:r>
              <a:rPr lang="zh-CN" altLang="en-US" sz="2000" dirty="0">
                <a:solidFill>
                  <a:srgbClr val="FF0000"/>
                </a:solidFill>
              </a:rPr>
              <a:t>理解我国进入新发展阶段的基本依据？</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39646" y="-45284"/>
            <a:ext cx="8476938" cy="654667"/>
          </a:xfrm>
        </p:spPr>
        <p:txBody>
          <a:bodyPr/>
          <a:lstStyle/>
          <a:p>
            <a:pPr algn="ctr"/>
            <a:r>
              <a:rPr lang="zh-CN" altLang="en-US" sz="2800" dirty="0" smtClean="0"/>
              <a:t>第六讲 </a:t>
            </a:r>
            <a:r>
              <a:rPr lang="zh-CN" altLang="en-US" sz="2800" dirty="0"/>
              <a:t>以新发展理念引领高质量发展</a:t>
            </a:r>
            <a:endParaRPr lang="zh-CN" altLang="en-US" sz="2800" dirty="0"/>
          </a:p>
        </p:txBody>
      </p:sp>
      <p:sp>
        <p:nvSpPr>
          <p:cNvPr id="6" name="文本框 5"/>
          <p:cNvSpPr txBox="1"/>
          <p:nvPr/>
        </p:nvSpPr>
        <p:spPr>
          <a:xfrm>
            <a:off x="90524" y="777884"/>
            <a:ext cx="4039266" cy="4616648"/>
          </a:xfrm>
          <a:prstGeom prst="rect">
            <a:avLst/>
          </a:prstGeom>
          <a:noFill/>
        </p:spPr>
        <p:txBody>
          <a:bodyPr wrap="square">
            <a:spAutoFit/>
          </a:bodyPr>
          <a:lstStyle/>
          <a:p>
            <a:r>
              <a:rPr lang="en-US" altLang="zh-CN" b="1" dirty="0">
                <a:solidFill>
                  <a:srgbClr val="FF0000"/>
                </a:solidFill>
              </a:rPr>
              <a:t>1.</a:t>
            </a:r>
            <a:r>
              <a:rPr lang="zh-CN" altLang="en-US" b="1" dirty="0">
                <a:solidFill>
                  <a:srgbClr val="FF0000"/>
                </a:solidFill>
              </a:rPr>
              <a:t>把握新</a:t>
            </a:r>
            <a:r>
              <a:rPr lang="zh-CN" altLang="en-US" b="1" dirty="0" smtClean="0">
                <a:solidFill>
                  <a:srgbClr val="FF0000"/>
                </a:solidFill>
              </a:rPr>
              <a:t>发展阶段</a:t>
            </a:r>
            <a:endParaRPr lang="en-US" altLang="zh-CN" b="1" dirty="0" smtClean="0">
              <a:solidFill>
                <a:srgbClr val="FF0000"/>
              </a:solidFill>
            </a:endParaRPr>
          </a:p>
          <a:p>
            <a:r>
              <a:rPr lang="zh-CN" altLang="en-US" sz="1400" b="1" dirty="0" smtClean="0"/>
              <a:t>（</a:t>
            </a:r>
            <a:r>
              <a:rPr lang="en-US" altLang="zh-CN" sz="1400" b="1" dirty="0" smtClean="0"/>
              <a:t>1</a:t>
            </a:r>
            <a:r>
              <a:rPr lang="zh-CN" altLang="en-US" sz="1400" b="1" dirty="0"/>
              <a:t>）进入新发展阶段是我国经济发展的历史方位</a:t>
            </a:r>
            <a:endParaRPr lang="zh-CN" altLang="en-US" sz="1400" b="1" dirty="0"/>
          </a:p>
          <a:p>
            <a:r>
              <a:rPr lang="zh-CN" altLang="en-US" sz="1400" b="1" dirty="0" smtClean="0"/>
              <a:t>（</a:t>
            </a:r>
            <a:r>
              <a:rPr lang="en-US" altLang="zh-CN" sz="1400" b="1" dirty="0" smtClean="0"/>
              <a:t>2</a:t>
            </a:r>
            <a:r>
              <a:rPr lang="zh-CN" altLang="en-US" sz="1400" b="1" dirty="0"/>
              <a:t>）新发展阶段是社会主义初级阶段中的一个阶段；新发展阶段是全面建设社会主义现代化国家的</a:t>
            </a:r>
            <a:r>
              <a:rPr lang="zh-CN" altLang="en-US" sz="1400" b="1" dirty="0" smtClean="0"/>
              <a:t>阶段；</a:t>
            </a:r>
            <a:endParaRPr lang="zh-CN" altLang="en-US" sz="1400" b="1" dirty="0"/>
          </a:p>
          <a:p>
            <a:r>
              <a:rPr lang="en-US" altLang="zh-CN" b="1" dirty="0" smtClean="0">
                <a:solidFill>
                  <a:srgbClr val="FF0000"/>
                </a:solidFill>
              </a:rPr>
              <a:t>2</a:t>
            </a:r>
            <a:r>
              <a:rPr lang="en-US" altLang="zh-CN" b="1" dirty="0">
                <a:solidFill>
                  <a:srgbClr val="FF0000"/>
                </a:solidFill>
              </a:rPr>
              <a:t>.</a:t>
            </a:r>
            <a:r>
              <a:rPr lang="zh-CN" altLang="en-US" b="1" dirty="0">
                <a:solidFill>
                  <a:srgbClr val="FF0000"/>
                </a:solidFill>
              </a:rPr>
              <a:t>贯彻新发展</a:t>
            </a:r>
            <a:r>
              <a:rPr lang="zh-CN" altLang="en-US" b="1" dirty="0" smtClean="0">
                <a:solidFill>
                  <a:srgbClr val="FF0000"/>
                </a:solidFill>
              </a:rPr>
              <a:t>理念</a:t>
            </a:r>
            <a:endParaRPr lang="en-US" altLang="zh-CN" b="1" dirty="0" smtClean="0">
              <a:solidFill>
                <a:srgbClr val="FF0000"/>
              </a:solidFill>
            </a:endParaRPr>
          </a:p>
          <a:p>
            <a:r>
              <a:rPr lang="zh-CN" altLang="en-US" sz="1400" b="1" dirty="0"/>
              <a:t>创新、协调、绿色、开放、共享</a:t>
            </a:r>
            <a:endParaRPr lang="zh-CN" altLang="en-US" sz="1400" b="1" dirty="0"/>
          </a:p>
          <a:p>
            <a:r>
              <a:rPr lang="en-US" altLang="zh-CN" b="1" dirty="0">
                <a:solidFill>
                  <a:srgbClr val="FF0000"/>
                </a:solidFill>
              </a:rPr>
              <a:t>3.</a:t>
            </a:r>
            <a:r>
              <a:rPr lang="zh-CN" altLang="en-US" b="1" dirty="0">
                <a:solidFill>
                  <a:srgbClr val="FF0000"/>
                </a:solidFill>
              </a:rPr>
              <a:t>构建新发展</a:t>
            </a:r>
            <a:r>
              <a:rPr lang="zh-CN" altLang="en-US" b="1" dirty="0" smtClean="0">
                <a:solidFill>
                  <a:srgbClr val="FF0000"/>
                </a:solidFill>
              </a:rPr>
              <a:t>格局</a:t>
            </a:r>
            <a:endParaRPr lang="en-US" altLang="zh-CN" b="1" dirty="0" smtClean="0">
              <a:solidFill>
                <a:srgbClr val="FF0000"/>
              </a:solidFill>
            </a:endParaRPr>
          </a:p>
          <a:p>
            <a:r>
              <a:rPr lang="zh-CN" altLang="en-US" sz="1400" b="1" dirty="0"/>
              <a:t>加快构建以国内大循环为主体、国内国际双循环相互促进的新发展格局</a:t>
            </a:r>
            <a:endParaRPr lang="zh-CN" altLang="en-US" sz="1400" b="1" dirty="0"/>
          </a:p>
          <a:p>
            <a:r>
              <a:rPr lang="en-US" altLang="zh-CN" b="1" dirty="0">
                <a:solidFill>
                  <a:srgbClr val="FF0000"/>
                </a:solidFill>
              </a:rPr>
              <a:t>4.</a:t>
            </a:r>
            <a:r>
              <a:rPr lang="zh-CN" altLang="en-US" b="1" dirty="0">
                <a:solidFill>
                  <a:srgbClr val="FF0000"/>
                </a:solidFill>
              </a:rPr>
              <a:t>我国经济发展进入新</a:t>
            </a:r>
            <a:r>
              <a:rPr lang="zh-CN" altLang="en-US" b="1" dirty="0" smtClean="0">
                <a:solidFill>
                  <a:srgbClr val="FF0000"/>
                </a:solidFill>
              </a:rPr>
              <a:t>常态</a:t>
            </a:r>
            <a:endParaRPr lang="en-US" altLang="zh-CN" b="1" dirty="0" smtClean="0">
              <a:solidFill>
                <a:srgbClr val="FF0000"/>
              </a:solidFill>
            </a:endParaRPr>
          </a:p>
          <a:p>
            <a:r>
              <a:rPr lang="zh-CN" altLang="en-US" sz="1400" b="1" dirty="0"/>
              <a:t>我国经济发展进入新常态，已由高速增长阶段转向高质量发展阶段</a:t>
            </a:r>
            <a:endParaRPr lang="zh-CN" altLang="en-US" sz="1400" b="1" dirty="0"/>
          </a:p>
          <a:p>
            <a:r>
              <a:rPr lang="en-US" altLang="zh-CN" b="1" dirty="0">
                <a:solidFill>
                  <a:srgbClr val="FF0000"/>
                </a:solidFill>
              </a:rPr>
              <a:t>5</a:t>
            </a:r>
            <a:r>
              <a:rPr lang="en-US" altLang="zh-CN" b="1" dirty="0" smtClean="0">
                <a:solidFill>
                  <a:srgbClr val="FF0000"/>
                </a:solidFill>
              </a:rPr>
              <a:t>.</a:t>
            </a:r>
            <a:r>
              <a:rPr lang="zh-CN" altLang="en-US" b="1" dirty="0" smtClean="0">
                <a:solidFill>
                  <a:srgbClr val="FF0000"/>
                </a:solidFill>
              </a:rPr>
              <a:t>高质量发展是全面</a:t>
            </a:r>
            <a:r>
              <a:rPr lang="zh-CN" altLang="en-US" b="1" dirty="0">
                <a:solidFill>
                  <a:srgbClr val="FF0000"/>
                </a:solidFill>
              </a:rPr>
              <a:t>建设社会主义现代化国家的首要任务</a:t>
            </a:r>
            <a:endParaRPr lang="zh-CN" altLang="en-US" b="1" dirty="0">
              <a:solidFill>
                <a:srgbClr val="FF0000"/>
              </a:solidFill>
            </a:endParaRPr>
          </a:p>
          <a:p>
            <a:r>
              <a:rPr lang="zh-CN" altLang="en-US" sz="1400" b="1" dirty="0"/>
              <a:t>（</a:t>
            </a:r>
            <a:r>
              <a:rPr lang="en-US" altLang="zh-CN" sz="1400" b="1" dirty="0"/>
              <a:t>1</a:t>
            </a:r>
            <a:r>
              <a:rPr lang="zh-CN" altLang="en-US" sz="1400" b="1" dirty="0"/>
              <a:t>）为全面建设社会主义现代化国家提供更为坚实的物质基础</a:t>
            </a:r>
            <a:endParaRPr lang="zh-CN" altLang="en-US" sz="1400" b="1" dirty="0"/>
          </a:p>
          <a:p>
            <a:r>
              <a:rPr lang="zh-CN" altLang="en-US" sz="1400" b="1" dirty="0"/>
              <a:t>（</a:t>
            </a:r>
            <a:r>
              <a:rPr lang="en-US" altLang="zh-CN" sz="1400" b="1" dirty="0"/>
              <a:t>2</a:t>
            </a:r>
            <a:r>
              <a:rPr lang="zh-CN" altLang="en-US" sz="1400" b="1" dirty="0"/>
              <a:t>）是全面建设社会主义现代化国家的基本路径</a:t>
            </a:r>
            <a:endParaRPr lang="zh-CN" altLang="en-US" sz="1400" b="1" dirty="0"/>
          </a:p>
          <a:p>
            <a:endParaRPr lang="zh-CN" altLang="en-US" b="1" dirty="0">
              <a:solidFill>
                <a:srgbClr val="FF0000"/>
              </a:solidFill>
            </a:endParaRPr>
          </a:p>
        </p:txBody>
      </p:sp>
      <p:sp>
        <p:nvSpPr>
          <p:cNvPr id="9" name="文本框 8"/>
          <p:cNvSpPr txBox="1"/>
          <p:nvPr/>
        </p:nvSpPr>
        <p:spPr>
          <a:xfrm>
            <a:off x="4060846" y="534491"/>
            <a:ext cx="4955738" cy="2308324"/>
          </a:xfrm>
          <a:prstGeom prst="rect">
            <a:avLst/>
          </a:prstGeom>
          <a:noFill/>
        </p:spPr>
        <p:txBody>
          <a:bodyPr wrap="square">
            <a:spAutoFit/>
          </a:bodyPr>
          <a:lstStyle/>
          <a:p>
            <a:r>
              <a:rPr lang="zh-CN" altLang="en-US" sz="1400" b="1" dirty="0"/>
              <a:t>（</a:t>
            </a:r>
            <a:r>
              <a:rPr lang="en-US" altLang="zh-CN" sz="1400" b="1" dirty="0"/>
              <a:t>3</a:t>
            </a:r>
            <a:r>
              <a:rPr lang="zh-CN" altLang="en-US" sz="1400" b="1" dirty="0"/>
              <a:t>）是确保现代化建设能不断满足人民对美好生活需要的根本支撑</a:t>
            </a:r>
            <a:endParaRPr lang="zh-CN" altLang="en-US" sz="1400" b="1" dirty="0"/>
          </a:p>
          <a:p>
            <a:r>
              <a:rPr lang="zh-CN" altLang="en-US" sz="1400" b="1" dirty="0" smtClean="0"/>
              <a:t>（</a:t>
            </a:r>
            <a:r>
              <a:rPr lang="en-US" altLang="zh-CN" sz="1400" b="1" dirty="0" smtClean="0"/>
              <a:t>4</a:t>
            </a:r>
            <a:r>
              <a:rPr lang="zh-CN" altLang="en-US" sz="1400" b="1" dirty="0"/>
              <a:t>）是推动现代化建设行稳致远的重要</a:t>
            </a:r>
            <a:r>
              <a:rPr lang="zh-CN" altLang="en-US" sz="1400" b="1" dirty="0" smtClean="0"/>
              <a:t>保障</a:t>
            </a:r>
            <a:endParaRPr lang="en-US" altLang="zh-CN" sz="1400" b="1" dirty="0" smtClean="0"/>
          </a:p>
          <a:p>
            <a:r>
              <a:rPr lang="en-US" altLang="zh-CN" b="1" dirty="0">
                <a:solidFill>
                  <a:srgbClr val="FF0000"/>
                </a:solidFill>
              </a:rPr>
              <a:t>6</a:t>
            </a:r>
            <a:r>
              <a:rPr lang="zh-CN" altLang="en-US" b="1" dirty="0">
                <a:solidFill>
                  <a:srgbClr val="FF0000"/>
                </a:solidFill>
              </a:rPr>
              <a:t>、以供给侧结构性改革为主线</a:t>
            </a:r>
            <a:endParaRPr lang="zh-CN" altLang="en-US" b="1" dirty="0">
              <a:solidFill>
                <a:srgbClr val="FF0000"/>
              </a:solidFill>
            </a:endParaRPr>
          </a:p>
          <a:p>
            <a:r>
              <a:rPr lang="zh-CN" altLang="en-US" sz="1400" b="1" dirty="0" smtClean="0"/>
              <a:t>（</a:t>
            </a:r>
            <a:r>
              <a:rPr lang="en-US" altLang="zh-CN" sz="1400" b="1" dirty="0" smtClean="0"/>
              <a:t>1</a:t>
            </a:r>
            <a:r>
              <a:rPr lang="zh-CN" altLang="en-US" sz="1400" b="1" dirty="0" smtClean="0"/>
              <a:t>）内涵：增强</a:t>
            </a:r>
            <a:r>
              <a:rPr lang="zh-CN" altLang="en-US" sz="1400" b="1" dirty="0"/>
              <a:t>供给侧结构对需求变化的适应性、灵活性，不断让新的需求催生新的供给，让新的供给创造新的需求，在相互推动中实现经济发展</a:t>
            </a:r>
            <a:r>
              <a:rPr lang="zh-CN" altLang="en-US" sz="1400" b="1" dirty="0" smtClean="0"/>
              <a:t>。</a:t>
            </a:r>
            <a:endParaRPr lang="en-US" altLang="zh-CN" sz="1400" b="1" dirty="0" smtClean="0"/>
          </a:p>
          <a:p>
            <a:r>
              <a:rPr lang="zh-CN" altLang="en-US" sz="1400" b="1" dirty="0" smtClean="0"/>
              <a:t>（</a:t>
            </a:r>
            <a:r>
              <a:rPr lang="en-US" altLang="zh-CN" sz="1400" b="1" dirty="0" smtClean="0"/>
              <a:t>2</a:t>
            </a:r>
            <a:r>
              <a:rPr lang="zh-CN" altLang="en-US" sz="1400" b="1" dirty="0"/>
              <a:t>）目的：使我国供给能力更好满足广大人民日益增长的美好生活需要，从而实现社会主义生产目的</a:t>
            </a:r>
            <a:r>
              <a:rPr lang="zh-CN" altLang="en-US" sz="1400" b="1" dirty="0" smtClean="0"/>
              <a:t>。</a:t>
            </a:r>
            <a:endParaRPr lang="zh-CN" altLang="en-US" sz="1400" b="1" dirty="0"/>
          </a:p>
          <a:p>
            <a:endParaRPr lang="en-US" altLang="zh-CN" sz="1400" b="1" dirty="0" smtClean="0"/>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1024833"/>
          </a:xfrm>
        </p:spPr>
        <p:txBody>
          <a:bodyPr/>
          <a:lstStyle/>
          <a:p>
            <a:r>
              <a:rPr lang="zh-CN" altLang="en-US" sz="2800" dirty="0"/>
              <a:t>二、难点：</a:t>
            </a:r>
            <a:endParaRPr lang="zh-CN" altLang="en-US" sz="2800" dirty="0"/>
          </a:p>
          <a:p>
            <a:endParaRPr lang="zh-CN" altLang="en-US" dirty="0"/>
          </a:p>
        </p:txBody>
      </p:sp>
      <p:sp>
        <p:nvSpPr>
          <p:cNvPr id="3" name="矩形 2"/>
          <p:cNvSpPr/>
          <p:nvPr/>
        </p:nvSpPr>
        <p:spPr>
          <a:xfrm>
            <a:off x="457200" y="568942"/>
            <a:ext cx="8776741" cy="499111"/>
          </a:xfrm>
          <a:prstGeom prst="rect">
            <a:avLst/>
          </a:prstGeom>
        </p:spPr>
        <p:txBody>
          <a:bodyPr wrap="square">
            <a:spAutoFit/>
          </a:bodyPr>
          <a:lstStyle/>
          <a:p>
            <a:pPr>
              <a:lnSpc>
                <a:spcPct val="150000"/>
              </a:lnSpc>
            </a:pPr>
            <a:r>
              <a:rPr lang="en-US" altLang="zh-CN" sz="2000" dirty="0">
                <a:solidFill>
                  <a:srgbClr val="FF0000"/>
                </a:solidFill>
              </a:rPr>
              <a:t>1</a:t>
            </a:r>
            <a:r>
              <a:rPr lang="zh-CN" altLang="en-US" sz="2000" dirty="0">
                <a:solidFill>
                  <a:srgbClr val="FF0000"/>
                </a:solidFill>
              </a:rPr>
              <a:t>、如何理解我国进入新发展阶段的基本依据？</a:t>
            </a:r>
            <a:endParaRPr lang="zh-CN" altLang="en-US" sz="2000" dirty="0">
              <a:solidFill>
                <a:srgbClr val="FF0000"/>
              </a:solidFill>
            </a:endParaRPr>
          </a:p>
        </p:txBody>
      </p:sp>
      <p:sp>
        <p:nvSpPr>
          <p:cNvPr id="5" name="矩形 4"/>
          <p:cNvSpPr/>
          <p:nvPr/>
        </p:nvSpPr>
        <p:spPr>
          <a:xfrm>
            <a:off x="164893" y="936314"/>
            <a:ext cx="8679304" cy="4293483"/>
          </a:xfrm>
          <a:prstGeom prst="rect">
            <a:avLst/>
          </a:prstGeom>
        </p:spPr>
        <p:txBody>
          <a:bodyPr wrap="square">
            <a:spAutoFit/>
          </a:bodyPr>
          <a:lstStyle/>
          <a:p>
            <a:pPr indent="457200">
              <a:lnSpc>
                <a:spcPct val="150000"/>
              </a:lnSpc>
            </a:pPr>
            <a:r>
              <a:rPr lang="zh-CN" altLang="en-US" dirty="0"/>
              <a:t>一、理论依据：马克思主义是远大理想和现实目标相结合、历史必然性和发展阶段性相统一的统一论者，坚信人类社会必然走向共产主义，但实现这一崇高目标必然经历若干历史阶段</a:t>
            </a:r>
            <a:r>
              <a:rPr lang="zh-CN" altLang="en-US" dirty="0" smtClean="0"/>
              <a:t>。</a:t>
            </a:r>
            <a:endParaRPr lang="en-US" altLang="zh-CN" dirty="0" smtClean="0"/>
          </a:p>
          <a:p>
            <a:pPr indent="457200">
              <a:lnSpc>
                <a:spcPct val="150000"/>
              </a:lnSpc>
            </a:pPr>
            <a:r>
              <a:rPr lang="zh-CN" altLang="en-US" dirty="0" smtClean="0"/>
              <a:t>二</a:t>
            </a:r>
            <a:r>
              <a:rPr lang="zh-CN" altLang="en-US" dirty="0"/>
              <a:t>、历史依据：新发展阶段是我们党带领人民迎来从站起来、富起来到强起来历史性跨越的新</a:t>
            </a:r>
            <a:r>
              <a:rPr lang="zh-CN" altLang="en-US" dirty="0" smtClean="0"/>
              <a:t>阶段。</a:t>
            </a:r>
            <a:endParaRPr lang="en-US" altLang="zh-CN" dirty="0" smtClean="0"/>
          </a:p>
          <a:p>
            <a:pPr indent="457200">
              <a:lnSpc>
                <a:spcPct val="150000"/>
              </a:lnSpc>
            </a:pPr>
            <a:r>
              <a:rPr lang="zh-CN" altLang="en-US" dirty="0" smtClean="0"/>
              <a:t>三</a:t>
            </a:r>
            <a:r>
              <a:rPr lang="zh-CN" altLang="en-US" dirty="0"/>
              <a:t>、现实依据：我们已经拥有开启新征程、实现新的更高目标的雄厚物质基础</a:t>
            </a:r>
            <a:r>
              <a:rPr lang="zh-CN" altLang="en-US" dirty="0" smtClean="0"/>
              <a:t>。</a:t>
            </a:r>
            <a:r>
              <a:rPr lang="en-US" altLang="zh-CN" dirty="0"/>
              <a:t> </a:t>
            </a:r>
            <a:r>
              <a:rPr lang="en-US" altLang="zh-CN" dirty="0" smtClean="0"/>
              <a:t>      </a:t>
            </a:r>
            <a:r>
              <a:rPr lang="en-US" altLang="zh-CN" sz="2000" dirty="0" smtClean="0">
                <a:solidFill>
                  <a:srgbClr val="FF0000"/>
                </a:solidFill>
              </a:rPr>
              <a:t>2</a:t>
            </a:r>
            <a:r>
              <a:rPr lang="zh-CN" altLang="en-US" sz="2000" dirty="0">
                <a:solidFill>
                  <a:srgbClr val="FF0000"/>
                </a:solidFill>
              </a:rPr>
              <a:t>、为什么要进行供给侧结构性改革</a:t>
            </a:r>
            <a:r>
              <a:rPr lang="en-US" altLang="zh-CN" sz="2000" dirty="0">
                <a:solidFill>
                  <a:srgbClr val="FF0000"/>
                </a:solidFill>
              </a:rPr>
              <a:t>?</a:t>
            </a:r>
            <a:endParaRPr lang="en-US" altLang="zh-CN" sz="2000" dirty="0">
              <a:solidFill>
                <a:srgbClr val="FF0000"/>
              </a:solidFill>
            </a:endParaRPr>
          </a:p>
          <a:p>
            <a:pPr indent="457200">
              <a:lnSpc>
                <a:spcPct val="150000"/>
              </a:lnSpc>
            </a:pPr>
            <a:r>
              <a:rPr lang="zh-CN" altLang="en-US" dirty="0" smtClean="0"/>
              <a:t>（</a:t>
            </a:r>
            <a:r>
              <a:rPr lang="en-US" altLang="zh-CN" dirty="0" smtClean="0"/>
              <a:t>1</a:t>
            </a:r>
            <a:r>
              <a:rPr lang="zh-CN" altLang="en-US" dirty="0" smtClean="0"/>
              <a:t>）适应</a:t>
            </a:r>
            <a:r>
              <a:rPr lang="zh-CN" altLang="en-US" dirty="0"/>
              <a:t>把握引领经济发展新常态的重大创新。</a:t>
            </a:r>
            <a:endParaRPr lang="zh-CN" altLang="en-US" dirty="0"/>
          </a:p>
          <a:p>
            <a:pPr indent="457200">
              <a:lnSpc>
                <a:spcPct val="150000"/>
              </a:lnSpc>
            </a:pPr>
            <a:r>
              <a:rPr lang="zh-CN" altLang="en-US" dirty="0" smtClean="0"/>
              <a:t>（</a:t>
            </a:r>
            <a:r>
              <a:rPr lang="en-US" altLang="zh-CN" dirty="0" smtClean="0"/>
              <a:t>2</a:t>
            </a:r>
            <a:r>
              <a:rPr lang="zh-CN" altLang="en-US" dirty="0" smtClean="0"/>
              <a:t>）适应</a:t>
            </a:r>
            <a:r>
              <a:rPr lang="zh-CN" altLang="en-US" dirty="0"/>
              <a:t>国际金融危机发生后综合国力竞争新形势的主动选择。</a:t>
            </a:r>
            <a:endParaRPr lang="zh-CN" altLang="en-US" dirty="0"/>
          </a:p>
          <a:p>
            <a:pPr indent="457200">
              <a:lnSpc>
                <a:spcPct val="150000"/>
              </a:lnSpc>
            </a:pPr>
            <a:r>
              <a:rPr lang="zh-CN" altLang="en-US" dirty="0" smtClean="0"/>
              <a:t>（</a:t>
            </a:r>
            <a:r>
              <a:rPr lang="en-US" altLang="zh-CN" dirty="0" smtClean="0"/>
              <a:t>3</a:t>
            </a:r>
            <a:r>
              <a:rPr lang="zh-CN" altLang="en-US" dirty="0" smtClean="0"/>
              <a:t>）推动</a:t>
            </a:r>
            <a:r>
              <a:rPr lang="zh-CN" altLang="en-US" dirty="0"/>
              <a:t>我国经济实现高质量发展的必然要求</a:t>
            </a:r>
            <a:r>
              <a:rPr lang="zh-CN" altLang="en-US" dirty="0" smtClean="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8975" y="66888"/>
            <a:ext cx="9201950" cy="654667"/>
          </a:xfrm>
        </p:spPr>
        <p:txBody>
          <a:bodyPr/>
          <a:lstStyle/>
          <a:p>
            <a:pPr algn="ctr"/>
            <a:r>
              <a:rPr lang="zh-CN" altLang="en-US" sz="2800" dirty="0" smtClean="0"/>
              <a:t>第八讲  </a:t>
            </a:r>
            <a:r>
              <a:rPr lang="zh-CN" altLang="en-US" sz="2800" dirty="0"/>
              <a:t>发展全过程人民民主</a:t>
            </a:r>
            <a:endParaRPr lang="zh-CN" altLang="en-US" sz="2800" dirty="0"/>
          </a:p>
        </p:txBody>
      </p:sp>
      <p:sp>
        <p:nvSpPr>
          <p:cNvPr id="4" name="TextBox 3"/>
          <p:cNvSpPr txBox="1"/>
          <p:nvPr/>
        </p:nvSpPr>
        <p:spPr>
          <a:xfrm>
            <a:off x="136921" y="526852"/>
            <a:ext cx="4367624" cy="4293483"/>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a:solidFill>
                  <a:srgbClr val="FF0000"/>
                </a:solidFill>
              </a:rPr>
              <a:t>1.</a:t>
            </a:r>
            <a:r>
              <a:rPr lang="zh-CN" altLang="en-US" dirty="0">
                <a:solidFill>
                  <a:srgbClr val="FF0000"/>
                </a:solidFill>
              </a:rPr>
              <a:t>全过程人民民主</a:t>
            </a:r>
            <a:endParaRPr lang="zh-CN" altLang="en-US" dirty="0">
              <a:solidFill>
                <a:srgbClr val="FF0000"/>
              </a:solidFill>
            </a:endParaRPr>
          </a:p>
          <a:p>
            <a:pPr>
              <a:lnSpc>
                <a:spcPct val="150000"/>
              </a:lnSpc>
            </a:pPr>
            <a:r>
              <a:rPr lang="en-US" altLang="zh-CN" dirty="0">
                <a:solidFill>
                  <a:srgbClr val="FF0000"/>
                </a:solidFill>
              </a:rPr>
              <a:t>2.</a:t>
            </a:r>
            <a:r>
              <a:rPr lang="zh-CN" altLang="en-US" dirty="0">
                <a:solidFill>
                  <a:srgbClr val="FF0000"/>
                </a:solidFill>
              </a:rPr>
              <a:t>人民民主是社会主义的生命</a:t>
            </a:r>
            <a:endParaRPr lang="zh-CN" altLang="en-US" dirty="0">
              <a:solidFill>
                <a:srgbClr val="FF0000"/>
              </a:solidFill>
            </a:endParaRPr>
          </a:p>
          <a:p>
            <a:pPr>
              <a:lnSpc>
                <a:spcPct val="150000"/>
              </a:lnSpc>
            </a:pPr>
            <a:r>
              <a:rPr lang="en-US" altLang="zh-CN" dirty="0">
                <a:solidFill>
                  <a:srgbClr val="FF0000"/>
                </a:solidFill>
              </a:rPr>
              <a:t>3.</a:t>
            </a:r>
            <a:r>
              <a:rPr lang="zh-CN" altLang="en-US" dirty="0">
                <a:solidFill>
                  <a:srgbClr val="FF0000"/>
                </a:solidFill>
              </a:rPr>
              <a:t>健全人民当家作主制度体系</a:t>
            </a:r>
            <a:endParaRPr lang="zh-CN" altLang="en-US" dirty="0">
              <a:solidFill>
                <a:srgbClr val="FF0000"/>
              </a:solidFill>
            </a:endParaRPr>
          </a:p>
          <a:p>
            <a:pPr>
              <a:lnSpc>
                <a:spcPct val="150000"/>
              </a:lnSpc>
            </a:pPr>
            <a:r>
              <a:rPr lang="en-US" altLang="zh-CN" dirty="0">
                <a:solidFill>
                  <a:srgbClr val="FF0000"/>
                </a:solidFill>
              </a:rPr>
              <a:t>4.</a:t>
            </a:r>
            <a:r>
              <a:rPr lang="zh-CN" altLang="en-US" dirty="0">
                <a:solidFill>
                  <a:srgbClr val="FF0000"/>
                </a:solidFill>
              </a:rPr>
              <a:t>坚持走中国特色社会主义政治发展道路</a:t>
            </a:r>
            <a:endParaRPr lang="zh-CN" altLang="en-US" dirty="0">
              <a:solidFill>
                <a:srgbClr val="FF0000"/>
              </a:solidFill>
            </a:endParaRPr>
          </a:p>
          <a:p>
            <a:pPr>
              <a:lnSpc>
                <a:spcPct val="150000"/>
              </a:lnSpc>
            </a:pPr>
            <a:r>
              <a:rPr lang="en-US" altLang="zh-CN" dirty="0">
                <a:solidFill>
                  <a:srgbClr val="FF0000"/>
                </a:solidFill>
              </a:rPr>
              <a:t>5.</a:t>
            </a:r>
            <a:r>
              <a:rPr lang="zh-CN" altLang="en-US" dirty="0">
                <a:solidFill>
                  <a:srgbClr val="FF0000"/>
                </a:solidFill>
              </a:rPr>
              <a:t>推进社会主义协商民主广泛多层制度化发展</a:t>
            </a:r>
            <a:endParaRPr lang="zh-CN" altLang="en-US" dirty="0">
              <a:solidFill>
                <a:srgbClr val="FF0000"/>
              </a:solidFill>
            </a:endParaRPr>
          </a:p>
          <a:p>
            <a:pPr>
              <a:lnSpc>
                <a:spcPct val="150000"/>
              </a:lnSpc>
            </a:pPr>
            <a:r>
              <a:rPr lang="en-US" altLang="zh-CN" dirty="0">
                <a:solidFill>
                  <a:srgbClr val="FF0000"/>
                </a:solidFill>
              </a:rPr>
              <a:t>6.</a:t>
            </a:r>
            <a:r>
              <a:rPr lang="zh-CN" altLang="en-US" dirty="0">
                <a:solidFill>
                  <a:srgbClr val="FF0000"/>
                </a:solidFill>
              </a:rPr>
              <a:t>巩固和发展最广泛的爱国统一战线</a:t>
            </a:r>
            <a:endParaRPr lang="zh-CN" altLang="en-US" dirty="0">
              <a:solidFill>
                <a:srgbClr val="FF0000"/>
              </a:solidFill>
            </a:endParaRPr>
          </a:p>
          <a:p>
            <a:pPr>
              <a:lnSpc>
                <a:spcPct val="150000"/>
              </a:lnSpc>
            </a:pPr>
            <a:endParaRPr lang="en-US" altLang="zh-CN" dirty="0" smtClean="0">
              <a:solidFill>
                <a:srgbClr val="FF0000"/>
              </a:solidFill>
            </a:endParaRPr>
          </a:p>
          <a:p>
            <a:pPr>
              <a:lnSpc>
                <a:spcPct val="150000"/>
              </a:lnSpc>
            </a:pPr>
            <a:endParaRPr lang="zh-CN" altLang="en-US" dirty="0">
              <a:solidFill>
                <a:srgbClr val="FF0000"/>
              </a:solidFill>
            </a:endParaRPr>
          </a:p>
        </p:txBody>
      </p:sp>
      <p:sp>
        <p:nvSpPr>
          <p:cNvPr id="3" name="矩形 2"/>
          <p:cNvSpPr/>
          <p:nvPr/>
        </p:nvSpPr>
        <p:spPr>
          <a:xfrm>
            <a:off x="4362138" y="763721"/>
            <a:ext cx="4781861" cy="1938992"/>
          </a:xfrm>
          <a:prstGeom prst="rect">
            <a:avLst/>
          </a:prstGeom>
        </p:spPr>
        <p:txBody>
          <a:bodyPr wrap="square">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a:solidFill>
                  <a:srgbClr val="FF0000"/>
                </a:solidFill>
              </a:rPr>
              <a:t>、如何理解人民当家作主的基本</a:t>
            </a:r>
            <a:r>
              <a:rPr lang="zh-CN" altLang="en-US" sz="2000" dirty="0" smtClean="0">
                <a:solidFill>
                  <a:srgbClr val="FF0000"/>
                </a:solidFill>
              </a:rPr>
              <a:t>内涵？</a:t>
            </a:r>
            <a:endParaRPr lang="en-US" altLang="zh-CN" sz="2000" dirty="0" smtClean="0">
              <a:solidFill>
                <a:srgbClr val="FF0000"/>
              </a:solidFill>
            </a:endParaRPr>
          </a:p>
          <a:p>
            <a:pPr>
              <a:lnSpc>
                <a:spcPct val="150000"/>
              </a:lnSpc>
            </a:pPr>
            <a:r>
              <a:rPr lang="en-US" altLang="zh-CN" sz="2000" dirty="0" smtClean="0">
                <a:solidFill>
                  <a:srgbClr val="FF0000"/>
                </a:solidFill>
              </a:rPr>
              <a:t>2</a:t>
            </a:r>
            <a:r>
              <a:rPr lang="zh-CN" altLang="en-US" sz="2000" dirty="0" smtClean="0">
                <a:solidFill>
                  <a:srgbClr val="FF0000"/>
                </a:solidFill>
              </a:rPr>
              <a:t>、如何</a:t>
            </a:r>
            <a:r>
              <a:rPr lang="zh-CN" altLang="en-US" sz="2000" dirty="0">
                <a:solidFill>
                  <a:srgbClr val="FF0000"/>
                </a:solidFill>
              </a:rPr>
              <a:t>正确理解坚持党的领导、人民当家作主和依法治国的有机统一？</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39646" y="-45284"/>
            <a:ext cx="8476938" cy="654667"/>
          </a:xfrm>
        </p:spPr>
        <p:txBody>
          <a:bodyPr/>
          <a:lstStyle/>
          <a:p>
            <a:pPr algn="ctr"/>
            <a:r>
              <a:rPr lang="zh-CN" altLang="en-US" sz="2800" dirty="0" smtClean="0"/>
              <a:t>第八讲  </a:t>
            </a:r>
            <a:r>
              <a:rPr lang="zh-CN" altLang="en-US" sz="2800" dirty="0"/>
              <a:t>发展全过程人民民主</a:t>
            </a:r>
            <a:endParaRPr lang="zh-CN" altLang="en-US" sz="2800" dirty="0"/>
          </a:p>
        </p:txBody>
      </p:sp>
      <p:sp>
        <p:nvSpPr>
          <p:cNvPr id="6" name="文本框 5"/>
          <p:cNvSpPr txBox="1"/>
          <p:nvPr/>
        </p:nvSpPr>
        <p:spPr>
          <a:xfrm>
            <a:off x="90524" y="777884"/>
            <a:ext cx="4039266" cy="3939540"/>
          </a:xfrm>
          <a:prstGeom prst="rect">
            <a:avLst/>
          </a:prstGeom>
          <a:noFill/>
        </p:spPr>
        <p:txBody>
          <a:bodyPr wrap="square">
            <a:spAutoFit/>
          </a:bodyPr>
          <a:lstStyle/>
          <a:p>
            <a:r>
              <a:rPr lang="en-US" altLang="zh-CN" b="1" dirty="0">
                <a:solidFill>
                  <a:srgbClr val="FF0000"/>
                </a:solidFill>
              </a:rPr>
              <a:t>1.</a:t>
            </a:r>
            <a:r>
              <a:rPr lang="zh-CN" altLang="en-US" b="1" dirty="0">
                <a:solidFill>
                  <a:srgbClr val="FF0000"/>
                </a:solidFill>
              </a:rPr>
              <a:t>全过程人民</a:t>
            </a:r>
            <a:r>
              <a:rPr lang="zh-CN" altLang="en-US" b="1" dirty="0" smtClean="0">
                <a:solidFill>
                  <a:srgbClr val="FF0000"/>
                </a:solidFill>
              </a:rPr>
              <a:t>民主</a:t>
            </a:r>
            <a:endParaRPr lang="en-US" altLang="zh-CN" b="1" dirty="0" smtClean="0">
              <a:solidFill>
                <a:srgbClr val="FF0000"/>
              </a:solidFill>
            </a:endParaRPr>
          </a:p>
          <a:p>
            <a:r>
              <a:rPr lang="zh-CN" altLang="en-US" sz="1400" b="1" dirty="0"/>
              <a:t>我国全过程人民民主实现了过程民主和成果民主、程序民主和实质民主、直接民主和间接民主、人民民主和国家意志相统一，是全链条、全方位、全覆盖的民主，是最广泛、最真实、最管用的社会主义民主</a:t>
            </a:r>
            <a:r>
              <a:rPr lang="zh-CN" altLang="en-US" sz="1400" b="1" dirty="0" smtClean="0"/>
              <a:t>。</a:t>
            </a:r>
            <a:endParaRPr lang="zh-CN" altLang="en-US" sz="1400" b="1" dirty="0"/>
          </a:p>
          <a:p>
            <a:r>
              <a:rPr lang="en-US" altLang="zh-CN" b="1" dirty="0">
                <a:solidFill>
                  <a:srgbClr val="FF0000"/>
                </a:solidFill>
              </a:rPr>
              <a:t>2.</a:t>
            </a:r>
            <a:r>
              <a:rPr lang="zh-CN" altLang="en-US" b="1" dirty="0">
                <a:solidFill>
                  <a:srgbClr val="FF0000"/>
                </a:solidFill>
              </a:rPr>
              <a:t>人民民主是社会主义的</a:t>
            </a:r>
            <a:r>
              <a:rPr lang="zh-CN" altLang="en-US" b="1" dirty="0" smtClean="0">
                <a:solidFill>
                  <a:srgbClr val="FF0000"/>
                </a:solidFill>
              </a:rPr>
              <a:t>生命</a:t>
            </a:r>
            <a:endParaRPr lang="en-US" altLang="zh-CN" b="1" dirty="0" smtClean="0">
              <a:solidFill>
                <a:srgbClr val="FF0000"/>
              </a:solidFill>
            </a:endParaRPr>
          </a:p>
          <a:p>
            <a:r>
              <a:rPr lang="zh-CN" altLang="en-US" sz="1400" b="1" dirty="0" smtClean="0"/>
              <a:t>（</a:t>
            </a:r>
            <a:r>
              <a:rPr lang="en-US" altLang="zh-CN" sz="1400" b="1" dirty="0" smtClean="0"/>
              <a:t>1</a:t>
            </a:r>
            <a:r>
              <a:rPr lang="zh-CN" altLang="en-US" sz="1400" b="1" dirty="0" smtClean="0"/>
              <a:t>）民主：是</a:t>
            </a:r>
            <a:r>
              <a:rPr lang="zh-CN" altLang="en-US" sz="1400" b="1" dirty="0"/>
              <a:t>一种阶级统治的国家制度</a:t>
            </a:r>
            <a:r>
              <a:rPr lang="zh-CN" altLang="en-US" sz="1400" b="1" dirty="0" smtClean="0"/>
              <a:t>，是</a:t>
            </a:r>
            <a:r>
              <a:rPr lang="zh-CN" altLang="en-US" sz="1400" b="1" dirty="0"/>
              <a:t>统治阶级用来实现其阶级利益的政治形式和手段。</a:t>
            </a:r>
            <a:endParaRPr lang="zh-CN" altLang="en-US" sz="1400" b="1" dirty="0"/>
          </a:p>
          <a:p>
            <a:r>
              <a:rPr lang="zh-CN" altLang="en-US" sz="1400" b="1" dirty="0" smtClean="0"/>
              <a:t>（</a:t>
            </a:r>
            <a:r>
              <a:rPr lang="en-US" altLang="zh-CN" sz="1400" b="1" dirty="0" smtClean="0"/>
              <a:t>2</a:t>
            </a:r>
            <a:r>
              <a:rPr lang="zh-CN" altLang="en-US" sz="1400" b="1" dirty="0"/>
              <a:t>）社会主义民主的实质是人民</a:t>
            </a:r>
            <a:r>
              <a:rPr lang="zh-CN" altLang="en-US" sz="1400" b="1" dirty="0" smtClean="0"/>
              <a:t>当家作主。</a:t>
            </a:r>
            <a:endParaRPr lang="en-US" altLang="zh-CN" sz="1400" b="1" dirty="0" smtClean="0"/>
          </a:p>
          <a:p>
            <a:r>
              <a:rPr lang="zh-CN" altLang="en-US" sz="1400" b="1" dirty="0" smtClean="0"/>
              <a:t>人民</a:t>
            </a:r>
            <a:r>
              <a:rPr lang="zh-CN" altLang="en-US" sz="1400" b="1" dirty="0"/>
              <a:t>当家作主是社会主义民主政治的本质和</a:t>
            </a:r>
            <a:r>
              <a:rPr lang="zh-CN" altLang="en-US" sz="1400" b="1" dirty="0" smtClean="0"/>
              <a:t>核心</a:t>
            </a:r>
            <a:endParaRPr lang="en-US" altLang="zh-CN" sz="1400" b="1" dirty="0" smtClean="0"/>
          </a:p>
          <a:p>
            <a:r>
              <a:rPr lang="zh-CN" altLang="en-US" sz="1400" b="1" dirty="0" smtClean="0"/>
              <a:t>（</a:t>
            </a:r>
            <a:r>
              <a:rPr lang="en-US" altLang="zh-CN" sz="1400" b="1" dirty="0" smtClean="0"/>
              <a:t>3</a:t>
            </a:r>
            <a:r>
              <a:rPr lang="zh-CN" altLang="en-US" sz="1400" b="1" dirty="0" smtClean="0"/>
              <a:t>）</a:t>
            </a:r>
            <a:endParaRPr lang="zh-CN" altLang="en-US" sz="1400" b="1" dirty="0"/>
          </a:p>
          <a:p>
            <a:r>
              <a:rPr lang="en-US" altLang="zh-CN" b="1" dirty="0">
                <a:solidFill>
                  <a:srgbClr val="FF0000"/>
                </a:solidFill>
              </a:rPr>
              <a:t>3</a:t>
            </a:r>
            <a:r>
              <a:rPr lang="en-US" altLang="zh-CN" b="1" dirty="0" smtClean="0">
                <a:solidFill>
                  <a:srgbClr val="FF0000"/>
                </a:solidFill>
              </a:rPr>
              <a:t>.</a:t>
            </a:r>
            <a:r>
              <a:rPr lang="zh-CN" altLang="en-US" b="1" dirty="0">
                <a:solidFill>
                  <a:srgbClr val="FF0000"/>
                </a:solidFill>
              </a:rPr>
              <a:t>全过程人民民主好在哪里</a:t>
            </a:r>
            <a:endParaRPr lang="zh-CN" altLang="en-US" b="1" dirty="0">
              <a:solidFill>
                <a:srgbClr val="FF0000"/>
              </a:solidFill>
            </a:endParaRPr>
          </a:p>
          <a:p>
            <a:r>
              <a:rPr lang="zh-CN" altLang="en-US" sz="1400" b="1" dirty="0"/>
              <a:t>（</a:t>
            </a:r>
            <a:r>
              <a:rPr lang="en-US" altLang="zh-CN" sz="1400" b="1" dirty="0"/>
              <a:t>1</a:t>
            </a:r>
            <a:r>
              <a:rPr lang="zh-CN" altLang="en-US" sz="1400" b="1" dirty="0"/>
              <a:t>）人民民主参与不断扩大</a:t>
            </a:r>
            <a:endParaRPr lang="en-US" altLang="zh-CN" sz="1400" b="1" dirty="0"/>
          </a:p>
          <a:p>
            <a:r>
              <a:rPr lang="zh-CN" altLang="en-US" sz="1400" b="1" dirty="0"/>
              <a:t>（</a:t>
            </a:r>
            <a:r>
              <a:rPr lang="en-US" altLang="zh-CN" sz="1400" b="1" dirty="0"/>
              <a:t>2</a:t>
            </a:r>
            <a:r>
              <a:rPr lang="zh-CN" altLang="en-US" sz="1400" b="1" dirty="0"/>
              <a:t>）国家治理高效</a:t>
            </a:r>
            <a:endParaRPr lang="zh-CN" altLang="en-US" sz="1400" b="1" dirty="0"/>
          </a:p>
          <a:p>
            <a:r>
              <a:rPr lang="zh-CN" altLang="en-US" sz="1400" b="1" dirty="0"/>
              <a:t>（</a:t>
            </a:r>
            <a:r>
              <a:rPr lang="en-US" altLang="zh-CN" sz="1400" b="1" dirty="0"/>
              <a:t>3</a:t>
            </a:r>
            <a:r>
              <a:rPr lang="zh-CN" altLang="en-US" sz="1400" b="1" dirty="0"/>
              <a:t>）社会和谐稳定</a:t>
            </a:r>
            <a:endParaRPr lang="zh-CN" altLang="en-US" sz="1400" b="1" dirty="0"/>
          </a:p>
          <a:p>
            <a:r>
              <a:rPr lang="zh-CN" altLang="en-US" sz="1400" b="1" dirty="0"/>
              <a:t>（</a:t>
            </a:r>
            <a:r>
              <a:rPr lang="en-US" altLang="zh-CN" sz="1400" b="1" dirty="0"/>
              <a:t>4</a:t>
            </a:r>
            <a:r>
              <a:rPr lang="zh-CN" altLang="en-US" sz="1400" b="1" dirty="0"/>
              <a:t>）权力运用得到有效制约和</a:t>
            </a:r>
            <a:r>
              <a:rPr lang="zh-CN" altLang="en-US" sz="1400" b="1" dirty="0" smtClean="0"/>
              <a:t>监督</a:t>
            </a:r>
            <a:endParaRPr lang="zh-CN" altLang="en-US" sz="1400" b="1" dirty="0"/>
          </a:p>
        </p:txBody>
      </p:sp>
      <p:sp>
        <p:nvSpPr>
          <p:cNvPr id="9" name="文本框 8"/>
          <p:cNvSpPr txBox="1"/>
          <p:nvPr/>
        </p:nvSpPr>
        <p:spPr>
          <a:xfrm>
            <a:off x="4173272" y="777884"/>
            <a:ext cx="4955738" cy="5232202"/>
          </a:xfrm>
          <a:prstGeom prst="rect">
            <a:avLst/>
          </a:prstGeom>
          <a:noFill/>
        </p:spPr>
        <p:txBody>
          <a:bodyPr wrap="square">
            <a:spAutoFit/>
          </a:bodyPr>
          <a:lstStyle/>
          <a:p>
            <a:r>
              <a:rPr lang="en-US" altLang="zh-CN" b="1" dirty="0">
                <a:solidFill>
                  <a:srgbClr val="FF0000"/>
                </a:solidFill>
              </a:rPr>
              <a:t>4.</a:t>
            </a:r>
            <a:r>
              <a:rPr lang="zh-CN" altLang="en-US" b="1" dirty="0">
                <a:solidFill>
                  <a:srgbClr val="FF0000"/>
                </a:solidFill>
              </a:rPr>
              <a:t>如何进一步发展全过程人民民主</a:t>
            </a:r>
            <a:endParaRPr lang="zh-CN" altLang="en-US" b="1" dirty="0">
              <a:solidFill>
                <a:srgbClr val="FF0000"/>
              </a:solidFill>
            </a:endParaRPr>
          </a:p>
          <a:p>
            <a:r>
              <a:rPr lang="zh-CN" altLang="en-US" sz="1400" b="1" dirty="0" smtClean="0"/>
              <a:t>（</a:t>
            </a:r>
            <a:r>
              <a:rPr lang="en-US" altLang="zh-CN" sz="1400" b="1" dirty="0"/>
              <a:t>1</a:t>
            </a:r>
            <a:r>
              <a:rPr lang="zh-CN" altLang="en-US" sz="1400" b="1" dirty="0"/>
              <a:t>）坚持走中国特色社会主义政治发展道路</a:t>
            </a:r>
            <a:endParaRPr lang="en-US" altLang="zh-CN" sz="1400" b="1" dirty="0"/>
          </a:p>
          <a:p>
            <a:r>
              <a:rPr lang="zh-CN" altLang="en-US" sz="1400" b="1" dirty="0"/>
              <a:t>（</a:t>
            </a:r>
            <a:r>
              <a:rPr lang="en-US" altLang="zh-CN" sz="1400" b="1" dirty="0"/>
              <a:t>2</a:t>
            </a:r>
            <a:r>
              <a:rPr lang="zh-CN" altLang="en-US" sz="1400" b="1" dirty="0"/>
              <a:t>）加强人民当家作主制度保障</a:t>
            </a:r>
            <a:endParaRPr lang="en-US" altLang="zh-CN" sz="1400" b="1" dirty="0"/>
          </a:p>
          <a:p>
            <a:r>
              <a:rPr lang="zh-CN" altLang="en-US" sz="1400" b="1" dirty="0"/>
              <a:t>（</a:t>
            </a:r>
            <a:r>
              <a:rPr lang="en-US" altLang="zh-CN" sz="1400" b="1" dirty="0"/>
              <a:t>3</a:t>
            </a:r>
            <a:r>
              <a:rPr lang="zh-CN" altLang="en-US" sz="1400" b="1" dirty="0"/>
              <a:t>）全面发展协商民主</a:t>
            </a:r>
            <a:endParaRPr lang="zh-CN" altLang="en-US" sz="1400" b="1" dirty="0"/>
          </a:p>
          <a:p>
            <a:r>
              <a:rPr lang="zh-CN" altLang="en-US" sz="1400" b="1" dirty="0"/>
              <a:t>（</a:t>
            </a:r>
            <a:r>
              <a:rPr lang="en-US" altLang="zh-CN" sz="1400" b="1" dirty="0"/>
              <a:t>4</a:t>
            </a:r>
            <a:r>
              <a:rPr lang="zh-CN" altLang="en-US" sz="1400" b="1" dirty="0"/>
              <a:t>）积极发展基层民主</a:t>
            </a:r>
            <a:endParaRPr lang="zh-CN" altLang="en-US" sz="1400" b="1" dirty="0"/>
          </a:p>
          <a:p>
            <a:r>
              <a:rPr lang="zh-CN" altLang="en-US" sz="1400" b="1" dirty="0"/>
              <a:t>（</a:t>
            </a:r>
            <a:r>
              <a:rPr lang="en-US" altLang="zh-CN" sz="1400" b="1" dirty="0"/>
              <a:t>5</a:t>
            </a:r>
            <a:r>
              <a:rPr lang="zh-CN" altLang="en-US" sz="1400" b="1" dirty="0"/>
              <a:t>）巩固和发展最广泛的爱国统一战线</a:t>
            </a:r>
            <a:endParaRPr lang="zh-CN" altLang="en-US" sz="1400" b="1" dirty="0"/>
          </a:p>
          <a:p>
            <a:r>
              <a:rPr lang="en-US" altLang="zh-CN" b="1" dirty="0">
                <a:solidFill>
                  <a:srgbClr val="FF0000"/>
                </a:solidFill>
              </a:rPr>
              <a:t>5.</a:t>
            </a:r>
            <a:r>
              <a:rPr lang="zh-CN" altLang="en-US" b="1" dirty="0">
                <a:solidFill>
                  <a:srgbClr val="FF0000"/>
                </a:solidFill>
              </a:rPr>
              <a:t>坚持走中国特色社会主义政治发展道路</a:t>
            </a:r>
            <a:endParaRPr lang="zh-CN" altLang="en-US" b="1" dirty="0">
              <a:solidFill>
                <a:srgbClr val="FF0000"/>
              </a:solidFill>
            </a:endParaRPr>
          </a:p>
          <a:p>
            <a:r>
              <a:rPr lang="zh-CN" altLang="en-US" sz="1400" b="1" dirty="0"/>
              <a:t>必须坚定不移走中国特色社会主义政治发展道路，坚持</a:t>
            </a:r>
            <a:r>
              <a:rPr lang="zh-CN" altLang="en-US" sz="1400" b="1" u="sng" dirty="0">
                <a:solidFill>
                  <a:srgbClr val="FF0000"/>
                </a:solidFill>
              </a:rPr>
              <a:t>党的领导、人民当家作主、依法治国</a:t>
            </a:r>
            <a:r>
              <a:rPr lang="zh-CN" altLang="en-US" sz="1400" b="1" dirty="0"/>
              <a:t>有机统一，坚持人民主体地位，充分体现人民意志、保障人民权益、激发人民创造活力。</a:t>
            </a:r>
            <a:endParaRPr lang="zh-CN" altLang="en-US" sz="1400" b="1" dirty="0"/>
          </a:p>
          <a:p>
            <a:r>
              <a:rPr lang="en-US" altLang="zh-CN" b="1" dirty="0">
                <a:solidFill>
                  <a:srgbClr val="FF0000"/>
                </a:solidFill>
              </a:rPr>
              <a:t>6.</a:t>
            </a:r>
            <a:r>
              <a:rPr lang="zh-CN" altLang="en-US" b="1" dirty="0">
                <a:solidFill>
                  <a:srgbClr val="FF0000"/>
                </a:solidFill>
              </a:rPr>
              <a:t>如何加强人民当家作主制度保障</a:t>
            </a:r>
            <a:endParaRPr lang="zh-CN" altLang="en-US" b="1" dirty="0">
              <a:solidFill>
                <a:srgbClr val="FF0000"/>
              </a:solidFill>
            </a:endParaRPr>
          </a:p>
          <a:p>
            <a:r>
              <a:rPr lang="zh-CN" altLang="en-US" sz="1400" b="1" dirty="0" smtClean="0"/>
              <a:t>（</a:t>
            </a:r>
            <a:r>
              <a:rPr lang="en-US" altLang="zh-CN" sz="1400" b="1" dirty="0" smtClean="0"/>
              <a:t>1</a:t>
            </a:r>
            <a:r>
              <a:rPr lang="zh-CN" altLang="en-US" sz="1400" b="1" dirty="0" smtClean="0"/>
              <a:t>）支持</a:t>
            </a:r>
            <a:r>
              <a:rPr lang="zh-CN" altLang="en-US" sz="1400" b="1" dirty="0"/>
              <a:t>和保证人民通过人民代表大会行使国家权力</a:t>
            </a:r>
            <a:endParaRPr lang="zh-CN" altLang="en-US" sz="1400" b="1" dirty="0"/>
          </a:p>
          <a:p>
            <a:r>
              <a:rPr lang="zh-CN" altLang="en-US" sz="1400" b="1" dirty="0" smtClean="0"/>
              <a:t>（</a:t>
            </a:r>
            <a:r>
              <a:rPr lang="en-US" altLang="zh-CN" sz="1400" b="1" dirty="0" smtClean="0"/>
              <a:t>2</a:t>
            </a:r>
            <a:r>
              <a:rPr lang="zh-CN" altLang="en-US" sz="1400" b="1" dirty="0" smtClean="0"/>
              <a:t>）</a:t>
            </a:r>
            <a:r>
              <a:rPr lang="zh-CN" altLang="en-US" sz="1400" b="1" dirty="0"/>
              <a:t>支持和保证人大及其常委会依法行使立法权、监督权、决定权、</a:t>
            </a:r>
            <a:r>
              <a:rPr lang="zh-CN" altLang="en-US" sz="1400" b="1" dirty="0" smtClean="0"/>
              <a:t>任免权</a:t>
            </a:r>
            <a:endParaRPr lang="en-US" altLang="zh-CN" sz="1400" b="1" dirty="0" smtClean="0"/>
          </a:p>
          <a:p>
            <a:r>
              <a:rPr lang="zh-CN" altLang="en-US" sz="1400" b="1" dirty="0" smtClean="0"/>
              <a:t>（</a:t>
            </a:r>
            <a:r>
              <a:rPr lang="en-US" altLang="zh-CN" sz="1400" b="1" dirty="0" smtClean="0"/>
              <a:t>3</a:t>
            </a:r>
            <a:r>
              <a:rPr lang="zh-CN" altLang="en-US" sz="1400" b="1" dirty="0" smtClean="0"/>
              <a:t>）加强</a:t>
            </a:r>
            <a:r>
              <a:rPr lang="zh-CN" altLang="en-US" sz="1400" b="1" dirty="0"/>
              <a:t>人大代表工作能力</a:t>
            </a:r>
            <a:r>
              <a:rPr lang="zh-CN" altLang="en-US" sz="1400" b="1" dirty="0" smtClean="0"/>
              <a:t>建设</a:t>
            </a:r>
            <a:endParaRPr lang="en-US" altLang="zh-CN" sz="1400" b="1" dirty="0" smtClean="0"/>
          </a:p>
          <a:p>
            <a:r>
              <a:rPr lang="zh-CN" altLang="en-US" sz="1400" b="1" dirty="0" smtClean="0"/>
              <a:t>（</a:t>
            </a:r>
            <a:r>
              <a:rPr lang="en-US" altLang="zh-CN" sz="1400" b="1" dirty="0" smtClean="0"/>
              <a:t>4</a:t>
            </a:r>
            <a:r>
              <a:rPr lang="zh-CN" altLang="en-US" sz="1400" b="1" dirty="0" smtClean="0"/>
              <a:t>）健全</a:t>
            </a:r>
            <a:r>
              <a:rPr lang="zh-CN" altLang="en-US" sz="1400" b="1" dirty="0"/>
              <a:t>吸纳民意、汇集民智工作</a:t>
            </a:r>
            <a:r>
              <a:rPr lang="zh-CN" altLang="en-US" sz="1400" b="1" dirty="0" smtClean="0"/>
              <a:t>机制</a:t>
            </a:r>
            <a:endParaRPr lang="en-US" altLang="zh-CN" sz="1400" b="1" dirty="0"/>
          </a:p>
          <a:p>
            <a:r>
              <a:rPr lang="zh-CN" altLang="en-US" sz="1400" b="1" dirty="0" smtClean="0"/>
              <a:t>（</a:t>
            </a:r>
            <a:r>
              <a:rPr lang="en-US" altLang="zh-CN" sz="1400" b="1" dirty="0" smtClean="0"/>
              <a:t>5</a:t>
            </a:r>
            <a:r>
              <a:rPr lang="zh-CN" altLang="en-US" sz="1400" b="1" dirty="0" smtClean="0"/>
              <a:t>）</a:t>
            </a:r>
            <a:r>
              <a:rPr lang="zh-CN" altLang="en-US" sz="1400" b="1" dirty="0"/>
              <a:t>深化工会、共青团、妇联等群团组织改革和</a:t>
            </a:r>
            <a:r>
              <a:rPr lang="zh-CN" altLang="en-US" sz="1400" b="1" dirty="0" smtClean="0"/>
              <a:t>建设</a:t>
            </a:r>
            <a:endParaRPr lang="en-US" altLang="zh-CN" sz="1400" b="1" dirty="0" smtClean="0"/>
          </a:p>
          <a:p>
            <a:r>
              <a:rPr lang="zh-CN" altLang="en-US" sz="1400" b="1" dirty="0" smtClean="0"/>
              <a:t>（</a:t>
            </a:r>
            <a:r>
              <a:rPr lang="en-US" altLang="zh-CN" sz="1400" b="1" dirty="0" smtClean="0"/>
              <a:t>6</a:t>
            </a:r>
            <a:r>
              <a:rPr lang="zh-CN" altLang="en-US" sz="1400" b="1" dirty="0" smtClean="0"/>
              <a:t>）坚持</a:t>
            </a:r>
            <a:r>
              <a:rPr lang="zh-CN" altLang="en-US" sz="1400" b="1" dirty="0"/>
              <a:t>走中国人权发展道路</a:t>
            </a:r>
            <a:endParaRPr lang="zh-CN" altLang="en-US" sz="1400" b="1" dirty="0"/>
          </a:p>
          <a:p>
            <a:endParaRPr lang="zh-CN" altLang="en-US" sz="1400" b="1" dirty="0"/>
          </a:p>
          <a:p>
            <a:endParaRPr lang="zh-CN" altLang="en-US" sz="1400" b="1" dirty="0"/>
          </a:p>
          <a:p>
            <a:endParaRPr lang="zh-CN" altLang="en-US" sz="1400" b="1" dirty="0"/>
          </a:p>
          <a:p>
            <a:endParaRPr lang="zh-CN" altLang="en-US" sz="1400" b="1" dirty="0"/>
          </a:p>
          <a:p>
            <a:endParaRPr lang="zh-CN" altLang="en-US" sz="1400" b="1" dirty="0"/>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1024833"/>
          </a:xfrm>
        </p:spPr>
        <p:txBody>
          <a:bodyPr/>
          <a:lstStyle/>
          <a:p>
            <a:r>
              <a:rPr lang="zh-CN" altLang="en-US" sz="2800" dirty="0"/>
              <a:t>二、难点：</a:t>
            </a:r>
            <a:endParaRPr lang="zh-CN" altLang="en-US" sz="2800" dirty="0"/>
          </a:p>
          <a:p>
            <a:endParaRPr lang="zh-CN" altLang="en-US" dirty="0"/>
          </a:p>
        </p:txBody>
      </p:sp>
      <p:sp>
        <p:nvSpPr>
          <p:cNvPr id="5" name="矩形 4"/>
          <p:cNvSpPr/>
          <p:nvPr/>
        </p:nvSpPr>
        <p:spPr>
          <a:xfrm>
            <a:off x="104932" y="568942"/>
            <a:ext cx="8679304" cy="4585871"/>
          </a:xfrm>
          <a:prstGeom prst="rect">
            <a:avLst/>
          </a:prstGeom>
        </p:spPr>
        <p:txBody>
          <a:bodyPr wrap="square">
            <a:spAutoFit/>
          </a:bodyPr>
          <a:lstStyle/>
          <a:p>
            <a:pPr indent="457200"/>
            <a:r>
              <a:rPr lang="en-US" altLang="zh-CN" sz="2000" dirty="0">
                <a:solidFill>
                  <a:srgbClr val="FF0000"/>
                </a:solidFill>
              </a:rPr>
              <a:t>1</a:t>
            </a:r>
            <a:r>
              <a:rPr lang="zh-CN" altLang="en-US" sz="2000" dirty="0">
                <a:solidFill>
                  <a:srgbClr val="FF0000"/>
                </a:solidFill>
              </a:rPr>
              <a:t>、如何理解人民当家作主的基本内涵？</a:t>
            </a:r>
            <a:endParaRPr lang="zh-CN" altLang="en-US" sz="2000" dirty="0">
              <a:solidFill>
                <a:srgbClr val="FF0000"/>
              </a:solidFill>
            </a:endParaRPr>
          </a:p>
          <a:p>
            <a:pPr indent="457200"/>
            <a:r>
              <a:rPr lang="zh-CN" altLang="en-US" sz="1400" dirty="0" smtClean="0"/>
              <a:t>（</a:t>
            </a:r>
            <a:r>
              <a:rPr lang="en-US" altLang="zh-CN" sz="1400" dirty="0" smtClean="0"/>
              <a:t>1</a:t>
            </a:r>
            <a:r>
              <a:rPr lang="zh-CN" altLang="en-US" sz="1400" dirty="0" smtClean="0"/>
              <a:t>）国家</a:t>
            </a:r>
            <a:r>
              <a:rPr lang="zh-CN" altLang="en-US" sz="1400" dirty="0"/>
              <a:t>一切权力属于人民。我国的国体是工人阶级领导的、以工农联盟为基础的人民民主专政的社会主义国家；我国的政体是</a:t>
            </a:r>
            <a:r>
              <a:rPr lang="zh-CN" altLang="en-US" sz="1400" dirty="0" smtClean="0"/>
              <a:t>人民代表大会制度</a:t>
            </a:r>
            <a:endParaRPr lang="en-US" altLang="zh-CN" sz="1400" dirty="0" smtClean="0"/>
          </a:p>
          <a:p>
            <a:pPr indent="457200"/>
            <a:r>
              <a:rPr lang="zh-CN" altLang="en-US" sz="1400" dirty="0" smtClean="0"/>
              <a:t>（</a:t>
            </a:r>
            <a:r>
              <a:rPr lang="en-US" altLang="zh-CN" sz="1400" dirty="0" smtClean="0"/>
              <a:t>2</a:t>
            </a:r>
            <a:r>
              <a:rPr lang="zh-CN" altLang="en-US" sz="1400" dirty="0"/>
              <a:t>）国家建立健全法律制度和体制机制，保证人民依照法律规定，通过各种途径和形式，管理国家事务，管理经济文化事业，管理社会事务</a:t>
            </a:r>
            <a:endParaRPr lang="zh-CN" altLang="en-US" sz="1400" dirty="0"/>
          </a:p>
          <a:p>
            <a:pPr indent="457200"/>
            <a:r>
              <a:rPr lang="zh-CN" altLang="en-US" sz="1400" dirty="0" smtClean="0"/>
              <a:t>（</a:t>
            </a:r>
            <a:r>
              <a:rPr lang="en-US" altLang="zh-CN" sz="1400" dirty="0" smtClean="0"/>
              <a:t>3</a:t>
            </a:r>
            <a:r>
              <a:rPr lang="zh-CN" altLang="en-US" sz="1400" dirty="0"/>
              <a:t>）一切国家机关和国家工作人员必须依靠人民的支持，保持同人民的密切联系，倾听人民的意见和建议，接受人民的监督，努力为人民服务</a:t>
            </a:r>
            <a:endParaRPr lang="zh-CN" altLang="en-US" sz="1400" dirty="0"/>
          </a:p>
          <a:p>
            <a:pPr indent="457200"/>
            <a:r>
              <a:rPr lang="zh-CN" altLang="en-US" sz="1400" dirty="0" smtClean="0"/>
              <a:t>（</a:t>
            </a:r>
            <a:r>
              <a:rPr lang="en-US" altLang="zh-CN" sz="1400" dirty="0" smtClean="0"/>
              <a:t>4</a:t>
            </a:r>
            <a:r>
              <a:rPr lang="zh-CN" altLang="en-US" sz="1400" dirty="0"/>
              <a:t>）国家制定实施的法律法规和方针政策，必须体现人民意志、尊重人民意愿、得到人民拥护，维护最广大人民根本利益</a:t>
            </a:r>
            <a:endParaRPr lang="zh-CN" altLang="en-US" sz="1400" dirty="0"/>
          </a:p>
          <a:p>
            <a:pPr indent="457200"/>
            <a:r>
              <a:rPr lang="zh-CN" altLang="en-US" sz="1400" dirty="0" smtClean="0"/>
              <a:t>（</a:t>
            </a:r>
            <a:r>
              <a:rPr lang="en-US" altLang="zh-CN" sz="1400" dirty="0" smtClean="0"/>
              <a:t>5</a:t>
            </a:r>
            <a:r>
              <a:rPr lang="zh-CN" altLang="en-US" sz="1400" dirty="0"/>
              <a:t>）国家各方面事业和各方面工作，必须坚持以人民为中心的发展思想，不断满足人民日益增长的美好生活需要，促进人的全面</a:t>
            </a:r>
            <a:r>
              <a:rPr lang="zh-CN" altLang="en-US" sz="1400" dirty="0" smtClean="0"/>
              <a:t>发展</a:t>
            </a:r>
            <a:endParaRPr lang="en-US" altLang="zh-CN" sz="1400" dirty="0" smtClean="0"/>
          </a:p>
          <a:p>
            <a:pPr indent="457200"/>
            <a:r>
              <a:rPr lang="en-US" altLang="zh-CN" sz="2000" dirty="0">
                <a:solidFill>
                  <a:srgbClr val="FF0000"/>
                </a:solidFill>
              </a:rPr>
              <a:t>2</a:t>
            </a:r>
            <a:r>
              <a:rPr lang="zh-CN" altLang="en-US" sz="2000" dirty="0">
                <a:solidFill>
                  <a:srgbClr val="FF0000"/>
                </a:solidFill>
              </a:rPr>
              <a:t>、如何正确理解坚持党的领导、人民当家作主和依法治国的有机统一</a:t>
            </a:r>
            <a:r>
              <a:rPr lang="zh-CN" altLang="en-US" sz="2000" dirty="0" smtClean="0">
                <a:solidFill>
                  <a:srgbClr val="FF0000"/>
                </a:solidFill>
              </a:rPr>
              <a:t>？</a:t>
            </a:r>
            <a:endParaRPr lang="en-US" altLang="zh-CN" sz="2000" dirty="0" smtClean="0">
              <a:solidFill>
                <a:srgbClr val="FF0000"/>
              </a:solidFill>
            </a:endParaRPr>
          </a:p>
          <a:p>
            <a:pPr indent="457200"/>
            <a:r>
              <a:rPr lang="zh-CN" altLang="en-US" sz="1400" dirty="0"/>
              <a:t>走中国特色社会主义政治发展道路，必须坚持把坚持党的领导、人民当家作主和依法治国有机统一起来。党的领导是人民当家作主和依法治国的根本保证。人民当家作主是社会主义民主政治的本质要求。依法治国是党领导人民治理国家的基本方式。三者统一于我国社会主义民主政治伟大实践。坚持党的领导，就要发挥党总揽全局、协调各方的领导核心作用。改进党的领导方式和执政方式，保证党领导人民有效治理国家。实现人民当家作主，就要扩大人民有序政治参与，保证人民依法实行民主选举、民主协商、民主决策、民主管理、民主监督。巩固基层政权，完善基层民主制度，保障人民知情权、参与权、表达权、监督权。坚持依法治国，就要维护国家法制统一、尊严、权威，加强人权法治保障，保证人民依法享有广泛权利和自由。健全依法决策机制，构建决策科学、执行坚决、监督有力的权力运行机制</a:t>
            </a:r>
            <a:r>
              <a:rPr lang="zh-CN" altLang="en-US" sz="1400" dirty="0" smtClean="0"/>
              <a:t>。</a:t>
            </a:r>
            <a:endParaRPr lang="zh-CN" altLang="en-US" sz="14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8975" y="66888"/>
            <a:ext cx="9201950" cy="654667"/>
          </a:xfrm>
        </p:spPr>
        <p:txBody>
          <a:bodyPr/>
          <a:lstStyle/>
          <a:p>
            <a:pPr algn="ctr"/>
            <a:r>
              <a:rPr lang="zh-CN" altLang="en-US" sz="2800" dirty="0" smtClean="0"/>
              <a:t>第十讲 建设</a:t>
            </a:r>
            <a:r>
              <a:rPr lang="zh-CN" altLang="en-US" sz="2800" dirty="0"/>
              <a:t>社会主义文化强国</a:t>
            </a:r>
            <a:endParaRPr lang="zh-CN" altLang="en-US" sz="2800" dirty="0"/>
          </a:p>
        </p:txBody>
      </p:sp>
      <p:sp>
        <p:nvSpPr>
          <p:cNvPr id="4" name="TextBox 3"/>
          <p:cNvSpPr txBox="1"/>
          <p:nvPr/>
        </p:nvSpPr>
        <p:spPr>
          <a:xfrm>
            <a:off x="136921" y="394221"/>
            <a:ext cx="4367624" cy="4708981"/>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a:solidFill>
                  <a:srgbClr val="FF0000"/>
                </a:solidFill>
              </a:rPr>
              <a:t>1.</a:t>
            </a:r>
            <a:r>
              <a:rPr lang="zh-CN" altLang="en-US" dirty="0">
                <a:solidFill>
                  <a:srgbClr val="FF0000"/>
                </a:solidFill>
              </a:rPr>
              <a:t>为什么建设中国特色社会主义文化</a:t>
            </a:r>
            <a:endParaRPr lang="zh-CN" altLang="en-US" dirty="0">
              <a:solidFill>
                <a:srgbClr val="FF0000"/>
              </a:solidFill>
            </a:endParaRPr>
          </a:p>
          <a:p>
            <a:pPr>
              <a:lnSpc>
                <a:spcPct val="150000"/>
              </a:lnSpc>
            </a:pPr>
            <a:r>
              <a:rPr lang="en-US" altLang="zh-CN" dirty="0" smtClean="0">
                <a:solidFill>
                  <a:srgbClr val="FF0000"/>
                </a:solidFill>
              </a:rPr>
              <a:t>2</a:t>
            </a:r>
            <a:r>
              <a:rPr lang="zh-CN" altLang="en-US" dirty="0">
                <a:solidFill>
                  <a:srgbClr val="FF0000"/>
                </a:solidFill>
              </a:rPr>
              <a:t>、为什么没有文化繁荣兴盛就没有中华民族伟大复兴</a:t>
            </a:r>
            <a:endParaRPr lang="zh-CN" altLang="en-US" dirty="0">
              <a:solidFill>
                <a:srgbClr val="FF0000"/>
              </a:solidFill>
            </a:endParaRPr>
          </a:p>
          <a:p>
            <a:pPr>
              <a:lnSpc>
                <a:spcPct val="150000"/>
              </a:lnSpc>
            </a:pPr>
            <a:r>
              <a:rPr lang="en-US" altLang="zh-CN" dirty="0" smtClean="0">
                <a:solidFill>
                  <a:srgbClr val="FF0000"/>
                </a:solidFill>
              </a:rPr>
              <a:t>3</a:t>
            </a:r>
            <a:r>
              <a:rPr lang="zh-CN" altLang="en-US" dirty="0">
                <a:solidFill>
                  <a:srgbClr val="FF0000"/>
                </a:solidFill>
              </a:rPr>
              <a:t>、为什么要做好意识形态</a:t>
            </a:r>
            <a:r>
              <a:rPr lang="zh-CN" altLang="en-US" dirty="0" smtClean="0">
                <a:solidFill>
                  <a:srgbClr val="FF0000"/>
                </a:solidFill>
              </a:rPr>
              <a:t>工作</a:t>
            </a:r>
            <a:endParaRPr lang="en-US" altLang="zh-CN" dirty="0" smtClean="0">
              <a:solidFill>
                <a:srgbClr val="FF0000"/>
              </a:solidFill>
            </a:endParaRPr>
          </a:p>
          <a:p>
            <a:pPr>
              <a:lnSpc>
                <a:spcPct val="150000"/>
              </a:lnSpc>
            </a:pPr>
            <a:r>
              <a:rPr lang="en-US" altLang="zh-CN" dirty="0">
                <a:solidFill>
                  <a:srgbClr val="FF0000"/>
                </a:solidFill>
              </a:rPr>
              <a:t>4.</a:t>
            </a:r>
            <a:r>
              <a:rPr lang="zh-CN" altLang="en-US" dirty="0">
                <a:solidFill>
                  <a:srgbClr val="FF0000"/>
                </a:solidFill>
              </a:rPr>
              <a:t>用社会主义核心价值观凝心聚力</a:t>
            </a:r>
            <a:endParaRPr lang="zh-CN" altLang="en-US" dirty="0">
              <a:solidFill>
                <a:srgbClr val="FF0000"/>
              </a:solidFill>
            </a:endParaRPr>
          </a:p>
          <a:p>
            <a:pPr>
              <a:lnSpc>
                <a:spcPct val="150000"/>
              </a:lnSpc>
            </a:pPr>
            <a:r>
              <a:rPr lang="en-US" altLang="zh-CN" dirty="0" smtClean="0">
                <a:solidFill>
                  <a:srgbClr val="FF0000"/>
                </a:solidFill>
              </a:rPr>
              <a:t>5</a:t>
            </a:r>
            <a:r>
              <a:rPr lang="en-US" altLang="zh-CN" dirty="0">
                <a:solidFill>
                  <a:srgbClr val="FF0000"/>
                </a:solidFill>
              </a:rPr>
              <a:t>.</a:t>
            </a:r>
            <a:r>
              <a:rPr lang="zh-CN" altLang="en-US" dirty="0">
                <a:solidFill>
                  <a:srgbClr val="FF0000"/>
                </a:solidFill>
              </a:rPr>
              <a:t>如何牢牢掌握意识形态工作领导权</a:t>
            </a:r>
            <a:endParaRPr lang="zh-CN" altLang="en-US" dirty="0">
              <a:solidFill>
                <a:srgbClr val="FF0000"/>
              </a:solidFill>
            </a:endParaRPr>
          </a:p>
          <a:p>
            <a:pPr>
              <a:lnSpc>
                <a:spcPct val="150000"/>
              </a:lnSpc>
            </a:pPr>
            <a:r>
              <a:rPr lang="en-US" altLang="zh-CN" dirty="0" smtClean="0">
                <a:solidFill>
                  <a:srgbClr val="FF0000"/>
                </a:solidFill>
              </a:rPr>
              <a:t>6</a:t>
            </a:r>
            <a:r>
              <a:rPr lang="en-US" altLang="zh-CN" dirty="0">
                <a:solidFill>
                  <a:srgbClr val="FF0000"/>
                </a:solidFill>
              </a:rPr>
              <a:t>.</a:t>
            </a:r>
            <a:r>
              <a:rPr lang="zh-CN" altLang="en-US" dirty="0">
                <a:solidFill>
                  <a:srgbClr val="FF0000"/>
                </a:solidFill>
              </a:rPr>
              <a:t>互联网是意识形态斗争的主阵地、主战场、最前沿</a:t>
            </a:r>
            <a:endParaRPr lang="zh-CN" altLang="en-US" dirty="0">
              <a:solidFill>
                <a:srgbClr val="FF0000"/>
              </a:solidFill>
            </a:endParaRPr>
          </a:p>
          <a:p>
            <a:pPr>
              <a:lnSpc>
                <a:spcPct val="150000"/>
              </a:lnSpc>
            </a:pPr>
            <a:r>
              <a:rPr lang="en-US" altLang="zh-CN" dirty="0">
                <a:solidFill>
                  <a:srgbClr val="FF0000"/>
                </a:solidFill>
              </a:rPr>
              <a:t>7</a:t>
            </a:r>
            <a:r>
              <a:rPr lang="zh-CN" altLang="en-US" dirty="0">
                <a:solidFill>
                  <a:srgbClr val="FF0000"/>
                </a:solidFill>
              </a:rPr>
              <a:t>、为什么网络意识形态如此</a:t>
            </a:r>
            <a:r>
              <a:rPr lang="zh-CN" altLang="en-US" dirty="0" smtClean="0">
                <a:solidFill>
                  <a:srgbClr val="FF0000"/>
                </a:solidFill>
              </a:rPr>
              <a:t>重要</a:t>
            </a:r>
            <a:endParaRPr lang="zh-CN" altLang="en-US" dirty="0">
              <a:solidFill>
                <a:srgbClr val="FF0000"/>
              </a:solidFill>
            </a:endParaRPr>
          </a:p>
          <a:p>
            <a:pPr>
              <a:lnSpc>
                <a:spcPct val="150000"/>
              </a:lnSpc>
            </a:pPr>
            <a:r>
              <a:rPr lang="en-US" altLang="zh-CN" dirty="0">
                <a:solidFill>
                  <a:srgbClr val="FF0000"/>
                </a:solidFill>
              </a:rPr>
              <a:t>8.</a:t>
            </a:r>
            <a:r>
              <a:rPr lang="zh-CN" altLang="en-US" dirty="0">
                <a:solidFill>
                  <a:srgbClr val="FF0000"/>
                </a:solidFill>
              </a:rPr>
              <a:t>文化的影响力首先是价值观念的</a:t>
            </a:r>
            <a:r>
              <a:rPr lang="zh-CN" altLang="en-US" dirty="0" smtClean="0">
                <a:solidFill>
                  <a:srgbClr val="FF0000"/>
                </a:solidFill>
              </a:rPr>
              <a:t>影响力</a:t>
            </a:r>
            <a:endParaRPr lang="zh-CN" altLang="en-US" dirty="0">
              <a:solidFill>
                <a:srgbClr val="FF0000"/>
              </a:solidFill>
            </a:endParaRPr>
          </a:p>
        </p:txBody>
      </p:sp>
      <p:sp>
        <p:nvSpPr>
          <p:cNvPr id="3" name="矩形 2"/>
          <p:cNvSpPr/>
          <p:nvPr/>
        </p:nvSpPr>
        <p:spPr>
          <a:xfrm>
            <a:off x="4504545" y="763721"/>
            <a:ext cx="4639454" cy="2862322"/>
          </a:xfrm>
          <a:prstGeom prst="rect">
            <a:avLst/>
          </a:prstGeom>
        </p:spPr>
        <p:txBody>
          <a:bodyPr wrap="square">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smtClean="0">
                <a:solidFill>
                  <a:srgbClr val="FF0000"/>
                </a:solidFill>
              </a:rPr>
              <a:t>、</a:t>
            </a:r>
            <a:r>
              <a:rPr lang="en-US" altLang="zh-CN" sz="2000" dirty="0">
                <a:solidFill>
                  <a:srgbClr val="FF0000"/>
                </a:solidFill>
              </a:rPr>
              <a:t>.</a:t>
            </a:r>
            <a:r>
              <a:rPr lang="zh-CN" altLang="en-US" sz="2000" dirty="0">
                <a:solidFill>
                  <a:srgbClr val="FF0000"/>
                </a:solidFill>
              </a:rPr>
              <a:t>为什么坚持马克思主义在意识形态领域指导地位的根本制度是历史的结论，现实的必然</a:t>
            </a:r>
            <a:r>
              <a:rPr lang="zh-CN" altLang="en-US" sz="2000" dirty="0" smtClean="0">
                <a:solidFill>
                  <a:srgbClr val="FF0000"/>
                </a:solidFill>
              </a:rPr>
              <a:t>？</a:t>
            </a:r>
            <a:endParaRPr lang="en-US" altLang="zh-CN" sz="2000" dirty="0" smtClean="0">
              <a:solidFill>
                <a:srgbClr val="FF0000"/>
              </a:solidFill>
            </a:endParaRPr>
          </a:p>
          <a:p>
            <a:pPr>
              <a:lnSpc>
                <a:spcPct val="150000"/>
              </a:lnSpc>
            </a:pPr>
            <a:r>
              <a:rPr lang="en-US" altLang="zh-CN" sz="2000" dirty="0" smtClean="0">
                <a:solidFill>
                  <a:srgbClr val="FF0000"/>
                </a:solidFill>
              </a:rPr>
              <a:t>2</a:t>
            </a:r>
            <a:r>
              <a:rPr lang="zh-CN" altLang="en-US" sz="2000" dirty="0" smtClean="0">
                <a:solidFill>
                  <a:srgbClr val="FF0000"/>
                </a:solidFill>
              </a:rPr>
              <a:t>、如何</a:t>
            </a:r>
            <a:r>
              <a:rPr lang="zh-CN" altLang="en-US" sz="2000" dirty="0">
                <a:solidFill>
                  <a:srgbClr val="FF0000"/>
                </a:solidFill>
              </a:rPr>
              <a:t>提升国家文化软实力和中华文化影响力？</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39646" y="-45284"/>
            <a:ext cx="8476938" cy="654667"/>
          </a:xfrm>
        </p:spPr>
        <p:txBody>
          <a:bodyPr/>
          <a:lstStyle/>
          <a:p>
            <a:pPr algn="ctr"/>
            <a:r>
              <a:rPr lang="zh-CN" altLang="en-US" sz="2800" dirty="0" smtClean="0"/>
              <a:t>第十讲 </a:t>
            </a:r>
            <a:r>
              <a:rPr lang="zh-CN" altLang="en-US" sz="2800" dirty="0"/>
              <a:t>建设社会主义文化强国</a:t>
            </a:r>
            <a:endParaRPr lang="zh-CN" altLang="en-US" sz="2800" dirty="0"/>
          </a:p>
        </p:txBody>
      </p:sp>
      <p:sp>
        <p:nvSpPr>
          <p:cNvPr id="6" name="文本框 5"/>
          <p:cNvSpPr txBox="1"/>
          <p:nvPr/>
        </p:nvSpPr>
        <p:spPr>
          <a:xfrm>
            <a:off x="90523" y="777884"/>
            <a:ext cx="4279110" cy="3570208"/>
          </a:xfrm>
          <a:prstGeom prst="rect">
            <a:avLst/>
          </a:prstGeom>
          <a:noFill/>
        </p:spPr>
        <p:txBody>
          <a:bodyPr wrap="square">
            <a:spAutoFit/>
          </a:bodyPr>
          <a:lstStyle/>
          <a:p>
            <a:r>
              <a:rPr lang="en-US" altLang="zh-CN" b="1" dirty="0">
                <a:solidFill>
                  <a:srgbClr val="FF0000"/>
                </a:solidFill>
              </a:rPr>
              <a:t>1</a:t>
            </a:r>
            <a:r>
              <a:rPr lang="en-US" altLang="zh-CN" b="1" dirty="0" smtClean="0">
                <a:solidFill>
                  <a:srgbClr val="FF0000"/>
                </a:solidFill>
              </a:rPr>
              <a:t>.</a:t>
            </a:r>
            <a:r>
              <a:rPr lang="zh-CN" altLang="en-US" b="1" dirty="0">
                <a:solidFill>
                  <a:srgbClr val="FF0000"/>
                </a:solidFill>
              </a:rPr>
              <a:t>为什么建设中国特色社会主义</a:t>
            </a:r>
            <a:r>
              <a:rPr lang="zh-CN" altLang="en-US" b="1" dirty="0" smtClean="0">
                <a:solidFill>
                  <a:srgbClr val="FF0000"/>
                </a:solidFill>
              </a:rPr>
              <a:t>文化</a:t>
            </a:r>
            <a:endParaRPr lang="en-US" altLang="zh-CN" b="1" dirty="0" smtClean="0">
              <a:solidFill>
                <a:srgbClr val="FF0000"/>
              </a:solidFill>
            </a:endParaRPr>
          </a:p>
          <a:p>
            <a:r>
              <a:rPr lang="zh-CN" altLang="en-US" sz="1400" b="1" dirty="0"/>
              <a:t>（</a:t>
            </a:r>
            <a:r>
              <a:rPr lang="en-US" altLang="zh-CN" sz="1400" b="1" dirty="0"/>
              <a:t>1</a:t>
            </a:r>
            <a:r>
              <a:rPr lang="zh-CN" altLang="en-US" sz="1400" b="1" dirty="0"/>
              <a:t>）文化是一个国家、一个民族的灵魂</a:t>
            </a:r>
            <a:endParaRPr lang="zh-CN" altLang="en-US" sz="1400" b="1" dirty="0"/>
          </a:p>
          <a:p>
            <a:r>
              <a:rPr lang="zh-CN" altLang="en-US" sz="1400" b="1" dirty="0" smtClean="0"/>
              <a:t>（</a:t>
            </a:r>
            <a:r>
              <a:rPr lang="en-US" altLang="zh-CN" sz="1400" b="1" dirty="0" smtClean="0"/>
              <a:t>2</a:t>
            </a:r>
            <a:r>
              <a:rPr lang="zh-CN" altLang="en-US" sz="1400" b="1" dirty="0"/>
              <a:t>）没有文化繁荣兴盛就没有中华民族伟大复兴</a:t>
            </a:r>
            <a:endParaRPr lang="zh-CN" altLang="en-US" sz="1400" b="1" dirty="0"/>
          </a:p>
          <a:p>
            <a:r>
              <a:rPr lang="zh-CN" altLang="en-US" sz="1400" b="1" dirty="0" smtClean="0"/>
              <a:t>（</a:t>
            </a:r>
            <a:r>
              <a:rPr lang="en-US" altLang="zh-CN" sz="1400" b="1" dirty="0" smtClean="0"/>
              <a:t>3</a:t>
            </a:r>
            <a:r>
              <a:rPr lang="zh-CN" altLang="en-US" sz="1400" b="1" dirty="0"/>
              <a:t>）更好满足人民日益增长的精神文化</a:t>
            </a:r>
            <a:r>
              <a:rPr lang="zh-CN" altLang="en-US" sz="1400" b="1" dirty="0" smtClean="0"/>
              <a:t>需要</a:t>
            </a:r>
            <a:endParaRPr lang="en-US" altLang="zh-CN" sz="1400" b="1" dirty="0" smtClean="0"/>
          </a:p>
          <a:p>
            <a:r>
              <a:rPr lang="en-US" altLang="zh-CN" b="1" dirty="0">
                <a:solidFill>
                  <a:srgbClr val="FF0000"/>
                </a:solidFill>
              </a:rPr>
              <a:t>2</a:t>
            </a:r>
            <a:r>
              <a:rPr lang="zh-CN" altLang="en-US" b="1" dirty="0">
                <a:solidFill>
                  <a:srgbClr val="FF0000"/>
                </a:solidFill>
              </a:rPr>
              <a:t>、为什么没有文化繁荣兴盛就没有中华民族伟大复兴</a:t>
            </a:r>
            <a:endParaRPr lang="zh-CN" altLang="en-US" b="1" dirty="0">
              <a:solidFill>
                <a:srgbClr val="FF0000"/>
              </a:solidFill>
            </a:endParaRPr>
          </a:p>
          <a:p>
            <a:r>
              <a:rPr lang="zh-CN" altLang="en-US" sz="1400" b="1" dirty="0" smtClean="0"/>
              <a:t>（</a:t>
            </a:r>
            <a:r>
              <a:rPr lang="en-US" altLang="zh-CN" sz="1400" b="1" dirty="0" smtClean="0"/>
              <a:t>1</a:t>
            </a:r>
            <a:r>
              <a:rPr lang="zh-CN" altLang="en-US" sz="1400" b="1" dirty="0" smtClean="0"/>
              <a:t>）文化</a:t>
            </a:r>
            <a:r>
              <a:rPr lang="zh-CN" altLang="en-US" sz="1400" b="1" dirty="0"/>
              <a:t>繁荣兴盛是中华民族伟大复兴的重要</a:t>
            </a:r>
            <a:r>
              <a:rPr lang="zh-CN" altLang="en-US" sz="1400" b="1" dirty="0" smtClean="0"/>
              <a:t>内容（</a:t>
            </a:r>
            <a:r>
              <a:rPr lang="zh-CN" altLang="en-US" sz="1400" b="1" dirty="0"/>
              <a:t>到本世纪中叶，我国将全面建成富强民主文明和谐美丽的社会主义现代化强国</a:t>
            </a:r>
            <a:r>
              <a:rPr lang="zh-CN" altLang="en-US" sz="1400" b="1" dirty="0" smtClean="0"/>
              <a:t>。）</a:t>
            </a:r>
            <a:endParaRPr lang="zh-CN" altLang="en-US" sz="1400" b="1" dirty="0"/>
          </a:p>
          <a:p>
            <a:r>
              <a:rPr lang="zh-CN" altLang="en-US" sz="1400" b="1" dirty="0" smtClean="0"/>
              <a:t>（</a:t>
            </a:r>
            <a:r>
              <a:rPr lang="en-US" altLang="zh-CN" sz="1400" b="1" dirty="0" smtClean="0"/>
              <a:t>2</a:t>
            </a:r>
            <a:r>
              <a:rPr lang="zh-CN" altLang="en-US" sz="1400" b="1" dirty="0"/>
              <a:t>）中华民族伟大复兴以文化繁荣兴盛为</a:t>
            </a:r>
            <a:r>
              <a:rPr lang="zh-CN" altLang="en-US" sz="1400" b="1" dirty="0" smtClean="0"/>
              <a:t>支撑条件</a:t>
            </a:r>
            <a:endParaRPr lang="zh-CN" altLang="en-US" sz="1400" b="1" dirty="0"/>
          </a:p>
          <a:p>
            <a:r>
              <a:rPr lang="zh-CN" altLang="en-US" sz="1400" b="1" dirty="0" smtClean="0"/>
              <a:t>（</a:t>
            </a:r>
            <a:r>
              <a:rPr lang="en-US" altLang="zh-CN" sz="1400" b="1" dirty="0" smtClean="0"/>
              <a:t>3</a:t>
            </a:r>
            <a:r>
              <a:rPr lang="zh-CN" altLang="en-US" sz="1400" b="1" dirty="0"/>
              <a:t>）实现文化的繁荣兴盛需要强大的领导力量</a:t>
            </a:r>
            <a:endParaRPr lang="zh-CN" altLang="en-US" sz="1400" b="1" dirty="0"/>
          </a:p>
          <a:p>
            <a:r>
              <a:rPr lang="en-US" altLang="zh-CN" b="1" dirty="0">
                <a:solidFill>
                  <a:srgbClr val="FF0000"/>
                </a:solidFill>
              </a:rPr>
              <a:t>3</a:t>
            </a:r>
            <a:r>
              <a:rPr lang="zh-CN" altLang="en-US" b="1" dirty="0">
                <a:solidFill>
                  <a:srgbClr val="FF0000"/>
                </a:solidFill>
              </a:rPr>
              <a:t>、为什么要做好意识形态工作</a:t>
            </a:r>
            <a:endParaRPr lang="zh-CN" altLang="en-US" b="1" dirty="0">
              <a:solidFill>
                <a:srgbClr val="FF0000"/>
              </a:solidFill>
            </a:endParaRPr>
          </a:p>
          <a:p>
            <a:r>
              <a:rPr lang="zh-CN" altLang="en-US" sz="1400" b="1" dirty="0" smtClean="0"/>
              <a:t>（</a:t>
            </a:r>
            <a:r>
              <a:rPr lang="en-US" altLang="zh-CN" sz="1400" b="1" dirty="0" smtClean="0"/>
              <a:t>1</a:t>
            </a:r>
            <a:r>
              <a:rPr lang="zh-CN" altLang="en-US" sz="1400" b="1" dirty="0" smtClean="0"/>
              <a:t>）意识形态工作事关党的前途命运</a:t>
            </a:r>
            <a:endParaRPr lang="en-US" altLang="zh-CN" sz="1400" b="1" dirty="0" smtClean="0"/>
          </a:p>
          <a:p>
            <a:r>
              <a:rPr lang="zh-CN" altLang="en-US" sz="1400" b="1" dirty="0" smtClean="0"/>
              <a:t>（</a:t>
            </a:r>
            <a:r>
              <a:rPr lang="en-US" altLang="zh-CN" sz="1400" b="1" dirty="0" smtClean="0"/>
              <a:t>2</a:t>
            </a:r>
            <a:r>
              <a:rPr lang="zh-CN" altLang="en-US" sz="1400" b="1" dirty="0" smtClean="0"/>
              <a:t>）</a:t>
            </a:r>
            <a:r>
              <a:rPr lang="zh-CN" altLang="en-US" sz="1400" b="1" dirty="0"/>
              <a:t>意识形态工作事</a:t>
            </a:r>
            <a:r>
              <a:rPr lang="zh-CN" altLang="en-US" sz="1400" b="1" dirty="0" smtClean="0"/>
              <a:t>关国家的长治久安</a:t>
            </a:r>
            <a:endParaRPr lang="en-US" altLang="zh-CN" sz="1400" b="1" dirty="0" smtClean="0"/>
          </a:p>
          <a:p>
            <a:r>
              <a:rPr lang="zh-CN" altLang="en-US" sz="1400" b="1" dirty="0" smtClean="0"/>
              <a:t>（</a:t>
            </a:r>
            <a:r>
              <a:rPr lang="en-US" altLang="zh-CN" sz="1400" b="1" dirty="0" smtClean="0"/>
              <a:t>3</a:t>
            </a:r>
            <a:r>
              <a:rPr lang="zh-CN" altLang="en-US" sz="1400" b="1" dirty="0" smtClean="0"/>
              <a:t>）</a:t>
            </a:r>
            <a:r>
              <a:rPr lang="zh-CN" altLang="en-US" sz="1400" b="1" dirty="0"/>
              <a:t>意识形态工作事</a:t>
            </a:r>
            <a:r>
              <a:rPr lang="zh-CN" altLang="en-US" sz="1400" b="1" dirty="0" smtClean="0"/>
              <a:t>关民族的凝聚力和向心力</a:t>
            </a:r>
            <a:endParaRPr lang="zh-CN" altLang="en-US" sz="1400" b="1" dirty="0"/>
          </a:p>
        </p:txBody>
      </p:sp>
      <p:sp>
        <p:nvSpPr>
          <p:cNvPr id="9" name="文本框 8"/>
          <p:cNvSpPr txBox="1"/>
          <p:nvPr/>
        </p:nvSpPr>
        <p:spPr>
          <a:xfrm>
            <a:off x="4167267" y="679963"/>
            <a:ext cx="4849317" cy="4124206"/>
          </a:xfrm>
          <a:prstGeom prst="rect">
            <a:avLst/>
          </a:prstGeom>
          <a:noFill/>
        </p:spPr>
        <p:txBody>
          <a:bodyPr wrap="square">
            <a:spAutoFit/>
          </a:bodyPr>
          <a:lstStyle/>
          <a:p>
            <a:r>
              <a:rPr lang="en-US" altLang="zh-CN" b="1" dirty="0">
                <a:solidFill>
                  <a:srgbClr val="FF0000"/>
                </a:solidFill>
              </a:rPr>
              <a:t>4.</a:t>
            </a:r>
            <a:r>
              <a:rPr lang="zh-CN" altLang="en-US" b="1" dirty="0">
                <a:solidFill>
                  <a:srgbClr val="FF0000"/>
                </a:solidFill>
              </a:rPr>
              <a:t>用社会主义核心价值观凝心聚力</a:t>
            </a:r>
            <a:endParaRPr lang="en-US" altLang="zh-CN" b="1" dirty="0">
              <a:solidFill>
                <a:srgbClr val="FF0000"/>
              </a:solidFill>
            </a:endParaRPr>
          </a:p>
          <a:p>
            <a:r>
              <a:rPr lang="zh-CN" altLang="en-US" sz="1400" b="1" dirty="0"/>
              <a:t>（</a:t>
            </a:r>
            <a:r>
              <a:rPr lang="en-US" altLang="zh-CN" sz="1400" b="1" dirty="0"/>
              <a:t>1</a:t>
            </a:r>
            <a:r>
              <a:rPr lang="zh-CN" altLang="en-US" sz="1400" b="1" dirty="0"/>
              <a:t>）内涵：富强民主文明和谐、自由平等公正法治、爱国敬业诚信友善</a:t>
            </a:r>
            <a:endParaRPr lang="en-US" altLang="zh-CN" sz="1400" b="1" dirty="0"/>
          </a:p>
          <a:p>
            <a:r>
              <a:rPr lang="zh-CN" altLang="en-US" sz="1400" b="1" dirty="0"/>
              <a:t>（</a:t>
            </a:r>
            <a:r>
              <a:rPr lang="en-US" altLang="zh-CN" sz="1400" b="1" dirty="0"/>
              <a:t>2</a:t>
            </a:r>
            <a:r>
              <a:rPr lang="zh-CN" altLang="en-US" sz="1400" b="1" dirty="0"/>
              <a:t>）路径：推动理想信念教育常态化制度化；融入法治建设和社会治理；在落细、落小、落实上下功夫</a:t>
            </a:r>
            <a:endParaRPr lang="zh-CN" altLang="en-US" sz="1400" b="1" dirty="0"/>
          </a:p>
          <a:p>
            <a:r>
              <a:rPr lang="en-US" altLang="zh-CN" b="1" dirty="0" smtClean="0">
                <a:solidFill>
                  <a:srgbClr val="FF0000"/>
                </a:solidFill>
              </a:rPr>
              <a:t>5.</a:t>
            </a:r>
            <a:r>
              <a:rPr lang="zh-CN" altLang="en-US" b="1" dirty="0" smtClean="0">
                <a:solidFill>
                  <a:srgbClr val="FF0000"/>
                </a:solidFill>
              </a:rPr>
              <a:t>如何牢牢</a:t>
            </a:r>
            <a:r>
              <a:rPr lang="zh-CN" altLang="en-US" b="1" dirty="0">
                <a:solidFill>
                  <a:srgbClr val="FF0000"/>
                </a:solidFill>
              </a:rPr>
              <a:t>掌握意识形态工作</a:t>
            </a:r>
            <a:r>
              <a:rPr lang="zh-CN" altLang="en-US" b="1" dirty="0" smtClean="0">
                <a:solidFill>
                  <a:srgbClr val="FF0000"/>
                </a:solidFill>
              </a:rPr>
              <a:t>领导权</a:t>
            </a:r>
            <a:endParaRPr lang="en-US" altLang="zh-CN" b="1" dirty="0" smtClean="0">
              <a:solidFill>
                <a:srgbClr val="FF0000"/>
              </a:solidFill>
            </a:endParaRPr>
          </a:p>
          <a:p>
            <a:r>
              <a:rPr lang="zh-CN" altLang="en-US" sz="1400" b="1" dirty="0" smtClean="0"/>
              <a:t>（</a:t>
            </a:r>
            <a:r>
              <a:rPr lang="en-US" altLang="zh-CN" sz="1400" b="1" dirty="0"/>
              <a:t>1</a:t>
            </a:r>
            <a:r>
              <a:rPr lang="zh-CN" altLang="en-US" sz="1400" b="1" dirty="0"/>
              <a:t>）用习近平新时代中国特色社会主义思想武装</a:t>
            </a:r>
            <a:r>
              <a:rPr lang="zh-CN" altLang="en-US" sz="1400" b="1" dirty="0" smtClean="0"/>
              <a:t>全党</a:t>
            </a:r>
            <a:endParaRPr lang="en-US" altLang="zh-CN" sz="1400" b="1" dirty="0"/>
          </a:p>
          <a:p>
            <a:r>
              <a:rPr lang="zh-CN" altLang="en-US" sz="1400" b="1" dirty="0"/>
              <a:t>（</a:t>
            </a:r>
            <a:r>
              <a:rPr lang="en-US" altLang="zh-CN" sz="1400" b="1" dirty="0"/>
              <a:t>2</a:t>
            </a:r>
            <a:r>
              <a:rPr lang="zh-CN" altLang="en-US" sz="1400" b="1" dirty="0"/>
              <a:t>）提升党、国家和民族的凝聚力向心力</a:t>
            </a:r>
            <a:endParaRPr lang="zh-CN" altLang="en-US" sz="1400" b="1" dirty="0"/>
          </a:p>
          <a:p>
            <a:r>
              <a:rPr lang="zh-CN" altLang="en-US" sz="1400" b="1" dirty="0" smtClean="0"/>
              <a:t>（</a:t>
            </a:r>
            <a:r>
              <a:rPr lang="en-US" altLang="zh-CN" sz="1400" b="1" dirty="0"/>
              <a:t>3</a:t>
            </a:r>
            <a:r>
              <a:rPr lang="zh-CN" altLang="en-US" sz="1400" b="1" dirty="0"/>
              <a:t>）推动传播手段建设和创新</a:t>
            </a:r>
            <a:endParaRPr lang="zh-CN" altLang="en-US" sz="1400" b="1" dirty="0"/>
          </a:p>
          <a:p>
            <a:r>
              <a:rPr lang="zh-CN" altLang="en-US" sz="1400" b="1" dirty="0" smtClean="0"/>
              <a:t>（</a:t>
            </a:r>
            <a:r>
              <a:rPr lang="en-US" altLang="zh-CN" sz="1400" b="1" dirty="0"/>
              <a:t>4</a:t>
            </a:r>
            <a:r>
              <a:rPr lang="zh-CN" altLang="en-US" sz="1400" b="1" dirty="0"/>
              <a:t>）加强意识形态人才队伍建设</a:t>
            </a:r>
            <a:endParaRPr lang="zh-CN" altLang="en-US" sz="1400" b="1" dirty="0"/>
          </a:p>
          <a:p>
            <a:r>
              <a:rPr lang="zh-CN" altLang="en-US" sz="1400" b="1" dirty="0" smtClean="0"/>
              <a:t>（</a:t>
            </a:r>
            <a:r>
              <a:rPr lang="en-US" altLang="zh-CN" sz="1400" b="1" dirty="0"/>
              <a:t>5</a:t>
            </a:r>
            <a:r>
              <a:rPr lang="zh-CN" altLang="en-US" sz="1400" b="1" dirty="0"/>
              <a:t>）巩固和发展主流意识形态</a:t>
            </a:r>
            <a:endParaRPr lang="zh-CN" altLang="en-US" sz="1400" b="1" dirty="0"/>
          </a:p>
          <a:p>
            <a:r>
              <a:rPr lang="en-US" altLang="zh-CN" b="1" dirty="0" smtClean="0">
                <a:solidFill>
                  <a:srgbClr val="FF0000"/>
                </a:solidFill>
              </a:rPr>
              <a:t>6.</a:t>
            </a:r>
            <a:r>
              <a:rPr lang="zh-CN" altLang="en-US" b="1" dirty="0">
                <a:solidFill>
                  <a:srgbClr val="FF0000"/>
                </a:solidFill>
              </a:rPr>
              <a:t>互联网是意识形态斗争的主阵地、主战场、最</a:t>
            </a:r>
            <a:r>
              <a:rPr lang="zh-CN" altLang="en-US" b="1" dirty="0" smtClean="0">
                <a:solidFill>
                  <a:srgbClr val="FF0000"/>
                </a:solidFill>
              </a:rPr>
              <a:t>前沿</a:t>
            </a:r>
            <a:endParaRPr lang="en-US" altLang="zh-CN" b="1" dirty="0" smtClean="0">
              <a:solidFill>
                <a:srgbClr val="FF0000"/>
              </a:solidFill>
            </a:endParaRPr>
          </a:p>
          <a:p>
            <a:r>
              <a:rPr lang="en-US" altLang="zh-CN" b="1" dirty="0" smtClean="0">
                <a:solidFill>
                  <a:srgbClr val="FF0000"/>
                </a:solidFill>
              </a:rPr>
              <a:t>7</a:t>
            </a:r>
            <a:r>
              <a:rPr lang="zh-CN" altLang="en-US" b="1" dirty="0" smtClean="0">
                <a:solidFill>
                  <a:srgbClr val="FF0000"/>
                </a:solidFill>
              </a:rPr>
              <a:t>、为什么</a:t>
            </a:r>
            <a:r>
              <a:rPr lang="zh-CN" altLang="en-US" b="1" dirty="0">
                <a:solidFill>
                  <a:srgbClr val="FF0000"/>
                </a:solidFill>
              </a:rPr>
              <a:t>网络意识形态如此重要</a:t>
            </a:r>
            <a:endParaRPr lang="zh-CN" altLang="en-US" b="1" dirty="0">
              <a:solidFill>
                <a:srgbClr val="FF0000"/>
              </a:solidFill>
            </a:endParaRPr>
          </a:p>
          <a:p>
            <a:r>
              <a:rPr lang="zh-CN" altLang="en-US" sz="1400" b="1" dirty="0"/>
              <a:t>（</a:t>
            </a:r>
            <a:r>
              <a:rPr lang="en-US" altLang="zh-CN" sz="1400" b="1" dirty="0"/>
              <a:t>1</a:t>
            </a:r>
            <a:r>
              <a:rPr lang="zh-CN" altLang="en-US" sz="1400" b="1" dirty="0"/>
              <a:t>）互联网是社会舆论的放大器</a:t>
            </a:r>
            <a:endParaRPr lang="zh-CN" altLang="en-US" sz="1400" b="1" dirty="0"/>
          </a:p>
          <a:p>
            <a:r>
              <a:rPr lang="zh-CN" altLang="en-US" sz="1400" b="1" dirty="0"/>
              <a:t>（</a:t>
            </a:r>
            <a:r>
              <a:rPr lang="en-US" altLang="zh-CN" sz="1400" b="1" dirty="0"/>
              <a:t>2</a:t>
            </a:r>
            <a:r>
              <a:rPr lang="zh-CN" altLang="en-US" sz="1400" b="1" dirty="0"/>
              <a:t>）互联网是意识形态交锋最前沿</a:t>
            </a:r>
            <a:endParaRPr lang="zh-CN" altLang="en-US" sz="1400" b="1" dirty="0"/>
          </a:p>
          <a:p>
            <a:r>
              <a:rPr lang="en-US" altLang="zh-CN" b="1" dirty="0" smtClean="0">
                <a:solidFill>
                  <a:srgbClr val="FF0000"/>
                </a:solidFill>
              </a:rPr>
              <a:t>8.</a:t>
            </a:r>
            <a:r>
              <a:rPr lang="zh-CN" altLang="en-US" b="1" dirty="0">
                <a:solidFill>
                  <a:srgbClr val="FF0000"/>
                </a:solidFill>
              </a:rPr>
              <a:t>文化的影响力首先是价值观念的</a:t>
            </a:r>
            <a:r>
              <a:rPr lang="zh-CN" altLang="en-US" b="1" dirty="0" smtClean="0">
                <a:solidFill>
                  <a:srgbClr val="FF0000"/>
                </a:solidFill>
              </a:rPr>
              <a:t>影响力</a:t>
            </a:r>
            <a:endParaRPr lang="en-US" altLang="zh-CN" b="1" dirty="0" smtClean="0">
              <a:solidFill>
                <a:srgbClr val="FF0000"/>
              </a:solidFill>
            </a:endParaRPr>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1024833"/>
          </a:xfrm>
        </p:spPr>
        <p:txBody>
          <a:bodyPr/>
          <a:lstStyle/>
          <a:p>
            <a:r>
              <a:rPr lang="zh-CN" altLang="en-US" sz="2800" dirty="0"/>
              <a:t>二、难点：</a:t>
            </a:r>
            <a:endParaRPr lang="zh-CN" altLang="en-US" sz="2800" dirty="0"/>
          </a:p>
          <a:p>
            <a:endParaRPr lang="zh-CN" altLang="en-US" dirty="0"/>
          </a:p>
        </p:txBody>
      </p:sp>
      <p:sp>
        <p:nvSpPr>
          <p:cNvPr id="5" name="矩形 4"/>
          <p:cNvSpPr/>
          <p:nvPr/>
        </p:nvSpPr>
        <p:spPr>
          <a:xfrm>
            <a:off x="104932" y="568942"/>
            <a:ext cx="8679304" cy="3293209"/>
          </a:xfrm>
          <a:prstGeom prst="rect">
            <a:avLst/>
          </a:prstGeom>
        </p:spPr>
        <p:txBody>
          <a:bodyPr wrap="square">
            <a:spAutoFit/>
          </a:bodyPr>
          <a:lstStyle/>
          <a:p>
            <a:pPr indent="457200"/>
            <a:r>
              <a:rPr lang="en-US" altLang="zh-CN" sz="2000" dirty="0">
                <a:solidFill>
                  <a:srgbClr val="FF0000"/>
                </a:solidFill>
              </a:rPr>
              <a:t>1</a:t>
            </a:r>
            <a:r>
              <a:rPr lang="zh-CN" altLang="en-US" sz="2000" dirty="0">
                <a:solidFill>
                  <a:srgbClr val="FF0000"/>
                </a:solidFill>
              </a:rPr>
              <a:t>、</a:t>
            </a:r>
            <a:r>
              <a:rPr lang="en-US" altLang="zh-CN" sz="2000" dirty="0">
                <a:solidFill>
                  <a:srgbClr val="FF0000"/>
                </a:solidFill>
              </a:rPr>
              <a:t>.</a:t>
            </a:r>
            <a:r>
              <a:rPr lang="zh-CN" altLang="en-US" sz="2000" dirty="0">
                <a:solidFill>
                  <a:srgbClr val="FF0000"/>
                </a:solidFill>
              </a:rPr>
              <a:t>为什么坚持马克思主义在意识形态领域指导地位的根本制度是历史的结论，现实的必然</a:t>
            </a:r>
            <a:r>
              <a:rPr lang="zh-CN" altLang="en-US" sz="2000" dirty="0" smtClean="0">
                <a:solidFill>
                  <a:srgbClr val="FF0000"/>
                </a:solidFill>
              </a:rPr>
              <a:t>？</a:t>
            </a:r>
            <a:endParaRPr lang="en-US" altLang="zh-CN" sz="2000" dirty="0" smtClean="0">
              <a:solidFill>
                <a:srgbClr val="FF0000"/>
              </a:solidFill>
            </a:endParaRPr>
          </a:p>
          <a:p>
            <a:pPr indent="457200"/>
            <a:r>
              <a:rPr lang="zh-CN" altLang="en-US" sz="1600" dirty="0" smtClean="0"/>
              <a:t>第一</a:t>
            </a:r>
            <a:r>
              <a:rPr lang="zh-CN" altLang="en-US" sz="1600" dirty="0"/>
              <a:t>，恪守党的本质属性、巩固党的团结统一的必然要求。</a:t>
            </a:r>
            <a:endParaRPr lang="zh-CN" altLang="en-US" sz="1600" dirty="0"/>
          </a:p>
          <a:p>
            <a:pPr indent="457200"/>
            <a:r>
              <a:rPr lang="zh-CN" altLang="en-US" sz="1600" dirty="0"/>
              <a:t>第二，坚持正确发展道路，实现国家长治久安的必然要求。</a:t>
            </a:r>
            <a:endParaRPr lang="zh-CN" altLang="en-US" sz="1600" dirty="0"/>
          </a:p>
          <a:p>
            <a:pPr indent="457200"/>
            <a:r>
              <a:rPr lang="zh-CN" altLang="en-US" sz="1600" dirty="0"/>
              <a:t>第三，筑牢全体人民共同思想基础、凝聚团结奋进强大精神力量的必然要求。</a:t>
            </a:r>
            <a:endParaRPr lang="zh-CN" altLang="en-US" sz="1600" dirty="0"/>
          </a:p>
          <a:p>
            <a:pPr indent="457200"/>
            <a:r>
              <a:rPr lang="zh-CN" altLang="en-US" sz="1600" dirty="0"/>
              <a:t>第四，保证我国文化建设正确方向、更好担负起新时代使命任务的必然要求</a:t>
            </a:r>
            <a:r>
              <a:rPr lang="zh-CN" altLang="en-US" sz="1600" dirty="0" smtClean="0"/>
              <a:t>。</a:t>
            </a:r>
            <a:endParaRPr lang="zh-CN" altLang="en-US" sz="2000" dirty="0">
              <a:solidFill>
                <a:srgbClr val="FF0000"/>
              </a:solidFill>
            </a:endParaRPr>
          </a:p>
          <a:p>
            <a:pPr indent="457200"/>
            <a:r>
              <a:rPr lang="en-US" altLang="zh-CN" sz="2000" dirty="0">
                <a:solidFill>
                  <a:srgbClr val="FF0000"/>
                </a:solidFill>
              </a:rPr>
              <a:t>2</a:t>
            </a:r>
            <a:r>
              <a:rPr lang="zh-CN" altLang="en-US" sz="2000" dirty="0">
                <a:solidFill>
                  <a:srgbClr val="FF0000"/>
                </a:solidFill>
              </a:rPr>
              <a:t>、如何提升国家文化软实力和中华文化影响力</a:t>
            </a:r>
            <a:r>
              <a:rPr lang="zh-CN" altLang="en-US" sz="2000" dirty="0" smtClean="0">
                <a:solidFill>
                  <a:srgbClr val="FF0000"/>
                </a:solidFill>
              </a:rPr>
              <a:t>？</a:t>
            </a:r>
            <a:endParaRPr lang="en-US" altLang="zh-CN" sz="2000" dirty="0" smtClean="0">
              <a:solidFill>
                <a:srgbClr val="FF0000"/>
              </a:solidFill>
            </a:endParaRPr>
          </a:p>
          <a:p>
            <a:pPr indent="457200"/>
            <a:r>
              <a:rPr lang="zh-CN" altLang="en-US" sz="1600" dirty="0"/>
              <a:t>第一，推动中华优秀传统文化创造性转化、创新性发展。</a:t>
            </a:r>
            <a:endParaRPr lang="zh-CN" altLang="en-US" sz="1600" dirty="0"/>
          </a:p>
          <a:p>
            <a:pPr indent="457200"/>
            <a:r>
              <a:rPr lang="zh-CN" altLang="en-US" sz="1600" dirty="0"/>
              <a:t>第二，用中国特色社会主义文化培根铸魂。</a:t>
            </a:r>
            <a:endParaRPr lang="zh-CN" altLang="en-US" sz="1600" dirty="0"/>
          </a:p>
          <a:p>
            <a:pPr indent="457200"/>
            <a:r>
              <a:rPr lang="zh-CN" altLang="en-US" sz="1600" dirty="0"/>
              <a:t>第三，推进文化事业和文化产业全面发展。</a:t>
            </a:r>
            <a:endParaRPr lang="zh-CN" altLang="en-US" sz="1600" dirty="0"/>
          </a:p>
          <a:p>
            <a:pPr indent="457200"/>
            <a:r>
              <a:rPr lang="zh-CN" altLang="en-US" sz="1600" dirty="0"/>
              <a:t>第四，讲好中国故事，传播好中国声音。</a:t>
            </a:r>
            <a:endParaRPr lang="zh-CN" altLang="en-US" sz="1600" dirty="0"/>
          </a:p>
          <a:p>
            <a:pPr indent="457200"/>
            <a:endParaRPr lang="zh-CN" altLang="en-US" sz="20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8975" y="66888"/>
            <a:ext cx="9201950" cy="1284776"/>
          </a:xfrm>
        </p:spPr>
        <p:txBody>
          <a:bodyPr/>
          <a:lstStyle/>
          <a:p>
            <a:pPr algn="ctr"/>
            <a:r>
              <a:rPr lang="zh-CN" altLang="en-US" sz="2800" dirty="0"/>
              <a:t>第十一</a:t>
            </a:r>
            <a:r>
              <a:rPr lang="zh-CN" altLang="en-US" sz="2800" dirty="0" smtClean="0"/>
              <a:t>讲 加强</a:t>
            </a:r>
            <a:r>
              <a:rPr lang="zh-CN" altLang="en-US" sz="2800" dirty="0"/>
              <a:t>以民生为重点的社会建设</a:t>
            </a:r>
            <a:endParaRPr lang="zh-CN" altLang="en-US" sz="2800" dirty="0"/>
          </a:p>
          <a:p>
            <a:pPr algn="ctr"/>
            <a:endParaRPr lang="zh-CN" altLang="en-US" sz="2800" dirty="0"/>
          </a:p>
        </p:txBody>
      </p:sp>
      <p:sp>
        <p:nvSpPr>
          <p:cNvPr id="4" name="TextBox 3"/>
          <p:cNvSpPr txBox="1"/>
          <p:nvPr/>
        </p:nvSpPr>
        <p:spPr>
          <a:xfrm>
            <a:off x="136921" y="526852"/>
            <a:ext cx="4367624" cy="4293483"/>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a:solidFill>
                  <a:srgbClr val="FF0000"/>
                </a:solidFill>
              </a:rPr>
              <a:t>1.</a:t>
            </a:r>
            <a:r>
              <a:rPr lang="zh-CN" altLang="en-US" dirty="0">
                <a:solidFill>
                  <a:srgbClr val="FF0000"/>
                </a:solidFill>
              </a:rPr>
              <a:t>民生是最大的政治</a:t>
            </a:r>
            <a:endParaRPr lang="zh-CN" altLang="en-US" dirty="0">
              <a:solidFill>
                <a:srgbClr val="FF0000"/>
              </a:solidFill>
            </a:endParaRPr>
          </a:p>
          <a:p>
            <a:pPr>
              <a:lnSpc>
                <a:spcPct val="150000"/>
              </a:lnSpc>
            </a:pPr>
            <a:r>
              <a:rPr lang="en-US" altLang="zh-CN" dirty="0" smtClean="0">
                <a:solidFill>
                  <a:srgbClr val="FF0000"/>
                </a:solidFill>
              </a:rPr>
              <a:t>2</a:t>
            </a:r>
            <a:r>
              <a:rPr lang="en-US" altLang="zh-CN" dirty="0">
                <a:solidFill>
                  <a:srgbClr val="FF0000"/>
                </a:solidFill>
              </a:rPr>
              <a:t>.</a:t>
            </a:r>
            <a:r>
              <a:rPr lang="zh-CN" altLang="en-US" dirty="0">
                <a:solidFill>
                  <a:srgbClr val="FF0000"/>
                </a:solidFill>
              </a:rPr>
              <a:t>增进民生福祉是发展的根本目的</a:t>
            </a:r>
            <a:endParaRPr lang="zh-CN" altLang="en-US" dirty="0">
              <a:solidFill>
                <a:srgbClr val="FF0000"/>
              </a:solidFill>
            </a:endParaRPr>
          </a:p>
          <a:p>
            <a:pPr>
              <a:lnSpc>
                <a:spcPct val="150000"/>
              </a:lnSpc>
            </a:pPr>
            <a:r>
              <a:rPr lang="en-US" altLang="zh-CN" dirty="0" smtClean="0">
                <a:solidFill>
                  <a:srgbClr val="FF0000"/>
                </a:solidFill>
              </a:rPr>
              <a:t>3</a:t>
            </a:r>
            <a:r>
              <a:rPr lang="zh-CN" altLang="en-US" dirty="0">
                <a:solidFill>
                  <a:srgbClr val="FF0000"/>
                </a:solidFill>
              </a:rPr>
              <a:t>、抓住人民最关心最直接最现实的利益</a:t>
            </a:r>
            <a:r>
              <a:rPr lang="zh-CN" altLang="en-US" dirty="0" smtClean="0">
                <a:solidFill>
                  <a:srgbClr val="FF0000"/>
                </a:solidFill>
              </a:rPr>
              <a:t>问题</a:t>
            </a:r>
            <a:endParaRPr lang="en-US" altLang="zh-CN" dirty="0" smtClean="0">
              <a:solidFill>
                <a:srgbClr val="FF0000"/>
              </a:solidFill>
            </a:endParaRPr>
          </a:p>
          <a:p>
            <a:pPr>
              <a:lnSpc>
                <a:spcPct val="150000"/>
              </a:lnSpc>
            </a:pPr>
            <a:r>
              <a:rPr lang="en-US" altLang="zh-CN" dirty="0">
                <a:solidFill>
                  <a:srgbClr val="FF0000"/>
                </a:solidFill>
              </a:rPr>
              <a:t>4.</a:t>
            </a:r>
            <a:r>
              <a:rPr lang="zh-CN" altLang="en-US" dirty="0">
                <a:solidFill>
                  <a:srgbClr val="FF0000"/>
                </a:solidFill>
              </a:rPr>
              <a:t>脱贫攻坚</a:t>
            </a:r>
            <a:r>
              <a:rPr lang="zh-CN" altLang="en-US" dirty="0" smtClean="0">
                <a:solidFill>
                  <a:srgbClr val="FF0000"/>
                </a:solidFill>
              </a:rPr>
              <a:t>精神</a:t>
            </a:r>
            <a:endParaRPr lang="zh-CN" altLang="en-US" dirty="0">
              <a:solidFill>
                <a:srgbClr val="FF0000"/>
              </a:solidFill>
            </a:endParaRPr>
          </a:p>
          <a:p>
            <a:pPr>
              <a:lnSpc>
                <a:spcPct val="150000"/>
              </a:lnSpc>
            </a:pPr>
            <a:r>
              <a:rPr lang="en-US" altLang="zh-CN" dirty="0">
                <a:solidFill>
                  <a:srgbClr val="FF0000"/>
                </a:solidFill>
              </a:rPr>
              <a:t>5</a:t>
            </a:r>
            <a:r>
              <a:rPr lang="zh-CN" altLang="en-US" dirty="0">
                <a:solidFill>
                  <a:srgbClr val="FF0000"/>
                </a:solidFill>
              </a:rPr>
              <a:t>、抗疫精神</a:t>
            </a:r>
            <a:endParaRPr lang="zh-CN" altLang="en-US" dirty="0">
              <a:solidFill>
                <a:srgbClr val="FF0000"/>
              </a:solidFill>
            </a:endParaRPr>
          </a:p>
          <a:p>
            <a:pPr>
              <a:lnSpc>
                <a:spcPct val="150000"/>
              </a:lnSpc>
            </a:pPr>
            <a:r>
              <a:rPr lang="en-US" altLang="zh-CN" dirty="0" smtClean="0">
                <a:solidFill>
                  <a:srgbClr val="FF0000"/>
                </a:solidFill>
              </a:rPr>
              <a:t>6</a:t>
            </a:r>
            <a:r>
              <a:rPr lang="zh-CN" altLang="en-US" dirty="0">
                <a:solidFill>
                  <a:srgbClr val="FF0000"/>
                </a:solidFill>
              </a:rPr>
              <a:t>、怎样推进社会治理现代化</a:t>
            </a:r>
            <a:endParaRPr lang="zh-CN" altLang="en-US" dirty="0">
              <a:solidFill>
                <a:srgbClr val="FF0000"/>
              </a:solidFill>
            </a:endParaRPr>
          </a:p>
          <a:p>
            <a:pPr>
              <a:lnSpc>
                <a:spcPct val="150000"/>
              </a:lnSpc>
            </a:pPr>
            <a:r>
              <a:rPr lang="en-US" altLang="zh-CN" dirty="0" smtClean="0">
                <a:solidFill>
                  <a:srgbClr val="FF0000"/>
                </a:solidFill>
              </a:rPr>
              <a:t>7</a:t>
            </a:r>
            <a:r>
              <a:rPr lang="en-US" altLang="zh-CN" dirty="0">
                <a:solidFill>
                  <a:srgbClr val="FF0000"/>
                </a:solidFill>
              </a:rPr>
              <a:t>.</a:t>
            </a:r>
            <a:r>
              <a:rPr lang="zh-CN" altLang="en-US" dirty="0">
                <a:solidFill>
                  <a:srgbClr val="FF0000"/>
                </a:solidFill>
              </a:rPr>
              <a:t>加强和创新社会治理工作的重点内容</a:t>
            </a:r>
            <a:endParaRPr lang="zh-CN" altLang="en-US" dirty="0">
              <a:solidFill>
                <a:srgbClr val="FF0000"/>
              </a:solidFill>
            </a:endParaRPr>
          </a:p>
          <a:p>
            <a:pPr>
              <a:lnSpc>
                <a:spcPct val="150000"/>
              </a:lnSpc>
            </a:pPr>
            <a:endParaRPr lang="zh-CN" altLang="en-US" dirty="0">
              <a:solidFill>
                <a:srgbClr val="FF0000"/>
              </a:solidFill>
            </a:endParaRPr>
          </a:p>
        </p:txBody>
      </p:sp>
      <p:sp>
        <p:nvSpPr>
          <p:cNvPr id="3" name="矩形 2"/>
          <p:cNvSpPr/>
          <p:nvPr/>
        </p:nvSpPr>
        <p:spPr>
          <a:xfrm>
            <a:off x="4504545" y="763721"/>
            <a:ext cx="4639454" cy="2400657"/>
          </a:xfrm>
          <a:prstGeom prst="rect">
            <a:avLst/>
          </a:prstGeom>
        </p:spPr>
        <p:txBody>
          <a:bodyPr wrap="square">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smtClean="0">
                <a:solidFill>
                  <a:srgbClr val="FF0000"/>
                </a:solidFill>
              </a:rPr>
              <a:t>、脱贫</a:t>
            </a:r>
            <a:r>
              <a:rPr lang="zh-CN" altLang="en-US" sz="2000" dirty="0">
                <a:solidFill>
                  <a:srgbClr val="FF0000"/>
                </a:solidFill>
              </a:rPr>
              <a:t>攻坚的伟大经验是什么</a:t>
            </a:r>
            <a:r>
              <a:rPr lang="zh-CN" altLang="en-US" sz="2000" dirty="0" smtClean="0">
                <a:solidFill>
                  <a:srgbClr val="FF0000"/>
                </a:solidFill>
              </a:rPr>
              <a:t>？</a:t>
            </a:r>
            <a:endParaRPr lang="en-US" altLang="zh-CN" sz="2000" dirty="0" smtClean="0">
              <a:solidFill>
                <a:srgbClr val="FF0000"/>
              </a:solidFill>
            </a:endParaRPr>
          </a:p>
          <a:p>
            <a:pPr>
              <a:lnSpc>
                <a:spcPct val="150000"/>
              </a:lnSpc>
            </a:pPr>
            <a:r>
              <a:rPr lang="en-US" altLang="zh-CN" sz="2000" dirty="0" smtClean="0">
                <a:solidFill>
                  <a:srgbClr val="FF0000"/>
                </a:solidFill>
              </a:rPr>
              <a:t>2</a:t>
            </a:r>
            <a:r>
              <a:rPr lang="zh-CN" altLang="en-US" sz="2000" dirty="0" smtClean="0">
                <a:solidFill>
                  <a:srgbClr val="FF0000"/>
                </a:solidFill>
              </a:rPr>
              <a:t>、抗击</a:t>
            </a:r>
            <a:r>
              <a:rPr lang="zh-CN" altLang="en-US" sz="2000" dirty="0">
                <a:solidFill>
                  <a:srgbClr val="FF0000"/>
                </a:solidFill>
              </a:rPr>
              <a:t>新冠肺炎疫情的伟大经验是什么？</a:t>
            </a:r>
            <a:endParaRPr lang="zh-CN" altLang="en-US" sz="2000" dirty="0">
              <a:solidFill>
                <a:srgbClr val="FF0000"/>
              </a:solidFill>
            </a:endParaRPr>
          </a:p>
          <a:p>
            <a:pPr>
              <a:lnSpc>
                <a:spcPct val="150000"/>
              </a:lnSpc>
            </a:pP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39646" y="-45284"/>
            <a:ext cx="8476938" cy="599396"/>
          </a:xfrm>
        </p:spPr>
        <p:txBody>
          <a:bodyPr/>
          <a:lstStyle/>
          <a:p>
            <a:pPr algn="ctr"/>
            <a:r>
              <a:rPr lang="zh-CN" altLang="en-US" sz="2800" dirty="0"/>
              <a:t>第十一讲 加强以民生为重点的社会建设</a:t>
            </a:r>
            <a:endParaRPr lang="zh-CN" altLang="en-US" sz="2800" dirty="0"/>
          </a:p>
        </p:txBody>
      </p:sp>
      <p:sp>
        <p:nvSpPr>
          <p:cNvPr id="6" name="文本框 5"/>
          <p:cNvSpPr txBox="1"/>
          <p:nvPr/>
        </p:nvSpPr>
        <p:spPr>
          <a:xfrm>
            <a:off x="90523" y="711517"/>
            <a:ext cx="4279110" cy="4431983"/>
          </a:xfrm>
          <a:prstGeom prst="rect">
            <a:avLst/>
          </a:prstGeom>
          <a:noFill/>
        </p:spPr>
        <p:txBody>
          <a:bodyPr wrap="square">
            <a:spAutoFit/>
          </a:bodyPr>
          <a:lstStyle/>
          <a:p>
            <a:r>
              <a:rPr lang="en-US" altLang="zh-CN" b="1" dirty="0">
                <a:solidFill>
                  <a:srgbClr val="FF0000"/>
                </a:solidFill>
              </a:rPr>
              <a:t>1.</a:t>
            </a:r>
            <a:r>
              <a:rPr lang="zh-CN" altLang="en-US" b="1" dirty="0">
                <a:solidFill>
                  <a:srgbClr val="FF0000"/>
                </a:solidFill>
              </a:rPr>
              <a:t>民生是最大的</a:t>
            </a:r>
            <a:r>
              <a:rPr lang="zh-CN" altLang="en-US" b="1" dirty="0" smtClean="0">
                <a:solidFill>
                  <a:srgbClr val="FF0000"/>
                </a:solidFill>
              </a:rPr>
              <a:t>政治</a:t>
            </a:r>
            <a:endParaRPr lang="en-US" altLang="zh-CN" b="1" dirty="0" smtClean="0">
              <a:solidFill>
                <a:srgbClr val="FF0000"/>
              </a:solidFill>
            </a:endParaRPr>
          </a:p>
          <a:p>
            <a:r>
              <a:rPr lang="zh-CN" altLang="en-US" sz="1400" b="1" dirty="0"/>
              <a:t>（</a:t>
            </a:r>
            <a:r>
              <a:rPr lang="en-US" altLang="zh-CN" sz="1400" b="1" dirty="0"/>
              <a:t>1</a:t>
            </a:r>
            <a:r>
              <a:rPr lang="zh-CN" altLang="en-US" sz="1400" b="1" dirty="0"/>
              <a:t>）民生事关人民幸福生活</a:t>
            </a:r>
            <a:endParaRPr lang="zh-CN" altLang="en-US" sz="1400" b="1" dirty="0"/>
          </a:p>
          <a:p>
            <a:r>
              <a:rPr lang="zh-CN" altLang="en-US" sz="1400" b="1" dirty="0"/>
              <a:t>（</a:t>
            </a:r>
            <a:r>
              <a:rPr lang="en-US" altLang="zh-CN" sz="1400" b="1" dirty="0"/>
              <a:t>2</a:t>
            </a:r>
            <a:r>
              <a:rPr lang="zh-CN" altLang="en-US" sz="1400" b="1" dirty="0"/>
              <a:t>）民生事关社会和谐稳定</a:t>
            </a:r>
            <a:endParaRPr lang="zh-CN" altLang="en-US" sz="1400" b="1" dirty="0"/>
          </a:p>
          <a:p>
            <a:r>
              <a:rPr lang="zh-CN" altLang="en-US" sz="1400" b="1" dirty="0"/>
              <a:t>（</a:t>
            </a:r>
            <a:r>
              <a:rPr lang="en-US" altLang="zh-CN" sz="1400" b="1" dirty="0"/>
              <a:t>3</a:t>
            </a:r>
            <a:r>
              <a:rPr lang="zh-CN" altLang="en-US" sz="1400" b="1" dirty="0"/>
              <a:t>）民生事关党的事业成败和国家命运兴衰</a:t>
            </a:r>
            <a:endParaRPr lang="en-US" altLang="zh-CN" sz="1400" b="1" dirty="0"/>
          </a:p>
          <a:p>
            <a:r>
              <a:rPr lang="zh-CN" altLang="en-US" sz="1400" b="1" dirty="0"/>
              <a:t>（</a:t>
            </a:r>
            <a:r>
              <a:rPr lang="en-US" altLang="zh-CN" sz="1400" b="1" dirty="0"/>
              <a:t>4</a:t>
            </a:r>
            <a:r>
              <a:rPr lang="zh-CN" altLang="en-US" sz="1400" b="1" dirty="0"/>
              <a:t>）抓民生也是抓发展</a:t>
            </a:r>
            <a:endParaRPr lang="zh-CN" altLang="en-US" sz="1400" b="1" dirty="0"/>
          </a:p>
          <a:p>
            <a:r>
              <a:rPr lang="en-US" altLang="zh-CN" b="1" dirty="0" smtClean="0">
                <a:solidFill>
                  <a:srgbClr val="FF0000"/>
                </a:solidFill>
              </a:rPr>
              <a:t>2</a:t>
            </a:r>
            <a:r>
              <a:rPr lang="en-US" altLang="zh-CN" b="1" dirty="0">
                <a:solidFill>
                  <a:srgbClr val="FF0000"/>
                </a:solidFill>
              </a:rPr>
              <a:t>.</a:t>
            </a:r>
            <a:r>
              <a:rPr lang="zh-CN" altLang="en-US" b="1" dirty="0">
                <a:solidFill>
                  <a:srgbClr val="FF0000"/>
                </a:solidFill>
              </a:rPr>
              <a:t>增进民生福祉是发展的根本</a:t>
            </a:r>
            <a:r>
              <a:rPr lang="zh-CN" altLang="en-US" b="1" dirty="0" smtClean="0">
                <a:solidFill>
                  <a:srgbClr val="FF0000"/>
                </a:solidFill>
              </a:rPr>
              <a:t>目的</a:t>
            </a:r>
            <a:endParaRPr lang="en-US" altLang="zh-CN" b="1" dirty="0" smtClean="0">
              <a:solidFill>
                <a:srgbClr val="FF0000"/>
              </a:solidFill>
            </a:endParaRPr>
          </a:p>
          <a:p>
            <a:r>
              <a:rPr lang="zh-CN" altLang="en-US" sz="1400" b="1" dirty="0"/>
              <a:t>（</a:t>
            </a:r>
            <a:r>
              <a:rPr lang="en-US" altLang="zh-CN" sz="1400" b="1" dirty="0"/>
              <a:t>1</a:t>
            </a:r>
            <a:r>
              <a:rPr lang="zh-CN" altLang="en-US" sz="1400" b="1" dirty="0"/>
              <a:t>）党的十九大明确了“坚持在发展中保障和改善民生”是新时代坚持和发展中国特色社会主义的基本方略</a:t>
            </a:r>
            <a:r>
              <a:rPr lang="zh-CN" altLang="en-US" sz="1400" b="1" dirty="0" smtClean="0"/>
              <a:t>之一。</a:t>
            </a:r>
            <a:endParaRPr lang="en-US" altLang="zh-CN" sz="1400" b="1" dirty="0"/>
          </a:p>
          <a:p>
            <a:r>
              <a:rPr lang="zh-CN" altLang="en-US" sz="1400" b="1" dirty="0"/>
              <a:t>（</a:t>
            </a:r>
            <a:r>
              <a:rPr lang="en-US" altLang="zh-CN" sz="1400" b="1" dirty="0"/>
              <a:t>2</a:t>
            </a:r>
            <a:r>
              <a:rPr lang="zh-CN" altLang="en-US" sz="1400" b="1" dirty="0"/>
              <a:t>）党的二十大把“增进民生福祉，提高人民生活品质“摆在了更加突出的位置。</a:t>
            </a:r>
            <a:endParaRPr lang="zh-CN" altLang="en-US" sz="1400" b="1" dirty="0"/>
          </a:p>
          <a:p>
            <a:r>
              <a:rPr lang="zh-CN" altLang="en-US" sz="1400" b="1" dirty="0"/>
              <a:t>要坚持以人民为中心，把促进发展、保障民生置于突出位置，实施政策、采取措施、开展行动都要把是否有利于民生福祉放在第一位</a:t>
            </a:r>
            <a:r>
              <a:rPr lang="zh-CN" altLang="en-US" sz="1400" b="1" dirty="0" smtClean="0"/>
              <a:t>。</a:t>
            </a:r>
            <a:endParaRPr lang="en-US" altLang="zh-CN" sz="1400" b="1" dirty="0" smtClean="0"/>
          </a:p>
          <a:p>
            <a:r>
              <a:rPr lang="en-US" altLang="zh-CN" b="1" dirty="0" smtClean="0">
                <a:solidFill>
                  <a:srgbClr val="FF0000"/>
                </a:solidFill>
              </a:rPr>
              <a:t>3</a:t>
            </a:r>
            <a:r>
              <a:rPr lang="zh-CN" altLang="en-US" b="1" dirty="0" smtClean="0">
                <a:solidFill>
                  <a:srgbClr val="FF0000"/>
                </a:solidFill>
              </a:rPr>
              <a:t>、抓住</a:t>
            </a:r>
            <a:r>
              <a:rPr lang="zh-CN" altLang="en-US" b="1" dirty="0">
                <a:solidFill>
                  <a:srgbClr val="FF0000"/>
                </a:solidFill>
              </a:rPr>
              <a:t>人民最关心最直接最现实的利益</a:t>
            </a:r>
            <a:r>
              <a:rPr lang="zh-CN" altLang="en-US" b="1" dirty="0" smtClean="0">
                <a:solidFill>
                  <a:srgbClr val="FF0000"/>
                </a:solidFill>
              </a:rPr>
              <a:t>问题</a:t>
            </a:r>
            <a:endParaRPr lang="en-US" altLang="zh-CN" b="1" dirty="0" smtClean="0">
              <a:solidFill>
                <a:srgbClr val="FF0000"/>
              </a:solidFill>
            </a:endParaRPr>
          </a:p>
          <a:p>
            <a:r>
              <a:rPr lang="zh-CN" altLang="en-US" sz="1400" b="1" dirty="0"/>
              <a:t>我们深入贯彻以人民为中心的发展思想，在幼有所育、学有所教、劳有所得、病有所医、老有所养、住有所居、弱有所扶上持续用力，人民生活全方位改善</a:t>
            </a:r>
            <a:r>
              <a:rPr lang="zh-CN" altLang="en-US" sz="1400" b="1" dirty="0" smtClean="0"/>
              <a:t>。</a:t>
            </a:r>
            <a:endParaRPr lang="zh-CN" altLang="en-US" sz="1400" b="1" dirty="0"/>
          </a:p>
        </p:txBody>
      </p:sp>
      <p:sp>
        <p:nvSpPr>
          <p:cNvPr id="9" name="文本框 8"/>
          <p:cNvSpPr txBox="1"/>
          <p:nvPr/>
        </p:nvSpPr>
        <p:spPr>
          <a:xfrm>
            <a:off x="4294683" y="598567"/>
            <a:ext cx="4849317" cy="4555093"/>
          </a:xfrm>
          <a:prstGeom prst="rect">
            <a:avLst/>
          </a:prstGeom>
          <a:noFill/>
        </p:spPr>
        <p:txBody>
          <a:bodyPr wrap="square">
            <a:spAutoFit/>
          </a:bodyPr>
          <a:lstStyle/>
          <a:p>
            <a:r>
              <a:rPr lang="en-US" altLang="zh-CN" b="1" dirty="0" smtClean="0">
                <a:solidFill>
                  <a:srgbClr val="FF0000"/>
                </a:solidFill>
              </a:rPr>
              <a:t>4.</a:t>
            </a:r>
            <a:r>
              <a:rPr lang="zh-CN" altLang="en-US" b="1" dirty="0">
                <a:solidFill>
                  <a:srgbClr val="FF0000"/>
                </a:solidFill>
              </a:rPr>
              <a:t>脱贫攻坚</a:t>
            </a:r>
            <a:r>
              <a:rPr lang="zh-CN" altLang="en-US" b="1" dirty="0" smtClean="0">
                <a:solidFill>
                  <a:srgbClr val="FF0000"/>
                </a:solidFill>
              </a:rPr>
              <a:t>精神</a:t>
            </a:r>
            <a:endParaRPr lang="en-US" altLang="zh-CN" b="1" dirty="0" smtClean="0">
              <a:solidFill>
                <a:srgbClr val="FF0000"/>
              </a:solidFill>
            </a:endParaRPr>
          </a:p>
          <a:p>
            <a:r>
              <a:rPr lang="zh-CN" altLang="en-US" sz="1400" b="1" dirty="0"/>
              <a:t>上下同心、尽锐出战、精准务实、开拓创新、攻坚克难、不负</a:t>
            </a:r>
            <a:r>
              <a:rPr lang="zh-CN" altLang="en-US" sz="1400" b="1" dirty="0" smtClean="0"/>
              <a:t>人民</a:t>
            </a:r>
            <a:endParaRPr lang="en-US" altLang="zh-CN" sz="1400" b="1" dirty="0" smtClean="0"/>
          </a:p>
          <a:p>
            <a:r>
              <a:rPr lang="en-US" altLang="zh-CN" b="1" dirty="0" smtClean="0">
                <a:solidFill>
                  <a:srgbClr val="FF0000"/>
                </a:solidFill>
              </a:rPr>
              <a:t>5</a:t>
            </a:r>
            <a:r>
              <a:rPr lang="zh-CN" altLang="en-US" b="1" dirty="0" smtClean="0">
                <a:solidFill>
                  <a:srgbClr val="FF0000"/>
                </a:solidFill>
              </a:rPr>
              <a:t>、</a:t>
            </a:r>
            <a:r>
              <a:rPr lang="zh-CN" altLang="en-US" b="1" dirty="0">
                <a:solidFill>
                  <a:srgbClr val="FF0000"/>
                </a:solidFill>
              </a:rPr>
              <a:t>抗疫</a:t>
            </a:r>
            <a:r>
              <a:rPr lang="zh-CN" altLang="en-US" b="1" dirty="0" smtClean="0">
                <a:solidFill>
                  <a:srgbClr val="FF0000"/>
                </a:solidFill>
              </a:rPr>
              <a:t>精神</a:t>
            </a:r>
            <a:endParaRPr lang="en-US" altLang="zh-CN" b="1" dirty="0" smtClean="0">
              <a:solidFill>
                <a:srgbClr val="FF0000"/>
              </a:solidFill>
            </a:endParaRPr>
          </a:p>
          <a:p>
            <a:r>
              <a:rPr lang="zh-CN" altLang="en-US" sz="1400" b="1" dirty="0"/>
              <a:t>生命至上、举国同心、舍生忘死、尊重科学、命运与</a:t>
            </a:r>
            <a:r>
              <a:rPr lang="zh-CN" altLang="en-US" sz="1400" b="1" dirty="0" smtClean="0"/>
              <a:t>共</a:t>
            </a:r>
            <a:endParaRPr lang="zh-CN" altLang="en-US" b="1" dirty="0">
              <a:solidFill>
                <a:srgbClr val="FF0000"/>
              </a:solidFill>
            </a:endParaRPr>
          </a:p>
          <a:p>
            <a:r>
              <a:rPr lang="en-US" altLang="zh-CN" b="1" dirty="0" smtClean="0">
                <a:solidFill>
                  <a:srgbClr val="FF0000"/>
                </a:solidFill>
              </a:rPr>
              <a:t>6</a:t>
            </a:r>
            <a:r>
              <a:rPr lang="zh-CN" altLang="en-US" b="1" dirty="0" smtClean="0">
                <a:solidFill>
                  <a:srgbClr val="FF0000"/>
                </a:solidFill>
              </a:rPr>
              <a:t>、怎样</a:t>
            </a:r>
            <a:r>
              <a:rPr lang="zh-CN" altLang="en-US" b="1" dirty="0">
                <a:solidFill>
                  <a:srgbClr val="FF0000"/>
                </a:solidFill>
              </a:rPr>
              <a:t>推进社会治理</a:t>
            </a:r>
            <a:r>
              <a:rPr lang="zh-CN" altLang="en-US" b="1" dirty="0" smtClean="0">
                <a:solidFill>
                  <a:srgbClr val="FF0000"/>
                </a:solidFill>
              </a:rPr>
              <a:t>现代化</a:t>
            </a:r>
            <a:endParaRPr lang="en-US" altLang="zh-CN" b="1" dirty="0" smtClean="0">
              <a:solidFill>
                <a:srgbClr val="FF0000"/>
              </a:solidFill>
            </a:endParaRPr>
          </a:p>
          <a:p>
            <a:r>
              <a:rPr lang="zh-CN" altLang="en-US" sz="1400" b="1" dirty="0" smtClean="0"/>
              <a:t>（</a:t>
            </a:r>
            <a:r>
              <a:rPr lang="en-US" altLang="zh-CN" sz="1400" b="1" dirty="0" smtClean="0"/>
              <a:t>1</a:t>
            </a:r>
            <a:r>
              <a:rPr lang="zh-CN" altLang="en-US" sz="1400" b="1" dirty="0"/>
              <a:t>）坚持系统治理、综合治理、依法治理、源头治理</a:t>
            </a:r>
            <a:endParaRPr lang="zh-CN" altLang="en-US" sz="1400" b="1" dirty="0"/>
          </a:p>
          <a:p>
            <a:r>
              <a:rPr lang="zh-CN" altLang="en-US" sz="1400" b="1" dirty="0" smtClean="0"/>
              <a:t>（</a:t>
            </a:r>
            <a:r>
              <a:rPr lang="en-US" altLang="zh-CN" sz="1400" b="1" dirty="0" smtClean="0"/>
              <a:t>2</a:t>
            </a:r>
            <a:r>
              <a:rPr lang="zh-CN" altLang="en-US" sz="1400" b="1" dirty="0"/>
              <a:t>）健全党组织领导的自治、法治、德治相结合的</a:t>
            </a:r>
            <a:r>
              <a:rPr lang="zh-CN" altLang="en-US" sz="1400" b="1" dirty="0" smtClean="0"/>
              <a:t>城乡</a:t>
            </a:r>
            <a:r>
              <a:rPr lang="zh-CN" altLang="en-US" sz="1400" b="1" dirty="0"/>
              <a:t>基层治理体系</a:t>
            </a:r>
            <a:endParaRPr lang="zh-CN" altLang="en-US" sz="1400" b="1" dirty="0"/>
          </a:p>
          <a:p>
            <a:r>
              <a:rPr lang="zh-CN" altLang="en-US" sz="1400" b="1" dirty="0" smtClean="0"/>
              <a:t>（</a:t>
            </a:r>
            <a:r>
              <a:rPr lang="en-US" altLang="zh-CN" sz="1400" b="1" dirty="0" smtClean="0"/>
              <a:t>3</a:t>
            </a:r>
            <a:r>
              <a:rPr lang="zh-CN" altLang="en-US" sz="1400" b="1" dirty="0"/>
              <a:t>）加强社会治安</a:t>
            </a:r>
            <a:r>
              <a:rPr lang="zh-CN" altLang="en-US" sz="1400" b="1" dirty="0" smtClean="0"/>
              <a:t>综合治理</a:t>
            </a:r>
            <a:endParaRPr lang="en-US" altLang="zh-CN" sz="1400" b="1" dirty="0" smtClean="0"/>
          </a:p>
          <a:p>
            <a:r>
              <a:rPr lang="en-US" altLang="zh-CN" b="1" dirty="0" smtClean="0">
                <a:solidFill>
                  <a:srgbClr val="FF0000"/>
                </a:solidFill>
              </a:rPr>
              <a:t>7.</a:t>
            </a:r>
            <a:r>
              <a:rPr lang="zh-CN" altLang="en-US" b="1" dirty="0">
                <a:solidFill>
                  <a:srgbClr val="FF0000"/>
                </a:solidFill>
              </a:rPr>
              <a:t>加强和创新社会治理工作的重点</a:t>
            </a:r>
            <a:r>
              <a:rPr lang="zh-CN" altLang="en-US" b="1" dirty="0" smtClean="0">
                <a:solidFill>
                  <a:srgbClr val="FF0000"/>
                </a:solidFill>
              </a:rPr>
              <a:t>内容</a:t>
            </a:r>
            <a:endParaRPr lang="en-US" altLang="zh-CN" b="1" dirty="0" smtClean="0">
              <a:solidFill>
                <a:srgbClr val="FF0000"/>
              </a:solidFill>
            </a:endParaRPr>
          </a:p>
          <a:p>
            <a:r>
              <a:rPr lang="zh-CN" altLang="en-US" sz="1200" b="1" dirty="0" smtClean="0"/>
              <a:t>（</a:t>
            </a:r>
            <a:r>
              <a:rPr lang="en-US" altLang="zh-CN" sz="1200" b="1" dirty="0" smtClean="0"/>
              <a:t>1</a:t>
            </a:r>
            <a:r>
              <a:rPr lang="zh-CN" altLang="en-US" sz="1200" b="1" dirty="0"/>
              <a:t>）创新社会治理体制（加强和创新社会治理，关键在体制创新</a:t>
            </a:r>
            <a:r>
              <a:rPr lang="zh-CN" altLang="en-US" sz="1200" b="1" dirty="0" smtClean="0"/>
              <a:t>）</a:t>
            </a:r>
            <a:endParaRPr lang="en-US" altLang="zh-CN" sz="1200" b="1" dirty="0" smtClean="0"/>
          </a:p>
          <a:p>
            <a:r>
              <a:rPr lang="zh-CN" altLang="en-US" sz="1200" b="1" dirty="0" smtClean="0"/>
              <a:t>（</a:t>
            </a:r>
            <a:r>
              <a:rPr lang="en-US" altLang="zh-CN" sz="1200" b="1" dirty="0" smtClean="0"/>
              <a:t>2</a:t>
            </a:r>
            <a:r>
              <a:rPr lang="zh-CN" altLang="en-US" sz="1200" b="1" dirty="0"/>
              <a:t>）完善正确处理新形势</a:t>
            </a:r>
            <a:r>
              <a:rPr lang="zh-CN" altLang="en-US" sz="1200" b="1" dirty="0" smtClean="0"/>
              <a:t>下人民内部矛盾</a:t>
            </a:r>
            <a:r>
              <a:rPr lang="zh-CN" altLang="en-US" sz="1200" b="1" dirty="0"/>
              <a:t>有效机制（完善信访制度，完善人民调解、行政调解、司法调解联动工作体系</a:t>
            </a:r>
            <a:r>
              <a:rPr lang="zh-CN" altLang="en-US" sz="1200" b="1" dirty="0" smtClean="0"/>
              <a:t>）</a:t>
            </a:r>
            <a:endParaRPr lang="en-US" altLang="zh-CN" sz="1200" b="1" dirty="0" smtClean="0"/>
          </a:p>
          <a:p>
            <a:r>
              <a:rPr lang="zh-CN" altLang="en-US" sz="1200" b="1" dirty="0" smtClean="0"/>
              <a:t>（</a:t>
            </a:r>
            <a:r>
              <a:rPr lang="en-US" altLang="zh-CN" sz="1200" b="1" dirty="0" smtClean="0"/>
              <a:t>3</a:t>
            </a:r>
            <a:r>
              <a:rPr lang="zh-CN" altLang="en-US" sz="1200" b="1" dirty="0"/>
              <a:t>）健全公共安全体系（以防范化解重大安全风险为主线）</a:t>
            </a:r>
            <a:endParaRPr lang="zh-CN" altLang="en-US" sz="1200" b="1" dirty="0"/>
          </a:p>
          <a:p>
            <a:r>
              <a:rPr lang="zh-CN" altLang="en-US" sz="1200" b="1" dirty="0" smtClean="0"/>
              <a:t>（</a:t>
            </a:r>
            <a:r>
              <a:rPr lang="en-US" altLang="zh-CN" sz="1200" b="1" dirty="0" smtClean="0"/>
              <a:t>4</a:t>
            </a:r>
            <a:r>
              <a:rPr lang="zh-CN" altLang="en-US" sz="1200" b="1" dirty="0"/>
              <a:t>）完善社会治安防控体系（坚持专群结合、群防群治，提高社会治安立体化、法治化、专业化、智能化水平，形成问题联治、工作联动、平安联创的工作机制）</a:t>
            </a:r>
            <a:endParaRPr lang="zh-CN" altLang="en-US" sz="1200" b="1" dirty="0"/>
          </a:p>
          <a:p>
            <a:r>
              <a:rPr lang="zh-CN" altLang="en-US" sz="1200" b="1" dirty="0" smtClean="0"/>
              <a:t>（</a:t>
            </a:r>
            <a:r>
              <a:rPr lang="en-US" altLang="zh-CN" sz="1200" b="1" dirty="0" smtClean="0"/>
              <a:t>5</a:t>
            </a:r>
            <a:r>
              <a:rPr lang="zh-CN" altLang="en-US" sz="1200" b="1" dirty="0"/>
              <a:t>）加强社会心理</a:t>
            </a:r>
            <a:r>
              <a:rPr lang="zh-CN" altLang="en-US" sz="1200" b="1" dirty="0" smtClean="0"/>
              <a:t>服务</a:t>
            </a:r>
            <a:r>
              <a:rPr lang="zh-CN" altLang="en-US" sz="1200" b="1" dirty="0"/>
              <a:t>体系建设（加强和创新社会治理，核心是人）</a:t>
            </a:r>
            <a:endParaRPr lang="zh-CN" altLang="en-US" sz="1200" b="1" dirty="0"/>
          </a:p>
          <a:p>
            <a:r>
              <a:rPr lang="zh-CN" altLang="en-US" sz="1200" b="1" dirty="0" smtClean="0"/>
              <a:t>（</a:t>
            </a:r>
            <a:r>
              <a:rPr lang="en-US" altLang="zh-CN" sz="1200" b="1" dirty="0" smtClean="0"/>
              <a:t>6</a:t>
            </a:r>
            <a:r>
              <a:rPr lang="zh-CN" altLang="en-US" sz="1200" b="1" dirty="0"/>
              <a:t>）构建基层社会</a:t>
            </a:r>
            <a:r>
              <a:rPr lang="zh-CN" altLang="en-US" sz="1200" b="1" dirty="0" smtClean="0"/>
              <a:t>治理</a:t>
            </a:r>
            <a:r>
              <a:rPr lang="zh-CN" altLang="en-US" sz="1200" b="1" dirty="0"/>
              <a:t>新格局（城乡社区是政府联系群众的“最终一公里”）</a:t>
            </a:r>
            <a:endParaRPr lang="zh-CN" altLang="en-US" sz="1200" b="1" dirty="0"/>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1024833"/>
          </a:xfrm>
        </p:spPr>
        <p:txBody>
          <a:bodyPr/>
          <a:lstStyle/>
          <a:p>
            <a:r>
              <a:rPr lang="zh-CN" altLang="en-US" sz="2800" dirty="0"/>
              <a:t>二、难点：</a:t>
            </a:r>
            <a:endParaRPr lang="zh-CN" altLang="en-US" sz="2800" dirty="0"/>
          </a:p>
          <a:p>
            <a:endParaRPr lang="zh-CN" altLang="en-US" dirty="0"/>
          </a:p>
        </p:txBody>
      </p:sp>
      <p:sp>
        <p:nvSpPr>
          <p:cNvPr id="5" name="矩形 4"/>
          <p:cNvSpPr/>
          <p:nvPr/>
        </p:nvSpPr>
        <p:spPr>
          <a:xfrm>
            <a:off x="104932" y="568942"/>
            <a:ext cx="8679304" cy="4708981"/>
          </a:xfrm>
          <a:prstGeom prst="rect">
            <a:avLst/>
          </a:prstGeom>
        </p:spPr>
        <p:txBody>
          <a:bodyPr wrap="square">
            <a:spAutoFit/>
          </a:bodyPr>
          <a:lstStyle/>
          <a:p>
            <a:pPr indent="457200"/>
            <a:r>
              <a:rPr lang="en-US" altLang="zh-CN" sz="2000" dirty="0">
                <a:solidFill>
                  <a:srgbClr val="FF0000"/>
                </a:solidFill>
              </a:rPr>
              <a:t>1</a:t>
            </a:r>
            <a:r>
              <a:rPr lang="zh-CN" altLang="en-US" sz="2000" dirty="0">
                <a:solidFill>
                  <a:srgbClr val="FF0000"/>
                </a:solidFill>
              </a:rPr>
              <a:t>、脱贫攻坚的伟大经验是什么？</a:t>
            </a:r>
            <a:endParaRPr lang="zh-CN" altLang="en-US" sz="2000" dirty="0">
              <a:solidFill>
                <a:srgbClr val="FF0000"/>
              </a:solidFill>
            </a:endParaRPr>
          </a:p>
          <a:p>
            <a:pPr indent="457200"/>
            <a:r>
              <a:rPr lang="en-US" altLang="zh-CN" sz="1600" dirty="0"/>
              <a:t>(1</a:t>
            </a:r>
            <a:r>
              <a:rPr lang="zh-CN" altLang="en-US" sz="1600" dirty="0"/>
              <a:t>）坚持党的领导，为脱贫攻坚提供坚强政治和组织保证。</a:t>
            </a:r>
            <a:endParaRPr lang="zh-CN" altLang="en-US" sz="1600" dirty="0"/>
          </a:p>
          <a:p>
            <a:pPr indent="457200"/>
            <a:r>
              <a:rPr lang="en-US" altLang="zh-CN" sz="1600" dirty="0"/>
              <a:t>(2)</a:t>
            </a:r>
            <a:r>
              <a:rPr lang="zh-CN" altLang="en-US" sz="1600" dirty="0"/>
              <a:t>坚持以人民为中心的发展思想坚定不移走共同富裕道路。</a:t>
            </a:r>
            <a:endParaRPr lang="zh-CN" altLang="en-US" sz="1600" dirty="0"/>
          </a:p>
          <a:p>
            <a:pPr indent="457200"/>
            <a:r>
              <a:rPr lang="en-US" altLang="zh-CN" sz="1600" dirty="0"/>
              <a:t>(3</a:t>
            </a:r>
            <a:r>
              <a:rPr lang="zh-CN" altLang="en-US" sz="1600" dirty="0"/>
              <a:t>）坚持发挥我国社会主义制度能够集中力量办大事的政治优势，形成脱贫攻坚的共同意志、共同行动。</a:t>
            </a:r>
            <a:endParaRPr lang="zh-CN" altLang="en-US" sz="1600" dirty="0"/>
          </a:p>
          <a:p>
            <a:pPr indent="457200"/>
            <a:r>
              <a:rPr lang="en-US" altLang="zh-CN" sz="1600" dirty="0"/>
              <a:t>(4</a:t>
            </a:r>
            <a:r>
              <a:rPr lang="zh-CN" altLang="en-US" sz="1600" dirty="0"/>
              <a:t>）坚持精准扶贫方略，用发展的办法消除贫困根源。</a:t>
            </a:r>
            <a:endParaRPr lang="zh-CN" altLang="en-US" sz="1600" dirty="0"/>
          </a:p>
          <a:p>
            <a:pPr indent="457200"/>
            <a:r>
              <a:rPr lang="en-US" altLang="zh-CN" sz="1600" dirty="0"/>
              <a:t>(5</a:t>
            </a:r>
            <a:r>
              <a:rPr lang="zh-CN" altLang="en-US" sz="1600" dirty="0"/>
              <a:t>）坚持调动广大贫困群众积极性、主动性、创造性，激发脱贫内生动力。</a:t>
            </a:r>
            <a:endParaRPr lang="zh-CN" altLang="en-US" sz="1600" dirty="0"/>
          </a:p>
          <a:p>
            <a:pPr indent="457200"/>
            <a:r>
              <a:rPr lang="en-US" altLang="zh-CN" sz="1600" dirty="0"/>
              <a:t>(6</a:t>
            </a:r>
            <a:r>
              <a:rPr lang="zh-CN" altLang="en-US" sz="1600" dirty="0"/>
              <a:t>）坚持弘扬和衷共济、团结互助美德，营造全社会扶危济困的浓厚氛围。</a:t>
            </a:r>
            <a:endParaRPr lang="zh-CN" altLang="en-US" sz="1600" dirty="0"/>
          </a:p>
          <a:p>
            <a:pPr indent="457200"/>
            <a:r>
              <a:rPr lang="en-US" altLang="zh-CN" sz="1600" dirty="0"/>
              <a:t>(7</a:t>
            </a:r>
            <a:r>
              <a:rPr lang="zh-CN" altLang="en-US" sz="1600" dirty="0"/>
              <a:t>）坚持求真务实、较真碰硬，做到真扶贫、扶真贫、脱真贫</a:t>
            </a:r>
            <a:r>
              <a:rPr lang="zh-CN" altLang="en-US" sz="1600" dirty="0" smtClean="0"/>
              <a:t>。</a:t>
            </a:r>
            <a:endParaRPr lang="en-US" altLang="zh-CN" sz="1600" dirty="0" smtClean="0"/>
          </a:p>
          <a:p>
            <a:pPr indent="457200"/>
            <a:r>
              <a:rPr lang="en-US" altLang="zh-CN" sz="2000" dirty="0">
                <a:solidFill>
                  <a:srgbClr val="FF0000"/>
                </a:solidFill>
              </a:rPr>
              <a:t>2</a:t>
            </a:r>
            <a:r>
              <a:rPr lang="zh-CN" altLang="en-US" sz="2000" dirty="0">
                <a:solidFill>
                  <a:srgbClr val="FF0000"/>
                </a:solidFill>
              </a:rPr>
              <a:t>、抗击新冠肺炎疫情的伟大经验是什么？</a:t>
            </a:r>
            <a:endParaRPr lang="zh-CN" altLang="en-US" sz="2000" dirty="0">
              <a:solidFill>
                <a:srgbClr val="FF0000"/>
              </a:solidFill>
            </a:endParaRPr>
          </a:p>
          <a:p>
            <a:pPr indent="457200"/>
            <a:r>
              <a:rPr lang="zh-CN" altLang="en-US" sz="1600" dirty="0"/>
              <a:t>答：</a:t>
            </a:r>
            <a:r>
              <a:rPr lang="en-US" altLang="zh-CN" sz="1600" dirty="0"/>
              <a:t>(1</a:t>
            </a:r>
            <a:r>
              <a:rPr lang="zh-CN" altLang="en-US" sz="1600" dirty="0"/>
              <a:t>）中国共产党的坚强领导力</a:t>
            </a:r>
            <a:endParaRPr lang="zh-CN" altLang="en-US" sz="1600" dirty="0"/>
          </a:p>
          <a:p>
            <a:pPr indent="457200"/>
            <a:r>
              <a:rPr lang="zh-CN" altLang="en-US" sz="1600" dirty="0"/>
              <a:t>（</a:t>
            </a:r>
            <a:r>
              <a:rPr lang="en-US" altLang="zh-CN" sz="1600" dirty="0"/>
              <a:t>2</a:t>
            </a:r>
            <a:r>
              <a:rPr lang="zh-CN" altLang="en-US" sz="1600" dirty="0"/>
              <a:t>）中国人民不屈不挠的意志力。</a:t>
            </a:r>
            <a:endParaRPr lang="zh-CN" altLang="en-US" sz="1600" dirty="0"/>
          </a:p>
          <a:p>
            <a:pPr indent="457200"/>
            <a:r>
              <a:rPr lang="zh-CN" altLang="en-US" sz="1600" dirty="0"/>
              <a:t>（</a:t>
            </a:r>
            <a:r>
              <a:rPr lang="en-US" altLang="zh-CN" sz="1600" dirty="0"/>
              <a:t>3</a:t>
            </a:r>
            <a:r>
              <a:rPr lang="zh-CN" altLang="en-US" sz="1600" dirty="0"/>
              <a:t>）中国特色社会主义制度的显著优势。</a:t>
            </a:r>
            <a:endParaRPr lang="zh-CN" altLang="en-US" sz="1600" dirty="0"/>
          </a:p>
          <a:p>
            <a:pPr indent="457200"/>
            <a:r>
              <a:rPr lang="en-US" altLang="zh-CN" sz="1600" dirty="0"/>
              <a:t>(4</a:t>
            </a:r>
            <a:r>
              <a:rPr lang="zh-CN" altLang="en-US" sz="1600" dirty="0"/>
              <a:t>）新史国成立以来积累的坚实国力。</a:t>
            </a:r>
            <a:endParaRPr lang="zh-CN" altLang="en-US" sz="1600" dirty="0"/>
          </a:p>
          <a:p>
            <a:pPr indent="457200"/>
            <a:r>
              <a:rPr lang="en-US" altLang="zh-CN" sz="1600" dirty="0"/>
              <a:t>(5</a:t>
            </a:r>
            <a:r>
              <a:rPr lang="zh-CN" altLang="en-US" sz="1600" dirty="0"/>
              <a:t>）社会主义核心价值观中华优秀传统文化所具有的强大精神动力。</a:t>
            </a:r>
            <a:endParaRPr lang="zh-CN" altLang="en-US" sz="1600" dirty="0"/>
          </a:p>
          <a:p>
            <a:pPr indent="457200"/>
            <a:r>
              <a:rPr lang="en-US" altLang="zh-CN" sz="1600" dirty="0"/>
              <a:t>(6</a:t>
            </a:r>
            <a:r>
              <a:rPr lang="zh-CN" altLang="en-US" sz="1600" dirty="0"/>
              <a:t>）构建人类命运共同体所具有的广泛感召力。</a:t>
            </a:r>
            <a:endParaRPr lang="zh-CN" altLang="en-US" sz="1600" dirty="0"/>
          </a:p>
          <a:p>
            <a:pPr indent="457200"/>
            <a:endParaRPr lang="zh-CN" altLang="en-US" sz="1600" dirty="0"/>
          </a:p>
          <a:p>
            <a:pPr indent="457200"/>
            <a:endParaRPr lang="zh-CN" altLang="en-US" sz="20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8975" y="66888"/>
            <a:ext cx="9201950" cy="654667"/>
          </a:xfrm>
        </p:spPr>
        <p:txBody>
          <a:bodyPr/>
          <a:lstStyle/>
          <a:p>
            <a:pPr algn="ctr"/>
            <a:r>
              <a:rPr lang="zh-CN" altLang="en-US" sz="2800" dirty="0" smtClean="0"/>
              <a:t>第十二讲</a:t>
            </a:r>
            <a:r>
              <a:rPr lang="zh-CN" altLang="en-US" sz="2800" dirty="0"/>
              <a:t>建设社会主义生态文明</a:t>
            </a:r>
            <a:endParaRPr lang="zh-CN" altLang="en-US" sz="2800" dirty="0"/>
          </a:p>
        </p:txBody>
      </p:sp>
      <p:sp>
        <p:nvSpPr>
          <p:cNvPr id="4" name="TextBox 3"/>
          <p:cNvSpPr txBox="1"/>
          <p:nvPr/>
        </p:nvSpPr>
        <p:spPr>
          <a:xfrm>
            <a:off x="136921" y="526852"/>
            <a:ext cx="4367624" cy="3462486"/>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a:solidFill>
                  <a:srgbClr val="FF0000"/>
                </a:solidFill>
              </a:rPr>
              <a:t>1.</a:t>
            </a:r>
            <a:r>
              <a:rPr lang="zh-CN" altLang="en-US" dirty="0">
                <a:solidFill>
                  <a:srgbClr val="FF0000"/>
                </a:solidFill>
              </a:rPr>
              <a:t>习近平生态文明思想</a:t>
            </a:r>
            <a:endParaRPr lang="zh-CN" altLang="en-US" dirty="0">
              <a:solidFill>
                <a:srgbClr val="FF0000"/>
              </a:solidFill>
            </a:endParaRPr>
          </a:p>
          <a:p>
            <a:pPr>
              <a:lnSpc>
                <a:spcPct val="150000"/>
              </a:lnSpc>
            </a:pPr>
            <a:r>
              <a:rPr lang="en-US" altLang="zh-CN" dirty="0">
                <a:solidFill>
                  <a:srgbClr val="FF0000"/>
                </a:solidFill>
              </a:rPr>
              <a:t>2.</a:t>
            </a:r>
            <a:r>
              <a:rPr lang="zh-CN" altLang="en-US" dirty="0">
                <a:solidFill>
                  <a:srgbClr val="FF0000"/>
                </a:solidFill>
              </a:rPr>
              <a:t>生态文明的由来</a:t>
            </a:r>
            <a:endParaRPr lang="zh-CN" altLang="en-US" dirty="0">
              <a:solidFill>
                <a:srgbClr val="FF0000"/>
              </a:solidFill>
            </a:endParaRPr>
          </a:p>
          <a:p>
            <a:pPr>
              <a:lnSpc>
                <a:spcPct val="150000"/>
              </a:lnSpc>
            </a:pPr>
            <a:r>
              <a:rPr lang="en-US" altLang="zh-CN" dirty="0">
                <a:solidFill>
                  <a:srgbClr val="FF0000"/>
                </a:solidFill>
              </a:rPr>
              <a:t>3.</a:t>
            </a:r>
            <a:r>
              <a:rPr lang="zh-CN" altLang="en-US" dirty="0">
                <a:solidFill>
                  <a:srgbClr val="FF0000"/>
                </a:solidFill>
              </a:rPr>
              <a:t>人与自然和谐共生的现代化</a:t>
            </a:r>
            <a:endParaRPr lang="zh-CN" altLang="en-US" dirty="0">
              <a:solidFill>
                <a:srgbClr val="FF0000"/>
              </a:solidFill>
            </a:endParaRPr>
          </a:p>
          <a:p>
            <a:pPr>
              <a:lnSpc>
                <a:spcPct val="150000"/>
              </a:lnSpc>
            </a:pPr>
            <a:r>
              <a:rPr lang="en-US" altLang="zh-CN" dirty="0">
                <a:solidFill>
                  <a:srgbClr val="FF0000"/>
                </a:solidFill>
              </a:rPr>
              <a:t>4.</a:t>
            </a:r>
            <a:r>
              <a:rPr lang="zh-CN" altLang="en-US" dirty="0">
                <a:solidFill>
                  <a:srgbClr val="FF0000"/>
                </a:solidFill>
              </a:rPr>
              <a:t>绿水青山就是金山银山</a:t>
            </a:r>
            <a:endParaRPr lang="zh-CN" altLang="en-US" dirty="0">
              <a:solidFill>
                <a:srgbClr val="FF0000"/>
              </a:solidFill>
            </a:endParaRPr>
          </a:p>
          <a:p>
            <a:pPr>
              <a:lnSpc>
                <a:spcPct val="150000"/>
              </a:lnSpc>
            </a:pPr>
            <a:r>
              <a:rPr lang="en-US" altLang="zh-CN" dirty="0">
                <a:solidFill>
                  <a:srgbClr val="FF0000"/>
                </a:solidFill>
              </a:rPr>
              <a:t>5.</a:t>
            </a:r>
            <a:r>
              <a:rPr lang="zh-CN" altLang="en-US" dirty="0">
                <a:solidFill>
                  <a:srgbClr val="FF0000"/>
                </a:solidFill>
              </a:rPr>
              <a:t>用最严格制度最严密法治保护生态环境</a:t>
            </a:r>
            <a:endParaRPr lang="zh-CN" altLang="en-US" dirty="0">
              <a:solidFill>
                <a:srgbClr val="FF0000"/>
              </a:solidFill>
            </a:endParaRPr>
          </a:p>
          <a:p>
            <a:pPr>
              <a:lnSpc>
                <a:spcPct val="150000"/>
              </a:lnSpc>
            </a:pPr>
            <a:r>
              <a:rPr lang="en-US" altLang="zh-CN" dirty="0">
                <a:solidFill>
                  <a:srgbClr val="FF0000"/>
                </a:solidFill>
              </a:rPr>
              <a:t>6.</a:t>
            </a:r>
            <a:r>
              <a:rPr lang="zh-CN" altLang="en-US" dirty="0">
                <a:solidFill>
                  <a:srgbClr val="FF0000"/>
                </a:solidFill>
              </a:rPr>
              <a:t>扎实推进碳达峰碳中和工作</a:t>
            </a:r>
            <a:endParaRPr lang="zh-CN" altLang="en-US" dirty="0">
              <a:solidFill>
                <a:srgbClr val="FF0000"/>
              </a:solidFill>
            </a:endParaRPr>
          </a:p>
          <a:p>
            <a:pPr>
              <a:lnSpc>
                <a:spcPct val="150000"/>
              </a:lnSpc>
            </a:pPr>
            <a:endParaRPr lang="zh-CN" altLang="en-US" dirty="0">
              <a:solidFill>
                <a:srgbClr val="FF0000"/>
              </a:solidFill>
            </a:endParaRPr>
          </a:p>
        </p:txBody>
      </p:sp>
      <p:sp>
        <p:nvSpPr>
          <p:cNvPr id="3" name="矩形 2"/>
          <p:cNvSpPr/>
          <p:nvPr/>
        </p:nvSpPr>
        <p:spPr>
          <a:xfrm>
            <a:off x="4504545" y="763721"/>
            <a:ext cx="4639454" cy="1477328"/>
          </a:xfrm>
          <a:prstGeom prst="rect">
            <a:avLst/>
          </a:prstGeom>
        </p:spPr>
        <p:txBody>
          <a:bodyPr wrap="square">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smtClean="0">
                <a:solidFill>
                  <a:srgbClr val="FF0000"/>
                </a:solidFill>
              </a:rPr>
              <a:t>、习近平</a:t>
            </a:r>
            <a:r>
              <a:rPr lang="zh-CN" altLang="en-US" sz="2000" dirty="0">
                <a:solidFill>
                  <a:srgbClr val="FF0000"/>
                </a:solidFill>
              </a:rPr>
              <a:t>生态文明思想主要包括哪些内容？</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39646" y="-45284"/>
            <a:ext cx="8476938" cy="654667"/>
          </a:xfrm>
        </p:spPr>
        <p:txBody>
          <a:bodyPr/>
          <a:lstStyle/>
          <a:p>
            <a:pPr algn="ctr"/>
            <a:r>
              <a:rPr lang="zh-CN" altLang="en-US" sz="2800" dirty="0" smtClean="0"/>
              <a:t>第十二讲</a:t>
            </a:r>
            <a:r>
              <a:rPr lang="zh-CN" altLang="en-US" sz="2800" dirty="0"/>
              <a:t>建设社会主义生态文明</a:t>
            </a:r>
            <a:endParaRPr lang="zh-CN" altLang="en-US" sz="2800" dirty="0"/>
          </a:p>
        </p:txBody>
      </p:sp>
      <p:sp>
        <p:nvSpPr>
          <p:cNvPr id="6" name="文本框 5"/>
          <p:cNvSpPr txBox="1"/>
          <p:nvPr/>
        </p:nvSpPr>
        <p:spPr>
          <a:xfrm>
            <a:off x="90523" y="711517"/>
            <a:ext cx="4279110" cy="3354765"/>
          </a:xfrm>
          <a:prstGeom prst="rect">
            <a:avLst/>
          </a:prstGeom>
          <a:noFill/>
        </p:spPr>
        <p:txBody>
          <a:bodyPr wrap="square">
            <a:spAutoFit/>
          </a:bodyPr>
          <a:lstStyle/>
          <a:p>
            <a:r>
              <a:rPr lang="en-US" altLang="zh-CN" b="1" dirty="0">
                <a:solidFill>
                  <a:srgbClr val="FF0000"/>
                </a:solidFill>
              </a:rPr>
              <a:t>1</a:t>
            </a:r>
            <a:r>
              <a:rPr lang="en-US" altLang="zh-CN" b="1" dirty="0" smtClean="0">
                <a:solidFill>
                  <a:srgbClr val="FF0000"/>
                </a:solidFill>
              </a:rPr>
              <a:t>.</a:t>
            </a:r>
            <a:r>
              <a:rPr lang="zh-CN" altLang="en-US" b="1" dirty="0">
                <a:solidFill>
                  <a:srgbClr val="FF0000"/>
                </a:solidFill>
              </a:rPr>
              <a:t>为什么建设生态</a:t>
            </a:r>
            <a:r>
              <a:rPr lang="zh-CN" altLang="en-US" b="1" dirty="0" smtClean="0">
                <a:solidFill>
                  <a:srgbClr val="FF0000"/>
                </a:solidFill>
              </a:rPr>
              <a:t>文明</a:t>
            </a:r>
            <a:endParaRPr lang="en-US" altLang="zh-CN" b="1" dirty="0" smtClean="0">
              <a:solidFill>
                <a:srgbClr val="FF0000"/>
              </a:solidFill>
            </a:endParaRPr>
          </a:p>
          <a:p>
            <a:r>
              <a:rPr lang="zh-CN" altLang="en-US" sz="1400" b="1" dirty="0" smtClean="0"/>
              <a:t>（</a:t>
            </a:r>
            <a:r>
              <a:rPr lang="en-US" altLang="zh-CN" sz="1400" b="1" dirty="0" smtClean="0"/>
              <a:t>1</a:t>
            </a:r>
            <a:r>
              <a:rPr lang="zh-CN" altLang="en-US" sz="1400" b="1" dirty="0"/>
              <a:t>）顺应人类文明</a:t>
            </a:r>
            <a:r>
              <a:rPr lang="zh-CN" altLang="en-US" sz="1400" b="1" dirty="0" smtClean="0"/>
              <a:t>进程</a:t>
            </a:r>
            <a:endParaRPr lang="en-US" altLang="zh-CN" sz="1400" b="1" dirty="0" smtClean="0"/>
          </a:p>
          <a:p>
            <a:r>
              <a:rPr lang="zh-CN" altLang="en-US" sz="1400" b="1" dirty="0" smtClean="0"/>
              <a:t>（</a:t>
            </a:r>
            <a:r>
              <a:rPr lang="en-US" altLang="zh-CN" sz="1400" b="1" dirty="0" smtClean="0"/>
              <a:t>2</a:t>
            </a:r>
            <a:r>
              <a:rPr lang="zh-CN" altLang="en-US" sz="1400" b="1" dirty="0"/>
              <a:t>）破解我国经济社会发展短板问题</a:t>
            </a:r>
            <a:endParaRPr lang="zh-CN" altLang="en-US" sz="1400" b="1" dirty="0"/>
          </a:p>
          <a:p>
            <a:r>
              <a:rPr lang="zh-CN" altLang="en-US" sz="1400" b="1" dirty="0" smtClean="0"/>
              <a:t>（</a:t>
            </a:r>
            <a:r>
              <a:rPr lang="en-US" altLang="zh-CN" sz="1400" b="1" dirty="0" smtClean="0"/>
              <a:t>3</a:t>
            </a:r>
            <a:r>
              <a:rPr lang="zh-CN" altLang="en-US" sz="1400" b="1" dirty="0"/>
              <a:t>）满足人民日益增长的优美生态环境需要</a:t>
            </a:r>
            <a:endParaRPr lang="zh-CN" altLang="en-US" sz="1400" b="1" dirty="0"/>
          </a:p>
          <a:p>
            <a:r>
              <a:rPr lang="zh-CN" altLang="en-US" sz="1400" b="1" dirty="0" smtClean="0"/>
              <a:t>（</a:t>
            </a:r>
            <a:r>
              <a:rPr lang="en-US" altLang="zh-CN" sz="1400" b="1" dirty="0" smtClean="0"/>
              <a:t>4</a:t>
            </a:r>
            <a:r>
              <a:rPr lang="zh-CN" altLang="en-US" sz="1400" b="1" dirty="0"/>
              <a:t>）应对全球生态环境领域</a:t>
            </a:r>
            <a:r>
              <a:rPr lang="zh-CN" altLang="en-US" sz="1400" b="1" dirty="0" smtClean="0"/>
              <a:t>挑战</a:t>
            </a:r>
            <a:endParaRPr lang="en-US" altLang="zh-CN" sz="1400" b="1" dirty="0" smtClean="0"/>
          </a:p>
          <a:p>
            <a:r>
              <a:rPr lang="en-US" altLang="zh-CN" b="1" dirty="0">
                <a:solidFill>
                  <a:srgbClr val="FF0000"/>
                </a:solidFill>
              </a:rPr>
              <a:t>2</a:t>
            </a:r>
            <a:r>
              <a:rPr lang="zh-CN" altLang="en-US" b="1" dirty="0" smtClean="0">
                <a:solidFill>
                  <a:srgbClr val="FF0000"/>
                </a:solidFill>
              </a:rPr>
              <a:t>、人与自然和谐共生</a:t>
            </a:r>
            <a:endParaRPr lang="en-US" altLang="zh-CN" b="1" dirty="0" smtClean="0">
              <a:solidFill>
                <a:srgbClr val="FF0000"/>
              </a:solidFill>
            </a:endParaRPr>
          </a:p>
          <a:p>
            <a:r>
              <a:rPr lang="zh-CN" altLang="en-US" sz="1400" b="1" dirty="0"/>
              <a:t>我国生态文明是以生态规律为依循、以实现人与自然和谐共生的现代化为目标的文明新形态。</a:t>
            </a:r>
            <a:endParaRPr lang="zh-CN" altLang="en-US" sz="1400" b="1" dirty="0"/>
          </a:p>
          <a:p>
            <a:r>
              <a:rPr lang="en-US" altLang="zh-CN" b="1" dirty="0" smtClean="0">
                <a:solidFill>
                  <a:srgbClr val="FF0000"/>
                </a:solidFill>
              </a:rPr>
              <a:t>3.</a:t>
            </a:r>
            <a:r>
              <a:rPr lang="zh-CN" altLang="en-US" b="1" dirty="0">
                <a:solidFill>
                  <a:srgbClr val="FF0000"/>
                </a:solidFill>
              </a:rPr>
              <a:t>现代</a:t>
            </a:r>
            <a:r>
              <a:rPr lang="zh-CN" altLang="en-US" b="1" dirty="0" smtClean="0">
                <a:solidFill>
                  <a:srgbClr val="FF0000"/>
                </a:solidFill>
              </a:rPr>
              <a:t>环境治理体系</a:t>
            </a:r>
            <a:endParaRPr lang="en-US" altLang="zh-CN" b="1" dirty="0" smtClean="0">
              <a:solidFill>
                <a:srgbClr val="FF0000"/>
              </a:solidFill>
            </a:endParaRPr>
          </a:p>
          <a:p>
            <a:r>
              <a:rPr lang="zh-CN" altLang="en-US" sz="1400" b="1" dirty="0"/>
              <a:t>党委领导，政府主导，企业主体，社会组织和公众共同参与</a:t>
            </a:r>
            <a:endParaRPr lang="zh-CN" altLang="en-US" sz="1400" b="1" dirty="0"/>
          </a:p>
          <a:p>
            <a:r>
              <a:rPr lang="en-US" altLang="zh-CN" b="1" dirty="0" smtClean="0">
                <a:solidFill>
                  <a:srgbClr val="FF0000"/>
                </a:solidFill>
              </a:rPr>
              <a:t>4</a:t>
            </a:r>
            <a:r>
              <a:rPr lang="zh-CN" altLang="en-US" b="1" dirty="0">
                <a:solidFill>
                  <a:srgbClr val="FF0000"/>
                </a:solidFill>
              </a:rPr>
              <a:t>、加快发展方式绿色</a:t>
            </a:r>
            <a:r>
              <a:rPr lang="zh-CN" altLang="en-US" b="1" dirty="0" smtClean="0">
                <a:solidFill>
                  <a:srgbClr val="FF0000"/>
                </a:solidFill>
              </a:rPr>
              <a:t>转型</a:t>
            </a:r>
            <a:endParaRPr lang="en-US" altLang="zh-CN" b="1" dirty="0" smtClean="0">
              <a:solidFill>
                <a:srgbClr val="FF0000"/>
              </a:solidFill>
            </a:endParaRPr>
          </a:p>
          <a:p>
            <a:r>
              <a:rPr lang="zh-CN" altLang="en-US" sz="1400" b="1" dirty="0"/>
              <a:t>推动经济社会发展绿色化、低碳化是实现高质量发展的关键环节</a:t>
            </a:r>
            <a:r>
              <a:rPr lang="zh-CN" altLang="en-US" sz="1400" b="1" dirty="0" smtClean="0"/>
              <a:t>。</a:t>
            </a:r>
            <a:endParaRPr lang="zh-CN" altLang="en-US" sz="1400" b="1" dirty="0"/>
          </a:p>
        </p:txBody>
      </p:sp>
      <p:sp>
        <p:nvSpPr>
          <p:cNvPr id="9" name="文本框 8"/>
          <p:cNvSpPr txBox="1"/>
          <p:nvPr/>
        </p:nvSpPr>
        <p:spPr>
          <a:xfrm>
            <a:off x="4594487" y="711517"/>
            <a:ext cx="4549514" cy="1661993"/>
          </a:xfrm>
          <a:prstGeom prst="rect">
            <a:avLst/>
          </a:prstGeom>
          <a:noFill/>
        </p:spPr>
        <p:txBody>
          <a:bodyPr wrap="square">
            <a:spAutoFit/>
          </a:bodyPr>
          <a:lstStyle/>
          <a:p>
            <a:r>
              <a:rPr lang="en-US" altLang="zh-CN" b="1" dirty="0">
                <a:solidFill>
                  <a:srgbClr val="FF0000"/>
                </a:solidFill>
              </a:rPr>
              <a:t>5</a:t>
            </a:r>
            <a:r>
              <a:rPr lang="zh-CN" altLang="en-US" b="1" dirty="0">
                <a:solidFill>
                  <a:srgbClr val="FF0000"/>
                </a:solidFill>
              </a:rPr>
              <a:t>、怎样建设美丽中国</a:t>
            </a:r>
            <a:endParaRPr lang="zh-CN" altLang="en-US" b="1" dirty="0">
              <a:solidFill>
                <a:srgbClr val="FF0000"/>
              </a:solidFill>
            </a:endParaRPr>
          </a:p>
          <a:p>
            <a:r>
              <a:rPr lang="zh-CN" altLang="en-US" sz="1400" b="1" dirty="0"/>
              <a:t>（</a:t>
            </a:r>
            <a:r>
              <a:rPr lang="en-US" altLang="zh-CN" sz="1400" b="1" dirty="0"/>
              <a:t>1</a:t>
            </a:r>
            <a:r>
              <a:rPr lang="zh-CN" altLang="en-US" sz="1400" b="1" dirty="0"/>
              <a:t>）加快发展方式绿色转型</a:t>
            </a:r>
            <a:endParaRPr lang="zh-CN" altLang="en-US" sz="1400" b="1" dirty="0"/>
          </a:p>
          <a:p>
            <a:r>
              <a:rPr lang="zh-CN" altLang="en-US" sz="1400" b="1" dirty="0"/>
              <a:t>（</a:t>
            </a:r>
            <a:r>
              <a:rPr lang="en-US" altLang="zh-CN" sz="1400" b="1" dirty="0"/>
              <a:t>2</a:t>
            </a:r>
            <a:r>
              <a:rPr lang="zh-CN" altLang="en-US" sz="1400" b="1" dirty="0"/>
              <a:t>）深入推进环境污染防治</a:t>
            </a:r>
            <a:endParaRPr lang="zh-CN" altLang="en-US" sz="1400" b="1" dirty="0"/>
          </a:p>
          <a:p>
            <a:r>
              <a:rPr lang="zh-CN" altLang="en-US" sz="1400" b="1" dirty="0"/>
              <a:t>（</a:t>
            </a:r>
            <a:r>
              <a:rPr lang="en-US" altLang="zh-CN" sz="1400" b="1" dirty="0"/>
              <a:t>3</a:t>
            </a:r>
            <a:r>
              <a:rPr lang="zh-CN" altLang="en-US" sz="1400" b="1" dirty="0"/>
              <a:t>）系统推进生态环境保护</a:t>
            </a:r>
            <a:r>
              <a:rPr lang="zh-CN" altLang="en-US" sz="1400" b="1" dirty="0" smtClean="0"/>
              <a:t>修复</a:t>
            </a:r>
            <a:endParaRPr lang="en-US" altLang="zh-CN" sz="1400" b="1" dirty="0" smtClean="0"/>
          </a:p>
          <a:p>
            <a:r>
              <a:rPr lang="zh-CN" altLang="en-US" sz="1400" b="1" dirty="0"/>
              <a:t>（</a:t>
            </a:r>
            <a:r>
              <a:rPr lang="en-US" altLang="zh-CN" sz="1400" b="1" dirty="0"/>
              <a:t>4</a:t>
            </a:r>
            <a:r>
              <a:rPr lang="zh-CN" altLang="en-US" sz="1400" b="1" dirty="0"/>
              <a:t>）积极稳妥推进碳达峰碳</a:t>
            </a:r>
            <a:r>
              <a:rPr lang="zh-CN" altLang="en-US" sz="1400" b="1" dirty="0" smtClean="0"/>
              <a:t>中和</a:t>
            </a:r>
            <a:endParaRPr lang="en-US" altLang="zh-CN" sz="1400" b="1" dirty="0" smtClean="0"/>
          </a:p>
          <a:p>
            <a:r>
              <a:rPr lang="zh-CN" altLang="en-US" sz="1400" b="1" dirty="0" smtClean="0"/>
              <a:t>（</a:t>
            </a:r>
            <a:r>
              <a:rPr lang="en-US" altLang="zh-CN" sz="1400" b="1" dirty="0" smtClean="0"/>
              <a:t>5</a:t>
            </a:r>
            <a:r>
              <a:rPr lang="zh-CN" altLang="en-US" sz="1400" b="1" dirty="0"/>
              <a:t>）改革完善生态环境监管考核</a:t>
            </a:r>
            <a:r>
              <a:rPr lang="zh-CN" altLang="en-US" sz="1400" b="1" dirty="0" smtClean="0"/>
              <a:t>体制</a:t>
            </a:r>
            <a:endParaRPr lang="zh-CN" altLang="en-US" sz="1400" b="1" dirty="0"/>
          </a:p>
          <a:p>
            <a:endParaRPr lang="zh-CN" altLang="en-US" sz="1400" b="1" dirty="0"/>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1024833"/>
          </a:xfrm>
        </p:spPr>
        <p:txBody>
          <a:bodyPr/>
          <a:lstStyle/>
          <a:p>
            <a:r>
              <a:rPr lang="zh-CN" altLang="en-US" sz="2800" dirty="0"/>
              <a:t>二、难点：</a:t>
            </a:r>
            <a:endParaRPr lang="zh-CN" altLang="en-US" sz="2800" dirty="0"/>
          </a:p>
          <a:p>
            <a:endParaRPr lang="zh-CN" altLang="en-US" dirty="0"/>
          </a:p>
        </p:txBody>
      </p:sp>
      <p:sp>
        <p:nvSpPr>
          <p:cNvPr id="5" name="矩形 4"/>
          <p:cNvSpPr/>
          <p:nvPr/>
        </p:nvSpPr>
        <p:spPr>
          <a:xfrm>
            <a:off x="104932" y="568942"/>
            <a:ext cx="8679304" cy="2862322"/>
          </a:xfrm>
          <a:prstGeom prst="rect">
            <a:avLst/>
          </a:prstGeom>
        </p:spPr>
        <p:txBody>
          <a:bodyPr wrap="square">
            <a:spAutoFit/>
          </a:bodyPr>
          <a:lstStyle/>
          <a:p>
            <a:pPr indent="457200"/>
            <a:r>
              <a:rPr lang="en-US" altLang="zh-CN" sz="2000" dirty="0">
                <a:solidFill>
                  <a:srgbClr val="FF0000"/>
                </a:solidFill>
              </a:rPr>
              <a:t>1</a:t>
            </a:r>
            <a:r>
              <a:rPr lang="zh-CN" altLang="en-US" sz="2000" dirty="0">
                <a:solidFill>
                  <a:srgbClr val="FF0000"/>
                </a:solidFill>
              </a:rPr>
              <a:t>、习近平生态文明思想主要包括哪些内容？ </a:t>
            </a:r>
            <a:r>
              <a:rPr lang="zh-CN" altLang="en-US" sz="2000" dirty="0" smtClean="0">
                <a:solidFill>
                  <a:srgbClr val="FF0000"/>
                </a:solidFill>
              </a:rPr>
              <a:t>（十个坚持）</a:t>
            </a:r>
            <a:endParaRPr lang="en-US" altLang="zh-CN" sz="2000" dirty="0" smtClean="0">
              <a:solidFill>
                <a:srgbClr val="FF0000"/>
              </a:solidFill>
            </a:endParaRPr>
          </a:p>
          <a:p>
            <a:pPr indent="457200"/>
            <a:r>
              <a:rPr lang="zh-CN" altLang="en-US" sz="1600" dirty="0"/>
              <a:t>坚持党对生态文明建设的全面领导</a:t>
            </a:r>
            <a:endParaRPr lang="zh-CN" altLang="en-US" sz="1600" dirty="0"/>
          </a:p>
          <a:p>
            <a:pPr indent="457200"/>
            <a:r>
              <a:rPr lang="zh-CN" altLang="en-US" sz="1600" dirty="0"/>
              <a:t>坚持生态兴则文明兴</a:t>
            </a:r>
            <a:endParaRPr lang="zh-CN" altLang="en-US" sz="1600" dirty="0"/>
          </a:p>
          <a:p>
            <a:pPr indent="457200"/>
            <a:r>
              <a:rPr lang="zh-CN" altLang="en-US" sz="1600" dirty="0"/>
              <a:t>坚持人与自然和谐共生</a:t>
            </a:r>
            <a:endParaRPr lang="zh-CN" altLang="en-US" sz="1600" dirty="0"/>
          </a:p>
          <a:p>
            <a:pPr indent="457200"/>
            <a:r>
              <a:rPr lang="zh-CN" altLang="en-US" sz="1600" dirty="0"/>
              <a:t>坚持绿水青山就是金山银山</a:t>
            </a:r>
            <a:endParaRPr lang="zh-CN" altLang="en-US" sz="1600" dirty="0"/>
          </a:p>
          <a:p>
            <a:pPr indent="457200"/>
            <a:r>
              <a:rPr lang="zh-CN" altLang="en-US" sz="1600" dirty="0"/>
              <a:t>坚持良好生态环境是最普惠的民生福</a:t>
            </a:r>
            <a:r>
              <a:rPr lang="zh-CN" altLang="en-US" sz="1600" dirty="0" smtClean="0"/>
              <a:t>祉</a:t>
            </a:r>
            <a:endParaRPr lang="en-US" altLang="zh-CN" sz="1600" dirty="0" smtClean="0"/>
          </a:p>
          <a:p>
            <a:pPr indent="457200"/>
            <a:r>
              <a:rPr lang="zh-CN" altLang="en-US" sz="1600" dirty="0"/>
              <a:t>坚持绿色发展是发展观的深刻革命</a:t>
            </a:r>
            <a:endParaRPr lang="zh-CN" altLang="en-US" sz="1600" dirty="0"/>
          </a:p>
          <a:p>
            <a:pPr indent="457200"/>
            <a:r>
              <a:rPr lang="zh-CN" altLang="en-US" sz="1600" dirty="0"/>
              <a:t>坚持统筹山水林田湖草沙系统治理</a:t>
            </a:r>
            <a:endParaRPr lang="zh-CN" altLang="en-US" sz="1600" dirty="0"/>
          </a:p>
          <a:p>
            <a:pPr indent="457200"/>
            <a:r>
              <a:rPr lang="zh-CN" altLang="en-US" sz="1600" dirty="0"/>
              <a:t>坚持用最严格制度最严密法治保护生态环境</a:t>
            </a:r>
            <a:endParaRPr lang="zh-CN" altLang="en-US" sz="1600" dirty="0"/>
          </a:p>
          <a:p>
            <a:pPr indent="457200"/>
            <a:r>
              <a:rPr lang="zh-CN" altLang="en-US" sz="1600" dirty="0"/>
              <a:t>坚持把建设美丽中国转化为全体人民自觉行动</a:t>
            </a:r>
            <a:endParaRPr lang="zh-CN" altLang="en-US" sz="1600" dirty="0"/>
          </a:p>
          <a:p>
            <a:pPr indent="457200"/>
            <a:r>
              <a:rPr lang="zh-CN" altLang="en-US" sz="1600" dirty="0"/>
              <a:t>坚持共谋全球生态文明建设之</a:t>
            </a:r>
            <a:r>
              <a:rPr lang="zh-CN" altLang="en-US" sz="1600" dirty="0" smtClean="0"/>
              <a:t>路</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8975" y="66888"/>
            <a:ext cx="9201950" cy="599396"/>
          </a:xfrm>
        </p:spPr>
        <p:txBody>
          <a:bodyPr/>
          <a:lstStyle/>
          <a:p>
            <a:pPr algn="ctr"/>
            <a:r>
              <a:rPr lang="zh-CN" altLang="en-US" sz="2800" dirty="0"/>
              <a:t>第十三</a:t>
            </a:r>
            <a:r>
              <a:rPr lang="zh-CN" altLang="en-US" sz="2800" dirty="0" smtClean="0"/>
              <a:t>讲 全面</a:t>
            </a:r>
            <a:r>
              <a:rPr lang="zh-CN" altLang="en-US" sz="2800" dirty="0"/>
              <a:t>贯彻落实总体国家安全观</a:t>
            </a:r>
            <a:endParaRPr lang="zh-CN" altLang="en-US" sz="2800" dirty="0"/>
          </a:p>
        </p:txBody>
      </p:sp>
      <p:sp>
        <p:nvSpPr>
          <p:cNvPr id="4" name="TextBox 3"/>
          <p:cNvSpPr txBox="1"/>
          <p:nvPr/>
        </p:nvSpPr>
        <p:spPr>
          <a:xfrm>
            <a:off x="256843" y="666284"/>
            <a:ext cx="4367624" cy="4293483"/>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smtClean="0">
                <a:solidFill>
                  <a:srgbClr val="FF0000"/>
                </a:solidFill>
              </a:rPr>
              <a:t>1</a:t>
            </a:r>
            <a:r>
              <a:rPr lang="en-US" altLang="zh-CN" dirty="0">
                <a:solidFill>
                  <a:srgbClr val="FF0000"/>
                </a:solidFill>
              </a:rPr>
              <a:t>.</a:t>
            </a:r>
            <a:r>
              <a:rPr lang="zh-CN" altLang="en-US" dirty="0">
                <a:solidFill>
                  <a:srgbClr val="FF0000"/>
                </a:solidFill>
              </a:rPr>
              <a:t>国家安全</a:t>
            </a:r>
            <a:endParaRPr lang="zh-CN" altLang="en-US" dirty="0">
              <a:solidFill>
                <a:srgbClr val="FF0000"/>
              </a:solidFill>
            </a:endParaRPr>
          </a:p>
          <a:p>
            <a:pPr>
              <a:lnSpc>
                <a:spcPct val="150000"/>
              </a:lnSpc>
            </a:pPr>
            <a:r>
              <a:rPr lang="en-US" altLang="zh-CN" dirty="0">
                <a:solidFill>
                  <a:srgbClr val="FF0000"/>
                </a:solidFill>
              </a:rPr>
              <a:t>2.</a:t>
            </a:r>
            <a:r>
              <a:rPr lang="zh-CN" altLang="en-US" dirty="0">
                <a:solidFill>
                  <a:srgbClr val="FF0000"/>
                </a:solidFill>
              </a:rPr>
              <a:t>总体国家安全观</a:t>
            </a:r>
            <a:endParaRPr lang="zh-CN" altLang="en-US" dirty="0">
              <a:solidFill>
                <a:srgbClr val="FF0000"/>
              </a:solidFill>
            </a:endParaRPr>
          </a:p>
          <a:p>
            <a:pPr>
              <a:lnSpc>
                <a:spcPct val="150000"/>
              </a:lnSpc>
            </a:pPr>
            <a:r>
              <a:rPr lang="en-US" altLang="zh-CN" dirty="0">
                <a:solidFill>
                  <a:srgbClr val="FF0000"/>
                </a:solidFill>
              </a:rPr>
              <a:t>3.</a:t>
            </a:r>
            <a:r>
              <a:rPr lang="zh-CN" altLang="en-US" dirty="0">
                <a:solidFill>
                  <a:srgbClr val="FF0000"/>
                </a:solidFill>
              </a:rPr>
              <a:t>总体国家安全观的形成</a:t>
            </a:r>
            <a:r>
              <a:rPr lang="zh-CN" altLang="en-US" dirty="0" smtClean="0">
                <a:solidFill>
                  <a:srgbClr val="FF0000"/>
                </a:solidFill>
              </a:rPr>
              <a:t>过程</a:t>
            </a:r>
            <a:endParaRPr lang="en-US" altLang="zh-CN" dirty="0" smtClean="0">
              <a:solidFill>
                <a:srgbClr val="FF0000"/>
              </a:solidFill>
            </a:endParaRPr>
          </a:p>
          <a:p>
            <a:pPr>
              <a:lnSpc>
                <a:spcPct val="150000"/>
              </a:lnSpc>
            </a:pPr>
            <a:r>
              <a:rPr lang="en-US" altLang="zh-CN" dirty="0">
                <a:solidFill>
                  <a:srgbClr val="FF0000"/>
                </a:solidFill>
              </a:rPr>
              <a:t>4</a:t>
            </a:r>
            <a:r>
              <a:rPr lang="zh-CN" altLang="en-US" dirty="0">
                <a:solidFill>
                  <a:srgbClr val="FF0000"/>
                </a:solidFill>
              </a:rPr>
              <a:t>、总体国家安全观的核心要义：十个</a:t>
            </a:r>
            <a:r>
              <a:rPr lang="zh-CN" altLang="en-US" dirty="0" smtClean="0">
                <a:solidFill>
                  <a:srgbClr val="FF0000"/>
                </a:solidFill>
              </a:rPr>
              <a:t>坚持</a:t>
            </a:r>
            <a:endParaRPr lang="en-US" altLang="zh-CN" dirty="0" smtClean="0">
              <a:solidFill>
                <a:srgbClr val="FF0000"/>
              </a:solidFill>
            </a:endParaRPr>
          </a:p>
          <a:p>
            <a:pPr>
              <a:lnSpc>
                <a:spcPct val="150000"/>
              </a:lnSpc>
            </a:pPr>
            <a:r>
              <a:rPr lang="en-US" altLang="zh-CN" dirty="0">
                <a:solidFill>
                  <a:srgbClr val="FF0000"/>
                </a:solidFill>
              </a:rPr>
              <a:t>5</a:t>
            </a:r>
            <a:r>
              <a:rPr lang="zh-CN" altLang="en-US" dirty="0">
                <a:solidFill>
                  <a:srgbClr val="FF0000"/>
                </a:solidFill>
              </a:rPr>
              <a:t>、贯彻总体国家安全观要统筹推进重点领域安全（</a:t>
            </a:r>
            <a:r>
              <a:rPr lang="en-US" altLang="zh-CN" dirty="0">
                <a:solidFill>
                  <a:srgbClr val="FF0000"/>
                </a:solidFill>
              </a:rPr>
              <a:t>6</a:t>
            </a:r>
            <a:r>
              <a:rPr lang="zh-CN" altLang="en-US" dirty="0">
                <a:solidFill>
                  <a:srgbClr val="FF0000"/>
                </a:solidFill>
              </a:rPr>
              <a:t>个重点领域安全</a:t>
            </a:r>
            <a:r>
              <a:rPr lang="zh-CN" altLang="en-US" dirty="0" smtClean="0">
                <a:solidFill>
                  <a:srgbClr val="FF0000"/>
                </a:solidFill>
              </a:rPr>
              <a:t>）</a:t>
            </a:r>
            <a:endParaRPr lang="zh-CN" altLang="en-US" dirty="0">
              <a:solidFill>
                <a:srgbClr val="FF0000"/>
              </a:solidFill>
            </a:endParaRPr>
          </a:p>
          <a:p>
            <a:pPr>
              <a:lnSpc>
                <a:spcPct val="150000"/>
              </a:lnSpc>
            </a:pPr>
            <a:r>
              <a:rPr lang="en-US" altLang="zh-CN" dirty="0" smtClean="0">
                <a:solidFill>
                  <a:srgbClr val="FF0000"/>
                </a:solidFill>
              </a:rPr>
              <a:t>6.</a:t>
            </a:r>
            <a:r>
              <a:rPr lang="zh-CN" altLang="en-US" dirty="0">
                <a:solidFill>
                  <a:srgbClr val="FF0000"/>
                </a:solidFill>
              </a:rPr>
              <a:t>着力防范化解重大风险</a:t>
            </a:r>
            <a:endParaRPr lang="zh-CN" altLang="en-US" dirty="0">
              <a:solidFill>
                <a:srgbClr val="FF0000"/>
              </a:solidFill>
            </a:endParaRPr>
          </a:p>
          <a:p>
            <a:pPr>
              <a:lnSpc>
                <a:spcPct val="150000"/>
              </a:lnSpc>
            </a:pPr>
            <a:endParaRPr lang="zh-CN" altLang="en-US" dirty="0">
              <a:solidFill>
                <a:srgbClr val="FF0000"/>
              </a:solidFill>
            </a:endParaRPr>
          </a:p>
        </p:txBody>
      </p:sp>
      <p:sp>
        <p:nvSpPr>
          <p:cNvPr id="3" name="矩形 2"/>
          <p:cNvSpPr/>
          <p:nvPr/>
        </p:nvSpPr>
        <p:spPr>
          <a:xfrm>
            <a:off x="4504545" y="763721"/>
            <a:ext cx="4639454" cy="1015663"/>
          </a:xfrm>
          <a:prstGeom prst="rect">
            <a:avLst/>
          </a:prstGeom>
        </p:spPr>
        <p:txBody>
          <a:bodyPr wrap="square">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smtClean="0">
                <a:solidFill>
                  <a:srgbClr val="FF0000"/>
                </a:solidFill>
              </a:rPr>
              <a:t>、如何理解总体国家安全观的内涵？</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39646" y="-45284"/>
            <a:ext cx="8476938" cy="599396"/>
          </a:xfrm>
        </p:spPr>
        <p:txBody>
          <a:bodyPr/>
          <a:lstStyle/>
          <a:p>
            <a:pPr algn="ctr"/>
            <a:r>
              <a:rPr lang="zh-CN" altLang="en-US" sz="2800" dirty="0"/>
              <a:t>第十三讲 全面贯彻落实总体国家安全观</a:t>
            </a:r>
            <a:endParaRPr lang="zh-CN" altLang="en-US" sz="2800" dirty="0"/>
          </a:p>
        </p:txBody>
      </p:sp>
      <p:sp>
        <p:nvSpPr>
          <p:cNvPr id="6" name="文本框 5"/>
          <p:cNvSpPr txBox="1"/>
          <p:nvPr/>
        </p:nvSpPr>
        <p:spPr>
          <a:xfrm>
            <a:off x="90523" y="711517"/>
            <a:ext cx="4279110" cy="4062651"/>
          </a:xfrm>
          <a:prstGeom prst="rect">
            <a:avLst/>
          </a:prstGeom>
          <a:noFill/>
        </p:spPr>
        <p:txBody>
          <a:bodyPr wrap="square">
            <a:spAutoFit/>
          </a:bodyPr>
          <a:lstStyle/>
          <a:p>
            <a:r>
              <a:rPr lang="en-US" altLang="zh-CN" b="1" dirty="0">
                <a:solidFill>
                  <a:srgbClr val="FF0000"/>
                </a:solidFill>
              </a:rPr>
              <a:t>1.</a:t>
            </a:r>
            <a:r>
              <a:rPr lang="zh-CN" altLang="en-US" b="1" dirty="0">
                <a:solidFill>
                  <a:srgbClr val="FF0000"/>
                </a:solidFill>
              </a:rPr>
              <a:t>国家</a:t>
            </a:r>
            <a:r>
              <a:rPr lang="zh-CN" altLang="en-US" b="1" dirty="0" smtClean="0">
                <a:solidFill>
                  <a:srgbClr val="FF0000"/>
                </a:solidFill>
              </a:rPr>
              <a:t>安全</a:t>
            </a:r>
            <a:endParaRPr lang="en-US" altLang="zh-CN" b="1" dirty="0" smtClean="0">
              <a:solidFill>
                <a:srgbClr val="FF0000"/>
              </a:solidFill>
            </a:endParaRPr>
          </a:p>
          <a:p>
            <a:r>
              <a:rPr lang="zh-CN" altLang="en-US" sz="1400" b="1" dirty="0"/>
              <a:t>国家安全是指国家政权、主权、统一和领土完整、人民福祉、经济社会可持续发展和国家其他重大利益相对处于没有危险和不受内外威胁的状态，以及保障持续安全状态的能力</a:t>
            </a:r>
            <a:r>
              <a:rPr lang="zh-CN" altLang="en-US" sz="1400" b="1" dirty="0" smtClean="0"/>
              <a:t>。</a:t>
            </a:r>
            <a:endParaRPr lang="zh-CN" altLang="en-US" b="1" dirty="0">
              <a:solidFill>
                <a:srgbClr val="FF0000"/>
              </a:solidFill>
            </a:endParaRPr>
          </a:p>
          <a:p>
            <a:r>
              <a:rPr lang="en-US" altLang="zh-CN" b="1" dirty="0">
                <a:solidFill>
                  <a:srgbClr val="FF0000"/>
                </a:solidFill>
              </a:rPr>
              <a:t>2.</a:t>
            </a:r>
            <a:r>
              <a:rPr lang="zh-CN" altLang="en-US" b="1" dirty="0">
                <a:solidFill>
                  <a:srgbClr val="FF0000"/>
                </a:solidFill>
              </a:rPr>
              <a:t>总体国家安全</a:t>
            </a:r>
            <a:r>
              <a:rPr lang="zh-CN" altLang="en-US" b="1" dirty="0" smtClean="0">
                <a:solidFill>
                  <a:srgbClr val="FF0000"/>
                </a:solidFill>
              </a:rPr>
              <a:t>观</a:t>
            </a:r>
            <a:endParaRPr lang="en-US" altLang="zh-CN" b="1" dirty="0" smtClean="0">
              <a:solidFill>
                <a:srgbClr val="FF0000"/>
              </a:solidFill>
            </a:endParaRPr>
          </a:p>
          <a:p>
            <a:r>
              <a:rPr lang="zh-CN" altLang="en-US" sz="1400" b="1" dirty="0"/>
              <a:t>总体国家安全观以一系列紧密联系、相互贯通的基本观点，科学回答了中国这样一个发展中的社会主义大国如何维护和塑造国家安全的一系列基本问题，把我们党对国家安全的认识提升到了新的高度和境界，为破解我国国家安全面临的难题，推进新时代国家安全工作提供了基本遵循</a:t>
            </a:r>
            <a:r>
              <a:rPr lang="zh-CN" altLang="en-US" sz="1400" b="1" dirty="0" smtClean="0"/>
              <a:t>。</a:t>
            </a:r>
            <a:endParaRPr lang="en-US" altLang="zh-CN" sz="1400" b="1" dirty="0" smtClean="0"/>
          </a:p>
          <a:p>
            <a:r>
              <a:rPr lang="en-US" altLang="zh-CN" b="1" dirty="0" smtClean="0">
                <a:solidFill>
                  <a:srgbClr val="FF0000"/>
                </a:solidFill>
              </a:rPr>
              <a:t>3</a:t>
            </a:r>
            <a:r>
              <a:rPr lang="en-US" altLang="zh-CN" b="1" dirty="0">
                <a:solidFill>
                  <a:srgbClr val="FF0000"/>
                </a:solidFill>
              </a:rPr>
              <a:t>.</a:t>
            </a:r>
            <a:r>
              <a:rPr lang="zh-CN" altLang="en-US" b="1" dirty="0">
                <a:solidFill>
                  <a:srgbClr val="FF0000"/>
                </a:solidFill>
              </a:rPr>
              <a:t>总体国家安全观的形成</a:t>
            </a:r>
            <a:r>
              <a:rPr lang="zh-CN" altLang="en-US" b="1" dirty="0" smtClean="0">
                <a:solidFill>
                  <a:srgbClr val="FF0000"/>
                </a:solidFill>
              </a:rPr>
              <a:t>过程</a:t>
            </a:r>
            <a:endParaRPr lang="en-US" altLang="zh-CN" b="1" dirty="0" smtClean="0">
              <a:solidFill>
                <a:srgbClr val="FF0000"/>
              </a:solidFill>
            </a:endParaRPr>
          </a:p>
          <a:p>
            <a:r>
              <a:rPr lang="zh-CN" altLang="en-US" sz="1600" b="1" dirty="0"/>
              <a:t>党的十九</a:t>
            </a:r>
            <a:r>
              <a:rPr lang="zh-CN" altLang="en-US" sz="1600" b="1" dirty="0" smtClean="0"/>
              <a:t>大将</a:t>
            </a:r>
            <a:r>
              <a:rPr lang="zh-CN" altLang="en-US" sz="1600" b="1" dirty="0"/>
              <a:t>“坚持总体国家安全观”纳入新时代坚持和发展中国特色社会主义的基本方略，并写入党章</a:t>
            </a:r>
            <a:r>
              <a:rPr lang="zh-CN" altLang="en-US" sz="1600" b="1" dirty="0" smtClean="0"/>
              <a:t>。</a:t>
            </a:r>
            <a:endParaRPr lang="en-US" altLang="zh-CN" sz="1600" b="1" dirty="0" smtClean="0"/>
          </a:p>
          <a:p>
            <a:r>
              <a:rPr lang="en-US" altLang="zh-CN" sz="1600" b="1" dirty="0" smtClean="0">
                <a:solidFill>
                  <a:srgbClr val="FF0000"/>
                </a:solidFill>
              </a:rPr>
              <a:t>4</a:t>
            </a:r>
            <a:r>
              <a:rPr lang="zh-CN" altLang="en-US" sz="1600" b="1" dirty="0" smtClean="0">
                <a:solidFill>
                  <a:srgbClr val="FF0000"/>
                </a:solidFill>
              </a:rPr>
              <a:t>、总体国家安全观的核心要义：十个坚持</a:t>
            </a:r>
            <a:endParaRPr lang="en-US" altLang="zh-CN" sz="1600" b="1" dirty="0" smtClean="0">
              <a:solidFill>
                <a:srgbClr val="FF0000"/>
              </a:solidFill>
            </a:endParaRPr>
          </a:p>
        </p:txBody>
      </p:sp>
      <p:sp>
        <p:nvSpPr>
          <p:cNvPr id="9" name="文本框 8"/>
          <p:cNvSpPr txBox="1"/>
          <p:nvPr/>
        </p:nvSpPr>
        <p:spPr>
          <a:xfrm>
            <a:off x="4594486" y="557629"/>
            <a:ext cx="4549514" cy="4585871"/>
          </a:xfrm>
          <a:prstGeom prst="rect">
            <a:avLst/>
          </a:prstGeom>
          <a:noFill/>
        </p:spPr>
        <p:txBody>
          <a:bodyPr wrap="square">
            <a:spAutoFit/>
          </a:bodyPr>
          <a:lstStyle/>
          <a:p>
            <a:r>
              <a:rPr lang="en-US" altLang="zh-CN" b="1" dirty="0" smtClean="0">
                <a:solidFill>
                  <a:srgbClr val="FF0000"/>
                </a:solidFill>
              </a:rPr>
              <a:t>5</a:t>
            </a:r>
            <a:r>
              <a:rPr lang="zh-CN" altLang="en-US" b="1" dirty="0" smtClean="0">
                <a:solidFill>
                  <a:srgbClr val="FF0000"/>
                </a:solidFill>
              </a:rPr>
              <a:t>、贯彻</a:t>
            </a:r>
            <a:r>
              <a:rPr lang="zh-CN" altLang="en-US" b="1" dirty="0">
                <a:solidFill>
                  <a:srgbClr val="FF0000"/>
                </a:solidFill>
              </a:rPr>
              <a:t>总体国家安全观要统筹推进重点领域</a:t>
            </a:r>
            <a:r>
              <a:rPr lang="zh-CN" altLang="en-US" b="1" dirty="0" smtClean="0">
                <a:solidFill>
                  <a:srgbClr val="FF0000"/>
                </a:solidFill>
              </a:rPr>
              <a:t>安全（</a:t>
            </a:r>
            <a:r>
              <a:rPr lang="en-US" altLang="zh-CN" b="1" dirty="0" smtClean="0">
                <a:solidFill>
                  <a:srgbClr val="FF0000"/>
                </a:solidFill>
              </a:rPr>
              <a:t>6</a:t>
            </a:r>
            <a:r>
              <a:rPr lang="zh-CN" altLang="en-US" b="1" dirty="0" smtClean="0">
                <a:solidFill>
                  <a:srgbClr val="FF0000"/>
                </a:solidFill>
              </a:rPr>
              <a:t>个重点领域安全）</a:t>
            </a:r>
            <a:endParaRPr lang="zh-CN" altLang="en-US" b="1" dirty="0">
              <a:solidFill>
                <a:srgbClr val="FF0000"/>
              </a:solidFill>
            </a:endParaRPr>
          </a:p>
          <a:p>
            <a:r>
              <a:rPr lang="zh-CN" altLang="en-US" sz="1400" b="1" dirty="0"/>
              <a:t>政治安全、国土安全、经济安全、外部安全、网络安全、社会</a:t>
            </a:r>
            <a:r>
              <a:rPr lang="zh-CN" altLang="en-US" sz="1400" b="1" dirty="0" smtClean="0"/>
              <a:t>安全</a:t>
            </a:r>
            <a:endParaRPr lang="en-US" altLang="zh-CN" sz="1400" b="1" dirty="0" smtClean="0"/>
          </a:p>
          <a:p>
            <a:r>
              <a:rPr lang="zh-CN" altLang="en-US" sz="1400" b="1" dirty="0" smtClean="0"/>
              <a:t>（</a:t>
            </a:r>
            <a:r>
              <a:rPr lang="en-US" altLang="zh-CN" sz="1400" b="1" dirty="0" smtClean="0"/>
              <a:t>1</a:t>
            </a:r>
            <a:r>
              <a:rPr lang="zh-CN" altLang="en-US" sz="1400" b="1" dirty="0" smtClean="0"/>
              <a:t>）政治</a:t>
            </a:r>
            <a:r>
              <a:rPr lang="zh-CN" altLang="en-US" sz="1400" b="1" dirty="0"/>
              <a:t>安全攸关党和国家生死存亡，是</a:t>
            </a:r>
            <a:r>
              <a:rPr lang="zh-CN" altLang="en-US" sz="1400" b="1" u="sng" dirty="0">
                <a:solidFill>
                  <a:srgbClr val="FF0000"/>
                </a:solidFill>
              </a:rPr>
              <a:t>国家安全的根本</a:t>
            </a:r>
            <a:r>
              <a:rPr lang="zh-CN" altLang="en-US" sz="1400" b="1" dirty="0"/>
              <a:t>。政治安全的核心是政权安全和制度安全，最根本的就是维护中国共产党的领导和执政地位、维护中国特色社会主义制度。</a:t>
            </a:r>
            <a:endParaRPr lang="zh-CN" altLang="en-US" sz="1400" b="1" dirty="0"/>
          </a:p>
          <a:p>
            <a:r>
              <a:rPr lang="zh-CN" altLang="en-US" sz="1400" b="1" dirty="0" smtClean="0"/>
              <a:t>（</a:t>
            </a:r>
            <a:r>
              <a:rPr lang="en-US" altLang="zh-CN" sz="1400" b="1" dirty="0" smtClean="0"/>
              <a:t>2</a:t>
            </a:r>
            <a:r>
              <a:rPr lang="zh-CN" altLang="en-US" sz="1400" b="1" dirty="0"/>
              <a:t>）国土安全是立国之基</a:t>
            </a:r>
            <a:r>
              <a:rPr lang="zh-CN" altLang="en-US" sz="1400" b="1" dirty="0" smtClean="0"/>
              <a:t>。</a:t>
            </a:r>
            <a:endParaRPr lang="en-US" altLang="zh-CN" sz="1400" b="1" dirty="0" smtClean="0"/>
          </a:p>
          <a:p>
            <a:r>
              <a:rPr lang="zh-CN" altLang="en-US" sz="1400" b="1" dirty="0" smtClean="0"/>
              <a:t>（</a:t>
            </a:r>
            <a:r>
              <a:rPr lang="en-US" altLang="zh-CN" sz="1400" b="1" dirty="0" smtClean="0"/>
              <a:t>3</a:t>
            </a:r>
            <a:r>
              <a:rPr lang="zh-CN" altLang="en-US" sz="1400" b="1" dirty="0"/>
              <a:t>）经济安全是国家安全的</a:t>
            </a:r>
            <a:r>
              <a:rPr lang="zh-CN" altLang="en-US" sz="1400" b="1" dirty="0" smtClean="0"/>
              <a:t>基础</a:t>
            </a:r>
            <a:endParaRPr lang="en-US" altLang="zh-CN" sz="1400" b="1" dirty="0" smtClean="0"/>
          </a:p>
          <a:p>
            <a:r>
              <a:rPr lang="zh-CN" altLang="en-US" sz="1400" b="1" dirty="0" smtClean="0"/>
              <a:t>（</a:t>
            </a:r>
            <a:r>
              <a:rPr lang="en-US" altLang="zh-CN" sz="1400" b="1" dirty="0" smtClean="0"/>
              <a:t>4</a:t>
            </a:r>
            <a:r>
              <a:rPr lang="zh-CN" altLang="en-US" sz="1400" b="1" dirty="0"/>
              <a:t>）社会安全与人民群众切身利益关系最密切，是人民群众安全感的晴雨表，是社会安定的风向标</a:t>
            </a:r>
            <a:r>
              <a:rPr lang="zh-CN" altLang="en-US" sz="1400" b="1" dirty="0" smtClean="0"/>
              <a:t>。</a:t>
            </a:r>
            <a:endParaRPr lang="en-US" altLang="zh-CN" sz="1400" b="1" dirty="0" smtClean="0"/>
          </a:p>
          <a:p>
            <a:r>
              <a:rPr lang="zh-CN" altLang="en-US" sz="1400" b="1" dirty="0" smtClean="0"/>
              <a:t>（</a:t>
            </a:r>
            <a:r>
              <a:rPr lang="en-US" altLang="zh-CN" sz="1400" b="1" dirty="0" smtClean="0"/>
              <a:t>5</a:t>
            </a:r>
            <a:r>
              <a:rPr lang="zh-CN" altLang="en-US" sz="1400" b="1" dirty="0"/>
              <a:t>）网络安全已经成为我国面临的最复杂、最现实、最严峻的非传统安全问题</a:t>
            </a:r>
            <a:r>
              <a:rPr lang="zh-CN" altLang="en-US" sz="1400" b="1" dirty="0" smtClean="0"/>
              <a:t>之一</a:t>
            </a:r>
            <a:endParaRPr lang="en-US" altLang="zh-CN" sz="1400" b="1" dirty="0" smtClean="0"/>
          </a:p>
          <a:p>
            <a:r>
              <a:rPr lang="zh-CN" altLang="en-US" sz="1400" b="1" dirty="0" smtClean="0"/>
              <a:t>（</a:t>
            </a:r>
            <a:r>
              <a:rPr lang="en-US" altLang="zh-CN" sz="1400" b="1" dirty="0" smtClean="0"/>
              <a:t>6</a:t>
            </a:r>
            <a:r>
              <a:rPr lang="zh-CN" altLang="en-US" sz="1400" b="1" dirty="0"/>
              <a:t>）和平稳定的国际环境和国际秩序是国家安全的重要保障</a:t>
            </a:r>
            <a:r>
              <a:rPr lang="zh-CN" altLang="en-US" sz="1400" b="1" dirty="0" smtClean="0"/>
              <a:t>。</a:t>
            </a:r>
            <a:endParaRPr lang="zh-CN" altLang="en-US" sz="1400" b="1" dirty="0"/>
          </a:p>
          <a:p>
            <a:r>
              <a:rPr lang="en-US" altLang="zh-CN" b="1" dirty="0" smtClean="0">
                <a:solidFill>
                  <a:srgbClr val="FF0000"/>
                </a:solidFill>
              </a:rPr>
              <a:t>6.</a:t>
            </a:r>
            <a:r>
              <a:rPr lang="zh-CN" altLang="en-US" b="1" dirty="0">
                <a:solidFill>
                  <a:srgbClr val="FF0000"/>
                </a:solidFill>
              </a:rPr>
              <a:t>着力防范化解重大</a:t>
            </a:r>
            <a:r>
              <a:rPr lang="zh-CN" altLang="en-US" b="1" dirty="0" smtClean="0">
                <a:solidFill>
                  <a:srgbClr val="FF0000"/>
                </a:solidFill>
              </a:rPr>
              <a:t>风险</a:t>
            </a:r>
            <a:endParaRPr lang="en-US" altLang="zh-CN" b="1" dirty="0" smtClean="0">
              <a:solidFill>
                <a:srgbClr val="FF0000"/>
              </a:solidFill>
            </a:endParaRPr>
          </a:p>
          <a:p>
            <a:r>
              <a:rPr lang="zh-CN" altLang="en-US" sz="1400" b="1" dirty="0"/>
              <a:t>不让小风险演化为大</a:t>
            </a:r>
            <a:r>
              <a:rPr lang="zh-CN" altLang="en-US" sz="1400" b="1" dirty="0" smtClean="0"/>
              <a:t>风险；不</a:t>
            </a:r>
            <a:r>
              <a:rPr lang="zh-CN" altLang="en-US" sz="1400" b="1" dirty="0"/>
              <a:t>让个别风险演化为综合</a:t>
            </a:r>
            <a:r>
              <a:rPr lang="zh-CN" altLang="en-US" sz="1400" b="1" dirty="0" smtClean="0"/>
              <a:t>风险；不</a:t>
            </a:r>
            <a:r>
              <a:rPr lang="zh-CN" altLang="en-US" sz="1400" b="1" dirty="0"/>
              <a:t>让局部风险演化为系统性</a:t>
            </a:r>
            <a:r>
              <a:rPr lang="zh-CN" altLang="en-US" sz="1400" b="1" dirty="0" smtClean="0"/>
              <a:t>风险；不</a:t>
            </a:r>
            <a:r>
              <a:rPr lang="zh-CN" altLang="en-US" sz="1400" b="1" dirty="0"/>
              <a:t>让经济风险演化为社会政治</a:t>
            </a:r>
            <a:r>
              <a:rPr lang="zh-CN" altLang="en-US" sz="1400" b="1" dirty="0" smtClean="0"/>
              <a:t>风险；不</a:t>
            </a:r>
            <a:r>
              <a:rPr lang="zh-CN" altLang="en-US" sz="1400" b="1" dirty="0"/>
              <a:t>让国际风险演化为国内</a:t>
            </a:r>
            <a:r>
              <a:rPr lang="zh-CN" altLang="en-US" sz="1400" b="1" dirty="0" smtClean="0"/>
              <a:t>风险</a:t>
            </a:r>
            <a:endParaRPr lang="zh-CN" altLang="en-US" sz="1400" b="1" dirty="0"/>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1024833"/>
          </a:xfrm>
        </p:spPr>
        <p:txBody>
          <a:bodyPr/>
          <a:lstStyle/>
          <a:p>
            <a:r>
              <a:rPr lang="zh-CN" altLang="en-US" sz="2800" dirty="0"/>
              <a:t>二、难点：</a:t>
            </a:r>
            <a:endParaRPr lang="zh-CN" altLang="en-US" sz="2800" dirty="0"/>
          </a:p>
          <a:p>
            <a:endParaRPr lang="zh-CN" altLang="en-US" dirty="0"/>
          </a:p>
        </p:txBody>
      </p:sp>
      <p:sp>
        <p:nvSpPr>
          <p:cNvPr id="5" name="矩形 4"/>
          <p:cNvSpPr/>
          <p:nvPr/>
        </p:nvSpPr>
        <p:spPr>
          <a:xfrm>
            <a:off x="104932" y="568942"/>
            <a:ext cx="8679304" cy="5416868"/>
          </a:xfrm>
          <a:prstGeom prst="rect">
            <a:avLst/>
          </a:prstGeom>
        </p:spPr>
        <p:txBody>
          <a:bodyPr wrap="square">
            <a:spAutoFit/>
          </a:bodyPr>
          <a:lstStyle/>
          <a:p>
            <a:pPr indent="457200"/>
            <a:r>
              <a:rPr lang="en-US" altLang="zh-CN" sz="2000" dirty="0">
                <a:solidFill>
                  <a:srgbClr val="FF0000"/>
                </a:solidFill>
              </a:rPr>
              <a:t>1</a:t>
            </a:r>
            <a:r>
              <a:rPr lang="zh-CN" altLang="en-US" sz="2000" dirty="0">
                <a:solidFill>
                  <a:srgbClr val="FF0000"/>
                </a:solidFill>
              </a:rPr>
              <a:t>、如何理解总体国家安全观的内涵？</a:t>
            </a:r>
            <a:endParaRPr lang="zh-CN" altLang="en-US" sz="2000" dirty="0">
              <a:solidFill>
                <a:srgbClr val="FF0000"/>
              </a:solidFill>
            </a:endParaRPr>
          </a:p>
          <a:p>
            <a:pPr indent="457200"/>
            <a:r>
              <a:rPr lang="zh-CN" altLang="en-US" sz="1400" dirty="0"/>
              <a:t>（</a:t>
            </a:r>
            <a:r>
              <a:rPr lang="en-US" altLang="zh-CN" sz="1400" dirty="0"/>
              <a:t>1</a:t>
            </a:r>
            <a:r>
              <a:rPr lang="zh-CN" altLang="en-US" sz="1400" dirty="0"/>
              <a:t>）总体国家安全观的关键是“总体”（</a:t>
            </a:r>
            <a:r>
              <a:rPr lang="en-US" altLang="zh-CN" sz="1400" dirty="0"/>
              <a:t>16</a:t>
            </a:r>
            <a:r>
              <a:rPr lang="zh-CN" altLang="en-US" sz="1400" dirty="0"/>
              <a:t>各方面）：政治安全、国土安全、军事安全、经济安全、文化安全、社会安全、科技安全、网络安全、生态安全、资源安全、核安全、海外利益安全、生物安全、太空安全、深海安全、极地安全</a:t>
            </a:r>
            <a:endParaRPr lang="zh-CN" altLang="en-US" sz="1400" dirty="0"/>
          </a:p>
          <a:p>
            <a:pPr indent="457200"/>
            <a:r>
              <a:rPr lang="zh-CN" altLang="en-US" sz="1400" dirty="0"/>
              <a:t>（</a:t>
            </a:r>
            <a:r>
              <a:rPr lang="en-US" altLang="zh-CN" sz="1400" dirty="0"/>
              <a:t>2</a:t>
            </a:r>
            <a:r>
              <a:rPr lang="zh-CN" altLang="en-US" sz="1400" dirty="0" smtClean="0"/>
              <a:t>）强调科学统筹：总体</a:t>
            </a:r>
            <a:r>
              <a:rPr lang="zh-CN" altLang="en-US" sz="1400" dirty="0"/>
              <a:t>国家安全观强调做好国家安全工作的系统思维和方法，做到</a:t>
            </a:r>
            <a:r>
              <a:rPr lang="zh-CN" altLang="en-US" sz="1400" dirty="0">
                <a:solidFill>
                  <a:srgbClr val="FF0000"/>
                </a:solidFill>
              </a:rPr>
              <a:t>“五个统筹”</a:t>
            </a:r>
            <a:r>
              <a:rPr lang="zh-CN" altLang="en-US" sz="1400" dirty="0"/>
              <a:t>，着力解决国家安全工作不平衡不充分的问题</a:t>
            </a:r>
            <a:r>
              <a:rPr lang="zh-CN" altLang="en-US" sz="1400" dirty="0" smtClean="0"/>
              <a:t>。五个统筹：</a:t>
            </a:r>
            <a:endParaRPr lang="en-US" altLang="zh-CN" sz="1400" dirty="0" smtClean="0"/>
          </a:p>
          <a:p>
            <a:pPr indent="457200"/>
            <a:r>
              <a:rPr lang="zh-CN" altLang="en-US" sz="1400" dirty="0" smtClean="0"/>
              <a:t>统筹</a:t>
            </a:r>
            <a:r>
              <a:rPr lang="zh-CN" altLang="en-US" sz="1400" dirty="0"/>
              <a:t>外部安全和内部安全</a:t>
            </a:r>
            <a:endParaRPr lang="zh-CN" altLang="en-US" sz="1400" dirty="0"/>
          </a:p>
          <a:p>
            <a:pPr indent="457200"/>
            <a:r>
              <a:rPr lang="zh-CN" altLang="en-US" sz="1400" dirty="0"/>
              <a:t>统筹国土安全和国民安全</a:t>
            </a:r>
            <a:endParaRPr lang="zh-CN" altLang="en-US" sz="1400" dirty="0"/>
          </a:p>
          <a:p>
            <a:pPr indent="457200"/>
            <a:r>
              <a:rPr lang="zh-CN" altLang="en-US" sz="1400" dirty="0"/>
              <a:t>统筹传统安全和非传统安全</a:t>
            </a:r>
            <a:endParaRPr lang="zh-CN" altLang="en-US" sz="1400" dirty="0"/>
          </a:p>
          <a:p>
            <a:pPr indent="457200"/>
            <a:r>
              <a:rPr lang="zh-CN" altLang="en-US" sz="1400" dirty="0"/>
              <a:t>统筹自身安全和共同安全</a:t>
            </a:r>
            <a:endParaRPr lang="zh-CN" altLang="en-US" sz="1400" dirty="0"/>
          </a:p>
          <a:p>
            <a:pPr indent="457200"/>
            <a:r>
              <a:rPr lang="zh-CN" altLang="en-US" sz="1400" dirty="0"/>
              <a:t>统筹维护国家安全和塑造国家</a:t>
            </a:r>
            <a:r>
              <a:rPr lang="zh-CN" altLang="en-US" sz="1400" dirty="0" smtClean="0"/>
              <a:t>安全</a:t>
            </a:r>
            <a:endParaRPr lang="en-US" altLang="zh-CN" sz="1400" dirty="0" smtClean="0"/>
          </a:p>
          <a:p>
            <a:pPr indent="457200"/>
            <a:r>
              <a:rPr lang="zh-CN" altLang="en-US" sz="1400" dirty="0" smtClean="0"/>
              <a:t>（</a:t>
            </a:r>
            <a:r>
              <a:rPr lang="en-US" altLang="zh-CN" sz="1400" dirty="0" smtClean="0"/>
              <a:t>3</a:t>
            </a:r>
            <a:r>
              <a:rPr lang="zh-CN" altLang="en-US" sz="1400" dirty="0" smtClean="0"/>
              <a:t>）强调</a:t>
            </a:r>
            <a:r>
              <a:rPr lang="zh-CN" altLang="en-US" sz="1400" dirty="0"/>
              <a:t>打总体</a:t>
            </a:r>
            <a:r>
              <a:rPr lang="zh-CN" altLang="en-US" sz="1400" dirty="0" smtClean="0"/>
              <a:t>战</a:t>
            </a:r>
            <a:endParaRPr lang="en-US" altLang="zh-CN" sz="1400" dirty="0" smtClean="0"/>
          </a:p>
          <a:p>
            <a:pPr indent="457200"/>
            <a:r>
              <a:rPr lang="zh-CN" altLang="en-US" sz="1400" dirty="0"/>
              <a:t>总体国家安全观强调国家安全要贯穿到党和国家工作全局各方面、各环节，绝非某一领域、单一部门的职责，必须汇聚党政军民学各战线各方面各层级的强大合力，全社会全政府全体系全手段应对重大国家安全风险挑战。</a:t>
            </a:r>
            <a:endParaRPr lang="zh-CN" altLang="en-US" sz="1400" dirty="0"/>
          </a:p>
          <a:p>
            <a:pPr indent="457200"/>
            <a:r>
              <a:rPr lang="zh-CN" altLang="en-US" sz="1400" dirty="0" smtClean="0"/>
              <a:t>（</a:t>
            </a:r>
            <a:r>
              <a:rPr lang="en-US" altLang="zh-CN" sz="1400" dirty="0" smtClean="0"/>
              <a:t>4</a:t>
            </a:r>
            <a:r>
              <a:rPr lang="zh-CN" altLang="en-US" sz="1400" dirty="0" smtClean="0"/>
              <a:t>）</a:t>
            </a:r>
            <a:r>
              <a:rPr lang="en-US" altLang="zh-CN" sz="1400" dirty="0" smtClean="0"/>
              <a:t> </a:t>
            </a:r>
            <a:r>
              <a:rPr lang="zh-CN" altLang="en-US" sz="1400" dirty="0"/>
              <a:t>强调统筹发展和安全两件</a:t>
            </a:r>
            <a:r>
              <a:rPr lang="zh-CN" altLang="en-US" sz="1400" dirty="0" smtClean="0"/>
              <a:t>大事</a:t>
            </a:r>
            <a:endParaRPr lang="en-US" altLang="zh-CN" sz="1400" dirty="0" smtClean="0"/>
          </a:p>
          <a:p>
            <a:pPr indent="457200"/>
            <a:r>
              <a:rPr lang="zh-CN" altLang="en-US" sz="1400" dirty="0"/>
              <a:t>发展和安全，是一个国家、一个民族生存与进步必须处理好的首要问题</a:t>
            </a:r>
            <a:endParaRPr lang="zh-CN" altLang="en-US" sz="1400" dirty="0"/>
          </a:p>
          <a:p>
            <a:pPr indent="457200"/>
            <a:r>
              <a:rPr lang="zh-CN" altLang="en-US" sz="1400" dirty="0"/>
              <a:t>发展解决的是动力问题，是推动国家和民族赓续绵延的根本支撑</a:t>
            </a:r>
            <a:endParaRPr lang="zh-CN" altLang="en-US" sz="1400" dirty="0"/>
          </a:p>
          <a:p>
            <a:pPr indent="457200"/>
            <a:r>
              <a:rPr lang="zh-CN" altLang="en-US" sz="1400" dirty="0"/>
              <a:t>安全解决的是保障问题，是确保国家和民族行稳致远的坚强柱石</a:t>
            </a:r>
            <a:endParaRPr lang="zh-CN" altLang="en-US" sz="1400" dirty="0"/>
          </a:p>
          <a:p>
            <a:pPr indent="457200"/>
            <a:r>
              <a:rPr lang="zh-CN" altLang="en-US" sz="1400" dirty="0"/>
              <a:t>发展和安全是一体之两翼、驱动之双轮</a:t>
            </a:r>
            <a:endParaRPr lang="zh-CN" altLang="en-US" sz="1400" dirty="0"/>
          </a:p>
          <a:p>
            <a:pPr indent="457200"/>
            <a:endParaRPr lang="zh-CN" altLang="en-US" sz="1400" dirty="0"/>
          </a:p>
          <a:p>
            <a:pPr indent="457200"/>
            <a:endParaRPr lang="zh-CN" altLang="en-US" sz="1400" dirty="0"/>
          </a:p>
          <a:p>
            <a:pPr indent="457200"/>
            <a:endParaRPr lang="zh-CN" altLang="en-US" sz="1600" dirty="0"/>
          </a:p>
          <a:p>
            <a:pPr indent="457200"/>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8975" y="66888"/>
            <a:ext cx="9201950" cy="599396"/>
          </a:xfrm>
        </p:spPr>
        <p:txBody>
          <a:bodyPr/>
          <a:lstStyle/>
          <a:p>
            <a:pPr algn="ctr"/>
            <a:r>
              <a:rPr lang="zh-CN" altLang="en-US" sz="2800" dirty="0" smtClean="0"/>
              <a:t>第十四讲：建设</a:t>
            </a:r>
            <a:r>
              <a:rPr lang="zh-CN" altLang="en-US" sz="2800" dirty="0"/>
              <a:t>巩固国防和强大人民军队</a:t>
            </a:r>
            <a:endParaRPr lang="zh-CN" altLang="en-US" sz="2800" dirty="0"/>
          </a:p>
        </p:txBody>
      </p:sp>
      <p:sp>
        <p:nvSpPr>
          <p:cNvPr id="4" name="TextBox 3"/>
          <p:cNvSpPr txBox="1"/>
          <p:nvPr/>
        </p:nvSpPr>
        <p:spPr>
          <a:xfrm>
            <a:off x="256843" y="666284"/>
            <a:ext cx="4367624" cy="3046988"/>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smtClean="0">
                <a:solidFill>
                  <a:srgbClr val="FF0000"/>
                </a:solidFill>
              </a:rPr>
              <a:t>1</a:t>
            </a:r>
            <a:r>
              <a:rPr lang="en-US" altLang="zh-CN" dirty="0">
                <a:solidFill>
                  <a:srgbClr val="FF0000"/>
                </a:solidFill>
              </a:rPr>
              <a:t>.</a:t>
            </a:r>
            <a:r>
              <a:rPr lang="zh-CN" altLang="en-US" dirty="0">
                <a:solidFill>
                  <a:srgbClr val="FF0000"/>
                </a:solidFill>
              </a:rPr>
              <a:t>国际战略形势发生深刻变化 </a:t>
            </a:r>
            <a:endParaRPr lang="zh-CN" altLang="en-US" dirty="0">
              <a:solidFill>
                <a:srgbClr val="FF0000"/>
              </a:solidFill>
            </a:endParaRPr>
          </a:p>
          <a:p>
            <a:pPr>
              <a:lnSpc>
                <a:spcPct val="150000"/>
              </a:lnSpc>
            </a:pPr>
            <a:r>
              <a:rPr lang="en-US" altLang="zh-CN" dirty="0">
                <a:solidFill>
                  <a:srgbClr val="FF0000"/>
                </a:solidFill>
              </a:rPr>
              <a:t>2.</a:t>
            </a:r>
            <a:r>
              <a:rPr lang="zh-CN" altLang="en-US" dirty="0">
                <a:solidFill>
                  <a:srgbClr val="FF0000"/>
                </a:solidFill>
              </a:rPr>
              <a:t>新时代的强军目标 </a:t>
            </a:r>
            <a:endParaRPr lang="zh-CN" altLang="en-US" dirty="0">
              <a:solidFill>
                <a:srgbClr val="FF0000"/>
              </a:solidFill>
            </a:endParaRPr>
          </a:p>
          <a:p>
            <a:pPr>
              <a:lnSpc>
                <a:spcPct val="150000"/>
              </a:lnSpc>
            </a:pPr>
            <a:r>
              <a:rPr lang="en-US" altLang="zh-CN" dirty="0">
                <a:solidFill>
                  <a:srgbClr val="FF0000"/>
                </a:solidFill>
              </a:rPr>
              <a:t>3.</a:t>
            </a:r>
            <a:r>
              <a:rPr lang="zh-CN" altLang="en-US" dirty="0">
                <a:solidFill>
                  <a:srgbClr val="FF0000"/>
                </a:solidFill>
              </a:rPr>
              <a:t>国防和军队改革的“三大战役”</a:t>
            </a:r>
            <a:endParaRPr lang="zh-CN" altLang="en-US" dirty="0">
              <a:solidFill>
                <a:srgbClr val="FF0000"/>
              </a:solidFill>
            </a:endParaRPr>
          </a:p>
          <a:p>
            <a:pPr>
              <a:lnSpc>
                <a:spcPct val="150000"/>
              </a:lnSpc>
            </a:pPr>
            <a:r>
              <a:rPr lang="en-US" altLang="zh-CN" dirty="0">
                <a:solidFill>
                  <a:srgbClr val="FF0000"/>
                </a:solidFill>
              </a:rPr>
              <a:t>4.</a:t>
            </a:r>
            <a:r>
              <a:rPr lang="zh-CN" altLang="en-US" dirty="0">
                <a:solidFill>
                  <a:srgbClr val="FF0000"/>
                </a:solidFill>
              </a:rPr>
              <a:t>国防和军队改革取得重大成效</a:t>
            </a:r>
            <a:endParaRPr lang="zh-CN" altLang="en-US" dirty="0">
              <a:solidFill>
                <a:srgbClr val="FF0000"/>
              </a:solidFill>
            </a:endParaRPr>
          </a:p>
          <a:p>
            <a:pPr>
              <a:lnSpc>
                <a:spcPct val="150000"/>
              </a:lnSpc>
            </a:pPr>
            <a:r>
              <a:rPr lang="en-US" altLang="zh-CN" dirty="0">
                <a:solidFill>
                  <a:srgbClr val="FF0000"/>
                </a:solidFill>
              </a:rPr>
              <a:t>5.</a:t>
            </a:r>
            <a:r>
              <a:rPr lang="zh-CN" altLang="en-US" dirty="0">
                <a:solidFill>
                  <a:srgbClr val="FF0000"/>
                </a:solidFill>
              </a:rPr>
              <a:t>新时代人民军队使命任务</a:t>
            </a:r>
            <a:endParaRPr lang="zh-CN" altLang="en-US" dirty="0">
              <a:solidFill>
                <a:srgbClr val="FF0000"/>
              </a:solidFill>
            </a:endParaRPr>
          </a:p>
          <a:p>
            <a:pPr>
              <a:lnSpc>
                <a:spcPct val="150000"/>
              </a:lnSpc>
            </a:pPr>
            <a:endParaRPr lang="zh-CN" altLang="en-US"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39646" y="-45284"/>
            <a:ext cx="8476938" cy="599396"/>
          </a:xfrm>
        </p:spPr>
        <p:txBody>
          <a:bodyPr/>
          <a:lstStyle/>
          <a:p>
            <a:pPr algn="ctr"/>
            <a:r>
              <a:rPr lang="zh-CN" altLang="en-US" sz="2800" dirty="0"/>
              <a:t>第十四讲：建设巩固国防和强大人民军队</a:t>
            </a:r>
            <a:endParaRPr lang="zh-CN" altLang="en-US" sz="2800" dirty="0"/>
          </a:p>
        </p:txBody>
      </p:sp>
      <p:sp>
        <p:nvSpPr>
          <p:cNvPr id="6" name="文本框 5"/>
          <p:cNvSpPr txBox="1"/>
          <p:nvPr/>
        </p:nvSpPr>
        <p:spPr>
          <a:xfrm>
            <a:off x="90523" y="711517"/>
            <a:ext cx="4279110" cy="4154984"/>
          </a:xfrm>
          <a:prstGeom prst="rect">
            <a:avLst/>
          </a:prstGeom>
          <a:noFill/>
        </p:spPr>
        <p:txBody>
          <a:bodyPr wrap="square">
            <a:spAutoFit/>
          </a:bodyPr>
          <a:lstStyle/>
          <a:p>
            <a:r>
              <a:rPr lang="en-US" altLang="zh-CN" b="1" dirty="0">
                <a:solidFill>
                  <a:srgbClr val="FF0000"/>
                </a:solidFill>
              </a:rPr>
              <a:t>1</a:t>
            </a:r>
            <a:r>
              <a:rPr lang="en-US" altLang="zh-CN" b="1" dirty="0" smtClean="0">
                <a:solidFill>
                  <a:srgbClr val="FF0000"/>
                </a:solidFill>
              </a:rPr>
              <a:t>.</a:t>
            </a:r>
            <a:r>
              <a:rPr lang="zh-CN" altLang="en-US" b="1" dirty="0">
                <a:solidFill>
                  <a:srgbClr val="FF0000"/>
                </a:solidFill>
              </a:rPr>
              <a:t>为什么要建设一支强大</a:t>
            </a:r>
            <a:r>
              <a:rPr lang="zh-CN" altLang="en-US" b="1" dirty="0" smtClean="0">
                <a:solidFill>
                  <a:srgbClr val="FF0000"/>
                </a:solidFill>
              </a:rPr>
              <a:t>人民军队</a:t>
            </a:r>
            <a:endParaRPr lang="en-US" altLang="zh-CN" b="1" dirty="0" smtClean="0">
              <a:solidFill>
                <a:srgbClr val="FF0000"/>
              </a:solidFill>
            </a:endParaRPr>
          </a:p>
          <a:p>
            <a:r>
              <a:rPr lang="zh-CN" altLang="en-US" sz="1400" b="1" dirty="0"/>
              <a:t>（</a:t>
            </a:r>
            <a:r>
              <a:rPr lang="en-US" altLang="zh-CN" sz="1400" b="1" dirty="0"/>
              <a:t>1</a:t>
            </a:r>
            <a:r>
              <a:rPr lang="zh-CN" altLang="en-US" sz="1400" b="1" dirty="0" smtClean="0"/>
              <a:t>）当今</a:t>
            </a:r>
            <a:r>
              <a:rPr lang="zh-CN" altLang="en-US" sz="1400" b="1" dirty="0"/>
              <a:t>世界百年未有之大变局加速演进 </a:t>
            </a:r>
            <a:endParaRPr lang="en-US" altLang="zh-CN" sz="1400" b="1" dirty="0"/>
          </a:p>
          <a:p>
            <a:r>
              <a:rPr lang="zh-CN" altLang="en-US" sz="1400" b="1" dirty="0"/>
              <a:t>（</a:t>
            </a:r>
            <a:r>
              <a:rPr lang="en-US" altLang="zh-CN" sz="1400" b="1" dirty="0"/>
              <a:t>2</a:t>
            </a:r>
            <a:r>
              <a:rPr lang="zh-CN" altLang="en-US" sz="1400" b="1" dirty="0"/>
              <a:t>）我国处于由大向强发展的关键阶段</a:t>
            </a:r>
            <a:endParaRPr lang="zh-CN" altLang="en-US" sz="1400" b="1" dirty="0"/>
          </a:p>
          <a:p>
            <a:r>
              <a:rPr lang="zh-CN" altLang="en-US" sz="1400" b="1" dirty="0"/>
              <a:t>（</a:t>
            </a:r>
            <a:r>
              <a:rPr lang="en-US" altLang="zh-CN" sz="1400" b="1" dirty="0"/>
              <a:t>3</a:t>
            </a:r>
            <a:r>
              <a:rPr lang="zh-CN" altLang="en-US" sz="1400" b="1" dirty="0"/>
              <a:t>）国际军事竞争日趋激烈</a:t>
            </a:r>
            <a:endParaRPr lang="en-US" altLang="zh-CN" sz="1400" b="1" dirty="0"/>
          </a:p>
          <a:p>
            <a:r>
              <a:rPr lang="zh-CN" altLang="en-US" sz="1400" b="1" dirty="0"/>
              <a:t>国际军事竞争日趋激烈</a:t>
            </a:r>
            <a:endParaRPr lang="zh-CN" altLang="en-US" sz="1400" b="1" dirty="0"/>
          </a:p>
          <a:p>
            <a:r>
              <a:rPr lang="zh-CN" altLang="en-US" sz="1400" b="1" dirty="0"/>
              <a:t>（</a:t>
            </a:r>
            <a:r>
              <a:rPr lang="en-US" altLang="zh-CN" sz="1400" b="1" dirty="0"/>
              <a:t>4</a:t>
            </a:r>
            <a:r>
              <a:rPr lang="zh-CN" altLang="en-US" sz="1400" b="1" dirty="0"/>
              <a:t>）我军需要一场革命性变革</a:t>
            </a:r>
            <a:endParaRPr lang="zh-CN" altLang="en-US" sz="1400" b="1" dirty="0"/>
          </a:p>
          <a:p>
            <a:r>
              <a:rPr lang="en-US" altLang="zh-CN" b="1" dirty="0" smtClean="0">
                <a:solidFill>
                  <a:srgbClr val="FF0000"/>
                </a:solidFill>
              </a:rPr>
              <a:t>2</a:t>
            </a:r>
            <a:r>
              <a:rPr lang="zh-CN" altLang="en-US" b="1" dirty="0">
                <a:solidFill>
                  <a:srgbClr val="FF0000"/>
                </a:solidFill>
              </a:rPr>
              <a:t>、当今世界百年未有之大变局加速</a:t>
            </a:r>
            <a:r>
              <a:rPr lang="zh-CN" altLang="en-US" b="1" dirty="0" smtClean="0">
                <a:solidFill>
                  <a:srgbClr val="FF0000"/>
                </a:solidFill>
              </a:rPr>
              <a:t>演进</a:t>
            </a:r>
            <a:r>
              <a:rPr lang="zh-CN" altLang="en-US" sz="1400" b="1" dirty="0"/>
              <a:t>（</a:t>
            </a:r>
            <a:r>
              <a:rPr lang="en-US" altLang="zh-CN" sz="1400" b="1" dirty="0"/>
              <a:t>1</a:t>
            </a:r>
            <a:r>
              <a:rPr lang="zh-CN" altLang="en-US" sz="1400" b="1" dirty="0"/>
              <a:t>）经济全球化进程出现波折</a:t>
            </a:r>
            <a:endParaRPr lang="zh-CN" altLang="en-US" sz="1400" b="1" dirty="0"/>
          </a:p>
          <a:p>
            <a:r>
              <a:rPr lang="zh-CN" altLang="en-US" sz="1400" b="1" dirty="0"/>
              <a:t>（</a:t>
            </a:r>
            <a:r>
              <a:rPr lang="en-US" altLang="zh-CN" sz="1400" b="1" dirty="0"/>
              <a:t>2</a:t>
            </a:r>
            <a:r>
              <a:rPr lang="zh-CN" altLang="en-US" sz="1400" b="1" dirty="0"/>
              <a:t>）国际战略格局深度调整</a:t>
            </a:r>
            <a:endParaRPr lang="zh-CN" altLang="en-US" sz="1400" b="1" dirty="0"/>
          </a:p>
          <a:p>
            <a:r>
              <a:rPr lang="zh-CN" altLang="en-US" sz="1400" b="1" dirty="0"/>
              <a:t>（</a:t>
            </a:r>
            <a:r>
              <a:rPr lang="en-US" altLang="zh-CN" sz="1400" b="1" dirty="0"/>
              <a:t>3</a:t>
            </a:r>
            <a:r>
              <a:rPr lang="zh-CN" altLang="en-US" sz="1400" b="1" dirty="0"/>
              <a:t>）全球治理体系变革加速推进</a:t>
            </a:r>
            <a:endParaRPr lang="zh-CN" altLang="en-US" sz="1400" b="1" dirty="0"/>
          </a:p>
          <a:p>
            <a:r>
              <a:rPr lang="zh-CN" altLang="en-US" sz="1400" b="1" dirty="0"/>
              <a:t>（</a:t>
            </a:r>
            <a:r>
              <a:rPr lang="en-US" altLang="zh-CN" sz="1400" b="1" dirty="0"/>
              <a:t>4</a:t>
            </a:r>
            <a:r>
              <a:rPr lang="zh-CN" altLang="en-US" sz="1400" b="1" dirty="0"/>
              <a:t>）发展道路和发展模式的竞争更加激烈</a:t>
            </a:r>
            <a:endParaRPr lang="zh-CN" altLang="en-US" sz="1400" b="1" dirty="0"/>
          </a:p>
          <a:p>
            <a:r>
              <a:rPr lang="en-US" altLang="zh-CN" b="1" dirty="0" smtClean="0">
                <a:solidFill>
                  <a:srgbClr val="FF0000"/>
                </a:solidFill>
              </a:rPr>
              <a:t>3</a:t>
            </a:r>
            <a:r>
              <a:rPr lang="zh-CN" altLang="en-US" b="1" dirty="0">
                <a:solidFill>
                  <a:srgbClr val="FF0000"/>
                </a:solidFill>
              </a:rPr>
              <a:t>、军事</a:t>
            </a:r>
            <a:r>
              <a:rPr lang="zh-CN" altLang="en-US" b="1" dirty="0" smtClean="0">
                <a:solidFill>
                  <a:srgbClr val="FF0000"/>
                </a:solidFill>
              </a:rPr>
              <a:t>领域的</a:t>
            </a:r>
            <a:r>
              <a:rPr lang="zh-CN" altLang="en-US" b="1" dirty="0">
                <a:solidFill>
                  <a:srgbClr val="FF0000"/>
                </a:solidFill>
              </a:rPr>
              <a:t>变革</a:t>
            </a:r>
            <a:endParaRPr lang="zh-CN" altLang="en-US" b="1" dirty="0">
              <a:solidFill>
                <a:srgbClr val="FF0000"/>
              </a:solidFill>
            </a:endParaRPr>
          </a:p>
          <a:p>
            <a:r>
              <a:rPr lang="zh-CN" altLang="en-US" sz="1400" b="1" dirty="0"/>
              <a:t>（</a:t>
            </a:r>
            <a:r>
              <a:rPr lang="en-US" altLang="zh-CN" sz="1400" b="1" dirty="0"/>
              <a:t>1</a:t>
            </a:r>
            <a:r>
              <a:rPr lang="zh-CN" altLang="en-US" sz="1400" b="1" dirty="0"/>
              <a:t>）以信息化为核心</a:t>
            </a:r>
            <a:endParaRPr lang="zh-CN" altLang="en-US" sz="1400" b="1" dirty="0"/>
          </a:p>
          <a:p>
            <a:r>
              <a:rPr lang="zh-CN" altLang="en-US" sz="1400" b="1" dirty="0"/>
              <a:t>（</a:t>
            </a:r>
            <a:r>
              <a:rPr lang="en-US" altLang="zh-CN" sz="1400" b="1" dirty="0"/>
              <a:t>2</a:t>
            </a:r>
            <a:r>
              <a:rPr lang="zh-CN" altLang="en-US" sz="1400" b="1" dirty="0"/>
              <a:t>）以重塑军事体系为主要目标</a:t>
            </a:r>
            <a:endParaRPr lang="zh-CN" altLang="en-US" sz="1400" b="1" dirty="0"/>
          </a:p>
          <a:p>
            <a:r>
              <a:rPr lang="zh-CN" altLang="en-US" sz="1400" b="1" dirty="0"/>
              <a:t>（</a:t>
            </a:r>
            <a:r>
              <a:rPr lang="en-US" altLang="zh-CN" sz="1400" b="1" dirty="0"/>
              <a:t>3</a:t>
            </a:r>
            <a:r>
              <a:rPr lang="zh-CN" altLang="en-US" sz="1400" b="1" dirty="0"/>
              <a:t>）以军事战略、军事技术、作战思想、作战力量、组织体制和军事管理创新为基本内容</a:t>
            </a:r>
            <a:endParaRPr lang="zh-CN" altLang="en-US" sz="1400" b="1" dirty="0"/>
          </a:p>
          <a:p>
            <a:r>
              <a:rPr lang="zh-CN" altLang="en-US" sz="1400" b="1" dirty="0"/>
              <a:t>（</a:t>
            </a:r>
            <a:r>
              <a:rPr lang="en-US" altLang="zh-CN" sz="1400" b="1" dirty="0"/>
              <a:t>4</a:t>
            </a:r>
            <a:r>
              <a:rPr lang="zh-CN" altLang="en-US" sz="1400" b="1" dirty="0"/>
              <a:t>）以速度之快、范围之广</a:t>
            </a:r>
            <a:r>
              <a:rPr lang="zh-CN" altLang="en-US" sz="1400" b="1" dirty="0" smtClean="0"/>
              <a:t>、程度</a:t>
            </a:r>
            <a:r>
              <a:rPr lang="zh-CN" altLang="en-US" sz="1400" b="1" dirty="0"/>
              <a:t>之深、影响之</a:t>
            </a:r>
            <a:r>
              <a:rPr lang="zh-CN" altLang="en-US" sz="1400" b="1" dirty="0" smtClean="0"/>
              <a:t>大为特点</a:t>
            </a:r>
            <a:endParaRPr lang="zh-CN" altLang="en-US" b="1" dirty="0">
              <a:solidFill>
                <a:srgbClr val="FF0000"/>
              </a:solidFill>
            </a:endParaRPr>
          </a:p>
        </p:txBody>
      </p:sp>
      <p:sp>
        <p:nvSpPr>
          <p:cNvPr id="9" name="文本框 8"/>
          <p:cNvSpPr txBox="1"/>
          <p:nvPr/>
        </p:nvSpPr>
        <p:spPr>
          <a:xfrm>
            <a:off x="4594486" y="557629"/>
            <a:ext cx="4549514" cy="4431983"/>
          </a:xfrm>
          <a:prstGeom prst="rect">
            <a:avLst/>
          </a:prstGeom>
          <a:noFill/>
        </p:spPr>
        <p:txBody>
          <a:bodyPr wrap="square">
            <a:spAutoFit/>
          </a:bodyPr>
          <a:lstStyle/>
          <a:p>
            <a:r>
              <a:rPr lang="en-US" altLang="zh-CN" b="1" dirty="0" smtClean="0">
                <a:solidFill>
                  <a:srgbClr val="FF0000"/>
                </a:solidFill>
              </a:rPr>
              <a:t>4</a:t>
            </a:r>
            <a:r>
              <a:rPr lang="zh-CN" altLang="en-US" b="1" dirty="0" smtClean="0">
                <a:solidFill>
                  <a:srgbClr val="FF0000"/>
                </a:solidFill>
              </a:rPr>
              <a:t>、“智能化战争”的特点</a:t>
            </a:r>
            <a:endParaRPr lang="zh-CN" altLang="en-US" b="1" dirty="0">
              <a:solidFill>
                <a:srgbClr val="FF0000"/>
              </a:solidFill>
            </a:endParaRPr>
          </a:p>
          <a:p>
            <a:r>
              <a:rPr lang="zh-CN" altLang="en-US" sz="1400" b="1" dirty="0" smtClean="0"/>
              <a:t>具有：作战</a:t>
            </a:r>
            <a:r>
              <a:rPr lang="zh-CN" altLang="en-US" sz="1400" b="1" dirty="0"/>
              <a:t>平台无人化、作战行动自主化、作战体系重构化、作战方式灵巧</a:t>
            </a:r>
            <a:r>
              <a:rPr lang="zh-CN" altLang="en-US" sz="1400" b="1" dirty="0" smtClean="0"/>
              <a:t>化的特征</a:t>
            </a:r>
            <a:endParaRPr lang="zh-CN" altLang="en-US" sz="1400" b="1" dirty="0"/>
          </a:p>
          <a:p>
            <a:r>
              <a:rPr lang="en-US" altLang="zh-CN" b="1" dirty="0" smtClean="0">
                <a:solidFill>
                  <a:srgbClr val="FF0000"/>
                </a:solidFill>
              </a:rPr>
              <a:t>5</a:t>
            </a:r>
            <a:r>
              <a:rPr lang="zh-CN" altLang="en-US" b="1" dirty="0" smtClean="0">
                <a:solidFill>
                  <a:srgbClr val="FF0000"/>
                </a:solidFill>
              </a:rPr>
              <a:t>、现代</a:t>
            </a:r>
            <a:r>
              <a:rPr lang="zh-CN" altLang="en-US" b="1" dirty="0">
                <a:solidFill>
                  <a:srgbClr val="FF0000"/>
                </a:solidFill>
              </a:rPr>
              <a:t>战争特点</a:t>
            </a:r>
            <a:endParaRPr lang="zh-CN" altLang="en-US" b="1" dirty="0">
              <a:solidFill>
                <a:srgbClr val="FF0000"/>
              </a:solidFill>
            </a:endParaRPr>
          </a:p>
          <a:p>
            <a:r>
              <a:rPr lang="zh-CN" altLang="en-US" sz="1400" b="1" dirty="0"/>
              <a:t>（</a:t>
            </a:r>
            <a:r>
              <a:rPr lang="en-US" altLang="zh-CN" sz="1400" b="1" dirty="0"/>
              <a:t>1</a:t>
            </a:r>
            <a:r>
              <a:rPr lang="zh-CN" altLang="en-US" sz="1400" b="1" dirty="0"/>
              <a:t>）制信息权是战场争夺的核心</a:t>
            </a:r>
            <a:endParaRPr lang="zh-CN" altLang="en-US" sz="1400" b="1" dirty="0"/>
          </a:p>
          <a:p>
            <a:r>
              <a:rPr lang="zh-CN" altLang="en-US" sz="1400" b="1" dirty="0"/>
              <a:t>（</a:t>
            </a:r>
            <a:r>
              <a:rPr lang="en-US" altLang="zh-CN" sz="1400" b="1" dirty="0"/>
              <a:t>2</a:t>
            </a:r>
            <a:r>
              <a:rPr lang="zh-CN" altLang="en-US" sz="1400" b="1" dirty="0"/>
              <a:t>）一体化联合作战是基本作战形式</a:t>
            </a:r>
            <a:endParaRPr lang="zh-CN" altLang="en-US" sz="1400" b="1" dirty="0"/>
          </a:p>
          <a:p>
            <a:r>
              <a:rPr lang="zh-CN" altLang="en-US" sz="1400" b="1" dirty="0"/>
              <a:t>（</a:t>
            </a:r>
            <a:r>
              <a:rPr lang="en-US" altLang="zh-CN" sz="1400" b="1" dirty="0"/>
              <a:t>3</a:t>
            </a:r>
            <a:r>
              <a:rPr lang="zh-CN" altLang="en-US" sz="1400" b="1" dirty="0"/>
              <a:t>）运用精锐力量实施精确作战</a:t>
            </a:r>
            <a:endParaRPr lang="zh-CN" altLang="en-US" sz="1400" b="1" dirty="0"/>
          </a:p>
          <a:p>
            <a:r>
              <a:rPr lang="en-US" altLang="zh-CN" b="1" dirty="0" smtClean="0">
                <a:solidFill>
                  <a:srgbClr val="FF0000"/>
                </a:solidFill>
              </a:rPr>
              <a:t>6</a:t>
            </a:r>
            <a:r>
              <a:rPr lang="zh-CN" altLang="en-US" b="1" dirty="0" smtClean="0">
                <a:solidFill>
                  <a:srgbClr val="FF0000"/>
                </a:solidFill>
              </a:rPr>
              <a:t>、国防和军队现代化目标：</a:t>
            </a:r>
            <a:endParaRPr lang="en-US" altLang="zh-CN" b="1" dirty="0" smtClean="0">
              <a:solidFill>
                <a:srgbClr val="FF0000"/>
              </a:solidFill>
            </a:endParaRPr>
          </a:p>
          <a:p>
            <a:r>
              <a:rPr lang="zh-CN" altLang="en-US" sz="1400" b="1" dirty="0"/>
              <a:t>（</a:t>
            </a:r>
            <a:r>
              <a:rPr lang="en-US" altLang="zh-CN" sz="1400" b="1" dirty="0"/>
              <a:t>1</a:t>
            </a:r>
            <a:r>
              <a:rPr lang="zh-CN" altLang="en-US" sz="1400" b="1" dirty="0"/>
              <a:t>）军事理论现代化</a:t>
            </a:r>
            <a:endParaRPr lang="zh-CN" altLang="en-US" sz="1400" b="1" dirty="0"/>
          </a:p>
          <a:p>
            <a:r>
              <a:rPr lang="zh-CN" altLang="en-US" sz="1400" b="1" dirty="0"/>
              <a:t>（</a:t>
            </a:r>
            <a:r>
              <a:rPr lang="en-US" altLang="zh-CN" sz="1400" b="1" dirty="0"/>
              <a:t>2</a:t>
            </a:r>
            <a:r>
              <a:rPr lang="zh-CN" altLang="en-US" sz="1400" b="1" dirty="0"/>
              <a:t>）军队组织形态现代化</a:t>
            </a:r>
            <a:endParaRPr lang="zh-CN" altLang="en-US" sz="1400" b="1" dirty="0"/>
          </a:p>
          <a:p>
            <a:r>
              <a:rPr lang="zh-CN" altLang="en-US" sz="1400" b="1" dirty="0"/>
              <a:t>（</a:t>
            </a:r>
            <a:r>
              <a:rPr lang="en-US" altLang="zh-CN" sz="1400" b="1" dirty="0"/>
              <a:t>3</a:t>
            </a:r>
            <a:r>
              <a:rPr lang="zh-CN" altLang="en-US" sz="1400" b="1" dirty="0"/>
              <a:t>）军事人员现代化</a:t>
            </a:r>
            <a:endParaRPr lang="zh-CN" altLang="en-US" sz="1400" b="1" dirty="0"/>
          </a:p>
          <a:p>
            <a:r>
              <a:rPr lang="zh-CN" altLang="en-US" sz="1400" b="1" dirty="0"/>
              <a:t>（</a:t>
            </a:r>
            <a:r>
              <a:rPr lang="en-US" altLang="zh-CN" sz="1400" b="1" dirty="0"/>
              <a:t>4</a:t>
            </a:r>
            <a:r>
              <a:rPr lang="zh-CN" altLang="en-US" sz="1400" b="1" dirty="0"/>
              <a:t>）武器装备</a:t>
            </a:r>
            <a:r>
              <a:rPr lang="zh-CN" altLang="en-US" sz="1400" b="1" dirty="0" smtClean="0"/>
              <a:t>现代化</a:t>
            </a:r>
            <a:endParaRPr lang="zh-CN" altLang="en-US" b="1" dirty="0">
              <a:solidFill>
                <a:srgbClr val="FF0000"/>
              </a:solidFill>
            </a:endParaRPr>
          </a:p>
          <a:p>
            <a:r>
              <a:rPr lang="en-US" altLang="zh-CN" b="1" dirty="0" smtClean="0">
                <a:solidFill>
                  <a:srgbClr val="FF0000"/>
                </a:solidFill>
              </a:rPr>
              <a:t>7.</a:t>
            </a:r>
            <a:r>
              <a:rPr lang="zh-CN" altLang="en-US" b="1" dirty="0">
                <a:solidFill>
                  <a:srgbClr val="FF0000"/>
                </a:solidFill>
              </a:rPr>
              <a:t>新时代的强军目标 </a:t>
            </a:r>
            <a:endParaRPr lang="en-US" altLang="zh-CN" b="1" dirty="0" smtClean="0">
              <a:solidFill>
                <a:srgbClr val="FF0000"/>
              </a:solidFill>
            </a:endParaRPr>
          </a:p>
          <a:p>
            <a:r>
              <a:rPr lang="zh-CN" altLang="en-US" sz="1400" b="1" dirty="0"/>
              <a:t>强军目标是建设一支听党指挥、能打胜仗、作风优良的人民军队，把人民军队建设成为世界一流军队</a:t>
            </a:r>
            <a:r>
              <a:rPr lang="zh-CN" altLang="en-US" sz="1400" b="1" dirty="0" smtClean="0"/>
              <a:t>。</a:t>
            </a:r>
            <a:endParaRPr lang="en-US" altLang="zh-CN" sz="1400" b="1" dirty="0" smtClean="0"/>
          </a:p>
          <a:p>
            <a:r>
              <a:rPr lang="zh-CN" altLang="en-US" sz="1400" b="1" dirty="0"/>
              <a:t>（</a:t>
            </a:r>
            <a:r>
              <a:rPr lang="en-US" altLang="zh-CN" sz="1400" b="1" dirty="0"/>
              <a:t>1</a:t>
            </a:r>
            <a:r>
              <a:rPr lang="zh-CN" altLang="en-US" sz="1400" b="1" dirty="0"/>
              <a:t>）听党指挥是</a:t>
            </a:r>
            <a:r>
              <a:rPr lang="zh-CN" altLang="en-US" sz="1400" b="1" dirty="0" smtClean="0"/>
              <a:t>灵魂：决定</a:t>
            </a:r>
            <a:r>
              <a:rPr lang="zh-CN" altLang="en-US" sz="1400" b="1" dirty="0"/>
              <a:t>军队建设的政治方向，引领我军从胜利走向胜利，确保我军</a:t>
            </a:r>
            <a:r>
              <a:rPr lang="zh-CN" altLang="en-US" sz="1400" b="1" dirty="0" smtClean="0"/>
              <a:t>不变质不变色</a:t>
            </a:r>
            <a:endParaRPr lang="zh-CN" altLang="en-US" sz="1400" b="1" dirty="0"/>
          </a:p>
          <a:p>
            <a:r>
              <a:rPr lang="zh-CN" altLang="en-US" sz="1400" b="1" dirty="0"/>
              <a:t>（</a:t>
            </a:r>
            <a:r>
              <a:rPr lang="en-US" altLang="zh-CN" sz="1400" b="1" dirty="0"/>
              <a:t>2</a:t>
            </a:r>
            <a:r>
              <a:rPr lang="zh-CN" altLang="en-US" sz="1400" b="1" dirty="0"/>
              <a:t>）能打胜仗是核心</a:t>
            </a:r>
            <a:endParaRPr lang="zh-CN" altLang="en-US" sz="1400" b="1" dirty="0"/>
          </a:p>
          <a:p>
            <a:r>
              <a:rPr lang="zh-CN" altLang="en-US" sz="1400" b="1" dirty="0" smtClean="0"/>
              <a:t>（</a:t>
            </a:r>
            <a:r>
              <a:rPr lang="en-US" altLang="zh-CN" sz="1400" b="1" dirty="0" smtClean="0"/>
              <a:t>3</a:t>
            </a:r>
            <a:r>
              <a:rPr lang="zh-CN" altLang="en-US" sz="1400" b="1" dirty="0" smtClean="0"/>
              <a:t>）作风</a:t>
            </a:r>
            <a:r>
              <a:rPr lang="zh-CN" altLang="en-US" sz="1400" b="1" dirty="0"/>
              <a:t>优良是</a:t>
            </a:r>
            <a:r>
              <a:rPr lang="zh-CN" altLang="en-US" sz="1400" b="1" dirty="0" smtClean="0"/>
              <a:t>保证</a:t>
            </a:r>
            <a:endParaRPr lang="zh-CN" altLang="en-US" sz="1400" b="1" dirty="0"/>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39646" y="-45284"/>
            <a:ext cx="8476938" cy="599396"/>
          </a:xfrm>
        </p:spPr>
        <p:txBody>
          <a:bodyPr/>
          <a:lstStyle/>
          <a:p>
            <a:pPr algn="ctr"/>
            <a:r>
              <a:rPr lang="zh-CN" altLang="en-US" sz="2800" dirty="0"/>
              <a:t>第十四讲：建设巩固国防和强大人民军队</a:t>
            </a:r>
            <a:endParaRPr lang="zh-CN" altLang="en-US" sz="2800" dirty="0"/>
          </a:p>
        </p:txBody>
      </p:sp>
      <p:sp>
        <p:nvSpPr>
          <p:cNvPr id="6" name="文本框 5"/>
          <p:cNvSpPr txBox="1"/>
          <p:nvPr/>
        </p:nvSpPr>
        <p:spPr>
          <a:xfrm>
            <a:off x="90523" y="711517"/>
            <a:ext cx="4279110" cy="4555093"/>
          </a:xfrm>
          <a:prstGeom prst="rect">
            <a:avLst/>
          </a:prstGeom>
          <a:noFill/>
        </p:spPr>
        <p:txBody>
          <a:bodyPr wrap="square">
            <a:spAutoFit/>
          </a:bodyPr>
          <a:lstStyle/>
          <a:p>
            <a:r>
              <a:rPr lang="en-US" altLang="zh-CN" b="1" dirty="0" smtClean="0">
                <a:solidFill>
                  <a:srgbClr val="FF0000"/>
                </a:solidFill>
              </a:rPr>
              <a:t>8</a:t>
            </a:r>
            <a:r>
              <a:rPr lang="zh-CN" altLang="en-US" b="1" dirty="0" smtClean="0">
                <a:solidFill>
                  <a:srgbClr val="FF0000"/>
                </a:solidFill>
              </a:rPr>
              <a:t>、国防</a:t>
            </a:r>
            <a:r>
              <a:rPr lang="zh-CN" altLang="en-US" b="1" dirty="0">
                <a:solidFill>
                  <a:srgbClr val="FF0000"/>
                </a:solidFill>
              </a:rPr>
              <a:t>和军队建设“新三步走” 战略安排</a:t>
            </a:r>
            <a:endParaRPr lang="zh-CN" altLang="en-US" b="1" dirty="0">
              <a:solidFill>
                <a:srgbClr val="FF0000"/>
              </a:solidFill>
            </a:endParaRPr>
          </a:p>
          <a:p>
            <a:r>
              <a:rPr lang="zh-CN" altLang="en-US" sz="1400" b="1" dirty="0"/>
              <a:t>（</a:t>
            </a:r>
            <a:r>
              <a:rPr lang="en-US" altLang="zh-CN" sz="1400" b="1" dirty="0"/>
              <a:t>1</a:t>
            </a:r>
            <a:r>
              <a:rPr lang="zh-CN" altLang="en-US" sz="1400" b="1" dirty="0"/>
              <a:t>）</a:t>
            </a:r>
            <a:r>
              <a:rPr lang="en-US" altLang="zh-CN" sz="1400" b="1" dirty="0"/>
              <a:t>2027</a:t>
            </a:r>
            <a:r>
              <a:rPr lang="zh-CN" altLang="en-US" sz="1400" b="1" dirty="0"/>
              <a:t>年：实现建军一百年奋斗目标</a:t>
            </a:r>
            <a:endParaRPr lang="zh-CN" altLang="en-US" sz="1400" b="1" dirty="0"/>
          </a:p>
          <a:p>
            <a:r>
              <a:rPr lang="zh-CN" altLang="en-US" sz="1400" b="1" dirty="0"/>
              <a:t>（</a:t>
            </a:r>
            <a:r>
              <a:rPr lang="en-US" altLang="zh-CN" sz="1400" b="1" dirty="0"/>
              <a:t>2</a:t>
            </a:r>
            <a:r>
              <a:rPr lang="zh-CN" altLang="en-US" sz="1400" b="1" dirty="0"/>
              <a:t>）</a:t>
            </a:r>
            <a:r>
              <a:rPr lang="en-US" altLang="zh-CN" sz="1400" b="1" dirty="0"/>
              <a:t>2035</a:t>
            </a:r>
            <a:r>
              <a:rPr lang="zh-CN" altLang="en-US" sz="1400" b="1" dirty="0"/>
              <a:t>年：基本实现国防和军队现代化</a:t>
            </a:r>
            <a:endParaRPr lang="en-US" altLang="zh-CN" sz="1400" b="1" dirty="0"/>
          </a:p>
          <a:p>
            <a:r>
              <a:rPr lang="zh-CN" altLang="en-US" sz="1400" b="1" dirty="0"/>
              <a:t>（</a:t>
            </a:r>
            <a:r>
              <a:rPr lang="en-US" altLang="zh-CN" sz="1400" b="1" dirty="0"/>
              <a:t>3</a:t>
            </a:r>
            <a:r>
              <a:rPr lang="zh-CN" altLang="en-US" sz="1400" b="1" dirty="0"/>
              <a:t>）本世纪中叶：把人民军队全面建成世界一流军队</a:t>
            </a:r>
            <a:endParaRPr lang="zh-CN" altLang="en-US" sz="1400" b="1" dirty="0"/>
          </a:p>
          <a:p>
            <a:r>
              <a:rPr lang="en-US" altLang="zh-CN" b="1" dirty="0" smtClean="0">
                <a:solidFill>
                  <a:srgbClr val="FF0000"/>
                </a:solidFill>
              </a:rPr>
              <a:t>9</a:t>
            </a:r>
            <a:r>
              <a:rPr lang="zh-CN" altLang="en-US" b="1" dirty="0" smtClean="0">
                <a:solidFill>
                  <a:srgbClr val="FF0000"/>
                </a:solidFill>
              </a:rPr>
              <a:t>、在</a:t>
            </a:r>
            <a:r>
              <a:rPr lang="zh-CN" altLang="en-US" b="1" dirty="0">
                <a:solidFill>
                  <a:srgbClr val="FF0000"/>
                </a:solidFill>
              </a:rPr>
              <a:t>强军目标下推进“强军布局”</a:t>
            </a:r>
            <a:endParaRPr lang="zh-CN" altLang="en-US" b="1" dirty="0">
              <a:solidFill>
                <a:srgbClr val="FF0000"/>
              </a:solidFill>
            </a:endParaRPr>
          </a:p>
          <a:p>
            <a:r>
              <a:rPr lang="zh-CN" altLang="en-US" sz="1400" b="1" dirty="0"/>
              <a:t>政治建军、改革强军、科技强军、人才强军、依法治军</a:t>
            </a:r>
            <a:endParaRPr lang="zh-CN" altLang="en-US" sz="1400" b="1" dirty="0"/>
          </a:p>
          <a:p>
            <a:r>
              <a:rPr lang="en-US" altLang="zh-CN" b="1" dirty="0" smtClean="0">
                <a:solidFill>
                  <a:srgbClr val="FF0000"/>
                </a:solidFill>
              </a:rPr>
              <a:t>10</a:t>
            </a:r>
            <a:r>
              <a:rPr lang="zh-CN" altLang="en-US" b="1" dirty="0">
                <a:solidFill>
                  <a:srgbClr val="FF0000"/>
                </a:solidFill>
              </a:rPr>
              <a:t>、培养“四有”新时代革命军人，锻造“四铁” 过硬部队。</a:t>
            </a:r>
            <a:endParaRPr lang="zh-CN" altLang="en-US" b="1" dirty="0">
              <a:solidFill>
                <a:srgbClr val="FF0000"/>
              </a:solidFill>
            </a:endParaRPr>
          </a:p>
          <a:p>
            <a:r>
              <a:rPr lang="zh-CN" altLang="en-US" sz="1400" b="1" dirty="0"/>
              <a:t>四有：有灵魂、有本事、有血性、有品德；</a:t>
            </a:r>
            <a:endParaRPr lang="en-US" altLang="zh-CN" sz="1400" b="1" dirty="0"/>
          </a:p>
          <a:p>
            <a:r>
              <a:rPr lang="zh-CN" altLang="en-US" sz="1400" b="1" dirty="0"/>
              <a:t>四铁：铁一般的信仰、铁一般的信念、铁一般的纪律、铁一般的担当</a:t>
            </a:r>
            <a:endParaRPr lang="en-US" altLang="zh-CN" sz="1400" b="1" dirty="0"/>
          </a:p>
          <a:p>
            <a:r>
              <a:rPr lang="en-US" altLang="zh-CN" b="1" dirty="0" smtClean="0">
                <a:solidFill>
                  <a:srgbClr val="FF0000"/>
                </a:solidFill>
              </a:rPr>
              <a:t>11.</a:t>
            </a:r>
            <a:r>
              <a:rPr lang="zh-CN" altLang="en-US" b="1" dirty="0">
                <a:solidFill>
                  <a:srgbClr val="FF0000"/>
                </a:solidFill>
              </a:rPr>
              <a:t>国防和军队改革的</a:t>
            </a:r>
            <a:r>
              <a:rPr lang="zh-CN" altLang="en-US" b="1" dirty="0" smtClean="0">
                <a:solidFill>
                  <a:srgbClr val="FF0000"/>
                </a:solidFill>
              </a:rPr>
              <a:t>“三大战役”</a:t>
            </a:r>
            <a:endParaRPr lang="en-US" altLang="zh-CN" b="1" dirty="0" smtClean="0">
              <a:solidFill>
                <a:srgbClr val="FF0000"/>
              </a:solidFill>
            </a:endParaRPr>
          </a:p>
          <a:p>
            <a:r>
              <a:rPr lang="zh-CN" altLang="en-US" sz="1400" b="1" dirty="0"/>
              <a:t>第一大战役：领导指挥体制改革，重在解决体制性障碍（</a:t>
            </a:r>
            <a:r>
              <a:rPr lang="en-US" altLang="zh-CN" sz="1400" b="1" dirty="0"/>
              <a:t>2015</a:t>
            </a:r>
            <a:r>
              <a:rPr lang="zh-CN" altLang="en-US" sz="1400" b="1" dirty="0"/>
              <a:t>年底开始）</a:t>
            </a:r>
            <a:endParaRPr lang="zh-CN" altLang="en-US" sz="1400" b="1" dirty="0"/>
          </a:p>
          <a:p>
            <a:r>
              <a:rPr lang="zh-CN" altLang="en-US" sz="1400" b="1" dirty="0"/>
              <a:t>第二大战役：压茬推进规模结构和力量编成改革，重在解决结构性矛盾（</a:t>
            </a:r>
            <a:r>
              <a:rPr lang="en-US" altLang="zh-CN" sz="1400" b="1" dirty="0"/>
              <a:t>2016</a:t>
            </a:r>
            <a:r>
              <a:rPr lang="zh-CN" altLang="en-US" sz="1400" b="1" dirty="0"/>
              <a:t>年底开始</a:t>
            </a:r>
            <a:r>
              <a:rPr lang="zh-CN" altLang="en-US" sz="1400" b="1" dirty="0" smtClean="0"/>
              <a:t>）</a:t>
            </a:r>
            <a:endParaRPr lang="zh-CN" altLang="en-US" sz="1400" b="1" dirty="0"/>
          </a:p>
        </p:txBody>
      </p:sp>
      <p:sp>
        <p:nvSpPr>
          <p:cNvPr id="9" name="文本框 8"/>
          <p:cNvSpPr txBox="1"/>
          <p:nvPr/>
        </p:nvSpPr>
        <p:spPr>
          <a:xfrm>
            <a:off x="4594486" y="557629"/>
            <a:ext cx="4549514" cy="6370975"/>
          </a:xfrm>
          <a:prstGeom prst="rect">
            <a:avLst/>
          </a:prstGeom>
          <a:noFill/>
        </p:spPr>
        <p:txBody>
          <a:bodyPr wrap="square">
            <a:spAutoFit/>
          </a:bodyPr>
          <a:lstStyle/>
          <a:p>
            <a:r>
              <a:rPr lang="zh-CN" altLang="en-US" sz="1400" b="1" dirty="0"/>
              <a:t>第三大战役：深化军事政策制度改革，重在解决政策性问题（</a:t>
            </a:r>
            <a:r>
              <a:rPr lang="en-US" altLang="zh-CN" sz="1400" b="1" dirty="0"/>
              <a:t>2018</a:t>
            </a:r>
            <a:r>
              <a:rPr lang="zh-CN" altLang="en-US" sz="1400" b="1" dirty="0"/>
              <a:t>年底开始</a:t>
            </a:r>
            <a:r>
              <a:rPr lang="zh-CN" altLang="en-US" sz="1400" b="1" dirty="0" smtClean="0"/>
              <a:t>）</a:t>
            </a:r>
            <a:endParaRPr lang="en-US" altLang="zh-CN" sz="1400" b="1" dirty="0" smtClean="0"/>
          </a:p>
          <a:p>
            <a:r>
              <a:rPr lang="en-US" altLang="zh-CN" b="1" dirty="0" smtClean="0">
                <a:solidFill>
                  <a:srgbClr val="FF0000"/>
                </a:solidFill>
              </a:rPr>
              <a:t>12</a:t>
            </a:r>
            <a:r>
              <a:rPr lang="zh-CN" altLang="en-US" b="1" dirty="0" smtClean="0">
                <a:solidFill>
                  <a:srgbClr val="FF0000"/>
                </a:solidFill>
              </a:rPr>
              <a:t>、牢固</a:t>
            </a:r>
            <a:r>
              <a:rPr lang="zh-CN" altLang="en-US" b="1" dirty="0">
                <a:solidFill>
                  <a:srgbClr val="FF0000"/>
                </a:solidFill>
              </a:rPr>
              <a:t>树立战斗力这个唯一的根本的标准</a:t>
            </a:r>
            <a:endParaRPr lang="zh-CN" altLang="en-US" b="1" dirty="0">
              <a:solidFill>
                <a:srgbClr val="FF0000"/>
              </a:solidFill>
            </a:endParaRPr>
          </a:p>
          <a:p>
            <a:r>
              <a:rPr lang="en-US" altLang="zh-CN" b="1" dirty="0" smtClean="0">
                <a:solidFill>
                  <a:srgbClr val="FF0000"/>
                </a:solidFill>
              </a:rPr>
              <a:t>13.</a:t>
            </a:r>
            <a:r>
              <a:rPr lang="zh-CN" altLang="en-US" b="1" dirty="0">
                <a:solidFill>
                  <a:srgbClr val="FF0000"/>
                </a:solidFill>
              </a:rPr>
              <a:t>国防和军队改革取得重大</a:t>
            </a:r>
            <a:r>
              <a:rPr lang="zh-CN" altLang="en-US" b="1" dirty="0" smtClean="0">
                <a:solidFill>
                  <a:srgbClr val="FF0000"/>
                </a:solidFill>
              </a:rPr>
              <a:t>成效</a:t>
            </a:r>
            <a:endParaRPr lang="en-US" altLang="zh-CN" b="1" dirty="0" smtClean="0">
              <a:solidFill>
                <a:srgbClr val="FF0000"/>
              </a:solidFill>
            </a:endParaRPr>
          </a:p>
          <a:p>
            <a:r>
              <a:rPr lang="zh-CN" altLang="en-US" sz="1400" b="1" dirty="0"/>
              <a:t>（</a:t>
            </a:r>
            <a:r>
              <a:rPr lang="en-US" altLang="zh-CN" sz="1400" b="1" dirty="0"/>
              <a:t>1</a:t>
            </a:r>
            <a:r>
              <a:rPr lang="zh-CN" altLang="en-US" sz="1400" b="1" dirty="0"/>
              <a:t>）重振政治纲纪：人民军队政治生态根本好转</a:t>
            </a:r>
            <a:endParaRPr lang="zh-CN" altLang="en-US" sz="1400" b="1" dirty="0"/>
          </a:p>
          <a:p>
            <a:r>
              <a:rPr lang="zh-CN" altLang="en-US" sz="1400" b="1" dirty="0"/>
              <a:t>（</a:t>
            </a:r>
            <a:r>
              <a:rPr lang="en-US" altLang="zh-CN" sz="1400" b="1" dirty="0"/>
              <a:t>2</a:t>
            </a:r>
            <a:r>
              <a:rPr lang="zh-CN" altLang="en-US" sz="1400" b="1" dirty="0"/>
              <a:t>）重塑组织形态：形成军委管总、战区主战、军种主建新格局</a:t>
            </a:r>
            <a:endParaRPr lang="zh-CN" altLang="en-US" sz="1400" b="1" dirty="0"/>
          </a:p>
          <a:p>
            <a:r>
              <a:rPr lang="zh-CN" altLang="en-US" sz="1400" b="1" dirty="0"/>
              <a:t>（</a:t>
            </a:r>
            <a:r>
              <a:rPr lang="en-US" altLang="zh-CN" sz="1400" b="1" dirty="0"/>
              <a:t>3</a:t>
            </a:r>
            <a:r>
              <a:rPr lang="zh-CN" altLang="en-US" sz="1400" b="1" dirty="0"/>
              <a:t>）重整斗争格局：突出海上军事斗争</a:t>
            </a:r>
            <a:endParaRPr lang="zh-CN" altLang="en-US" sz="1400" b="1" dirty="0"/>
          </a:p>
          <a:p>
            <a:r>
              <a:rPr lang="zh-CN" altLang="en-US" sz="1400" b="1" dirty="0"/>
              <a:t>和军事斗争准备</a:t>
            </a:r>
            <a:endParaRPr lang="zh-CN" altLang="en-US" sz="1400" b="1" dirty="0"/>
          </a:p>
          <a:p>
            <a:r>
              <a:rPr lang="zh-CN" altLang="en-US" sz="1400" b="1" dirty="0"/>
              <a:t>（</a:t>
            </a:r>
            <a:r>
              <a:rPr lang="en-US" altLang="zh-CN" sz="1400" b="1" dirty="0"/>
              <a:t>4</a:t>
            </a:r>
            <a:r>
              <a:rPr lang="zh-CN" altLang="en-US" sz="1400" b="1" dirty="0"/>
              <a:t>）重构建设布局：新“三步走”战略安排、“五个坚持”战略布局</a:t>
            </a:r>
            <a:endParaRPr lang="zh-CN" altLang="en-US" sz="1400" b="1" dirty="0"/>
          </a:p>
          <a:p>
            <a:r>
              <a:rPr lang="zh-CN" altLang="en-US" sz="1400" b="1" dirty="0"/>
              <a:t>（</a:t>
            </a:r>
            <a:r>
              <a:rPr lang="en-US" altLang="zh-CN" sz="1400" b="1" dirty="0"/>
              <a:t>5</a:t>
            </a:r>
            <a:r>
              <a:rPr lang="zh-CN" altLang="en-US" sz="1400" b="1" dirty="0"/>
              <a:t>）重树作风形象：恢复和发扬我党我军光荣传统和优良</a:t>
            </a:r>
            <a:r>
              <a:rPr lang="zh-CN" altLang="en-US" sz="1400" b="1" dirty="0" smtClean="0"/>
              <a:t>作风</a:t>
            </a:r>
            <a:endParaRPr lang="en-US" altLang="zh-CN" sz="1400" b="1" dirty="0" smtClean="0"/>
          </a:p>
          <a:p>
            <a:r>
              <a:rPr lang="en-US" altLang="zh-CN" b="1" dirty="0" smtClean="0">
                <a:solidFill>
                  <a:srgbClr val="FF0000"/>
                </a:solidFill>
              </a:rPr>
              <a:t>14</a:t>
            </a:r>
            <a:r>
              <a:rPr lang="zh-CN" altLang="en-US" b="1" dirty="0" smtClean="0">
                <a:solidFill>
                  <a:srgbClr val="FF0000"/>
                </a:solidFill>
              </a:rPr>
              <a:t>、</a:t>
            </a:r>
            <a:r>
              <a:rPr lang="zh-CN" altLang="en-US" b="1" dirty="0">
                <a:solidFill>
                  <a:srgbClr val="FF0000"/>
                </a:solidFill>
              </a:rPr>
              <a:t>新时代人民军队使命任务</a:t>
            </a:r>
            <a:endParaRPr lang="zh-CN" altLang="en-US" b="1" dirty="0">
              <a:solidFill>
                <a:srgbClr val="FF0000"/>
              </a:solidFill>
            </a:endParaRPr>
          </a:p>
          <a:p>
            <a:r>
              <a:rPr lang="zh-CN" altLang="en-US" sz="1400" b="1" dirty="0"/>
              <a:t>为巩固中国共产党领导和我国社会主义制度</a:t>
            </a:r>
            <a:endParaRPr lang="zh-CN" altLang="en-US" sz="1400" b="1" dirty="0"/>
          </a:p>
          <a:p>
            <a:r>
              <a:rPr lang="zh-CN" altLang="en-US" sz="1400" b="1" dirty="0"/>
              <a:t>为捍卫国家主权、统一、领土完整</a:t>
            </a:r>
            <a:endParaRPr lang="zh-CN" altLang="en-US" sz="1400" b="1" dirty="0"/>
          </a:p>
          <a:p>
            <a:r>
              <a:rPr lang="zh-CN" altLang="en-US" sz="1400" b="1" dirty="0"/>
              <a:t>为维护我国海外利益</a:t>
            </a:r>
            <a:endParaRPr lang="zh-CN" altLang="en-US" sz="1400" b="1" dirty="0"/>
          </a:p>
          <a:p>
            <a:r>
              <a:rPr lang="zh-CN" altLang="en-US" sz="1400" b="1" dirty="0"/>
              <a:t>为促进世界和平与发展</a:t>
            </a:r>
            <a:endParaRPr lang="zh-CN" altLang="en-US" sz="1400" b="1" dirty="0"/>
          </a:p>
          <a:p>
            <a:endParaRPr lang="zh-CN" altLang="en-US" b="1" dirty="0">
              <a:solidFill>
                <a:srgbClr val="FF0000"/>
              </a:solidFill>
            </a:endParaRPr>
          </a:p>
          <a:p>
            <a:endParaRPr lang="zh-CN" altLang="en-US" b="1" dirty="0">
              <a:solidFill>
                <a:srgbClr val="FF0000"/>
              </a:solidFill>
            </a:endParaRPr>
          </a:p>
          <a:p>
            <a:endParaRPr lang="zh-CN" altLang="en-US" b="1" dirty="0">
              <a:solidFill>
                <a:srgbClr val="FF0000"/>
              </a:solidFill>
            </a:endParaRPr>
          </a:p>
          <a:p>
            <a:endParaRPr lang="zh-CN" altLang="en-US" b="1" dirty="0">
              <a:solidFill>
                <a:srgbClr val="FF0000"/>
              </a:solidFill>
            </a:endParaRPr>
          </a:p>
          <a:p>
            <a:endParaRPr lang="zh-CN" altLang="en-US" b="1" dirty="0">
              <a:solidFill>
                <a:srgbClr val="FF0000"/>
              </a:solidFill>
            </a:endParaRPr>
          </a:p>
          <a:p>
            <a:endParaRPr lang="zh-CN" altLang="en-US" b="1" dirty="0">
              <a:solidFill>
                <a:srgbClr val="FF0000"/>
              </a:solidFill>
            </a:endParaRPr>
          </a:p>
          <a:p>
            <a:r>
              <a:rPr lang="en-US" altLang="zh-CN" b="1" dirty="0" smtClean="0">
                <a:solidFill>
                  <a:srgbClr val="FF0000"/>
                </a:solidFill>
              </a:rPr>
              <a:t>13.</a:t>
            </a:r>
            <a:r>
              <a:rPr lang="zh-CN" altLang="en-US" b="1" dirty="0">
                <a:solidFill>
                  <a:srgbClr val="FF0000"/>
                </a:solidFill>
              </a:rPr>
              <a:t>新时代人民军队使命任务</a:t>
            </a:r>
            <a:endParaRPr lang="zh-CN" altLang="en-US" b="1" dirty="0">
              <a:solidFill>
                <a:srgbClr val="FF0000"/>
              </a:solidFill>
            </a:endParaRPr>
          </a:p>
        </p:txBody>
      </p:sp>
      <p:sp>
        <p:nvSpPr>
          <p:cNvPr id="3" name="矩形 2"/>
          <p:cNvSpPr/>
          <p:nvPr/>
        </p:nvSpPr>
        <p:spPr>
          <a:xfrm>
            <a:off x="222500" y="305262"/>
            <a:ext cx="1338828" cy="458459"/>
          </a:xfrm>
          <a:prstGeom prst="rect">
            <a:avLst/>
          </a:prstGeom>
        </p:spPr>
        <p:txBody>
          <a:bodyPr wrap="none">
            <a:spAutoFit/>
          </a:bodyPr>
          <a:lstStyle/>
          <a:p>
            <a:pPr>
              <a:lnSpc>
                <a:spcPct val="150000"/>
              </a:lnSpc>
            </a:pPr>
            <a:r>
              <a:rPr lang="zh-CN" altLang="en-US" b="1" dirty="0"/>
              <a:t>一、重点：</a:t>
            </a:r>
            <a:endParaRPr lang="en-US" altLang="zh-CN"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4951" y="66888"/>
            <a:ext cx="9098024" cy="599396"/>
          </a:xfrm>
        </p:spPr>
        <p:txBody>
          <a:bodyPr/>
          <a:lstStyle/>
          <a:p>
            <a:pPr algn="ctr"/>
            <a:r>
              <a:rPr lang="zh-CN" altLang="en-US" sz="2800" dirty="0" smtClean="0"/>
              <a:t>第十五</a:t>
            </a:r>
            <a:r>
              <a:rPr lang="zh-CN" altLang="en-US" sz="2800" dirty="0"/>
              <a:t>讲：坚持“一国两制”和推进祖国</a:t>
            </a:r>
            <a:r>
              <a:rPr lang="zh-CN" altLang="en-US" sz="2800" dirty="0" smtClean="0"/>
              <a:t>统一</a:t>
            </a:r>
            <a:endParaRPr lang="zh-CN" altLang="en-US" sz="2800" dirty="0"/>
          </a:p>
        </p:txBody>
      </p:sp>
      <p:sp>
        <p:nvSpPr>
          <p:cNvPr id="4" name="TextBox 3"/>
          <p:cNvSpPr txBox="1"/>
          <p:nvPr/>
        </p:nvSpPr>
        <p:spPr>
          <a:xfrm>
            <a:off x="256843" y="666284"/>
            <a:ext cx="4367624" cy="2631490"/>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a:solidFill>
                  <a:srgbClr val="FF0000"/>
                </a:solidFill>
              </a:rPr>
              <a:t>1.“</a:t>
            </a:r>
            <a:r>
              <a:rPr lang="zh-CN" altLang="en-US" dirty="0">
                <a:solidFill>
                  <a:srgbClr val="FF0000"/>
                </a:solidFill>
              </a:rPr>
              <a:t>一国两制”是中国特色社会主义的一个伟大创举</a:t>
            </a:r>
            <a:endParaRPr lang="zh-CN" altLang="en-US" dirty="0">
              <a:solidFill>
                <a:srgbClr val="FF0000"/>
              </a:solidFill>
            </a:endParaRPr>
          </a:p>
          <a:p>
            <a:pPr>
              <a:lnSpc>
                <a:spcPct val="150000"/>
              </a:lnSpc>
            </a:pPr>
            <a:r>
              <a:rPr lang="en-US" altLang="zh-CN" dirty="0">
                <a:solidFill>
                  <a:srgbClr val="FF0000"/>
                </a:solidFill>
              </a:rPr>
              <a:t>2.“</a:t>
            </a:r>
            <a:r>
              <a:rPr lang="zh-CN" altLang="en-US" dirty="0">
                <a:solidFill>
                  <a:srgbClr val="FF0000"/>
                </a:solidFill>
              </a:rPr>
              <a:t>一国两制”是保持港澳长期繁荣稳定的最佳制度</a:t>
            </a:r>
            <a:endParaRPr lang="zh-CN" altLang="en-US" dirty="0">
              <a:solidFill>
                <a:srgbClr val="FF0000"/>
              </a:solidFill>
            </a:endParaRPr>
          </a:p>
          <a:p>
            <a:pPr>
              <a:lnSpc>
                <a:spcPct val="150000"/>
              </a:lnSpc>
            </a:pPr>
            <a:r>
              <a:rPr lang="en-US" altLang="zh-CN" dirty="0">
                <a:solidFill>
                  <a:srgbClr val="FF0000"/>
                </a:solidFill>
              </a:rPr>
              <a:t>3.</a:t>
            </a:r>
            <a:r>
              <a:rPr lang="zh-CN" altLang="en-US" dirty="0">
                <a:solidFill>
                  <a:srgbClr val="FF0000"/>
                </a:solidFill>
              </a:rPr>
              <a:t>新时代党解决台湾问题的总体</a:t>
            </a:r>
            <a:r>
              <a:rPr lang="zh-CN" altLang="en-US" dirty="0" smtClean="0">
                <a:solidFill>
                  <a:srgbClr val="FF0000"/>
                </a:solidFill>
              </a:rPr>
              <a:t>方略</a:t>
            </a:r>
            <a:endParaRPr lang="zh-CN" altLang="en-US" dirty="0">
              <a:solidFill>
                <a:srgbClr val="FF0000"/>
              </a:solidFill>
            </a:endParaRPr>
          </a:p>
        </p:txBody>
      </p:sp>
      <p:sp>
        <p:nvSpPr>
          <p:cNvPr id="5" name="矩形 4"/>
          <p:cNvSpPr/>
          <p:nvPr/>
        </p:nvSpPr>
        <p:spPr>
          <a:xfrm>
            <a:off x="4623963" y="757848"/>
            <a:ext cx="4437591" cy="1477328"/>
          </a:xfrm>
          <a:prstGeom prst="rect">
            <a:avLst/>
          </a:prstGeom>
        </p:spPr>
        <p:txBody>
          <a:bodyPr wrap="square">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a:solidFill>
                  <a:srgbClr val="FF0000"/>
                </a:solidFill>
              </a:rPr>
              <a:t>、如何准确把握“一国”和“两制”的</a:t>
            </a:r>
            <a:r>
              <a:rPr lang="zh-CN" altLang="en-US" sz="2000" dirty="0" smtClean="0">
                <a:solidFill>
                  <a:srgbClr val="FF0000"/>
                </a:solidFill>
              </a:rPr>
              <a:t>关系？</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42407" y="111080"/>
            <a:ext cx="9098024" cy="599396"/>
          </a:xfrm>
        </p:spPr>
        <p:txBody>
          <a:bodyPr/>
          <a:lstStyle/>
          <a:p>
            <a:pPr algn="ctr"/>
            <a:r>
              <a:rPr lang="zh-CN" altLang="en-US" sz="2800" dirty="0" smtClean="0"/>
              <a:t>第十五</a:t>
            </a:r>
            <a:r>
              <a:rPr lang="zh-CN" altLang="en-US" sz="2800" dirty="0"/>
              <a:t>讲：坚持“一国两制”和推进祖国</a:t>
            </a:r>
            <a:r>
              <a:rPr lang="zh-CN" altLang="en-US" sz="2800" dirty="0" smtClean="0"/>
              <a:t>统一</a:t>
            </a:r>
            <a:endParaRPr lang="zh-CN" altLang="en-US" sz="2800" dirty="0"/>
          </a:p>
        </p:txBody>
      </p:sp>
      <p:sp>
        <p:nvSpPr>
          <p:cNvPr id="4" name="TextBox 3"/>
          <p:cNvSpPr txBox="1"/>
          <p:nvPr/>
        </p:nvSpPr>
        <p:spPr>
          <a:xfrm>
            <a:off x="82446" y="808691"/>
            <a:ext cx="5321507" cy="3831818"/>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a:solidFill>
                  <a:srgbClr val="FF0000"/>
                </a:solidFill>
              </a:rPr>
              <a:t>1.“</a:t>
            </a:r>
            <a:r>
              <a:rPr lang="zh-CN" altLang="en-US" dirty="0">
                <a:solidFill>
                  <a:srgbClr val="FF0000"/>
                </a:solidFill>
              </a:rPr>
              <a:t>一国两制”是中国特色社会主义的一个伟大</a:t>
            </a:r>
            <a:r>
              <a:rPr lang="zh-CN" altLang="en-US" dirty="0" smtClean="0">
                <a:solidFill>
                  <a:srgbClr val="FF0000"/>
                </a:solidFill>
              </a:rPr>
              <a:t>创举</a:t>
            </a:r>
            <a:endParaRPr lang="en-US" altLang="zh-CN" dirty="0" smtClean="0">
              <a:solidFill>
                <a:srgbClr val="FF0000"/>
              </a:solidFill>
            </a:endParaRPr>
          </a:p>
          <a:p>
            <a:pPr>
              <a:lnSpc>
                <a:spcPct val="150000"/>
              </a:lnSpc>
            </a:pPr>
            <a:r>
              <a:rPr lang="zh-CN" altLang="en-US" sz="1400" b="1" dirty="0"/>
              <a:t>（</a:t>
            </a:r>
            <a:r>
              <a:rPr lang="en-US" altLang="zh-CN" sz="1400" b="1" dirty="0"/>
              <a:t>1</a:t>
            </a:r>
            <a:r>
              <a:rPr lang="zh-CN" altLang="en-US" sz="1400" b="1" dirty="0"/>
              <a:t>）“一国两制”是中华民族对人类政治文明的独特贡献</a:t>
            </a:r>
            <a:endParaRPr lang="zh-CN" altLang="en-US" sz="1400" b="1" dirty="0"/>
          </a:p>
          <a:p>
            <a:pPr>
              <a:lnSpc>
                <a:spcPct val="150000"/>
              </a:lnSpc>
            </a:pPr>
            <a:r>
              <a:rPr lang="zh-CN" altLang="en-US" sz="1400" b="1" dirty="0" smtClean="0"/>
              <a:t>（</a:t>
            </a:r>
            <a:r>
              <a:rPr lang="en-US" altLang="zh-CN" sz="1400" b="1" dirty="0" smtClean="0"/>
              <a:t>2</a:t>
            </a:r>
            <a:r>
              <a:rPr lang="zh-CN" altLang="en-US" sz="1400" b="1" dirty="0"/>
              <a:t>）“一国两制”是人类政治文明史上前无古人的伟大创举</a:t>
            </a:r>
            <a:endParaRPr lang="zh-CN" altLang="en-US" sz="1400" b="1" dirty="0"/>
          </a:p>
          <a:p>
            <a:pPr>
              <a:lnSpc>
                <a:spcPct val="150000"/>
              </a:lnSpc>
            </a:pPr>
            <a:r>
              <a:rPr lang="en-US" altLang="zh-CN" dirty="0" smtClean="0">
                <a:solidFill>
                  <a:srgbClr val="FF0000"/>
                </a:solidFill>
              </a:rPr>
              <a:t>2</a:t>
            </a:r>
            <a:r>
              <a:rPr lang="zh-CN" altLang="en-US" dirty="0" smtClean="0">
                <a:solidFill>
                  <a:srgbClr val="FF0000"/>
                </a:solidFill>
              </a:rPr>
              <a:t>、全面</a:t>
            </a:r>
            <a:r>
              <a:rPr lang="zh-CN" altLang="en-US" dirty="0">
                <a:solidFill>
                  <a:srgbClr val="FF0000"/>
                </a:solidFill>
              </a:rPr>
              <a:t>准确、坚定不移贯彻“一国两制”</a:t>
            </a:r>
            <a:r>
              <a:rPr lang="zh-CN" altLang="en-US" dirty="0" smtClean="0">
                <a:solidFill>
                  <a:srgbClr val="FF0000"/>
                </a:solidFill>
              </a:rPr>
              <a:t>方针</a:t>
            </a:r>
            <a:endParaRPr lang="en-US" altLang="zh-CN" sz="1400" b="1" dirty="0"/>
          </a:p>
          <a:p>
            <a:pPr>
              <a:lnSpc>
                <a:spcPct val="150000"/>
              </a:lnSpc>
            </a:pPr>
            <a:r>
              <a:rPr lang="zh-CN" altLang="en-US" sz="1400" b="1" dirty="0"/>
              <a:t>“一国两制”构想最早是针对台湾问题提出的，首先运用于解决香港和澳门问题。</a:t>
            </a:r>
            <a:endParaRPr lang="zh-CN" altLang="en-US" sz="1400" b="1" dirty="0"/>
          </a:p>
          <a:p>
            <a:pPr>
              <a:lnSpc>
                <a:spcPct val="150000"/>
              </a:lnSpc>
            </a:pPr>
            <a:r>
              <a:rPr lang="en-US" altLang="zh-CN" dirty="0" smtClean="0">
                <a:solidFill>
                  <a:srgbClr val="FF0000"/>
                </a:solidFill>
              </a:rPr>
              <a:t>3</a:t>
            </a:r>
            <a:r>
              <a:rPr lang="zh-CN" altLang="en-US" dirty="0" smtClean="0">
                <a:solidFill>
                  <a:srgbClr val="FF0000"/>
                </a:solidFill>
              </a:rPr>
              <a:t>、“一国两制”</a:t>
            </a:r>
            <a:r>
              <a:rPr lang="zh-CN" altLang="en-US" dirty="0">
                <a:solidFill>
                  <a:srgbClr val="FF0000"/>
                </a:solidFill>
              </a:rPr>
              <a:t>的根本</a:t>
            </a:r>
            <a:r>
              <a:rPr lang="zh-CN" altLang="en-US" dirty="0" smtClean="0">
                <a:solidFill>
                  <a:srgbClr val="FF0000"/>
                </a:solidFill>
              </a:rPr>
              <a:t>宗旨</a:t>
            </a:r>
            <a:endParaRPr lang="en-US" altLang="zh-CN" dirty="0" smtClean="0">
              <a:solidFill>
                <a:srgbClr val="FF0000"/>
              </a:solidFill>
            </a:endParaRPr>
          </a:p>
          <a:p>
            <a:pPr>
              <a:lnSpc>
                <a:spcPct val="150000"/>
              </a:lnSpc>
            </a:pPr>
            <a:r>
              <a:rPr lang="zh-CN" altLang="en-US" sz="1400" b="1" dirty="0" smtClean="0"/>
              <a:t>维护</a:t>
            </a:r>
            <a:r>
              <a:rPr lang="zh-CN" altLang="en-US" sz="1400" b="1" dirty="0"/>
              <a:t>国家主权、安全、发展利益，保持香港、澳门长期繁荣稳定</a:t>
            </a:r>
            <a:r>
              <a:rPr lang="zh-CN" altLang="en-US" sz="1400" b="1" dirty="0" smtClean="0"/>
              <a:t>。</a:t>
            </a:r>
            <a:endParaRPr lang="en-US" altLang="zh-CN" sz="1400" b="1" dirty="0" smtClean="0"/>
          </a:p>
          <a:p>
            <a:pPr>
              <a:lnSpc>
                <a:spcPct val="150000"/>
              </a:lnSpc>
            </a:pPr>
            <a:endParaRPr lang="zh-CN" altLang="en-US" dirty="0">
              <a:solidFill>
                <a:srgbClr val="FF0000"/>
              </a:solidFill>
            </a:endParaRPr>
          </a:p>
        </p:txBody>
      </p:sp>
      <p:sp>
        <p:nvSpPr>
          <p:cNvPr id="3" name="矩形 2"/>
          <p:cNvSpPr/>
          <p:nvPr/>
        </p:nvSpPr>
        <p:spPr>
          <a:xfrm>
            <a:off x="5164112" y="710476"/>
            <a:ext cx="3829986" cy="3739485"/>
          </a:xfrm>
          <a:prstGeom prst="rect">
            <a:avLst/>
          </a:prstGeom>
        </p:spPr>
        <p:txBody>
          <a:bodyPr wrap="square">
            <a:spAutoFit/>
          </a:bodyPr>
          <a:lstStyle/>
          <a:p>
            <a:pPr>
              <a:lnSpc>
                <a:spcPct val="150000"/>
              </a:lnSpc>
            </a:pPr>
            <a:r>
              <a:rPr lang="en-US" altLang="zh-CN" dirty="0">
                <a:solidFill>
                  <a:srgbClr val="FF0000"/>
                </a:solidFill>
              </a:rPr>
              <a:t>4.</a:t>
            </a:r>
            <a:r>
              <a:rPr lang="zh-CN" altLang="en-US" dirty="0">
                <a:solidFill>
                  <a:srgbClr val="FF0000"/>
                </a:solidFill>
              </a:rPr>
              <a:t>新时代党解决台湾问题的总体方略</a:t>
            </a:r>
            <a:endParaRPr lang="en-US" altLang="zh-CN" dirty="0">
              <a:solidFill>
                <a:srgbClr val="FF0000"/>
              </a:solidFill>
            </a:endParaRPr>
          </a:p>
          <a:p>
            <a:pPr>
              <a:lnSpc>
                <a:spcPct val="150000"/>
              </a:lnSpc>
            </a:pPr>
            <a:r>
              <a:rPr lang="zh-CN" altLang="en-US" sz="1400" b="1" dirty="0"/>
              <a:t>坚持党中央对对台工作的集中统一领导</a:t>
            </a:r>
            <a:endParaRPr lang="zh-CN" altLang="en-US" sz="1400" b="1" dirty="0"/>
          </a:p>
          <a:p>
            <a:pPr>
              <a:lnSpc>
                <a:spcPct val="150000"/>
              </a:lnSpc>
            </a:pPr>
            <a:r>
              <a:rPr lang="zh-CN" altLang="en-US" sz="1400" b="1" dirty="0"/>
              <a:t>坚持在中华民族伟大复兴进程中推进祖国统一</a:t>
            </a:r>
            <a:endParaRPr lang="zh-CN" altLang="en-US" sz="1400" b="1" dirty="0"/>
          </a:p>
          <a:p>
            <a:pPr>
              <a:lnSpc>
                <a:spcPct val="150000"/>
              </a:lnSpc>
            </a:pPr>
            <a:r>
              <a:rPr lang="zh-CN" altLang="en-US" sz="1400" b="1" dirty="0"/>
              <a:t>坚持在祖国大陆发展进步基础上解决台湾问题</a:t>
            </a:r>
            <a:endParaRPr lang="zh-CN" altLang="en-US" sz="1400" b="1" dirty="0"/>
          </a:p>
          <a:p>
            <a:pPr>
              <a:lnSpc>
                <a:spcPct val="150000"/>
              </a:lnSpc>
            </a:pPr>
            <a:r>
              <a:rPr lang="zh-CN" altLang="en-US" sz="1400" b="1" dirty="0"/>
              <a:t>坚持“和平统一、一国两制”基本方针</a:t>
            </a:r>
            <a:endParaRPr lang="zh-CN" altLang="en-US" sz="1400" b="1" dirty="0"/>
          </a:p>
          <a:p>
            <a:pPr>
              <a:lnSpc>
                <a:spcPct val="150000"/>
              </a:lnSpc>
            </a:pPr>
            <a:r>
              <a:rPr lang="zh-CN" altLang="en-US" sz="1400" b="1" dirty="0"/>
              <a:t>坚持一个中国原则和“九二共识”</a:t>
            </a:r>
            <a:endParaRPr lang="zh-CN" altLang="en-US" sz="1400" b="1" dirty="0"/>
          </a:p>
          <a:p>
            <a:pPr>
              <a:lnSpc>
                <a:spcPct val="150000"/>
              </a:lnSpc>
            </a:pPr>
            <a:r>
              <a:rPr lang="zh-CN" altLang="en-US" sz="1400" b="1" dirty="0"/>
              <a:t>坚持推动两岸关系和平发展、融合发展</a:t>
            </a:r>
            <a:endParaRPr lang="zh-CN" altLang="en-US" sz="1400" b="1" dirty="0"/>
          </a:p>
          <a:p>
            <a:pPr>
              <a:lnSpc>
                <a:spcPct val="150000"/>
              </a:lnSpc>
            </a:pPr>
            <a:r>
              <a:rPr lang="zh-CN" altLang="en-US" sz="1400" b="1" dirty="0"/>
              <a:t>坚持团结台湾同胞、争取台湾民心</a:t>
            </a:r>
            <a:endParaRPr lang="zh-CN" altLang="en-US" sz="1400" b="1" dirty="0"/>
          </a:p>
          <a:p>
            <a:pPr>
              <a:lnSpc>
                <a:spcPct val="150000"/>
              </a:lnSpc>
            </a:pPr>
            <a:r>
              <a:rPr lang="zh-CN" altLang="en-US" sz="1400" b="1" dirty="0"/>
              <a:t>坚持粉碎“台独”分裂图谋</a:t>
            </a:r>
            <a:endParaRPr lang="zh-CN" altLang="en-US" sz="1400" b="1" dirty="0"/>
          </a:p>
          <a:p>
            <a:pPr>
              <a:lnSpc>
                <a:spcPct val="150000"/>
              </a:lnSpc>
            </a:pPr>
            <a:r>
              <a:rPr lang="zh-CN" altLang="en-US" sz="1400" b="1" dirty="0"/>
              <a:t>坚持反对外部势力干涉</a:t>
            </a:r>
            <a:endParaRPr lang="zh-CN" altLang="en-US" sz="1400" b="1" dirty="0"/>
          </a:p>
          <a:p>
            <a:pPr>
              <a:lnSpc>
                <a:spcPct val="150000"/>
              </a:lnSpc>
            </a:pPr>
            <a:r>
              <a:rPr lang="zh-CN" altLang="en-US" sz="1400" b="1" dirty="0"/>
              <a:t>坚持决不承诺放弃使用武力</a:t>
            </a:r>
            <a:endParaRPr lang="zh-CN" altLang="en-US" sz="1400"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1024833"/>
          </a:xfrm>
        </p:spPr>
        <p:txBody>
          <a:bodyPr/>
          <a:lstStyle/>
          <a:p>
            <a:r>
              <a:rPr lang="zh-CN" altLang="en-US" sz="2800" dirty="0"/>
              <a:t>二、难点：</a:t>
            </a:r>
            <a:endParaRPr lang="zh-CN" altLang="en-US" sz="2800" dirty="0"/>
          </a:p>
          <a:p>
            <a:endParaRPr lang="zh-CN" altLang="en-US" dirty="0"/>
          </a:p>
        </p:txBody>
      </p:sp>
      <p:sp>
        <p:nvSpPr>
          <p:cNvPr id="5" name="矩形 4"/>
          <p:cNvSpPr/>
          <p:nvPr/>
        </p:nvSpPr>
        <p:spPr>
          <a:xfrm>
            <a:off x="104932" y="568942"/>
            <a:ext cx="8679304" cy="3570208"/>
          </a:xfrm>
          <a:prstGeom prst="rect">
            <a:avLst/>
          </a:prstGeom>
        </p:spPr>
        <p:txBody>
          <a:bodyPr wrap="square">
            <a:spAutoFit/>
          </a:bodyPr>
          <a:lstStyle/>
          <a:p>
            <a:pPr indent="457200"/>
            <a:r>
              <a:rPr lang="en-US" altLang="zh-CN" sz="2000" dirty="0">
                <a:solidFill>
                  <a:srgbClr val="FF0000"/>
                </a:solidFill>
              </a:rPr>
              <a:t>1</a:t>
            </a:r>
            <a:r>
              <a:rPr lang="zh-CN" altLang="en-US" sz="2000" dirty="0">
                <a:solidFill>
                  <a:srgbClr val="FF0000"/>
                </a:solidFill>
              </a:rPr>
              <a:t>、</a:t>
            </a:r>
            <a:r>
              <a:rPr lang="zh-CN" altLang="en-US" sz="2000" dirty="0" smtClean="0">
                <a:solidFill>
                  <a:srgbClr val="FF0000"/>
                </a:solidFill>
              </a:rPr>
              <a:t>如何准确</a:t>
            </a:r>
            <a:r>
              <a:rPr lang="zh-CN" altLang="en-US" sz="2000" dirty="0">
                <a:solidFill>
                  <a:srgbClr val="FF0000"/>
                </a:solidFill>
              </a:rPr>
              <a:t>把握“一国”和“两制”的关系</a:t>
            </a:r>
            <a:endParaRPr lang="zh-CN" altLang="en-US" sz="2000" dirty="0">
              <a:solidFill>
                <a:srgbClr val="FF0000"/>
              </a:solidFill>
            </a:endParaRPr>
          </a:p>
          <a:p>
            <a:pPr indent="457200"/>
            <a:r>
              <a:rPr lang="zh-CN" altLang="en-US" sz="3200" dirty="0"/>
              <a:t>“一国”是实行“两制”的前提和基础，“两制”从属和派生于“一国”，并统一于“一国”之内。“一国”是根，根深才能叶茂； “一国”是本，本固才能枝荣。“一国两制”的提出首先是为了实现和维护国家统一。</a:t>
            </a:r>
            <a:endParaRPr lang="zh-CN" altLang="en-US" sz="3200" dirty="0"/>
          </a:p>
          <a:p>
            <a:pPr indent="457200"/>
            <a:endParaRPr lang="zh-CN" altLang="en-US" sz="1400" dirty="0"/>
          </a:p>
          <a:p>
            <a:pPr indent="457200"/>
            <a:endParaRPr lang="zh-CN" altLang="en-US" sz="1600" dirty="0"/>
          </a:p>
          <a:p>
            <a:pPr indent="457200"/>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4951" y="66888"/>
            <a:ext cx="9098024" cy="599396"/>
          </a:xfrm>
        </p:spPr>
        <p:txBody>
          <a:bodyPr/>
          <a:lstStyle/>
          <a:p>
            <a:pPr algn="ctr"/>
            <a:r>
              <a:rPr lang="zh-CN" altLang="en-US" sz="2800" dirty="0" smtClean="0"/>
              <a:t>第十六</a:t>
            </a:r>
            <a:r>
              <a:rPr lang="zh-CN" altLang="en-US" sz="2800" dirty="0"/>
              <a:t>讲：推动构建人类命运共同体</a:t>
            </a:r>
            <a:endParaRPr lang="zh-CN" altLang="en-US" sz="2800" dirty="0"/>
          </a:p>
        </p:txBody>
      </p:sp>
      <p:sp>
        <p:nvSpPr>
          <p:cNvPr id="4" name="TextBox 3"/>
          <p:cNvSpPr txBox="1"/>
          <p:nvPr/>
        </p:nvSpPr>
        <p:spPr>
          <a:xfrm>
            <a:off x="256843" y="666284"/>
            <a:ext cx="4367624" cy="1938992"/>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marL="342900" indent="-342900">
              <a:lnSpc>
                <a:spcPct val="150000"/>
              </a:lnSpc>
              <a:buAutoNum type="arabicPeriod"/>
            </a:pPr>
            <a:r>
              <a:rPr lang="zh-CN" altLang="en-US" dirty="0" smtClean="0">
                <a:solidFill>
                  <a:srgbClr val="FF0000"/>
                </a:solidFill>
              </a:rPr>
              <a:t>人类</a:t>
            </a:r>
            <a:r>
              <a:rPr lang="zh-CN" altLang="en-US" dirty="0">
                <a:solidFill>
                  <a:srgbClr val="FF0000"/>
                </a:solidFill>
              </a:rPr>
              <a:t>是不可分割的有机</a:t>
            </a:r>
            <a:r>
              <a:rPr lang="zh-CN" altLang="en-US" dirty="0" smtClean="0">
                <a:solidFill>
                  <a:srgbClr val="FF0000"/>
                </a:solidFill>
              </a:rPr>
              <a:t>整体</a:t>
            </a:r>
            <a:endParaRPr lang="en-US" altLang="zh-CN" dirty="0" smtClean="0">
              <a:solidFill>
                <a:srgbClr val="FF0000"/>
              </a:solidFill>
            </a:endParaRPr>
          </a:p>
          <a:p>
            <a:pPr marL="342900" indent="-342900">
              <a:lnSpc>
                <a:spcPct val="150000"/>
              </a:lnSpc>
              <a:buAutoNum type="arabicPeriod"/>
            </a:pPr>
            <a:r>
              <a:rPr lang="zh-CN" altLang="en-US" dirty="0">
                <a:solidFill>
                  <a:srgbClr val="FF0000"/>
                </a:solidFill>
              </a:rPr>
              <a:t>当今世界面临的挑战</a:t>
            </a:r>
            <a:endParaRPr lang="zh-CN" altLang="en-US" dirty="0">
              <a:solidFill>
                <a:srgbClr val="FF0000"/>
              </a:solidFill>
            </a:endParaRPr>
          </a:p>
          <a:p>
            <a:r>
              <a:rPr lang="en-US" altLang="zh-CN" dirty="0" smtClean="0">
                <a:solidFill>
                  <a:srgbClr val="FF0000"/>
                </a:solidFill>
              </a:rPr>
              <a:t>3.</a:t>
            </a:r>
            <a:r>
              <a:rPr lang="zh-CN" altLang="en-US" dirty="0">
                <a:solidFill>
                  <a:srgbClr val="FF0000"/>
                </a:solidFill>
              </a:rPr>
              <a:t>人类命运共同体的</a:t>
            </a:r>
            <a:r>
              <a:rPr lang="zh-CN" altLang="en-US" dirty="0" smtClean="0">
                <a:solidFill>
                  <a:srgbClr val="FF0000"/>
                </a:solidFill>
              </a:rPr>
              <a:t>含义</a:t>
            </a:r>
            <a:endParaRPr lang="en-US" altLang="zh-CN" dirty="0" smtClean="0">
              <a:solidFill>
                <a:srgbClr val="FF0000"/>
              </a:solidFill>
            </a:endParaRPr>
          </a:p>
          <a:p>
            <a:r>
              <a:rPr lang="en-US" altLang="zh-CN" dirty="0" smtClean="0">
                <a:solidFill>
                  <a:srgbClr val="FF0000"/>
                </a:solidFill>
              </a:rPr>
              <a:t>4.</a:t>
            </a:r>
            <a:r>
              <a:rPr lang="zh-CN" altLang="en-US" dirty="0">
                <a:solidFill>
                  <a:srgbClr val="FF0000"/>
                </a:solidFill>
              </a:rPr>
              <a:t> </a:t>
            </a:r>
            <a:r>
              <a:rPr lang="zh-CN" altLang="en-US" dirty="0" smtClean="0">
                <a:solidFill>
                  <a:srgbClr val="FF0000"/>
                </a:solidFill>
              </a:rPr>
              <a:t>人类</a:t>
            </a:r>
            <a:r>
              <a:rPr lang="zh-CN" altLang="en-US" dirty="0">
                <a:solidFill>
                  <a:srgbClr val="FF0000"/>
                </a:solidFill>
              </a:rPr>
              <a:t>命运共同体的提出</a:t>
            </a:r>
            <a:endParaRPr lang="zh-CN" altLang="en-US" dirty="0">
              <a:solidFill>
                <a:srgbClr val="FF0000"/>
              </a:solidFill>
            </a:endParaRPr>
          </a:p>
        </p:txBody>
      </p:sp>
      <p:sp>
        <p:nvSpPr>
          <p:cNvPr id="5" name="矩形 4"/>
          <p:cNvSpPr/>
          <p:nvPr/>
        </p:nvSpPr>
        <p:spPr>
          <a:xfrm>
            <a:off x="4623963" y="757848"/>
            <a:ext cx="4437591" cy="1015663"/>
          </a:xfrm>
          <a:prstGeom prst="rect">
            <a:avLst/>
          </a:prstGeom>
        </p:spPr>
        <p:txBody>
          <a:bodyPr wrap="square">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a:solidFill>
                  <a:srgbClr val="FF0000"/>
                </a:solidFill>
              </a:rPr>
              <a:t>、如何理解人类命运共同体的内涵？ </a:t>
            </a: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4951" y="66888"/>
            <a:ext cx="9098024" cy="599396"/>
          </a:xfrm>
        </p:spPr>
        <p:txBody>
          <a:bodyPr/>
          <a:lstStyle/>
          <a:p>
            <a:pPr algn="ctr"/>
            <a:r>
              <a:rPr lang="zh-CN" altLang="en-US" sz="2800" dirty="0" smtClean="0"/>
              <a:t>第十六</a:t>
            </a:r>
            <a:r>
              <a:rPr lang="zh-CN" altLang="en-US" sz="2800" dirty="0"/>
              <a:t>讲：推动构建人类命运共同体</a:t>
            </a:r>
            <a:endParaRPr lang="zh-CN" altLang="en-US" sz="2800" dirty="0"/>
          </a:p>
        </p:txBody>
      </p:sp>
      <p:sp>
        <p:nvSpPr>
          <p:cNvPr id="4" name="TextBox 3"/>
          <p:cNvSpPr txBox="1"/>
          <p:nvPr/>
        </p:nvSpPr>
        <p:spPr>
          <a:xfrm>
            <a:off x="256843" y="666284"/>
            <a:ext cx="4367624" cy="4062651"/>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a:lnSpc>
                <a:spcPct val="150000"/>
              </a:lnSpc>
            </a:pPr>
            <a:r>
              <a:rPr lang="en-US" altLang="zh-CN" dirty="0">
                <a:solidFill>
                  <a:srgbClr val="FF0000"/>
                </a:solidFill>
              </a:rPr>
              <a:t>1</a:t>
            </a:r>
            <a:r>
              <a:rPr lang="en-US" altLang="zh-CN" dirty="0" smtClean="0">
                <a:solidFill>
                  <a:srgbClr val="FF0000"/>
                </a:solidFill>
              </a:rPr>
              <a:t>.</a:t>
            </a:r>
            <a:r>
              <a:rPr lang="zh-CN" altLang="en-US" dirty="0">
                <a:solidFill>
                  <a:srgbClr val="FF0000"/>
                </a:solidFill>
              </a:rPr>
              <a:t>人类是不可分割的有机整体</a:t>
            </a:r>
            <a:endParaRPr lang="zh-CN" altLang="en-US" dirty="0">
              <a:solidFill>
                <a:srgbClr val="FF0000"/>
              </a:solidFill>
            </a:endParaRPr>
          </a:p>
          <a:p>
            <a:pPr>
              <a:lnSpc>
                <a:spcPct val="150000"/>
              </a:lnSpc>
            </a:pPr>
            <a:r>
              <a:rPr lang="zh-CN" altLang="en-US" sz="1400" b="1" dirty="0"/>
              <a:t>（</a:t>
            </a:r>
            <a:r>
              <a:rPr lang="en-US" altLang="zh-CN" sz="1400" b="1" dirty="0"/>
              <a:t>1</a:t>
            </a:r>
            <a:r>
              <a:rPr lang="zh-CN" altLang="en-US" sz="1400" b="1" dirty="0"/>
              <a:t>）历史逻辑：人类历史在不同民族、不同文化的相遇相知中向前发展</a:t>
            </a:r>
            <a:endParaRPr lang="zh-CN" altLang="en-US" sz="1400" b="1" dirty="0"/>
          </a:p>
          <a:p>
            <a:pPr>
              <a:lnSpc>
                <a:spcPct val="150000"/>
              </a:lnSpc>
            </a:pPr>
            <a:r>
              <a:rPr lang="zh-CN" altLang="en-US" sz="1400" b="1" dirty="0"/>
              <a:t>（</a:t>
            </a:r>
            <a:r>
              <a:rPr lang="en-US" altLang="zh-CN" sz="1400" b="1" dirty="0"/>
              <a:t>2</a:t>
            </a:r>
            <a:r>
              <a:rPr lang="zh-CN" altLang="en-US" sz="1400" b="1" dirty="0"/>
              <a:t>）时代潮流：相互联系、相互依存是世界历史发展的时代潮流</a:t>
            </a:r>
            <a:endParaRPr lang="zh-CN" altLang="en-US" sz="1400" b="1" dirty="0"/>
          </a:p>
          <a:p>
            <a:pPr>
              <a:lnSpc>
                <a:spcPct val="150000"/>
              </a:lnSpc>
            </a:pPr>
            <a:r>
              <a:rPr lang="zh-CN" altLang="en-US" sz="1400" b="1" dirty="0"/>
              <a:t>（</a:t>
            </a:r>
            <a:r>
              <a:rPr lang="en-US" altLang="zh-CN" sz="1400" b="1" dirty="0"/>
              <a:t>3</a:t>
            </a:r>
            <a:r>
              <a:rPr lang="zh-CN" altLang="en-US" sz="1400" b="1" dirty="0"/>
              <a:t>）现实需要：解决全球性问题和挑战需要世界各国同舟共济、协调</a:t>
            </a:r>
            <a:r>
              <a:rPr lang="zh-CN" altLang="en-US" sz="1400" b="1" dirty="0" smtClean="0"/>
              <a:t>行动</a:t>
            </a:r>
            <a:endParaRPr lang="zh-CN" altLang="en-US" dirty="0">
              <a:solidFill>
                <a:srgbClr val="FF0000"/>
              </a:solidFill>
            </a:endParaRPr>
          </a:p>
          <a:p>
            <a:pPr>
              <a:lnSpc>
                <a:spcPct val="150000"/>
              </a:lnSpc>
            </a:pPr>
            <a:r>
              <a:rPr lang="en-US" altLang="zh-CN" dirty="0" smtClean="0">
                <a:solidFill>
                  <a:srgbClr val="FF0000"/>
                </a:solidFill>
              </a:rPr>
              <a:t>2</a:t>
            </a:r>
            <a:r>
              <a:rPr lang="zh-CN" altLang="en-US" dirty="0">
                <a:solidFill>
                  <a:srgbClr val="FF0000"/>
                </a:solidFill>
              </a:rPr>
              <a:t>、</a:t>
            </a:r>
            <a:r>
              <a:rPr lang="zh-CN" altLang="en-US" dirty="0" smtClean="0">
                <a:solidFill>
                  <a:srgbClr val="FF0000"/>
                </a:solidFill>
              </a:rPr>
              <a:t>当今</a:t>
            </a:r>
            <a:r>
              <a:rPr lang="zh-CN" altLang="en-US" dirty="0">
                <a:solidFill>
                  <a:srgbClr val="FF0000"/>
                </a:solidFill>
              </a:rPr>
              <a:t>世界面临的</a:t>
            </a:r>
            <a:r>
              <a:rPr lang="zh-CN" altLang="en-US" dirty="0" smtClean="0">
                <a:solidFill>
                  <a:srgbClr val="FF0000"/>
                </a:solidFill>
              </a:rPr>
              <a:t>挑战</a:t>
            </a:r>
            <a:endParaRPr lang="en-US" altLang="zh-CN" dirty="0" smtClean="0">
              <a:solidFill>
                <a:srgbClr val="FF0000"/>
              </a:solidFill>
            </a:endParaRPr>
          </a:p>
          <a:p>
            <a:pPr>
              <a:lnSpc>
                <a:spcPct val="150000"/>
              </a:lnSpc>
            </a:pPr>
            <a:r>
              <a:rPr lang="zh-CN" altLang="en-US" sz="1400" b="1" dirty="0"/>
              <a:t>和平赤字、发展赤字、安全赤字、治理赤字</a:t>
            </a:r>
            <a:endParaRPr lang="zh-CN" altLang="en-US" sz="1400" b="1" dirty="0"/>
          </a:p>
          <a:p>
            <a:pPr>
              <a:lnSpc>
                <a:spcPct val="150000"/>
              </a:lnSpc>
            </a:pPr>
            <a:endParaRPr lang="zh-CN" altLang="en-US" dirty="0">
              <a:solidFill>
                <a:srgbClr val="FF0000"/>
              </a:solidFill>
            </a:endParaRPr>
          </a:p>
        </p:txBody>
      </p:sp>
      <p:sp>
        <p:nvSpPr>
          <p:cNvPr id="3" name="矩形 2"/>
          <p:cNvSpPr/>
          <p:nvPr/>
        </p:nvSpPr>
        <p:spPr>
          <a:xfrm>
            <a:off x="4482059" y="810896"/>
            <a:ext cx="4572000" cy="4308872"/>
          </a:xfrm>
          <a:prstGeom prst="rect">
            <a:avLst/>
          </a:prstGeom>
        </p:spPr>
        <p:txBody>
          <a:bodyPr>
            <a:spAutoFit/>
          </a:bodyPr>
          <a:lstStyle/>
          <a:p>
            <a:r>
              <a:rPr lang="en-US" altLang="zh-CN" dirty="0">
                <a:solidFill>
                  <a:srgbClr val="FF0000"/>
                </a:solidFill>
              </a:rPr>
              <a:t>3.</a:t>
            </a:r>
            <a:r>
              <a:rPr lang="zh-CN" altLang="en-US" dirty="0">
                <a:solidFill>
                  <a:srgbClr val="FF0000"/>
                </a:solidFill>
              </a:rPr>
              <a:t>人类命运共同体的含义</a:t>
            </a:r>
            <a:endParaRPr lang="zh-CN" altLang="en-US" dirty="0">
              <a:solidFill>
                <a:srgbClr val="FF0000"/>
              </a:solidFill>
            </a:endParaRPr>
          </a:p>
          <a:p>
            <a:r>
              <a:rPr lang="zh-CN" altLang="en-US" sz="1400" b="1" dirty="0"/>
              <a:t>人类命运共同体，顾名思义，就是每个民族、每个国家的前途命运都紧紧联系在一起，应该风雨同舟，荣辱与共，努力把我们生于斯、长于斯的这个星球建成一个和睦的大家庭，把世界各国人民对美好生活的向往变成现实。</a:t>
            </a:r>
            <a:endParaRPr lang="en-US" altLang="zh-CN" sz="1400" b="1" dirty="0"/>
          </a:p>
          <a:p>
            <a:r>
              <a:rPr lang="en-US" altLang="zh-CN" dirty="0">
                <a:solidFill>
                  <a:srgbClr val="FF0000"/>
                </a:solidFill>
              </a:rPr>
              <a:t>4.</a:t>
            </a:r>
            <a:r>
              <a:rPr lang="zh-CN" altLang="en-US" dirty="0">
                <a:solidFill>
                  <a:srgbClr val="FF0000"/>
                </a:solidFill>
              </a:rPr>
              <a:t>人类命运共同体的提出</a:t>
            </a:r>
            <a:endParaRPr lang="zh-CN" altLang="en-US" dirty="0">
              <a:solidFill>
                <a:srgbClr val="FF0000"/>
              </a:solidFill>
            </a:endParaRPr>
          </a:p>
          <a:p>
            <a:r>
              <a:rPr lang="zh-CN" altLang="en-US" sz="1400" b="1" dirty="0"/>
              <a:t>（</a:t>
            </a:r>
            <a:r>
              <a:rPr lang="en-US" altLang="zh-CN" sz="1400" b="1" dirty="0"/>
              <a:t>1</a:t>
            </a:r>
            <a:r>
              <a:rPr lang="zh-CN" altLang="en-US" sz="1400" b="1" dirty="0"/>
              <a:t>）</a:t>
            </a:r>
            <a:r>
              <a:rPr lang="en-US" altLang="zh-CN" sz="1400" b="1" dirty="0"/>
              <a:t>2013</a:t>
            </a:r>
            <a:r>
              <a:rPr lang="zh-CN" altLang="en-US" sz="1400" b="1" dirty="0"/>
              <a:t>年</a:t>
            </a:r>
            <a:r>
              <a:rPr lang="en-US" altLang="zh-CN" sz="1400" b="1" dirty="0"/>
              <a:t>3</a:t>
            </a:r>
            <a:r>
              <a:rPr lang="zh-CN" altLang="en-US" sz="1400" b="1" dirty="0"/>
              <a:t>月，习近平在莫斯科国际关系学院发表题为</a:t>
            </a:r>
            <a:r>
              <a:rPr lang="en-US" altLang="zh-CN" sz="1400" b="1" dirty="0"/>
              <a:t>《</a:t>
            </a:r>
            <a:r>
              <a:rPr lang="zh-CN" altLang="en-US" sz="1400" b="1" dirty="0"/>
              <a:t>顺应时代前进潮流 促进世界和平发展</a:t>
            </a:r>
            <a:r>
              <a:rPr lang="en-US" altLang="zh-CN" sz="1400" b="1" dirty="0"/>
              <a:t>》</a:t>
            </a:r>
            <a:r>
              <a:rPr lang="zh-CN" altLang="en-US" sz="1400" b="1" dirty="0"/>
              <a:t>的演讲，指出这个世界越来越成为你中有我、我中有你的命运共同体，和平、发展、合作、共赢成为时代潮流。</a:t>
            </a:r>
            <a:endParaRPr lang="zh-CN" altLang="en-US" sz="1400" b="1" dirty="0"/>
          </a:p>
          <a:p>
            <a:r>
              <a:rPr lang="zh-CN" altLang="en-US" sz="1400" b="1" dirty="0"/>
              <a:t>（</a:t>
            </a:r>
            <a:r>
              <a:rPr lang="en-US" altLang="zh-CN" sz="1400" b="1" dirty="0"/>
              <a:t>2</a:t>
            </a:r>
            <a:r>
              <a:rPr lang="zh-CN" altLang="en-US" sz="1400" b="1" dirty="0"/>
              <a:t>）</a:t>
            </a:r>
            <a:r>
              <a:rPr lang="en-US" altLang="zh-CN" sz="1400" b="1" dirty="0"/>
              <a:t>2015</a:t>
            </a:r>
            <a:r>
              <a:rPr lang="zh-CN" altLang="en-US" sz="1400" b="1" dirty="0"/>
              <a:t>年</a:t>
            </a:r>
            <a:r>
              <a:rPr lang="en-US" altLang="zh-CN" sz="1400" b="1" dirty="0"/>
              <a:t>9</a:t>
            </a:r>
            <a:r>
              <a:rPr lang="zh-CN" altLang="en-US" sz="1400" b="1" dirty="0"/>
              <a:t>月</a:t>
            </a:r>
            <a:r>
              <a:rPr lang="en-US" altLang="zh-CN" sz="1400" b="1" dirty="0"/>
              <a:t>28</a:t>
            </a:r>
            <a:r>
              <a:rPr lang="zh-CN" altLang="en-US" sz="1400" b="1" dirty="0"/>
              <a:t>日，国家主席习近平在纽约联合国总部出席第</a:t>
            </a:r>
            <a:r>
              <a:rPr lang="en-US" altLang="zh-CN" sz="1400" b="1" dirty="0"/>
              <a:t>70</a:t>
            </a:r>
            <a:r>
              <a:rPr lang="zh-CN" altLang="en-US" sz="1400" b="1" dirty="0"/>
              <a:t>届联合国大会一般性辩论并发表题为</a:t>
            </a:r>
            <a:r>
              <a:rPr lang="en-US" altLang="zh-CN" sz="1400" b="1" dirty="0"/>
              <a:t>《</a:t>
            </a:r>
            <a:r>
              <a:rPr lang="zh-CN" altLang="en-US" sz="1400" b="1" dirty="0"/>
              <a:t>携手构建合作共赢新伙伴 同心打造人类命运共同体</a:t>
            </a:r>
            <a:r>
              <a:rPr lang="en-US" altLang="zh-CN" sz="1400" b="1" dirty="0"/>
              <a:t>》</a:t>
            </a:r>
            <a:r>
              <a:rPr lang="zh-CN" altLang="en-US" sz="1400" b="1" dirty="0"/>
              <a:t>的重要讲话：“习近平指出，站在新的历史起点上，联合国需要深入思考如何在</a:t>
            </a:r>
            <a:r>
              <a:rPr lang="en-US" altLang="zh-CN" sz="1400" b="1" dirty="0"/>
              <a:t>21</a:t>
            </a:r>
            <a:r>
              <a:rPr lang="zh-CN" altLang="en-US" sz="1400" b="1" dirty="0"/>
              <a:t>世纪更好回答世界和平与发展这一重大课题。当今世界，各国相互依存、休戚与共。我们要继承和弘扬联合国宪章的宗旨和原则，构建以合作共赢为核心的新型国际关系，打造人类命运共同体</a:t>
            </a:r>
            <a:r>
              <a:rPr lang="zh-CN" altLang="en-US" sz="1400" b="1" dirty="0" smtClean="0"/>
              <a:t>。”</a:t>
            </a:r>
            <a:endParaRPr lang="zh-CN" altLang="en-US" sz="1400"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1024833"/>
          </a:xfrm>
        </p:spPr>
        <p:txBody>
          <a:bodyPr/>
          <a:lstStyle/>
          <a:p>
            <a:r>
              <a:rPr lang="zh-CN" altLang="en-US" sz="2800" dirty="0"/>
              <a:t>二、难点：</a:t>
            </a:r>
            <a:endParaRPr lang="zh-CN" altLang="en-US" sz="2800" dirty="0"/>
          </a:p>
          <a:p>
            <a:endParaRPr lang="zh-CN" altLang="en-US" dirty="0"/>
          </a:p>
        </p:txBody>
      </p:sp>
      <p:sp>
        <p:nvSpPr>
          <p:cNvPr id="5" name="矩形 4"/>
          <p:cNvSpPr/>
          <p:nvPr/>
        </p:nvSpPr>
        <p:spPr>
          <a:xfrm>
            <a:off x="104932" y="568942"/>
            <a:ext cx="8679304" cy="3231654"/>
          </a:xfrm>
          <a:prstGeom prst="rect">
            <a:avLst/>
          </a:prstGeom>
        </p:spPr>
        <p:txBody>
          <a:bodyPr wrap="square">
            <a:spAutoFit/>
          </a:bodyPr>
          <a:lstStyle/>
          <a:p>
            <a:pPr indent="457200"/>
            <a:r>
              <a:rPr lang="en-US" altLang="zh-CN" sz="2000" dirty="0">
                <a:solidFill>
                  <a:srgbClr val="FF0000"/>
                </a:solidFill>
              </a:rPr>
              <a:t>1</a:t>
            </a:r>
            <a:r>
              <a:rPr lang="zh-CN" altLang="en-US" sz="2000" dirty="0">
                <a:solidFill>
                  <a:srgbClr val="FF0000"/>
                </a:solidFill>
              </a:rPr>
              <a:t>、如何理解人类命运共同体的内涵？ </a:t>
            </a:r>
            <a:endParaRPr lang="en-US" altLang="zh-CN" sz="2000" dirty="0" smtClean="0">
              <a:solidFill>
                <a:srgbClr val="FF0000"/>
              </a:solidFill>
            </a:endParaRPr>
          </a:p>
          <a:p>
            <a:pPr indent="457200"/>
            <a:r>
              <a:rPr lang="zh-CN" altLang="en-US" sz="2400" dirty="0" smtClean="0"/>
              <a:t>（</a:t>
            </a:r>
            <a:r>
              <a:rPr lang="en-US" altLang="zh-CN" sz="2400" dirty="0" smtClean="0"/>
              <a:t>1</a:t>
            </a:r>
            <a:r>
              <a:rPr lang="zh-CN" altLang="en-US" sz="2400" dirty="0" smtClean="0"/>
              <a:t>）人类</a:t>
            </a:r>
            <a:r>
              <a:rPr lang="zh-CN" altLang="en-US" sz="2400" dirty="0"/>
              <a:t>生活在同一个地球村，生活在历史和现实交汇的同一个时空，越来越成为你中有我，我中有你的命运共同体。构建人类命运共同体是为解决世界之问、人类之问、时代之问而提出的中国方案，需要国际社会从伙伴关系、安全格局、经济发展、文明交流、生态建设等方面作出努力</a:t>
            </a:r>
            <a:r>
              <a:rPr lang="zh-CN" altLang="en-US" sz="2400" dirty="0" smtClean="0"/>
              <a:t>。</a:t>
            </a:r>
            <a:endParaRPr lang="en-US" altLang="zh-CN" sz="2400" dirty="0" smtClean="0"/>
          </a:p>
          <a:p>
            <a:pPr indent="457200"/>
            <a:r>
              <a:rPr lang="zh-CN" altLang="en-US" sz="2400" dirty="0" smtClean="0"/>
              <a:t>（</a:t>
            </a:r>
            <a:r>
              <a:rPr lang="en-US" altLang="zh-CN" sz="2400" dirty="0" smtClean="0"/>
              <a:t>2</a:t>
            </a:r>
            <a:r>
              <a:rPr lang="zh-CN" altLang="en-US" sz="2400" dirty="0"/>
              <a:t>）构建人类命运共同体，建设持久和平、普遍安全、共同繁荣、开放包容、清洁美丽的世界。</a:t>
            </a:r>
            <a:endParaRPr lang="zh-CN" altLang="en-US" sz="2400" dirty="0"/>
          </a:p>
          <a:p>
            <a:pPr indent="457200"/>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4951" y="66888"/>
            <a:ext cx="9098024" cy="599396"/>
          </a:xfrm>
        </p:spPr>
        <p:txBody>
          <a:bodyPr/>
          <a:lstStyle/>
          <a:p>
            <a:pPr algn="ctr"/>
            <a:r>
              <a:rPr lang="zh-CN" altLang="en-US" sz="2800" dirty="0" smtClean="0"/>
              <a:t>第十七</a:t>
            </a:r>
            <a:r>
              <a:rPr lang="zh-CN" altLang="en-US" sz="2800" dirty="0"/>
              <a:t>讲：全面从严治党</a:t>
            </a:r>
            <a:endParaRPr lang="zh-CN" altLang="en-US" sz="2800" dirty="0"/>
          </a:p>
        </p:txBody>
      </p:sp>
      <p:sp>
        <p:nvSpPr>
          <p:cNvPr id="4" name="TextBox 3"/>
          <p:cNvSpPr txBox="1"/>
          <p:nvPr/>
        </p:nvSpPr>
        <p:spPr>
          <a:xfrm>
            <a:off x="256843" y="666284"/>
            <a:ext cx="4367624" cy="4293483"/>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marL="342900" indent="-342900">
              <a:lnSpc>
                <a:spcPct val="150000"/>
              </a:lnSpc>
              <a:buAutoNum type="arabicPeriod"/>
            </a:pPr>
            <a:r>
              <a:rPr lang="zh-CN" altLang="en-US" dirty="0" smtClean="0">
                <a:solidFill>
                  <a:srgbClr val="FF0000"/>
                </a:solidFill>
              </a:rPr>
              <a:t>为什么</a:t>
            </a:r>
            <a:r>
              <a:rPr lang="zh-CN" altLang="en-US" dirty="0">
                <a:solidFill>
                  <a:srgbClr val="FF0000"/>
                </a:solidFill>
              </a:rPr>
              <a:t>要全面从严治党</a:t>
            </a:r>
            <a:endParaRPr lang="zh-CN" altLang="en-US" dirty="0">
              <a:solidFill>
                <a:srgbClr val="FF0000"/>
              </a:solidFill>
            </a:endParaRPr>
          </a:p>
          <a:p>
            <a:pPr marL="342900" indent="-342900">
              <a:lnSpc>
                <a:spcPct val="150000"/>
              </a:lnSpc>
              <a:buAutoNum type="arabicPeriod"/>
            </a:pPr>
            <a:r>
              <a:rPr lang="en-US" altLang="zh-CN" dirty="0" smtClean="0">
                <a:solidFill>
                  <a:srgbClr val="FF0000"/>
                </a:solidFill>
              </a:rPr>
              <a:t>“</a:t>
            </a:r>
            <a:r>
              <a:rPr lang="zh-CN" altLang="en-US" dirty="0">
                <a:solidFill>
                  <a:srgbClr val="FF0000"/>
                </a:solidFill>
              </a:rPr>
              <a:t>四大考验”“四种危险”</a:t>
            </a:r>
            <a:endParaRPr lang="zh-CN" altLang="en-US" dirty="0">
              <a:solidFill>
                <a:srgbClr val="FF0000"/>
              </a:solidFill>
            </a:endParaRPr>
          </a:p>
          <a:p>
            <a:pPr marL="342900" indent="-342900">
              <a:lnSpc>
                <a:spcPct val="150000"/>
              </a:lnSpc>
              <a:buAutoNum type="arabicPeriod"/>
            </a:pPr>
            <a:r>
              <a:rPr lang="zh-CN" altLang="en-US" dirty="0" smtClean="0">
                <a:solidFill>
                  <a:srgbClr val="FF0000"/>
                </a:solidFill>
              </a:rPr>
              <a:t>党内</a:t>
            </a:r>
            <a:r>
              <a:rPr lang="zh-CN" altLang="en-US" dirty="0">
                <a:solidFill>
                  <a:srgbClr val="FF0000"/>
                </a:solidFill>
              </a:rPr>
              <a:t>出现管党不力、治党不严的问题（七个有之）</a:t>
            </a:r>
            <a:endParaRPr lang="zh-CN" altLang="en-US" dirty="0">
              <a:solidFill>
                <a:srgbClr val="FF0000"/>
              </a:solidFill>
            </a:endParaRPr>
          </a:p>
          <a:p>
            <a:pPr marL="342900" indent="-342900">
              <a:lnSpc>
                <a:spcPct val="150000"/>
              </a:lnSpc>
              <a:buAutoNum type="arabicPeriod"/>
            </a:pPr>
            <a:r>
              <a:rPr lang="zh-CN" altLang="en-US" dirty="0" smtClean="0">
                <a:solidFill>
                  <a:srgbClr val="FF0000"/>
                </a:solidFill>
              </a:rPr>
              <a:t>如何</a:t>
            </a:r>
            <a:r>
              <a:rPr lang="zh-CN" altLang="en-US" dirty="0">
                <a:solidFill>
                  <a:srgbClr val="FF0000"/>
                </a:solidFill>
              </a:rPr>
              <a:t>坚持和加强党的全面</a:t>
            </a:r>
            <a:r>
              <a:rPr lang="zh-CN" altLang="en-US" dirty="0" smtClean="0">
                <a:solidFill>
                  <a:srgbClr val="FF0000"/>
                </a:solidFill>
              </a:rPr>
              <a:t>领导</a:t>
            </a:r>
            <a:endParaRPr lang="en-US" altLang="zh-CN" dirty="0" smtClean="0">
              <a:solidFill>
                <a:srgbClr val="FF0000"/>
              </a:solidFill>
            </a:endParaRPr>
          </a:p>
          <a:p>
            <a:pPr marL="342900" indent="-342900">
              <a:lnSpc>
                <a:spcPct val="150000"/>
              </a:lnSpc>
              <a:buAutoNum type="arabicPeriod"/>
            </a:pPr>
            <a:r>
              <a:rPr lang="zh-CN" altLang="en-US" dirty="0" smtClean="0">
                <a:solidFill>
                  <a:srgbClr val="FF0000"/>
                </a:solidFill>
              </a:rPr>
              <a:t>如何</a:t>
            </a:r>
            <a:r>
              <a:rPr lang="zh-CN" altLang="en-US" dirty="0">
                <a:solidFill>
                  <a:srgbClr val="FF0000"/>
                </a:solidFill>
              </a:rPr>
              <a:t>跳出治乱兴衰的历史周期率</a:t>
            </a:r>
            <a:r>
              <a:rPr lang="zh-CN" altLang="en-US" dirty="0" smtClean="0">
                <a:solidFill>
                  <a:srgbClr val="FF0000"/>
                </a:solidFill>
              </a:rPr>
              <a:t>？</a:t>
            </a:r>
            <a:endParaRPr lang="en-US" altLang="zh-CN" dirty="0" smtClean="0">
              <a:solidFill>
                <a:srgbClr val="FF0000"/>
              </a:solidFill>
            </a:endParaRPr>
          </a:p>
          <a:p>
            <a:pPr marL="342900" indent="-342900">
              <a:lnSpc>
                <a:spcPct val="150000"/>
              </a:lnSpc>
              <a:buAutoNum type="arabicPeriod"/>
            </a:pPr>
            <a:r>
              <a:rPr lang="zh-CN" altLang="en-US" dirty="0" smtClean="0">
                <a:solidFill>
                  <a:srgbClr val="FF0000"/>
                </a:solidFill>
              </a:rPr>
              <a:t>为什么</a:t>
            </a:r>
            <a:r>
              <a:rPr lang="zh-CN" altLang="en-US" dirty="0">
                <a:solidFill>
                  <a:srgbClr val="FF0000"/>
                </a:solidFill>
              </a:rPr>
              <a:t>要把党的政治建设摆在</a:t>
            </a:r>
            <a:r>
              <a:rPr lang="zh-CN" altLang="en-US" dirty="0" smtClean="0">
                <a:solidFill>
                  <a:srgbClr val="FF0000"/>
                </a:solidFill>
              </a:rPr>
              <a:t>首位</a:t>
            </a:r>
            <a:endParaRPr lang="en-US" altLang="zh-CN" dirty="0" smtClean="0">
              <a:solidFill>
                <a:srgbClr val="FF0000"/>
              </a:solidFill>
            </a:endParaRPr>
          </a:p>
          <a:p>
            <a:pPr marL="342900" indent="-342900">
              <a:lnSpc>
                <a:spcPct val="150000"/>
              </a:lnSpc>
              <a:buAutoNum type="arabicPeriod"/>
            </a:pPr>
            <a:r>
              <a:rPr lang="zh-CN" altLang="en-US" dirty="0">
                <a:solidFill>
                  <a:srgbClr val="FF0000"/>
                </a:solidFill>
              </a:rPr>
              <a:t>经验</a:t>
            </a:r>
            <a:endParaRPr lang="zh-CN" altLang="en-US" dirty="0">
              <a:solidFill>
                <a:srgbClr val="FF0000"/>
              </a:solidFill>
            </a:endParaRPr>
          </a:p>
          <a:p>
            <a:pPr marL="342900" indent="-342900">
              <a:lnSpc>
                <a:spcPct val="150000"/>
              </a:lnSpc>
              <a:buAutoNum type="arabicPeriod"/>
            </a:pPr>
            <a:r>
              <a:rPr lang="zh-CN" altLang="en-US" dirty="0" smtClean="0">
                <a:solidFill>
                  <a:srgbClr val="FF0000"/>
                </a:solidFill>
              </a:rPr>
              <a:t>党</a:t>
            </a:r>
            <a:r>
              <a:rPr lang="zh-CN" altLang="en-US" dirty="0">
                <a:solidFill>
                  <a:srgbClr val="FF0000"/>
                </a:solidFill>
              </a:rPr>
              <a:t>的政治建设的内容</a:t>
            </a:r>
            <a:r>
              <a:rPr lang="zh-CN" altLang="en-US" dirty="0" smtClean="0">
                <a:solidFill>
                  <a:srgbClr val="FF0000"/>
                </a:solidFill>
              </a:rPr>
              <a:t>：</a:t>
            </a:r>
            <a:endParaRPr lang="en-US" altLang="zh-CN" dirty="0" smtClean="0">
              <a:solidFill>
                <a:srgbClr val="FF0000"/>
              </a:solidFill>
            </a:endParaRPr>
          </a:p>
        </p:txBody>
      </p:sp>
      <p:sp>
        <p:nvSpPr>
          <p:cNvPr id="5" name="矩形 4"/>
          <p:cNvSpPr/>
          <p:nvPr/>
        </p:nvSpPr>
        <p:spPr>
          <a:xfrm>
            <a:off x="4623963" y="757848"/>
            <a:ext cx="4437591" cy="1477328"/>
          </a:xfrm>
          <a:prstGeom prst="rect">
            <a:avLst/>
          </a:prstGeom>
        </p:spPr>
        <p:txBody>
          <a:bodyPr wrap="square">
            <a:spAutoFit/>
          </a:bodyPr>
          <a:lstStyle/>
          <a:p>
            <a:pPr>
              <a:lnSpc>
                <a:spcPct val="150000"/>
              </a:lnSpc>
            </a:pPr>
            <a:r>
              <a:rPr lang="zh-CN" altLang="en-US" sz="2000" dirty="0" smtClean="0"/>
              <a:t>二、难点：</a:t>
            </a:r>
            <a:endParaRPr lang="en-US" altLang="zh-CN" sz="2000" dirty="0" smtClean="0"/>
          </a:p>
          <a:p>
            <a:pPr>
              <a:lnSpc>
                <a:spcPct val="150000"/>
              </a:lnSpc>
            </a:pPr>
            <a:r>
              <a:rPr lang="en-US" altLang="zh-CN" sz="2000" dirty="0" smtClean="0">
                <a:solidFill>
                  <a:srgbClr val="FF0000"/>
                </a:solidFill>
              </a:rPr>
              <a:t>1</a:t>
            </a:r>
            <a:r>
              <a:rPr lang="zh-CN" altLang="en-US" sz="2000" dirty="0" smtClean="0">
                <a:solidFill>
                  <a:srgbClr val="FF0000"/>
                </a:solidFill>
              </a:rPr>
              <a:t>、如何</a:t>
            </a:r>
            <a:r>
              <a:rPr lang="zh-CN" altLang="en-US" sz="2000" dirty="0">
                <a:solidFill>
                  <a:srgbClr val="FF0000"/>
                </a:solidFill>
              </a:rPr>
              <a:t>理解全面从严治党的内涵？</a:t>
            </a:r>
            <a:endParaRPr lang="zh-CN" altLang="en-US" sz="2000" dirty="0">
              <a:solidFill>
                <a:srgbClr val="FF0000"/>
              </a:solidFill>
            </a:endParaRPr>
          </a:p>
          <a:p>
            <a:pPr>
              <a:lnSpc>
                <a:spcPct val="150000"/>
              </a:lnSpc>
            </a:pPr>
            <a:endParaRPr lang="en-US" altLang="zh-CN" sz="2000"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4951" y="66888"/>
            <a:ext cx="9098024" cy="599396"/>
          </a:xfrm>
        </p:spPr>
        <p:txBody>
          <a:bodyPr/>
          <a:lstStyle/>
          <a:p>
            <a:pPr algn="ctr"/>
            <a:r>
              <a:rPr lang="zh-CN" altLang="en-US" sz="2800" dirty="0" smtClean="0"/>
              <a:t>第十七</a:t>
            </a:r>
            <a:r>
              <a:rPr lang="zh-CN" altLang="en-US" sz="2800" dirty="0"/>
              <a:t>讲：全面从严治党</a:t>
            </a:r>
            <a:endParaRPr lang="zh-CN" altLang="en-US" sz="2800" dirty="0"/>
          </a:p>
        </p:txBody>
      </p:sp>
      <p:sp>
        <p:nvSpPr>
          <p:cNvPr id="4" name="TextBox 3"/>
          <p:cNvSpPr txBox="1"/>
          <p:nvPr/>
        </p:nvSpPr>
        <p:spPr>
          <a:xfrm>
            <a:off x="136922" y="509292"/>
            <a:ext cx="4150265" cy="4616648"/>
          </a:xfrm>
          <a:prstGeom prst="rect">
            <a:avLst/>
          </a:prstGeom>
          <a:noFill/>
        </p:spPr>
        <p:txBody>
          <a:bodyPr wrap="square" rtlCol="0">
            <a:spAutoFit/>
          </a:bodyPr>
          <a:lstStyle/>
          <a:p>
            <a:pPr>
              <a:lnSpc>
                <a:spcPct val="150000"/>
              </a:lnSpc>
            </a:pPr>
            <a:r>
              <a:rPr lang="zh-CN" altLang="en-US" sz="2000" dirty="0" smtClean="0"/>
              <a:t>一、重点：</a:t>
            </a:r>
            <a:endParaRPr lang="en-US" altLang="zh-CN" sz="2000" dirty="0" smtClean="0"/>
          </a:p>
          <a:p>
            <a:pPr marL="342900" indent="-342900">
              <a:lnSpc>
                <a:spcPct val="150000"/>
              </a:lnSpc>
              <a:buAutoNum type="arabicPeriod"/>
            </a:pPr>
            <a:r>
              <a:rPr lang="zh-CN" altLang="en-US" dirty="0" smtClean="0">
                <a:solidFill>
                  <a:srgbClr val="FF0000"/>
                </a:solidFill>
              </a:rPr>
              <a:t>为什么</a:t>
            </a:r>
            <a:r>
              <a:rPr lang="zh-CN" altLang="en-US" dirty="0">
                <a:solidFill>
                  <a:srgbClr val="FF0000"/>
                </a:solidFill>
              </a:rPr>
              <a:t>要全面从严治</a:t>
            </a:r>
            <a:r>
              <a:rPr lang="zh-CN" altLang="en-US" dirty="0" smtClean="0">
                <a:solidFill>
                  <a:srgbClr val="FF0000"/>
                </a:solidFill>
              </a:rPr>
              <a:t>党</a:t>
            </a:r>
            <a:endParaRPr lang="en-US" altLang="zh-CN" dirty="0" smtClean="0">
              <a:solidFill>
                <a:srgbClr val="FF0000"/>
              </a:solidFill>
            </a:endParaRPr>
          </a:p>
          <a:p>
            <a:pPr>
              <a:lnSpc>
                <a:spcPct val="150000"/>
              </a:lnSpc>
            </a:pPr>
            <a:r>
              <a:rPr lang="zh-CN" altLang="en-US" sz="1400" b="1" dirty="0"/>
              <a:t>（</a:t>
            </a:r>
            <a:r>
              <a:rPr lang="en-US" altLang="zh-CN" sz="1400" b="1" dirty="0"/>
              <a:t>1</a:t>
            </a:r>
            <a:r>
              <a:rPr lang="zh-CN" altLang="en-US" sz="1400" b="1" dirty="0"/>
              <a:t>）从严治党是马克思主义政党的政治优势</a:t>
            </a:r>
            <a:endParaRPr lang="zh-CN" altLang="en-US" sz="1400" b="1" dirty="0"/>
          </a:p>
          <a:p>
            <a:pPr>
              <a:lnSpc>
                <a:spcPct val="150000"/>
              </a:lnSpc>
            </a:pPr>
            <a:r>
              <a:rPr lang="zh-CN" altLang="en-US" sz="1400" b="1" dirty="0"/>
              <a:t>（</a:t>
            </a:r>
            <a:r>
              <a:rPr lang="en-US" altLang="zh-CN" sz="1400" b="1" dirty="0"/>
              <a:t>2</a:t>
            </a:r>
            <a:r>
              <a:rPr lang="zh-CN" altLang="en-US" sz="1400" b="1" dirty="0"/>
              <a:t>）全面从严治党是实现民族复兴的根本</a:t>
            </a:r>
            <a:r>
              <a:rPr lang="zh-CN" altLang="en-US" sz="1400" b="1" dirty="0" smtClean="0"/>
              <a:t>保证</a:t>
            </a:r>
            <a:endParaRPr lang="en-US" altLang="zh-CN" sz="1400" b="1" dirty="0" smtClean="0"/>
          </a:p>
          <a:p>
            <a:pPr>
              <a:lnSpc>
                <a:spcPct val="150000"/>
              </a:lnSpc>
            </a:pPr>
            <a:r>
              <a:rPr lang="zh-CN" altLang="en-US" sz="1400" b="1" dirty="0" smtClean="0"/>
              <a:t>（</a:t>
            </a:r>
            <a:r>
              <a:rPr lang="zh-CN" altLang="en-US" sz="1400" b="1" dirty="0"/>
              <a:t>党的</a:t>
            </a:r>
            <a:r>
              <a:rPr lang="zh-CN" altLang="en-US" sz="1400" b="1" dirty="0">
                <a:solidFill>
                  <a:srgbClr val="FF0000"/>
                </a:solidFill>
              </a:rPr>
              <a:t>十八大</a:t>
            </a:r>
            <a:r>
              <a:rPr lang="zh-CN" altLang="en-US" sz="1400" b="1" dirty="0"/>
              <a:t>以来，以习近平同志为核心的党中央将全面</a:t>
            </a:r>
            <a:r>
              <a:rPr lang="zh-CN" altLang="en-US" sz="1400" b="1" dirty="0">
                <a:solidFill>
                  <a:srgbClr val="FF0000"/>
                </a:solidFill>
              </a:rPr>
              <a:t>从严治党纳入“四个全面”战略布局</a:t>
            </a:r>
            <a:r>
              <a:rPr lang="zh-CN" altLang="en-US" sz="1400" b="1" dirty="0"/>
              <a:t>，把严的标准、严的措施贯穿管党治党全过程和各方面，为实现中华民族伟大复兴提供坚强政治引领和政治保障</a:t>
            </a:r>
            <a:r>
              <a:rPr lang="zh-CN" altLang="en-US" sz="1400" b="1" dirty="0" smtClean="0"/>
              <a:t>。）</a:t>
            </a:r>
            <a:endParaRPr lang="zh-CN" altLang="en-US" sz="1400" b="1" dirty="0"/>
          </a:p>
          <a:p>
            <a:pPr>
              <a:lnSpc>
                <a:spcPct val="150000"/>
              </a:lnSpc>
            </a:pPr>
            <a:r>
              <a:rPr lang="zh-CN" altLang="en-US" sz="1400" b="1" dirty="0"/>
              <a:t>（</a:t>
            </a:r>
            <a:r>
              <a:rPr lang="en-US" altLang="zh-CN" sz="1400" b="1" dirty="0"/>
              <a:t>3</a:t>
            </a:r>
            <a:r>
              <a:rPr lang="zh-CN" altLang="en-US" sz="1400" b="1" dirty="0"/>
              <a:t>）全面从严治党是决定党兴衰成败的关键</a:t>
            </a:r>
            <a:r>
              <a:rPr lang="zh-CN" altLang="en-US" sz="1400" b="1" dirty="0" smtClean="0"/>
              <a:t>因素</a:t>
            </a:r>
            <a:endParaRPr lang="en-US" altLang="zh-CN" sz="1400" b="1" dirty="0" smtClean="0"/>
          </a:p>
          <a:p>
            <a:pPr>
              <a:lnSpc>
                <a:spcPct val="150000"/>
              </a:lnSpc>
            </a:pPr>
            <a:r>
              <a:rPr lang="en-US" altLang="zh-CN" sz="1400" b="1" dirty="0" smtClean="0">
                <a:solidFill>
                  <a:srgbClr val="FF0000"/>
                </a:solidFill>
              </a:rPr>
              <a:t>2</a:t>
            </a:r>
            <a:r>
              <a:rPr lang="zh-CN" altLang="en-US" sz="1400" b="1" dirty="0" smtClean="0">
                <a:solidFill>
                  <a:srgbClr val="FF0000"/>
                </a:solidFill>
              </a:rPr>
              <a:t>、</a:t>
            </a:r>
            <a:r>
              <a:rPr lang="en-US" altLang="zh-CN" dirty="0" smtClean="0">
                <a:solidFill>
                  <a:srgbClr val="FF0000"/>
                </a:solidFill>
              </a:rPr>
              <a:t>“</a:t>
            </a:r>
            <a:r>
              <a:rPr lang="zh-CN" altLang="en-US" dirty="0">
                <a:solidFill>
                  <a:srgbClr val="FF0000"/>
                </a:solidFill>
              </a:rPr>
              <a:t>四大考验”</a:t>
            </a:r>
            <a:r>
              <a:rPr lang="zh-CN" altLang="en-US" dirty="0" smtClean="0">
                <a:solidFill>
                  <a:srgbClr val="FF0000"/>
                </a:solidFill>
              </a:rPr>
              <a:t>“四种危险”</a:t>
            </a:r>
            <a:endParaRPr lang="en-US" altLang="zh-CN" dirty="0" smtClean="0">
              <a:solidFill>
                <a:srgbClr val="FF0000"/>
              </a:solidFill>
            </a:endParaRPr>
          </a:p>
          <a:p>
            <a:pPr>
              <a:lnSpc>
                <a:spcPct val="150000"/>
              </a:lnSpc>
            </a:pPr>
            <a:r>
              <a:rPr lang="zh-CN" altLang="en-US" sz="1400" b="1" dirty="0"/>
              <a:t>四大考验：执政考验、改革开放考验、市场经济考验、外部环境</a:t>
            </a:r>
            <a:r>
              <a:rPr lang="zh-CN" altLang="en-US" sz="1400" b="1" dirty="0" smtClean="0"/>
              <a:t>考验</a:t>
            </a:r>
            <a:endParaRPr lang="zh-CN" altLang="en-US" dirty="0">
              <a:solidFill>
                <a:srgbClr val="FF0000"/>
              </a:solidFill>
            </a:endParaRPr>
          </a:p>
        </p:txBody>
      </p:sp>
      <p:sp>
        <p:nvSpPr>
          <p:cNvPr id="3" name="矩形 2"/>
          <p:cNvSpPr/>
          <p:nvPr/>
        </p:nvSpPr>
        <p:spPr>
          <a:xfrm>
            <a:off x="4234721" y="604532"/>
            <a:ext cx="4961242" cy="4478149"/>
          </a:xfrm>
          <a:prstGeom prst="rect">
            <a:avLst/>
          </a:prstGeom>
        </p:spPr>
        <p:txBody>
          <a:bodyPr wrap="square">
            <a:spAutoFit/>
          </a:bodyPr>
          <a:lstStyle/>
          <a:p>
            <a:pPr>
              <a:lnSpc>
                <a:spcPct val="150000"/>
              </a:lnSpc>
            </a:pPr>
            <a:r>
              <a:rPr lang="zh-CN" altLang="en-US" sz="1400" b="1" dirty="0"/>
              <a:t>四种风险：精神懈怠危险、能力不足危险、脱离群众危险、消极腐败</a:t>
            </a:r>
            <a:r>
              <a:rPr lang="zh-CN" altLang="en-US" sz="1400" b="1" dirty="0" smtClean="0"/>
              <a:t>危险</a:t>
            </a:r>
            <a:endParaRPr lang="zh-CN" altLang="en-US" sz="1400" b="1" dirty="0"/>
          </a:p>
          <a:p>
            <a:pPr>
              <a:lnSpc>
                <a:spcPct val="150000"/>
              </a:lnSpc>
            </a:pPr>
            <a:r>
              <a:rPr lang="en-US" altLang="zh-CN" dirty="0">
                <a:solidFill>
                  <a:srgbClr val="FF0000"/>
                </a:solidFill>
              </a:rPr>
              <a:t>3</a:t>
            </a:r>
            <a:r>
              <a:rPr lang="zh-CN" altLang="en-US" dirty="0">
                <a:solidFill>
                  <a:srgbClr val="FF0000"/>
                </a:solidFill>
              </a:rPr>
              <a:t>、党内出现管党不力、治党不严的</a:t>
            </a:r>
            <a:r>
              <a:rPr lang="zh-CN" altLang="en-US" dirty="0" smtClean="0">
                <a:solidFill>
                  <a:srgbClr val="FF0000"/>
                </a:solidFill>
              </a:rPr>
              <a:t>问题（七个有之）</a:t>
            </a:r>
            <a:endParaRPr lang="zh-CN" altLang="en-US" dirty="0">
              <a:solidFill>
                <a:srgbClr val="FF0000"/>
              </a:solidFill>
            </a:endParaRPr>
          </a:p>
          <a:p>
            <a:pPr>
              <a:lnSpc>
                <a:spcPct val="150000"/>
              </a:lnSpc>
            </a:pPr>
            <a:r>
              <a:rPr lang="zh-CN" altLang="en-US" sz="1400" b="1" dirty="0" smtClean="0"/>
              <a:t>（</a:t>
            </a:r>
            <a:r>
              <a:rPr lang="en-US" altLang="zh-CN" sz="1400" b="1" dirty="0" smtClean="0"/>
              <a:t>1</a:t>
            </a:r>
            <a:r>
              <a:rPr lang="zh-CN" altLang="en-US" sz="1400" b="1" dirty="0" smtClean="0"/>
              <a:t>）搞</a:t>
            </a:r>
            <a:r>
              <a:rPr lang="zh-CN" altLang="en-US" sz="1400" b="1" dirty="0"/>
              <a:t>任人唯亲、排斥异己的有之</a:t>
            </a:r>
            <a:r>
              <a:rPr lang="zh-CN" altLang="en-US" sz="1400" b="1" dirty="0" smtClean="0"/>
              <a:t>。</a:t>
            </a:r>
            <a:endParaRPr lang="zh-CN" altLang="en-US" sz="1400" b="1" dirty="0"/>
          </a:p>
          <a:p>
            <a:pPr>
              <a:lnSpc>
                <a:spcPct val="150000"/>
              </a:lnSpc>
            </a:pPr>
            <a:r>
              <a:rPr lang="zh-CN" altLang="en-US" sz="1400" b="1" dirty="0" smtClean="0"/>
              <a:t>（</a:t>
            </a:r>
            <a:r>
              <a:rPr lang="en-US" altLang="zh-CN" sz="1400" b="1" dirty="0" smtClean="0"/>
              <a:t>2</a:t>
            </a:r>
            <a:r>
              <a:rPr lang="zh-CN" altLang="en-US" sz="1400" b="1" dirty="0" smtClean="0"/>
              <a:t>）搞</a:t>
            </a:r>
            <a:r>
              <a:rPr lang="zh-CN" altLang="en-US" sz="1400" b="1" dirty="0"/>
              <a:t>团团伙伙、拉帮结派的有之</a:t>
            </a:r>
            <a:r>
              <a:rPr lang="zh-CN" altLang="en-US" sz="1400" b="1" dirty="0" smtClean="0"/>
              <a:t>。</a:t>
            </a:r>
            <a:endParaRPr lang="zh-CN" altLang="en-US" sz="1400" b="1" dirty="0"/>
          </a:p>
          <a:p>
            <a:pPr>
              <a:lnSpc>
                <a:spcPct val="150000"/>
              </a:lnSpc>
            </a:pPr>
            <a:r>
              <a:rPr lang="zh-CN" altLang="en-US" sz="1400" b="1" dirty="0" smtClean="0"/>
              <a:t>（</a:t>
            </a:r>
            <a:r>
              <a:rPr lang="en-US" altLang="zh-CN" sz="1400" b="1" dirty="0" smtClean="0"/>
              <a:t>3</a:t>
            </a:r>
            <a:r>
              <a:rPr lang="zh-CN" altLang="en-US" sz="1400" b="1" dirty="0" smtClean="0"/>
              <a:t>）搞</a:t>
            </a:r>
            <a:r>
              <a:rPr lang="zh-CN" altLang="en-US" sz="1400" b="1" dirty="0"/>
              <a:t>匿名诬告、制造谣言的有之</a:t>
            </a:r>
            <a:r>
              <a:rPr lang="zh-CN" altLang="en-US" sz="1400" b="1" dirty="0" smtClean="0"/>
              <a:t>。</a:t>
            </a:r>
            <a:endParaRPr lang="zh-CN" altLang="en-US" sz="1400" b="1" dirty="0"/>
          </a:p>
          <a:p>
            <a:pPr>
              <a:lnSpc>
                <a:spcPct val="150000"/>
              </a:lnSpc>
            </a:pPr>
            <a:r>
              <a:rPr lang="zh-CN" altLang="en-US" sz="1400" b="1" dirty="0" smtClean="0"/>
              <a:t>（</a:t>
            </a:r>
            <a:r>
              <a:rPr lang="en-US" altLang="zh-CN" sz="1400" b="1" dirty="0" smtClean="0"/>
              <a:t>4</a:t>
            </a:r>
            <a:r>
              <a:rPr lang="zh-CN" altLang="en-US" sz="1400" b="1" dirty="0" smtClean="0"/>
              <a:t>）搞</a:t>
            </a:r>
            <a:r>
              <a:rPr lang="zh-CN" altLang="en-US" sz="1400" b="1" dirty="0"/>
              <a:t>收买人心、拉动选票的有之</a:t>
            </a:r>
            <a:r>
              <a:rPr lang="zh-CN" altLang="en-US" sz="1400" b="1" dirty="0" smtClean="0"/>
              <a:t>。</a:t>
            </a:r>
            <a:endParaRPr lang="zh-CN" altLang="en-US" sz="1400" b="1" dirty="0"/>
          </a:p>
          <a:p>
            <a:pPr>
              <a:lnSpc>
                <a:spcPct val="150000"/>
              </a:lnSpc>
            </a:pPr>
            <a:r>
              <a:rPr lang="zh-CN" altLang="en-US" sz="1400" b="1" dirty="0" smtClean="0"/>
              <a:t>（</a:t>
            </a:r>
            <a:r>
              <a:rPr lang="en-US" altLang="zh-CN" sz="1400" b="1" dirty="0" smtClean="0"/>
              <a:t>5</a:t>
            </a:r>
            <a:r>
              <a:rPr lang="zh-CN" altLang="en-US" sz="1400" b="1" dirty="0" smtClean="0"/>
              <a:t>）搞</a:t>
            </a:r>
            <a:r>
              <a:rPr lang="zh-CN" altLang="en-US" sz="1400" b="1" dirty="0"/>
              <a:t>封官许愿、弹冠相庆的有之</a:t>
            </a:r>
            <a:r>
              <a:rPr lang="zh-CN" altLang="en-US" sz="1400" b="1" dirty="0" smtClean="0"/>
              <a:t>。</a:t>
            </a:r>
            <a:endParaRPr lang="zh-CN" altLang="en-US" sz="1400" b="1" dirty="0"/>
          </a:p>
          <a:p>
            <a:pPr>
              <a:lnSpc>
                <a:spcPct val="150000"/>
              </a:lnSpc>
            </a:pPr>
            <a:r>
              <a:rPr lang="zh-CN" altLang="en-US" sz="1400" b="1" dirty="0" smtClean="0"/>
              <a:t>（</a:t>
            </a:r>
            <a:r>
              <a:rPr lang="en-US" altLang="zh-CN" sz="1400" b="1" dirty="0" smtClean="0"/>
              <a:t>6</a:t>
            </a:r>
            <a:r>
              <a:rPr lang="zh-CN" altLang="en-US" sz="1400" b="1" dirty="0" smtClean="0"/>
              <a:t>）搞</a:t>
            </a:r>
            <a:r>
              <a:rPr lang="zh-CN" altLang="en-US" sz="1400" b="1" dirty="0"/>
              <a:t>自行其是、阳奉阴违的有之</a:t>
            </a:r>
            <a:r>
              <a:rPr lang="zh-CN" altLang="en-US" sz="1400" b="1" dirty="0" smtClean="0"/>
              <a:t>。</a:t>
            </a:r>
            <a:endParaRPr lang="zh-CN" altLang="en-US" sz="1400" b="1" dirty="0"/>
          </a:p>
          <a:p>
            <a:pPr>
              <a:lnSpc>
                <a:spcPct val="150000"/>
              </a:lnSpc>
            </a:pPr>
            <a:r>
              <a:rPr lang="zh-CN" altLang="en-US" sz="1400" b="1" dirty="0" smtClean="0"/>
              <a:t>（</a:t>
            </a:r>
            <a:r>
              <a:rPr lang="en-US" altLang="zh-CN" sz="1400" b="1" dirty="0" smtClean="0"/>
              <a:t>7</a:t>
            </a:r>
            <a:r>
              <a:rPr lang="zh-CN" altLang="en-US" sz="1400" b="1" dirty="0" smtClean="0"/>
              <a:t>）搞</a:t>
            </a:r>
            <a:r>
              <a:rPr lang="zh-CN" altLang="en-US" sz="1400" b="1" dirty="0"/>
              <a:t>尾大不掉、妄议中央的有之</a:t>
            </a:r>
            <a:r>
              <a:rPr lang="zh-CN" altLang="en-US" sz="1400" b="1" dirty="0" smtClean="0"/>
              <a:t>。</a:t>
            </a:r>
            <a:endParaRPr lang="en-US" altLang="zh-CN" sz="1400" b="1" dirty="0" smtClean="0"/>
          </a:p>
          <a:p>
            <a:pPr>
              <a:lnSpc>
                <a:spcPct val="150000"/>
              </a:lnSpc>
            </a:pPr>
            <a:r>
              <a:rPr lang="zh-CN" altLang="en-US" sz="1400" b="1" dirty="0"/>
              <a:t>从党的十八届四中全会开始，习近平反复强调警惕“七个有之”。“七个有之”本质上是政治</a:t>
            </a:r>
            <a:r>
              <a:rPr lang="zh-CN" altLang="en-US" sz="1400" b="1" dirty="0" smtClean="0"/>
              <a:t>问题。</a:t>
            </a:r>
            <a:endParaRPr lang="zh-CN" altLang="en-US" sz="1400"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4951" y="66888"/>
            <a:ext cx="9098024" cy="599396"/>
          </a:xfrm>
        </p:spPr>
        <p:txBody>
          <a:bodyPr/>
          <a:lstStyle/>
          <a:p>
            <a:pPr algn="ctr"/>
            <a:r>
              <a:rPr lang="zh-CN" altLang="en-US" sz="2800" dirty="0" smtClean="0"/>
              <a:t>第十七</a:t>
            </a:r>
            <a:r>
              <a:rPr lang="zh-CN" altLang="en-US" sz="2800" dirty="0"/>
              <a:t>讲：全面从严治党</a:t>
            </a:r>
            <a:endParaRPr lang="zh-CN" altLang="en-US" sz="2800" dirty="0"/>
          </a:p>
        </p:txBody>
      </p:sp>
      <p:sp>
        <p:nvSpPr>
          <p:cNvPr id="4" name="TextBox 3"/>
          <p:cNvSpPr txBox="1"/>
          <p:nvPr/>
        </p:nvSpPr>
        <p:spPr>
          <a:xfrm>
            <a:off x="4623963" y="666284"/>
            <a:ext cx="4382614" cy="4201150"/>
          </a:xfrm>
          <a:prstGeom prst="rect">
            <a:avLst/>
          </a:prstGeom>
          <a:noFill/>
        </p:spPr>
        <p:txBody>
          <a:bodyPr wrap="square" rtlCol="0">
            <a:spAutoFit/>
          </a:bodyPr>
          <a:lstStyle/>
          <a:p>
            <a:pPr>
              <a:lnSpc>
                <a:spcPct val="150000"/>
              </a:lnSpc>
            </a:pPr>
            <a:r>
              <a:rPr lang="en-US" altLang="zh-CN" dirty="0" smtClean="0">
                <a:solidFill>
                  <a:srgbClr val="FF0000"/>
                </a:solidFill>
              </a:rPr>
              <a:t>6</a:t>
            </a:r>
            <a:r>
              <a:rPr lang="zh-CN" altLang="en-US" dirty="0">
                <a:solidFill>
                  <a:srgbClr val="FF0000"/>
                </a:solidFill>
              </a:rPr>
              <a:t>、为什么要把党的政治建设摆在首位</a:t>
            </a:r>
            <a:endParaRPr lang="zh-CN" altLang="en-US" dirty="0">
              <a:solidFill>
                <a:srgbClr val="FF0000"/>
              </a:solidFill>
            </a:endParaRPr>
          </a:p>
          <a:p>
            <a:pPr>
              <a:lnSpc>
                <a:spcPts val="1600"/>
              </a:lnSpc>
            </a:pPr>
            <a:r>
              <a:rPr lang="zh-CN" altLang="en-US" sz="1400" b="1" dirty="0" smtClean="0"/>
              <a:t>（</a:t>
            </a:r>
            <a:r>
              <a:rPr lang="en-US" altLang="zh-CN" sz="1400" b="1" dirty="0" smtClean="0"/>
              <a:t>1</a:t>
            </a:r>
            <a:r>
              <a:rPr lang="zh-CN" altLang="en-US" sz="1400" b="1" dirty="0" smtClean="0"/>
              <a:t>）政治</a:t>
            </a:r>
            <a:r>
              <a:rPr lang="zh-CN" altLang="en-US" sz="1400" b="1" dirty="0"/>
              <a:t>建设决定党的建设的方向和效果</a:t>
            </a:r>
            <a:endParaRPr lang="zh-CN" altLang="en-US" sz="1400" b="1" dirty="0"/>
          </a:p>
          <a:p>
            <a:pPr>
              <a:lnSpc>
                <a:spcPts val="1600"/>
              </a:lnSpc>
            </a:pPr>
            <a:r>
              <a:rPr lang="zh-CN" altLang="en-US" sz="1400" b="1" dirty="0" smtClean="0"/>
              <a:t>（</a:t>
            </a:r>
            <a:r>
              <a:rPr lang="en-US" altLang="zh-CN" sz="1400" b="1" dirty="0" smtClean="0"/>
              <a:t>2</a:t>
            </a:r>
            <a:r>
              <a:rPr lang="zh-CN" altLang="en-US" sz="1400" b="1" dirty="0" smtClean="0"/>
              <a:t>）把</a:t>
            </a:r>
            <a:r>
              <a:rPr lang="zh-CN" altLang="en-US" sz="1400" b="1" dirty="0"/>
              <a:t>政治建设摆在首位，抓住了全面从严治党的根本性问题 </a:t>
            </a:r>
            <a:endParaRPr lang="en-US" altLang="zh-CN" sz="1400" b="1" dirty="0" smtClean="0"/>
          </a:p>
          <a:p>
            <a:pPr>
              <a:lnSpc>
                <a:spcPts val="1600"/>
              </a:lnSpc>
            </a:pPr>
            <a:r>
              <a:rPr lang="zh-CN" altLang="en-US" sz="1400" b="1" dirty="0" smtClean="0"/>
              <a:t>（</a:t>
            </a:r>
            <a:r>
              <a:rPr lang="en-US" altLang="zh-CN" sz="1400" b="1" dirty="0" smtClean="0"/>
              <a:t>3</a:t>
            </a:r>
            <a:r>
              <a:rPr lang="zh-CN" altLang="en-US" sz="1400" b="1" dirty="0"/>
              <a:t>）突出政治建设是十八大以来全面从严治党的成功</a:t>
            </a:r>
            <a:r>
              <a:rPr lang="zh-CN" altLang="en-US" sz="1400" b="1" dirty="0" smtClean="0"/>
              <a:t>经验</a:t>
            </a:r>
            <a:endParaRPr lang="en-US" altLang="zh-CN" sz="1400" b="1" dirty="0" smtClean="0"/>
          </a:p>
          <a:p>
            <a:pPr>
              <a:lnSpc>
                <a:spcPts val="1600"/>
              </a:lnSpc>
            </a:pPr>
            <a:r>
              <a:rPr lang="en-US" altLang="zh-CN" dirty="0">
                <a:solidFill>
                  <a:srgbClr val="FF0000"/>
                </a:solidFill>
              </a:rPr>
              <a:t>7</a:t>
            </a:r>
            <a:r>
              <a:rPr lang="zh-CN" altLang="en-US" dirty="0">
                <a:solidFill>
                  <a:srgbClr val="FF0000"/>
                </a:solidFill>
              </a:rPr>
              <a:t>、党的政治建设的内容：</a:t>
            </a:r>
            <a:endParaRPr lang="en-US" altLang="zh-CN" dirty="0">
              <a:solidFill>
                <a:srgbClr val="FF0000"/>
              </a:solidFill>
            </a:endParaRPr>
          </a:p>
          <a:p>
            <a:pPr>
              <a:lnSpc>
                <a:spcPts val="1600"/>
              </a:lnSpc>
            </a:pPr>
            <a:r>
              <a:rPr lang="zh-CN" altLang="en-US" sz="1400" b="1" dirty="0" smtClean="0"/>
              <a:t>（</a:t>
            </a:r>
            <a:r>
              <a:rPr lang="en-US" altLang="zh-CN" sz="1400" b="1" dirty="0" smtClean="0"/>
              <a:t>1</a:t>
            </a:r>
            <a:r>
              <a:rPr lang="zh-CN" altLang="en-US" sz="1400" b="1" dirty="0"/>
              <a:t>）保证全党服从中央，坚持党中央权威</a:t>
            </a:r>
            <a:r>
              <a:rPr lang="zh-CN" altLang="en-US" sz="1400" b="1" dirty="0" smtClean="0"/>
              <a:t>和集中</a:t>
            </a:r>
            <a:r>
              <a:rPr lang="zh-CN" altLang="en-US" sz="1400" b="1" dirty="0"/>
              <a:t>统一</a:t>
            </a:r>
            <a:r>
              <a:rPr lang="zh-CN" altLang="en-US" sz="1400" b="1" dirty="0" smtClean="0"/>
              <a:t>领导</a:t>
            </a:r>
            <a:endParaRPr lang="en-US" altLang="zh-CN" sz="1400" b="1" dirty="0" smtClean="0"/>
          </a:p>
          <a:p>
            <a:pPr>
              <a:lnSpc>
                <a:spcPts val="1600"/>
              </a:lnSpc>
            </a:pPr>
            <a:r>
              <a:rPr lang="zh-CN" altLang="en-US" sz="1400" b="1" dirty="0" smtClean="0"/>
              <a:t>（</a:t>
            </a:r>
            <a:r>
              <a:rPr lang="en-US" altLang="zh-CN" sz="1400" b="1" dirty="0" smtClean="0"/>
              <a:t>2</a:t>
            </a:r>
            <a:r>
              <a:rPr lang="zh-CN" altLang="en-US" sz="1400" b="1" dirty="0"/>
              <a:t>）坚定执行党的政治路线，严格遵守政治纪律和政治规矩</a:t>
            </a:r>
            <a:endParaRPr lang="zh-CN" altLang="en-US" sz="1400" b="1" dirty="0"/>
          </a:p>
          <a:p>
            <a:pPr>
              <a:lnSpc>
                <a:spcPts val="1600"/>
              </a:lnSpc>
            </a:pPr>
            <a:r>
              <a:rPr lang="zh-CN" altLang="en-US" sz="1400" b="1" dirty="0" smtClean="0"/>
              <a:t>（</a:t>
            </a:r>
            <a:r>
              <a:rPr lang="en-US" altLang="zh-CN" sz="1400" b="1" dirty="0" smtClean="0"/>
              <a:t>3</a:t>
            </a:r>
            <a:r>
              <a:rPr lang="zh-CN" altLang="en-US" sz="1400" b="1" dirty="0"/>
              <a:t>）尊崇党章，严格执行新形势下党内政治生活若干准则</a:t>
            </a:r>
            <a:endParaRPr lang="zh-CN" altLang="en-US" sz="1400" b="1" dirty="0"/>
          </a:p>
          <a:p>
            <a:pPr>
              <a:lnSpc>
                <a:spcPts val="1600"/>
              </a:lnSpc>
            </a:pPr>
            <a:r>
              <a:rPr lang="zh-CN" altLang="en-US" sz="1400" b="1" dirty="0" smtClean="0"/>
              <a:t>（</a:t>
            </a:r>
            <a:r>
              <a:rPr lang="en-US" altLang="zh-CN" sz="1400" b="1" dirty="0" smtClean="0"/>
              <a:t>4</a:t>
            </a:r>
            <a:r>
              <a:rPr lang="zh-CN" altLang="en-US" sz="1400" b="1" dirty="0"/>
              <a:t>）完善和落实民主集中制的各项制度</a:t>
            </a:r>
            <a:endParaRPr lang="zh-CN" altLang="en-US" sz="1400" b="1" dirty="0"/>
          </a:p>
          <a:p>
            <a:pPr>
              <a:lnSpc>
                <a:spcPts val="1600"/>
              </a:lnSpc>
            </a:pPr>
            <a:r>
              <a:rPr lang="zh-CN" altLang="en-US" sz="1400" b="1" dirty="0" smtClean="0"/>
              <a:t>（</a:t>
            </a:r>
            <a:r>
              <a:rPr lang="en-US" altLang="zh-CN" sz="1400" b="1" dirty="0" smtClean="0"/>
              <a:t>5</a:t>
            </a:r>
            <a:r>
              <a:rPr lang="zh-CN" altLang="en-US" sz="1400" b="1" dirty="0"/>
              <a:t>）弘扬忠诚老实、公道正派、实事求是、清正廉洁等价值观</a:t>
            </a:r>
            <a:endParaRPr lang="zh-CN" altLang="en-US" sz="1400" b="1" dirty="0"/>
          </a:p>
          <a:p>
            <a:pPr>
              <a:lnSpc>
                <a:spcPts val="1600"/>
              </a:lnSpc>
            </a:pPr>
            <a:r>
              <a:rPr lang="zh-CN" altLang="en-US" sz="1400" b="1" dirty="0" smtClean="0"/>
              <a:t>（</a:t>
            </a:r>
            <a:r>
              <a:rPr lang="en-US" altLang="zh-CN" sz="1400" b="1" dirty="0" smtClean="0"/>
              <a:t>6</a:t>
            </a:r>
            <a:r>
              <a:rPr lang="zh-CN" altLang="en-US" sz="1400" b="1" dirty="0"/>
              <a:t>）加强党性锻炼，不断提高政治觉悟和政治能力</a:t>
            </a:r>
            <a:endParaRPr lang="zh-CN" altLang="en-US" sz="1400" b="1" dirty="0"/>
          </a:p>
          <a:p>
            <a:pPr>
              <a:lnSpc>
                <a:spcPts val="1600"/>
              </a:lnSpc>
            </a:pPr>
            <a:endParaRPr lang="zh-CN" altLang="en-US" sz="1400" b="1" dirty="0"/>
          </a:p>
          <a:p>
            <a:pPr>
              <a:lnSpc>
                <a:spcPts val="1600"/>
              </a:lnSpc>
            </a:pPr>
            <a:endParaRPr lang="zh-CN" altLang="en-US" sz="1400" b="1" dirty="0"/>
          </a:p>
        </p:txBody>
      </p:sp>
      <p:sp>
        <p:nvSpPr>
          <p:cNvPr id="6" name="TextBox 3"/>
          <p:cNvSpPr txBox="1"/>
          <p:nvPr/>
        </p:nvSpPr>
        <p:spPr>
          <a:xfrm>
            <a:off x="74951" y="740037"/>
            <a:ext cx="4549012" cy="4278094"/>
          </a:xfrm>
          <a:prstGeom prst="rect">
            <a:avLst/>
          </a:prstGeom>
          <a:noFill/>
        </p:spPr>
        <p:txBody>
          <a:bodyPr wrap="square" rtlCol="0">
            <a:spAutoFit/>
          </a:bodyPr>
          <a:lstStyle/>
          <a:p>
            <a:pPr>
              <a:lnSpc>
                <a:spcPts val="1600"/>
              </a:lnSpc>
            </a:pPr>
            <a:r>
              <a:rPr lang="zh-CN" altLang="en-US" sz="2000" dirty="0" smtClean="0"/>
              <a:t>一、重点：</a:t>
            </a:r>
            <a:endParaRPr lang="en-US" altLang="zh-CN" sz="2000" dirty="0" smtClean="0"/>
          </a:p>
          <a:p>
            <a:pPr>
              <a:lnSpc>
                <a:spcPts val="1600"/>
              </a:lnSpc>
            </a:pPr>
            <a:r>
              <a:rPr lang="en-US" altLang="zh-CN" dirty="0">
                <a:solidFill>
                  <a:srgbClr val="FF0000"/>
                </a:solidFill>
              </a:rPr>
              <a:t>4</a:t>
            </a:r>
            <a:r>
              <a:rPr lang="zh-CN" altLang="en-US" dirty="0">
                <a:solidFill>
                  <a:srgbClr val="FF0000"/>
                </a:solidFill>
              </a:rPr>
              <a:t>、如何坚持和加强党的全面领导</a:t>
            </a:r>
            <a:endParaRPr lang="en-US" altLang="zh-CN" dirty="0">
              <a:solidFill>
                <a:srgbClr val="FF0000"/>
              </a:solidFill>
            </a:endParaRPr>
          </a:p>
          <a:p>
            <a:pPr>
              <a:lnSpc>
                <a:spcPts val="1600"/>
              </a:lnSpc>
            </a:pPr>
            <a:r>
              <a:rPr lang="zh-CN" altLang="en-US" sz="1400" b="1" dirty="0" smtClean="0"/>
              <a:t>坚持</a:t>
            </a:r>
            <a:r>
              <a:rPr lang="zh-CN" altLang="en-US" sz="1400" b="1" dirty="0"/>
              <a:t>党要管党、全面从严治党，以加强党的长期执政能力建设、先进性和纯洁性建设为主线，以党的政治建设为统领，以坚定理想信念宗旨为根基，以调动全党积极性、主动性、创造性为着力点，全面推进党的政治建设、思想建设、组织建设、作风建设、纪律建设，把制度建设贯穿其中，深入推进反腐败斗争，不断提高党的建设质量，把党建设成为始终走在时代前列、人民衷心拥护、勇于自我革命、经得起各种风浪考验、朝气蓬勃的马克思主义执政党</a:t>
            </a:r>
            <a:r>
              <a:rPr lang="zh-CN" altLang="en-US" sz="1400" b="1" dirty="0" smtClean="0"/>
              <a:t>。</a:t>
            </a:r>
            <a:endParaRPr lang="en-US" altLang="zh-CN" sz="1400" b="1" dirty="0" smtClean="0"/>
          </a:p>
          <a:p>
            <a:pPr>
              <a:lnSpc>
                <a:spcPct val="150000"/>
              </a:lnSpc>
            </a:pPr>
            <a:r>
              <a:rPr lang="en-US" altLang="zh-CN" dirty="0">
                <a:solidFill>
                  <a:srgbClr val="FF0000"/>
                </a:solidFill>
              </a:rPr>
              <a:t>5</a:t>
            </a:r>
            <a:r>
              <a:rPr lang="zh-CN" altLang="en-US" dirty="0">
                <a:solidFill>
                  <a:srgbClr val="FF0000"/>
                </a:solidFill>
              </a:rPr>
              <a:t>、如何跳出治乱兴衰的历史周期率？</a:t>
            </a:r>
            <a:endParaRPr lang="en-US" altLang="zh-CN" dirty="0">
              <a:solidFill>
                <a:srgbClr val="FF0000"/>
              </a:solidFill>
            </a:endParaRPr>
          </a:p>
          <a:p>
            <a:pPr>
              <a:lnSpc>
                <a:spcPts val="1680"/>
              </a:lnSpc>
            </a:pPr>
            <a:r>
              <a:rPr lang="zh-CN" altLang="en-US" sz="1400" b="1" dirty="0"/>
              <a:t>毛泽东同志在延安的窑洞里给出了第一个答案，这就是只有让人民来监督政府，政府才不敢松懈。</a:t>
            </a:r>
            <a:endParaRPr lang="en-US" altLang="zh-CN" sz="1400" b="1" dirty="0"/>
          </a:p>
          <a:p>
            <a:pPr>
              <a:lnSpc>
                <a:spcPts val="1680"/>
              </a:lnSpc>
            </a:pPr>
            <a:r>
              <a:rPr lang="zh-CN" altLang="en-US" sz="1400" b="1" dirty="0"/>
              <a:t>经过百年奋斗特别是党的十八大以来新的实践，我们党又给出了第二个答案，这就是自我革命。</a:t>
            </a:r>
            <a:endParaRPr lang="en-US" altLang="zh-CN" sz="1400" b="1" dirty="0"/>
          </a:p>
          <a:p>
            <a:pPr>
              <a:lnSpc>
                <a:spcPts val="1680"/>
              </a:lnSpc>
            </a:pPr>
            <a:r>
              <a:rPr lang="zh-CN" altLang="en-US" sz="1400" b="1" dirty="0"/>
              <a:t>（</a:t>
            </a:r>
            <a:r>
              <a:rPr lang="en-US" altLang="zh-CN" sz="1400" b="1" dirty="0"/>
              <a:t>1</a:t>
            </a:r>
            <a:r>
              <a:rPr lang="zh-CN" altLang="en-US" sz="1400" b="1" dirty="0"/>
              <a:t>）勇于自我革命是我们党最鲜明的品格和最大的优势</a:t>
            </a:r>
            <a:endParaRPr lang="en-US" altLang="zh-CN" sz="1400" b="1" dirty="0"/>
          </a:p>
          <a:p>
            <a:pPr>
              <a:lnSpc>
                <a:spcPts val="1680"/>
              </a:lnSpc>
            </a:pPr>
            <a:r>
              <a:rPr lang="zh-CN" altLang="en-US" sz="1400" b="1" dirty="0"/>
              <a:t>（</a:t>
            </a:r>
            <a:r>
              <a:rPr lang="en-US" altLang="zh-CN" sz="1400" b="1" dirty="0"/>
              <a:t>2</a:t>
            </a:r>
            <a:r>
              <a:rPr lang="zh-CN" altLang="en-US" sz="1400" b="1" dirty="0"/>
              <a:t>）勇于自我革命是我们党区别于其他政党的显著标志</a:t>
            </a:r>
            <a:endParaRPr lang="en-US" altLang="zh-CN" sz="1400" b="1" dirty="0"/>
          </a:p>
          <a:p>
            <a:pPr>
              <a:lnSpc>
                <a:spcPts val="1600"/>
              </a:lnSpc>
            </a:pPr>
            <a:endParaRPr lang="en-US" altLang="zh-CN" sz="1400"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67258" y="56526"/>
            <a:ext cx="5507831" cy="1024833"/>
          </a:xfrm>
        </p:spPr>
        <p:txBody>
          <a:bodyPr/>
          <a:lstStyle/>
          <a:p>
            <a:r>
              <a:rPr lang="zh-CN" altLang="en-US" sz="2800" dirty="0"/>
              <a:t>二、难点：</a:t>
            </a:r>
            <a:endParaRPr lang="zh-CN" altLang="en-US" sz="2800" dirty="0"/>
          </a:p>
          <a:p>
            <a:endParaRPr lang="zh-CN" altLang="en-US" dirty="0"/>
          </a:p>
        </p:txBody>
      </p:sp>
      <p:sp>
        <p:nvSpPr>
          <p:cNvPr id="5" name="矩形 4"/>
          <p:cNvSpPr/>
          <p:nvPr/>
        </p:nvSpPr>
        <p:spPr>
          <a:xfrm>
            <a:off x="104932" y="568942"/>
            <a:ext cx="8679304" cy="6309420"/>
          </a:xfrm>
          <a:prstGeom prst="rect">
            <a:avLst/>
          </a:prstGeom>
        </p:spPr>
        <p:txBody>
          <a:bodyPr wrap="square">
            <a:spAutoFit/>
          </a:bodyPr>
          <a:lstStyle/>
          <a:p>
            <a:pPr indent="457200"/>
            <a:r>
              <a:rPr lang="en-US" altLang="zh-CN" sz="2000" dirty="0">
                <a:solidFill>
                  <a:srgbClr val="FF0000"/>
                </a:solidFill>
              </a:rPr>
              <a:t>1</a:t>
            </a:r>
            <a:r>
              <a:rPr lang="zh-CN" altLang="en-US" sz="2000" dirty="0" smtClean="0">
                <a:solidFill>
                  <a:srgbClr val="FF0000"/>
                </a:solidFill>
              </a:rPr>
              <a:t>、如何</a:t>
            </a:r>
            <a:r>
              <a:rPr lang="zh-CN" altLang="en-US" sz="2000" dirty="0">
                <a:solidFill>
                  <a:srgbClr val="FF0000"/>
                </a:solidFill>
              </a:rPr>
              <a:t>理解全面从严治</a:t>
            </a:r>
            <a:r>
              <a:rPr lang="zh-CN" altLang="en-US" sz="2000" dirty="0" smtClean="0">
                <a:solidFill>
                  <a:srgbClr val="FF0000"/>
                </a:solidFill>
              </a:rPr>
              <a:t>党的内涵？</a:t>
            </a:r>
            <a:endParaRPr lang="en-US" altLang="zh-CN" sz="2000" dirty="0" smtClean="0">
              <a:solidFill>
                <a:srgbClr val="FF0000"/>
              </a:solidFill>
            </a:endParaRPr>
          </a:p>
          <a:p>
            <a:pPr indent="457200"/>
            <a:r>
              <a:rPr lang="zh-CN" altLang="en-US" sz="1600" dirty="0" smtClean="0"/>
              <a:t>全面</a:t>
            </a:r>
            <a:r>
              <a:rPr lang="zh-CN" altLang="en-US" sz="1600" dirty="0"/>
              <a:t>从严治党，核心是加强党的领导，基础在全面，关键在严，要害在治。 </a:t>
            </a:r>
            <a:endParaRPr lang="zh-CN" altLang="en-US" sz="1600" dirty="0"/>
          </a:p>
          <a:p>
            <a:pPr indent="457200"/>
            <a:r>
              <a:rPr lang="zh-CN" altLang="en-US" sz="1600" dirty="0" smtClean="0"/>
              <a:t>（</a:t>
            </a:r>
            <a:r>
              <a:rPr lang="en-US" altLang="zh-CN" sz="1600" dirty="0" smtClean="0"/>
              <a:t>1</a:t>
            </a:r>
            <a:r>
              <a:rPr lang="zh-CN" altLang="en-US" sz="1600" dirty="0" smtClean="0"/>
              <a:t>）全面就是</a:t>
            </a:r>
            <a:r>
              <a:rPr lang="zh-CN" altLang="en-US" sz="1600" dirty="0"/>
              <a:t>管全党、治全党，面向全体党员、党组织，覆盖党的建设各个领域、各个方面、各个部门，重点是抓住“关键少数”</a:t>
            </a:r>
            <a:r>
              <a:rPr lang="zh-CN" altLang="en-US" sz="1600" dirty="0" smtClean="0"/>
              <a:t>。</a:t>
            </a:r>
            <a:endParaRPr lang="en-US" altLang="zh-CN" sz="1600" dirty="0" smtClean="0"/>
          </a:p>
          <a:p>
            <a:pPr indent="457200"/>
            <a:r>
              <a:rPr lang="zh-CN" altLang="en-US" sz="1600" dirty="0"/>
              <a:t>对象全覆盖：把从严治党的要求落实到每个党组织中、落实到每名党员身上。</a:t>
            </a:r>
            <a:endParaRPr lang="zh-CN" altLang="en-US" sz="1600" dirty="0"/>
          </a:p>
          <a:p>
            <a:pPr indent="457200"/>
            <a:r>
              <a:rPr lang="zh-CN" altLang="en-US" sz="1600" dirty="0"/>
              <a:t>领域全范围：体现到党的思想建设、组织建设、作风建设、反腐倡廉建设和制度建设各个领域、各个方面。</a:t>
            </a:r>
            <a:endParaRPr lang="zh-CN" altLang="en-US" sz="1600" dirty="0"/>
          </a:p>
          <a:p>
            <a:pPr indent="457200"/>
            <a:r>
              <a:rPr lang="zh-CN" altLang="en-US" sz="1600" dirty="0"/>
              <a:t>责任全担负：一把尺子量到底、一根竿子插到底，层层传导责任压力，让全面从严治党真正落地生根</a:t>
            </a:r>
            <a:r>
              <a:rPr lang="zh-CN" altLang="en-US" sz="1600" dirty="0" smtClean="0"/>
              <a:t>。</a:t>
            </a:r>
            <a:endParaRPr lang="zh-CN" altLang="en-US" sz="1600" dirty="0"/>
          </a:p>
          <a:p>
            <a:pPr indent="457200"/>
            <a:r>
              <a:rPr lang="zh-CN" altLang="en-US" sz="1600" dirty="0"/>
              <a:t>（</a:t>
            </a:r>
            <a:r>
              <a:rPr lang="en-US" altLang="zh-CN" sz="1600" dirty="0"/>
              <a:t>2</a:t>
            </a:r>
            <a:r>
              <a:rPr lang="zh-CN" altLang="en-US" sz="1600" dirty="0" smtClean="0"/>
              <a:t>）严：真管真严、敢管敢严、常管长严</a:t>
            </a:r>
            <a:endParaRPr lang="en-US" altLang="zh-CN" sz="1600" dirty="0" smtClean="0"/>
          </a:p>
          <a:p>
            <a:pPr indent="457200"/>
            <a:r>
              <a:rPr lang="zh-CN" altLang="en-US" sz="1600" dirty="0" smtClean="0"/>
              <a:t>（</a:t>
            </a:r>
            <a:r>
              <a:rPr lang="en-US" altLang="zh-CN" sz="1600" dirty="0" smtClean="0"/>
              <a:t>3</a:t>
            </a:r>
            <a:r>
              <a:rPr lang="zh-CN" altLang="en-US" sz="1600" dirty="0" smtClean="0"/>
              <a:t>）治：就是</a:t>
            </a:r>
            <a:r>
              <a:rPr lang="zh-CN" altLang="en-US" sz="1600" dirty="0"/>
              <a:t>从党中央到地方各级党委，从中央部委、国家机关部门党组（党委）到基层党支部，都要肩负起主体责任。拔“烂树”、治“病树”、正“歪树”</a:t>
            </a:r>
            <a:endParaRPr lang="zh-CN" altLang="en-US" sz="1600" dirty="0"/>
          </a:p>
          <a:p>
            <a:pPr indent="457200"/>
            <a:endParaRPr lang="zh-CN" altLang="en-US" sz="1600" dirty="0"/>
          </a:p>
          <a:p>
            <a:pPr indent="457200"/>
            <a:endParaRPr lang="zh-CN" altLang="en-US" sz="1600" dirty="0"/>
          </a:p>
          <a:p>
            <a:pPr indent="457200"/>
            <a:endParaRPr lang="zh-CN" altLang="en-US" sz="1600" dirty="0"/>
          </a:p>
          <a:p>
            <a:pPr indent="457200"/>
            <a:endParaRPr lang="zh-CN" altLang="en-US" sz="1600" dirty="0"/>
          </a:p>
          <a:p>
            <a:pPr indent="457200"/>
            <a:endParaRPr lang="zh-CN" altLang="en-US" sz="2400" dirty="0"/>
          </a:p>
          <a:p>
            <a:pPr indent="457200"/>
            <a:endParaRPr lang="zh-CN" altLang="en-US" sz="2400" dirty="0"/>
          </a:p>
          <a:p>
            <a:pPr indent="457200"/>
            <a:endParaRPr lang="zh-CN" altLang="en-US" sz="2400" dirty="0"/>
          </a:p>
          <a:p>
            <a:pPr indent="457200"/>
            <a:endParaRPr lang="zh-CN" altLang="en-US" sz="2400" dirty="0"/>
          </a:p>
          <a:p>
            <a:pPr indent="457200"/>
            <a:endParaRPr lang="zh-CN" altLang="en-US" sz="2400" dirty="0"/>
          </a:p>
          <a:p>
            <a:pPr indent="457200"/>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7.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9.xml><?xml version="1.0" encoding="utf-8"?>
<p:tagLst xmlns:p="http://schemas.openxmlformats.org/presentationml/2006/main">
  <p:tag name="KSO_WM_BEAUTIFY_FLAG" val="#wm#"/>
  <p:tag name="KSO_WM_TEMPLATE_CATEGORY" val="custom"/>
  <p:tag name="KSO_WM_TEMPLATE_INDEX" val="20205176"/>
</p:tagLst>
</file>

<file path=ppt/tags/tag10.xml><?xml version="1.0" encoding="utf-8"?>
<p:tagLst xmlns:p="http://schemas.openxmlformats.org/presentationml/2006/main">
  <p:tag name="KSO_WM_BEAUTIFY_FLAG" val="#wm#"/>
  <p:tag name="KSO_WM_TEMPLATE_CATEGORY" val="custom"/>
  <p:tag name="KSO_WM_TEMPLATE_INDEX" val="20205176"/>
</p:tagLst>
</file>

<file path=ppt/tags/tag11.xml><?xml version="1.0" encoding="utf-8"?>
<p:tagLst xmlns:p="http://schemas.openxmlformats.org/presentationml/2006/main">
  <p:tag name="KSO_WM_BEAUTIFY_FLAG" val="#wm#"/>
  <p:tag name="KSO_WM_TEMPLATE_CATEGORY" val="custom"/>
  <p:tag name="KSO_WM_TEMPLATE_INDEX" val="20205176"/>
</p:tagLst>
</file>

<file path=ppt/tags/tag12.xml><?xml version="1.0" encoding="utf-8"?>
<p:tagLst xmlns:p="http://schemas.openxmlformats.org/presentationml/2006/main">
  <p:tag name="KSO_WM_BEAUTIFY_FLAG" val="#wm#"/>
  <p:tag name="KSO_WM_TEMPLATE_CATEGORY" val="custom"/>
  <p:tag name="KSO_WM_TEMPLATE_INDEX" val="20205176"/>
</p:tagLst>
</file>

<file path=ppt/tags/tag13.xml><?xml version="1.0" encoding="utf-8"?>
<p:tagLst xmlns:p="http://schemas.openxmlformats.org/presentationml/2006/main">
  <p:tag name="KSO_WM_BEAUTIFY_FLAG" val="#wm#"/>
  <p:tag name="KSO_WM_TEMPLATE_CATEGORY" val="custom"/>
  <p:tag name="KSO_WM_TEMPLATE_INDEX" val="20205176"/>
</p:tagLst>
</file>

<file path=ppt/tags/tag14.xml><?xml version="1.0" encoding="utf-8"?>
<p:tagLst xmlns:p="http://schemas.openxmlformats.org/presentationml/2006/main">
  <p:tag name="KSO_WM_BEAUTIFY_FLAG" val="#wm#"/>
  <p:tag name="KSO_WM_TEMPLATE_CATEGORY" val="custom"/>
  <p:tag name="KSO_WM_TEMPLATE_INDEX" val="20205176"/>
</p:tagLst>
</file>

<file path=ppt/tags/tag15.xml><?xml version="1.0" encoding="utf-8"?>
<p:tagLst xmlns:p="http://schemas.openxmlformats.org/presentationml/2006/main">
  <p:tag name="KSO_WM_BEAUTIFY_FLAG" val="#wm#"/>
  <p:tag name="KSO_WM_TEMPLATE_CATEGORY" val="custom"/>
  <p:tag name="KSO_WM_TEMPLATE_INDEX" val="20205176"/>
</p:tagLst>
</file>

<file path=ppt/tags/tag16.xml><?xml version="1.0" encoding="utf-8"?>
<p:tagLst xmlns:p="http://schemas.openxmlformats.org/presentationml/2006/main">
  <p:tag name="KSO_WM_BEAUTIFY_FLAG" val="#wm#"/>
  <p:tag name="KSO_WM_TEMPLATE_CATEGORY" val="custom"/>
  <p:tag name="KSO_WM_TEMPLATE_INDEX" val="20205176"/>
</p:tagLst>
</file>

<file path=ppt/tags/tag17.xml><?xml version="1.0" encoding="utf-8"?>
<p:tagLst xmlns:p="http://schemas.openxmlformats.org/presentationml/2006/main">
  <p:tag name="KSO_WM_BEAUTIFY_FLAG" val="#wm#"/>
  <p:tag name="KSO_WM_TEMPLATE_CATEGORY" val="custom"/>
  <p:tag name="KSO_WM_TEMPLATE_INDEX" val="20205176"/>
</p:tagLst>
</file>

<file path=ppt/tags/tag18.xml><?xml version="1.0" encoding="utf-8"?>
<p:tagLst xmlns:p="http://schemas.openxmlformats.org/presentationml/2006/main">
  <p:tag name="KSO_WM_BEAUTIFY_FLAG" val="#wm#"/>
  <p:tag name="KSO_WM_TEMPLATE_CATEGORY" val="custom"/>
  <p:tag name="KSO_WM_TEMPLATE_INDEX" val="20205176"/>
</p:tagLst>
</file>

<file path=ppt/tags/tag19.xml><?xml version="1.0" encoding="utf-8"?>
<p:tagLst xmlns:p="http://schemas.openxmlformats.org/presentationml/2006/main">
  <p:tag name="KSO_WM_BEAUTIFY_FLAG" val="#wm#"/>
  <p:tag name="KSO_WM_TEMPLATE_CATEGORY" val="custom"/>
  <p:tag name="KSO_WM_TEMPLATE_INDEX" val="20205176"/>
</p:tagLst>
</file>

<file path=ppt/tags/tag20.xml><?xml version="1.0" encoding="utf-8"?>
<p:tagLst xmlns:p="http://schemas.openxmlformats.org/presentationml/2006/main">
  <p:tag name="KSO_WM_BEAUTIFY_FLAG" val="#wm#"/>
  <p:tag name="KSO_WM_TEMPLATE_CATEGORY" val="custom"/>
  <p:tag name="KSO_WM_TEMPLATE_INDEX" val="20205176"/>
</p:tagLst>
</file>

<file path=ppt/tags/tag21.xml><?xml version="1.0" encoding="utf-8"?>
<p:tagLst xmlns:p="http://schemas.openxmlformats.org/presentationml/2006/main">
  <p:tag name="KSO_WM_BEAUTIFY_FLAG" val="#wm#"/>
  <p:tag name="KSO_WM_TEMPLATE_CATEGORY" val="custom"/>
  <p:tag name="KSO_WM_TEMPLATE_INDEX" val="20205176"/>
</p:tagLst>
</file>

<file path=ppt/tags/tag22.xml><?xml version="1.0" encoding="utf-8"?>
<p:tagLst xmlns:p="http://schemas.openxmlformats.org/presentationml/2006/main">
  <p:tag name="KSO_WM_BEAUTIFY_FLAG" val="#wm#"/>
  <p:tag name="KSO_WM_TEMPLATE_CATEGORY" val="custom"/>
  <p:tag name="KSO_WM_TEMPLATE_INDEX" val="20205176"/>
</p:tagLst>
</file>

<file path=ppt/tags/tag23.xml><?xml version="1.0" encoding="utf-8"?>
<p:tagLst xmlns:p="http://schemas.openxmlformats.org/presentationml/2006/main">
  <p:tag name="KSO_WM_BEAUTIFY_FLAG" val="#wm#"/>
  <p:tag name="KSO_WM_TEMPLATE_CATEGORY" val="custom"/>
  <p:tag name="KSO_WM_TEMPLATE_INDEX" val="20205176"/>
</p:tagLst>
</file>

<file path=ppt/tags/tag24.xml><?xml version="1.0" encoding="utf-8"?>
<p:tagLst xmlns:p="http://schemas.openxmlformats.org/presentationml/2006/main">
  <p:tag name="KSO_WM_BEAUTIFY_FLAG" val="#wm#"/>
  <p:tag name="KSO_WM_TEMPLATE_CATEGORY" val="custom"/>
  <p:tag name="KSO_WM_TEMPLATE_INDEX" val="20205176"/>
</p:tagLst>
</file>

<file path=ppt/tags/tag25.xml><?xml version="1.0" encoding="utf-8"?>
<p:tagLst xmlns:p="http://schemas.openxmlformats.org/presentationml/2006/main">
  <p:tag name="KSO_WM_BEAUTIFY_FLAG" val="#wm#"/>
  <p:tag name="KSO_WM_TEMPLATE_CATEGORY" val="custom"/>
  <p:tag name="KSO_WM_TEMPLATE_INDEX" val="20205176"/>
</p:tagLst>
</file>

<file path=ppt/tags/tag26.xml><?xml version="1.0" encoding="utf-8"?>
<p:tagLst xmlns:p="http://schemas.openxmlformats.org/presentationml/2006/main">
  <p:tag name="KSO_WM_BEAUTIFY_FLAG" val="#wm#"/>
  <p:tag name="KSO_WM_TEMPLATE_CATEGORY" val="custom"/>
  <p:tag name="KSO_WM_TEMPLATE_INDEX" val="20205176"/>
</p:tagLst>
</file>

<file path=ppt/tags/tag27.xml><?xml version="1.0" encoding="utf-8"?>
<p:tagLst xmlns:p="http://schemas.openxmlformats.org/presentationml/2006/main">
  <p:tag name="KSO_WM_BEAUTIFY_FLAG" val="#wm#"/>
  <p:tag name="KSO_WM_TEMPLATE_CATEGORY" val="custom"/>
  <p:tag name="KSO_WM_TEMPLATE_INDEX" val="20205176"/>
</p:tagLst>
</file>

<file path=ppt/tags/tag28.xml><?xml version="1.0" encoding="utf-8"?>
<p:tagLst xmlns:p="http://schemas.openxmlformats.org/presentationml/2006/main">
  <p:tag name="KSO_WM_BEAUTIFY_FLAG" val="#wm#"/>
  <p:tag name="KSO_WM_TEMPLATE_CATEGORY" val="custom"/>
  <p:tag name="KSO_WM_TEMPLATE_INDEX" val="20205176"/>
</p:tagLst>
</file>

<file path=ppt/tags/tag29.xml><?xml version="1.0" encoding="utf-8"?>
<p:tagLst xmlns:p="http://schemas.openxmlformats.org/presentationml/2006/main">
  <p:tag name="KSO_WM_BEAUTIFY_FLAG" val="#wm#"/>
  <p:tag name="KSO_WM_TEMPLATE_CATEGORY" val="custom"/>
  <p:tag name="KSO_WM_TEMPLATE_INDEX" val="20205176"/>
</p:tagLst>
</file>

<file path=ppt/tags/tag30.xml><?xml version="1.0" encoding="utf-8"?>
<p:tagLst xmlns:p="http://schemas.openxmlformats.org/presentationml/2006/main">
  <p:tag name="KSO_WM_BEAUTIFY_FLAG" val="#wm#"/>
  <p:tag name="KSO_WM_TEMPLATE_CATEGORY" val="custom"/>
  <p:tag name="KSO_WM_TEMPLATE_INDEX" val="20205176"/>
</p:tagLst>
</file>

<file path=ppt/tags/tag31.xml><?xml version="1.0" encoding="utf-8"?>
<p:tagLst xmlns:p="http://schemas.openxmlformats.org/presentationml/2006/main">
  <p:tag name="KSO_WM_BEAUTIFY_FLAG" val="#wm#"/>
  <p:tag name="KSO_WM_TEMPLATE_CATEGORY" val="custom"/>
  <p:tag name="KSO_WM_TEMPLATE_INDEX" val="20205176"/>
</p:tagLst>
</file>

<file path=ppt/tags/tag32.xml><?xml version="1.0" encoding="utf-8"?>
<p:tagLst xmlns:p="http://schemas.openxmlformats.org/presentationml/2006/main">
  <p:tag name="KSO_WM_BEAUTIFY_FLAG" val="#wm#"/>
  <p:tag name="KSO_WM_TEMPLATE_CATEGORY" val="custom"/>
  <p:tag name="KSO_WM_TEMPLATE_INDEX" val="20205176"/>
</p:tagLst>
</file>

<file path=ppt/tags/tag33.xml><?xml version="1.0" encoding="utf-8"?>
<p:tagLst xmlns:p="http://schemas.openxmlformats.org/presentationml/2006/main">
  <p:tag name="KSO_WM_BEAUTIFY_FLAG" val="#wm#"/>
  <p:tag name="KSO_WM_TEMPLATE_CATEGORY" val="custom"/>
  <p:tag name="KSO_WM_TEMPLATE_INDEX" val="20205176"/>
</p:tagLst>
</file>

<file path=ppt/tags/tag34.xml><?xml version="1.0" encoding="utf-8"?>
<p:tagLst xmlns:p="http://schemas.openxmlformats.org/presentationml/2006/main">
  <p:tag name="KSO_WM_BEAUTIFY_FLAG" val="#wm#"/>
  <p:tag name="KSO_WM_TEMPLATE_CATEGORY" val="custom"/>
  <p:tag name="KSO_WM_TEMPLATE_INDEX" val="20205176"/>
</p:tagLst>
</file>

<file path=ppt/tags/tag35.xml><?xml version="1.0" encoding="utf-8"?>
<p:tagLst xmlns:p="http://schemas.openxmlformats.org/presentationml/2006/main">
  <p:tag name="KSO_WM_BEAUTIFY_FLAG" val="#wm#"/>
  <p:tag name="KSO_WM_TEMPLATE_CATEGORY" val="custom"/>
  <p:tag name="KSO_WM_TEMPLATE_INDEX" val="20205176"/>
</p:tagLst>
</file>

<file path=ppt/tags/tag36.xml><?xml version="1.0" encoding="utf-8"?>
<p:tagLst xmlns:p="http://schemas.openxmlformats.org/presentationml/2006/main">
  <p:tag name="KSO_WM_BEAUTIFY_FLAG" val="#wm#"/>
  <p:tag name="KSO_WM_TEMPLATE_CATEGORY" val="custom"/>
  <p:tag name="KSO_WM_TEMPLATE_INDEX" val="20205176"/>
</p:tagLst>
</file>

<file path=ppt/tags/tag37.xml><?xml version="1.0" encoding="utf-8"?>
<p:tagLst xmlns:p="http://schemas.openxmlformats.org/presentationml/2006/main">
  <p:tag name="KSO_WM_BEAUTIFY_FLAG" val="#wm#"/>
  <p:tag name="KSO_WM_TEMPLATE_CATEGORY" val="custom"/>
  <p:tag name="KSO_WM_TEMPLATE_INDEX" val="20205176"/>
</p:tagLst>
</file>

<file path=ppt/tags/tag38.xml><?xml version="1.0" encoding="utf-8"?>
<p:tagLst xmlns:p="http://schemas.openxmlformats.org/presentationml/2006/main">
  <p:tag name="KSO_WM_BEAUTIFY_FLAG" val="#wm#"/>
  <p:tag name="KSO_WM_TEMPLATE_CATEGORY" val="custom"/>
  <p:tag name="KSO_WM_TEMPLATE_INDEX" val="20205176"/>
</p:tagLst>
</file>

<file path=ppt/tags/tag39.xml><?xml version="1.0" encoding="utf-8"?>
<p:tagLst xmlns:p="http://schemas.openxmlformats.org/presentationml/2006/main">
  <p:tag name="KSO_WM_BEAUTIFY_FLAG" val="#wm#"/>
  <p:tag name="KSO_WM_TEMPLATE_CATEGORY" val="custom"/>
  <p:tag name="KSO_WM_TEMPLATE_INDEX" val="20205176"/>
</p:tagLst>
</file>

<file path=ppt/tags/tag40.xml><?xml version="1.0" encoding="utf-8"?>
<p:tagLst xmlns:p="http://schemas.openxmlformats.org/presentationml/2006/main">
  <p:tag name="KSO_WM_BEAUTIFY_FLAG" val="#wm#"/>
  <p:tag name="KSO_WM_TEMPLATE_CATEGORY" val="custom"/>
  <p:tag name="KSO_WM_TEMPLATE_INDEX" val="20205176"/>
</p:tagLst>
</file>

<file path=ppt/tags/tag41.xml><?xml version="1.0" encoding="utf-8"?>
<p:tagLst xmlns:p="http://schemas.openxmlformats.org/presentationml/2006/main">
  <p:tag name="KSO_WM_BEAUTIFY_FLAG" val="#wm#"/>
  <p:tag name="KSO_WM_TEMPLATE_CATEGORY" val="custom"/>
  <p:tag name="KSO_WM_TEMPLATE_INDEX" val="20205176"/>
</p:tagLst>
</file>

<file path=ppt/tags/tag42.xml><?xml version="1.0" encoding="utf-8"?>
<p:tagLst xmlns:p="http://schemas.openxmlformats.org/presentationml/2006/main">
  <p:tag name="KSO_WM_BEAUTIFY_FLAG" val="#wm#"/>
  <p:tag name="KSO_WM_TEMPLATE_CATEGORY" val="custom"/>
  <p:tag name="KSO_WM_TEMPLATE_INDEX" val="20205176"/>
</p:tagLst>
</file>

<file path=ppt/tags/tag43.xml><?xml version="1.0" encoding="utf-8"?>
<p:tagLst xmlns:p="http://schemas.openxmlformats.org/presentationml/2006/main">
  <p:tag name="KSO_WM_BEAUTIFY_FLAG" val="#wm#"/>
  <p:tag name="KSO_WM_TEMPLATE_CATEGORY" val="custom"/>
  <p:tag name="KSO_WM_TEMPLATE_INDEX" val="20205176"/>
</p:tagLst>
</file>

<file path=ppt/tags/tag44.xml><?xml version="1.0" encoding="utf-8"?>
<p:tagLst xmlns:p="http://schemas.openxmlformats.org/presentationml/2006/main">
  <p:tag name="commondata" val="eyJoZGlkIjoiMzEwNTM5NzYwMDRjMzkwZTVkZjY2ODkwMGIxNGU0OTU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16763</Words>
  <Application>WPS 演示</Application>
  <PresentationFormat>全屏显示(16:9)</PresentationFormat>
  <Paragraphs>912</Paragraphs>
  <Slides>50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50</vt:i4>
      </vt:variant>
    </vt:vector>
  </HeadingPairs>
  <TitlesOfParts>
    <vt:vector size="60" baseType="lpstr">
      <vt:lpstr>Arial</vt:lpstr>
      <vt:lpstr>宋体</vt:lpstr>
      <vt:lpstr>Wingdings</vt:lpstr>
      <vt:lpstr>微软雅黑</vt:lpstr>
      <vt:lpstr>Wingdings</vt:lpstr>
      <vt:lpstr>Arial Unicode MS</vt:lpstr>
      <vt:lpstr>等线</vt:lpstr>
      <vt:lpstr>Calibri</vt:lpstr>
      <vt:lpstr>微软雅黑 Light</vt:lpstr>
      <vt:lpstr>Office 主题​​</vt:lpstr>
      <vt:lpstr>《习近平新时代中国特色社会主义思想概论》 重难点解析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《形势与政策》课程导学 </dc:title>
  <dc:creator>94201</dc:creator>
  <cp:lastModifiedBy>海风定时</cp:lastModifiedBy>
  <cp:revision>262</cp:revision>
  <dcterms:created xsi:type="dcterms:W3CDTF">2019-06-19T02:08:00Z</dcterms:created>
  <dcterms:modified xsi:type="dcterms:W3CDTF">2024-01-09T13:12:25Z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54D679DECDAC4F70B924FD83269F5DF8</vt:lpwstr>
  </property>
</Properties>
</file>